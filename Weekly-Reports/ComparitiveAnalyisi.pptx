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98" r:id="rId3"/>
    <p:sldId id="299" r:id="rId4"/>
    <p:sldId id="302" r:id="rId5"/>
    <p:sldId id="301" r:id="rId6"/>
    <p:sldId id="297" r:id="rId7"/>
    <p:sldId id="274" r:id="rId8"/>
    <p:sldId id="292" r:id="rId9"/>
    <p:sldId id="275" r:id="rId10"/>
    <p:sldId id="282" r:id="rId11"/>
    <p:sldId id="280" r:id="rId12"/>
    <p:sldId id="276" r:id="rId13"/>
    <p:sldId id="277" r:id="rId14"/>
    <p:sldId id="278" r:id="rId15"/>
    <p:sldId id="283" r:id="rId16"/>
    <p:sldId id="287" r:id="rId17"/>
    <p:sldId id="288" r:id="rId18"/>
    <p:sldId id="289" r:id="rId19"/>
    <p:sldId id="279" r:id="rId20"/>
    <p:sldId id="290" r:id="rId21"/>
    <p:sldId id="285" r:id="rId22"/>
    <p:sldId id="293" r:id="rId23"/>
    <p:sldId id="294" r:id="rId24"/>
    <p:sldId id="295" r:id="rId25"/>
    <p:sldId id="296" r:id="rId26"/>
    <p:sldId id="261" r:id="rId27"/>
    <p:sldId id="291" r:id="rId2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98"/>
            <p14:sldId id="299"/>
            <p14:sldId id="302"/>
            <p14:sldId id="301"/>
            <p14:sldId id="297"/>
            <p14:sldId id="274"/>
            <p14:sldId id="292"/>
            <p14:sldId id="275"/>
            <p14:sldId id="282"/>
            <p14:sldId id="280"/>
            <p14:sldId id="276"/>
            <p14:sldId id="277"/>
            <p14:sldId id="278"/>
            <p14:sldId id="283"/>
            <p14:sldId id="287"/>
            <p14:sldId id="288"/>
            <p14:sldId id="289"/>
            <p14:sldId id="279"/>
            <p14:sldId id="290"/>
            <p14:sldId id="285"/>
            <p14:sldId id="293"/>
            <p14:sldId id="294"/>
            <p14:sldId id="295"/>
            <p14:sldId id="296"/>
            <p14:sldId id="261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E4D78-AB85-481E-A603-2784DADE5AA2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5801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4687" y="964732"/>
            <a:ext cx="9144000" cy="199436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Comparison of Inverter Topologies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8933" y="3904274"/>
            <a:ext cx="9144000" cy="34474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Comparison </a:t>
            </a:r>
            <a:r>
              <a:rPr lang="en-US" dirty="0" err="1" smtClean="0">
                <a:solidFill>
                  <a:srgbClr val="C00000"/>
                </a:solidFill>
              </a:rPr>
              <a:t>Creteria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08750" cy="4351338"/>
          </a:xfrm>
        </p:spPr>
        <p:txBody>
          <a:bodyPr/>
          <a:lstStyle/>
          <a:p>
            <a:r>
              <a:rPr lang="en-US" dirty="0" smtClean="0"/>
              <a:t>Volume (50kW/L)</a:t>
            </a:r>
          </a:p>
          <a:p>
            <a:r>
              <a:rPr lang="en-US" dirty="0" smtClean="0"/>
              <a:t>Losses/Efficiency (</a:t>
            </a:r>
            <a:r>
              <a:rPr lang="en-US" dirty="0"/>
              <a:t>99.5</a:t>
            </a:r>
            <a:r>
              <a:rPr lang="en-US" dirty="0" smtClean="0"/>
              <a:t>%)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Additionally,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Reliability (Aging phenomena)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Cost (Initial and </a:t>
            </a:r>
            <a:r>
              <a:rPr lang="sv-SE" dirty="0" err="1" smtClean="0"/>
              <a:t>maintenance</a:t>
            </a:r>
            <a:r>
              <a:rPr lang="sv-SE" dirty="0" smtClean="0"/>
              <a:t> </a:t>
            </a:r>
            <a:r>
              <a:rPr lang="sv-SE" dirty="0" err="1" smtClean="0"/>
              <a:t>cost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Integration (e-axle)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7562850" y="555625"/>
                <a:ext cx="4375150" cy="3444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900" i="1" dirty="0" smtClean="0">
                    <a:latin typeface="Cambria Math" panose="02040503050406030204" pitchFamily="18" charset="0"/>
                  </a:rPr>
                  <a:t>Specifications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900" dirty="0" smtClean="0"/>
                  <a:t>   (The total </a:t>
                </a:r>
                <a:r>
                  <a:rPr lang="sv-SE" sz="1900" dirty="0" err="1" smtClean="0"/>
                  <a:t>blocking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voltage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of</a:t>
                </a:r>
                <a:r>
                  <a:rPr lang="sv-SE" sz="1900" dirty="0" smtClean="0"/>
                  <a:t> the </a:t>
                </a:r>
                <a:r>
                  <a:rPr lang="sv-SE" sz="1900" dirty="0" err="1" smtClean="0"/>
                  <a:t>semiconductors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can</a:t>
                </a:r>
                <a:r>
                  <a:rPr lang="sv-SE" sz="1900" dirty="0" smtClean="0"/>
                  <a:t> be </a:t>
                </a:r>
                <a:r>
                  <a:rPr lang="sv-SE" sz="1900" dirty="0" err="1" smtClean="0"/>
                  <a:t>selected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about</a:t>
                </a:r>
                <a:r>
                  <a:rPr lang="sv-SE" sz="1900" dirty="0" smtClean="0"/>
                  <a:t> </a:t>
                </a:r>
                <a14:m>
                  <m:oMath xmlns:m="http://schemas.openxmlformats.org/officeDocument/2006/math">
                    <m:r>
                      <a:rPr lang="en-US" sz="19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900" dirty="0" smtClean="0"/>
                  <a:t>)</a:t>
                </a:r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sz="1900" i="1" smtClean="0">
                        <a:latin typeface="Cambria Math" panose="02040503050406030204" pitchFamily="18" charset="0"/>
                      </a:rPr>
                      <m:t>=240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900" i="1" dirty="0" smtClean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900" i="1" smtClean="0">
                        <a:latin typeface="Cambria Math" panose="02040503050406030204" pitchFamily="18" charset="0"/>
                      </a:rPr>
                      <m:t>=625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900" dirty="0" smtClean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1900" dirty="0" smtClean="0"/>
                  <a:t> </a:t>
                </a:r>
                <a:endParaRPr lang="sv-SE" sz="19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50" y="555625"/>
                <a:ext cx="4375150" cy="3444875"/>
              </a:xfrm>
              <a:prstGeom prst="rect">
                <a:avLst/>
              </a:prstGeom>
              <a:blipFill>
                <a:blip r:embed="rId2"/>
                <a:stretch>
                  <a:fillRect l="-1395" t="-1770" r="-209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21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8991"/>
            <a:ext cx="5708650" cy="51374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dirty="0" smtClean="0">
                <a:solidFill>
                  <a:srgbClr val="C00000"/>
                </a:solidFill>
              </a:rPr>
              <a:t>Losses</a:t>
            </a:r>
            <a:endParaRPr lang="en-US" sz="2500" dirty="0" smtClean="0"/>
          </a:p>
          <a:p>
            <a:r>
              <a:rPr lang="en-US" sz="2500" dirty="0" smtClean="0"/>
              <a:t>Power semiconductors (18 %) </a:t>
            </a:r>
            <a:r>
              <a:rPr lang="en-US" sz="2500" dirty="0"/>
              <a:t>(</a:t>
            </a:r>
            <a:r>
              <a:rPr lang="en-US" sz="2500" dirty="0" smtClean="0"/>
              <a:t>eff 99.5%)</a:t>
            </a:r>
          </a:p>
          <a:p>
            <a:pPr lvl="1"/>
            <a:r>
              <a:rPr lang="en-US" sz="2500" dirty="0" smtClean="0"/>
              <a:t>Conduction Losses</a:t>
            </a:r>
          </a:p>
          <a:p>
            <a:pPr lvl="1"/>
            <a:r>
              <a:rPr lang="en-US" sz="2500" dirty="0" smtClean="0"/>
              <a:t>Switching Losses</a:t>
            </a:r>
          </a:p>
          <a:p>
            <a:pPr lvl="1"/>
            <a:endParaRPr lang="en-US" sz="2500" dirty="0"/>
          </a:p>
          <a:p>
            <a:r>
              <a:rPr lang="en-US" sz="2500" dirty="0" smtClean="0"/>
              <a:t>Additional Losses  ( 2%)</a:t>
            </a:r>
          </a:p>
          <a:p>
            <a:pPr lvl="1"/>
            <a:r>
              <a:rPr lang="en-US" sz="2500" dirty="0" smtClean="0"/>
              <a:t>Gate drives losses</a:t>
            </a:r>
          </a:p>
          <a:p>
            <a:pPr lvl="1"/>
            <a:r>
              <a:rPr lang="en-US" sz="2500" dirty="0" smtClean="0"/>
              <a:t>Filters losses </a:t>
            </a:r>
          </a:p>
          <a:p>
            <a:pPr lvl="1"/>
            <a:endParaRPr lang="en-US" sz="2500" dirty="0"/>
          </a:p>
          <a:p>
            <a:r>
              <a:rPr lang="en-US" sz="2500" dirty="0" smtClean="0"/>
              <a:t>Motor Losses (80 %) (eff 98%)</a:t>
            </a:r>
          </a:p>
          <a:p>
            <a:pPr lvl="1"/>
            <a:r>
              <a:rPr lang="en-US" sz="2500" dirty="0" smtClean="0"/>
              <a:t>Electrical losses</a:t>
            </a:r>
          </a:p>
          <a:p>
            <a:pPr lvl="2"/>
            <a:r>
              <a:rPr lang="en-US" sz="2500" dirty="0" smtClean="0"/>
              <a:t>Fundamental losses</a:t>
            </a:r>
          </a:p>
          <a:p>
            <a:pPr lvl="2"/>
            <a:r>
              <a:rPr lang="en-US" sz="2500" dirty="0" smtClean="0"/>
              <a:t>Harmonic based losses</a:t>
            </a:r>
          </a:p>
          <a:p>
            <a:pPr lvl="1"/>
            <a:r>
              <a:rPr lang="en-US" sz="2500" dirty="0" smtClean="0"/>
              <a:t>Mechanical losses</a:t>
            </a:r>
          </a:p>
          <a:p>
            <a:endParaRPr lang="en-US" sz="25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068065" y="427252"/>
            <a:ext cx="4254843" cy="5301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300" dirty="0" smtClean="0">
                <a:solidFill>
                  <a:srgbClr val="C00000"/>
                </a:solidFill>
              </a:rPr>
              <a:t>Volume</a:t>
            </a:r>
          </a:p>
          <a:p>
            <a:r>
              <a:rPr lang="en-US" sz="2300" dirty="0"/>
              <a:t>Power </a:t>
            </a:r>
            <a:r>
              <a:rPr lang="en-US" sz="2300" dirty="0" smtClean="0"/>
              <a:t>Module (12%)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/>
              <a:t>Gate </a:t>
            </a:r>
            <a:r>
              <a:rPr lang="en-US" sz="2300" dirty="0" smtClean="0"/>
              <a:t>Drives (3%)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 smtClean="0"/>
              <a:t>Capacitor (24 %)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 smtClean="0"/>
              <a:t>Cooling (32 %)</a:t>
            </a:r>
          </a:p>
          <a:p>
            <a:pPr lvl="1"/>
            <a:r>
              <a:rPr lang="en-US" sz="2300" dirty="0" smtClean="0"/>
              <a:t>Cold plate</a:t>
            </a:r>
          </a:p>
          <a:p>
            <a:pPr lvl="1"/>
            <a:r>
              <a:rPr lang="en-US" sz="2300" dirty="0" smtClean="0"/>
              <a:t>Heatsink</a:t>
            </a:r>
          </a:p>
          <a:p>
            <a:endParaRPr lang="en-US" sz="2300" dirty="0" smtClean="0"/>
          </a:p>
          <a:p>
            <a:r>
              <a:rPr lang="en-US" sz="2300" dirty="0" smtClean="0"/>
              <a:t>Others (29%)</a:t>
            </a:r>
          </a:p>
          <a:p>
            <a:pPr marL="0" indent="0">
              <a:buNone/>
            </a:pPr>
            <a:endParaRPr lang="en-US" sz="25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607113" y="6201948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977816" y="6381122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379622" y="5999350"/>
            <a:ext cx="1231900" cy="59055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Volume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3872916" y="5999350"/>
            <a:ext cx="1104900" cy="5905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39" y="5729158"/>
            <a:ext cx="97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Cooling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9069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Considered Topologies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0137"/>
          <a:stretch/>
        </p:blipFill>
        <p:spPr>
          <a:xfrm>
            <a:off x="838200" y="1463238"/>
            <a:ext cx="9998635" cy="262580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108200" y="4089042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41425" y="4445000"/>
            <a:ext cx="1733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Two-level (2L)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956050" y="4089042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98786" y="4445000"/>
            <a:ext cx="180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Three-level </a:t>
            </a:r>
          </a:p>
          <a:p>
            <a:pPr algn="ctr"/>
            <a:r>
              <a:rPr lang="en-US" dirty="0" smtClean="0"/>
              <a:t>T-Type (3L-TT)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854700" y="4019192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14861" y="4349750"/>
            <a:ext cx="2360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Three-level </a:t>
            </a:r>
          </a:p>
          <a:p>
            <a:pPr algn="ctr"/>
            <a:r>
              <a:rPr lang="en-US" dirty="0" smtClean="0"/>
              <a:t>Neutral Point Clamped (3L-NPC)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039100" y="4018834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99261" y="4349392"/>
            <a:ext cx="23606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Three-level </a:t>
            </a:r>
          </a:p>
          <a:p>
            <a:pPr algn="ctr"/>
            <a:r>
              <a:rPr lang="en-US" dirty="0" smtClean="0"/>
              <a:t>Active Neutral Point Clamped </a:t>
            </a:r>
          </a:p>
          <a:p>
            <a:pPr algn="ctr"/>
            <a:r>
              <a:rPr lang="en-US" dirty="0" smtClean="0"/>
              <a:t>(3L-ANPC)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0036176" y="4018834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96337" y="4349392"/>
            <a:ext cx="2360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Modular </a:t>
            </a:r>
            <a:r>
              <a:rPr lang="en-US" dirty="0"/>
              <a:t>multilevel </a:t>
            </a:r>
            <a:r>
              <a:rPr lang="en-US" dirty="0" smtClean="0"/>
              <a:t>converters</a:t>
            </a:r>
          </a:p>
          <a:p>
            <a:pPr algn="ctr"/>
            <a:r>
              <a:rPr lang="en-US" dirty="0" smtClean="0"/>
              <a:t>(MMC)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8749" y="6056607"/>
            <a:ext cx="90016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* Potentials </a:t>
            </a:r>
            <a:r>
              <a:rPr lang="sv-SE" dirty="0"/>
              <a:t>and </a:t>
            </a:r>
            <a:r>
              <a:rPr lang="sv-SE" dirty="0" err="1"/>
              <a:t>Comparison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Inverter</a:t>
            </a:r>
            <a:r>
              <a:rPr lang="sv-SE" dirty="0"/>
              <a:t> </a:t>
            </a:r>
            <a:r>
              <a:rPr lang="sv-SE" dirty="0" err="1"/>
              <a:t>Topologies</a:t>
            </a:r>
            <a:r>
              <a:rPr lang="sv-SE" dirty="0"/>
              <a:t> for </a:t>
            </a:r>
            <a:r>
              <a:rPr lang="sv-SE" dirty="0" err="1"/>
              <a:t>Future</a:t>
            </a:r>
            <a:r>
              <a:rPr lang="sv-SE" dirty="0"/>
              <a:t> All-Electric Aircraft </a:t>
            </a:r>
            <a:r>
              <a:rPr lang="sv-SE" dirty="0" err="1" smtClean="0"/>
              <a:t>Propulsion</a:t>
            </a:r>
            <a:r>
              <a:rPr lang="sv-SE" dirty="0" smtClean="0"/>
              <a:t>, </a:t>
            </a:r>
            <a:r>
              <a:rPr lang="en-US" dirty="0"/>
              <a:t>IEEE JOURNAL OF EMERGING AND SELECTED TOPICS IN POWER </a:t>
            </a:r>
            <a:r>
              <a:rPr lang="en-US" dirty="0" smtClean="0"/>
              <a:t>ELECTRONICS, 2022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0668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47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Specifications- 3-ph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dirty="0" smtClean="0"/>
                  <a:t>   </a:t>
                </a:r>
                <a:r>
                  <a:rPr lang="sv-SE" sz="1800" dirty="0" smtClean="0"/>
                  <a:t>(The total </a:t>
                </a:r>
                <a:r>
                  <a:rPr lang="sv-SE" sz="1800" dirty="0" err="1" smtClean="0"/>
                  <a:t>blocking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voltage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of</a:t>
                </a:r>
                <a:r>
                  <a:rPr lang="sv-SE" sz="1800" dirty="0" smtClean="0"/>
                  <a:t> the </a:t>
                </a:r>
                <a:r>
                  <a:rPr lang="sv-SE" sz="1800" dirty="0" err="1" smtClean="0"/>
                  <a:t>semiconductors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can</a:t>
                </a:r>
                <a:r>
                  <a:rPr lang="sv-SE" sz="1800" dirty="0" smtClean="0"/>
                  <a:t> be </a:t>
                </a:r>
                <a:r>
                  <a:rPr lang="sv-SE" sz="1800" dirty="0" err="1" smtClean="0"/>
                  <a:t>selected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about</a:t>
                </a:r>
                <a:r>
                  <a:rPr lang="sv-SE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 dirty="0" smtClean="0"/>
                  <a:t>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=240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=625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dirty="0" smtClean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dirty="0" smtClean="0"/>
                  <a:t> </a:t>
                </a:r>
                <a:endParaRPr lang="sv-SE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4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38100"/>
            <a:ext cx="10515600" cy="873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System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Considerations [1]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860425"/>
            <a:ext cx="10515600" cy="539432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Heat sink and cooling types</a:t>
            </a:r>
          </a:p>
          <a:p>
            <a:pPr lvl="1"/>
            <a:r>
              <a:rPr lang="en-US" sz="1600" dirty="0" smtClean="0"/>
              <a:t>Cold plate, liquid cooling</a:t>
            </a:r>
          </a:p>
          <a:p>
            <a:pPr lvl="1"/>
            <a:r>
              <a:rPr lang="en-US" sz="1600" dirty="0" smtClean="0"/>
              <a:t>Air cooling and heat-sink design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Selection of topology and power modules </a:t>
            </a:r>
          </a:p>
          <a:p>
            <a:pPr lvl="1"/>
            <a:r>
              <a:rPr lang="en-US" sz="1600" dirty="0" smtClean="0"/>
              <a:t>2-level : Half-bridge modules</a:t>
            </a:r>
          </a:p>
          <a:p>
            <a:pPr lvl="1"/>
            <a:r>
              <a:rPr lang="en-US" sz="1600" dirty="0" smtClean="0"/>
              <a:t>3-level NPC : </a:t>
            </a:r>
            <a:r>
              <a:rPr lang="en-US" sz="1600" dirty="0"/>
              <a:t>Half-bridge </a:t>
            </a:r>
            <a:r>
              <a:rPr lang="en-US" sz="1600" dirty="0" smtClean="0"/>
              <a:t>modules</a:t>
            </a:r>
          </a:p>
          <a:p>
            <a:pPr lvl="1"/>
            <a:r>
              <a:rPr lang="en-US" sz="1600" dirty="0"/>
              <a:t>3-level TTC : Half-bridge </a:t>
            </a:r>
            <a:r>
              <a:rPr lang="en-US" sz="1600" dirty="0" smtClean="0"/>
              <a:t>modules, Common-collector modules</a:t>
            </a:r>
          </a:p>
          <a:p>
            <a:pPr lvl="1"/>
            <a:r>
              <a:rPr lang="en-US" sz="1600" dirty="0" smtClean="0"/>
              <a:t>Segmented/multi module/phase structures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Capacitor bank for DC-link or decoupling</a:t>
            </a:r>
          </a:p>
          <a:p>
            <a:pPr lvl="1"/>
            <a:r>
              <a:rPr lang="en-US" sz="1600" dirty="0" smtClean="0"/>
              <a:t>Motor phase-module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 smtClean="0"/>
              <a:t>Busbar</a:t>
            </a:r>
            <a:r>
              <a:rPr lang="en-US" sz="2000" b="1" dirty="0" smtClean="0"/>
              <a:t> design</a:t>
            </a:r>
          </a:p>
          <a:p>
            <a:pPr lvl="1"/>
            <a:r>
              <a:rPr lang="en-US" sz="1600" dirty="0" smtClean="0"/>
              <a:t>Low inductance laminated connection to decrease switching noise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Auxliary</a:t>
            </a:r>
            <a:r>
              <a:rPr lang="sv-SE" sz="2000" b="1" dirty="0" smtClean="0"/>
              <a:t> </a:t>
            </a:r>
            <a:r>
              <a:rPr lang="sv-SE" sz="2000" b="1" dirty="0" err="1" smtClean="0"/>
              <a:t>circuits</a:t>
            </a:r>
            <a:r>
              <a:rPr lang="sv-SE" sz="2000" b="1" dirty="0" smtClean="0"/>
              <a:t>: </a:t>
            </a:r>
          </a:p>
          <a:p>
            <a:pPr lvl="1"/>
            <a:r>
              <a:rPr lang="en-US" sz="1600" dirty="0" smtClean="0"/>
              <a:t>Gate drives</a:t>
            </a:r>
          </a:p>
          <a:p>
            <a:pPr lvl="1"/>
            <a:r>
              <a:rPr lang="en-US" sz="1600" dirty="0" smtClean="0"/>
              <a:t>Sensors</a:t>
            </a:r>
          </a:p>
          <a:p>
            <a:pPr lvl="1"/>
            <a:r>
              <a:rPr lang="en-US" sz="1600" dirty="0" smtClean="0"/>
              <a:t>Power supplies</a:t>
            </a:r>
            <a:endParaRPr lang="sv-SE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Connectors</a:t>
            </a:r>
            <a:r>
              <a:rPr lang="sv-SE" sz="2000" b="1" dirty="0" smtClean="0"/>
              <a:t> and Filters :</a:t>
            </a:r>
          </a:p>
          <a:p>
            <a:pPr lvl="1"/>
            <a:r>
              <a:rPr lang="sv-SE" sz="1600" dirty="0" smtClean="0"/>
              <a:t>Input, output ; common mode, differential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4600" y="2705824"/>
            <a:ext cx="2559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Additionally, the </a:t>
            </a:r>
            <a:r>
              <a:rPr lang="en-US" b="1" dirty="0" smtClean="0"/>
              <a:t>life-time </a:t>
            </a:r>
            <a:r>
              <a:rPr lang="en-US" dirty="0" smtClean="0"/>
              <a:t>modelling and </a:t>
            </a:r>
            <a:r>
              <a:rPr lang="en-US" b="1" dirty="0" smtClean="0"/>
              <a:t>common mode voltage and EMI </a:t>
            </a:r>
            <a:r>
              <a:rPr lang="en-US" dirty="0" smtClean="0"/>
              <a:t>issues should be consireded.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77491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687" y="102117"/>
            <a:ext cx="107950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Stepwise Design Methodology and Multi-objective Optimization [6,9,10]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06" y="1335983"/>
            <a:ext cx="3630612" cy="5060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712" y="1427680"/>
            <a:ext cx="2704239" cy="4877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363" y="2045500"/>
            <a:ext cx="33210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Multi-performance indicators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Higher 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n-US" dirty="0" smtClean="0"/>
              <a:t>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US" dirty="0" smtClean="0"/>
              <a:t>ower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dirty="0" smtClean="0"/>
              <a:t>maller package</a:t>
            </a:r>
          </a:p>
          <a:p>
            <a:pPr lvl="1"/>
            <a:endParaRPr lang="en-US" dirty="0" smtClean="0"/>
          </a:p>
          <a:p>
            <a:r>
              <a:rPr lang="sv-SE" dirty="0" err="1"/>
              <a:t>O</a:t>
            </a:r>
            <a:r>
              <a:rPr lang="sv-SE" dirty="0" err="1" smtClean="0"/>
              <a:t>ptimization</a:t>
            </a:r>
            <a:r>
              <a:rPr lang="sv-SE" dirty="0" smtClean="0"/>
              <a:t> 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Stochastic</a:t>
            </a:r>
            <a:r>
              <a:rPr lang="sv-SE" dirty="0"/>
              <a:t> </a:t>
            </a:r>
            <a:r>
              <a:rPr lang="sv-SE" dirty="0" err="1" smtClean="0"/>
              <a:t>optimizations</a:t>
            </a:r>
            <a:r>
              <a:rPr lang="sv-SE" dirty="0" smtClean="0"/>
              <a:t> like </a:t>
            </a:r>
            <a:r>
              <a:rPr lang="sv-SE" dirty="0" err="1" smtClean="0"/>
              <a:t>Genetic</a:t>
            </a:r>
            <a:r>
              <a:rPr lang="sv-SE" dirty="0" smtClean="0"/>
              <a:t> </a:t>
            </a:r>
            <a:r>
              <a:rPr lang="sv-SE" dirty="0" err="1" smtClean="0"/>
              <a:t>Algorithm</a:t>
            </a:r>
            <a:r>
              <a:rPr lang="sv-SE" dirty="0" smtClean="0"/>
              <a:t> (</a:t>
            </a:r>
            <a:r>
              <a:rPr lang="sv-SE" dirty="0" err="1" smtClean="0"/>
              <a:t>but</a:t>
            </a:r>
            <a:r>
              <a:rPr lang="sv-SE" dirty="0" smtClean="0"/>
              <a:t> it has </a:t>
            </a:r>
            <a:r>
              <a:rPr lang="sv-SE" dirty="0" err="1" smtClean="0"/>
              <a:t>local</a:t>
            </a:r>
            <a:r>
              <a:rPr lang="sv-SE" dirty="0" smtClean="0"/>
              <a:t> optima problem)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Direct</a:t>
            </a:r>
            <a:r>
              <a:rPr lang="sv-SE" dirty="0" smtClean="0"/>
              <a:t> </a:t>
            </a:r>
            <a:r>
              <a:rPr lang="sv-SE" dirty="0" err="1"/>
              <a:t>search</a:t>
            </a:r>
            <a:endParaRPr lang="sv-SE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Pareto</a:t>
            </a:r>
            <a:r>
              <a:rPr lang="sv-SE" dirty="0" smtClean="0"/>
              <a:t> </a:t>
            </a:r>
            <a:r>
              <a:rPr lang="sv-SE" dirty="0" err="1"/>
              <a:t>frontiers</a:t>
            </a:r>
            <a:endParaRPr lang="sv-SE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2045"/>
          <a:stretch/>
        </p:blipFill>
        <p:spPr>
          <a:xfrm>
            <a:off x="3613150" y="1335983"/>
            <a:ext cx="2496037" cy="54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0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7150"/>
            <a:ext cx="10515600" cy="885824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Conceptual Topology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[2,5]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942974"/>
            <a:ext cx="10515600" cy="583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potential solutions to enable </a:t>
            </a:r>
            <a:r>
              <a:rPr lang="en-US" sz="2000" b="1" dirty="0" smtClean="0"/>
              <a:t>high-density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b="1" dirty="0"/>
              <a:t>high-efficiency </a:t>
            </a:r>
            <a:r>
              <a:rPr lang="en-US" sz="2000" dirty="0"/>
              <a:t>traction </a:t>
            </a:r>
            <a:r>
              <a:rPr lang="en-US" sz="2000" dirty="0" smtClean="0"/>
              <a:t>inverters: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Utilize WBG devices (all-</a:t>
            </a:r>
            <a:r>
              <a:rPr lang="en-US" sz="2000" dirty="0" err="1" smtClean="0"/>
              <a:t>SiC</a:t>
            </a:r>
            <a:r>
              <a:rPr lang="en-US" sz="2000" dirty="0" smtClean="0"/>
              <a:t>), with off-the-shelf modules, discrete or an optimized DBC???//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Still medium frequency range 10-25kHz up to 80kHz ????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Passing to multi level (especially 3L) inverters since 2L inverters have</a:t>
            </a:r>
          </a:p>
          <a:p>
            <a:pPr lvl="3"/>
            <a:r>
              <a:rPr lang="en-US" i="1" dirty="0" smtClean="0"/>
              <a:t>Higher output voltage harmonics</a:t>
            </a:r>
          </a:p>
          <a:p>
            <a:pPr lvl="3"/>
            <a:r>
              <a:rPr lang="en-US" i="1" dirty="0" smtClean="0"/>
              <a:t>Lower efficiency at higher switching frequency, which is vital to decrease the volume</a:t>
            </a:r>
          </a:p>
          <a:p>
            <a:pPr lvl="3"/>
            <a:r>
              <a:rPr lang="en-US" i="1" dirty="0" smtClean="0"/>
              <a:t>Higher dv/</a:t>
            </a:r>
            <a:r>
              <a:rPr lang="en-US" i="1" dirty="0" err="1" smtClean="0"/>
              <a:t>dt</a:t>
            </a:r>
            <a:r>
              <a:rPr lang="en-US" i="1" dirty="0" smtClean="0"/>
              <a:t> and EMI, which causes common mode problems at the motor side</a:t>
            </a:r>
          </a:p>
          <a:p>
            <a:pPr lvl="3"/>
            <a:r>
              <a:rPr lang="en-US" i="1" dirty="0" smtClean="0"/>
              <a:t>Higher voltage </a:t>
            </a:r>
            <a:r>
              <a:rPr lang="en-US" i="1" dirty="0"/>
              <a:t>ratings</a:t>
            </a:r>
            <a:r>
              <a:rPr lang="en-US" i="1" dirty="0" smtClean="0"/>
              <a:t> for switches</a:t>
            </a:r>
          </a:p>
          <a:p>
            <a:pPr marL="457200" lvl="1" indent="0">
              <a:buNone/>
            </a:pPr>
            <a:r>
              <a:rPr lang="en-US" sz="2000" dirty="0" smtClean="0"/>
              <a:t>	But  </a:t>
            </a:r>
            <a:r>
              <a:rPr lang="en-US" sz="2000" dirty="0"/>
              <a:t>3L inverters (NPC, ANPC, T-type) have </a:t>
            </a:r>
          </a:p>
          <a:p>
            <a:pPr lvl="3"/>
            <a:r>
              <a:rPr lang="en-US" i="1" dirty="0"/>
              <a:t>increased number of switches</a:t>
            </a:r>
          </a:p>
          <a:p>
            <a:pPr lvl="3"/>
            <a:r>
              <a:rPr lang="en-US" i="1" dirty="0"/>
              <a:t>increased isolated gate drives</a:t>
            </a:r>
          </a:p>
          <a:p>
            <a:pPr lvl="3"/>
            <a:r>
              <a:rPr lang="en-US" i="1" dirty="0"/>
              <a:t>Increased cost and complexity</a:t>
            </a:r>
          </a:p>
          <a:p>
            <a:pPr marL="457200" lvl="1" indent="0">
              <a:buNone/>
            </a:pPr>
            <a:r>
              <a:rPr lang="en-US" sz="2000" dirty="0" smtClean="0"/>
              <a:t>	NPC </a:t>
            </a:r>
            <a:r>
              <a:rPr lang="en-US" sz="2000" dirty="0"/>
              <a:t>and ANPC have</a:t>
            </a:r>
          </a:p>
          <a:p>
            <a:pPr lvl="3"/>
            <a:r>
              <a:rPr lang="en-US" i="1" dirty="0"/>
              <a:t>Higher conduction losses due to the series connection of two devices</a:t>
            </a:r>
          </a:p>
          <a:p>
            <a:pPr marL="457200" lvl="1" indent="0">
              <a:buNone/>
            </a:pPr>
            <a:r>
              <a:rPr lang="en-US" sz="2000" dirty="0"/>
              <a:t>	T-type </a:t>
            </a:r>
          </a:p>
          <a:p>
            <a:pPr lvl="3"/>
            <a:r>
              <a:rPr lang="en-US" i="1" dirty="0"/>
              <a:t>Higher voltage ratings for some of the switches</a:t>
            </a:r>
          </a:p>
          <a:p>
            <a:pPr lvl="3"/>
            <a:r>
              <a:rPr lang="en-US" i="1" dirty="0"/>
              <a:t>Higher switching losses because of higher voltage stress on single-switches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4230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4. Modular Motor Drives, Stacked Poly-Phase </a:t>
                </a:r>
                <a:r>
                  <a:rPr lang="en-US" sz="2000" dirty="0"/>
                  <a:t>B</a:t>
                </a:r>
                <a:r>
                  <a:rPr lang="en-US" sz="2000" dirty="0" smtClean="0"/>
                  <a:t>ridges [5] </a:t>
                </a:r>
              </a:p>
              <a:p>
                <a:pPr lvl="3"/>
                <a:r>
                  <a:rPr lang="en-US" sz="2000" i="1" dirty="0" smtClean="0"/>
                  <a:t>Series or parallel connected </a:t>
                </a:r>
              </a:p>
              <a:p>
                <a:pPr lvl="3"/>
                <a:r>
                  <a:rPr lang="en-US" sz="2000" i="1" dirty="0" smtClean="0"/>
                  <a:t>Lower semiconductor voltage/current ratings</a:t>
                </a:r>
              </a:p>
              <a:p>
                <a:pPr lvl="3"/>
                <a:r>
                  <a:rPr lang="en-US" sz="2000" i="1" dirty="0" smtClean="0"/>
                  <a:t>High switching frequency</a:t>
                </a:r>
              </a:p>
              <a:p>
                <a:pPr lvl="3"/>
                <a:r>
                  <a:rPr lang="en-US" sz="2000" i="1" dirty="0" smtClean="0"/>
                  <a:t>Compact design</a:t>
                </a:r>
              </a:p>
              <a:p>
                <a:pPr lvl="3"/>
                <a:r>
                  <a:rPr lang="en-US" sz="2000" i="1" dirty="0" smtClean="0"/>
                  <a:t>Phase shift/ interleaving to reduce DC-link ripple</a:t>
                </a:r>
                <a:endParaRPr lang="en-US" sz="2000" i="1" dirty="0"/>
              </a:p>
              <a:p>
                <a:pPr lvl="1"/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	5. Other </a:t>
                </a:r>
                <a:r>
                  <a:rPr lang="en-US" sz="2000" dirty="0"/>
                  <a:t>Topologies, which will be considered afterward : </a:t>
                </a:r>
              </a:p>
              <a:p>
                <a:pPr lvl="3"/>
                <a:r>
                  <a:rPr lang="en-US" sz="2000" dirty="0" smtClean="0"/>
                  <a:t>Alternatively</a:t>
                </a:r>
                <a:r>
                  <a:rPr lang="en-US" sz="2000" dirty="0"/>
                  <a:t>,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can be implemented with series connected  </a:t>
                </a:r>
                <a:r>
                  <a:rPr lang="en-US" sz="2000" dirty="0" smtClean="0"/>
                  <a:t>IGBTs </a:t>
                </a:r>
                <a:r>
                  <a:rPr lang="en-US" sz="2000" dirty="0"/>
                  <a:t>replacing the  </a:t>
                </a:r>
                <a:r>
                  <a:rPr lang="en-US" sz="2000" dirty="0" smtClean="0"/>
                  <a:t>single </a:t>
                </a:r>
                <a:r>
                  <a:rPr lang="en-US" sz="2000" dirty="0"/>
                  <a:t>switches T1 and T4 if it is used for </a:t>
                </a:r>
                <a:r>
                  <a:rPr lang="en-US" sz="2000" dirty="0" smtClean="0"/>
                  <a:t>medium-voltage </a:t>
                </a:r>
                <a:r>
                  <a:rPr lang="en-US" sz="2000" dirty="0"/>
                  <a:t>applications. There, the topology  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also known as</a:t>
                </a:r>
                <a:r>
                  <a:rPr lang="en-US" sz="2000" b="1" dirty="0"/>
                  <a:t> </a:t>
                </a:r>
                <a:r>
                  <a:rPr lang="en-US" sz="2000" b="1" dirty="0" smtClean="0"/>
                  <a:t>neutral-point-piloted </a:t>
                </a:r>
                <a:r>
                  <a:rPr lang="en-US" sz="2000" b="1" dirty="0"/>
                  <a:t>converter or transistor clamped converter</a:t>
                </a:r>
                <a:r>
                  <a:rPr lang="en-US" sz="2000" b="1" dirty="0" smtClean="0"/>
                  <a:t>.</a:t>
                </a:r>
                <a:endParaRPr lang="en-US" sz="2000" b="1" dirty="0"/>
              </a:p>
              <a:p>
                <a:pPr lvl="3"/>
                <a:r>
                  <a:rPr lang="sv-SE" sz="2000" dirty="0" smtClean="0"/>
                  <a:t>Split </a:t>
                </a:r>
                <a:r>
                  <a:rPr lang="sv-SE" sz="2000" dirty="0" err="1"/>
                  <a:t>inductor</a:t>
                </a:r>
                <a:r>
                  <a:rPr lang="sv-SE" sz="2000" dirty="0"/>
                  <a:t> </a:t>
                </a:r>
                <a:r>
                  <a:rPr lang="sv-SE" sz="2000" dirty="0" err="1" smtClean="0"/>
                  <a:t>converter</a:t>
                </a:r>
                <a:endParaRPr lang="sv-SE" sz="2000" dirty="0"/>
              </a:p>
              <a:p>
                <a:pPr lvl="3"/>
                <a:r>
                  <a:rPr lang="sv-SE" sz="2000" b="1" dirty="0"/>
                  <a:t>Active </a:t>
                </a:r>
                <a:r>
                  <a:rPr lang="sv-SE" sz="2000" b="1" dirty="0" err="1"/>
                  <a:t>clamped</a:t>
                </a:r>
                <a:r>
                  <a:rPr lang="sv-SE" sz="2000" b="1" dirty="0"/>
                  <a:t> </a:t>
                </a:r>
                <a:r>
                  <a:rPr lang="sv-SE" sz="2000" b="1" dirty="0" err="1"/>
                  <a:t>three-level</a:t>
                </a:r>
                <a:r>
                  <a:rPr lang="sv-SE" sz="2000" b="1" dirty="0"/>
                  <a:t> </a:t>
                </a:r>
                <a:r>
                  <a:rPr lang="sv-SE" sz="2000" b="1" dirty="0" err="1" smtClean="0"/>
                  <a:t>topologies</a:t>
                </a:r>
                <a:endParaRPr lang="sv-SE" sz="2000" b="1" dirty="0"/>
              </a:p>
              <a:p>
                <a:pPr lvl="3"/>
                <a:r>
                  <a:rPr lang="sv-SE" sz="2000" dirty="0"/>
                  <a:t>Three-</a:t>
                </a:r>
                <a:r>
                  <a:rPr lang="sv-SE" sz="2000" dirty="0" err="1"/>
                  <a:t>level</a:t>
                </a:r>
                <a:r>
                  <a:rPr lang="sv-SE" sz="2000" dirty="0"/>
                  <a:t> matrix </a:t>
                </a:r>
                <a:r>
                  <a:rPr lang="sv-SE" sz="2000" dirty="0" err="1" smtClean="0"/>
                  <a:t>converters</a:t>
                </a:r>
                <a:endParaRPr lang="sv-SE" sz="2000" dirty="0"/>
              </a:p>
              <a:p>
                <a:pPr lvl="3"/>
                <a:r>
                  <a:rPr lang="en-US" sz="2000" b="1" dirty="0"/>
                  <a:t>Three-level flying capacitor converter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𝑳𝑭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i="1" dirty="0" smtClean="0"/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  <a:blipFill>
                <a:blip r:embed="rId2"/>
                <a:stretch>
                  <a:fillRect t="-1149" r="-110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71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Voltage source inverters (VSIs) or current source inverters (CSIs) [3,4]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94" y="1642211"/>
            <a:ext cx="6321425" cy="2644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2601"/>
          <a:stretch/>
        </p:blipFill>
        <p:spPr>
          <a:xfrm>
            <a:off x="10151731" y="1795938"/>
            <a:ext cx="1570038" cy="12946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7011" t="4316" r="46861" b="21247"/>
          <a:stretch/>
        </p:blipFill>
        <p:spPr>
          <a:xfrm>
            <a:off x="9157032" y="1953633"/>
            <a:ext cx="255564" cy="129876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9665957" y="2446007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665957" y="2603016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r="88448" b="25140"/>
          <a:stretch/>
        </p:blipFill>
        <p:spPr>
          <a:xfrm>
            <a:off x="138157" y="1932490"/>
            <a:ext cx="486869" cy="13199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049646" y="2446007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49646" y="2603016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" r="72126" b="2601"/>
          <a:stretch/>
        </p:blipFill>
        <p:spPr>
          <a:xfrm>
            <a:off x="1588992" y="1585061"/>
            <a:ext cx="550867" cy="16135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57400" y="4286771"/>
            <a:ext cx="728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CSIs provide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dirty="0" smtClean="0"/>
              <a:t>igher efficiency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THD in the current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conducted </a:t>
            </a:r>
            <a:r>
              <a:rPr lang="en-US" b="1" dirty="0" smtClean="0"/>
              <a:t>EMI</a:t>
            </a:r>
            <a:r>
              <a:rPr lang="en-US" dirty="0" smtClean="0"/>
              <a:t> (both differential mode and common mode)</a:t>
            </a:r>
          </a:p>
          <a:p>
            <a:endParaRPr lang="en-US" dirty="0"/>
          </a:p>
          <a:p>
            <a:r>
              <a:rPr lang="en-US" dirty="0" smtClean="0"/>
              <a:t>But, CSIs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Have higher number of switches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 additional DC/DC converter to energize via battery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8978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8814" y="2375241"/>
            <a:ext cx="4127867" cy="1946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3183" y="1794297"/>
            <a:ext cx="71776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Suitable for low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Simple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</a:t>
            </a:r>
            <a:r>
              <a:rPr lang="en-US" sz="2800" dirty="0" smtClean="0"/>
              <a:t>nexpensive</a:t>
            </a:r>
          </a:p>
          <a:p>
            <a:endParaRPr lang="en-US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Bad efficiency for higher switching frequency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overvoltage due to long cables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</a:t>
            </a:r>
            <a:r>
              <a:rPr lang="en-US" sz="2800" dirty="0"/>
              <a:t>m</a:t>
            </a:r>
            <a:r>
              <a:rPr lang="en-US" sz="2800" dirty="0" smtClean="0"/>
              <a:t>achine isolation stress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3866847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 smtClean="0">
                    <a:solidFill>
                      <a:srgbClr val="C00000"/>
                    </a:solidFill>
                  </a:rPr>
                  <a:t> 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99000" y="1374924"/>
            <a:ext cx="71776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Medium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Reduced switching losses.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Split blocking voltage </a:t>
            </a:r>
          </a:p>
          <a:p>
            <a:endParaRPr lang="en-US" sz="2600" dirty="0" smtClean="0"/>
          </a:p>
          <a:p>
            <a:pPr marL="514350" indent="-514350">
              <a:buAutoNum type="arabicPeriod"/>
            </a:pPr>
            <a:r>
              <a:rPr lang="en-US" sz="2600" dirty="0" smtClean="0"/>
              <a:t>The conduction losses can increase for bipolar devices if two devices with half of the blocking voltage are connected in series compared to one device providing the full blocking voltage.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semiconductors (2 diodes and four MOSFETs per bridge leg)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isolated gate drive voltage supplies (6 addition ones per inverter 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" y="2685797"/>
            <a:ext cx="3903775" cy="22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94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Switches having different voltage ratings. (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 or 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/2)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Reduced conduction and switching losses.  (It is better for medium switching frequency)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Combines the positive affect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sz="2200" dirty="0" smtClean="0"/>
                  <a:t> such as low conduction losses, and small part count, and a simple operation principle with advantages of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 smtClean="0"/>
                  <a:t> such as low switching losses and superior output voltage.</a:t>
                </a:r>
                <a:endParaRPr lang="en-US" sz="2200" dirty="0"/>
              </a:p>
              <a:p>
                <a:endParaRPr lang="en-US" sz="2200" dirty="0" smtClean="0"/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semiconductors (4 MOSFETs per bridge leg)</a:t>
                </a:r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isolated gate drive voltage supplies (3 addition ones per inverter) if midpoint is configured in common collector.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blipFill>
                <a:blip r:embed="rId3"/>
                <a:stretch>
                  <a:fillRect l="-1104" t="-1085" r="-934" b="-19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" y="2311976"/>
            <a:ext cx="4068252" cy="22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9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55575"/>
            <a:ext cx="10515600" cy="1325563"/>
          </a:xfrm>
        </p:spPr>
        <p:txBody>
          <a:bodyPr/>
          <a:lstStyle/>
          <a:p>
            <a:pPr algn="ctr"/>
            <a:r>
              <a:rPr lang="sv-SE" dirty="0" smtClean="0">
                <a:solidFill>
                  <a:srgbClr val="C00000"/>
                </a:solidFill>
              </a:rPr>
              <a:t>SPB [5]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64" r="5668" b="10723"/>
          <a:stretch/>
        </p:blipFill>
        <p:spPr>
          <a:xfrm>
            <a:off x="247650" y="2247920"/>
            <a:ext cx="4959350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5450" y="1481138"/>
            <a:ext cx="628015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The  voltage ratings of the switches depends on the number </a:t>
            </a:r>
            <a:r>
              <a:rPr lang="en-US" sz="2200" dirty="0"/>
              <a:t>of series connected </a:t>
            </a:r>
            <a:r>
              <a:rPr lang="en-US" sz="2200" dirty="0" smtClean="0"/>
              <a:t>submodules.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C</a:t>
            </a:r>
            <a:r>
              <a:rPr lang="en-US" sz="2200" dirty="0" smtClean="0"/>
              <a:t>an drive multi-phase or multi-3-phase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Reduces capacitor size </a:t>
            </a:r>
            <a:r>
              <a:rPr lang="en-US" sz="2200" dirty="0"/>
              <a:t>in submodules, allowing for high switching </a:t>
            </a:r>
            <a:r>
              <a:rPr lang="en-US" sz="2200" dirty="0" smtClean="0"/>
              <a:t>frequencies.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Possesses </a:t>
            </a:r>
            <a:r>
              <a:rPr lang="en-US" sz="2200" dirty="0"/>
              <a:t>an inherent fault-tolerant capability.</a:t>
            </a:r>
            <a:endParaRPr lang="en-US" sz="22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I</a:t>
            </a:r>
            <a:r>
              <a:rPr lang="en-US" sz="2200" dirty="0" smtClean="0"/>
              <a:t>ntegration </a:t>
            </a:r>
            <a:r>
              <a:rPr lang="en-US" sz="2200" dirty="0"/>
              <a:t>and </a:t>
            </a:r>
            <a:r>
              <a:rPr lang="en-US" sz="2200" dirty="0" smtClean="0"/>
              <a:t>scalability</a:t>
            </a:r>
            <a:r>
              <a:rPr lang="en-US" sz="22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sz="2200" dirty="0"/>
          </a:p>
          <a:p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Since the series connected submodules are sharing the dc </a:t>
            </a:r>
            <a:r>
              <a:rPr lang="en-US" sz="2200" dirty="0" smtClean="0"/>
              <a:t>voltage, submodule capacitor voltage </a:t>
            </a:r>
            <a:r>
              <a:rPr lang="en-US" sz="2200" dirty="0"/>
              <a:t>balance </a:t>
            </a:r>
            <a:r>
              <a:rPr lang="en-US" sz="2200" dirty="0" smtClean="0"/>
              <a:t>should be </a:t>
            </a:r>
            <a:r>
              <a:rPr lang="en-US" sz="2200" dirty="0"/>
              <a:t>maintained under both normal and fault conditions</a:t>
            </a:r>
            <a:r>
              <a:rPr lang="en-US" sz="22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12227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[6,7]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81965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size of the </a:t>
            </a:r>
            <a:r>
              <a:rPr lang="en-US" sz="2000" dirty="0" err="1"/>
              <a:t>SiC</a:t>
            </a:r>
            <a:r>
              <a:rPr lang="en-US" sz="2000" dirty="0"/>
              <a:t> device is smaller than the Si counterpart, and its power loss caused by high switching frequency makes it a </a:t>
            </a:r>
            <a:r>
              <a:rPr lang="en-US" sz="2000" b="1" dirty="0"/>
              <a:t>high-heat-flux</a:t>
            </a:r>
            <a:r>
              <a:rPr lang="en-US" sz="2000" dirty="0"/>
              <a:t> </a:t>
            </a:r>
            <a:r>
              <a:rPr lang="en-US" sz="2000" dirty="0" smtClean="0"/>
              <a:t>scenario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Overheating </a:t>
            </a:r>
            <a:r>
              <a:rPr lang="en-US" sz="2000" dirty="0"/>
              <a:t>is typically a main cause that can lead to device </a:t>
            </a:r>
            <a:r>
              <a:rPr lang="en-US" sz="2000" b="1" dirty="0"/>
              <a:t>failure</a:t>
            </a:r>
            <a:r>
              <a:rPr lang="en-US" sz="2000" dirty="0"/>
              <a:t>, system malfunction, or even the vehicle break down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Especially </a:t>
            </a:r>
            <a:r>
              <a:rPr lang="en-US" sz="2000" dirty="0"/>
              <a:t>when modern automotive industry continuously drives for higher system performance and smaller packing size, proper thermal management is critically required to achieve </a:t>
            </a:r>
            <a:r>
              <a:rPr lang="en-US" sz="2000" b="1" dirty="0"/>
              <a:t>better heat dissipation</a:t>
            </a:r>
            <a:r>
              <a:rPr lang="en-US" sz="2000" dirty="0"/>
              <a:t>, </a:t>
            </a:r>
            <a:r>
              <a:rPr lang="en-US" sz="2000" b="1" dirty="0"/>
              <a:t>avoid local heat concentration</a:t>
            </a:r>
            <a:r>
              <a:rPr lang="en-US" sz="2000" dirty="0"/>
              <a:t>, </a:t>
            </a:r>
            <a:r>
              <a:rPr lang="en-US" sz="2000" b="1" dirty="0"/>
              <a:t>improve reliability</a:t>
            </a:r>
            <a:r>
              <a:rPr lang="en-US" sz="2000" dirty="0"/>
              <a:t>, and </a:t>
            </a:r>
            <a:r>
              <a:rPr lang="en-US" sz="2000" b="1" dirty="0"/>
              <a:t>reduce packaging size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20" y="3939401"/>
            <a:ext cx="3914775" cy="25035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3739924"/>
            <a:ext cx="3771900" cy="29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04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Different cooling technologies for power electronics are based on</a:t>
            </a:r>
          </a:p>
          <a:p>
            <a:pPr lvl="1"/>
            <a:r>
              <a:rPr lang="en-US" sz="2000" dirty="0"/>
              <a:t>The heat transfer mechanism </a:t>
            </a:r>
          </a:p>
          <a:p>
            <a:pPr lvl="1"/>
            <a:r>
              <a:rPr lang="en-US" sz="2000" dirty="0"/>
              <a:t>Coolant agent</a:t>
            </a:r>
          </a:p>
          <a:p>
            <a:pPr lvl="1"/>
            <a:r>
              <a:rPr lang="en-US" sz="2000" dirty="0"/>
              <a:t>Heat sink (Aluminum is the cheapest and simplest)</a:t>
            </a:r>
          </a:p>
          <a:p>
            <a:pPr lvl="1"/>
            <a:r>
              <a:rPr lang="en-US" sz="2000" dirty="0"/>
              <a:t>Advanced thermal interface materials (TIM) such as silicone based greases, aluminum-filled polyesters, and epoxy adhesives with silver </a:t>
            </a:r>
            <a:r>
              <a:rPr lang="en-US" sz="2000" dirty="0" smtClean="0"/>
              <a:t>particles</a:t>
            </a:r>
          </a:p>
          <a:p>
            <a:pPr marL="457200" lvl="1" indent="0">
              <a:buNone/>
            </a:pPr>
            <a:endParaRPr lang="en-US" sz="20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1. Air cooling technologies</a:t>
            </a:r>
          </a:p>
          <a:p>
            <a:pPr lvl="1"/>
            <a:r>
              <a:rPr lang="en-US" sz="2000" dirty="0"/>
              <a:t>convection heat transfer </a:t>
            </a:r>
            <a:r>
              <a:rPr lang="en-US" sz="2000" dirty="0" smtClean="0"/>
              <a:t>mechanism</a:t>
            </a:r>
          </a:p>
          <a:p>
            <a:pPr marL="457200" lvl="1" indent="0">
              <a:buNone/>
            </a:pPr>
            <a:r>
              <a:rPr lang="en-US" sz="2000" b="1" dirty="0"/>
              <a:t>N</a:t>
            </a:r>
            <a:r>
              <a:rPr lang="en-US" sz="2000" b="1" dirty="0" smtClean="0"/>
              <a:t>atural </a:t>
            </a:r>
            <a:r>
              <a:rPr lang="en-US" sz="2000" b="1" dirty="0"/>
              <a:t>air convection </a:t>
            </a:r>
            <a:endParaRPr lang="en-US" sz="2000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dirty="0" err="1"/>
              <a:t>the</a:t>
            </a:r>
            <a:r>
              <a:rPr lang="en-US" dirty="0"/>
              <a:t> </a:t>
            </a:r>
            <a:r>
              <a:rPr lang="en-US" dirty="0" smtClean="0"/>
              <a:t>simplest one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ncreasing </a:t>
            </a:r>
            <a:r>
              <a:rPr lang="en-US" dirty="0"/>
              <a:t>the surface area of heat transfer with added fins </a:t>
            </a:r>
            <a:endParaRPr lang="en-US" dirty="0" smtClean="0"/>
          </a:p>
          <a:p>
            <a:pPr lvl="2"/>
            <a:r>
              <a:rPr lang="en-US" dirty="0"/>
              <a:t>H</a:t>
            </a:r>
            <a:r>
              <a:rPr lang="en-US" dirty="0" smtClean="0"/>
              <a:t>eat spreaders</a:t>
            </a:r>
          </a:p>
          <a:p>
            <a:pPr marL="457200" lvl="1" indent="0">
              <a:buNone/>
            </a:pPr>
            <a:r>
              <a:rPr lang="en-US" sz="2000" b="1" dirty="0"/>
              <a:t>F</a:t>
            </a:r>
            <a:r>
              <a:rPr lang="en-US" sz="2000" b="1" dirty="0" smtClean="0"/>
              <a:t>orced </a:t>
            </a:r>
            <a:r>
              <a:rPr lang="en-US" sz="2000" b="1" dirty="0"/>
              <a:t>air-cooling </a:t>
            </a:r>
            <a:r>
              <a:rPr lang="en-US" sz="2000" b="1" dirty="0" smtClean="0"/>
              <a:t>systems</a:t>
            </a:r>
          </a:p>
          <a:p>
            <a:pPr lvl="2"/>
            <a:r>
              <a:rPr lang="en-US" dirty="0" smtClean="0"/>
              <a:t>piezoelectric </a:t>
            </a:r>
            <a:r>
              <a:rPr lang="en-US" dirty="0"/>
              <a:t>fans </a:t>
            </a:r>
            <a:endParaRPr lang="en-US" dirty="0" smtClean="0"/>
          </a:p>
          <a:p>
            <a:pPr lvl="2"/>
            <a:r>
              <a:rPr lang="en-US" dirty="0" smtClean="0"/>
              <a:t>synthetic </a:t>
            </a:r>
            <a:r>
              <a:rPr lang="en-US" dirty="0"/>
              <a:t>jet </a:t>
            </a:r>
            <a:r>
              <a:rPr lang="en-US" dirty="0" smtClean="0"/>
              <a:t>diaphragm</a:t>
            </a:r>
          </a:p>
        </p:txBody>
      </p:sp>
    </p:spTree>
    <p:extLst>
      <p:ext uri="{BB962C8B-B14F-4D97-AF65-F5344CB8AC3E}">
        <p14:creationId xmlns:p14="http://schemas.microsoft.com/office/powerpoint/2010/main" val="226803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2.  Liquid </a:t>
            </a:r>
            <a:r>
              <a:rPr lang="en-US" sz="2000" dirty="0">
                <a:solidFill>
                  <a:srgbClr val="7030A0"/>
                </a:solidFill>
              </a:rPr>
              <a:t>cooling technologies</a:t>
            </a:r>
          </a:p>
          <a:p>
            <a:pPr lvl="1"/>
            <a:r>
              <a:rPr lang="en-US" sz="2000" dirty="0"/>
              <a:t>higher device power density</a:t>
            </a:r>
          </a:p>
          <a:p>
            <a:pPr lvl="1"/>
            <a:r>
              <a:rPr lang="en-US" sz="2000" dirty="0"/>
              <a:t>microchannel heat sink can achieve around 1000 W/cm2 heat flux (State-of-the-art)</a:t>
            </a:r>
          </a:p>
          <a:p>
            <a:pPr lvl="1"/>
            <a:r>
              <a:rPr lang="en-US" sz="2000" dirty="0" smtClean="0"/>
              <a:t>Electro-wetting</a:t>
            </a:r>
            <a:r>
              <a:rPr lang="en-US" sz="2000" dirty="0"/>
              <a:t>, jet impingement; Immersion; Two-phase spray cooling</a:t>
            </a:r>
          </a:p>
          <a:p>
            <a:pPr lvl="1"/>
            <a:r>
              <a:rPr lang="en-US" sz="2000" b="1" dirty="0"/>
              <a:t>However</a:t>
            </a:r>
            <a:r>
              <a:rPr lang="en-US" sz="2000" dirty="0"/>
              <a:t>, liquid cooling also brings </a:t>
            </a:r>
            <a:r>
              <a:rPr lang="en-US" sz="2000" b="1" dirty="0"/>
              <a:t>in extra weight, complexity, and cos</a:t>
            </a:r>
            <a:r>
              <a:rPr lang="en-US" sz="2000" dirty="0"/>
              <a:t>t to the system.</a:t>
            </a:r>
          </a:p>
          <a:p>
            <a:pPr lvl="1"/>
            <a:r>
              <a:rPr lang="en-US" sz="2000" dirty="0"/>
              <a:t>Acoustic noise, coolant leakage, corrosion, toxicity are also other factors</a:t>
            </a:r>
          </a:p>
          <a:p>
            <a:pPr lvl="1"/>
            <a:r>
              <a:rPr lang="en-US" sz="2000" dirty="0"/>
              <a:t>Cutting-edge cooling: magnetic cooling, thermoelectric cooling, </a:t>
            </a:r>
            <a:r>
              <a:rPr lang="en-US" sz="2000" dirty="0" smtClean="0"/>
              <a:t>thermo-tunneling </a:t>
            </a:r>
            <a:r>
              <a:rPr lang="en-US" sz="2000" dirty="0"/>
              <a:t>and </a:t>
            </a:r>
            <a:r>
              <a:rPr lang="en-US" sz="2000" dirty="0" smtClean="0"/>
              <a:t>thermo-ionic </a:t>
            </a:r>
            <a:r>
              <a:rPr lang="en-US" sz="2000" dirty="0"/>
              <a:t>cooling, </a:t>
            </a:r>
            <a:r>
              <a:rPr lang="en-US" sz="2000" b="1" dirty="0"/>
              <a:t>phase change materials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DBC</a:t>
            </a:r>
            <a:r>
              <a:rPr lang="en-US" sz="2000" dirty="0" smtClean="0"/>
              <a:t> </a:t>
            </a:r>
            <a:r>
              <a:rPr lang="en-US" sz="2000" dirty="0"/>
              <a:t>direct bond copper: </a:t>
            </a:r>
          </a:p>
          <a:p>
            <a:pPr marL="0" indent="0">
              <a:buNone/>
            </a:pPr>
            <a:r>
              <a:rPr lang="en-US" sz="2000" dirty="0"/>
              <a:t>	This type of substrate contains a ceramic layer sandwiched in between two copper layers.</a:t>
            </a:r>
          </a:p>
          <a:p>
            <a:pPr marL="0" indent="0">
              <a:buNone/>
            </a:pPr>
            <a:r>
              <a:rPr lang="en-US" sz="2000" dirty="0"/>
              <a:t>	In order to spread better the heat and to increase the mechanical strength of the module, 	the substrate is bonded to a </a:t>
            </a:r>
            <a:r>
              <a:rPr lang="en-US" sz="2000" b="1" dirty="0"/>
              <a:t>base plate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DSC </a:t>
            </a:r>
            <a:r>
              <a:rPr lang="en-US" sz="2000" dirty="0" smtClean="0"/>
              <a:t>double sided cooling: 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08188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163" b="55364"/>
          <a:stretch/>
        </p:blipFill>
        <p:spPr>
          <a:xfrm>
            <a:off x="153801" y="1252219"/>
            <a:ext cx="6299386" cy="32698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4670" b="12115"/>
          <a:stretch/>
        </p:blipFill>
        <p:spPr>
          <a:xfrm>
            <a:off x="5779635" y="1174615"/>
            <a:ext cx="6391784" cy="3457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89119" b="2556"/>
          <a:stretch/>
        </p:blipFill>
        <p:spPr>
          <a:xfrm>
            <a:off x="2705100" y="4648917"/>
            <a:ext cx="7496175" cy="781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683644"/>
            <a:ext cx="11097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However</a:t>
            </a:r>
            <a:r>
              <a:rPr lang="sv-SE" dirty="0"/>
              <a:t>, the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liquid-cycling</a:t>
            </a:r>
            <a:r>
              <a:rPr lang="sv-SE" dirty="0"/>
              <a:t> system (pumps, radiator, </a:t>
            </a:r>
            <a:r>
              <a:rPr lang="sv-SE" dirty="0" err="1"/>
              <a:t>compressor</a:t>
            </a:r>
            <a:r>
              <a:rPr lang="sv-SE" dirty="0"/>
              <a:t>, and </a:t>
            </a:r>
            <a:r>
              <a:rPr lang="sv-SE" dirty="0" err="1"/>
              <a:t>chiller</a:t>
            </a:r>
            <a:r>
              <a:rPr lang="sv-SE" dirty="0"/>
              <a:t>)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remarkably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the overall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density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PCU.</a:t>
            </a:r>
          </a:p>
        </p:txBody>
      </p:sp>
    </p:spTree>
    <p:extLst>
      <p:ext uri="{BB962C8B-B14F-4D97-AF65-F5344CB8AC3E}">
        <p14:creationId xmlns:p14="http://schemas.microsoft.com/office/powerpoint/2010/main" val="406204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[8]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4" y="1583957"/>
            <a:ext cx="11244046" cy="47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77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Trend [6,8]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2500"/>
            <a:ext cx="10515600" cy="5819775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 smtClean="0"/>
              <a:t>The </a:t>
            </a:r>
            <a:r>
              <a:rPr lang="en-US" sz="2600" dirty="0"/>
              <a:t>liquid-cooled Si inverters dominate the market, nowadays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 </a:t>
            </a:r>
            <a:r>
              <a:rPr lang="en-US" sz="2600" dirty="0"/>
              <a:t>However, </a:t>
            </a:r>
            <a:r>
              <a:rPr lang="en-US" sz="2600" b="1" dirty="0"/>
              <a:t>the liquid-cooled </a:t>
            </a:r>
            <a:r>
              <a:rPr lang="en-US" sz="2600" b="1" dirty="0" err="1"/>
              <a:t>SiC</a:t>
            </a:r>
            <a:r>
              <a:rPr lang="en-US" sz="2600" b="1" dirty="0"/>
              <a:t> inverters </a:t>
            </a:r>
            <a:r>
              <a:rPr lang="en-US" sz="2600" dirty="0"/>
              <a:t>have been replacing the liquid-cooled Si inverter. </a:t>
            </a:r>
            <a:endParaRPr lang="en-US" sz="2600" dirty="0" smtClean="0"/>
          </a:p>
          <a:p>
            <a:r>
              <a:rPr lang="en-US" sz="2600" dirty="0" smtClean="0"/>
              <a:t>Direct </a:t>
            </a:r>
            <a:r>
              <a:rPr lang="en-US" sz="2600" dirty="0"/>
              <a:t>cooling has been demonstrated in the Cadillac CT6 inverter in which the module </a:t>
            </a:r>
            <a:r>
              <a:rPr lang="en-US" sz="2600" dirty="0" smtClean="0"/>
              <a:t>package </a:t>
            </a:r>
            <a:r>
              <a:rPr lang="en-US" sz="2600" dirty="0"/>
              <a:t>is fully immersed in the coolant, rather than bolted to a cold </a:t>
            </a:r>
            <a:r>
              <a:rPr lang="en-US" sz="2600" dirty="0" smtClean="0"/>
              <a:t>plate.</a:t>
            </a:r>
          </a:p>
          <a:p>
            <a:r>
              <a:rPr lang="en-US" sz="2600" dirty="0"/>
              <a:t>Passive 2-phase immersion cooling has been successfully applied to large scale traction </a:t>
            </a:r>
            <a:r>
              <a:rPr lang="en-US" sz="2600" dirty="0" smtClean="0"/>
              <a:t>inverters. (</a:t>
            </a:r>
            <a:r>
              <a:rPr lang="en-US" sz="2600" dirty="0"/>
              <a:t>immersing them in a non-conductive cooling fluid</a:t>
            </a:r>
            <a:r>
              <a:rPr lang="en-US" sz="2600" dirty="0" smtClean="0"/>
              <a:t>.)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Moreover, the undergoing air-cooled </a:t>
            </a:r>
            <a:r>
              <a:rPr lang="en-US" sz="2600" dirty="0" err="1"/>
              <a:t>SiC</a:t>
            </a:r>
            <a:r>
              <a:rPr lang="en-US" sz="2600" dirty="0"/>
              <a:t> inverters are expected to be the next-generation PCU of EV powertrain toward the continuously increasing light and compact requirements of the EV</a:t>
            </a:r>
            <a:r>
              <a:rPr lang="en-US" sz="2600" dirty="0" smtClean="0"/>
              <a:t>.</a:t>
            </a:r>
          </a:p>
          <a:p>
            <a:r>
              <a:rPr lang="en-US" sz="2600" dirty="0"/>
              <a:t>If the </a:t>
            </a:r>
            <a:r>
              <a:rPr lang="en-US" sz="2600" b="1" dirty="0"/>
              <a:t>air-cooled </a:t>
            </a:r>
            <a:r>
              <a:rPr lang="en-US" sz="2600" b="1" dirty="0" err="1"/>
              <a:t>SiC</a:t>
            </a:r>
            <a:r>
              <a:rPr lang="en-US" sz="2600" b="1" dirty="0"/>
              <a:t> inverter </a:t>
            </a:r>
            <a:r>
              <a:rPr lang="en-US" sz="2600" dirty="0"/>
              <a:t>is desired, it </a:t>
            </a:r>
          </a:p>
          <a:p>
            <a:pPr lvl="1"/>
            <a:r>
              <a:rPr lang="en-US" sz="2600" dirty="0"/>
              <a:t>Requires innovative to enhance the power dissipation and reduce the thermal resistance, including  </a:t>
            </a:r>
          </a:p>
          <a:p>
            <a:pPr lvl="2"/>
            <a:r>
              <a:rPr lang="en-US" sz="2600" dirty="0"/>
              <a:t>optimized heat sink structure</a:t>
            </a:r>
          </a:p>
          <a:p>
            <a:pPr lvl="2"/>
            <a:r>
              <a:rPr lang="en-US" sz="2600" dirty="0"/>
              <a:t>integrated baseplate with pin-fin</a:t>
            </a:r>
          </a:p>
          <a:p>
            <a:pPr lvl="2"/>
            <a:r>
              <a:rPr lang="sv-SE" sz="2600" dirty="0" err="1"/>
              <a:t>power</a:t>
            </a:r>
            <a:r>
              <a:rPr lang="sv-SE" sz="2600" dirty="0"/>
              <a:t>-shower </a:t>
            </a:r>
            <a:r>
              <a:rPr lang="sv-SE" sz="2600" dirty="0" err="1"/>
              <a:t>technologies</a:t>
            </a:r>
            <a:endParaRPr lang="sv-SE" sz="2600" dirty="0"/>
          </a:p>
          <a:p>
            <a:pPr lvl="2"/>
            <a:r>
              <a:rPr lang="sv-SE" sz="2600" dirty="0"/>
              <a:t>3-D </a:t>
            </a:r>
            <a:r>
              <a:rPr lang="sv-SE" sz="2600" dirty="0" err="1"/>
              <a:t>printed</a:t>
            </a:r>
            <a:r>
              <a:rPr lang="sv-SE" sz="2600" dirty="0"/>
              <a:t> heat sink</a:t>
            </a:r>
          </a:p>
          <a:p>
            <a:pPr lvl="2"/>
            <a:r>
              <a:rPr lang="it-IT" sz="2600" dirty="0"/>
              <a:t>nano-scale thermal interface material (TIM)</a:t>
            </a:r>
          </a:p>
          <a:p>
            <a:pPr lvl="2"/>
            <a:r>
              <a:rPr lang="en-US" sz="2600" dirty="0"/>
              <a:t>cold spray low temperature soldering</a:t>
            </a:r>
          </a:p>
          <a:p>
            <a:pPr lvl="1"/>
            <a:r>
              <a:rPr lang="en-US" sz="2600" dirty="0"/>
              <a:t>Requires on-line regulation of power losses; including</a:t>
            </a:r>
          </a:p>
          <a:p>
            <a:pPr lvl="2"/>
            <a:r>
              <a:rPr lang="en-US" sz="2600" dirty="0"/>
              <a:t>adaptive switching frequency</a:t>
            </a:r>
          </a:p>
          <a:p>
            <a:pPr lvl="2"/>
            <a:r>
              <a:rPr lang="en-US" sz="2600" dirty="0"/>
              <a:t>adjustable dc-link voltage</a:t>
            </a:r>
            <a:endParaRPr lang="sv-SE" sz="2600" dirty="0"/>
          </a:p>
          <a:p>
            <a:pPr marL="0" indent="0">
              <a:buNone/>
            </a:pPr>
            <a:endParaRPr lang="en-US" sz="2000" dirty="0"/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8666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DC-link Capacitor Selection [6]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 smtClean="0"/>
                  <a:t>To </a:t>
                </a:r>
                <a:r>
                  <a:rPr lang="en-US" sz="1600" dirty="0"/>
                  <a:t>meet the light and compact design target, the capacitance and volume of the dc-link capacitor should be </a:t>
                </a:r>
                <a:r>
                  <a:rPr lang="en-US" sz="1600" dirty="0" smtClean="0"/>
                  <a:t>optimized</a:t>
                </a:r>
              </a:p>
              <a:p>
                <a:r>
                  <a:rPr lang="en-US" sz="1600" dirty="0"/>
                  <a:t>D</a:t>
                </a:r>
                <a:r>
                  <a:rPr lang="en-US" sz="1600" dirty="0" smtClean="0"/>
                  <a:t>ue </a:t>
                </a:r>
                <a:r>
                  <a:rPr lang="en-US" sz="1600" dirty="0"/>
                  <a:t>to the ripple voltage and ripple current caused by the switching behavior of </a:t>
                </a:r>
                <a:r>
                  <a:rPr lang="en-US" sz="1600" dirty="0" err="1"/>
                  <a:t>SiC</a:t>
                </a:r>
                <a:r>
                  <a:rPr lang="en-US" sz="1600" dirty="0"/>
                  <a:t> MOSFET</a:t>
                </a:r>
                <a:r>
                  <a:rPr lang="en-US" sz="1600" dirty="0" smtClean="0"/>
                  <a:t>, the </a:t>
                </a:r>
                <a:r>
                  <a:rPr lang="en-US" sz="1600" dirty="0"/>
                  <a:t>dc-link capacitor is one of the weakest elements in the </a:t>
                </a:r>
                <a:r>
                  <a:rPr lang="en-US" sz="1600" dirty="0" smtClean="0"/>
                  <a:t>inverter.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smtClean="0"/>
                  <a:t>Objectives:</a:t>
                </a:r>
              </a:p>
              <a:p>
                <a:pPr lvl="1"/>
                <a:r>
                  <a:rPr lang="en-US" sz="1600" dirty="0" smtClean="0"/>
                  <a:t>Optimal material:</a:t>
                </a:r>
              </a:p>
              <a:p>
                <a:pPr lvl="2"/>
                <a:r>
                  <a:rPr lang="en-US" sz="1600" b="1" dirty="0" smtClean="0"/>
                  <a:t>Ceramic</a:t>
                </a:r>
                <a:r>
                  <a:rPr lang="en-US" sz="1600" dirty="0" smtClean="0"/>
                  <a:t> can endure </a:t>
                </a:r>
                <a:r>
                  <a:rPr lang="en-US" sz="1600" dirty="0"/>
                  <a:t>high temperature, but its capacitance is small and sensitive to humidity</a:t>
                </a:r>
                <a:r>
                  <a:rPr lang="en-US" sz="1600" dirty="0" smtClean="0"/>
                  <a:t>.</a:t>
                </a:r>
                <a:r>
                  <a:rPr lang="en-US" sz="1600" dirty="0"/>
                  <a:t> Power density is about </a:t>
                </a:r>
                <a:r>
                  <a:rPr lang="en-US" sz="1600" b="1" dirty="0" smtClean="0"/>
                  <a:t>2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600" dirty="0"/>
                  <a:t>. It </a:t>
                </a:r>
                <a:r>
                  <a:rPr lang="en-US" sz="1600" dirty="0" smtClean="0"/>
                  <a:t>is </a:t>
                </a:r>
                <a:r>
                  <a:rPr lang="en-US" sz="1600" dirty="0"/>
                  <a:t>much more </a:t>
                </a:r>
                <a:r>
                  <a:rPr lang="en-US" sz="1600" b="1" dirty="0"/>
                  <a:t>expensive</a:t>
                </a:r>
                <a:r>
                  <a:rPr lang="en-US" sz="1600" dirty="0"/>
                  <a:t> than others.</a:t>
                </a:r>
                <a:endParaRPr lang="en-US" sz="1600" dirty="0" smtClean="0"/>
              </a:p>
              <a:p>
                <a:pPr lvl="2"/>
                <a:r>
                  <a:rPr lang="en-US" sz="1600" b="1" dirty="0"/>
                  <a:t>Electrolytic</a:t>
                </a:r>
                <a:r>
                  <a:rPr lang="en-US" sz="1600" dirty="0"/>
                  <a:t> capacitor has large capacitance, it cannot endure high temperature. </a:t>
                </a:r>
                <a:r>
                  <a:rPr lang="en-US" sz="1600" dirty="0" smtClean="0"/>
                  <a:t>The </a:t>
                </a:r>
                <a:r>
                  <a:rPr lang="en-US" sz="1600" dirty="0"/>
                  <a:t>hot operation condition dries the electrolytic out and damages the capacitor</a:t>
                </a:r>
                <a:r>
                  <a:rPr lang="en-US" sz="1600" dirty="0" smtClean="0"/>
                  <a:t>. Higher power density, which is greater than </a:t>
                </a:r>
                <a14:m>
                  <m:oMath xmlns:m="http://schemas.openxmlformats.org/officeDocument/2006/math"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dirty="0" smtClean="0"/>
              </a:p>
              <a:p>
                <a:pPr lvl="2"/>
                <a:r>
                  <a:rPr lang="en-US" sz="1600" b="1" dirty="0" smtClean="0"/>
                  <a:t>Film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capacitor are between the ceramic and electrolytic capacitors</a:t>
                </a:r>
                <a:r>
                  <a:rPr lang="en-US" sz="1600" dirty="0" smtClean="0"/>
                  <a:t>. Power density is about </a:t>
                </a:r>
                <a:r>
                  <a:rPr lang="en-US" sz="1600" b="1" dirty="0" smtClean="0"/>
                  <a:t>1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b="1" dirty="0" smtClean="0"/>
              </a:p>
              <a:p>
                <a:pPr lvl="1"/>
                <a:r>
                  <a:rPr lang="en-US" sz="1600" dirty="0" smtClean="0"/>
                  <a:t>Minimized capacitance</a:t>
                </a:r>
              </a:p>
              <a:p>
                <a:pPr lvl="2"/>
                <a:r>
                  <a:rPr lang="en-US" sz="1600" dirty="0"/>
                  <a:t>Considering the ripple voltage of the inverter, the minimum capacitance </a:t>
                </a:r>
                <a:r>
                  <a:rPr lang="en-US" sz="1600" dirty="0" err="1" smtClean="0"/>
                  <a:t>Cv</a:t>
                </a:r>
                <a:r>
                  <a:rPr lang="en-US" sz="1600" dirty="0" smtClean="0"/>
                  <a:t> can be found respecting topology. </a:t>
                </a:r>
              </a:p>
              <a:p>
                <a:pPr lvl="2"/>
                <a:r>
                  <a:rPr lang="en-US" sz="1600" dirty="0"/>
                  <a:t>Considering the ripple </a:t>
                </a:r>
                <a:r>
                  <a:rPr lang="en-US" sz="1600" dirty="0" smtClean="0"/>
                  <a:t>current, </a:t>
                </a:r>
                <a:r>
                  <a:rPr lang="en-US" sz="1600" dirty="0"/>
                  <a:t>the minimum capacitance </a:t>
                </a:r>
                <a:r>
                  <a:rPr lang="en-US" sz="1600" dirty="0" smtClean="0"/>
                  <a:t>Ci </a:t>
                </a:r>
                <a:r>
                  <a:rPr lang="en-US" sz="1600" dirty="0"/>
                  <a:t>can be found respecting topology. </a:t>
                </a:r>
              </a:p>
              <a:p>
                <a:pPr lvl="2"/>
                <a:r>
                  <a:rPr lang="en-US" sz="1600" dirty="0" smtClean="0"/>
                  <a:t>Multi level or multi-module decreases the capacitance requirement?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C</a:t>
                </a:r>
                <a:r>
                  <a:rPr lang="en-US" sz="1600" dirty="0" smtClean="0"/>
                  <a:t>onstraints: </a:t>
                </a:r>
              </a:p>
              <a:p>
                <a:pPr marL="457200" lvl="1" indent="0">
                  <a:buNone/>
                </a:pPr>
                <a:r>
                  <a:rPr lang="en-US" sz="1600" dirty="0" smtClean="0"/>
                  <a:t>1. Ripple voltage, 2.Ripple current , 3.Cost, 4.Size, 5.Weight</a:t>
                </a:r>
                <a:endParaRPr lang="sv-SE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  <a:blipFill>
                <a:blip r:embed="rId2"/>
                <a:stretch>
                  <a:fillRect l="-348" t="-87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6431" b="1"/>
          <a:stretch/>
        </p:blipFill>
        <p:spPr>
          <a:xfrm>
            <a:off x="8502014" y="5387339"/>
            <a:ext cx="3217545" cy="611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13" y="5950706"/>
            <a:ext cx="3446145" cy="6054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522" y="5794330"/>
            <a:ext cx="1862139" cy="4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55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DC-link Capacitor Selection- Example Weight/Volume/Cost[6]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43" y="1777831"/>
            <a:ext cx="7820978" cy="39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59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[11]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20" y="1116964"/>
            <a:ext cx="10515600" cy="5923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High switching speed of </a:t>
            </a:r>
            <a:r>
              <a:rPr lang="en-US" sz="2000" dirty="0" err="1" smtClean="0"/>
              <a:t>SiC</a:t>
            </a:r>
            <a:r>
              <a:rPr lang="en-US" sz="2000" dirty="0" smtClean="0"/>
              <a:t> may potentially cause:</a:t>
            </a:r>
          </a:p>
          <a:p>
            <a:pPr lvl="1"/>
            <a:r>
              <a:rPr lang="en-US" sz="2000" dirty="0"/>
              <a:t>E</a:t>
            </a:r>
            <a:r>
              <a:rPr lang="en-US" sz="2000" dirty="0" smtClean="0"/>
              <a:t>xcessive </a:t>
            </a:r>
            <a:r>
              <a:rPr lang="en-US" sz="2000" dirty="0"/>
              <a:t>voltage </a:t>
            </a:r>
            <a:r>
              <a:rPr lang="en-US" sz="2000" dirty="0" smtClean="0"/>
              <a:t>overshoot</a:t>
            </a:r>
          </a:p>
          <a:p>
            <a:pPr lvl="1"/>
            <a:r>
              <a:rPr lang="sv-SE" sz="2000" dirty="0" err="1" smtClean="0"/>
              <a:t>Ringing</a:t>
            </a:r>
            <a:r>
              <a:rPr lang="sv-SE" sz="2000" dirty="0" smtClean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overshoot voltage during </a:t>
            </a:r>
            <a:r>
              <a:rPr lang="en-US" sz="2000" dirty="0" err="1"/>
              <a:t>turn-OFF</a:t>
            </a:r>
            <a:r>
              <a:rPr lang="en-US" sz="2000" dirty="0"/>
              <a:t> transient is a common </a:t>
            </a:r>
            <a:r>
              <a:rPr lang="en-US" sz="2000" dirty="0" smtClean="0"/>
              <a:t>issue. </a:t>
            </a:r>
            <a:r>
              <a:rPr lang="sv-SE" sz="2000" dirty="0" smtClean="0"/>
              <a:t>It </a:t>
            </a:r>
            <a:r>
              <a:rPr lang="sv-SE" sz="2000" dirty="0" err="1" smtClean="0"/>
              <a:t>stems</a:t>
            </a:r>
            <a:r>
              <a:rPr lang="sv-SE" sz="2000" dirty="0" smtClean="0"/>
              <a:t> from: </a:t>
            </a:r>
          </a:p>
          <a:p>
            <a:pPr lvl="1"/>
            <a:r>
              <a:rPr lang="en-US" sz="2000" dirty="0" smtClean="0"/>
              <a:t>high di/</a:t>
            </a:r>
            <a:r>
              <a:rPr lang="en-US" sz="2000" dirty="0" err="1" smtClean="0"/>
              <a:t>dt</a:t>
            </a:r>
            <a:r>
              <a:rPr lang="en-US" sz="2000" dirty="0" smtClean="0"/>
              <a:t> (5-10  times higher than Si)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total stray inductance in the current commutation loops </a:t>
            </a:r>
            <a:r>
              <a:rPr lang="en-US" sz="2000" dirty="0" smtClean="0"/>
              <a:t>	(</a:t>
            </a:r>
            <a:r>
              <a:rPr lang="en-US" sz="2000" dirty="0"/>
              <a:t>CCLs</a:t>
            </a:r>
            <a:r>
              <a:rPr lang="en-US" sz="2000" dirty="0" smtClean="0"/>
              <a:t>)</a:t>
            </a:r>
          </a:p>
          <a:p>
            <a:pPr lvl="2"/>
            <a:r>
              <a:rPr lang="en-US" dirty="0"/>
              <a:t>the parasitic inductance of the dc-link </a:t>
            </a:r>
            <a:r>
              <a:rPr lang="en-US" dirty="0" smtClean="0"/>
              <a:t>capacitors</a:t>
            </a:r>
          </a:p>
          <a:p>
            <a:pPr lvl="2"/>
            <a:r>
              <a:rPr lang="en-US" dirty="0"/>
              <a:t>the stray inductance of the semiconductor devices or power </a:t>
            </a:r>
            <a:r>
              <a:rPr lang="en-US" dirty="0" smtClean="0"/>
              <a:t>modules</a:t>
            </a:r>
            <a:endParaRPr lang="en-US" dirty="0"/>
          </a:p>
          <a:p>
            <a:pPr lvl="2"/>
            <a:r>
              <a:rPr lang="en-US" dirty="0"/>
              <a:t>the stray inductance on the bus bars connecting the capacitors and the power devices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000" b="1" dirty="0"/>
              <a:t>The </a:t>
            </a:r>
            <a:r>
              <a:rPr lang="en-US" sz="2000" b="1" dirty="0" smtClean="0"/>
              <a:t>laminated </a:t>
            </a:r>
            <a:r>
              <a:rPr lang="en-US" sz="2000" b="1" dirty="0"/>
              <a:t>bus bar structure</a:t>
            </a:r>
            <a:r>
              <a:rPr lang="en-US" sz="2000" dirty="0"/>
              <a:t>, which consists of multiple copper sheets, separated from each other by a </a:t>
            </a:r>
            <a:r>
              <a:rPr lang="en-US" sz="2000" b="1" dirty="0"/>
              <a:t>dielectric material</a:t>
            </a:r>
            <a:r>
              <a:rPr lang="en-US" sz="2000" dirty="0"/>
              <a:t>, is commonly used since it can effectively reduce the stray inductance</a:t>
            </a:r>
            <a:r>
              <a:rPr lang="en-US" sz="2000" dirty="0" smtClean="0"/>
              <a:t>. A proper </a:t>
            </a:r>
            <a:r>
              <a:rPr lang="en-US" sz="2000" dirty="0" err="1" smtClean="0"/>
              <a:t>busbar</a:t>
            </a:r>
            <a:r>
              <a:rPr lang="en-US" sz="2000" dirty="0" smtClean="0"/>
              <a:t> decrease: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voltage overshoot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electromagnetic </a:t>
            </a:r>
            <a:r>
              <a:rPr lang="en-US" sz="1800" dirty="0"/>
              <a:t>interference (EMI) </a:t>
            </a:r>
            <a:r>
              <a:rPr lang="en-US" sz="1800" dirty="0" smtClean="0"/>
              <a:t>emission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switching losses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thermal </a:t>
            </a:r>
            <a:r>
              <a:rPr lang="en-US" sz="1800" dirty="0"/>
              <a:t>stress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238592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Example[12]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62" t="3108" r="7375" b="879"/>
          <a:stretch/>
        </p:blipFill>
        <p:spPr>
          <a:xfrm>
            <a:off x="5010149" y="4244341"/>
            <a:ext cx="3169920" cy="1974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400" t="3712" r="7605" b="1143"/>
          <a:stretch/>
        </p:blipFill>
        <p:spPr>
          <a:xfrm>
            <a:off x="4876799" y="1354811"/>
            <a:ext cx="3124201" cy="2538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8744" t="11355" r="7727"/>
          <a:stretch/>
        </p:blipFill>
        <p:spPr>
          <a:xfrm>
            <a:off x="8420099" y="1267710"/>
            <a:ext cx="3627120" cy="24959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311" r="13921"/>
          <a:stretch/>
        </p:blipFill>
        <p:spPr>
          <a:xfrm>
            <a:off x="8420098" y="4101392"/>
            <a:ext cx="3467101" cy="2430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" y="2209990"/>
            <a:ext cx="46558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High-frequency current flow </a:t>
            </a:r>
            <a:r>
              <a:rPr lang="en-US" dirty="0" smtClean="0"/>
              <a:t>paths should be considered.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layout of the </a:t>
            </a:r>
            <a:r>
              <a:rPr lang="en-US" dirty="0" err="1"/>
              <a:t>busbar</a:t>
            </a:r>
            <a:r>
              <a:rPr lang="en-US" dirty="0"/>
              <a:t> should be </a:t>
            </a:r>
            <a:r>
              <a:rPr lang="en-US" dirty="0" smtClean="0"/>
              <a:t>symmetric.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Current distribution should be homogenized.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Analytical calculations or FEA can be used to calculate stray inductances. 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stray inductances in current commutation </a:t>
            </a:r>
            <a:r>
              <a:rPr lang="en-US" dirty="0" smtClean="0"/>
              <a:t>loops should be minimized. (Typically order of 10nH)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7881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[1</a:t>
            </a:r>
            <a:r>
              <a:rPr lang="en-US" dirty="0"/>
              <a:t>] A Compact 250 kW Silicon Carbide MOSFET based Three-Level Traction Inverter for Heavy Equipment </a:t>
            </a:r>
            <a:r>
              <a:rPr lang="en-US" dirty="0" smtClean="0"/>
              <a:t>Applications</a:t>
            </a:r>
          </a:p>
          <a:p>
            <a:r>
              <a:rPr lang="en-US" dirty="0"/>
              <a:t>[2] Design and Validation of A 250-kW All-Silicon Carbide High-Density Three-Level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[3] Comparative Study of Conducted Common-Mode EMI in WBG-Enabled DC-Fed Three-Phase Current-Source </a:t>
            </a:r>
            <a:r>
              <a:rPr lang="en-US" dirty="0" smtClean="0"/>
              <a:t>Inverter</a:t>
            </a:r>
          </a:p>
          <a:p>
            <a:r>
              <a:rPr lang="en-US" dirty="0" smtClean="0"/>
              <a:t>[4] </a:t>
            </a:r>
            <a:r>
              <a:rPr lang="en-US" dirty="0"/>
              <a:t>Design of High Power Density 100 kW Surface Permanent Magnet Machine with No Heavy Rare Earth Material Using Current Source Inverter for Traction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[5] </a:t>
            </a:r>
            <a:r>
              <a:rPr lang="en-US" dirty="0"/>
              <a:t>Modulation and Power Losses of a </a:t>
            </a:r>
            <a:r>
              <a:rPr lang="en-US" dirty="0" smtClean="0"/>
              <a:t>Stacked </a:t>
            </a:r>
            <a:r>
              <a:rPr lang="en-US" dirty="0" err="1" smtClean="0"/>
              <a:t>Polyphase</a:t>
            </a:r>
            <a:r>
              <a:rPr lang="en-US" dirty="0" smtClean="0"/>
              <a:t> </a:t>
            </a:r>
            <a:r>
              <a:rPr lang="en-US" dirty="0"/>
              <a:t>Bridge </a:t>
            </a:r>
            <a:r>
              <a:rPr lang="en-US" dirty="0" smtClean="0"/>
              <a:t>Converter</a:t>
            </a:r>
          </a:p>
          <a:p>
            <a:r>
              <a:rPr lang="en-US" dirty="0"/>
              <a:t>[6] Stepwise Design Methodology and Heterogeneous Integration Routine of Air-Cooled </a:t>
            </a:r>
            <a:r>
              <a:rPr lang="en-US" dirty="0" err="1"/>
              <a:t>SiC</a:t>
            </a:r>
            <a:r>
              <a:rPr lang="en-US" dirty="0"/>
              <a:t> Inverter for Electric </a:t>
            </a:r>
            <a:r>
              <a:rPr lang="en-US" dirty="0" smtClean="0"/>
              <a:t>Vehicle</a:t>
            </a:r>
          </a:p>
          <a:p>
            <a:r>
              <a:rPr lang="en-US" dirty="0"/>
              <a:t>[7] Recent Developments in Thermal Management of Electrified Powertrains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9806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</a:t>
            </a:r>
            <a:r>
              <a:rPr lang="en-US" dirty="0"/>
              <a:t>8] Automotive Traction Inverters: Current Status and Future </a:t>
            </a:r>
            <a:r>
              <a:rPr lang="en-US" dirty="0" smtClean="0"/>
              <a:t>Trends</a:t>
            </a:r>
          </a:p>
          <a:p>
            <a:r>
              <a:rPr lang="en-US" dirty="0" smtClean="0"/>
              <a:t>[9] Multi-objective </a:t>
            </a:r>
            <a:r>
              <a:rPr lang="en-US" dirty="0"/>
              <a:t>optimization design of electric vehicle converters based on ε-γ-σ</a:t>
            </a:r>
          </a:p>
          <a:p>
            <a:r>
              <a:rPr lang="en-US" dirty="0" smtClean="0"/>
              <a:t>[10] </a:t>
            </a:r>
            <a:r>
              <a:rPr lang="en-US" dirty="0"/>
              <a:t>Comparative Life Cycle Cost Analysis of Si and </a:t>
            </a:r>
            <a:r>
              <a:rPr lang="en-US" dirty="0" err="1"/>
              <a:t>SiC</a:t>
            </a:r>
            <a:r>
              <a:rPr lang="en-US" dirty="0"/>
              <a:t> PV Converter Systems Based on Advanced η-ρ-σ </a:t>
            </a:r>
            <a:r>
              <a:rPr lang="en-US" dirty="0" err="1"/>
              <a:t>Multiobjective</a:t>
            </a:r>
            <a:r>
              <a:rPr lang="en-US" dirty="0"/>
              <a:t> Optimization </a:t>
            </a:r>
            <a:r>
              <a:rPr lang="en-US" dirty="0" smtClean="0"/>
              <a:t>Techniques</a:t>
            </a:r>
          </a:p>
          <a:p>
            <a:r>
              <a:rPr lang="en-US" dirty="0"/>
              <a:t>[11] </a:t>
            </a:r>
            <a:r>
              <a:rPr lang="en-US" dirty="0" err="1"/>
              <a:t>Busbar</a:t>
            </a:r>
            <a:r>
              <a:rPr lang="en-US" dirty="0"/>
              <a:t> Design and Optimization for Voltage Overshoot Mitigation of a Silicon Carbide High-Power Three-Phase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[12] A low-inductance Sectional </a:t>
            </a:r>
            <a:r>
              <a:rPr lang="en-US" dirty="0" err="1"/>
              <a:t>Busbar</a:t>
            </a:r>
            <a:r>
              <a:rPr lang="en-US" dirty="0"/>
              <a:t> for </a:t>
            </a:r>
            <a:r>
              <a:rPr lang="en-US" dirty="0" err="1"/>
              <a:t>Snuberless</a:t>
            </a:r>
            <a:r>
              <a:rPr lang="en-US" dirty="0"/>
              <a:t> Operation of </a:t>
            </a:r>
            <a:r>
              <a:rPr lang="en-US" dirty="0" err="1"/>
              <a:t>SiC</a:t>
            </a:r>
            <a:r>
              <a:rPr lang="en-US" dirty="0"/>
              <a:t>-based EV Traction Inverters</a:t>
            </a:r>
            <a:endParaRPr lang="sv-SE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852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14472</TotalTime>
  <Words>2294</Words>
  <Application>Microsoft Office PowerPoint</Application>
  <PresentationFormat>Widescreen</PresentationFormat>
  <Paragraphs>288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Comparison of Inverter Topologies</vt:lpstr>
      <vt:lpstr>Comparison Creteria</vt:lpstr>
      <vt:lpstr>PowerPoint Presentation</vt:lpstr>
      <vt:lpstr>Considered Topologies</vt:lpstr>
      <vt:lpstr>PowerPoint Presentation</vt:lpstr>
      <vt:lpstr>Specifications- 3-ph</vt:lpstr>
      <vt:lpstr>System Level Design Considerations [1]</vt:lpstr>
      <vt:lpstr>Stepwise Design Methodology and Multi-objective Optimization [6,9,10]</vt:lpstr>
      <vt:lpstr>Conceptual Topology Level Design [2,5]</vt:lpstr>
      <vt:lpstr>PowerPoint Presentation</vt:lpstr>
      <vt:lpstr>Voltage source inverters (VSIs) or current source inverters (CSIs) [3,4]</vt:lpstr>
      <vt:lpstr>2LC</vt:lpstr>
      <vt:lpstr>3LNPC^2 </vt:lpstr>
      <vt:lpstr>3LT^2 C</vt:lpstr>
      <vt:lpstr>SPB [5]</vt:lpstr>
      <vt:lpstr>Thermal Management [6,7]</vt:lpstr>
      <vt:lpstr>Thermal Management [7]</vt:lpstr>
      <vt:lpstr>Thermal Management [7]</vt:lpstr>
      <vt:lpstr>STATE-OF-THE-ART [6]</vt:lpstr>
      <vt:lpstr>STATE-OF-THE-ART [8]</vt:lpstr>
      <vt:lpstr>Trend [6,8]</vt:lpstr>
      <vt:lpstr>DC-link Capacitor Selection [6]</vt:lpstr>
      <vt:lpstr>DC-link Capacitor Selection- Example Weight/Volume/Cost[6]</vt:lpstr>
      <vt:lpstr>Busbar Design [11]</vt:lpstr>
      <vt:lpstr>Busbar Design Example[12]</vt:lpstr>
      <vt:lpstr>References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143</cp:revision>
  <dcterms:created xsi:type="dcterms:W3CDTF">2023-05-19T13:17:21Z</dcterms:created>
  <dcterms:modified xsi:type="dcterms:W3CDTF">2023-06-12T13:14:03Z</dcterms:modified>
</cp:coreProperties>
</file>