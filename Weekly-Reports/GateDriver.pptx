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4"/>
  </p:notesMasterIdLst>
  <p:sldIdLst>
    <p:sldId id="256" r:id="rId2"/>
    <p:sldId id="282" r:id="rId3"/>
  </p:sldIdLst>
  <p:sldSz cx="12192000" cy="6858000"/>
  <p:notesSz cx="6858000" cy="9144000"/>
  <p:embeddedFontLst>
    <p:embeddedFont>
      <p:font typeface="Figtree" panose="020B0604020202020204" charset="0"/>
      <p:regular r:id="rId5"/>
      <p:bold r:id="rId6"/>
      <p:italic r:id="rId7"/>
      <p:boldItalic r:id="rId8"/>
    </p:embeddedFont>
    <p:embeddedFont>
      <p:font typeface="Calibri" panose="020F0502020204030204" pitchFamily="34" charset="0"/>
      <p:regular r:id="rId9"/>
      <p:bold r:id="rId10"/>
      <p:italic r:id="rId11"/>
      <p:boldItalic r:id="rId12"/>
    </p:embeddedFont>
    <p:embeddedFont>
      <p:font typeface="Cambria Math" panose="02040503050406030204" pitchFamily="18" charset="0"/>
      <p:regular r:id="rId13"/>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42" autoAdjust="0"/>
    <p:restoredTop sz="96327"/>
  </p:normalViewPr>
  <p:slideViewPr>
    <p:cSldViewPr snapToGrid="0">
      <p:cViewPr>
        <p:scale>
          <a:sx n="150" d="100"/>
          <a:sy n="150" d="100"/>
        </p:scale>
        <p:origin x="858"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3" Type="http://schemas.openxmlformats.org/officeDocument/2006/relationships/slide" Target="slides/slide2.xml"/><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5" Type="http://schemas.openxmlformats.org/officeDocument/2006/relationships/font" Target="fonts/font1.fntdata"/><Relationship Id="rId15" Type="http://schemas.openxmlformats.org/officeDocument/2006/relationships/viewProps" Target="viewProps.xml"/><Relationship Id="rId10" Type="http://schemas.openxmlformats.org/officeDocument/2006/relationships/font" Target="fonts/font6.fntdata"/><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2025-03-25</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2025-03-25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2025-03-25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2025-03-25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2025-03-25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2025-03-25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2025-03-25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2025-03-25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2025-03-25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2025-03-25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2025-03-25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2025-03-25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2025-03-25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2025-03-25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2025-03-25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2025-03-25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2025-03-25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2025-03-25</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2025-03-25</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2025-03-25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2025-03-25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2025-03-25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2025-03-25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2025-03-25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2025-03-25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2025-03-25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2025-03-25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2025-03-25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2025-03-25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2025-03-25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2025-03-25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2025-03-25</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2025-03-25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2025-03-25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2025-03-25</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2025-03-25</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2025-03-25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2025-03-25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2025-03-25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2025-03-25</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269129"/>
            <a:ext cx="8798701" cy="1956921"/>
          </a:xfrm>
        </p:spPr>
        <p:txBody>
          <a:bodyPr/>
          <a:lstStyle/>
          <a:p>
            <a:r>
              <a:rPr lang="en-US" dirty="0" smtClean="0"/>
              <a:t>Gate Driver</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lstStyle/>
          <a:p>
            <a:endParaRPr lang="sv-SE" dirty="0"/>
          </a:p>
        </p:txBody>
      </p:sp>
    </p:spTree>
    <p:extLst>
      <p:ext uri="{BB962C8B-B14F-4D97-AF65-F5344CB8AC3E}">
        <p14:creationId xmlns:p14="http://schemas.microsoft.com/office/powerpoint/2010/main" val="2081227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1014143" y="276122"/>
                <a:ext cx="10990263" cy="568412"/>
              </a:xfrm>
            </p:spPr>
            <p:txBody>
              <a:bodyPr/>
              <a:lstStyle/>
              <a:p>
                <a:r>
                  <a:rPr lang="en-US" dirty="0" smtClean="0">
                    <a:latin typeface="Times New Roman" panose="02020603050405020304" pitchFamily="18" charset="0"/>
                    <a:cs typeface="Times New Roman" panose="02020603050405020304" pitchFamily="18" charset="0"/>
                  </a:rPr>
                  <a:t>Intelligent Gate Drivers: Online </a:t>
                </a:r>
                <a14:m>
                  <m:oMath xmlns:m="http://schemas.openxmlformats.org/officeDocument/2006/math">
                    <m:sSub>
                      <m:sSubPr>
                        <m:ctrlPr>
                          <a:rPr lang="en-US" i="1" dirty="0" smtClean="0">
                            <a:latin typeface="Cambria Math" panose="02040503050406030204" pitchFamily="18" charset="0"/>
                            <a:cs typeface="Times New Roman" panose="02020603050405020304" pitchFamily="18" charset="0"/>
                          </a:rPr>
                        </m:ctrlPr>
                      </m:sSubPr>
                      <m:e>
                        <m:r>
                          <a:rPr lang="en-US" i="1" dirty="0" smtClean="0">
                            <a:latin typeface="Cambria Math" panose="02040503050406030204" pitchFamily="18" charset="0"/>
                            <a:cs typeface="Times New Roman" panose="02020603050405020304" pitchFamily="18" charset="0"/>
                          </a:rPr>
                          <m:t>𝑅</m:t>
                        </m:r>
                      </m:e>
                      <m:sub>
                        <m:r>
                          <a:rPr lang="en-US" i="1" dirty="0" smtClean="0">
                            <a:latin typeface="Cambria Math" panose="02040503050406030204" pitchFamily="18" charset="0"/>
                            <a:cs typeface="Times New Roman" panose="02020603050405020304" pitchFamily="18" charset="0"/>
                          </a:rPr>
                          <m:t>𝑑𝑠</m:t>
                        </m:r>
                      </m:sub>
                    </m:sSub>
                  </m:oMath>
                </a14:m>
                <a:r>
                  <a:rPr lang="en-US" dirty="0" smtClean="0">
                    <a:latin typeface="Times New Roman" panose="02020603050405020304" pitchFamily="18" charset="0"/>
                    <a:cs typeface="Times New Roman" panose="02020603050405020304" pitchFamily="18" charset="0"/>
                  </a:rPr>
                  <a:t> Measurement</a:t>
                </a:r>
                <a:endParaRPr lang="sv-SE" dirty="0">
                  <a:latin typeface="Times New Roman" panose="02020603050405020304" pitchFamily="18" charset="0"/>
                  <a:cs typeface="Times New Roman" panose="02020603050405020304" pitchFamily="18" charset="0"/>
                </a:endParaRPr>
              </a:p>
            </p:txBody>
          </p:sp>
        </mc:Choice>
        <mc:Fallback>
          <p:sp>
            <p:nvSpPr>
              <p:cNvPr id="2" name="Title 1"/>
              <p:cNvSpPr>
                <a:spLocks noGrp="1" noRot="1" noChangeAspect="1" noMove="1" noResize="1" noEditPoints="1" noAdjustHandles="1" noChangeArrowheads="1" noChangeShapeType="1" noTextEdit="1"/>
              </p:cNvSpPr>
              <p:nvPr>
                <p:ph type="title"/>
              </p:nvPr>
            </p:nvSpPr>
            <p:spPr>
              <a:xfrm>
                <a:off x="1014143" y="276122"/>
                <a:ext cx="10990263" cy="568412"/>
              </a:xfrm>
              <a:blipFill>
                <a:blip r:embed="rId2"/>
                <a:stretch>
                  <a:fillRect l="-1664" t="-15957" b="-53191"/>
                </a:stretch>
              </a:blipFill>
            </p:spPr>
            <p:txBody>
              <a:bodyPr/>
              <a:lstStyle/>
              <a:p>
                <a:r>
                  <a:rPr lang="sv-SE">
                    <a:noFill/>
                  </a:rPr>
                  <a:t> </a:t>
                </a:r>
              </a:p>
            </p:txBody>
          </p:sp>
        </mc:Fallback>
      </mc:AlternateContent>
      <p:pic>
        <p:nvPicPr>
          <p:cNvPr id="6" name="Picture 5"/>
          <p:cNvPicPr>
            <a:picLocks noChangeAspect="1"/>
          </p:cNvPicPr>
          <p:nvPr/>
        </p:nvPicPr>
        <p:blipFill>
          <a:blip r:embed="rId3"/>
          <a:stretch>
            <a:fillRect/>
          </a:stretch>
        </p:blipFill>
        <p:spPr>
          <a:xfrm>
            <a:off x="7713123" y="1673063"/>
            <a:ext cx="4478877" cy="2364897"/>
          </a:xfrm>
          <a:prstGeom prst="rect">
            <a:avLst/>
          </a:prstGeom>
        </p:spPr>
      </p:pic>
      <mc:AlternateContent xmlns:mc="http://schemas.openxmlformats.org/markup-compatibility/2006">
        <mc:Choice xmlns:a14="http://schemas.microsoft.com/office/drawing/2010/main" Requires="a14">
          <p:sp>
            <p:nvSpPr>
              <p:cNvPr id="8" name="Rectangle 7"/>
              <p:cNvSpPr/>
              <p:nvPr/>
            </p:nvSpPr>
            <p:spPr>
              <a:xfrm>
                <a:off x="289560" y="1157377"/>
                <a:ext cx="7848600" cy="1239442"/>
              </a:xfrm>
              <a:prstGeom prst="rect">
                <a:avLst/>
              </a:prstGeom>
            </p:spPr>
            <p:txBody>
              <a:bodyPr wrap="square">
                <a:spAutoFit/>
              </a:bodyPr>
              <a:lstStyle/>
              <a:p>
                <a:r>
                  <a:rPr lang="en-US" b="1" dirty="0" smtClean="0">
                    <a:solidFill>
                      <a:srgbClr val="404040"/>
                    </a:solidFill>
                    <a:latin typeface="Times New Roman" panose="02020603050405020304" pitchFamily="18" charset="0"/>
                    <a:cs typeface="Times New Roman" panose="02020603050405020304" pitchFamily="18" charset="0"/>
                  </a:rPr>
                  <a:t>Indicator of Device Health:</a:t>
                </a:r>
                <a:endParaRPr lang="en-US" dirty="0">
                  <a:solidFill>
                    <a:srgbClr val="404040"/>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14:m>
                  <m:oMath xmlns:m="http://schemas.openxmlformats.org/officeDocument/2006/math">
                    <m:sSub>
                      <m:sSubPr>
                        <m:ctrlPr>
                          <a:rPr lang="en-US" b="0" i="1" dirty="0" smtClean="0">
                            <a:solidFill>
                              <a:srgbClr val="404040"/>
                            </a:solidFill>
                            <a:latin typeface="Cambria Math" panose="02040503050406030204" pitchFamily="18" charset="0"/>
                            <a:cs typeface="Times New Roman" panose="02020603050405020304" pitchFamily="18" charset="0"/>
                          </a:rPr>
                        </m:ctrlPr>
                      </m:sSubPr>
                      <m:e>
                        <m:r>
                          <a:rPr lang="en-US" i="1" dirty="0" smtClean="0">
                            <a:solidFill>
                              <a:srgbClr val="404040"/>
                            </a:solidFill>
                            <a:latin typeface="Cambria Math" panose="02040503050406030204" pitchFamily="18" charset="0"/>
                            <a:cs typeface="Times New Roman" panose="02020603050405020304" pitchFamily="18" charset="0"/>
                          </a:rPr>
                          <m:t>𝑅</m:t>
                        </m:r>
                      </m:e>
                      <m:sub>
                        <m:r>
                          <a:rPr lang="en-US" i="1" dirty="0" smtClean="0">
                            <a:solidFill>
                              <a:srgbClr val="404040"/>
                            </a:solidFill>
                            <a:latin typeface="Cambria Math" panose="02040503050406030204" pitchFamily="18" charset="0"/>
                            <a:cs typeface="Times New Roman" panose="02020603050405020304" pitchFamily="18" charset="0"/>
                          </a:rPr>
                          <m:t>𝑑𝑠</m:t>
                        </m:r>
                        <m:d>
                          <m:dPr>
                            <m:ctrlPr>
                              <a:rPr lang="en-US" i="1" dirty="0" smtClean="0">
                                <a:solidFill>
                                  <a:srgbClr val="404040"/>
                                </a:solidFill>
                                <a:latin typeface="Cambria Math" panose="02040503050406030204" pitchFamily="18" charset="0"/>
                                <a:cs typeface="Times New Roman" panose="02020603050405020304" pitchFamily="18" charset="0"/>
                              </a:rPr>
                            </m:ctrlPr>
                          </m:dPr>
                          <m:e>
                            <m:r>
                              <a:rPr lang="en-US" i="1" dirty="0" smtClean="0">
                                <a:solidFill>
                                  <a:srgbClr val="404040"/>
                                </a:solidFill>
                                <a:latin typeface="Cambria Math" panose="02040503050406030204" pitchFamily="18" charset="0"/>
                                <a:cs typeface="Times New Roman" panose="02020603050405020304" pitchFamily="18" charset="0"/>
                              </a:rPr>
                              <m:t>𝑜𝑛</m:t>
                            </m:r>
                          </m:e>
                        </m:d>
                      </m:sub>
                    </m:sSub>
                  </m:oMath>
                </a14:m>
                <a:r>
                  <a:rPr lang="en-US" dirty="0" smtClean="0">
                    <a:solidFill>
                      <a:srgbClr val="404040"/>
                    </a:solidFill>
                    <a:latin typeface="Times New Roman" panose="02020603050405020304" pitchFamily="18" charset="0"/>
                    <a:cs typeface="Times New Roman" panose="02020603050405020304" pitchFamily="18" charset="0"/>
                  </a:rPr>
                  <a:t>​ </a:t>
                </a:r>
                <a:r>
                  <a:rPr lang="en-US" dirty="0">
                    <a:solidFill>
                      <a:srgbClr val="404040"/>
                    </a:solidFill>
                    <a:latin typeface="Times New Roman" panose="02020603050405020304" pitchFamily="18" charset="0"/>
                    <a:cs typeface="Times New Roman" panose="02020603050405020304" pitchFamily="18" charset="0"/>
                  </a:rPr>
                  <a:t> increases with gate-oxide degradation, bond-wire faults, and thermal aging, serving as an early warning for failure.</a:t>
                </a:r>
              </a:p>
              <a:p>
                <a:pPr marL="742950" lvl="1" indent="-285750">
                  <a:buFont typeface="Arial" panose="020B0604020202020204" pitchFamily="34" charset="0"/>
                  <a:buChar char="•"/>
                </a:pPr>
                <a:r>
                  <a:rPr lang="en-US" dirty="0">
                    <a:solidFill>
                      <a:srgbClr val="404040"/>
                    </a:solidFill>
                    <a:latin typeface="Times New Roman" panose="02020603050405020304" pitchFamily="18" charset="0"/>
                    <a:cs typeface="Times New Roman" panose="02020603050405020304" pitchFamily="18" charset="0"/>
                  </a:rPr>
                  <a:t>Example: A 15–125% rise in </a:t>
                </a:r>
                <a14:m>
                  <m:oMath xmlns:m="http://schemas.openxmlformats.org/officeDocument/2006/math">
                    <m:sSub>
                      <m:sSubPr>
                        <m:ctrlPr>
                          <a:rPr lang="en-US" i="1" dirty="0">
                            <a:solidFill>
                              <a:srgbClr val="404040"/>
                            </a:solidFill>
                            <a:latin typeface="Cambria Math" panose="02040503050406030204" pitchFamily="18" charset="0"/>
                            <a:cs typeface="Times New Roman" panose="02020603050405020304" pitchFamily="18" charset="0"/>
                          </a:rPr>
                        </m:ctrlPr>
                      </m:sSubPr>
                      <m:e>
                        <m:r>
                          <a:rPr lang="en-US" i="1" dirty="0">
                            <a:solidFill>
                              <a:srgbClr val="404040"/>
                            </a:solidFill>
                            <a:latin typeface="Cambria Math" panose="02040503050406030204" pitchFamily="18" charset="0"/>
                            <a:cs typeface="Times New Roman" panose="02020603050405020304" pitchFamily="18" charset="0"/>
                          </a:rPr>
                          <m:t>𝑅</m:t>
                        </m:r>
                      </m:e>
                      <m:sub>
                        <m:r>
                          <a:rPr lang="en-US" i="1" dirty="0">
                            <a:solidFill>
                              <a:srgbClr val="404040"/>
                            </a:solidFill>
                            <a:latin typeface="Cambria Math" panose="02040503050406030204" pitchFamily="18" charset="0"/>
                            <a:cs typeface="Times New Roman" panose="02020603050405020304" pitchFamily="18" charset="0"/>
                          </a:rPr>
                          <m:t>𝑑𝑠</m:t>
                        </m:r>
                        <m:d>
                          <m:dPr>
                            <m:ctrlPr>
                              <a:rPr lang="en-US" i="1" dirty="0">
                                <a:solidFill>
                                  <a:srgbClr val="404040"/>
                                </a:solidFill>
                                <a:latin typeface="Cambria Math" panose="02040503050406030204" pitchFamily="18" charset="0"/>
                                <a:cs typeface="Times New Roman" panose="02020603050405020304" pitchFamily="18" charset="0"/>
                              </a:rPr>
                            </m:ctrlPr>
                          </m:dPr>
                          <m:e>
                            <m:r>
                              <a:rPr lang="en-US" i="1" dirty="0">
                                <a:solidFill>
                                  <a:srgbClr val="404040"/>
                                </a:solidFill>
                                <a:latin typeface="Cambria Math" panose="02040503050406030204" pitchFamily="18" charset="0"/>
                                <a:cs typeface="Times New Roman" panose="02020603050405020304" pitchFamily="18" charset="0"/>
                              </a:rPr>
                              <m:t>𝑜𝑛</m:t>
                            </m:r>
                          </m:e>
                        </m:d>
                      </m:sub>
                    </m:sSub>
                  </m:oMath>
                </a14:m>
                <a:r>
                  <a:rPr lang="en-US" dirty="0">
                    <a:solidFill>
                      <a:srgbClr val="404040"/>
                    </a:solidFill>
                    <a:latin typeface="Times New Roman" panose="02020603050405020304" pitchFamily="18" charset="0"/>
                    <a:cs typeface="Times New Roman" panose="02020603050405020304" pitchFamily="18" charset="0"/>
                  </a:rPr>
                  <a:t>​ precedes </a:t>
                </a:r>
                <a:r>
                  <a:rPr lang="en-US" dirty="0" err="1">
                    <a:solidFill>
                      <a:srgbClr val="404040"/>
                    </a:solidFill>
                    <a:latin typeface="Times New Roman" panose="02020603050405020304" pitchFamily="18" charset="0"/>
                    <a:cs typeface="Times New Roman" panose="02020603050405020304" pitchFamily="18" charset="0"/>
                  </a:rPr>
                  <a:t>SiC</a:t>
                </a:r>
                <a:r>
                  <a:rPr lang="en-US" dirty="0">
                    <a:solidFill>
                      <a:srgbClr val="404040"/>
                    </a:solidFill>
                    <a:latin typeface="Times New Roman" panose="02020603050405020304" pitchFamily="18" charset="0"/>
                    <a:cs typeface="Times New Roman" panose="02020603050405020304" pitchFamily="18" charset="0"/>
                  </a:rPr>
                  <a:t> MOSFET </a:t>
                </a:r>
                <a:r>
                  <a:rPr lang="en-US" dirty="0" smtClean="0">
                    <a:solidFill>
                      <a:srgbClr val="404040"/>
                    </a:solidFill>
                    <a:latin typeface="Times New Roman" panose="02020603050405020304" pitchFamily="18" charset="0"/>
                    <a:cs typeface="Times New Roman" panose="02020603050405020304" pitchFamily="18" charset="0"/>
                  </a:rPr>
                  <a:t>failure.</a:t>
                </a:r>
                <a:endParaRPr lang="en-US" b="0" i="0" dirty="0">
                  <a:solidFill>
                    <a:srgbClr val="404040"/>
                  </a:solidFill>
                  <a:effectLst/>
                  <a:latin typeface="Times New Roman" panose="02020603050405020304" pitchFamily="18" charset="0"/>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289560" y="1157377"/>
                <a:ext cx="7848600" cy="1239442"/>
              </a:xfrm>
              <a:prstGeom prst="rect">
                <a:avLst/>
              </a:prstGeom>
              <a:blipFill>
                <a:blip r:embed="rId4"/>
                <a:stretch>
                  <a:fillRect l="-699" t="-2956" b="-5419"/>
                </a:stretch>
              </a:blipFill>
            </p:spPr>
            <p:txBody>
              <a:bodyPr/>
              <a:lstStyle/>
              <a:p>
                <a:r>
                  <a:rPr lang="sv-SE">
                    <a:noFill/>
                  </a:rPr>
                  <a:t> </a:t>
                </a:r>
              </a:p>
            </p:txBody>
          </p:sp>
        </mc:Fallback>
      </mc:AlternateContent>
      <p:sp>
        <p:nvSpPr>
          <p:cNvPr id="10" name="Rectangle 9"/>
          <p:cNvSpPr/>
          <p:nvPr/>
        </p:nvSpPr>
        <p:spPr>
          <a:xfrm>
            <a:off x="413274" y="2429980"/>
            <a:ext cx="7450566" cy="923330"/>
          </a:xfrm>
          <a:prstGeom prst="rect">
            <a:avLst/>
          </a:prstGeom>
        </p:spPr>
        <p:txBody>
          <a:bodyPr wrap="square">
            <a:spAutoFit/>
          </a:bodyPr>
          <a:lstStyle/>
          <a:p>
            <a:r>
              <a:rPr lang="en-US" b="1" dirty="0">
                <a:solidFill>
                  <a:srgbClr val="404040"/>
                </a:solidFill>
                <a:latin typeface="Times New Roman" panose="02020603050405020304" pitchFamily="18" charset="0"/>
                <a:cs typeface="Times New Roman" panose="02020603050405020304" pitchFamily="18" charset="0"/>
              </a:rPr>
              <a:t>Fault </a:t>
            </a:r>
            <a:r>
              <a:rPr lang="en-US" b="1" dirty="0" smtClean="0">
                <a:solidFill>
                  <a:srgbClr val="404040"/>
                </a:solidFill>
                <a:latin typeface="Times New Roman" panose="02020603050405020304" pitchFamily="18" charset="0"/>
                <a:cs typeface="Times New Roman" panose="02020603050405020304" pitchFamily="18" charset="0"/>
              </a:rPr>
              <a:t>Prevention:</a:t>
            </a:r>
            <a:endParaRPr lang="en-US" dirty="0" smtClean="0">
              <a:solidFill>
                <a:srgbClr val="404040"/>
              </a:solidFill>
              <a:latin typeface="Times New Roman" panose="02020603050405020304" pitchFamily="18" charset="0"/>
              <a:cs typeface="Times New Roman" panose="02020603050405020304" pitchFamily="18" charset="0"/>
            </a:endParaRPr>
          </a:p>
          <a:p>
            <a:pPr lvl="1"/>
            <a:r>
              <a:rPr lang="en-US" dirty="0" smtClean="0">
                <a:solidFill>
                  <a:srgbClr val="404040"/>
                </a:solidFill>
                <a:latin typeface="Times New Roman" panose="02020603050405020304" pitchFamily="18" charset="0"/>
                <a:cs typeface="Times New Roman" panose="02020603050405020304" pitchFamily="18" charset="0"/>
              </a:rPr>
              <a:t>Detects </a:t>
            </a:r>
            <a:r>
              <a:rPr lang="en-US" dirty="0">
                <a:solidFill>
                  <a:srgbClr val="404040"/>
                </a:solidFill>
                <a:latin typeface="Times New Roman" panose="02020603050405020304" pitchFamily="18" charset="0"/>
                <a:cs typeface="Times New Roman" panose="02020603050405020304" pitchFamily="18" charset="0"/>
              </a:rPr>
              <a:t>chip- and package-level defects (e.g., solder cracks, oxide traps) before catastrophic failure.</a:t>
            </a:r>
            <a:endParaRPr lang="en-US" b="0" i="0" dirty="0">
              <a:solidFill>
                <a:srgbClr val="404040"/>
              </a:solidFill>
              <a:effectLst/>
              <a:latin typeface="Times New Roman" panose="02020603050405020304" pitchFamily="18" charset="0"/>
              <a:cs typeface="Times New Roman" panose="02020603050405020304" pitchFamily="18" charset="0"/>
            </a:endParaRPr>
          </a:p>
        </p:txBody>
      </p:sp>
      <p:sp>
        <p:nvSpPr>
          <p:cNvPr id="11" name="Rectangle 10"/>
          <p:cNvSpPr/>
          <p:nvPr/>
        </p:nvSpPr>
        <p:spPr>
          <a:xfrm>
            <a:off x="8500341" y="4011645"/>
            <a:ext cx="2632452" cy="584775"/>
          </a:xfrm>
          <a:prstGeom prst="rect">
            <a:avLst/>
          </a:prstGeom>
        </p:spPr>
        <p:txBody>
          <a:bodyPr wrap="none">
            <a:spAutoFit/>
          </a:bodyPr>
          <a:lstStyle/>
          <a:p>
            <a:r>
              <a:rPr lang="en-US" sz="1600" dirty="0" smtClean="0">
                <a:latin typeface="Times New Roman" panose="02020603050405020304" pitchFamily="18" charset="0"/>
                <a:cs typeface="Times New Roman" panose="02020603050405020304" pitchFamily="18" charset="0"/>
              </a:rPr>
              <a:t>Fig: Intelligent </a:t>
            </a:r>
            <a:r>
              <a:rPr lang="en-US" sz="1600" dirty="0">
                <a:latin typeface="Times New Roman" panose="02020603050405020304" pitchFamily="18" charset="0"/>
                <a:cs typeface="Times New Roman" panose="02020603050405020304" pitchFamily="18" charset="0"/>
              </a:rPr>
              <a:t>Gate </a:t>
            </a:r>
            <a:r>
              <a:rPr lang="en-US" sz="1600" dirty="0" smtClean="0">
                <a:latin typeface="Times New Roman" panose="02020603050405020304" pitchFamily="18" charset="0"/>
                <a:cs typeface="Times New Roman" panose="02020603050405020304" pitchFamily="18" charset="0"/>
              </a:rPr>
              <a:t>Drivers: </a:t>
            </a:r>
          </a:p>
          <a:p>
            <a:r>
              <a:rPr lang="en-US" sz="1600" dirty="0" err="1" smtClean="0">
                <a:latin typeface="Times New Roman" panose="02020603050405020304" pitchFamily="18" charset="0"/>
                <a:cs typeface="Times New Roman" panose="02020603050405020304" pitchFamily="18" charset="0"/>
              </a:rPr>
              <a:t>Sensing,control</a:t>
            </a:r>
            <a:r>
              <a:rPr lang="en-US" sz="1600" dirty="0" smtClean="0">
                <a:latin typeface="Times New Roman" panose="02020603050405020304" pitchFamily="18" charset="0"/>
                <a:cs typeface="Times New Roman" panose="02020603050405020304" pitchFamily="18" charset="0"/>
              </a:rPr>
              <a:t>, gate drivers</a:t>
            </a:r>
            <a:endParaRPr lang="sv-SE" sz="1600" dirty="0"/>
          </a:p>
        </p:txBody>
      </p:sp>
      <mc:AlternateContent xmlns:mc="http://schemas.openxmlformats.org/markup-compatibility/2006">
        <mc:Choice xmlns:a14="http://schemas.microsoft.com/office/drawing/2010/main" Requires="a14">
          <p:sp>
            <p:nvSpPr>
              <p:cNvPr id="12" name="Rectangle 11"/>
              <p:cNvSpPr/>
              <p:nvPr/>
            </p:nvSpPr>
            <p:spPr>
              <a:xfrm>
                <a:off x="413274" y="3614945"/>
                <a:ext cx="7724886" cy="665888"/>
              </a:xfrm>
              <a:prstGeom prst="rect">
                <a:avLst/>
              </a:prstGeom>
            </p:spPr>
            <p:txBody>
              <a:bodyPr wrap="square">
                <a:spAutoFit/>
              </a:bodyPr>
              <a:lstStyle/>
              <a:p>
                <a:r>
                  <a:rPr lang="en-US" dirty="0" smtClean="0">
                    <a:solidFill>
                      <a:srgbClr val="404040"/>
                    </a:solidFill>
                    <a:latin typeface="Times New Roman" panose="02020603050405020304" pitchFamily="18" charset="0"/>
                    <a:cs typeface="Times New Roman" panose="02020603050405020304" pitchFamily="18" charset="0"/>
                  </a:rPr>
                  <a:t>High-frequency </a:t>
                </a:r>
                <a:r>
                  <a:rPr lang="en-US" dirty="0">
                    <a:solidFill>
                      <a:srgbClr val="404040"/>
                    </a:solidFill>
                    <a:latin typeface="Times New Roman" panose="02020603050405020304" pitchFamily="18" charset="0"/>
                    <a:cs typeface="Times New Roman" panose="02020603050405020304" pitchFamily="18" charset="0"/>
                  </a:rPr>
                  <a:t>current </a:t>
                </a:r>
                <a:r>
                  <a:rPr lang="en-US" dirty="0" smtClean="0">
                    <a:solidFill>
                      <a:srgbClr val="404040"/>
                    </a:solidFill>
                    <a:latin typeface="Times New Roman" panose="02020603050405020304" pitchFamily="18" charset="0"/>
                    <a:cs typeface="Times New Roman" panose="02020603050405020304" pitchFamily="18" charset="0"/>
                  </a:rPr>
                  <a:t>injection could be utilized to </a:t>
                </a:r>
                <a:r>
                  <a:rPr lang="en-US" dirty="0">
                    <a:solidFill>
                      <a:srgbClr val="404040"/>
                    </a:solidFill>
                    <a:latin typeface="Times New Roman" panose="02020603050405020304" pitchFamily="18" charset="0"/>
                    <a:cs typeface="Times New Roman" panose="02020603050405020304" pitchFamily="18" charset="0"/>
                  </a:rPr>
                  <a:t>isolate </a:t>
                </a:r>
                <a14:m>
                  <m:oMath xmlns:m="http://schemas.openxmlformats.org/officeDocument/2006/math">
                    <m:sSub>
                      <m:sSubPr>
                        <m:ctrlPr>
                          <a:rPr lang="en-US" i="1" dirty="0">
                            <a:solidFill>
                              <a:srgbClr val="404040"/>
                            </a:solidFill>
                            <a:latin typeface="Cambria Math" panose="02040503050406030204" pitchFamily="18" charset="0"/>
                            <a:cs typeface="Times New Roman" panose="02020603050405020304" pitchFamily="18" charset="0"/>
                          </a:rPr>
                        </m:ctrlPr>
                      </m:sSubPr>
                      <m:e>
                        <m:r>
                          <a:rPr lang="en-US" i="1" dirty="0">
                            <a:solidFill>
                              <a:srgbClr val="404040"/>
                            </a:solidFill>
                            <a:latin typeface="Cambria Math" panose="02040503050406030204" pitchFamily="18" charset="0"/>
                            <a:cs typeface="Times New Roman" panose="02020603050405020304" pitchFamily="18" charset="0"/>
                          </a:rPr>
                          <m:t>𝑅</m:t>
                        </m:r>
                      </m:e>
                      <m:sub>
                        <m:r>
                          <a:rPr lang="en-US" i="1" dirty="0">
                            <a:solidFill>
                              <a:srgbClr val="404040"/>
                            </a:solidFill>
                            <a:latin typeface="Cambria Math" panose="02040503050406030204" pitchFamily="18" charset="0"/>
                            <a:cs typeface="Times New Roman" panose="02020603050405020304" pitchFamily="18" charset="0"/>
                          </a:rPr>
                          <m:t>𝑑𝑠</m:t>
                        </m:r>
                        <m:d>
                          <m:dPr>
                            <m:ctrlPr>
                              <a:rPr lang="en-US" i="1" dirty="0">
                                <a:solidFill>
                                  <a:srgbClr val="404040"/>
                                </a:solidFill>
                                <a:latin typeface="Cambria Math" panose="02040503050406030204" pitchFamily="18" charset="0"/>
                                <a:cs typeface="Times New Roman" panose="02020603050405020304" pitchFamily="18" charset="0"/>
                              </a:rPr>
                            </m:ctrlPr>
                          </m:dPr>
                          <m:e>
                            <m:r>
                              <a:rPr lang="en-US" i="1" dirty="0">
                                <a:solidFill>
                                  <a:srgbClr val="404040"/>
                                </a:solidFill>
                                <a:latin typeface="Cambria Math" panose="02040503050406030204" pitchFamily="18" charset="0"/>
                                <a:cs typeface="Times New Roman" panose="02020603050405020304" pitchFamily="18" charset="0"/>
                              </a:rPr>
                              <m:t>𝑜𝑛</m:t>
                            </m:r>
                          </m:e>
                        </m:d>
                      </m:sub>
                    </m:sSub>
                  </m:oMath>
                </a14:m>
                <a:r>
                  <a:rPr lang="en-US" dirty="0" smtClean="0">
                    <a:solidFill>
                      <a:srgbClr val="404040"/>
                    </a:solidFill>
                    <a:latin typeface="Times New Roman" panose="02020603050405020304" pitchFamily="18" charset="0"/>
                    <a:cs typeface="Times New Roman" panose="02020603050405020304" pitchFamily="18" charset="0"/>
                  </a:rPr>
                  <a:t>​​</a:t>
                </a:r>
                <a:r>
                  <a:rPr lang="en-US" dirty="0">
                    <a:solidFill>
                      <a:srgbClr val="404040"/>
                    </a:solidFill>
                    <a:latin typeface="Times New Roman" panose="02020603050405020304" pitchFamily="18" charset="0"/>
                    <a:cs typeface="Times New Roman" panose="02020603050405020304" pitchFamily="18" charset="0"/>
                  </a:rPr>
                  <a:t> from load current, avoiding synchronization and phase-shift </a:t>
                </a:r>
                <a:r>
                  <a:rPr lang="en-US" dirty="0" smtClean="0">
                    <a:solidFill>
                      <a:srgbClr val="404040"/>
                    </a:solidFill>
                    <a:latin typeface="Times New Roman" panose="02020603050405020304" pitchFamily="18" charset="0"/>
                    <a:cs typeface="Times New Roman" panose="02020603050405020304" pitchFamily="18" charset="0"/>
                  </a:rPr>
                  <a:t>errors of the measurement.</a:t>
                </a:r>
                <a:endParaRPr lang="sv-SE" dirty="0">
                  <a:latin typeface="Times New Roman" panose="02020603050405020304" pitchFamily="18" charset="0"/>
                  <a:cs typeface="Times New Roman" panose="02020603050405020304" pitchFamily="18" charset="0"/>
                </a:endParaRPr>
              </a:p>
            </p:txBody>
          </p:sp>
        </mc:Choice>
        <mc:Fallback>
          <p:sp>
            <p:nvSpPr>
              <p:cNvPr id="12" name="Rectangle 11"/>
              <p:cNvSpPr>
                <a:spLocks noRot="1" noChangeAspect="1" noMove="1" noResize="1" noEditPoints="1" noAdjustHandles="1" noChangeArrowheads="1" noChangeShapeType="1" noTextEdit="1"/>
              </p:cNvSpPr>
              <p:nvPr/>
            </p:nvSpPr>
            <p:spPr>
              <a:xfrm>
                <a:off x="413274" y="3614945"/>
                <a:ext cx="7724886" cy="665888"/>
              </a:xfrm>
              <a:prstGeom prst="rect">
                <a:avLst/>
              </a:prstGeom>
              <a:blipFill>
                <a:blip r:embed="rId5"/>
                <a:stretch>
                  <a:fillRect l="-710" t="-4587" b="-13761"/>
                </a:stretch>
              </a:blipFill>
            </p:spPr>
            <p:txBody>
              <a:bodyPr/>
              <a:lstStyle/>
              <a:p>
                <a:r>
                  <a:rPr lang="sv-SE">
                    <a:noFill/>
                  </a:rPr>
                  <a:t> </a:t>
                </a:r>
              </a:p>
            </p:txBody>
          </p:sp>
        </mc:Fallback>
      </mc:AlternateContent>
      <p:pic>
        <p:nvPicPr>
          <p:cNvPr id="13" name="Picture 12"/>
          <p:cNvPicPr>
            <a:picLocks noChangeAspect="1"/>
          </p:cNvPicPr>
          <p:nvPr/>
        </p:nvPicPr>
        <p:blipFill>
          <a:blip r:embed="rId6"/>
          <a:stretch>
            <a:fillRect/>
          </a:stretch>
        </p:blipFill>
        <p:spPr>
          <a:xfrm>
            <a:off x="775455" y="4540512"/>
            <a:ext cx="3363102" cy="1206609"/>
          </a:xfrm>
          <a:prstGeom prst="rect">
            <a:avLst/>
          </a:prstGeom>
        </p:spPr>
      </p:pic>
      <p:pic>
        <p:nvPicPr>
          <p:cNvPr id="14" name="Picture 13"/>
          <p:cNvPicPr>
            <a:picLocks noChangeAspect="1"/>
          </p:cNvPicPr>
          <p:nvPr/>
        </p:nvPicPr>
        <p:blipFill>
          <a:blip r:embed="rId7"/>
          <a:stretch>
            <a:fillRect/>
          </a:stretch>
        </p:blipFill>
        <p:spPr>
          <a:xfrm>
            <a:off x="4213860" y="4518707"/>
            <a:ext cx="3262899" cy="1250218"/>
          </a:xfrm>
          <a:prstGeom prst="rect">
            <a:avLst/>
          </a:prstGeom>
        </p:spPr>
      </p:pic>
      <p:sp>
        <p:nvSpPr>
          <p:cNvPr id="15" name="Rectangle 14"/>
          <p:cNvSpPr/>
          <p:nvPr/>
        </p:nvSpPr>
        <p:spPr>
          <a:xfrm>
            <a:off x="151385" y="6219411"/>
            <a:ext cx="9972786" cy="276999"/>
          </a:xfrm>
          <a:prstGeom prst="rect">
            <a:avLst/>
          </a:prstGeom>
        </p:spPr>
        <p:txBody>
          <a:bodyPr wrap="square">
            <a:spAutoFit/>
          </a:bodyPr>
          <a:lstStyle/>
          <a:p>
            <a:r>
              <a:rPr lang="sv-SE" sz="1200" dirty="0"/>
              <a:t>F. </a:t>
            </a:r>
            <a:r>
              <a:rPr lang="sv-SE" sz="1200" dirty="0" err="1"/>
              <a:t>Karakaya</a:t>
            </a:r>
            <a:r>
              <a:rPr lang="sv-SE" sz="1200" dirty="0"/>
              <a:t>, </a:t>
            </a:r>
            <a:r>
              <a:rPr lang="sv-SE" sz="1200" dirty="0" smtClean="0"/>
              <a:t>"</a:t>
            </a:r>
            <a:r>
              <a:rPr lang="sv-SE" sz="1200" dirty="0"/>
              <a:t>An Approach for Online </a:t>
            </a:r>
            <a:r>
              <a:rPr lang="sv-SE" sz="1200" dirty="0" err="1"/>
              <a:t>Estimation</a:t>
            </a:r>
            <a:r>
              <a:rPr lang="sv-SE" sz="1200" dirty="0"/>
              <a:t> </a:t>
            </a:r>
            <a:r>
              <a:rPr lang="sv-SE" sz="1200" dirty="0" err="1"/>
              <a:t>of</a:t>
            </a:r>
            <a:r>
              <a:rPr lang="sv-SE" sz="1200" dirty="0"/>
              <a:t> On-State </a:t>
            </a:r>
            <a:r>
              <a:rPr lang="sv-SE" sz="1200" dirty="0" err="1"/>
              <a:t>Resistance</a:t>
            </a:r>
            <a:r>
              <a:rPr lang="sv-SE" sz="1200" dirty="0"/>
              <a:t> in </a:t>
            </a:r>
            <a:r>
              <a:rPr lang="sv-SE" sz="1200" dirty="0" err="1"/>
              <a:t>SiC</a:t>
            </a:r>
            <a:r>
              <a:rPr lang="sv-SE" sz="1200" dirty="0"/>
              <a:t> </a:t>
            </a:r>
            <a:r>
              <a:rPr lang="sv-SE" sz="1200" dirty="0" err="1"/>
              <a:t>MOSFETs</a:t>
            </a:r>
            <a:r>
              <a:rPr lang="sv-SE" sz="1200" dirty="0"/>
              <a:t> </a:t>
            </a:r>
            <a:r>
              <a:rPr lang="sv-SE" sz="1200" dirty="0" err="1"/>
              <a:t>Without</a:t>
            </a:r>
            <a:r>
              <a:rPr lang="sv-SE" sz="1200" dirty="0"/>
              <a:t> </a:t>
            </a:r>
            <a:r>
              <a:rPr lang="sv-SE" sz="1200" dirty="0" err="1"/>
              <a:t>Current</a:t>
            </a:r>
            <a:r>
              <a:rPr lang="sv-SE" sz="1200" dirty="0"/>
              <a:t> </a:t>
            </a:r>
            <a:r>
              <a:rPr lang="sv-SE" sz="1200" dirty="0" err="1"/>
              <a:t>Measurement</a:t>
            </a:r>
            <a:r>
              <a:rPr lang="sv-SE" sz="1200" dirty="0" smtClean="0"/>
              <a:t>,</a:t>
            </a:r>
            <a:endParaRPr lang="sv-SE" sz="1200" dirty="0"/>
          </a:p>
        </p:txBody>
      </p:sp>
      <p:sp>
        <p:nvSpPr>
          <p:cNvPr id="17" name="Rectangle 16"/>
          <p:cNvSpPr/>
          <p:nvPr/>
        </p:nvSpPr>
        <p:spPr>
          <a:xfrm>
            <a:off x="151385" y="6434837"/>
            <a:ext cx="4464684" cy="276999"/>
          </a:xfrm>
          <a:prstGeom prst="rect">
            <a:avLst/>
          </a:prstGeom>
        </p:spPr>
        <p:txBody>
          <a:bodyPr wrap="none">
            <a:spAutoFit/>
          </a:bodyPr>
          <a:lstStyle/>
          <a:p>
            <a:r>
              <a:rPr lang="sv-SE" sz="1200" dirty="0">
                <a:latin typeface="Times New Roman" panose="02020603050405020304" pitchFamily="18" charset="0"/>
                <a:cs typeface="Times New Roman" panose="02020603050405020304" pitchFamily="18" charset="0"/>
              </a:rPr>
              <a:t>Jochen </a:t>
            </a:r>
            <a:r>
              <a:rPr lang="sv-SE" sz="1200" dirty="0" err="1" smtClean="0">
                <a:latin typeface="Times New Roman" panose="02020603050405020304" pitchFamily="18" charset="0"/>
                <a:cs typeface="Times New Roman" panose="02020603050405020304" pitchFamily="18" charset="0"/>
              </a:rPr>
              <a:t>Henn</a:t>
            </a:r>
            <a:r>
              <a:rPr lang="sv-SE" sz="1200" dirty="0" smtClean="0">
                <a:latin typeface="Times New Roman" panose="02020603050405020304" pitchFamily="18" charset="0"/>
                <a:cs typeface="Times New Roman" panose="02020603050405020304" pitchFamily="18" charset="0"/>
              </a:rPr>
              <a:t>, ”Intelligent </a:t>
            </a:r>
            <a:r>
              <a:rPr lang="sv-SE" sz="1200" dirty="0">
                <a:latin typeface="Times New Roman" panose="02020603050405020304" pitchFamily="18" charset="0"/>
                <a:cs typeface="Times New Roman" panose="02020603050405020304" pitchFamily="18" charset="0"/>
              </a:rPr>
              <a:t>Gate Drivers for </a:t>
            </a:r>
            <a:r>
              <a:rPr lang="sv-SE" sz="1200" dirty="0" err="1">
                <a:latin typeface="Times New Roman" panose="02020603050405020304" pitchFamily="18" charset="0"/>
                <a:cs typeface="Times New Roman" panose="02020603050405020304" pitchFamily="18" charset="0"/>
              </a:rPr>
              <a:t>Future</a:t>
            </a:r>
            <a:r>
              <a:rPr lang="sv-SE" sz="1200" dirty="0">
                <a:latin typeface="Times New Roman" panose="02020603050405020304" pitchFamily="18" charset="0"/>
                <a:cs typeface="Times New Roman" panose="02020603050405020304" pitchFamily="18" charset="0"/>
              </a:rPr>
              <a:t> Power </a:t>
            </a:r>
            <a:r>
              <a:rPr lang="sv-SE" sz="1200" dirty="0" err="1" smtClean="0">
                <a:latin typeface="Times New Roman" panose="02020603050405020304" pitchFamily="18" charset="0"/>
                <a:cs typeface="Times New Roman" panose="02020603050405020304" pitchFamily="18" charset="0"/>
              </a:rPr>
              <a:t>Converters</a:t>
            </a:r>
            <a:r>
              <a:rPr lang="sv-SE" sz="1200" dirty="0" smtClean="0">
                <a:latin typeface="Times New Roman" panose="02020603050405020304" pitchFamily="18" charset="0"/>
                <a:cs typeface="Times New Roman" panose="02020603050405020304" pitchFamily="18" charset="0"/>
              </a:rPr>
              <a:t>”</a:t>
            </a:r>
            <a:endParaRPr lang="sv-SE"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219111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8671</TotalTime>
  <Words>170</Words>
  <Application>Microsoft Office PowerPoint</Application>
  <PresentationFormat>Widescreen</PresentationFormat>
  <Paragraphs>12</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Figtree</vt:lpstr>
      <vt:lpstr>Calibri</vt:lpstr>
      <vt:lpstr>Arial</vt:lpstr>
      <vt:lpstr>Cambria Math</vt:lpstr>
      <vt:lpstr>Times New Roman</vt:lpstr>
      <vt:lpstr>Office-tema</vt:lpstr>
      <vt:lpstr>Gate Driver</vt:lpstr>
      <vt:lpstr>Intelligent Gate Drivers: Online R_ds Measurement</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177</cp:revision>
  <dcterms:created xsi:type="dcterms:W3CDTF">2024-01-10T13:17:29Z</dcterms:created>
  <dcterms:modified xsi:type="dcterms:W3CDTF">2025-03-25T09:48:11Z</dcterms:modified>
</cp:coreProperties>
</file>