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5" r:id="rId2"/>
    <p:sldId id="273" r:id="rId3"/>
    <p:sldId id="266" r:id="rId4"/>
    <p:sldId id="274" r:id="rId5"/>
    <p:sldId id="267" r:id="rId6"/>
    <p:sldId id="271" r:id="rId7"/>
    <p:sldId id="268" r:id="rId8"/>
    <p:sldId id="269" r:id="rId9"/>
    <p:sldId id="270" r:id="rId10"/>
    <p:sldId id="272" r:id="rId11"/>
    <p:sldId id="275" r:id="rId12"/>
    <p:sldId id="276" r:id="rId13"/>
    <p:sldId id="277" r:id="rId14"/>
    <p:sldId id="258" r:id="rId15"/>
    <p:sldId id="259" r:id="rId16"/>
    <p:sldId id="256" r:id="rId17"/>
    <p:sldId id="257" r:id="rId18"/>
    <p:sldId id="260" r:id="rId19"/>
    <p:sldId id="261" r:id="rId20"/>
    <p:sldId id="262" r:id="rId21"/>
    <p:sldId id="263" r:id="rId22"/>
    <p:sldId id="264" r:id="rId2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8D3472-590E-4838-B80D-6CB50E6745B3}">
          <p14:sldIdLst>
            <p14:sldId id="265"/>
            <p14:sldId id="273"/>
            <p14:sldId id="266"/>
            <p14:sldId id="274"/>
            <p14:sldId id="267"/>
            <p14:sldId id="271"/>
            <p14:sldId id="268"/>
            <p14:sldId id="269"/>
            <p14:sldId id="270"/>
            <p14:sldId id="272"/>
            <p14:sldId id="275"/>
            <p14:sldId id="276"/>
            <p14:sldId id="277"/>
            <p14:sldId id="258"/>
            <p14:sldId id="259"/>
            <p14:sldId id="256"/>
            <p14:sldId id="257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95" autoAdjust="0"/>
  </p:normalViewPr>
  <p:slideViewPr>
    <p:cSldViewPr snapToGrid="0">
      <p:cViewPr varScale="1">
        <p:scale>
          <a:sx n="163" d="100"/>
          <a:sy n="163" d="100"/>
        </p:scale>
        <p:origin x="17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E3E84-8799-434D-BE5D-EE6194476009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D5BB4-4224-4FCD-86EB-DC6A695B6B5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328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`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D5BB4-4224-4FCD-86EB-DC6A695B6B5E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349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`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D5BB4-4224-4FCD-86EB-DC6A695B6B5E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859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3584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5107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964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363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6381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0223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5536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226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145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567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0933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76F13-8257-4366-90B7-88DADB4C5DCD}" type="datetimeFigureOut">
              <a:rPr lang="sv-SE" smtClean="0"/>
              <a:t>2023-12-11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A87E1-A1B5-4E94-9C0B-81F89D78234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116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1.png"/><Relationship Id="rId7" Type="http://schemas.openxmlformats.org/officeDocument/2006/relationships/image" Target="../media/image15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3.emf"/><Relationship Id="rId4" Type="http://schemas.openxmlformats.org/officeDocument/2006/relationships/image" Target="../media/image120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20.png"/><Relationship Id="rId7" Type="http://schemas.openxmlformats.org/officeDocument/2006/relationships/image" Target="../media/image60.png"/><Relationship Id="rId12" Type="http://schemas.openxmlformats.org/officeDocument/2006/relationships/image" Target="../media/image11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6.png"/><Relationship Id="rId10" Type="http://schemas.openxmlformats.org/officeDocument/2006/relationships/image" Target="../media/image90.png"/><Relationship Id="rId4" Type="http://schemas.openxmlformats.org/officeDocument/2006/relationships/image" Target="../media/image360.png"/><Relationship Id="rId9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57416" y="4777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10016" y="4777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269525" y="615089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4" idx="2"/>
          </p:cNvCxnSpPr>
          <p:nvPr/>
        </p:nvCxnSpPr>
        <p:spPr>
          <a:xfrm flipH="1">
            <a:off x="1713470" y="9844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022125" y="6150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479458" y="9844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87563" y="477794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599672" y="6150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65110" y="4777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2657" y="4777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043616" y="9844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607773" y="9844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204881" y="9844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660470" y="581219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470" y="581219"/>
                <a:ext cx="31509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9236804" y="4777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269525" y="818975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407991" y="3820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91" y="382024"/>
                <a:ext cx="26259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377632" y="5760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632" y="576070"/>
                <a:ext cx="3058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>
            <a:off x="4028824" y="841170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101928" y="3820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928" y="382024"/>
                <a:ext cx="26259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71569" y="5760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69" y="576070"/>
                <a:ext cx="3058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V="1">
            <a:off x="5586273" y="818975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693959" y="345752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959" y="345752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7183919" y="615088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244717" y="581218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17" y="581218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V="1">
            <a:off x="7170520" y="81897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278206" y="345751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206" y="345751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157416" y="1287161"/>
            <a:ext cx="7597350" cy="4386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8776465" y="618397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837263" y="584527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263" y="584527"/>
                <a:ext cx="31509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8763066" y="822283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870752" y="349060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752" y="349060"/>
                <a:ext cx="25636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9809" y="3136890"/>
            <a:ext cx="4569307" cy="22326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04547" y="5163954"/>
            <a:ext cx="4560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do not have altitude information, so we cannot achieve </a:t>
            </a:r>
            <a:r>
              <a:rPr lang="en-US" b="1" dirty="0" smtClean="0"/>
              <a:t>low-speed climbing </a:t>
            </a:r>
            <a:r>
              <a:rPr lang="en-US" dirty="0" smtClean="0"/>
              <a:t>torque ??</a:t>
            </a:r>
            <a:endParaRPr lang="sv-SE" dirty="0"/>
          </a:p>
        </p:txBody>
      </p:sp>
      <p:sp>
        <p:nvSpPr>
          <p:cNvPr id="48" name="Rectangle 47"/>
          <p:cNvSpPr/>
          <p:nvPr/>
        </p:nvSpPr>
        <p:spPr>
          <a:xfrm>
            <a:off x="4928854" y="2054060"/>
            <a:ext cx="2473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7371" y="2353373"/>
            <a:ext cx="411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peed and Torque (Output of Gearbox) </a:t>
            </a:r>
            <a:endParaRPr lang="sv-SE" dirty="0"/>
          </a:p>
        </p:txBody>
      </p:sp>
      <p:sp>
        <p:nvSpPr>
          <p:cNvPr id="53" name="TextBox 52"/>
          <p:cNvSpPr txBox="1"/>
          <p:nvPr/>
        </p:nvSpPr>
        <p:spPr>
          <a:xfrm>
            <a:off x="8508357" y="2592024"/>
            <a:ext cx="2766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Ideal </a:t>
            </a:r>
            <a:r>
              <a:rPr lang="en-US" dirty="0"/>
              <a:t>Drive </a:t>
            </a:r>
            <a:r>
              <a:rPr lang="en-US" dirty="0" smtClean="0"/>
              <a:t>Cycle</a:t>
            </a:r>
            <a:endParaRPr lang="sv-SE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032" y="2819355"/>
            <a:ext cx="4064845" cy="2286475"/>
          </a:xfrm>
          <a:prstGeom prst="rect">
            <a:avLst/>
          </a:prstGeom>
        </p:spPr>
      </p:pic>
      <p:sp>
        <p:nvSpPr>
          <p:cNvPr id="58" name="Oval 57"/>
          <p:cNvSpPr/>
          <p:nvPr/>
        </p:nvSpPr>
        <p:spPr>
          <a:xfrm>
            <a:off x="3289186" y="4074378"/>
            <a:ext cx="739638" cy="185397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9" name="Oval 58"/>
          <p:cNvSpPr/>
          <p:nvPr/>
        </p:nvSpPr>
        <p:spPr>
          <a:xfrm>
            <a:off x="2583180" y="4074377"/>
            <a:ext cx="561128" cy="185397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0" name="Oval 59"/>
          <p:cNvSpPr/>
          <p:nvPr/>
        </p:nvSpPr>
        <p:spPr>
          <a:xfrm>
            <a:off x="1969419" y="3858445"/>
            <a:ext cx="561128" cy="308632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1523" y="2922901"/>
            <a:ext cx="2772508" cy="20793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343035" y="5010065"/>
            <a:ext cx="164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Wheel power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106665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487" y="1357733"/>
            <a:ext cx="5347674" cy="36349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30" y="1701312"/>
            <a:ext cx="4273061" cy="32047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7110" y="152401"/>
            <a:ext cx="1913882" cy="130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8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4880" y="289560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Motor Size Estimation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50788" y="981194"/>
                <a:ext cx="6813725" cy="378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We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can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use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>
                    <a:solidFill>
                      <a:srgbClr val="000000"/>
                    </a:solidFill>
                    <a:latin typeface="Yanone Kaffeesatz"/>
                  </a:rPr>
                  <a:t>s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pecific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electric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loading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) and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magnetic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loading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)</a:t>
                </a:r>
                <a:endParaRPr lang="sv-SE" dirty="0">
                  <a:solidFill>
                    <a:srgbClr val="000000"/>
                  </a:solidFill>
                  <a:latin typeface="Yanone Kaffeesatz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88" y="981194"/>
                <a:ext cx="6813725" cy="378630"/>
              </a:xfrm>
              <a:prstGeom prst="rect">
                <a:avLst/>
              </a:prstGeom>
              <a:blipFill>
                <a:blip r:embed="rId2"/>
                <a:stretch>
                  <a:fillRect l="-806" t="-6452" r="-3133" b="-2580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03302" y="1417208"/>
                <a:ext cx="35128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302" y="1417208"/>
                <a:ext cx="351282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967942" y="2502147"/>
                <a:ext cx="15231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=0.959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42" y="2502147"/>
                <a:ext cx="15231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06981" y="2973385"/>
                <a:ext cx="1447599" cy="6164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81" y="2973385"/>
                <a:ext cx="1447599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12670" y="3691742"/>
                <a:ext cx="1836219" cy="3767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70" y="3691742"/>
                <a:ext cx="1836219" cy="376770"/>
              </a:xfrm>
              <a:prstGeom prst="rect">
                <a:avLst/>
              </a:prstGeom>
              <a:blipFill>
                <a:blip r:embed="rId6"/>
                <a:stretch>
                  <a:fillRect t="-163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06981" y="4300374"/>
                <a:ext cx="15202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=330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𝑘𝑉𝐴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81" y="4300374"/>
                <a:ext cx="152028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906981" y="4930275"/>
                <a:ext cx="1957907" cy="38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81" y="4930275"/>
                <a:ext cx="1957907" cy="384336"/>
              </a:xfrm>
              <a:prstGeom prst="rect">
                <a:avLst/>
              </a:prstGeom>
              <a:blipFill>
                <a:blip r:embed="rId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26268" y="5530493"/>
                <a:ext cx="1577034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𝑠𝑦𝑠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68" y="5530493"/>
                <a:ext cx="1577034" cy="6127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0"/>
          <a:srcRect t="299"/>
          <a:stretch/>
        </p:blipFill>
        <p:spPr>
          <a:xfrm>
            <a:off x="6016122" y="2397369"/>
            <a:ext cx="5105268" cy="3817480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2667000" y="4068512"/>
            <a:ext cx="800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14918" y="3007711"/>
            <a:ext cx="21524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an induction machine is utilized, the specific magnetic and specific loadings would be decreased and  S should be raised for the same output power due to its bad power factor</a:t>
            </a:r>
            <a:endParaRPr lang="sv-SE" dirty="0"/>
          </a:p>
        </p:txBody>
      </p:sp>
      <p:cxnSp>
        <p:nvCxnSpPr>
          <p:cNvPr id="23" name="Straight Arrow Connector 22"/>
          <p:cNvCxnSpPr>
            <a:endCxn id="25" idx="1"/>
          </p:cNvCxnSpPr>
          <p:nvPr/>
        </p:nvCxnSpPr>
        <p:spPr>
          <a:xfrm flipV="1">
            <a:off x="2427269" y="1708255"/>
            <a:ext cx="5661281" cy="41091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8550" y="969591"/>
            <a:ext cx="40272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we select a lower synchronous speed, we might increase the number of poles (that means using the same electrical </a:t>
            </a:r>
            <a:r>
              <a:rPr lang="en-US" dirty="0"/>
              <a:t>frequency every time), enabling a shorter outer diameter (stator diameter).  </a:t>
            </a:r>
            <a:endParaRPr lang="sv-SE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630779" y="5189220"/>
            <a:ext cx="2567841" cy="95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98620" y="5981700"/>
            <a:ext cx="229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Inner diameter (rotor diameter)</a:t>
            </a:r>
            <a:endParaRPr lang="sv-SE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8645" y="81961"/>
            <a:ext cx="3064235" cy="89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4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38" y="672612"/>
            <a:ext cx="53340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93723" y="39858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Variable pole pairs</a:t>
            </a:r>
            <a:endParaRPr lang="sv-SE" dirty="0"/>
          </a:p>
        </p:txBody>
      </p:sp>
      <p:sp>
        <p:nvSpPr>
          <p:cNvPr id="11" name="TextBox 10"/>
          <p:cNvSpPr txBox="1"/>
          <p:nvPr/>
        </p:nvSpPr>
        <p:spPr>
          <a:xfrm>
            <a:off x="3217985" y="427892"/>
            <a:ext cx="173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 pole pair</a:t>
            </a:r>
            <a:endParaRPr lang="sv-SE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723" y="672612"/>
            <a:ext cx="5334000" cy="4000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107" y="5322176"/>
            <a:ext cx="3064235" cy="89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30140" y="236220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Motor Loss Estimation</a:t>
            </a:r>
            <a:endParaRPr lang="sv-SE" b="1" dirty="0"/>
          </a:p>
        </p:txBody>
      </p:sp>
      <p:sp>
        <p:nvSpPr>
          <p:cNvPr id="6" name="Rectangle 5"/>
          <p:cNvSpPr/>
          <p:nvPr/>
        </p:nvSpPr>
        <p:spPr>
          <a:xfrm>
            <a:off x="784860" y="1037569"/>
            <a:ext cx="9304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The EM 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losses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modelled</a:t>
            </a:r>
            <a:r>
              <a:rPr lang="sv-SE" dirty="0"/>
              <a:t> by a second-order </a:t>
            </a:r>
            <a:r>
              <a:rPr lang="sv-SE" dirty="0" err="1"/>
              <a:t>polynomial</a:t>
            </a:r>
            <a:r>
              <a:rPr lang="sv-SE" dirty="0"/>
              <a:t> in the </a:t>
            </a:r>
            <a:r>
              <a:rPr lang="sv-SE" dirty="0" err="1"/>
              <a:t>mechanical</a:t>
            </a:r>
            <a:r>
              <a:rPr lang="sv-SE" dirty="0"/>
              <a:t> </a:t>
            </a:r>
            <a:r>
              <a:rPr lang="sv-SE" dirty="0" err="1"/>
              <a:t>power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99360" y="1585568"/>
                <a:ext cx="4732020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60" y="1585568"/>
                <a:ext cx="4732020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731" y="2748330"/>
            <a:ext cx="3680438" cy="25136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" y="2202180"/>
            <a:ext cx="3916680" cy="293751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794" y="2205866"/>
            <a:ext cx="3979317" cy="2984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448" y="5551925"/>
                <a:ext cx="1407052" cy="906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0.04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ma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477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448" y="5551925"/>
                <a:ext cx="1407052" cy="906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270408" y="5551925"/>
                <a:ext cx="1319464" cy="8600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477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408" y="5551925"/>
                <a:ext cx="1319464" cy="860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307317" y="5497316"/>
                <a:ext cx="1389803" cy="945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6000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317" y="5497316"/>
                <a:ext cx="1389803" cy="9457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>
            <a:off x="6886722" y="1782026"/>
            <a:ext cx="2585524" cy="1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78340" y="1309610"/>
            <a:ext cx="2065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do not include the switching harmonics losses here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7463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4880" y="289560"/>
            <a:ext cx="368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Inverter Size and Loss Estimation</a:t>
            </a:r>
            <a:endParaRPr lang="sv-SE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80060" y="1074420"/>
            <a:ext cx="992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inverter is not affected by gear ratio if the DC-link </a:t>
            </a:r>
            <a:r>
              <a:rPr lang="en-US" dirty="0" smtClean="0"/>
              <a:t>voltage and power are the same.   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423030" y="1709816"/>
                <a:ext cx="3238131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𝑒𝑙𝑒𝑐𝑡𝑟𝑖𝑐𝑎𝑙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𝑠𝑦𝑛𝑐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𝑝𝑎𝑖𝑟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030" y="1709816"/>
                <a:ext cx="3238131" cy="298928"/>
              </a:xfrm>
              <a:prstGeom prst="rect">
                <a:avLst/>
              </a:prstGeom>
              <a:blipFill>
                <a:blip r:embed="rId2"/>
                <a:stretch>
                  <a:fillRect l="-2072" r="-565" b="-24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3967676" y="1984136"/>
            <a:ext cx="7620" cy="518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328194" y="2502296"/>
                <a:ext cx="2117118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𝑒𝑙𝑒𝑐𝑡𝑟𝑖𝑐𝑎𝑙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94" y="2502296"/>
                <a:ext cx="2117118" cy="299249"/>
              </a:xfrm>
              <a:prstGeom prst="rect">
                <a:avLst/>
              </a:prstGeom>
              <a:blipFill>
                <a:blip r:embed="rId3"/>
                <a:stretch>
                  <a:fillRect l="-3458" r="-865" b="-26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918027" y="2317629"/>
                <a:ext cx="5318760" cy="668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We can keep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sv-SE" dirty="0" smtClean="0"/>
                  <a:t> </a:t>
                </a:r>
                <a:r>
                  <a:rPr lang="sv-SE" dirty="0" err="1" smtClean="0"/>
                  <a:t>constant</a:t>
                </a:r>
                <a:r>
                  <a:rPr lang="sv-SE" dirty="0" smtClean="0"/>
                  <a:t>, so the </a:t>
                </a:r>
                <a:r>
                  <a:rPr lang="sv-SE" dirty="0" err="1" smtClean="0"/>
                  <a:t>minumum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switching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frequency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requirement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changes</a:t>
                </a:r>
                <a:r>
                  <a:rPr lang="sv-SE" dirty="0" smtClean="0"/>
                  <a:t>. </a:t>
                </a:r>
                <a:endParaRPr lang="sv-SE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027" y="2317629"/>
                <a:ext cx="5318760" cy="668581"/>
              </a:xfrm>
              <a:prstGeom prst="rect">
                <a:avLst/>
              </a:prstGeom>
              <a:blipFill>
                <a:blip r:embed="rId4"/>
                <a:stretch>
                  <a:fillRect l="-1032" t="-3636" b="-136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5"/>
          <a:srcRect t="46287"/>
          <a:stretch/>
        </p:blipFill>
        <p:spPr>
          <a:xfrm>
            <a:off x="741590" y="3713007"/>
            <a:ext cx="4356190" cy="28337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6"/>
          <a:srcRect t="44670" b="17339"/>
          <a:stretch/>
        </p:blipFill>
        <p:spPr>
          <a:xfrm>
            <a:off x="5553007" y="3713007"/>
            <a:ext cx="5888925" cy="28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9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46930" y="144928"/>
            <a:ext cx="294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Gearbox Size Estimation</a:t>
            </a:r>
            <a:endParaRPr lang="sv-SE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8" y="1126703"/>
            <a:ext cx="7969334" cy="423545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4488180" y="2428453"/>
            <a:ext cx="673100" cy="60960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830830" y="2612603"/>
            <a:ext cx="1104900" cy="33655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46930" y="2046421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78/25</a:t>
            </a:r>
            <a:endParaRPr lang="sv-SE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40330" y="2197620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78/25</a:t>
            </a:r>
            <a:endParaRPr lang="sv-SE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56305" y="697820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Tesla </a:t>
            </a:r>
            <a:endParaRPr lang="sv-SE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252" y="1350022"/>
            <a:ext cx="3622635" cy="378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4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46930" y="144928"/>
            <a:ext cx="294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Gearbox Size Estimation</a:t>
            </a:r>
            <a:endParaRPr lang="sv-SE" b="1" dirty="0"/>
          </a:p>
        </p:txBody>
      </p:sp>
      <p:sp>
        <p:nvSpPr>
          <p:cNvPr id="10" name="Rectangle 9"/>
          <p:cNvSpPr/>
          <p:nvPr/>
        </p:nvSpPr>
        <p:spPr>
          <a:xfrm>
            <a:off x="2069851" y="1399024"/>
            <a:ext cx="4877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Gear Ratio Distribution of Electric Vehicle Reducer</a:t>
            </a:r>
            <a:endParaRPr lang="sv-SE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328273"/>
            <a:ext cx="7418276" cy="249459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334500" y="1883589"/>
            <a:ext cx="1882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Spur gear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Helical gear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Ring gear</a:t>
            </a:r>
            <a:endParaRPr lang="sv-SE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192" y="3039944"/>
            <a:ext cx="3220340" cy="1812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85860" y="4967804"/>
            <a:ext cx="2293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Chevrolet Bolt EV</a:t>
            </a:r>
            <a:endParaRPr lang="sv-SE" dirty="0"/>
          </a:p>
        </p:txBody>
      </p:sp>
      <p:sp>
        <p:nvSpPr>
          <p:cNvPr id="7" name="TextBox 6"/>
          <p:cNvSpPr txBox="1"/>
          <p:nvPr/>
        </p:nvSpPr>
        <p:spPr>
          <a:xfrm>
            <a:off x="845820" y="1839615"/>
            <a:ext cx="300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Torque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Gear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Material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Usage duty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2118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0" y="320040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Single Stage Gear </a:t>
            </a:r>
            <a:endParaRPr lang="sv-SE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942974"/>
            <a:ext cx="5280660" cy="39604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13020" y="5158740"/>
            <a:ext cx="3543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b="1" dirty="0" smtClean="0"/>
              <a:t>volume</a:t>
            </a:r>
            <a:r>
              <a:rPr lang="en-US" dirty="0" smtClean="0"/>
              <a:t> </a:t>
            </a:r>
            <a:r>
              <a:rPr lang="en-US" dirty="0" smtClean="0"/>
              <a:t>will be increased </a:t>
            </a:r>
            <a:r>
              <a:rPr lang="en-US" dirty="0" err="1" smtClean="0"/>
              <a:t>quadratically</a:t>
            </a:r>
            <a:r>
              <a:rPr lang="en-US" dirty="0" smtClean="0"/>
              <a:t> if </a:t>
            </a:r>
            <a:r>
              <a:rPr lang="en-US" dirty="0" smtClean="0"/>
              <a:t>we have a constant aspect ratio and material.  </a:t>
            </a:r>
            <a:endParaRPr lang="sv-SE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781705"/>
            <a:ext cx="5334000" cy="4000500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 flipV="1">
            <a:off x="1148862" y="679938"/>
            <a:ext cx="17584" cy="1371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184" y="41372"/>
            <a:ext cx="3815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 realistic values, since I have randomly selected the material !!!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89138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ZF Electric Axle Dr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107" y="1074430"/>
            <a:ext cx="3567677" cy="237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96507" y="252046"/>
            <a:ext cx="2215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E-axle ??? </a:t>
            </a:r>
            <a:endParaRPr lang="sv-S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23" y="1354865"/>
            <a:ext cx="3220340" cy="18128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91154" y="1074430"/>
            <a:ext cx="2291861" cy="1047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2491154" y="2261276"/>
            <a:ext cx="2291861" cy="1047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1740877" y="1307124"/>
            <a:ext cx="650631" cy="20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/>
          <p:cNvSpPr txBox="1"/>
          <p:nvPr/>
        </p:nvSpPr>
        <p:spPr>
          <a:xfrm>
            <a:off x="2491154" y="3719947"/>
            <a:ext cx="65766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gear diameters are shorter than the summation of motor diameters and the height of the inverter in the e-axle system, we can increase the gear ratio.  Therefore, the motor diameter is decreased, and there might be a sweet point that they are overlapped.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However, consider that the width </a:t>
            </a:r>
            <a:r>
              <a:rPr lang="en-US" dirty="0"/>
              <a:t>of the </a:t>
            </a:r>
            <a:r>
              <a:rPr lang="en-US" dirty="0" smtClean="0"/>
              <a:t>gearbox is </a:t>
            </a:r>
            <a:r>
              <a:rPr lang="en-US" dirty="0"/>
              <a:t>also increased with the diameter if we use the same </a:t>
            </a:r>
            <a:r>
              <a:rPr lang="en-US" dirty="0" smtClean="0"/>
              <a:t>material and so </a:t>
            </a:r>
            <a:r>
              <a:rPr lang="en-US" dirty="0"/>
              <a:t>the aspect </a:t>
            </a:r>
            <a:r>
              <a:rPr lang="en-US" dirty="0" smtClean="0"/>
              <a:t>ratio.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59212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3934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7862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344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64" y="356907"/>
            <a:ext cx="3319814" cy="24955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00350" y="514016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400" dirty="0" smtClean="0"/>
              <a:t>https://www.wired.com/story/electric-car-two-speed-transmission-gearbox/</a:t>
            </a:r>
            <a:endParaRPr lang="sv-SE" sz="1400" dirty="0"/>
          </a:p>
        </p:txBody>
      </p:sp>
      <p:sp>
        <p:nvSpPr>
          <p:cNvPr id="7" name="Rectangle 6"/>
          <p:cNvSpPr/>
          <p:nvPr/>
        </p:nvSpPr>
        <p:spPr>
          <a:xfrm>
            <a:off x="2886075" y="5711309"/>
            <a:ext cx="45986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400" dirty="0" smtClean="0"/>
              <a:t>https://www.zf.com/products/en/cars/products_64270.html</a:t>
            </a:r>
            <a:endParaRPr lang="sv-SE" sz="1400" dirty="0"/>
          </a:p>
        </p:txBody>
      </p:sp>
      <p:sp>
        <p:nvSpPr>
          <p:cNvPr id="8" name="Rectangle 7"/>
          <p:cNvSpPr/>
          <p:nvPr/>
        </p:nvSpPr>
        <p:spPr>
          <a:xfrm>
            <a:off x="2940719" y="5468422"/>
            <a:ext cx="45986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1400" dirty="0" smtClean="0"/>
              <a:t>https://www.zf.com/products/en/cars/products_66244.html</a:t>
            </a:r>
            <a:endParaRPr lang="sv-SE" sz="1400" dirty="0"/>
          </a:p>
        </p:txBody>
      </p:sp>
      <p:pic>
        <p:nvPicPr>
          <p:cNvPr id="1026" name="Picture 2" descr="ZF Electric Axle Dri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2" y="478762"/>
            <a:ext cx="3567677" cy="237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20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6" y="476250"/>
            <a:ext cx="5585772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55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38416" y="10873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91016" y="10873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650525" y="1224689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</p:cNvCxnSpPr>
          <p:nvPr/>
        </p:nvCxnSpPr>
        <p:spPr>
          <a:xfrm flipH="1">
            <a:off x="2094470" y="15940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403125" y="12246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860458" y="15940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868563" y="1087394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5980672" y="12246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46110" y="10873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23657" y="10873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5424616" y="15940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6988773" y="15940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8585881" y="15940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41470" y="1190819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470" y="1190819"/>
                <a:ext cx="31509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9617804" y="10873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2650525" y="1428575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788991" y="9916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991" y="991624"/>
                <a:ext cx="26259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758632" y="11856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632" y="1185670"/>
                <a:ext cx="3058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/>
          <p:nvPr/>
        </p:nvCxnSpPr>
        <p:spPr>
          <a:xfrm>
            <a:off x="4409824" y="1450770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482928" y="9916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928" y="991624"/>
                <a:ext cx="26259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52569" y="11856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69" y="1185670"/>
                <a:ext cx="3058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 flipV="1">
            <a:off x="5967273" y="1428575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074959" y="955352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959" y="955352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 flipV="1">
            <a:off x="7564919" y="1224688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625717" y="1190818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717" y="1190818"/>
                <a:ext cx="31509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 flipV="1">
            <a:off x="7551520" y="142857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659206" y="955351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206" y="955351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/>
          <p:cNvSpPr/>
          <p:nvPr/>
        </p:nvSpPr>
        <p:spPr>
          <a:xfrm>
            <a:off x="1538416" y="1896761"/>
            <a:ext cx="7597350" cy="4386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933714" y="359393"/>
            <a:ext cx="6282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nergy </a:t>
            </a:r>
            <a:r>
              <a:rPr lang="sv-S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rivetrain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 </a:t>
            </a:r>
            <a:r>
              <a:rPr lang="sv-SE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*[1]</a:t>
            </a:r>
            <a:endParaRPr lang="sv-SE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72427" y="6133241"/>
            <a:ext cx="9957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A Simulation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Modular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Drivetrain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Topologies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 flipV="1">
            <a:off x="9157465" y="1227997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9218263" y="1194127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263" y="1194127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/>
          <p:nvPr/>
        </p:nvCxnSpPr>
        <p:spPr>
          <a:xfrm flipV="1">
            <a:off x="9144066" y="1431883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9251752" y="958660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752" y="958660"/>
                <a:ext cx="25636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/>
          <p:cNvSpPr/>
          <p:nvPr/>
        </p:nvSpPr>
        <p:spPr>
          <a:xfrm>
            <a:off x="1164681" y="3853472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9" name="Straight Arrow Connector 158"/>
          <p:cNvCxnSpPr/>
          <p:nvPr/>
        </p:nvCxnSpPr>
        <p:spPr>
          <a:xfrm>
            <a:off x="2276790" y="3990766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7" idx="2"/>
          </p:cNvCxnSpPr>
          <p:nvPr/>
        </p:nvCxnSpPr>
        <p:spPr>
          <a:xfrm>
            <a:off x="1720736" y="4360100"/>
            <a:ext cx="6464" cy="686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flipV="1">
            <a:off x="4115053" y="437469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200" idx="2"/>
          </p:cNvCxnSpPr>
          <p:nvPr/>
        </p:nvCxnSpPr>
        <p:spPr>
          <a:xfrm>
            <a:off x="3560218" y="3950028"/>
            <a:ext cx="12169" cy="1096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flipV="1">
            <a:off x="5692600" y="437469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7844897" y="3896689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Straight Arrow Connector 166"/>
          <p:cNvCxnSpPr>
            <a:stCxn id="202" idx="2"/>
          </p:cNvCxnSpPr>
          <p:nvPr/>
        </p:nvCxnSpPr>
        <p:spPr>
          <a:xfrm>
            <a:off x="5130803" y="3950027"/>
            <a:ext cx="5743" cy="1096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stCxn id="204" idx="2"/>
          </p:cNvCxnSpPr>
          <p:nvPr/>
        </p:nvCxnSpPr>
        <p:spPr>
          <a:xfrm flipH="1">
            <a:off x="6700702" y="3950026"/>
            <a:ext cx="43674" cy="1096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>
            <a:off x="8407123" y="4403317"/>
            <a:ext cx="4057" cy="643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5753398" y="4340820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98" y="4340820"/>
                <a:ext cx="31509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Rectangle 170"/>
          <p:cNvSpPr/>
          <p:nvPr/>
        </p:nvSpPr>
        <p:spPr>
          <a:xfrm>
            <a:off x="9439044" y="3896689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2" name="Straight Arrow Connector 171"/>
          <p:cNvCxnSpPr/>
          <p:nvPr/>
        </p:nvCxnSpPr>
        <p:spPr>
          <a:xfrm>
            <a:off x="2276790" y="4194652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/>
              <p:cNvSpPr txBox="1"/>
              <p:nvPr/>
            </p:nvSpPr>
            <p:spPr>
              <a:xfrm>
                <a:off x="2415256" y="3757701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3" name="TextBox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256" y="3757701"/>
                <a:ext cx="26259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/>
              <p:cNvSpPr txBox="1"/>
              <p:nvPr/>
            </p:nvSpPr>
            <p:spPr>
              <a:xfrm>
                <a:off x="2384897" y="3951747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TextBox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897" y="3951747"/>
                <a:ext cx="3058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5" name="Straight Arrow Connector 174"/>
          <p:cNvCxnSpPr/>
          <p:nvPr/>
        </p:nvCxnSpPr>
        <p:spPr>
          <a:xfrm>
            <a:off x="4121752" y="4600771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/>
              <p:cNvSpPr txBox="1"/>
              <p:nvPr/>
            </p:nvSpPr>
            <p:spPr>
              <a:xfrm>
                <a:off x="4194856" y="4141625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6" name="TextBox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856" y="4141625"/>
                <a:ext cx="26259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/>
              <p:cNvSpPr txBox="1"/>
              <p:nvPr/>
            </p:nvSpPr>
            <p:spPr>
              <a:xfrm>
                <a:off x="4164497" y="4335671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" name="TextBox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497" y="4335671"/>
                <a:ext cx="3058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Straight Arrow Connector 177"/>
          <p:cNvCxnSpPr/>
          <p:nvPr/>
        </p:nvCxnSpPr>
        <p:spPr>
          <a:xfrm flipV="1">
            <a:off x="5679201" y="4578576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/>
              <p:cNvSpPr txBox="1"/>
              <p:nvPr/>
            </p:nvSpPr>
            <p:spPr>
              <a:xfrm>
                <a:off x="5786887" y="4105353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9" name="TextBox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887" y="4105353"/>
                <a:ext cx="25636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Straight Arrow Connector 179"/>
          <p:cNvCxnSpPr/>
          <p:nvPr/>
        </p:nvCxnSpPr>
        <p:spPr>
          <a:xfrm flipV="1">
            <a:off x="7386159" y="403398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/>
              <p:cNvSpPr txBox="1"/>
              <p:nvPr/>
            </p:nvSpPr>
            <p:spPr>
              <a:xfrm>
                <a:off x="7446957" y="4000114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1" name="TextBox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957" y="4000114"/>
                <a:ext cx="31509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Straight Arrow Connector 181"/>
          <p:cNvCxnSpPr/>
          <p:nvPr/>
        </p:nvCxnSpPr>
        <p:spPr>
          <a:xfrm flipV="1">
            <a:off x="7372760" y="423787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/>
              <p:cNvSpPr txBox="1"/>
              <p:nvPr/>
            </p:nvSpPr>
            <p:spPr>
              <a:xfrm>
                <a:off x="7480446" y="3764647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3" name="TextBox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446" y="3764647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/>
          <p:cNvSpPr/>
          <p:nvPr/>
        </p:nvSpPr>
        <p:spPr>
          <a:xfrm>
            <a:off x="1250344" y="5046762"/>
            <a:ext cx="7597350" cy="4386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5" name="Straight Arrow Connector 184"/>
          <p:cNvCxnSpPr/>
          <p:nvPr/>
        </p:nvCxnSpPr>
        <p:spPr>
          <a:xfrm flipV="1">
            <a:off x="8978705" y="4037293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/>
              <p:cNvSpPr txBox="1"/>
              <p:nvPr/>
            </p:nvSpPr>
            <p:spPr>
              <a:xfrm>
                <a:off x="9039503" y="4003423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6" name="TextBox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503" y="4003423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Straight Arrow Connector 186"/>
          <p:cNvCxnSpPr/>
          <p:nvPr/>
        </p:nvCxnSpPr>
        <p:spPr>
          <a:xfrm flipV="1">
            <a:off x="8965306" y="424117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/>
              <p:cNvSpPr txBox="1"/>
              <p:nvPr/>
            </p:nvSpPr>
            <p:spPr>
              <a:xfrm>
                <a:off x="9072992" y="3767956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8" name="TextBox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992" y="3767956"/>
                <a:ext cx="25636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Rectangle 199"/>
          <p:cNvSpPr/>
          <p:nvPr/>
        </p:nvSpPr>
        <p:spPr>
          <a:xfrm>
            <a:off x="3004163" y="3443400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Inverter-1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Straight Arrow Connector 200"/>
          <p:cNvCxnSpPr/>
          <p:nvPr/>
        </p:nvCxnSpPr>
        <p:spPr>
          <a:xfrm flipV="1">
            <a:off x="4116272" y="358069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/>
          <p:cNvSpPr/>
          <p:nvPr/>
        </p:nvSpPr>
        <p:spPr>
          <a:xfrm>
            <a:off x="4555996" y="3443399"/>
            <a:ext cx="1149613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E-motor-1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3" name="Straight Arrow Connector 202"/>
          <p:cNvCxnSpPr/>
          <p:nvPr/>
        </p:nvCxnSpPr>
        <p:spPr>
          <a:xfrm flipV="1">
            <a:off x="5693819" y="358069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/>
        </p:nvSpPr>
        <p:spPr>
          <a:xfrm>
            <a:off x="6159257" y="3443398"/>
            <a:ext cx="1170237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Gearbox-1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/>
              <p:cNvSpPr txBox="1"/>
              <p:nvPr/>
            </p:nvSpPr>
            <p:spPr>
              <a:xfrm>
                <a:off x="5754617" y="3546824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" name="TextBox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617" y="3546824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6" name="Straight Arrow Connector 205"/>
          <p:cNvCxnSpPr/>
          <p:nvPr/>
        </p:nvCxnSpPr>
        <p:spPr>
          <a:xfrm>
            <a:off x="4122971" y="3806775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/>
              <p:cNvSpPr txBox="1"/>
              <p:nvPr/>
            </p:nvSpPr>
            <p:spPr>
              <a:xfrm>
                <a:off x="4196075" y="3347629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7" name="TextBox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075" y="3347629"/>
                <a:ext cx="26259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/>
              <p:cNvSpPr txBox="1"/>
              <p:nvPr/>
            </p:nvSpPr>
            <p:spPr>
              <a:xfrm>
                <a:off x="4165716" y="3541675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8" name="TextBox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16" y="3541675"/>
                <a:ext cx="3058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9" name="Straight Arrow Connector 208"/>
          <p:cNvCxnSpPr/>
          <p:nvPr/>
        </p:nvCxnSpPr>
        <p:spPr>
          <a:xfrm flipV="1">
            <a:off x="5680420" y="378458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/>
              <p:cNvSpPr txBox="1"/>
              <p:nvPr/>
            </p:nvSpPr>
            <p:spPr>
              <a:xfrm>
                <a:off x="5788106" y="3311357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TextBox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106" y="3311357"/>
                <a:ext cx="256367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ectangle 157"/>
          <p:cNvSpPr/>
          <p:nvPr/>
        </p:nvSpPr>
        <p:spPr>
          <a:xfrm>
            <a:off x="3002944" y="4237396"/>
            <a:ext cx="1112109" cy="506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Inverter-2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4565535" y="4237395"/>
            <a:ext cx="1136904" cy="506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E-motor-2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6158038" y="4237394"/>
            <a:ext cx="1172062" cy="506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Gearbox-2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2917281" y="3311357"/>
            <a:ext cx="4487016" cy="1571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181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838" y="1022350"/>
            <a:ext cx="7969334" cy="423545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5562600" y="2324100"/>
            <a:ext cx="673100" cy="60960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3905250" y="2508250"/>
            <a:ext cx="1104900" cy="33655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21350" y="1942068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78/25</a:t>
            </a:r>
            <a:endParaRPr lang="sv-SE" sz="2400" b="1" dirty="0">
              <a:solidFill>
                <a:srgbClr val="FF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714750" y="2093267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78/25</a:t>
            </a:r>
            <a:endParaRPr lang="sv-SE" sz="2400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57700" y="547816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Tesla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1619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08200" y="3880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dirty="0" smtClean="0"/>
              <a:t>https://iopscience.iop.org/article/10.1088/1742-6596/1654/1/012011/pdf</a:t>
            </a:r>
            <a:endParaRPr lang="sv-SE" dirty="0"/>
          </a:p>
        </p:txBody>
      </p:sp>
      <p:sp>
        <p:nvSpPr>
          <p:cNvPr id="5" name="Rectangle 4"/>
          <p:cNvSpPr/>
          <p:nvPr/>
        </p:nvSpPr>
        <p:spPr>
          <a:xfrm>
            <a:off x="2184151" y="1688584"/>
            <a:ext cx="4877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Gear Ratio Distribution of Electric Vehicle Reducer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12134"/>
            <a:ext cx="7418276" cy="24945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0120" y="6100495"/>
            <a:ext cx="87020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https://www.sciencedirect.com/science/article/pii/S030626191931877X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6164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8200" y="239853"/>
            <a:ext cx="3755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Motor Volume Estimation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428793" y="1209777"/>
            <a:ext cx="2743059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Yanone Kaffeesatz"/>
              </a:rPr>
              <a:t>Define </a:t>
            </a:r>
            <a:endParaRPr lang="en-US" dirty="0" smtClean="0">
              <a:solidFill>
                <a:srgbClr val="000000"/>
              </a:solidFill>
              <a:latin typeface="Yanone Kaffeesatz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00"/>
                </a:solidFill>
                <a:latin typeface="Yanone Kaffeesatz"/>
              </a:rPr>
              <a:t>magnetic </a:t>
            </a:r>
            <a:r>
              <a:rPr lang="en-US" dirty="0">
                <a:solidFill>
                  <a:srgbClr val="000000"/>
                </a:solidFill>
                <a:latin typeface="Yanone Kaffeesatz"/>
              </a:rPr>
              <a:t>loading </a:t>
            </a:r>
            <a:endParaRPr lang="en-US" dirty="0" smtClean="0">
              <a:solidFill>
                <a:srgbClr val="000000"/>
              </a:solidFill>
              <a:latin typeface="Yanone Kaffeesatz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0000"/>
                </a:solidFill>
                <a:latin typeface="Yanone Kaffeesatz"/>
              </a:rPr>
              <a:t>electric 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Yanone Kaffeesatz"/>
            </a:endParaRPr>
          </a:p>
          <a:p>
            <a:r>
              <a:rPr lang="en-US" dirty="0"/>
              <a:t>Define 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n-US" dirty="0" smtClean="0"/>
              <a:t>iameter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axial length</a:t>
            </a:r>
          </a:p>
          <a:p>
            <a:endParaRPr lang="en-US" dirty="0"/>
          </a:p>
          <a:p>
            <a:r>
              <a:rPr lang="en-US" dirty="0"/>
              <a:t>Define 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a</a:t>
            </a:r>
            <a:r>
              <a:rPr lang="en-US" dirty="0" err="1" smtClean="0"/>
              <a:t>irgap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winding Type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number </a:t>
            </a:r>
            <a:r>
              <a:rPr lang="en-US" dirty="0"/>
              <a:t>of coils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Yanone Kaffeesatz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91174" y="1056355"/>
            <a:ext cx="33009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>
                <a:solidFill>
                  <a:srgbClr val="000000"/>
                </a:solidFill>
                <a:latin typeface="Yanone Kaffeesatz"/>
              </a:rPr>
              <a:t>Specific</a:t>
            </a:r>
            <a:r>
              <a:rPr lang="sv-SE" dirty="0">
                <a:solidFill>
                  <a:srgbClr val="000000"/>
                </a:solidFill>
                <a:latin typeface="Yanone Kaffeesatz"/>
              </a:rPr>
              <a:t> </a:t>
            </a:r>
            <a:r>
              <a:rPr lang="sv-SE" dirty="0" err="1">
                <a:solidFill>
                  <a:srgbClr val="000000"/>
                </a:solidFill>
                <a:latin typeface="Yanone Kaffeesatz"/>
              </a:rPr>
              <a:t>Machine</a:t>
            </a:r>
            <a:r>
              <a:rPr lang="sv-SE" dirty="0">
                <a:solidFill>
                  <a:srgbClr val="000000"/>
                </a:solidFill>
                <a:latin typeface="Yanone Kaffeesatz"/>
              </a:rPr>
              <a:t> </a:t>
            </a:r>
            <a:r>
              <a:rPr lang="sv-SE" dirty="0" err="1">
                <a:solidFill>
                  <a:srgbClr val="000000"/>
                </a:solidFill>
                <a:latin typeface="Yanone Kaffeesatz"/>
              </a:rPr>
              <a:t>Constant</a:t>
            </a:r>
            <a:r>
              <a:rPr lang="sv-SE" dirty="0">
                <a:solidFill>
                  <a:srgbClr val="000000"/>
                </a:solidFill>
                <a:latin typeface="Yanone Kaffeesatz"/>
              </a:rPr>
              <a:t> (C</a:t>
            </a:r>
            <a:r>
              <a:rPr lang="sv-SE" dirty="0" smtClean="0">
                <a:solidFill>
                  <a:srgbClr val="000000"/>
                </a:solidFill>
                <a:latin typeface="Yanone Kaffeesatz"/>
              </a:rPr>
              <a:t>)</a:t>
            </a:r>
          </a:p>
          <a:p>
            <a:endParaRPr lang="sv-SE" b="0" i="0" dirty="0">
              <a:solidFill>
                <a:srgbClr val="000000"/>
              </a:solidFill>
              <a:effectLst/>
              <a:latin typeface="Yanone Kaffeesatz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59" y="1936310"/>
            <a:ext cx="3504591" cy="26147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626" y="1590812"/>
            <a:ext cx="3837054" cy="29312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68753" y="6016675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http://keysan.me/presentations/ee564_basic_machine_design.html#38</a:t>
            </a:r>
          </a:p>
        </p:txBody>
      </p:sp>
    </p:spTree>
    <p:extLst>
      <p:ext uri="{BB962C8B-B14F-4D97-AF65-F5344CB8AC3E}">
        <p14:creationId xmlns:p14="http://schemas.microsoft.com/office/powerpoint/2010/main" val="3770110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505" y="2415540"/>
            <a:ext cx="9191089" cy="42852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636015"/>
            <a:ext cx="2621280" cy="14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97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157" y="317473"/>
            <a:ext cx="2786063" cy="13189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2097302"/>
            <a:ext cx="6758940" cy="363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12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10214</TotalTime>
  <Words>739</Words>
  <Application>Microsoft Office PowerPoint</Application>
  <PresentationFormat>Widescreen</PresentationFormat>
  <Paragraphs>140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Yanone Kaffeesatz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72</cp:revision>
  <dcterms:created xsi:type="dcterms:W3CDTF">2023-12-04T12:59:15Z</dcterms:created>
  <dcterms:modified xsi:type="dcterms:W3CDTF">2023-12-15T11:41:57Z</dcterms:modified>
</cp:coreProperties>
</file>