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6"/>
  </p:notesMasterIdLst>
  <p:sldIdLst>
    <p:sldId id="261" r:id="rId2"/>
    <p:sldId id="262" r:id="rId3"/>
    <p:sldId id="264" r:id="rId4"/>
    <p:sldId id="265" r:id="rId5"/>
  </p:sldIdLst>
  <p:sldSz cx="12192000" cy="6858000"/>
  <p:notesSz cx="6858000" cy="9144000"/>
  <p:embeddedFontLst>
    <p:embeddedFont>
      <p:font typeface="Figtree" panose="020B0604020202020204" charset="0"/>
      <p:regular r:id="rId7"/>
      <p:bold r:id="rId8"/>
      <p:italic r:id="rId9"/>
      <p:boldItalic r:id="rId10"/>
    </p:embeddedFont>
    <p:embeddedFont>
      <p:font typeface="Calibri" panose="020F0502020204030204" pitchFamily="34" charset="0"/>
      <p:regular r:id="rId11"/>
      <p:bold r:id="rId12"/>
      <p:italic r:id="rId13"/>
      <p:boldItalic r:id="rId1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3" autoAdjust="0"/>
    <p:restoredTop sz="96327"/>
  </p:normalViewPr>
  <p:slideViewPr>
    <p:cSldViewPr snapToGrid="0">
      <p:cViewPr>
        <p:scale>
          <a:sx n="125" d="100"/>
          <a:sy n="125" d="100"/>
        </p:scale>
        <p:origin x="-282" y="-5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2024-10-10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2024-10-10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2024-10-10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2024-10-10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2024-10-10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2024-10-10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2024-10-10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2024-10-10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2024-10-10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2024-10-10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2024-10-10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2024-10-10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2024-10-10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2024-10-10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2024-10-10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2024-10-10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2024-10-10</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2024-10-10</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2024-10-10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2024-10-10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2024-10-10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2024-10-10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2024-10-10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2024-10-10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2024-10-10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2024-10-10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2024-10-10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2024-10-10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2024-10-10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2024-10-10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2024-10-10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2024-10-10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2024-10-10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2024-10-10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2024-10-10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2024-10-10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2024-10-10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2024-10-10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2024-10-10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2024-10-10</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2024-10-10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2024-10-10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2024-10-10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2024-10-10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2024-10-10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2024-10-10</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sv-SE" dirty="0" err="1" smtClean="0"/>
              <a:t>Holistic</a:t>
            </a:r>
            <a:r>
              <a:rPr lang="sv-SE" dirty="0" smtClean="0"/>
              <a:t> Life </a:t>
            </a:r>
            <a:r>
              <a:rPr lang="sv-SE" dirty="0" err="1" smtClean="0"/>
              <a:t>Cycle</a:t>
            </a:r>
            <a:r>
              <a:rPr lang="sv-SE" dirty="0" smtClean="0"/>
              <a:t> </a:t>
            </a:r>
            <a:r>
              <a:rPr lang="sv-SE" dirty="0" err="1" smtClean="0"/>
              <a:t>Optimization</a:t>
            </a:r>
            <a:endParaRPr lang="sv-SE" dirty="0"/>
          </a:p>
        </p:txBody>
      </p:sp>
      <p:sp>
        <p:nvSpPr>
          <p:cNvPr id="15" name="Rectangle 14"/>
          <p:cNvSpPr/>
          <p:nvPr/>
        </p:nvSpPr>
        <p:spPr>
          <a:xfrm>
            <a:off x="438150" y="1242536"/>
            <a:ext cx="9829800" cy="3785652"/>
          </a:xfrm>
          <a:prstGeom prst="rect">
            <a:avLst/>
          </a:prstGeom>
        </p:spPr>
        <p:txBody>
          <a:bodyPr wrap="square">
            <a:spAutoFit/>
          </a:bodyPr>
          <a:lstStyle/>
          <a:p>
            <a:r>
              <a:rPr lang="en-US" sz="2400" b="1" dirty="0"/>
              <a:t>Development of models and tools:</a:t>
            </a:r>
          </a:p>
          <a:p>
            <a:r>
              <a:rPr lang="en-US" sz="2400" dirty="0" smtClean="0"/>
              <a:t>Models regarding  </a:t>
            </a:r>
          </a:p>
          <a:p>
            <a:pPr marL="914400" lvl="1" indent="-457200">
              <a:buFontTx/>
              <a:buAutoNum type="arabicPeriod"/>
            </a:pPr>
            <a:r>
              <a:rPr lang="en-US" sz="2400" u="sng" dirty="0" smtClean="0"/>
              <a:t>Power losses</a:t>
            </a:r>
            <a:endParaRPr lang="en-US" sz="2400" dirty="0" smtClean="0"/>
          </a:p>
          <a:p>
            <a:pPr marL="914400" lvl="1" indent="-457200">
              <a:buAutoNum type="arabicPeriod"/>
            </a:pPr>
            <a:r>
              <a:rPr lang="en-US" sz="2400" u="sng" dirty="0"/>
              <a:t>Cooling</a:t>
            </a:r>
            <a:r>
              <a:rPr lang="en-US" sz="2400" dirty="0"/>
              <a:t> </a:t>
            </a:r>
            <a:endParaRPr lang="en-US" sz="2400" dirty="0" smtClean="0"/>
          </a:p>
          <a:p>
            <a:pPr marL="914400" lvl="1" indent="-457200">
              <a:buAutoNum type="arabicPeriod"/>
            </a:pPr>
            <a:r>
              <a:rPr lang="en-US" sz="2400" u="sng" dirty="0" smtClean="0"/>
              <a:t>Dimensioning </a:t>
            </a:r>
          </a:p>
          <a:p>
            <a:pPr marL="914400" lvl="1" indent="-457200">
              <a:buAutoNum type="arabicPeriod" startAt="4"/>
            </a:pPr>
            <a:r>
              <a:rPr lang="en-US" sz="2400" u="sng" dirty="0" smtClean="0"/>
              <a:t>Cost</a:t>
            </a:r>
          </a:p>
          <a:p>
            <a:pPr marL="914400" lvl="1" indent="-457200">
              <a:buAutoNum type="arabicPeriod" startAt="4"/>
            </a:pPr>
            <a:r>
              <a:rPr lang="en-US" sz="2400" u="sng" dirty="0" smtClean="0"/>
              <a:t>Carbon emission</a:t>
            </a:r>
            <a:endParaRPr lang="en-US" sz="2400" dirty="0" smtClean="0"/>
          </a:p>
          <a:p>
            <a:pPr marL="457200" indent="-457200">
              <a:buAutoNum type="arabicPeriod"/>
            </a:pPr>
            <a:endParaRPr lang="en-US" sz="2400" dirty="0"/>
          </a:p>
          <a:p>
            <a:r>
              <a:rPr lang="en-US" sz="2400" dirty="0"/>
              <a:t>are </a:t>
            </a:r>
            <a:r>
              <a:rPr lang="en-US" sz="2400" dirty="0" smtClean="0"/>
              <a:t>needed to be compiled </a:t>
            </a:r>
            <a:r>
              <a:rPr lang="en-US" sz="2400" dirty="0"/>
              <a:t>and integrated into </a:t>
            </a:r>
            <a:r>
              <a:rPr lang="en-US" sz="2400" u="sng" dirty="0" smtClean="0"/>
              <a:t>software</a:t>
            </a:r>
            <a:r>
              <a:rPr lang="en-US" sz="2400" dirty="0" smtClean="0"/>
              <a:t> to </a:t>
            </a:r>
            <a:r>
              <a:rPr lang="en-US" sz="2400" dirty="0"/>
              <a:t>carry out comprehensive calculations regarding </a:t>
            </a:r>
            <a:r>
              <a:rPr lang="en-US" sz="2400" u="sng" dirty="0" smtClean="0"/>
              <a:t>life </a:t>
            </a:r>
            <a:r>
              <a:rPr lang="en-US" sz="2400" u="sng" dirty="0"/>
              <a:t>cycle costs</a:t>
            </a:r>
            <a:r>
              <a:rPr lang="en-US" sz="2400" dirty="0"/>
              <a:t>.</a:t>
            </a:r>
            <a:endParaRPr lang="en-US" sz="2400" dirty="0"/>
          </a:p>
        </p:txBody>
      </p:sp>
    </p:spTree>
    <p:extLst>
      <p:ext uri="{BB962C8B-B14F-4D97-AF65-F5344CB8AC3E}">
        <p14:creationId xmlns:p14="http://schemas.microsoft.com/office/powerpoint/2010/main" val="14773249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sv-SE" dirty="0" err="1" smtClean="0"/>
              <a:t>Holistic</a:t>
            </a:r>
            <a:r>
              <a:rPr lang="sv-SE" dirty="0" smtClean="0"/>
              <a:t> Life </a:t>
            </a:r>
            <a:r>
              <a:rPr lang="sv-SE" dirty="0" err="1" smtClean="0"/>
              <a:t>Cycle</a:t>
            </a:r>
            <a:r>
              <a:rPr lang="sv-SE" dirty="0" smtClean="0"/>
              <a:t> </a:t>
            </a:r>
            <a:r>
              <a:rPr lang="sv-SE" dirty="0" err="1" smtClean="0"/>
              <a:t>Optimization</a:t>
            </a:r>
            <a:endParaRPr lang="sv-SE" dirty="0"/>
          </a:p>
        </p:txBody>
      </p:sp>
      <p:sp>
        <p:nvSpPr>
          <p:cNvPr id="9" name="Content Placeholder 2"/>
          <p:cNvSpPr txBox="1">
            <a:spLocks/>
          </p:cNvSpPr>
          <p:nvPr/>
        </p:nvSpPr>
        <p:spPr>
          <a:xfrm>
            <a:off x="350517" y="1448379"/>
            <a:ext cx="4983082" cy="4780971"/>
          </a:xfrm>
          <a:prstGeom prst="rect">
            <a:avLst/>
          </a:prstGeom>
        </p:spPr>
        <p:txBody>
          <a:bodyPr vert="horz" lIns="91440" tIns="45720" rIns="91440" bIns="45720" rtlCol="0">
            <a:noAutofit/>
          </a:bodyPr>
          <a:lstStyle>
            <a:lvl1pPr marL="629999" indent="-629999" algn="l" defTabSz="2519995" rtl="0" eaLnBrk="1" latinLnBrk="0" hangingPunct="1">
              <a:lnSpc>
                <a:spcPct val="90000"/>
              </a:lnSpc>
              <a:spcBef>
                <a:spcPts val="2756"/>
              </a:spcBef>
              <a:buFont typeface="Arial" panose="020B0604020202020204" pitchFamily="34" charset="0"/>
              <a:buChar char="•"/>
              <a:defRPr sz="7717" kern="1200">
                <a:solidFill>
                  <a:schemeClr val="tx1"/>
                </a:solidFill>
                <a:latin typeface="+mn-lt"/>
                <a:ea typeface="+mn-ea"/>
                <a:cs typeface="+mn-cs"/>
              </a:defRPr>
            </a:lvl1pPr>
            <a:lvl2pPr marL="1889996" indent="-629999" algn="l" defTabSz="2519995" rtl="0" eaLnBrk="1" latinLnBrk="0" hangingPunct="1">
              <a:lnSpc>
                <a:spcPct val="90000"/>
              </a:lnSpc>
              <a:spcBef>
                <a:spcPts val="1378"/>
              </a:spcBef>
              <a:buFont typeface="Arial" panose="020B0604020202020204" pitchFamily="34" charset="0"/>
              <a:buChar char="•"/>
              <a:defRPr sz="6614" kern="1200">
                <a:solidFill>
                  <a:schemeClr val="tx1"/>
                </a:solidFill>
                <a:latin typeface="+mn-lt"/>
                <a:ea typeface="+mn-ea"/>
                <a:cs typeface="+mn-cs"/>
              </a:defRPr>
            </a:lvl2pPr>
            <a:lvl3pPr marL="3149994" indent="-629999" algn="l" defTabSz="2519995" rtl="0" eaLnBrk="1" latinLnBrk="0" hangingPunct="1">
              <a:lnSpc>
                <a:spcPct val="90000"/>
              </a:lnSpc>
              <a:spcBef>
                <a:spcPts val="1378"/>
              </a:spcBef>
              <a:buFont typeface="Arial" panose="020B0604020202020204" pitchFamily="34" charset="0"/>
              <a:buChar char="•"/>
              <a:defRPr sz="5512" kern="1200">
                <a:solidFill>
                  <a:schemeClr val="tx1"/>
                </a:solidFill>
                <a:latin typeface="+mn-lt"/>
                <a:ea typeface="+mn-ea"/>
                <a:cs typeface="+mn-cs"/>
              </a:defRPr>
            </a:lvl3pPr>
            <a:lvl4pPr marL="440999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4pPr>
            <a:lvl5pPr marL="566998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5pPr>
            <a:lvl6pPr marL="6929986"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6pPr>
            <a:lvl7pPr marL="8189984"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7pPr>
            <a:lvl8pPr marL="944998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8pPr>
            <a:lvl9pPr marL="1070997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9pPr>
          </a:lstStyle>
          <a:p>
            <a:pPr marL="0" indent="0">
              <a:buNone/>
            </a:pPr>
            <a:r>
              <a:rPr lang="en-US" sz="2400" b="1" dirty="0"/>
              <a:t>Performance </a:t>
            </a:r>
            <a:r>
              <a:rPr lang="en-US" sz="2400" b="1" dirty="0" smtClean="0"/>
              <a:t>Indices: </a:t>
            </a:r>
          </a:p>
          <a:p>
            <a:pPr marL="0" indent="0">
              <a:buNone/>
            </a:pPr>
            <a:r>
              <a:rPr lang="en-US" sz="2400" dirty="0"/>
              <a:t>─ Power Density [</a:t>
            </a:r>
            <a:r>
              <a:rPr lang="en-US" sz="2400" dirty="0" smtClean="0"/>
              <a:t>kW/L]</a:t>
            </a:r>
            <a:endParaRPr lang="en-US" sz="2400" dirty="0"/>
          </a:p>
          <a:p>
            <a:pPr marL="0" indent="0">
              <a:buNone/>
            </a:pPr>
            <a:r>
              <a:rPr lang="en-US" sz="2400" dirty="0"/>
              <a:t>─ Power per Unit Weight [kW/kg</a:t>
            </a:r>
            <a:r>
              <a:rPr lang="en-US" sz="2400" dirty="0" smtClean="0"/>
              <a:t>]</a:t>
            </a:r>
          </a:p>
          <a:p>
            <a:pPr marL="0" indent="0">
              <a:buNone/>
            </a:pPr>
            <a:r>
              <a:rPr lang="en-US" sz="2400" dirty="0" smtClean="0"/>
              <a:t> ─ </a:t>
            </a:r>
            <a:r>
              <a:rPr lang="en-US" sz="2400" dirty="0"/>
              <a:t>Relative Costs [kW/$]</a:t>
            </a:r>
          </a:p>
          <a:p>
            <a:pPr marL="0" indent="0">
              <a:buNone/>
            </a:pPr>
            <a:r>
              <a:rPr lang="en-US" sz="2400" dirty="0"/>
              <a:t>─ Relative Losses [%]</a:t>
            </a:r>
          </a:p>
          <a:p>
            <a:pPr marL="0" indent="0">
              <a:buNone/>
            </a:pPr>
            <a:r>
              <a:rPr lang="en-US" sz="2400" dirty="0"/>
              <a:t>─ Failure </a:t>
            </a:r>
            <a:r>
              <a:rPr lang="en-US" sz="2400" dirty="0" smtClean="0"/>
              <a:t>Rate</a:t>
            </a:r>
            <a:r>
              <a:rPr lang="sv-SE" sz="2400" dirty="0" smtClean="0"/>
              <a:t> [h-1</a:t>
            </a:r>
            <a:r>
              <a:rPr lang="sv-SE" sz="2400" dirty="0" smtClean="0"/>
              <a:t>]</a:t>
            </a:r>
          </a:p>
          <a:p>
            <a:pPr marL="0" indent="0">
              <a:buNone/>
            </a:pPr>
            <a:r>
              <a:rPr lang="en-US" sz="2400" dirty="0"/>
              <a:t>─ </a:t>
            </a:r>
            <a:r>
              <a:rPr lang="sv-SE" sz="2400" dirty="0" err="1" smtClean="0"/>
              <a:t>Carbon</a:t>
            </a:r>
            <a:r>
              <a:rPr lang="sv-SE" sz="2400" dirty="0" smtClean="0"/>
              <a:t> </a:t>
            </a:r>
            <a:r>
              <a:rPr lang="sv-SE" sz="2400" dirty="0" err="1" smtClean="0"/>
              <a:t>footprint</a:t>
            </a:r>
            <a:r>
              <a:rPr lang="sv-SE" sz="2400" dirty="0" smtClean="0"/>
              <a:t> [Co2eq]</a:t>
            </a:r>
            <a:endParaRPr lang="sv-SE" sz="2400" dirty="0"/>
          </a:p>
          <a:p>
            <a:pPr marL="0" indent="0">
              <a:buNone/>
            </a:pPr>
            <a:endParaRPr lang="sv-SE" sz="2400" dirty="0" smtClean="0"/>
          </a:p>
        </p:txBody>
      </p:sp>
      <p:pic>
        <p:nvPicPr>
          <p:cNvPr id="12" name="Picture 11"/>
          <p:cNvPicPr>
            <a:picLocks noChangeAspect="1"/>
          </p:cNvPicPr>
          <p:nvPr/>
        </p:nvPicPr>
        <p:blipFill>
          <a:blip r:embed="rId2"/>
          <a:stretch>
            <a:fillRect/>
          </a:stretch>
        </p:blipFill>
        <p:spPr>
          <a:xfrm>
            <a:off x="5333599" y="3930456"/>
            <a:ext cx="6248671" cy="2298894"/>
          </a:xfrm>
          <a:prstGeom prst="rect">
            <a:avLst/>
          </a:prstGeom>
        </p:spPr>
      </p:pic>
      <p:pic>
        <p:nvPicPr>
          <p:cNvPr id="14" name="Picture 13"/>
          <p:cNvPicPr>
            <a:picLocks noChangeAspect="1"/>
          </p:cNvPicPr>
          <p:nvPr/>
        </p:nvPicPr>
        <p:blipFill>
          <a:blip r:embed="rId3"/>
          <a:stretch>
            <a:fillRect/>
          </a:stretch>
        </p:blipFill>
        <p:spPr>
          <a:xfrm>
            <a:off x="6592130" y="1077663"/>
            <a:ext cx="3731608" cy="2619664"/>
          </a:xfrm>
          <a:prstGeom prst="rect">
            <a:avLst/>
          </a:prstGeom>
        </p:spPr>
      </p:pic>
    </p:spTree>
    <p:extLst>
      <p:ext uri="{BB962C8B-B14F-4D97-AF65-F5344CB8AC3E}">
        <p14:creationId xmlns:p14="http://schemas.microsoft.com/office/powerpoint/2010/main" val="9077829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sv-SE" dirty="0" err="1" smtClean="0"/>
              <a:t>Holistic</a:t>
            </a:r>
            <a:r>
              <a:rPr lang="sv-SE" dirty="0" smtClean="0"/>
              <a:t> Life </a:t>
            </a:r>
            <a:r>
              <a:rPr lang="sv-SE" dirty="0" err="1" smtClean="0"/>
              <a:t>Cycle</a:t>
            </a:r>
            <a:r>
              <a:rPr lang="sv-SE" dirty="0" smtClean="0"/>
              <a:t> </a:t>
            </a:r>
            <a:r>
              <a:rPr lang="sv-SE" dirty="0" err="1" smtClean="0"/>
              <a:t>Optimization</a:t>
            </a:r>
            <a:endParaRPr lang="sv-SE" dirty="0"/>
          </a:p>
        </p:txBody>
      </p:sp>
      <p:pic>
        <p:nvPicPr>
          <p:cNvPr id="3" name="Picture 2"/>
          <p:cNvPicPr>
            <a:picLocks noChangeAspect="1"/>
          </p:cNvPicPr>
          <p:nvPr/>
        </p:nvPicPr>
        <p:blipFill>
          <a:blip r:embed="rId2"/>
          <a:stretch>
            <a:fillRect/>
          </a:stretch>
        </p:blipFill>
        <p:spPr>
          <a:xfrm>
            <a:off x="1971674" y="844534"/>
            <a:ext cx="7796439" cy="5866532"/>
          </a:xfrm>
          <a:prstGeom prst="rect">
            <a:avLst/>
          </a:prstGeom>
        </p:spPr>
      </p:pic>
    </p:spTree>
    <p:extLst>
      <p:ext uri="{BB962C8B-B14F-4D97-AF65-F5344CB8AC3E}">
        <p14:creationId xmlns:p14="http://schemas.microsoft.com/office/powerpoint/2010/main" val="37166212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1080730"/>
          </a:xfrm>
        </p:spPr>
        <p:txBody>
          <a:bodyPr/>
          <a:lstStyle/>
          <a:p>
            <a:r>
              <a:rPr lang="en-US" dirty="0"/>
              <a:t>Trade-off of Performance (Cost/Volume/Loss)  and Life-cycle-cost analysis</a:t>
            </a:r>
          </a:p>
        </p:txBody>
      </p:sp>
      <p:sp>
        <p:nvSpPr>
          <p:cNvPr id="91" name="Title 1"/>
          <p:cNvSpPr txBox="1">
            <a:spLocks/>
          </p:cNvSpPr>
          <p:nvPr/>
        </p:nvSpPr>
        <p:spPr>
          <a:xfrm>
            <a:off x="-457845" y="276122"/>
            <a:ext cx="16322902" cy="1482907"/>
          </a:xfrm>
          <a:prstGeom prst="rect">
            <a:avLst/>
          </a:prstGeom>
        </p:spPr>
        <p:txBody>
          <a:bodyPr vert="horz" lIns="91440" tIns="45720" rIns="91440" bIns="45720" rtlCol="0" anchor="ctr">
            <a:normAutofit/>
          </a:bodyPr>
          <a:lst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a:lstStyle>
          <a:p>
            <a:endParaRPr lang="sv-SE" sz="4000" b="1" dirty="0">
              <a:solidFill>
                <a:srgbClr val="C00000"/>
              </a:solidFill>
            </a:endParaRPr>
          </a:p>
        </p:txBody>
      </p:sp>
      <p:pic>
        <p:nvPicPr>
          <p:cNvPr id="92" name="Picture 91"/>
          <p:cNvPicPr>
            <a:picLocks noChangeAspect="1"/>
          </p:cNvPicPr>
          <p:nvPr/>
        </p:nvPicPr>
        <p:blipFill>
          <a:blip r:embed="rId2"/>
          <a:stretch>
            <a:fillRect/>
          </a:stretch>
        </p:blipFill>
        <p:spPr>
          <a:xfrm>
            <a:off x="1125237" y="1759029"/>
            <a:ext cx="9317713" cy="2323788"/>
          </a:xfrm>
          <a:prstGeom prst="rect">
            <a:avLst/>
          </a:prstGeom>
        </p:spPr>
      </p:pic>
      <p:pic>
        <p:nvPicPr>
          <p:cNvPr id="93" name="Picture 92"/>
          <p:cNvPicPr>
            <a:picLocks noChangeAspect="1"/>
          </p:cNvPicPr>
          <p:nvPr/>
        </p:nvPicPr>
        <p:blipFill>
          <a:blip r:embed="rId3"/>
          <a:stretch>
            <a:fillRect/>
          </a:stretch>
        </p:blipFill>
        <p:spPr>
          <a:xfrm>
            <a:off x="2993517" y="4339851"/>
            <a:ext cx="6223054" cy="973439"/>
          </a:xfrm>
          <a:prstGeom prst="rect">
            <a:avLst/>
          </a:prstGeom>
        </p:spPr>
      </p:pic>
      <p:sp>
        <p:nvSpPr>
          <p:cNvPr id="3" name="TextBox 2"/>
          <p:cNvSpPr txBox="1"/>
          <p:nvPr/>
        </p:nvSpPr>
        <p:spPr>
          <a:xfrm>
            <a:off x="1125237" y="5776687"/>
            <a:ext cx="7496249" cy="461665"/>
          </a:xfrm>
          <a:prstGeom prst="rect">
            <a:avLst/>
          </a:prstGeom>
          <a:noFill/>
        </p:spPr>
        <p:txBody>
          <a:bodyPr wrap="square" rtlCol="0">
            <a:spAutoFit/>
          </a:bodyPr>
          <a:lstStyle/>
          <a:p>
            <a:r>
              <a:rPr lang="sv-SE" sz="2400" dirty="0" err="1" smtClean="0"/>
              <a:t>Optimization</a:t>
            </a:r>
            <a:r>
              <a:rPr lang="sv-SE" sz="2400" dirty="0" smtClean="0"/>
              <a:t> </a:t>
            </a:r>
            <a:r>
              <a:rPr lang="sv-SE" sz="2400" dirty="0" err="1" smtClean="0"/>
              <a:t>cost</a:t>
            </a:r>
            <a:r>
              <a:rPr lang="sv-SE" sz="2400" dirty="0" smtClean="0"/>
              <a:t> </a:t>
            </a:r>
            <a:r>
              <a:rPr lang="sv-SE" sz="2400" dirty="0" err="1" smtClean="0"/>
              <a:t>function</a:t>
            </a:r>
            <a:r>
              <a:rPr lang="sv-SE" sz="2400" dirty="0" smtClean="0"/>
              <a:t> </a:t>
            </a:r>
            <a:r>
              <a:rPr lang="sv-SE" sz="2400" dirty="0" err="1" smtClean="0"/>
              <a:t>should</a:t>
            </a:r>
            <a:r>
              <a:rPr lang="sv-SE" sz="2400" dirty="0" smtClean="0"/>
              <a:t> be </a:t>
            </a:r>
            <a:r>
              <a:rPr lang="sv-SE" sz="2400" dirty="0" err="1" smtClean="0"/>
              <a:t>generated</a:t>
            </a:r>
            <a:r>
              <a:rPr lang="sv-SE" sz="2400" dirty="0" smtClean="0"/>
              <a:t>. </a:t>
            </a:r>
            <a:endParaRPr lang="sv-SE" sz="2400" dirty="0"/>
          </a:p>
        </p:txBody>
      </p:sp>
    </p:spTree>
    <p:extLst>
      <p:ext uri="{BB962C8B-B14F-4D97-AF65-F5344CB8AC3E}">
        <p14:creationId xmlns:p14="http://schemas.microsoft.com/office/powerpoint/2010/main" val="28864595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7346</TotalTime>
  <Words>102</Words>
  <Application>Microsoft Office PowerPoint</Application>
  <PresentationFormat>Widescreen</PresentationFormat>
  <Paragraphs>21</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Figtree</vt:lpstr>
      <vt:lpstr>Calibri</vt:lpstr>
      <vt:lpstr>Arial</vt:lpstr>
      <vt:lpstr>Office-tema</vt:lpstr>
      <vt:lpstr>Holistic Life Cycle Optimization</vt:lpstr>
      <vt:lpstr>Holistic Life Cycle Optimization</vt:lpstr>
      <vt:lpstr>Holistic Life Cycle Optimization</vt:lpstr>
      <vt:lpstr>Trade-off of Performance (Cost/Volume/Loss)  and Life-cycle-cost analysis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106</cp:revision>
  <dcterms:created xsi:type="dcterms:W3CDTF">2024-01-10T13:17:29Z</dcterms:created>
  <dcterms:modified xsi:type="dcterms:W3CDTF">2024-10-10T07:04:54Z</dcterms:modified>
</cp:coreProperties>
</file>