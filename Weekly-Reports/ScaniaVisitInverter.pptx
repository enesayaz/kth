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
  </p:notesMasterIdLst>
  <p:sldIdLst>
    <p:sldId id="256" r:id="rId2"/>
    <p:sldId id="289" r:id="rId3"/>
    <p:sldId id="293" r:id="rId4"/>
    <p:sldId id="294" r:id="rId5"/>
    <p:sldId id="286" r:id="rId6"/>
    <p:sldId id="290" r:id="rId7"/>
    <p:sldId id="295" r:id="rId8"/>
    <p:sldId id="297" r:id="rId9"/>
    <p:sldId id="298" r:id="rId10"/>
    <p:sldId id="296" r:id="rId11"/>
  </p:sldIdLst>
  <p:sldSz cx="12192000" cy="6858000"/>
  <p:notesSz cx="6858000" cy="9144000"/>
  <p:embeddedFontLst>
    <p:embeddedFont>
      <p:font typeface="Cambria Math" panose="02040503050406030204" pitchFamily="18" charset="0"/>
      <p:regular r:id="rId13"/>
    </p:embeddedFont>
    <p:embeddedFont>
      <p:font typeface="Figtree" panose="020B0604020202020204" charset="0"/>
      <p:regular r:id="rId14"/>
      <p:bold r:id="rId15"/>
      <p:italic r:id="rId16"/>
      <p:boldItalic r:id="rId17"/>
    </p:embeddedFont>
    <p:embeddedFont>
      <p:font typeface="Calibri" panose="020F0502020204030204" pitchFamily="34" charset="0"/>
      <p:regular r:id="rId18"/>
      <p:bold r:id="rId19"/>
      <p:italic r:id="rId20"/>
      <p:boldItalic r:id="rId21"/>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42" autoAdjust="0"/>
    <p:restoredTop sz="96327"/>
  </p:normalViewPr>
  <p:slideViewPr>
    <p:cSldViewPr snapToGrid="0">
      <p:cViewPr>
        <p:scale>
          <a:sx n="125" d="100"/>
          <a:sy n="125" d="100"/>
        </p:scale>
        <p:origin x="1818" y="8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2025-03-07</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2025-03-07</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2025-03-07</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2025-03-07</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2025-03-07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2025-03-07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2025-03-07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2025-03-07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2025-03-07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2025-03-07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2025-03-07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2025-03-07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2025-03-07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2025-03-07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2025-03-07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2025-03-07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2025-03-07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2025-03-07</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2025-03-07</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2025-03-07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2025-03-07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2025-03-07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2025-03-07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2025-03-07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2025-03-07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2025-03-07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2025-03-07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2025-03-07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2025-03-07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2025-03-07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2025-03-07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2025-03-07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2025-03-07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2025-03-07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2025-03-07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2025-03-07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2025-03-07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2025-03-07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2025-03-07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2025-03-07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2025-03-07</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2025-03-07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2025-03-07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2025-03-07</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2025-03-07</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2025-03-07</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2025-03-07</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2025-03-07</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2025-03-07</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jpeg"/><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 Id="rId5" Type="http://schemas.openxmlformats.org/officeDocument/2006/relationships/image" Target="../media/image38.png"/><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2-Level Inverter Integration with 62mm Power Module</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smtClean="0"/>
              <a:t>KTH</a:t>
            </a:r>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err="1" smtClean="0">
                <a:latin typeface="Times New Roman" panose="02020603050405020304" pitchFamily="18" charset="0"/>
                <a:cs typeface="Times New Roman" panose="02020603050405020304" pitchFamily="18" charset="0"/>
              </a:rPr>
              <a:t>Busbar</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Desing</a:t>
            </a:r>
            <a:endParaRPr lang="sv-SE" dirty="0">
              <a:latin typeface="Times New Roman" panose="02020603050405020304" pitchFamily="18" charset="0"/>
              <a:cs typeface="Times New Roman" panose="02020603050405020304" pitchFamily="18" charset="0"/>
            </a:endParaRPr>
          </a:p>
        </p:txBody>
      </p:sp>
      <p:sp>
        <p:nvSpPr>
          <p:cNvPr id="12" name="Rectangle 11"/>
          <p:cNvSpPr/>
          <p:nvPr/>
        </p:nvSpPr>
        <p:spPr>
          <a:xfrm>
            <a:off x="4533530" y="1084954"/>
            <a:ext cx="304470" cy="295835"/>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13" name="Rectangle 12"/>
          <p:cNvSpPr/>
          <p:nvPr/>
        </p:nvSpPr>
        <p:spPr>
          <a:xfrm>
            <a:off x="4525091" y="2006986"/>
            <a:ext cx="292286" cy="26296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14" name="TextBox 13"/>
          <p:cNvSpPr txBox="1"/>
          <p:nvPr/>
        </p:nvSpPr>
        <p:spPr>
          <a:xfrm>
            <a:off x="5013602" y="1040359"/>
            <a:ext cx="3624498" cy="307777"/>
          </a:xfrm>
          <a:prstGeom prst="rect">
            <a:avLst/>
          </a:prstGeom>
          <a:noFill/>
        </p:spPr>
        <p:txBody>
          <a:bodyPr wrap="square" rtlCol="0">
            <a:spAutoFit/>
          </a:bodyPr>
          <a:lstStyle/>
          <a:p>
            <a:r>
              <a:rPr lang="en-US" sz="1400" dirty="0" smtClean="0"/>
              <a:t>Capacitor : KEMET C44U 1300V 200uH</a:t>
            </a:r>
            <a:endParaRPr lang="sv-SE" sz="1400" dirty="0"/>
          </a:p>
        </p:txBody>
      </p:sp>
      <p:sp>
        <p:nvSpPr>
          <p:cNvPr id="15" name="TextBox 14"/>
          <p:cNvSpPr txBox="1"/>
          <p:nvPr/>
        </p:nvSpPr>
        <p:spPr>
          <a:xfrm>
            <a:off x="5029450" y="2077627"/>
            <a:ext cx="3906487" cy="307777"/>
          </a:xfrm>
          <a:prstGeom prst="rect">
            <a:avLst/>
          </a:prstGeom>
          <a:noFill/>
        </p:spPr>
        <p:txBody>
          <a:bodyPr wrap="square" rtlCol="0">
            <a:spAutoFit/>
          </a:bodyPr>
          <a:lstStyle/>
          <a:p>
            <a:r>
              <a:rPr lang="en-US" sz="1400" dirty="0" smtClean="0"/>
              <a:t>Power Modules : Infineon 2kV </a:t>
            </a:r>
            <a:r>
              <a:rPr lang="en-US" sz="1400" dirty="0" err="1" smtClean="0"/>
              <a:t>CoolSic</a:t>
            </a:r>
            <a:r>
              <a:rPr lang="en-US" sz="1400" dirty="0" smtClean="0"/>
              <a:t> 62mm</a:t>
            </a:r>
            <a:endParaRPr lang="sv-SE" sz="1400" dirty="0"/>
          </a:p>
        </p:txBody>
      </p:sp>
      <p:sp>
        <p:nvSpPr>
          <p:cNvPr id="16" name="Oval 15"/>
          <p:cNvSpPr/>
          <p:nvPr/>
        </p:nvSpPr>
        <p:spPr>
          <a:xfrm>
            <a:off x="400577" y="1937670"/>
            <a:ext cx="214823" cy="191247"/>
          </a:xfrm>
          <a:prstGeom prst="ellipse">
            <a:avLst/>
          </a:prstGeom>
          <a:solidFill>
            <a:srgbClr val="0029ED"/>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17" name="TextBox 16"/>
          <p:cNvSpPr txBox="1"/>
          <p:nvPr/>
        </p:nvSpPr>
        <p:spPr>
          <a:xfrm>
            <a:off x="847318" y="1848627"/>
            <a:ext cx="2058895" cy="307777"/>
          </a:xfrm>
          <a:prstGeom prst="rect">
            <a:avLst/>
          </a:prstGeom>
          <a:noFill/>
        </p:spPr>
        <p:txBody>
          <a:bodyPr wrap="square" rtlCol="0">
            <a:spAutoFit/>
          </a:bodyPr>
          <a:lstStyle/>
          <a:p>
            <a:r>
              <a:rPr lang="en-US" sz="1400" dirty="0" smtClean="0"/>
              <a:t>DC- Nodes</a:t>
            </a:r>
            <a:endParaRPr lang="sv-SE" sz="1400" dirty="0"/>
          </a:p>
        </p:txBody>
      </p:sp>
      <p:sp>
        <p:nvSpPr>
          <p:cNvPr id="18" name="Oval 17"/>
          <p:cNvSpPr/>
          <p:nvPr/>
        </p:nvSpPr>
        <p:spPr>
          <a:xfrm>
            <a:off x="400576" y="2319865"/>
            <a:ext cx="214823" cy="191247"/>
          </a:xfrm>
          <a:prstGeom prst="ellipse">
            <a:avLst/>
          </a:prstGeom>
          <a:solidFill>
            <a:srgbClr val="FF0000"/>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19" name="TextBox 18"/>
          <p:cNvSpPr txBox="1"/>
          <p:nvPr/>
        </p:nvSpPr>
        <p:spPr>
          <a:xfrm>
            <a:off x="847317" y="2250628"/>
            <a:ext cx="2058895" cy="307777"/>
          </a:xfrm>
          <a:prstGeom prst="rect">
            <a:avLst/>
          </a:prstGeom>
          <a:noFill/>
        </p:spPr>
        <p:txBody>
          <a:bodyPr wrap="square" rtlCol="0">
            <a:spAutoFit/>
          </a:bodyPr>
          <a:lstStyle/>
          <a:p>
            <a:r>
              <a:rPr lang="en-US" sz="1400" dirty="0" smtClean="0"/>
              <a:t>DC+ Nodes</a:t>
            </a:r>
            <a:endParaRPr lang="sv-SE" sz="1400" dirty="0"/>
          </a:p>
        </p:txBody>
      </p:sp>
      <p:pic>
        <p:nvPicPr>
          <p:cNvPr id="24" name="Picture 23"/>
          <p:cNvPicPr>
            <a:picLocks noChangeAspect="1"/>
          </p:cNvPicPr>
          <p:nvPr/>
        </p:nvPicPr>
        <p:blipFill rotWithShape="1">
          <a:blip r:embed="rId2"/>
          <a:srcRect l="8711"/>
          <a:stretch/>
        </p:blipFill>
        <p:spPr>
          <a:xfrm>
            <a:off x="8638100" y="1782340"/>
            <a:ext cx="1548023" cy="1025216"/>
          </a:xfrm>
          <a:prstGeom prst="rect">
            <a:avLst/>
          </a:prstGeom>
        </p:spPr>
      </p:pic>
      <p:pic>
        <p:nvPicPr>
          <p:cNvPr id="25" name="Picture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09308" y="733705"/>
            <a:ext cx="671260" cy="895013"/>
          </a:xfrm>
          <a:prstGeom prst="rect">
            <a:avLst/>
          </a:prstGeom>
        </p:spPr>
      </p:pic>
      <p:sp>
        <p:nvSpPr>
          <p:cNvPr id="26" name="TextBox 25"/>
          <p:cNvSpPr txBox="1"/>
          <p:nvPr/>
        </p:nvSpPr>
        <p:spPr>
          <a:xfrm>
            <a:off x="5086487" y="2831261"/>
            <a:ext cx="966437" cy="307777"/>
          </a:xfrm>
          <a:prstGeom prst="rect">
            <a:avLst/>
          </a:prstGeom>
          <a:noFill/>
        </p:spPr>
        <p:txBody>
          <a:bodyPr wrap="square" rtlCol="0">
            <a:spAutoFit/>
          </a:bodyPr>
          <a:lstStyle/>
          <a:p>
            <a:r>
              <a:rPr lang="en-US" sz="1400" dirty="0" err="1" smtClean="0"/>
              <a:t>Coldplate</a:t>
            </a:r>
            <a:endParaRPr lang="en-US" sz="1400" dirty="0"/>
          </a:p>
        </p:txBody>
      </p:sp>
      <p:pic>
        <p:nvPicPr>
          <p:cNvPr id="27" name="Picture 26"/>
          <p:cNvPicPr>
            <a:picLocks noChangeAspect="1"/>
          </p:cNvPicPr>
          <p:nvPr/>
        </p:nvPicPr>
        <p:blipFill>
          <a:blip r:embed="rId4"/>
          <a:stretch>
            <a:fillRect/>
          </a:stretch>
        </p:blipFill>
        <p:spPr>
          <a:xfrm>
            <a:off x="6153376" y="2498599"/>
            <a:ext cx="985485" cy="1061188"/>
          </a:xfrm>
          <a:prstGeom prst="rect">
            <a:avLst/>
          </a:prstGeom>
        </p:spPr>
      </p:pic>
      <p:sp>
        <p:nvSpPr>
          <p:cNvPr id="28" name="Rectangle 27"/>
          <p:cNvSpPr/>
          <p:nvPr/>
        </p:nvSpPr>
        <p:spPr>
          <a:xfrm>
            <a:off x="4543659" y="2833756"/>
            <a:ext cx="304470" cy="295835"/>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grpSp>
        <p:nvGrpSpPr>
          <p:cNvPr id="30" name="Group 29"/>
          <p:cNvGrpSpPr/>
          <p:nvPr/>
        </p:nvGrpSpPr>
        <p:grpSpPr>
          <a:xfrm>
            <a:off x="2029573" y="1084954"/>
            <a:ext cx="2275728" cy="2651814"/>
            <a:chOff x="334122" y="1171388"/>
            <a:chExt cx="4022495" cy="4678176"/>
          </a:xfrm>
        </p:grpSpPr>
        <p:pic>
          <p:nvPicPr>
            <p:cNvPr id="3" name="Picture 2"/>
            <p:cNvPicPr>
              <a:picLocks noChangeAspect="1"/>
            </p:cNvPicPr>
            <p:nvPr/>
          </p:nvPicPr>
          <p:blipFill>
            <a:blip r:embed="rId5"/>
            <a:stretch>
              <a:fillRect/>
            </a:stretch>
          </p:blipFill>
          <p:spPr>
            <a:xfrm>
              <a:off x="334122" y="1171388"/>
              <a:ext cx="4022495" cy="4678176"/>
            </a:xfrm>
            <a:prstGeom prst="rect">
              <a:avLst/>
            </a:prstGeom>
          </p:spPr>
        </p:pic>
        <p:sp>
          <p:nvSpPr>
            <p:cNvPr id="5" name="Rectangle 4"/>
            <p:cNvSpPr/>
            <p:nvPr/>
          </p:nvSpPr>
          <p:spPr>
            <a:xfrm>
              <a:off x="1039905" y="1625600"/>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 name="Rectangle 5"/>
            <p:cNvSpPr/>
            <p:nvPr/>
          </p:nvSpPr>
          <p:spPr>
            <a:xfrm>
              <a:off x="2537011" y="1670423"/>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 name="Rectangle 6"/>
            <p:cNvSpPr/>
            <p:nvPr/>
          </p:nvSpPr>
          <p:spPr>
            <a:xfrm>
              <a:off x="1039905" y="305327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 name="Rectangle 7"/>
            <p:cNvSpPr/>
            <p:nvPr/>
          </p:nvSpPr>
          <p:spPr>
            <a:xfrm>
              <a:off x="2537011" y="305327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 name="Rectangle 8"/>
            <p:cNvSpPr/>
            <p:nvPr/>
          </p:nvSpPr>
          <p:spPr>
            <a:xfrm>
              <a:off x="2949948" y="4814047"/>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Rectangle 9"/>
            <p:cNvSpPr/>
            <p:nvPr/>
          </p:nvSpPr>
          <p:spPr>
            <a:xfrm>
              <a:off x="1901896" y="4814047"/>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853844" y="4814047"/>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9" name="Rectangle 28"/>
            <p:cNvSpPr/>
            <p:nvPr/>
          </p:nvSpPr>
          <p:spPr>
            <a:xfrm>
              <a:off x="449570" y="4217773"/>
              <a:ext cx="3745911" cy="1510674"/>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pic>
        <p:nvPicPr>
          <p:cNvPr id="46" name="Picture 45"/>
          <p:cNvPicPr>
            <a:picLocks noChangeAspect="1"/>
          </p:cNvPicPr>
          <p:nvPr/>
        </p:nvPicPr>
        <p:blipFill rotWithShape="1">
          <a:blip r:embed="rId6">
            <a:extLst>
              <a:ext uri="{28A0092B-C50C-407E-A947-70E740481C1C}">
                <a14:useLocalDpi xmlns:a14="http://schemas.microsoft.com/office/drawing/2010/main" val="0"/>
              </a:ext>
            </a:extLst>
          </a:blip>
          <a:srcRect l="9414" t="56556" r="12585" b="10778"/>
          <a:stretch/>
        </p:blipFill>
        <p:spPr>
          <a:xfrm>
            <a:off x="453263" y="3994237"/>
            <a:ext cx="5428348" cy="1705058"/>
          </a:xfrm>
          <a:prstGeom prst="rect">
            <a:avLst/>
          </a:prstGeom>
        </p:spPr>
      </p:pic>
      <p:pic>
        <p:nvPicPr>
          <p:cNvPr id="47" name="Picture 46"/>
          <p:cNvPicPr>
            <a:picLocks noChangeAspect="1"/>
          </p:cNvPicPr>
          <p:nvPr/>
        </p:nvPicPr>
        <p:blipFill rotWithShape="1">
          <a:blip r:embed="rId7">
            <a:extLst>
              <a:ext uri="{28A0092B-C50C-407E-A947-70E740481C1C}">
                <a14:useLocalDpi xmlns:a14="http://schemas.microsoft.com/office/drawing/2010/main" val="0"/>
              </a:ext>
            </a:extLst>
          </a:blip>
          <a:srcRect l="20611" t="10404" r="39322" b="41048"/>
          <a:stretch/>
        </p:blipFill>
        <p:spPr>
          <a:xfrm>
            <a:off x="6061828" y="3832834"/>
            <a:ext cx="2352186" cy="2137538"/>
          </a:xfrm>
          <a:prstGeom prst="rect">
            <a:avLst/>
          </a:prstGeom>
        </p:spPr>
      </p:pic>
      <p:cxnSp>
        <p:nvCxnSpPr>
          <p:cNvPr id="51" name="Straight Arrow Connector 50"/>
          <p:cNvCxnSpPr>
            <a:endCxn id="52" idx="0"/>
          </p:cNvCxnSpPr>
          <p:nvPr/>
        </p:nvCxnSpPr>
        <p:spPr>
          <a:xfrm>
            <a:off x="1657350" y="5435600"/>
            <a:ext cx="6363" cy="824687"/>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1180247" y="6260287"/>
            <a:ext cx="966931" cy="307777"/>
          </a:xfrm>
          <a:prstGeom prst="rect">
            <a:avLst/>
          </a:prstGeom>
        </p:spPr>
        <p:txBody>
          <a:bodyPr wrap="none">
            <a:spAutoFit/>
          </a:bodyPr>
          <a:lstStyle/>
          <a:p>
            <a:r>
              <a:rPr lang="en-US" sz="1400" dirty="0" err="1"/>
              <a:t>Coldplate</a:t>
            </a:r>
            <a:endParaRPr lang="sv-SE" dirty="0"/>
          </a:p>
        </p:txBody>
      </p:sp>
      <p:sp>
        <p:nvSpPr>
          <p:cNvPr id="55" name="Rectangle 54"/>
          <p:cNvSpPr/>
          <p:nvPr/>
        </p:nvSpPr>
        <p:spPr>
          <a:xfrm>
            <a:off x="4355109" y="6294945"/>
            <a:ext cx="1465466" cy="307777"/>
          </a:xfrm>
          <a:prstGeom prst="rect">
            <a:avLst/>
          </a:prstGeom>
        </p:spPr>
        <p:txBody>
          <a:bodyPr wrap="none">
            <a:spAutoFit/>
          </a:bodyPr>
          <a:lstStyle/>
          <a:p>
            <a:r>
              <a:rPr lang="en-US" sz="1400" dirty="0"/>
              <a:t>Power Modules </a:t>
            </a:r>
            <a:endParaRPr lang="sv-SE" sz="1400" dirty="0"/>
          </a:p>
        </p:txBody>
      </p:sp>
      <p:sp>
        <p:nvSpPr>
          <p:cNvPr id="61" name="TextBox 60"/>
          <p:cNvSpPr txBox="1"/>
          <p:nvPr/>
        </p:nvSpPr>
        <p:spPr>
          <a:xfrm>
            <a:off x="6350937" y="6204894"/>
            <a:ext cx="1124123" cy="523220"/>
          </a:xfrm>
          <a:prstGeom prst="rect">
            <a:avLst/>
          </a:prstGeom>
          <a:noFill/>
        </p:spPr>
        <p:txBody>
          <a:bodyPr wrap="square" rtlCol="0">
            <a:spAutoFit/>
          </a:bodyPr>
          <a:lstStyle/>
          <a:p>
            <a:pPr algn="ctr"/>
            <a:r>
              <a:rPr lang="en-US" sz="1400" dirty="0" smtClean="0"/>
              <a:t>Laminated </a:t>
            </a:r>
          </a:p>
          <a:p>
            <a:pPr algn="ctr"/>
            <a:r>
              <a:rPr lang="en-US" sz="1400" dirty="0" err="1" smtClean="0"/>
              <a:t>Busbar</a:t>
            </a:r>
            <a:endParaRPr lang="sv-SE" sz="1400" dirty="0"/>
          </a:p>
        </p:txBody>
      </p:sp>
      <p:pic>
        <p:nvPicPr>
          <p:cNvPr id="62" name="Picture 61"/>
          <p:cNvPicPr>
            <a:picLocks noChangeAspect="1"/>
          </p:cNvPicPr>
          <p:nvPr/>
        </p:nvPicPr>
        <p:blipFill rotWithShape="1">
          <a:blip r:embed="rId8">
            <a:extLst>
              <a:ext uri="{28A0092B-C50C-407E-A947-70E740481C1C}">
                <a14:useLocalDpi xmlns:a14="http://schemas.microsoft.com/office/drawing/2010/main" val="0"/>
              </a:ext>
            </a:extLst>
          </a:blip>
          <a:srcRect l="22469" t="43333" r="19506" b="12870"/>
          <a:stretch/>
        </p:blipFill>
        <p:spPr>
          <a:xfrm>
            <a:off x="8844938" y="3771660"/>
            <a:ext cx="2342439" cy="2357391"/>
          </a:xfrm>
          <a:prstGeom prst="rect">
            <a:avLst/>
          </a:prstGeom>
        </p:spPr>
      </p:pic>
      <p:cxnSp>
        <p:nvCxnSpPr>
          <p:cNvPr id="65" name="Straight Arrow Connector 64"/>
          <p:cNvCxnSpPr>
            <a:endCxn id="55" idx="0"/>
          </p:cNvCxnSpPr>
          <p:nvPr/>
        </p:nvCxnSpPr>
        <p:spPr>
          <a:xfrm>
            <a:off x="5069302" y="5543550"/>
            <a:ext cx="18540" cy="751395"/>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6864350" y="5699295"/>
            <a:ext cx="27072" cy="560992"/>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7966154" y="4826000"/>
            <a:ext cx="24406" cy="1486616"/>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sp>
        <p:nvSpPr>
          <p:cNvPr id="69" name="Rectangle 68"/>
          <p:cNvSpPr/>
          <p:nvPr/>
        </p:nvSpPr>
        <p:spPr>
          <a:xfrm>
            <a:off x="7541032" y="6312616"/>
            <a:ext cx="974947" cy="307777"/>
          </a:xfrm>
          <a:prstGeom prst="rect">
            <a:avLst/>
          </a:prstGeom>
        </p:spPr>
        <p:txBody>
          <a:bodyPr wrap="none">
            <a:spAutoFit/>
          </a:bodyPr>
          <a:lstStyle/>
          <a:p>
            <a:r>
              <a:rPr lang="en-US" sz="1400" dirty="0"/>
              <a:t>Capacitor</a:t>
            </a:r>
            <a:endParaRPr lang="sv-SE" sz="1400" dirty="0"/>
          </a:p>
        </p:txBody>
      </p:sp>
      <p:cxnSp>
        <p:nvCxnSpPr>
          <p:cNvPr id="71" name="Straight Arrow Connector 70"/>
          <p:cNvCxnSpPr/>
          <p:nvPr/>
        </p:nvCxnSpPr>
        <p:spPr>
          <a:xfrm>
            <a:off x="10750550" y="5722642"/>
            <a:ext cx="31750" cy="572304"/>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10114975" y="6294945"/>
            <a:ext cx="1359475" cy="307777"/>
          </a:xfrm>
          <a:prstGeom prst="rect">
            <a:avLst/>
          </a:prstGeom>
          <a:noFill/>
        </p:spPr>
        <p:txBody>
          <a:bodyPr wrap="square" rtlCol="0">
            <a:spAutoFit/>
          </a:bodyPr>
          <a:lstStyle/>
          <a:p>
            <a:r>
              <a:rPr lang="en-US" sz="1400" dirty="0" smtClean="0"/>
              <a:t>Gate Driver</a:t>
            </a:r>
            <a:endParaRPr lang="sv-SE" sz="1400" dirty="0"/>
          </a:p>
        </p:txBody>
      </p:sp>
    </p:spTree>
    <p:extLst>
      <p:ext uri="{BB962C8B-B14F-4D97-AF65-F5344CB8AC3E}">
        <p14:creationId xmlns:p14="http://schemas.microsoft.com/office/powerpoint/2010/main" val="36761956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Parasitic Inductances (Switching Speed Limitation)</a:t>
            </a:r>
            <a:endParaRPr lang="sv-SE" dirty="0">
              <a:latin typeface="Times New Roman" panose="02020603050405020304" pitchFamily="18" charset="0"/>
              <a:cs typeface="Times New Roman" panose="02020603050405020304" pitchFamily="18" charset="0"/>
            </a:endParaRPr>
          </a:p>
        </p:txBody>
      </p:sp>
      <p:graphicFrame>
        <p:nvGraphicFramePr>
          <p:cNvPr id="31" name="Table 30"/>
          <p:cNvGraphicFramePr>
            <a:graphicFrameLocks noGrp="1"/>
          </p:cNvGraphicFramePr>
          <p:nvPr>
            <p:extLst>
              <p:ext uri="{D42A27DB-BD31-4B8C-83A1-F6EECF244321}">
                <p14:modId xmlns:p14="http://schemas.microsoft.com/office/powerpoint/2010/main" val="1616384414"/>
              </p:ext>
            </p:extLst>
          </p:nvPr>
        </p:nvGraphicFramePr>
        <p:xfrm>
          <a:off x="3355984" y="1207770"/>
          <a:ext cx="4540241" cy="1474087"/>
        </p:xfrm>
        <a:graphic>
          <a:graphicData uri="http://schemas.openxmlformats.org/drawingml/2006/table">
            <a:tbl>
              <a:tblPr/>
              <a:tblGrid>
                <a:gridCol w="2326637">
                  <a:extLst>
                    <a:ext uri="{9D8B030D-6E8A-4147-A177-3AD203B41FA5}">
                      <a16:colId xmlns:a16="http://schemas.microsoft.com/office/drawing/2014/main" val="2465863165"/>
                    </a:ext>
                  </a:extLst>
                </a:gridCol>
                <a:gridCol w="2213604">
                  <a:extLst>
                    <a:ext uri="{9D8B030D-6E8A-4147-A177-3AD203B41FA5}">
                      <a16:colId xmlns:a16="http://schemas.microsoft.com/office/drawing/2014/main" val="471941430"/>
                    </a:ext>
                  </a:extLst>
                </a:gridCol>
              </a:tblGrid>
              <a:tr h="376807">
                <a:tc>
                  <a:txBody>
                    <a:bodyPr/>
                    <a:lstStyle/>
                    <a:p>
                      <a:r>
                        <a:rPr lang="en-US" b="1" dirty="0" smtClean="0"/>
                        <a:t>Parasitic</a:t>
                      </a:r>
                      <a:r>
                        <a:rPr lang="en-US" b="1" baseline="0" dirty="0" smtClean="0"/>
                        <a:t> Sources</a:t>
                      </a:r>
                      <a:endParaRPr lang="sv-SE" b="1"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smtClean="0"/>
                        <a:t>Inductance </a:t>
                      </a:r>
                      <a:endParaRPr lang="sv-SE" b="1"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615574"/>
                  </a:ext>
                </a:extLst>
              </a:tr>
              <a:tr h="278258">
                <a:tc>
                  <a:txBody>
                    <a:bodyPr/>
                    <a:lstStyle/>
                    <a:p>
                      <a:r>
                        <a:rPr lang="en-US" dirty="0" smtClean="0"/>
                        <a:t>Power module</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50</a:t>
                      </a:r>
                      <a:r>
                        <a:rPr lang="en-US" baseline="0" dirty="0" smtClean="0"/>
                        <a:t> </a:t>
                      </a:r>
                      <a:r>
                        <a:rPr lang="en-US" baseline="0" dirty="0" err="1" smtClean="0"/>
                        <a:t>nH</a:t>
                      </a:r>
                      <a:endParaRPr lang="sv-SE" dirty="0"/>
                    </a:p>
                  </a:txBody>
                  <a:tcPr>
                    <a:lnL w="12700" cmpd="sng">
                      <a:solidFill>
                        <a:schemeClr val="tx1"/>
                      </a:solid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7665588"/>
                  </a:ext>
                </a:extLst>
              </a:tr>
              <a:tr h="278258">
                <a:tc>
                  <a:txBody>
                    <a:bodyPr/>
                    <a:lstStyle/>
                    <a:p>
                      <a:r>
                        <a:rPr lang="en-US" dirty="0" smtClean="0"/>
                        <a:t>Capacitor ESL</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US" dirty="0" smtClean="0"/>
                        <a:t>50nH</a:t>
                      </a:r>
                      <a:endParaRPr lang="sv-SE"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0047769"/>
                  </a:ext>
                </a:extLst>
              </a:tr>
              <a:tr h="278258">
                <a:tc>
                  <a:txBody>
                    <a:bodyPr/>
                    <a:lstStyle/>
                    <a:p>
                      <a:r>
                        <a:rPr lang="en-US" dirty="0" err="1" smtClean="0"/>
                        <a:t>Busbar</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noFill/>
                      <a:prstDash val="solid"/>
                      <a:round/>
                      <a:headEnd type="none" w="med" len="med"/>
                      <a:tailEnd type="none" w="med" len="med"/>
                    </a:lnB>
                  </a:tcPr>
                </a:tc>
                <a:tc>
                  <a:txBody>
                    <a:bodyPr/>
                    <a:lstStyle/>
                    <a:p>
                      <a:r>
                        <a:rPr lang="en-US" dirty="0" smtClean="0"/>
                        <a:t>Overall &lt;20nH</a:t>
                      </a:r>
                      <a:endParaRPr lang="sv-SE"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solidFill>
                        <a:schemeClr val="tx1"/>
                      </a:solidFill>
                      <a:prstDash val="solid"/>
                    </a:lnT>
                    <a:lnB w="12700" cap="flat" cmpd="sng" algn="ctr">
                      <a:noFill/>
                      <a:prstDash val="solid"/>
                      <a:round/>
                      <a:headEnd type="none" w="med" len="med"/>
                      <a:tailEnd type="none" w="med" len="med"/>
                    </a:lnB>
                  </a:tcPr>
                </a:tc>
                <a:extLst>
                  <a:ext uri="{0D108BD9-81ED-4DB2-BD59-A6C34878D82A}">
                    <a16:rowId xmlns:a16="http://schemas.microsoft.com/office/drawing/2014/main" val="2544227180"/>
                  </a:ext>
                </a:extLst>
              </a:tr>
            </a:tbl>
          </a:graphicData>
        </a:graphic>
      </p:graphicFrame>
      <p:pic>
        <p:nvPicPr>
          <p:cNvPr id="32" name="Picture 31"/>
          <p:cNvPicPr>
            <a:picLocks noChangeAspect="1"/>
          </p:cNvPicPr>
          <p:nvPr/>
        </p:nvPicPr>
        <p:blipFill rotWithShape="1">
          <a:blip r:embed="rId2"/>
          <a:srcRect t="7832"/>
          <a:stretch/>
        </p:blipFill>
        <p:spPr>
          <a:xfrm>
            <a:off x="1645956" y="2681857"/>
            <a:ext cx="7578584" cy="3484844"/>
          </a:xfrm>
          <a:prstGeom prst="rect">
            <a:avLst/>
          </a:prstGeom>
        </p:spPr>
      </p:pic>
    </p:spTree>
    <p:extLst>
      <p:ext uri="{BB962C8B-B14F-4D97-AF65-F5344CB8AC3E}">
        <p14:creationId xmlns:p14="http://schemas.microsoft.com/office/powerpoint/2010/main" val="2978083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Parasitic Inductances (Switching Speed Limitation)</a:t>
            </a:r>
            <a:endParaRPr lang="sv-SE"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03672486"/>
              </p:ext>
            </p:extLst>
          </p:nvPr>
        </p:nvGraphicFramePr>
        <p:xfrm>
          <a:off x="549440" y="1247446"/>
          <a:ext cx="10589615" cy="742567"/>
        </p:xfrm>
        <a:graphic>
          <a:graphicData uri="http://schemas.openxmlformats.org/drawingml/2006/table">
            <a:tbl>
              <a:tblPr/>
              <a:tblGrid>
                <a:gridCol w="3648025">
                  <a:extLst>
                    <a:ext uri="{9D8B030D-6E8A-4147-A177-3AD203B41FA5}">
                      <a16:colId xmlns:a16="http://schemas.microsoft.com/office/drawing/2014/main" val="2465863165"/>
                    </a:ext>
                  </a:extLst>
                </a:gridCol>
                <a:gridCol w="3470795">
                  <a:extLst>
                    <a:ext uri="{9D8B030D-6E8A-4147-A177-3AD203B41FA5}">
                      <a16:colId xmlns:a16="http://schemas.microsoft.com/office/drawing/2014/main" val="471941430"/>
                    </a:ext>
                  </a:extLst>
                </a:gridCol>
                <a:gridCol w="3470795">
                  <a:extLst>
                    <a:ext uri="{9D8B030D-6E8A-4147-A177-3AD203B41FA5}">
                      <a16:colId xmlns:a16="http://schemas.microsoft.com/office/drawing/2014/main" val="3986868260"/>
                    </a:ext>
                  </a:extLst>
                </a:gridCol>
              </a:tblGrid>
              <a:tr h="376807">
                <a:tc>
                  <a:txBody>
                    <a:bodyPr/>
                    <a:lstStyle/>
                    <a:p>
                      <a:pPr algn="ctr"/>
                      <a:r>
                        <a:rPr lang="en-US" b="1" dirty="0" smtClean="0"/>
                        <a:t>Maximum Current (</a:t>
                      </a:r>
                      <a:r>
                        <a:rPr lang="en-US" b="1" dirty="0" err="1" smtClean="0"/>
                        <a:t>MaxA</a:t>
                      </a:r>
                      <a:r>
                        <a:rPr lang="en-US" b="1" dirty="0" smtClean="0"/>
                        <a:t>)</a:t>
                      </a:r>
                      <a:r>
                        <a:rPr lang="en-US" b="1" baseline="0" dirty="0" smtClean="0"/>
                        <a:t> (</a:t>
                      </a:r>
                      <a:r>
                        <a:rPr lang="en-US" b="1" baseline="0" dirty="0" err="1" smtClean="0"/>
                        <a:t>inA</a:t>
                      </a:r>
                      <a:r>
                        <a:rPr lang="en-US" b="1" baseline="0" dirty="0" smtClean="0"/>
                        <a:t>)</a:t>
                      </a:r>
                      <a:endParaRPr lang="sv-SE" b="1"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dv/</a:t>
                      </a:r>
                      <a:r>
                        <a:rPr lang="en-US" b="1" dirty="0" err="1" smtClean="0"/>
                        <a:t>dt</a:t>
                      </a:r>
                      <a:r>
                        <a:rPr lang="en-US" b="1" dirty="0" smtClean="0"/>
                        <a:t>  (in V/</a:t>
                      </a:r>
                      <a:r>
                        <a:rPr lang="en-US" b="1" dirty="0" err="1" smtClean="0"/>
                        <a:t>nS</a:t>
                      </a:r>
                      <a:r>
                        <a:rPr lang="en-US" b="1" dirty="0" smtClean="0"/>
                        <a:t>) @</a:t>
                      </a:r>
                      <a:r>
                        <a:rPr lang="en-US" b="1" baseline="0" dirty="0" smtClean="0"/>
                        <a:t> </a:t>
                      </a:r>
                      <a:r>
                        <a:rPr lang="en-US" b="1" dirty="0" err="1" smtClean="0"/>
                        <a:t>MaxA</a:t>
                      </a:r>
                      <a:endParaRPr lang="sv-SE"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smtClean="0"/>
                        <a:t>Overshoot (in %) @</a:t>
                      </a:r>
                      <a:r>
                        <a:rPr lang="en-US" b="1" baseline="0" dirty="0" smtClean="0"/>
                        <a:t> </a:t>
                      </a:r>
                      <a:r>
                        <a:rPr lang="en-US" b="1" dirty="0" err="1" smtClean="0"/>
                        <a:t>MaxA</a:t>
                      </a:r>
                      <a:endParaRPr lang="sv-SE" b="1" dirty="0" smtClean="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615574"/>
                  </a:ext>
                </a:extLst>
              </a:tr>
              <a:tr h="278258">
                <a:tc>
                  <a:txBody>
                    <a:bodyPr/>
                    <a:lstStyle/>
                    <a:p>
                      <a:pPr algn="ctr"/>
                      <a:r>
                        <a:rPr lang="en-US" dirty="0" smtClean="0"/>
                        <a:t>380 A</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dirty="0" smtClean="0"/>
                        <a:t>35 V/ns</a:t>
                      </a:r>
                      <a:endParaRPr lang="sv-SE"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dirty="0" smtClean="0"/>
                        <a:t>40 %</a:t>
                      </a:r>
                      <a:endParaRPr lang="sv-SE" dirty="0"/>
                    </a:p>
                  </a:txBody>
                  <a:tcPr>
                    <a:lnL w="12700" cmpd="sng">
                      <a:solidFill>
                        <a:schemeClr val="tx1"/>
                      </a:solid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7665588"/>
                  </a:ext>
                </a:extLst>
              </a:tr>
            </a:tbl>
          </a:graphicData>
        </a:graphic>
      </p:graphicFrame>
      <p:pic>
        <p:nvPicPr>
          <p:cNvPr id="6" name="Picture 5"/>
          <p:cNvPicPr>
            <a:picLocks noChangeAspect="1"/>
          </p:cNvPicPr>
          <p:nvPr/>
        </p:nvPicPr>
        <p:blipFill>
          <a:blip r:embed="rId2"/>
          <a:stretch>
            <a:fillRect/>
          </a:stretch>
        </p:blipFill>
        <p:spPr>
          <a:xfrm>
            <a:off x="1597214" y="2361735"/>
            <a:ext cx="8599260" cy="2171873"/>
          </a:xfrm>
          <a:prstGeom prst="rect">
            <a:avLst/>
          </a:prstGeom>
        </p:spPr>
      </p:pic>
      <p:sp>
        <p:nvSpPr>
          <p:cNvPr id="9" name="Rectangle 8"/>
          <p:cNvSpPr/>
          <p:nvPr/>
        </p:nvSpPr>
        <p:spPr>
          <a:xfrm>
            <a:off x="2585601" y="4882506"/>
            <a:ext cx="1957587" cy="369332"/>
          </a:xfrm>
          <a:prstGeom prst="rect">
            <a:avLst/>
          </a:prstGeom>
        </p:spPr>
        <p:txBody>
          <a:bodyPr wrap="none">
            <a:spAutoFit/>
          </a:bodyPr>
          <a:lstStyle/>
          <a:p>
            <a:r>
              <a:rPr lang="en-US" dirty="0" smtClean="0"/>
              <a:t>Phase-A Current</a:t>
            </a:r>
            <a:endParaRPr lang="sv-SE" dirty="0"/>
          </a:p>
        </p:txBody>
      </p:sp>
      <p:sp>
        <p:nvSpPr>
          <p:cNvPr id="14" name="Rectangle 13"/>
          <p:cNvSpPr/>
          <p:nvPr/>
        </p:nvSpPr>
        <p:spPr>
          <a:xfrm>
            <a:off x="5498737" y="4882506"/>
            <a:ext cx="1885453" cy="369332"/>
          </a:xfrm>
          <a:prstGeom prst="rect">
            <a:avLst/>
          </a:prstGeom>
        </p:spPr>
        <p:txBody>
          <a:bodyPr wrap="none">
            <a:spAutoFit/>
          </a:bodyPr>
          <a:lstStyle/>
          <a:p>
            <a:r>
              <a:rPr lang="en-US" dirty="0" smtClean="0"/>
              <a:t>Phase-B Current</a:t>
            </a:r>
            <a:endParaRPr lang="sv-SE" dirty="0"/>
          </a:p>
        </p:txBody>
      </p:sp>
      <p:sp>
        <p:nvSpPr>
          <p:cNvPr id="15" name="Rectangle 14"/>
          <p:cNvSpPr/>
          <p:nvPr/>
        </p:nvSpPr>
        <p:spPr>
          <a:xfrm>
            <a:off x="8226697" y="4882506"/>
            <a:ext cx="1911101" cy="369332"/>
          </a:xfrm>
          <a:prstGeom prst="rect">
            <a:avLst/>
          </a:prstGeom>
        </p:spPr>
        <p:txBody>
          <a:bodyPr wrap="none">
            <a:spAutoFit/>
          </a:bodyPr>
          <a:lstStyle/>
          <a:p>
            <a:r>
              <a:rPr lang="en-US" dirty="0" smtClean="0"/>
              <a:t>Phase-C Current</a:t>
            </a:r>
            <a:endParaRPr lang="sv-SE" dirty="0"/>
          </a:p>
        </p:txBody>
      </p:sp>
      <p:cxnSp>
        <p:nvCxnSpPr>
          <p:cNvPr id="20" name="Straight Arrow Connector 19"/>
          <p:cNvCxnSpPr/>
          <p:nvPr/>
        </p:nvCxnSpPr>
        <p:spPr>
          <a:xfrm flipH="1">
            <a:off x="6354704" y="4407180"/>
            <a:ext cx="1" cy="540209"/>
          </a:xfrm>
          <a:prstGeom prst="straightConnector1">
            <a:avLst/>
          </a:prstGeom>
          <a:ln w="12700">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9182248" y="4407180"/>
            <a:ext cx="1" cy="540209"/>
          </a:xfrm>
          <a:prstGeom prst="straightConnector1">
            <a:avLst/>
          </a:prstGeom>
          <a:ln w="12700">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3590679" y="4407181"/>
            <a:ext cx="1" cy="540209"/>
          </a:xfrm>
          <a:prstGeom prst="straightConnector1">
            <a:avLst/>
          </a:prstGeom>
          <a:ln w="12700">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4972691" y="4112819"/>
            <a:ext cx="2" cy="1510741"/>
          </a:xfrm>
          <a:prstGeom prst="straightConnector1">
            <a:avLst/>
          </a:prstGeom>
          <a:ln w="12700">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779095" y="5623560"/>
            <a:ext cx="2387192" cy="923330"/>
          </a:xfrm>
          <a:prstGeom prst="rect">
            <a:avLst/>
          </a:prstGeom>
        </p:spPr>
        <p:txBody>
          <a:bodyPr wrap="none">
            <a:spAutoFit/>
          </a:bodyPr>
          <a:lstStyle/>
          <a:p>
            <a:pPr algn="ctr"/>
            <a:r>
              <a:rPr lang="en-US" dirty="0" smtClean="0"/>
              <a:t>Drain-source Voltage</a:t>
            </a:r>
          </a:p>
          <a:p>
            <a:pPr algn="ctr"/>
            <a:r>
              <a:rPr lang="en-US" dirty="0" smtClean="0"/>
              <a:t>Leg-A </a:t>
            </a:r>
          </a:p>
          <a:p>
            <a:pPr algn="ctr"/>
            <a:r>
              <a:rPr lang="en-US" dirty="0" smtClean="0"/>
              <a:t>Bottom Switch</a:t>
            </a:r>
          </a:p>
        </p:txBody>
      </p:sp>
    </p:spTree>
    <p:extLst>
      <p:ext uri="{BB962C8B-B14F-4D97-AF65-F5344CB8AC3E}">
        <p14:creationId xmlns:p14="http://schemas.microsoft.com/office/powerpoint/2010/main" val="16343165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Gate Driver and Sensors (that we consider to use)</a:t>
            </a:r>
            <a:endParaRPr lang="sv-SE"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2833" t="29556" r="16500" b="15556"/>
          <a:stretch/>
        </p:blipFill>
        <p:spPr>
          <a:xfrm>
            <a:off x="798195" y="1362075"/>
            <a:ext cx="3348603" cy="1950719"/>
          </a:xfrm>
          <a:prstGeom prst="rect">
            <a:avLst/>
          </a:prstGeom>
        </p:spPr>
      </p:pic>
      <p:sp>
        <p:nvSpPr>
          <p:cNvPr id="5" name="Rectangle 4"/>
          <p:cNvSpPr/>
          <p:nvPr/>
        </p:nvSpPr>
        <p:spPr>
          <a:xfrm>
            <a:off x="381924" y="3749224"/>
            <a:ext cx="4181145" cy="1015663"/>
          </a:xfrm>
          <a:prstGeom prst="rect">
            <a:avLst/>
          </a:prstGeom>
        </p:spPr>
        <p:txBody>
          <a:bodyPr wrap="none">
            <a:spAutoFit/>
          </a:bodyPr>
          <a:lstStyle/>
          <a:p>
            <a:pPr algn="ctr"/>
            <a:r>
              <a:rPr lang="sv-SE" sz="2000" b="1" dirty="0" smtClean="0">
                <a:latin typeface="Times New Roman" panose="02020603050405020304" pitchFamily="18" charset="0"/>
                <a:cs typeface="Times New Roman" panose="02020603050405020304" pitchFamily="18" charset="0"/>
              </a:rPr>
              <a:t>Gate Driver: </a:t>
            </a:r>
            <a:r>
              <a:rPr lang="sv-SE" sz="2000" b="1" dirty="0" err="1" smtClean="0">
                <a:latin typeface="Times New Roman" panose="02020603050405020304" pitchFamily="18" charset="0"/>
                <a:cs typeface="Times New Roman" panose="02020603050405020304" pitchFamily="18" charset="0"/>
              </a:rPr>
              <a:t>Evaluation</a:t>
            </a:r>
            <a:r>
              <a:rPr lang="sv-SE" sz="2000" b="1" dirty="0" smtClean="0">
                <a:latin typeface="Times New Roman" panose="02020603050405020304" pitchFamily="18" charset="0"/>
                <a:cs typeface="Times New Roman" panose="02020603050405020304" pitchFamily="18" charset="0"/>
              </a:rPr>
              <a:t> Board </a:t>
            </a:r>
            <a:r>
              <a:rPr lang="sv-SE" sz="2000" b="1" dirty="0" err="1" smtClean="0">
                <a:latin typeface="Times New Roman" panose="02020603050405020304" pitchFamily="18" charset="0"/>
                <a:cs typeface="Times New Roman" panose="02020603050405020304" pitchFamily="18" charset="0"/>
              </a:rPr>
              <a:t>Cree</a:t>
            </a:r>
            <a:endParaRPr lang="sv-SE" sz="2000" b="1" dirty="0">
              <a:latin typeface="Times New Roman" panose="02020603050405020304" pitchFamily="18" charset="0"/>
              <a:cs typeface="Times New Roman" panose="02020603050405020304" pitchFamily="18" charset="0"/>
            </a:endParaRPr>
          </a:p>
          <a:p>
            <a:pPr algn="ctr"/>
            <a:r>
              <a:rPr lang="sv-SE" sz="2000" dirty="0" smtClean="0">
                <a:solidFill>
                  <a:srgbClr val="000000"/>
                </a:solidFill>
                <a:latin typeface="Times New Roman" panose="02020603050405020304" pitchFamily="18" charset="0"/>
                <a:cs typeface="Times New Roman" panose="02020603050405020304" pitchFamily="18" charset="0"/>
              </a:rPr>
              <a:t>CGD1200HB2P</a:t>
            </a:r>
          </a:p>
          <a:p>
            <a:pPr algn="ctr"/>
            <a:r>
              <a:rPr lang="en-US" sz="2000" dirty="0" smtClean="0">
                <a:solidFill>
                  <a:srgbClr val="000000"/>
                </a:solidFill>
                <a:latin typeface="Times New Roman" panose="02020603050405020304" pitchFamily="18" charset="0"/>
                <a:cs typeface="Times New Roman" panose="02020603050405020304" pitchFamily="18" charset="0"/>
              </a:rPr>
              <a:t>20V -5V</a:t>
            </a:r>
            <a:endParaRPr lang="sv-SE" sz="20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5379253" y="1362075"/>
            <a:ext cx="2200275" cy="2316879"/>
          </a:xfrm>
          <a:prstGeom prst="rect">
            <a:avLst/>
          </a:prstGeom>
        </p:spPr>
      </p:pic>
      <p:sp>
        <p:nvSpPr>
          <p:cNvPr id="10" name="Rectangle 9"/>
          <p:cNvSpPr/>
          <p:nvPr/>
        </p:nvSpPr>
        <p:spPr>
          <a:xfrm>
            <a:off x="4751546" y="3749224"/>
            <a:ext cx="3455690" cy="1015663"/>
          </a:xfrm>
          <a:prstGeom prst="rect">
            <a:avLst/>
          </a:prstGeom>
        </p:spPr>
        <p:txBody>
          <a:bodyPr wrap="none">
            <a:spAutoFit/>
          </a:bodyPr>
          <a:lstStyle/>
          <a:p>
            <a:pPr algn="ctr"/>
            <a:r>
              <a:rPr lang="sv-SE" sz="2000" b="1" dirty="0" err="1">
                <a:latin typeface="Times New Roman" panose="02020603050405020304" pitchFamily="18" charset="0"/>
                <a:cs typeface="Times New Roman" panose="02020603050405020304" pitchFamily="18" charset="0"/>
              </a:rPr>
              <a:t>Current</a:t>
            </a:r>
            <a:r>
              <a:rPr lang="sv-SE" sz="2000" b="1" dirty="0">
                <a:latin typeface="Times New Roman" panose="02020603050405020304" pitchFamily="18" charset="0"/>
                <a:cs typeface="Times New Roman" panose="02020603050405020304" pitchFamily="18" charset="0"/>
              </a:rPr>
              <a:t> </a:t>
            </a:r>
            <a:r>
              <a:rPr lang="sv-SE" sz="2000" b="1" dirty="0" err="1">
                <a:latin typeface="Times New Roman" panose="02020603050405020304" pitchFamily="18" charset="0"/>
                <a:cs typeface="Times New Roman" panose="02020603050405020304" pitchFamily="18" charset="0"/>
              </a:rPr>
              <a:t>Transducer</a:t>
            </a:r>
            <a:r>
              <a:rPr lang="sv-SE" sz="2000" b="1" dirty="0">
                <a:latin typeface="Times New Roman" panose="02020603050405020304" pitchFamily="18" charset="0"/>
                <a:cs typeface="Times New Roman" panose="02020603050405020304" pitchFamily="18" charset="0"/>
              </a:rPr>
              <a:t> LF </a:t>
            </a:r>
            <a:r>
              <a:rPr lang="sv-SE" sz="2000" b="1" dirty="0" smtClean="0">
                <a:latin typeface="Times New Roman" panose="02020603050405020304" pitchFamily="18" charset="0"/>
                <a:cs typeface="Times New Roman" panose="02020603050405020304" pitchFamily="18" charset="0"/>
              </a:rPr>
              <a:t>310-S</a:t>
            </a:r>
          </a:p>
          <a:p>
            <a:pPr algn="ctr"/>
            <a:r>
              <a:rPr lang="en-US" sz="2000" dirty="0" smtClean="0">
                <a:latin typeface="Times New Roman" panose="02020603050405020304" pitchFamily="18" charset="0"/>
                <a:cs typeface="Times New Roman" panose="02020603050405020304" pitchFamily="18" charset="0"/>
              </a:rPr>
              <a:t>300A (RMS)</a:t>
            </a:r>
          </a:p>
          <a:p>
            <a:pPr algn="ctr"/>
            <a:r>
              <a:rPr lang="en-US" sz="2000" dirty="0" smtClean="0">
                <a:latin typeface="Times New Roman" panose="02020603050405020304" pitchFamily="18" charset="0"/>
                <a:cs typeface="Times New Roman" panose="02020603050405020304" pitchFamily="18" charset="0"/>
              </a:rPr>
              <a:t>100kHz </a:t>
            </a:r>
            <a:r>
              <a:rPr lang="en-US" sz="2000" dirty="0" err="1" smtClean="0">
                <a:latin typeface="Times New Roman" panose="02020603050405020304" pitchFamily="18" charset="0"/>
                <a:cs typeface="Times New Roman" panose="02020603050405020304" pitchFamily="18" charset="0"/>
              </a:rPr>
              <a:t>Bandwith</a:t>
            </a:r>
            <a:endParaRPr lang="sv-SE" sz="2000"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639941" y="5748349"/>
            <a:ext cx="7013714"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Scania's suggestions? </a:t>
            </a:r>
            <a:r>
              <a:rPr lang="en-US" sz="2400" dirty="0" smtClean="0">
                <a:latin typeface="Times New Roman" panose="02020603050405020304" pitchFamily="18" charset="0"/>
                <a:cs typeface="Times New Roman" panose="02020603050405020304" pitchFamily="18" charset="0"/>
              </a:rPr>
              <a:t> The </a:t>
            </a:r>
            <a:r>
              <a:rPr lang="en-US" sz="2400" dirty="0">
                <a:latin typeface="Times New Roman" panose="02020603050405020304" pitchFamily="18" charset="0"/>
                <a:cs typeface="Times New Roman" panose="02020603050405020304" pitchFamily="18" charset="0"/>
              </a:rPr>
              <a:t>sensors that Scania uses?</a:t>
            </a:r>
            <a:endParaRPr lang="sv-SE" dirty="0">
              <a:latin typeface="Times New Roman" panose="02020603050405020304" pitchFamily="18" charset="0"/>
              <a:cs typeface="Times New Roman" panose="02020603050405020304" pitchFamily="18" charset="0"/>
            </a:endParaRPr>
          </a:p>
        </p:txBody>
      </p:sp>
      <p:pic>
        <p:nvPicPr>
          <p:cNvPr id="1026" name="Picture 2" descr="HV2 DC voltage sensor product imag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9050" y="1362075"/>
            <a:ext cx="2482850" cy="248285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8822228" y="3749223"/>
            <a:ext cx="2656496" cy="1015663"/>
          </a:xfrm>
          <a:prstGeom prst="rect">
            <a:avLst/>
          </a:prstGeom>
        </p:spPr>
        <p:txBody>
          <a:bodyPr wrap="none">
            <a:spAutoFit/>
          </a:bodyPr>
          <a:lstStyle/>
          <a:p>
            <a:pPr algn="ctr"/>
            <a:r>
              <a:rPr lang="sv-SE" sz="2000" b="1" dirty="0" err="1" smtClean="0">
                <a:latin typeface="Times New Roman" panose="02020603050405020304" pitchFamily="18" charset="0"/>
                <a:cs typeface="Times New Roman" panose="02020603050405020304" pitchFamily="18" charset="0"/>
              </a:rPr>
              <a:t>Accuenergy</a:t>
            </a:r>
            <a:r>
              <a:rPr lang="sv-SE" sz="2000" b="1" dirty="0" smtClean="0">
                <a:latin typeface="Times New Roman" panose="02020603050405020304" pitchFamily="18" charset="0"/>
                <a:cs typeface="Times New Roman" panose="02020603050405020304" pitchFamily="18" charset="0"/>
              </a:rPr>
              <a:t> HV2-1500</a:t>
            </a:r>
          </a:p>
          <a:p>
            <a:pPr algn="ctr"/>
            <a:r>
              <a:rPr lang="en-US" sz="2000" dirty="0" smtClean="0">
                <a:latin typeface="Times New Roman" panose="02020603050405020304" pitchFamily="18" charset="0"/>
                <a:cs typeface="Times New Roman" panose="02020603050405020304" pitchFamily="18" charset="0"/>
              </a:rPr>
              <a:t>1500V</a:t>
            </a:r>
          </a:p>
          <a:p>
            <a:pPr algn="ctr"/>
            <a:r>
              <a:rPr lang="en-US" sz="2000" dirty="0" smtClean="0">
                <a:latin typeface="Times New Roman" panose="02020603050405020304" pitchFamily="18" charset="0"/>
                <a:cs typeface="Times New Roman" panose="02020603050405020304" pitchFamily="18" charset="0"/>
              </a:rPr>
              <a:t>DC</a:t>
            </a:r>
            <a:endParaRPr lang="sv-SE"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39843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Cooling : </a:t>
            </a:r>
            <a:r>
              <a:rPr lang="en-US" dirty="0" smtClean="0">
                <a:latin typeface="Times New Roman" panose="02020603050405020304" pitchFamily="18" charset="0"/>
                <a:cs typeface="Times New Roman" panose="02020603050405020304" pitchFamily="18" charset="0"/>
              </a:rPr>
              <a:t>Six 62mm Power Modules (in a row)</a:t>
            </a:r>
            <a:endParaRPr lang="sv-SE"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9414" t="56556" r="12585" b="10778"/>
          <a:stretch/>
        </p:blipFill>
        <p:spPr>
          <a:xfrm>
            <a:off x="4891913" y="1552574"/>
            <a:ext cx="5428348" cy="1705058"/>
          </a:xfrm>
          <a:prstGeom prst="rect">
            <a:avLst/>
          </a:prstGeom>
        </p:spPr>
      </p:pic>
      <p:pic>
        <p:nvPicPr>
          <p:cNvPr id="5" name="Picture 4"/>
          <p:cNvPicPr>
            <a:picLocks noChangeAspect="1"/>
          </p:cNvPicPr>
          <p:nvPr/>
        </p:nvPicPr>
        <p:blipFill>
          <a:blip r:embed="rId3"/>
          <a:stretch>
            <a:fillRect/>
          </a:stretch>
        </p:blipFill>
        <p:spPr>
          <a:xfrm>
            <a:off x="468229" y="1780790"/>
            <a:ext cx="2742974" cy="2953684"/>
          </a:xfrm>
          <a:prstGeom prst="rect">
            <a:avLst/>
          </a:prstGeom>
        </p:spPr>
      </p:pic>
      <p:sp>
        <p:nvSpPr>
          <p:cNvPr id="2" name="Rectangle 1"/>
          <p:cNvSpPr/>
          <p:nvPr/>
        </p:nvSpPr>
        <p:spPr>
          <a:xfrm>
            <a:off x="853795" y="4824978"/>
            <a:ext cx="2262158" cy="646331"/>
          </a:xfrm>
          <a:prstGeom prst="rect">
            <a:avLst/>
          </a:prstGeom>
        </p:spPr>
        <p:txBody>
          <a:bodyPr wrap="none">
            <a:spAutoFit/>
          </a:bodyPr>
          <a:lstStyle/>
          <a:p>
            <a:pPr algn="ctr"/>
            <a:r>
              <a:rPr lang="sv-SE" b="1" dirty="0">
                <a:latin typeface="Times New Roman" panose="02020603050405020304" pitchFamily="18" charset="0"/>
                <a:cs typeface="Times New Roman" panose="02020603050405020304" pitchFamily="18" charset="0"/>
              </a:rPr>
              <a:t>LIQUID </a:t>
            </a:r>
            <a:r>
              <a:rPr lang="sv-SE" b="1" dirty="0" smtClean="0">
                <a:latin typeface="Times New Roman" panose="02020603050405020304" pitchFamily="18" charset="0"/>
                <a:cs typeface="Times New Roman" panose="02020603050405020304" pitchFamily="18" charset="0"/>
              </a:rPr>
              <a:t>COOLING </a:t>
            </a:r>
          </a:p>
          <a:p>
            <a:pPr algn="ctr"/>
            <a:r>
              <a:rPr lang="sv-SE" b="1" dirty="0" smtClean="0">
                <a:latin typeface="Times New Roman" panose="02020603050405020304" pitchFamily="18" charset="0"/>
                <a:cs typeface="Times New Roman" panose="02020603050405020304" pitchFamily="18" charset="0"/>
              </a:rPr>
              <a:t>Series </a:t>
            </a:r>
            <a:r>
              <a:rPr lang="sv-SE" b="1" dirty="0">
                <a:latin typeface="Times New Roman" panose="02020603050405020304" pitchFamily="18" charset="0"/>
                <a:cs typeface="Times New Roman" panose="02020603050405020304" pitchFamily="18" charset="0"/>
              </a:rPr>
              <a:t>KS</a:t>
            </a:r>
          </a:p>
        </p:txBody>
      </p:sp>
      <p:pic>
        <p:nvPicPr>
          <p:cNvPr id="6" name="Picture 5"/>
          <p:cNvPicPr>
            <a:picLocks noChangeAspect="1"/>
          </p:cNvPicPr>
          <p:nvPr/>
        </p:nvPicPr>
        <p:blipFill>
          <a:blip r:embed="rId4"/>
          <a:stretch>
            <a:fillRect/>
          </a:stretch>
        </p:blipFill>
        <p:spPr>
          <a:xfrm>
            <a:off x="3936013" y="3823392"/>
            <a:ext cx="4209460" cy="2431683"/>
          </a:xfrm>
          <a:prstGeom prst="rect">
            <a:avLst/>
          </a:prstGeom>
        </p:spPr>
      </p:pic>
      <p:pic>
        <p:nvPicPr>
          <p:cNvPr id="7" name="Picture 6"/>
          <p:cNvPicPr>
            <a:picLocks noChangeAspect="1"/>
          </p:cNvPicPr>
          <p:nvPr/>
        </p:nvPicPr>
        <p:blipFill>
          <a:blip r:embed="rId5"/>
          <a:stretch>
            <a:fillRect/>
          </a:stretch>
        </p:blipFill>
        <p:spPr>
          <a:xfrm>
            <a:off x="8240723" y="3710553"/>
            <a:ext cx="3733800" cy="2724150"/>
          </a:xfrm>
          <a:prstGeom prst="rect">
            <a:avLst/>
          </a:prstGeom>
        </p:spPr>
      </p:pic>
    </p:spTree>
    <p:extLst>
      <p:ext uri="{BB962C8B-B14F-4D97-AF65-F5344CB8AC3E}">
        <p14:creationId xmlns:p14="http://schemas.microsoft.com/office/powerpoint/2010/main" val="16010738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Control: Back-to-Back Inverter</a:t>
            </a:r>
            <a:endParaRPr lang="sv-SE"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217703" y="1047750"/>
            <a:ext cx="7885183" cy="3138487"/>
          </a:xfrm>
          <a:prstGeom prst="rect">
            <a:avLst/>
          </a:prstGeom>
        </p:spPr>
      </p:pic>
      <p:pic>
        <p:nvPicPr>
          <p:cNvPr id="1026" name="Picture 2" descr="2. Introduction to the Grid Connected Inverter — Lab assignment"/>
          <p:cNvPicPr>
            <a:picLocks noChangeAspect="1" noChangeArrowheads="1"/>
          </p:cNvPicPr>
          <p:nvPr/>
        </p:nvPicPr>
        <p:blipFill rotWithShape="1">
          <a:blip r:embed="rId3">
            <a:extLst>
              <a:ext uri="{28A0092B-C50C-407E-A947-70E740481C1C}">
                <a14:useLocalDpi xmlns:a14="http://schemas.microsoft.com/office/drawing/2010/main" val="0"/>
              </a:ext>
            </a:extLst>
          </a:blip>
          <a:srcRect l="11557" t="20458" r="11099"/>
          <a:stretch/>
        </p:blipFill>
        <p:spPr bwMode="auto">
          <a:xfrm>
            <a:off x="4966447" y="4381983"/>
            <a:ext cx="2342777" cy="120464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216365" y="4088684"/>
            <a:ext cx="672860" cy="353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err="1" smtClean="0">
                <a:solidFill>
                  <a:schemeClr val="tx1"/>
                </a:solidFill>
              </a:rPr>
              <a:t>I</a:t>
            </a:r>
            <a:r>
              <a:rPr lang="sv-SE" sz="1200" dirty="0" err="1" smtClean="0">
                <a:solidFill>
                  <a:schemeClr val="tx1"/>
                </a:solidFill>
              </a:rPr>
              <a:t>ph</a:t>
            </a:r>
            <a:endParaRPr lang="sv-SE" dirty="0">
              <a:solidFill>
                <a:schemeClr val="tx1"/>
              </a:solidFill>
            </a:endParaRPr>
          </a:p>
        </p:txBody>
      </p:sp>
      <p:sp>
        <p:nvSpPr>
          <p:cNvPr id="8" name="Rectangle 7"/>
          <p:cNvSpPr/>
          <p:nvPr/>
        </p:nvSpPr>
        <p:spPr>
          <a:xfrm>
            <a:off x="4271110" y="4667553"/>
            <a:ext cx="533803" cy="353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endParaRPr>
          </a:p>
        </p:txBody>
      </p:sp>
      <p:sp>
        <p:nvSpPr>
          <p:cNvPr id="9" name="Rectangle 8"/>
          <p:cNvSpPr/>
          <p:nvPr/>
        </p:nvSpPr>
        <p:spPr>
          <a:xfrm>
            <a:off x="4415493" y="4781012"/>
            <a:ext cx="590226" cy="338554"/>
          </a:xfrm>
          <a:prstGeom prst="rect">
            <a:avLst/>
          </a:prstGeom>
        </p:spPr>
        <p:txBody>
          <a:bodyPr wrap="none">
            <a:spAutoFit/>
          </a:bodyPr>
          <a:lstStyle/>
          <a:p>
            <a:pPr algn="ctr"/>
            <a:r>
              <a:rPr lang="sv-SE" sz="1600" dirty="0" smtClean="0"/>
              <a:t>V</a:t>
            </a:r>
            <a:r>
              <a:rPr lang="sv-SE" sz="1200" dirty="0" smtClean="0"/>
              <a:t>ph</a:t>
            </a:r>
            <a:r>
              <a:rPr lang="sv-SE" sz="1600" dirty="0"/>
              <a:t>1</a:t>
            </a:r>
            <a:endParaRPr lang="sv-SE" dirty="0"/>
          </a:p>
        </p:txBody>
      </p:sp>
      <p:sp>
        <p:nvSpPr>
          <p:cNvPr id="12" name="Rectangle 11"/>
          <p:cNvSpPr/>
          <p:nvPr/>
        </p:nvSpPr>
        <p:spPr>
          <a:xfrm>
            <a:off x="7239495" y="4744499"/>
            <a:ext cx="620683" cy="338554"/>
          </a:xfrm>
          <a:prstGeom prst="rect">
            <a:avLst/>
          </a:prstGeom>
        </p:spPr>
        <p:txBody>
          <a:bodyPr wrap="none">
            <a:spAutoFit/>
          </a:bodyPr>
          <a:lstStyle/>
          <a:p>
            <a:pPr algn="ctr"/>
            <a:r>
              <a:rPr lang="sv-SE" sz="1600" dirty="0" smtClean="0"/>
              <a:t>V</a:t>
            </a:r>
            <a:r>
              <a:rPr lang="sv-SE" sz="1200" dirty="0" smtClean="0"/>
              <a:t>ph</a:t>
            </a:r>
            <a:r>
              <a:rPr lang="sv-SE" sz="1600" dirty="0" smtClean="0"/>
              <a:t>2</a:t>
            </a:r>
            <a:endParaRPr lang="sv-SE" dirty="0"/>
          </a:p>
        </p:txBody>
      </p:sp>
      <p:sp>
        <p:nvSpPr>
          <p:cNvPr id="11" name="Rectangle 10"/>
          <p:cNvSpPr/>
          <p:nvPr/>
        </p:nvSpPr>
        <p:spPr>
          <a:xfrm>
            <a:off x="984260" y="5606276"/>
            <a:ext cx="10204200" cy="923330"/>
          </a:xfrm>
          <a:prstGeom prst="rect">
            <a:avLst/>
          </a:prstGeom>
        </p:spPr>
        <p:txBody>
          <a:bodyPr wrap="square">
            <a:spAutoFit/>
          </a:bodyPr>
          <a:lstStyle/>
          <a:p>
            <a:r>
              <a:rPr lang="en-US" dirty="0">
                <a:solidFill>
                  <a:srgbClr val="404040"/>
                </a:solidFill>
                <a:latin typeface="Inter"/>
              </a:rPr>
              <a:t>When two AC voltage sources are connected through an inductance, the power flow between them depends on the phase difference between the voltages of the two sources and the reactance of the connecting inductance.</a:t>
            </a:r>
            <a:endParaRPr lang="sv-SE" dirty="0"/>
          </a:p>
        </p:txBody>
      </p:sp>
      <mc:AlternateContent xmlns:mc="http://schemas.openxmlformats.org/markup-compatibility/2006" xmlns:a14="http://schemas.microsoft.com/office/drawing/2010/main">
        <mc:Choice Requires="a14">
          <p:sp>
            <p:nvSpPr>
              <p:cNvPr id="13" name="TextBox 12"/>
              <p:cNvSpPr txBox="1"/>
              <p:nvPr/>
            </p:nvSpPr>
            <p:spPr>
              <a:xfrm>
                <a:off x="8079320" y="4599701"/>
                <a:ext cx="2023566" cy="59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f>
                        <m:fPr>
                          <m:ctrlPr>
                            <a:rPr lang="sv-SE" b="0" i="1" smtClean="0">
                              <a:latin typeface="Cambria Math" panose="02040503050406030204" pitchFamily="18" charset="0"/>
                            </a:rPr>
                          </m:ctrlPr>
                        </m:fPr>
                        <m:num>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sin</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m:oMathPara>
                </a14:m>
                <a:endParaRPr lang="sv-SE" dirty="0"/>
              </a:p>
            </p:txBody>
          </p:sp>
        </mc:Choice>
        <mc:Fallback xmlns="">
          <p:sp>
            <p:nvSpPr>
              <p:cNvPr id="13" name="TextBox 12"/>
              <p:cNvSpPr txBox="1">
                <a:spLocks noRot="1" noChangeAspect="1" noMove="1" noResize="1" noEditPoints="1" noAdjustHandles="1" noChangeArrowheads="1" noChangeShapeType="1" noTextEdit="1"/>
              </p:cNvSpPr>
              <p:nvPr/>
            </p:nvSpPr>
            <p:spPr>
              <a:xfrm>
                <a:off x="8079320" y="4599701"/>
                <a:ext cx="2023566" cy="593111"/>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839093" y="4651211"/>
                <a:ext cx="2300438" cy="505779"/>
              </a:xfrm>
              <a:prstGeom prst="rect">
                <a:avLst/>
              </a:prstGeom>
              <a:noFill/>
            </p:spPr>
            <p:txBody>
              <a:bodyPr wrap="none" lIns="0" tIns="0" rIns="0" bIns="0" rtlCol="0">
                <a:spAutoFit/>
              </a:bodyPr>
              <a:lstStyle/>
              <a:p>
                <a:r>
                  <a:rPr lang="sv-SE" b="0" dirty="0" smtClean="0"/>
                  <a:t>Q</a:t>
                </a:r>
                <a14:m>
                  <m:oMath xmlns:m="http://schemas.openxmlformats.org/officeDocument/2006/math">
                    <m:r>
                      <a:rPr lang="sv-SE" b="0" i="1" smtClean="0">
                        <a:latin typeface="Cambria Math" panose="02040503050406030204" pitchFamily="18" charset="0"/>
                      </a:rPr>
                      <m:t>=</m:t>
                    </m:r>
                    <m:f>
                      <m:fPr>
                        <m:ctrlPr>
                          <a:rPr lang="sv-SE" b="0" i="1" smtClean="0">
                            <a:latin typeface="Cambria Math" panose="02040503050406030204" pitchFamily="18" charset="0"/>
                          </a:rPr>
                        </m:ctrlPr>
                      </m:fPr>
                      <m:num>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up>
                            <m:r>
                              <a:rPr lang="sv-SE" b="0" i="1" smtClean="0">
                                <a:latin typeface="Cambria Math" panose="02040503050406030204" pitchFamily="18" charset="0"/>
                              </a:rPr>
                              <m:t>2</m:t>
                            </m:r>
                          </m:sup>
                        </m:sSubSup>
                        <m:r>
                          <a:rPr lang="sv-SE" b="0" i="1" smtClean="0">
                            <a:latin typeface="Cambria Math" panose="02040503050406030204" pitchFamily="18" charset="0"/>
                          </a:rPr>
                          <m:t> − </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cos</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a14:m>
                <a:endParaRPr lang="sv-SE" dirty="0"/>
              </a:p>
            </p:txBody>
          </p:sp>
        </mc:Choice>
        <mc:Fallback xmlns="">
          <p:sp>
            <p:nvSpPr>
              <p:cNvPr id="15" name="TextBox 14"/>
              <p:cNvSpPr txBox="1">
                <a:spLocks noRot="1" noChangeAspect="1" noMove="1" noResize="1" noEditPoints="1" noAdjustHandles="1" noChangeArrowheads="1" noChangeShapeType="1" noTextEdit="1"/>
              </p:cNvSpPr>
              <p:nvPr/>
            </p:nvSpPr>
            <p:spPr>
              <a:xfrm>
                <a:off x="1839093" y="4651211"/>
                <a:ext cx="2300438" cy="505779"/>
              </a:xfrm>
              <a:prstGeom prst="rect">
                <a:avLst/>
              </a:prstGeom>
              <a:blipFill>
                <a:blip r:embed="rId5"/>
                <a:stretch>
                  <a:fillRect l="-6366" b="-8434"/>
                </a:stretch>
              </a:blipFill>
            </p:spPr>
            <p:txBody>
              <a:bodyPr/>
              <a:lstStyle/>
              <a:p>
                <a:r>
                  <a:rPr lang="sv-SE">
                    <a:noFill/>
                  </a:rPr>
                  <a:t> </a:t>
                </a:r>
              </a:p>
            </p:txBody>
          </p:sp>
        </mc:Fallback>
      </mc:AlternateContent>
    </p:spTree>
    <p:extLst>
      <p:ext uri="{BB962C8B-B14F-4D97-AF65-F5344CB8AC3E}">
        <p14:creationId xmlns:p14="http://schemas.microsoft.com/office/powerpoint/2010/main" val="23236913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Control: Back-to-Back Inverter</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TextBox 1"/>
              <p:cNvSpPr txBox="1"/>
              <p:nvPr/>
            </p:nvSpPr>
            <p:spPr>
              <a:xfrm>
                <a:off x="3898907" y="2623556"/>
                <a:ext cx="3494290" cy="671081"/>
              </a:xfrm>
              <a:prstGeom prst="rect">
                <a:avLst/>
              </a:prstGeom>
              <a:noFill/>
            </p:spPr>
            <p:txBody>
              <a:bodyPr wrap="none" lIns="0" tIns="0" rIns="0" bIns="0" rtlCol="0">
                <a:spAutoFit/>
              </a:bodyPr>
              <a:lstStyle/>
              <a:p>
                <a14:m>
                  <m:oMath xmlns:m="http://schemas.openxmlformats.org/officeDocument/2006/math">
                    <m:r>
                      <a:rPr lang="sv-SE" b="0" i="1" smtClean="0">
                        <a:latin typeface="Cambria Math" panose="02040503050406030204" pitchFamily="18" charset="0"/>
                      </a:rPr>
                      <m:t>𝑆</m:t>
                    </m:r>
                    <m:r>
                      <a:rPr lang="sv-SE" b="0" i="1" smtClean="0">
                        <a:latin typeface="Cambria Math" panose="02040503050406030204" pitchFamily="18" charset="0"/>
                      </a:rPr>
                      <m:t>=</m:t>
                    </m:r>
                    <m:f>
                      <m:fPr>
                        <m:ctrlPr>
                          <a:rPr lang="sv-SE" i="1">
                            <a:latin typeface="Cambria Math" panose="02040503050406030204" pitchFamily="18" charset="0"/>
                          </a:rPr>
                        </m:ctrlPr>
                      </m:fPr>
                      <m:num>
                        <m:r>
                          <a:rPr lang="sv-SE" i="1">
                            <a:latin typeface="Cambria Math" panose="02040503050406030204" pitchFamily="18" charset="0"/>
                          </a:rPr>
                          <m:t>3</m:t>
                        </m:r>
                      </m:num>
                      <m:den>
                        <m:r>
                          <a:rPr lang="sv-SE" i="1">
                            <a:latin typeface="Cambria Math" panose="02040503050406030204" pitchFamily="18" charset="0"/>
                          </a:rPr>
                          <m:t>2</m:t>
                        </m:r>
                      </m:den>
                    </m:f>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1</m:t>
                        </m:r>
                      </m:sub>
                    </m:sSub>
                    <m:d>
                      <m:dPr>
                        <m:ctrlPr>
                          <a:rPr lang="sv-SE" i="1">
                            <a:latin typeface="Cambria Math" panose="02040503050406030204" pitchFamily="18" charset="0"/>
                          </a:rPr>
                        </m:ctrlPr>
                      </m:dPr>
                      <m:e>
                        <m:f>
                          <m:fPr>
                            <m:ctrlPr>
                              <a:rPr lang="sv-SE" i="1">
                                <a:latin typeface="Cambria Math" panose="02040503050406030204" pitchFamily="18" charset="0"/>
                              </a:rPr>
                            </m:ctrlPr>
                          </m:fPr>
                          <m:num>
                            <m:sSubSup>
                              <m:sSubSupPr>
                                <m:ctrlPr>
                                  <a:rPr lang="sv-SE" i="1">
                                    <a:latin typeface="Cambria Math" panose="02040503050406030204" pitchFamily="18" charset="0"/>
                                  </a:rPr>
                                </m:ctrlPr>
                              </m:sSubSupPr>
                              <m:e>
                                <m:r>
                                  <a:rPr lang="sv-SE" i="1">
                                    <a:latin typeface="Cambria Math" panose="02040503050406030204" pitchFamily="18" charset="0"/>
                                  </a:rPr>
                                  <m:t>𝑈</m:t>
                                </m:r>
                              </m:e>
                              <m:sub>
                                <m:r>
                                  <a:rPr lang="sv-SE" i="1">
                                    <a:latin typeface="Cambria Math" panose="02040503050406030204" pitchFamily="18" charset="0"/>
                                  </a:rPr>
                                  <m:t>𝑑𝑐</m:t>
                                </m:r>
                              </m:sub>
                              <m:sup>
                                <m:r>
                                  <a:rPr lang="sv-SE" i="1">
                                    <a:latin typeface="Cambria Math" panose="02040503050406030204" pitchFamily="18" charset="0"/>
                                  </a:rPr>
                                  <m:t>2</m:t>
                                </m:r>
                              </m:sup>
                            </m:sSubSup>
                          </m:num>
                          <m:den>
                            <m:r>
                              <a:rPr lang="sv-SE" i="1">
                                <a:latin typeface="Cambria Math" panose="02040503050406030204" pitchFamily="18" charset="0"/>
                              </a:rPr>
                              <m:t>2</m:t>
                            </m:r>
                          </m:den>
                        </m:f>
                      </m:e>
                    </m:d>
                    <m:f>
                      <m:fPr>
                        <m:ctrlPr>
                          <a:rPr lang="sv-SE" b="0" i="1" smtClean="0">
                            <a:latin typeface="Cambria Math" panose="02040503050406030204" pitchFamily="18" charset="0"/>
                          </a:rPr>
                        </m:ctrlPr>
                      </m:fPr>
                      <m:num>
                        <m:rad>
                          <m:radPr>
                            <m:degHide m:val="on"/>
                            <m:ctrlPr>
                              <a:rPr lang="sv-SE" b="0" i="1" smtClean="0">
                                <a:latin typeface="Cambria Math" panose="02040503050406030204" pitchFamily="18" charset="0"/>
                              </a:rPr>
                            </m:ctrlPr>
                          </m:radPr>
                          <m:deg/>
                          <m:e>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𝑀</m:t>
                                </m:r>
                              </m:e>
                              <m:sub>
                                <m:r>
                                  <a:rPr lang="sv-SE" b="0" i="1" smtClean="0">
                                    <a:latin typeface="Cambria Math" panose="02040503050406030204" pitchFamily="18" charset="0"/>
                                  </a:rPr>
                                  <m:t>1</m:t>
                                </m:r>
                              </m:sub>
                              <m:sup>
                                <m:r>
                                  <a:rPr lang="sv-SE" b="0" i="1" smtClean="0">
                                    <a:latin typeface="Cambria Math" panose="02040503050406030204" pitchFamily="18" charset="0"/>
                                  </a:rPr>
                                  <m:t>2</m:t>
                                </m:r>
                              </m:sup>
                            </m:sSubSup>
                            <m:r>
                              <a:rPr lang="sv-SE" b="0" i="1" smtClean="0">
                                <a:latin typeface="Cambria Math" panose="02040503050406030204" pitchFamily="18" charset="0"/>
                              </a:rPr>
                              <m:t>+</m:t>
                            </m:r>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𝑀</m:t>
                                </m:r>
                              </m:e>
                              <m:sub>
                                <m:r>
                                  <a:rPr lang="sv-SE" b="0" i="1" smtClean="0">
                                    <a:latin typeface="Cambria Math" panose="02040503050406030204" pitchFamily="18" charset="0"/>
                                  </a:rPr>
                                  <m:t>2</m:t>
                                </m:r>
                              </m:sub>
                              <m:sup>
                                <m:r>
                                  <a:rPr lang="sv-SE" b="0" i="1" smtClean="0">
                                    <a:latin typeface="Cambria Math" panose="02040503050406030204" pitchFamily="18" charset="0"/>
                                  </a:rPr>
                                  <m:t>2</m:t>
                                </m:r>
                              </m:sup>
                            </m:sSubSup>
                            <m:r>
                              <a:rPr lang="sv-SE" b="0" i="1" smtClean="0">
                                <a:latin typeface="Cambria Math" panose="02040503050406030204" pitchFamily="18" charset="0"/>
                              </a:rPr>
                              <m:t>−2</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cos</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e>
                        </m:rad>
                        <m:r>
                          <m:rPr>
                            <m:lit/>
                          </m:rPr>
                          <a:rPr lang="sv-SE" b="0" i="1" smtClean="0">
                            <a:latin typeface="Cambria Math" panose="02040503050406030204" pitchFamily="18" charset="0"/>
                          </a:rPr>
                          <m:t> </m:t>
                        </m:r>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a14:m>
                <a:r>
                  <a:rPr lang="sv-SE" dirty="0" smtClean="0"/>
                  <a:t> </a:t>
                </a:r>
                <a:endParaRPr lang="sv-SE" dirty="0"/>
              </a:p>
            </p:txBody>
          </p:sp>
        </mc:Choice>
        <mc:Fallback>
          <p:sp>
            <p:nvSpPr>
              <p:cNvPr id="2" name="TextBox 1"/>
              <p:cNvSpPr txBox="1">
                <a:spLocks noRot="1" noChangeAspect="1" noMove="1" noResize="1" noEditPoints="1" noAdjustHandles="1" noChangeArrowheads="1" noChangeShapeType="1" noTextEdit="1"/>
              </p:cNvSpPr>
              <p:nvPr/>
            </p:nvSpPr>
            <p:spPr>
              <a:xfrm>
                <a:off x="3898907" y="2623556"/>
                <a:ext cx="3494290" cy="671081"/>
              </a:xfrm>
              <a:prstGeom prst="rect">
                <a:avLst/>
              </a:prstGeom>
              <a:blipFill>
                <a:blip r:embed="rId2"/>
                <a:stretch>
                  <a:fillRect l="-175" b="-909"/>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3" name="Rectangle 2"/>
              <p:cNvSpPr/>
              <p:nvPr/>
            </p:nvSpPr>
            <p:spPr>
              <a:xfrm>
                <a:off x="3898907" y="3655624"/>
                <a:ext cx="3576812" cy="8971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𝑝</m:t>
                      </m:r>
                      <m:r>
                        <a:rPr lang="sv-SE" b="0" i="1" smtClean="0">
                          <a:latin typeface="Cambria Math" panose="02040503050406030204" pitchFamily="18" charset="0"/>
                        </a:rPr>
                        <m:t>.</m:t>
                      </m:r>
                      <m:r>
                        <a:rPr lang="sv-SE" b="0" i="1" smtClean="0">
                          <a:latin typeface="Cambria Math" panose="02040503050406030204" pitchFamily="18" charset="0"/>
                        </a:rPr>
                        <m:t>𝑓</m:t>
                      </m:r>
                      <m:r>
                        <a:rPr lang="sv-SE" b="0" i="1" smtClean="0">
                          <a:latin typeface="Cambria Math" panose="02040503050406030204" pitchFamily="18" charset="0"/>
                        </a:rPr>
                        <m:t>.=−</m:t>
                      </m:r>
                      <m:r>
                        <m:rPr>
                          <m:sty m:val="p"/>
                        </m:rPr>
                        <a:rPr lang="sv-SE" b="0" i="0" smtClean="0">
                          <a:latin typeface="Cambria Math" panose="02040503050406030204" pitchFamily="18" charset="0"/>
                        </a:rPr>
                        <m:t>sin</m:t>
                      </m:r>
                      <m:r>
                        <a:rPr lang="sv-SE" b="0" i="1" smtClean="0">
                          <a:latin typeface="Cambria Math" panose="02040503050406030204" pitchFamily="18" charset="0"/>
                        </a:rPr>
                        <m:t>⁡[</m:t>
                      </m:r>
                      <m:r>
                        <m:rPr>
                          <m:sty m:val="p"/>
                        </m:rPr>
                        <a:rPr lang="sv-SE" b="0" i="0" smtClean="0">
                          <a:latin typeface="Cambria Math" panose="02040503050406030204" pitchFamily="18" charset="0"/>
                        </a:rPr>
                        <m:t>arctan</m:t>
                      </m:r>
                      <m:r>
                        <a:rPr lang="sv-SE" b="0" i="1" smtClean="0">
                          <a:latin typeface="Cambria Math" panose="02040503050406030204" pitchFamily="18" charset="0"/>
                        </a:rPr>
                        <m:t>⁡(</m:t>
                      </m:r>
                      <m:f>
                        <m:fPr>
                          <m:ctrlPr>
                            <a:rPr lang="sv-SE" b="0" i="1" smtClean="0">
                              <a:latin typeface="Cambria Math" panose="02040503050406030204" pitchFamily="18" charset="0"/>
                            </a:rPr>
                          </m:ctrlPr>
                        </m:fPr>
                        <m:num>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sin</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f>
                            <m:fPr>
                              <m:ctrlPr>
                                <a:rPr lang="sv-SE" b="0" i="1" smtClean="0">
                                  <a:latin typeface="Cambria Math" panose="02040503050406030204" pitchFamily="18" charset="0"/>
                                </a:rPr>
                              </m:ctrlPr>
                            </m:fPr>
                            <m:num>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1</m:t>
                                  </m:r>
                                </m:sub>
                              </m:sSub>
                            </m:num>
                            <m:den>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2</m:t>
                                  </m:r>
                                </m:sub>
                              </m:sSub>
                            </m:den>
                          </m:f>
                          <m:r>
                            <a:rPr lang="sv-SE" b="0" i="1" smtClean="0">
                              <a:latin typeface="Cambria Math" panose="02040503050406030204" pitchFamily="18" charset="0"/>
                            </a:rPr>
                            <m:t>−</m:t>
                          </m:r>
                          <m:r>
                            <m:rPr>
                              <m:sty m:val="p"/>
                            </m:rPr>
                            <a:rPr lang="sv-SE" b="0" i="0" smtClean="0">
                              <a:latin typeface="Cambria Math" panose="02040503050406030204" pitchFamily="18" charset="0"/>
                            </a:rPr>
                            <m:t>cos</m:t>
                          </m:r>
                          <m:r>
                            <a:rPr lang="sv-SE" b="0" i="1" smtClean="0">
                              <a:latin typeface="Cambria Math" panose="02040503050406030204" pitchFamily="18" charset="0"/>
                            </a:rPr>
                            <m:t>⁡(</m:t>
                          </m:r>
                          <m:r>
                            <a:rPr lang="sv-SE" b="0" i="1" smtClean="0">
                              <a:latin typeface="Cambria Math" panose="02040503050406030204" pitchFamily="18" charset="0"/>
                            </a:rPr>
                            <m:t>𝛿</m:t>
                          </m:r>
                          <m:r>
                            <a:rPr lang="sv-SE" b="0" i="1" smtClean="0">
                              <a:latin typeface="Cambria Math" panose="02040503050406030204" pitchFamily="18" charset="0"/>
                            </a:rPr>
                            <m:t>)</m:t>
                          </m:r>
                        </m:den>
                      </m:f>
                      <m:r>
                        <a:rPr lang="sv-SE" b="0" i="1" smtClean="0">
                          <a:latin typeface="Cambria Math" panose="02040503050406030204" pitchFamily="18" charset="0"/>
                        </a:rPr>
                        <m:t>)]</m:t>
                      </m:r>
                    </m:oMath>
                  </m:oMathPara>
                </a14:m>
                <a:endParaRPr lang="sv-SE" dirty="0"/>
              </a:p>
            </p:txBody>
          </p:sp>
        </mc:Choice>
        <mc:Fallback>
          <p:sp>
            <p:nvSpPr>
              <p:cNvPr id="3" name="Rectangle 2"/>
              <p:cNvSpPr>
                <a:spLocks noRot="1" noChangeAspect="1" noMove="1" noResize="1" noEditPoints="1" noAdjustHandles="1" noChangeArrowheads="1" noChangeShapeType="1" noTextEdit="1"/>
              </p:cNvSpPr>
              <p:nvPr/>
            </p:nvSpPr>
            <p:spPr>
              <a:xfrm>
                <a:off x="3898907" y="3655624"/>
                <a:ext cx="3576812" cy="897169"/>
              </a:xfrm>
              <a:prstGeom prst="rect">
                <a:avLst/>
              </a:prstGeom>
              <a:blipFill>
                <a:blip r:embed="rId3"/>
                <a:stretch>
                  <a:fillRect/>
                </a:stretch>
              </a:blipFill>
            </p:spPr>
            <p:txBody>
              <a:bodyPr/>
              <a:lstStyle/>
              <a:p>
                <a:r>
                  <a:rPr lang="sv-SE">
                    <a:noFill/>
                  </a:rPr>
                  <a:t> </a:t>
                </a:r>
              </a:p>
            </p:txBody>
          </p:sp>
        </mc:Fallback>
      </mc:AlternateContent>
      <p:sp>
        <p:nvSpPr>
          <p:cNvPr id="13" name="Rectangle 12"/>
          <p:cNvSpPr/>
          <p:nvPr/>
        </p:nvSpPr>
        <p:spPr>
          <a:xfrm>
            <a:off x="1074709" y="4716588"/>
            <a:ext cx="10204200" cy="369332"/>
          </a:xfrm>
          <a:prstGeom prst="rect">
            <a:avLst/>
          </a:prstGeom>
        </p:spPr>
        <p:txBody>
          <a:bodyPr wrap="square">
            <a:spAutoFit/>
          </a:bodyPr>
          <a:lstStyle/>
          <a:p>
            <a:r>
              <a:rPr lang="en-US" dirty="0" smtClean="0">
                <a:solidFill>
                  <a:srgbClr val="404040"/>
                </a:solidFill>
                <a:latin typeface="Inter"/>
              </a:rPr>
              <a:t>However, maximum </a:t>
            </a:r>
            <a:r>
              <a:rPr lang="en-US" dirty="0" smtClean="0">
                <a:solidFill>
                  <a:srgbClr val="404040"/>
                </a:solidFill>
                <a:latin typeface="Inter"/>
              </a:rPr>
              <a:t>current is limited by</a:t>
            </a:r>
            <a:endParaRPr lang="sv-SE" dirty="0"/>
          </a:p>
        </p:txBody>
      </p:sp>
      <mc:AlternateContent xmlns:mc="http://schemas.openxmlformats.org/markup-compatibility/2006">
        <mc:Choice xmlns:a14="http://schemas.microsoft.com/office/drawing/2010/main" Requires="a14">
          <p:sp>
            <p:nvSpPr>
              <p:cNvPr id="10" name="Rectangle 9"/>
              <p:cNvSpPr/>
              <p:nvPr/>
            </p:nvSpPr>
            <p:spPr>
              <a:xfrm>
                <a:off x="3793625" y="5215172"/>
                <a:ext cx="4529702" cy="7707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sv-SE" i="1" smtClean="0">
                              <a:latin typeface="Cambria Math" panose="02040503050406030204" pitchFamily="18" charset="0"/>
                            </a:rPr>
                          </m:ctrlPr>
                        </m:dPr>
                        <m:e>
                          <m:f>
                            <m:fPr>
                              <m:ctrlPr>
                                <a:rPr lang="sv-SE" i="1">
                                  <a:latin typeface="Cambria Math" panose="02040503050406030204" pitchFamily="18" charset="0"/>
                                </a:rPr>
                              </m:ctrlPr>
                            </m:fPr>
                            <m:num>
                              <m:sSubSup>
                                <m:sSubSupPr>
                                  <m:ctrlPr>
                                    <a:rPr lang="sv-SE" i="1">
                                      <a:latin typeface="Cambria Math" panose="02040503050406030204" pitchFamily="18" charset="0"/>
                                    </a:rPr>
                                  </m:ctrlPr>
                                </m:sSubSupPr>
                                <m:e>
                                  <m:r>
                                    <a:rPr lang="sv-SE" i="1">
                                      <a:latin typeface="Cambria Math" panose="02040503050406030204" pitchFamily="18" charset="0"/>
                                    </a:rPr>
                                    <m:t>𝑈</m:t>
                                  </m:r>
                                </m:e>
                                <m:sub>
                                  <m:r>
                                    <a:rPr lang="sv-SE" i="1">
                                      <a:latin typeface="Cambria Math" panose="02040503050406030204" pitchFamily="18" charset="0"/>
                                    </a:rPr>
                                    <m:t>𝑑𝑐</m:t>
                                  </m:r>
                                </m:sub>
                                <m:sup>
                                  <m:r>
                                    <a:rPr lang="sv-SE" i="1">
                                      <a:latin typeface="Cambria Math" panose="02040503050406030204" pitchFamily="18" charset="0"/>
                                    </a:rPr>
                                    <m:t>2</m:t>
                                  </m:r>
                                </m:sup>
                              </m:sSubSup>
                            </m:num>
                            <m:den>
                              <m:r>
                                <a:rPr lang="sv-SE" i="1">
                                  <a:latin typeface="Cambria Math" panose="02040503050406030204" pitchFamily="18" charset="0"/>
                                </a:rPr>
                                <m:t>2</m:t>
                              </m:r>
                            </m:den>
                          </m:f>
                        </m:e>
                      </m:d>
                      <m:f>
                        <m:fPr>
                          <m:ctrlPr>
                            <a:rPr lang="sv-SE" i="1">
                              <a:latin typeface="Cambria Math" panose="02040503050406030204" pitchFamily="18" charset="0"/>
                            </a:rPr>
                          </m:ctrlPr>
                        </m:fPr>
                        <m:num>
                          <m:rad>
                            <m:radPr>
                              <m:degHide m:val="on"/>
                              <m:ctrlPr>
                                <a:rPr lang="sv-SE" i="1">
                                  <a:latin typeface="Cambria Math" panose="02040503050406030204" pitchFamily="18" charset="0"/>
                                </a:rPr>
                              </m:ctrlPr>
                            </m:radPr>
                            <m:deg/>
                            <m:e>
                              <m:sSubSup>
                                <m:sSubSupPr>
                                  <m:ctrlPr>
                                    <a:rPr lang="sv-SE" i="1">
                                      <a:latin typeface="Cambria Math" panose="02040503050406030204" pitchFamily="18" charset="0"/>
                                    </a:rPr>
                                  </m:ctrlPr>
                                </m:sSubSupPr>
                                <m:e>
                                  <m:r>
                                    <a:rPr lang="sv-SE" i="1">
                                      <a:latin typeface="Cambria Math" panose="02040503050406030204" pitchFamily="18" charset="0"/>
                                    </a:rPr>
                                    <m:t>𝑀</m:t>
                                  </m:r>
                                </m:e>
                                <m:sub>
                                  <m:r>
                                    <a:rPr lang="sv-SE" i="1">
                                      <a:latin typeface="Cambria Math" panose="02040503050406030204" pitchFamily="18" charset="0"/>
                                    </a:rPr>
                                    <m:t>1</m:t>
                                  </m:r>
                                </m:sub>
                                <m:sup>
                                  <m:r>
                                    <a:rPr lang="sv-SE" i="1">
                                      <a:latin typeface="Cambria Math" panose="02040503050406030204" pitchFamily="18" charset="0"/>
                                    </a:rPr>
                                    <m:t>2</m:t>
                                  </m:r>
                                </m:sup>
                              </m:sSubSup>
                              <m:r>
                                <a:rPr lang="sv-SE" i="1">
                                  <a:latin typeface="Cambria Math" panose="02040503050406030204" pitchFamily="18" charset="0"/>
                                </a:rPr>
                                <m:t>+</m:t>
                              </m:r>
                              <m:sSubSup>
                                <m:sSubSupPr>
                                  <m:ctrlPr>
                                    <a:rPr lang="sv-SE" i="1">
                                      <a:latin typeface="Cambria Math" panose="02040503050406030204" pitchFamily="18" charset="0"/>
                                    </a:rPr>
                                  </m:ctrlPr>
                                </m:sSubSupPr>
                                <m:e>
                                  <m:r>
                                    <a:rPr lang="sv-SE" i="1">
                                      <a:latin typeface="Cambria Math" panose="02040503050406030204" pitchFamily="18" charset="0"/>
                                    </a:rPr>
                                    <m:t>𝑀</m:t>
                                  </m:r>
                                </m:e>
                                <m:sub>
                                  <m:r>
                                    <a:rPr lang="sv-SE" i="1">
                                      <a:latin typeface="Cambria Math" panose="02040503050406030204" pitchFamily="18" charset="0"/>
                                    </a:rPr>
                                    <m:t>2</m:t>
                                  </m:r>
                                </m:sub>
                                <m:sup>
                                  <m:r>
                                    <a:rPr lang="sv-SE" i="1">
                                      <a:latin typeface="Cambria Math" panose="02040503050406030204" pitchFamily="18" charset="0"/>
                                    </a:rPr>
                                    <m:t>2</m:t>
                                  </m:r>
                                </m:sup>
                              </m:sSubSup>
                              <m:r>
                                <a:rPr lang="sv-SE" i="1">
                                  <a:latin typeface="Cambria Math" panose="02040503050406030204" pitchFamily="18" charset="0"/>
                                </a:rPr>
                                <m:t>−2</m:t>
                              </m:r>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1</m:t>
                                  </m:r>
                                </m:sub>
                              </m:sSub>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2</m:t>
                                  </m:r>
                                </m:sub>
                              </m:sSub>
                              <m:func>
                                <m:funcPr>
                                  <m:ctrlPr>
                                    <a:rPr lang="sv-SE" i="1">
                                      <a:latin typeface="Cambria Math" panose="02040503050406030204" pitchFamily="18" charset="0"/>
                                    </a:rPr>
                                  </m:ctrlPr>
                                </m:funcPr>
                                <m:fName>
                                  <m:r>
                                    <m:rPr>
                                      <m:sty m:val="p"/>
                                    </m:rPr>
                                    <a:rPr lang="sv-SE">
                                      <a:latin typeface="Cambria Math" panose="02040503050406030204" pitchFamily="18" charset="0"/>
                                    </a:rPr>
                                    <m:t>cos</m:t>
                                  </m:r>
                                </m:fName>
                                <m:e>
                                  <m:d>
                                    <m:dPr>
                                      <m:ctrlPr>
                                        <a:rPr lang="sv-SE" i="1">
                                          <a:latin typeface="Cambria Math" panose="02040503050406030204" pitchFamily="18" charset="0"/>
                                        </a:rPr>
                                      </m:ctrlPr>
                                    </m:dPr>
                                    <m:e>
                                      <m:r>
                                        <a:rPr lang="sv-SE" i="1">
                                          <a:latin typeface="Cambria Math" panose="02040503050406030204" pitchFamily="18" charset="0"/>
                                        </a:rPr>
                                        <m:t>𝛿</m:t>
                                      </m:r>
                                    </m:e>
                                  </m:d>
                                </m:e>
                              </m:func>
                            </m:e>
                          </m:rad>
                          <m:r>
                            <m:rPr>
                              <m:lit/>
                            </m:rPr>
                            <a:rPr lang="sv-SE" i="1">
                              <a:latin typeface="Cambria Math" panose="02040503050406030204" pitchFamily="18" charset="0"/>
                            </a:rPr>
                            <m:t> </m:t>
                          </m:r>
                        </m:num>
                        <m:den>
                          <m:r>
                            <a:rPr lang="sv-SE" i="1">
                              <a:latin typeface="Cambria Math" panose="02040503050406030204" pitchFamily="18" charset="0"/>
                            </a:rPr>
                            <m:t>𝑗</m:t>
                          </m:r>
                          <m:r>
                            <a:rPr lang="sv-SE" i="1">
                              <a:latin typeface="Cambria Math" panose="02040503050406030204" pitchFamily="18" charset="0"/>
                            </a:rPr>
                            <m:t>𝜔</m:t>
                          </m:r>
                          <m:r>
                            <a:rPr lang="sv-SE" i="1">
                              <a:latin typeface="Cambria Math" panose="02040503050406030204" pitchFamily="18" charset="0"/>
                            </a:rPr>
                            <m:t>𝐿</m:t>
                          </m:r>
                        </m:den>
                      </m:f>
                      <m:r>
                        <a:rPr lang="sv-SE" b="0" i="1" smtClean="0">
                          <a:latin typeface="Cambria Math" panose="02040503050406030204" pitchFamily="18" charset="0"/>
                        </a:rPr>
                        <m:t>&lt;</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𝐼</m:t>
                          </m:r>
                        </m:e>
                        <m:sub>
                          <m:r>
                            <a:rPr lang="sv-SE" b="0" i="1" smtClean="0">
                              <a:latin typeface="Cambria Math" panose="02040503050406030204" pitchFamily="18" charset="0"/>
                            </a:rPr>
                            <m:t>𝑚𝑎𝑥</m:t>
                          </m:r>
                        </m:sub>
                      </m:sSub>
                    </m:oMath>
                  </m:oMathPara>
                </a14:m>
                <a:endParaRPr lang="sv-SE" dirty="0"/>
              </a:p>
            </p:txBody>
          </p:sp>
        </mc:Choice>
        <mc:Fallback>
          <p:sp>
            <p:nvSpPr>
              <p:cNvPr id="10" name="Rectangle 9"/>
              <p:cNvSpPr>
                <a:spLocks noRot="1" noChangeAspect="1" noMove="1" noResize="1" noEditPoints="1" noAdjustHandles="1" noChangeArrowheads="1" noChangeShapeType="1" noTextEdit="1"/>
              </p:cNvSpPr>
              <p:nvPr/>
            </p:nvSpPr>
            <p:spPr>
              <a:xfrm>
                <a:off x="3793625" y="5215172"/>
                <a:ext cx="4529702" cy="770788"/>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1690489" y="1862792"/>
                <a:ext cx="2023566" cy="59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f>
                        <m:fPr>
                          <m:ctrlPr>
                            <a:rPr lang="sv-SE" b="0" i="1" smtClean="0">
                              <a:latin typeface="Cambria Math" panose="02040503050406030204" pitchFamily="18" charset="0"/>
                            </a:rPr>
                          </m:ctrlPr>
                        </m:fPr>
                        <m:num>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sin</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m:oMathPara>
                </a14:m>
                <a:endParaRPr lang="sv-SE" dirty="0"/>
              </a:p>
            </p:txBody>
          </p:sp>
        </mc:Choice>
        <mc:Fallback>
          <p:sp>
            <p:nvSpPr>
              <p:cNvPr id="9" name="TextBox 8"/>
              <p:cNvSpPr txBox="1">
                <a:spLocks noRot="1" noChangeAspect="1" noMove="1" noResize="1" noEditPoints="1" noAdjustHandles="1" noChangeArrowheads="1" noChangeShapeType="1" noTextEdit="1"/>
              </p:cNvSpPr>
              <p:nvPr/>
            </p:nvSpPr>
            <p:spPr>
              <a:xfrm>
                <a:off x="1690489" y="1862792"/>
                <a:ext cx="2023566" cy="593111"/>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4051200" y="1906459"/>
                <a:ext cx="2300438" cy="505779"/>
              </a:xfrm>
              <a:prstGeom prst="rect">
                <a:avLst/>
              </a:prstGeom>
              <a:noFill/>
            </p:spPr>
            <p:txBody>
              <a:bodyPr wrap="none" lIns="0" tIns="0" rIns="0" bIns="0" rtlCol="0">
                <a:spAutoFit/>
              </a:bodyPr>
              <a:lstStyle/>
              <a:p>
                <a:r>
                  <a:rPr lang="sv-SE" b="0" dirty="0" smtClean="0"/>
                  <a:t>Q</a:t>
                </a:r>
                <a14:m>
                  <m:oMath xmlns:m="http://schemas.openxmlformats.org/officeDocument/2006/math">
                    <m:r>
                      <a:rPr lang="sv-SE" b="0" i="1" smtClean="0">
                        <a:latin typeface="Cambria Math" panose="02040503050406030204" pitchFamily="18" charset="0"/>
                      </a:rPr>
                      <m:t>=</m:t>
                    </m:r>
                    <m:f>
                      <m:fPr>
                        <m:ctrlPr>
                          <a:rPr lang="sv-SE" b="0" i="1" smtClean="0">
                            <a:latin typeface="Cambria Math" panose="02040503050406030204" pitchFamily="18" charset="0"/>
                          </a:rPr>
                        </m:ctrlPr>
                      </m:fPr>
                      <m:num>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up>
                            <m:r>
                              <a:rPr lang="sv-SE" b="0" i="1" smtClean="0">
                                <a:latin typeface="Cambria Math" panose="02040503050406030204" pitchFamily="18" charset="0"/>
                              </a:rPr>
                              <m:t>2</m:t>
                            </m:r>
                          </m:sup>
                        </m:sSubSup>
                        <m:r>
                          <a:rPr lang="sv-SE" b="0" i="1" smtClean="0">
                            <a:latin typeface="Cambria Math" panose="02040503050406030204" pitchFamily="18" charset="0"/>
                          </a:rPr>
                          <m:t> − </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cos</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a14:m>
                <a:endParaRPr lang="sv-SE" dirty="0"/>
              </a:p>
            </p:txBody>
          </p:sp>
        </mc:Choice>
        <mc:Fallback>
          <p:sp>
            <p:nvSpPr>
              <p:cNvPr id="11" name="TextBox 10"/>
              <p:cNvSpPr txBox="1">
                <a:spLocks noRot="1" noChangeAspect="1" noMove="1" noResize="1" noEditPoints="1" noAdjustHandles="1" noChangeArrowheads="1" noChangeShapeType="1" noTextEdit="1"/>
              </p:cNvSpPr>
              <p:nvPr/>
            </p:nvSpPr>
            <p:spPr>
              <a:xfrm>
                <a:off x="4051200" y="1906459"/>
                <a:ext cx="2300438" cy="505779"/>
              </a:xfrm>
              <a:prstGeom prst="rect">
                <a:avLst/>
              </a:prstGeom>
              <a:blipFill>
                <a:blip r:embed="rId6"/>
                <a:stretch>
                  <a:fillRect l="-6366" b="-8434"/>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984260" y="1061248"/>
                <a:ext cx="9576164" cy="646331"/>
              </a:xfrm>
              <a:prstGeom prst="rect">
                <a:avLst/>
              </a:prstGeom>
              <a:noFill/>
            </p:spPr>
            <p:txBody>
              <a:bodyPr wrap="square" rtlCol="0">
                <a:spAutoFit/>
              </a:bodyPr>
              <a:lstStyle/>
              <a:p>
                <a:r>
                  <a:rPr lang="en-US" dirty="0" smtClean="0"/>
                  <a:t>Independent control of the power and power factor might be achieved by controlling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𝑀</m:t>
                        </m:r>
                      </m:e>
                      <m:sub>
                        <m:r>
                          <a:rPr lang="en-US" i="1">
                            <a:latin typeface="Cambria Math" panose="02040503050406030204" pitchFamily="18" charset="0"/>
                          </a:rPr>
                          <m:t>1</m:t>
                        </m:r>
                      </m:sub>
                    </m:sSub>
                  </m:oMath>
                </a14:m>
                <a:r>
                  <a:rPr lang="sv-SE" dirty="0" smtClean="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𝑀</m:t>
                        </m:r>
                      </m:e>
                      <m:sub>
                        <m:r>
                          <a:rPr lang="en-US" b="0" i="1" smtClean="0">
                            <a:latin typeface="Cambria Math" panose="02040503050406030204" pitchFamily="18" charset="0"/>
                          </a:rPr>
                          <m:t>2</m:t>
                        </m:r>
                      </m:sub>
                    </m:sSub>
                  </m:oMath>
                </a14:m>
                <a:r>
                  <a:rPr lang="sv-SE" dirty="0" smtClean="0"/>
                  <a:t>, and </a:t>
                </a:r>
                <a14:m>
                  <m:oMath xmlns:m="http://schemas.openxmlformats.org/officeDocument/2006/math">
                    <m:r>
                      <a:rPr lang="sv-SE" i="1">
                        <a:latin typeface="Cambria Math" panose="02040503050406030204" pitchFamily="18" charset="0"/>
                      </a:rPr>
                      <m:t>𝛿</m:t>
                    </m:r>
                  </m:oMath>
                </a14:m>
                <a:r>
                  <a:rPr lang="sv-SE" dirty="0" smtClean="0"/>
                  <a:t>. </a:t>
                </a:r>
                <a:endParaRPr lang="sv-SE" dirty="0"/>
              </a:p>
            </p:txBody>
          </p:sp>
        </mc:Choice>
        <mc:Fallback>
          <p:sp>
            <p:nvSpPr>
              <p:cNvPr id="6" name="TextBox 5"/>
              <p:cNvSpPr txBox="1">
                <a:spLocks noRot="1" noChangeAspect="1" noMove="1" noResize="1" noEditPoints="1" noAdjustHandles="1" noChangeArrowheads="1" noChangeShapeType="1" noTextEdit="1"/>
              </p:cNvSpPr>
              <p:nvPr/>
            </p:nvSpPr>
            <p:spPr>
              <a:xfrm>
                <a:off x="984260" y="1061248"/>
                <a:ext cx="9576164" cy="646331"/>
              </a:xfrm>
              <a:prstGeom prst="rect">
                <a:avLst/>
              </a:prstGeom>
              <a:blipFill>
                <a:blip r:embed="rId7"/>
                <a:stretch>
                  <a:fillRect l="-509" t="-4717" r="-573" b="-14151"/>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6782127" y="1862792"/>
                <a:ext cx="1875963" cy="501099"/>
              </a:xfrm>
              <a:prstGeom prst="rect">
                <a:avLst/>
              </a:prstGeom>
            </p:spPr>
            <p:txBody>
              <a:bodyPr wrap="none">
                <a:spAutoFit/>
              </a:bodyPr>
              <a:lstStyle/>
              <a:p>
                <a14:m>
                  <m:oMath xmlns:m="http://schemas.openxmlformats.org/officeDocument/2006/math">
                    <m:sSub>
                      <m:sSubPr>
                        <m:ctrlPr>
                          <a:rPr lang="sv-SE" i="1" smtClean="0">
                            <a:latin typeface="Cambria Math" panose="02040503050406030204" pitchFamily="18" charset="0"/>
                          </a:rPr>
                        </m:ctrlPr>
                      </m:sSubPr>
                      <m:e>
                        <m:r>
                          <a:rPr lang="sv-SE" i="1">
                            <a:latin typeface="Cambria Math" panose="02040503050406030204" pitchFamily="18" charset="0"/>
                          </a:rPr>
                          <m:t>𝑉</m:t>
                        </m:r>
                      </m:e>
                      <m:sub>
                        <m:r>
                          <a:rPr lang="sv-SE" i="1">
                            <a:latin typeface="Cambria Math" panose="02040503050406030204" pitchFamily="18" charset="0"/>
                          </a:rPr>
                          <m:t>𝑝h</m:t>
                        </m:r>
                        <m:r>
                          <a:rPr lang="sv-SE" i="1">
                            <a:latin typeface="Cambria Math" panose="02040503050406030204" pitchFamily="18" charset="0"/>
                          </a:rPr>
                          <m:t>1</m:t>
                        </m:r>
                      </m:sub>
                    </m:sSub>
                    <m:r>
                      <a:rPr lang="en-US" b="0" i="0" smtClean="0">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den>
                    </m:f>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𝑑𝑐</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𝑀</m:t>
                            </m:r>
                          </m:e>
                          <m:sub>
                            <m:r>
                              <a:rPr lang="en-US" b="0" i="1" smtClean="0">
                                <a:latin typeface="Cambria Math" panose="02040503050406030204" pitchFamily="18" charset="0"/>
                              </a:rPr>
                              <m:t>1</m:t>
                            </m:r>
                          </m:sub>
                        </m:sSub>
                      </m:num>
                      <m:den>
                        <m:r>
                          <a:rPr lang="en-US" b="0" i="1" smtClean="0">
                            <a:latin typeface="Cambria Math" panose="02040503050406030204" pitchFamily="18" charset="0"/>
                          </a:rPr>
                          <m:t>2</m:t>
                        </m:r>
                      </m:den>
                    </m:f>
                  </m:oMath>
                </a14:m>
                <a:r>
                  <a:rPr lang="sv-SE" dirty="0" smtClean="0"/>
                  <a:t> </a:t>
                </a:r>
                <a:endParaRPr lang="sv-SE" dirty="0"/>
              </a:p>
            </p:txBody>
          </p:sp>
        </mc:Choice>
        <mc:Fallback>
          <p:sp>
            <p:nvSpPr>
              <p:cNvPr id="7" name="Rectangle 6"/>
              <p:cNvSpPr>
                <a:spLocks noRot="1" noChangeAspect="1" noMove="1" noResize="1" noEditPoints="1" noAdjustHandles="1" noChangeArrowheads="1" noChangeShapeType="1" noTextEdit="1"/>
              </p:cNvSpPr>
              <p:nvPr/>
            </p:nvSpPr>
            <p:spPr>
              <a:xfrm>
                <a:off x="6782127" y="1862792"/>
                <a:ext cx="1875963" cy="501099"/>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4" name="Rectangle 13"/>
              <p:cNvSpPr/>
              <p:nvPr/>
            </p:nvSpPr>
            <p:spPr>
              <a:xfrm>
                <a:off x="8864928" y="1862791"/>
                <a:ext cx="1929887" cy="501099"/>
              </a:xfrm>
              <a:prstGeom prst="rect">
                <a:avLst/>
              </a:prstGeom>
            </p:spPr>
            <p:txBody>
              <a:bodyPr wrap="none">
                <a:spAutoFit/>
              </a:bodyPr>
              <a:lstStyle/>
              <a:p>
                <a14:m>
                  <m:oMath xmlns:m="http://schemas.openxmlformats.org/officeDocument/2006/math">
                    <m:sSub>
                      <m:sSubPr>
                        <m:ctrlPr>
                          <a:rPr lang="sv-SE" i="1" smtClean="0">
                            <a:latin typeface="Cambria Math" panose="02040503050406030204" pitchFamily="18" charset="0"/>
                          </a:rPr>
                        </m:ctrlPr>
                      </m:sSubPr>
                      <m:e>
                        <m:r>
                          <a:rPr lang="sv-SE" i="1">
                            <a:latin typeface="Cambria Math" panose="02040503050406030204" pitchFamily="18" charset="0"/>
                          </a:rPr>
                          <m:t>𝑉</m:t>
                        </m:r>
                      </m:e>
                      <m:sub>
                        <m:r>
                          <a:rPr lang="sv-SE" i="1">
                            <a:latin typeface="Cambria Math" panose="02040503050406030204" pitchFamily="18" charset="0"/>
                          </a:rPr>
                          <m:t>𝑝h</m:t>
                        </m:r>
                        <m:r>
                          <a:rPr lang="en-US" b="0" i="1" smtClean="0">
                            <a:latin typeface="Cambria Math" panose="02040503050406030204" pitchFamily="18" charset="0"/>
                          </a:rPr>
                          <m:t>2</m:t>
                        </m:r>
                      </m:sub>
                    </m:sSub>
                    <m:r>
                      <a:rPr lang="en-US" b="0" i="0" smtClean="0">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den>
                    </m:f>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𝑑𝑐</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𝑀</m:t>
                            </m:r>
                          </m:e>
                          <m:sub>
                            <m:r>
                              <a:rPr lang="en-US" b="0" i="1" smtClean="0">
                                <a:latin typeface="Cambria Math" panose="02040503050406030204" pitchFamily="18" charset="0"/>
                              </a:rPr>
                              <m:t>2</m:t>
                            </m:r>
                          </m:sub>
                        </m:sSub>
                      </m:num>
                      <m:den>
                        <m:r>
                          <a:rPr lang="en-US" b="0" i="1" smtClean="0">
                            <a:latin typeface="Cambria Math" panose="02040503050406030204" pitchFamily="18" charset="0"/>
                          </a:rPr>
                          <m:t>2</m:t>
                        </m:r>
                      </m:den>
                    </m:f>
                  </m:oMath>
                </a14:m>
                <a:r>
                  <a:rPr lang="sv-SE" dirty="0" smtClean="0"/>
                  <a:t> </a:t>
                </a:r>
                <a:endParaRPr lang="sv-SE" dirty="0"/>
              </a:p>
            </p:txBody>
          </p:sp>
        </mc:Choice>
        <mc:Fallback>
          <p:sp>
            <p:nvSpPr>
              <p:cNvPr id="14" name="Rectangle 13"/>
              <p:cNvSpPr>
                <a:spLocks noRot="1" noChangeAspect="1" noMove="1" noResize="1" noEditPoints="1" noAdjustHandles="1" noChangeArrowheads="1" noChangeShapeType="1" noTextEdit="1"/>
              </p:cNvSpPr>
              <p:nvPr/>
            </p:nvSpPr>
            <p:spPr>
              <a:xfrm>
                <a:off x="8864928" y="1862791"/>
                <a:ext cx="1929887" cy="501099"/>
              </a:xfrm>
              <a:prstGeom prst="rect">
                <a:avLst/>
              </a:prstGeom>
              <a:blipFill>
                <a:blip r:embed="rId9"/>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5707552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Control: Back-to-Back Inverter</a:t>
            </a:r>
            <a:endParaRPr lang="sv-SE" dirty="0">
              <a:latin typeface="Times New Roman" panose="02020603050405020304" pitchFamily="18" charset="0"/>
              <a:cs typeface="Times New Roman" panose="02020603050405020304" pitchFamily="18" charset="0"/>
            </a:endParaRPr>
          </a:p>
        </p:txBody>
      </p:sp>
      <p:sp>
        <p:nvSpPr>
          <p:cNvPr id="5" name="Rectangle 4"/>
          <p:cNvSpPr/>
          <p:nvPr/>
        </p:nvSpPr>
        <p:spPr>
          <a:xfrm>
            <a:off x="1219200" y="1105008"/>
            <a:ext cx="9096188" cy="2585323"/>
          </a:xfrm>
          <a:prstGeom prst="rect">
            <a:avLst/>
          </a:prstGeom>
        </p:spPr>
        <p:txBody>
          <a:bodyPr wrap="square">
            <a:spAutoFit/>
          </a:bodyPr>
          <a:lstStyle/>
          <a:p>
            <a:r>
              <a:rPr lang="en-US" b="1" dirty="0">
                <a:solidFill>
                  <a:srgbClr val="404040"/>
                </a:solidFill>
                <a:latin typeface="Inter"/>
              </a:rPr>
              <a:t>Mimicking EV Drive </a:t>
            </a:r>
            <a:r>
              <a:rPr lang="en-US" b="1" dirty="0" smtClean="0">
                <a:solidFill>
                  <a:srgbClr val="404040"/>
                </a:solidFill>
                <a:latin typeface="Inter"/>
              </a:rPr>
              <a:t>Cycles: </a:t>
            </a:r>
            <a:r>
              <a:rPr lang="en-US" dirty="0" smtClean="0">
                <a:solidFill>
                  <a:srgbClr val="404040"/>
                </a:solidFill>
                <a:latin typeface="Inter"/>
              </a:rPr>
              <a:t>Drive</a:t>
            </a:r>
            <a:r>
              <a:rPr lang="en-US" b="1" dirty="0" smtClean="0">
                <a:solidFill>
                  <a:srgbClr val="404040"/>
                </a:solidFill>
                <a:latin typeface="Inter"/>
              </a:rPr>
              <a:t> </a:t>
            </a:r>
            <a:r>
              <a:rPr lang="en-US" dirty="0" smtClean="0">
                <a:solidFill>
                  <a:srgbClr val="404040"/>
                </a:solidFill>
                <a:latin typeface="Inter"/>
              </a:rPr>
              <a:t>cycles involve a wide range of operating conditions, from low-speed to high-speed driving. </a:t>
            </a:r>
          </a:p>
          <a:p>
            <a:endParaRPr lang="en-US" b="1" dirty="0">
              <a:solidFill>
                <a:srgbClr val="404040"/>
              </a:solidFill>
              <a:latin typeface="Inter"/>
            </a:endParaRPr>
          </a:p>
          <a:p>
            <a:r>
              <a:rPr lang="en-US" b="1" dirty="0" smtClean="0">
                <a:solidFill>
                  <a:srgbClr val="404040"/>
                </a:solidFill>
                <a:latin typeface="Inter"/>
              </a:rPr>
              <a:t>	Low-Speed Operation:</a:t>
            </a:r>
            <a:r>
              <a:rPr lang="en-US" dirty="0" smtClean="0">
                <a:solidFill>
                  <a:srgbClr val="404040"/>
                </a:solidFill>
                <a:latin typeface="Inter"/>
              </a:rPr>
              <a:t> High inductance is needed to </a:t>
            </a:r>
            <a:r>
              <a:rPr lang="en-US" dirty="0" err="1" smtClean="0">
                <a:solidFill>
                  <a:srgbClr val="404040"/>
                </a:solidFill>
                <a:latin typeface="Inter"/>
              </a:rPr>
              <a:t>achive</a:t>
            </a:r>
            <a:r>
              <a:rPr lang="en-US" dirty="0" smtClean="0">
                <a:solidFill>
                  <a:srgbClr val="404040"/>
                </a:solidFill>
                <a:latin typeface="Inter"/>
              </a:rPr>
              <a:t> the </a:t>
            </a:r>
            <a:r>
              <a:rPr lang="en-US" dirty="0" err="1" smtClean="0">
                <a:solidFill>
                  <a:srgbClr val="404040"/>
                </a:solidFill>
                <a:latin typeface="Inter"/>
              </a:rPr>
              <a:t>nominmal</a:t>
            </a:r>
            <a:r>
              <a:rPr lang="en-US" dirty="0" smtClean="0">
                <a:solidFill>
                  <a:srgbClr val="404040"/>
                </a:solidFill>
                <a:latin typeface="Inter"/>
              </a:rPr>
              <a:t> 	current at low modulation indexes.</a:t>
            </a:r>
          </a:p>
          <a:p>
            <a:endParaRPr lang="en-US" b="1" dirty="0">
              <a:solidFill>
                <a:srgbClr val="404040"/>
              </a:solidFill>
              <a:latin typeface="Inter"/>
            </a:endParaRPr>
          </a:p>
          <a:p>
            <a:r>
              <a:rPr lang="en-US" b="1" dirty="0" smtClean="0">
                <a:solidFill>
                  <a:srgbClr val="404040"/>
                </a:solidFill>
                <a:latin typeface="Inter"/>
              </a:rPr>
              <a:t>	High-Speed Operation:</a:t>
            </a:r>
            <a:r>
              <a:rPr lang="en-US" dirty="0" smtClean="0">
                <a:solidFill>
                  <a:srgbClr val="404040"/>
                </a:solidFill>
                <a:latin typeface="Inter"/>
              </a:rPr>
              <a:t> Increasing utilization of DC-link is needed, i.e. SVM, 	THIPWM. This common mode voltages creates common mode </a:t>
            </a:r>
            <a:r>
              <a:rPr lang="sv-SE" dirty="0" err="1" smtClean="0"/>
              <a:t>circulating</a:t>
            </a:r>
            <a:r>
              <a:rPr lang="sv-SE" dirty="0" smtClean="0"/>
              <a:t> 	</a:t>
            </a:r>
            <a:r>
              <a:rPr lang="sv-SE" dirty="0" err="1" smtClean="0"/>
              <a:t>current</a:t>
            </a:r>
            <a:r>
              <a:rPr lang="sv-SE" dirty="0" smtClean="0"/>
              <a:t>, </a:t>
            </a:r>
            <a:r>
              <a:rPr lang="sv-SE" dirty="0" err="1" smtClean="0"/>
              <a:t>which</a:t>
            </a:r>
            <a:r>
              <a:rPr lang="sv-SE" dirty="0" smtClean="0"/>
              <a:t> </a:t>
            </a:r>
            <a:r>
              <a:rPr lang="sv-SE" dirty="0" err="1" smtClean="0"/>
              <a:t>effects</a:t>
            </a:r>
            <a:r>
              <a:rPr lang="sv-SE" dirty="0" smtClean="0"/>
              <a:t> the </a:t>
            </a:r>
            <a:r>
              <a:rPr lang="sv-SE" dirty="0" err="1" smtClean="0"/>
              <a:t>efficiency</a:t>
            </a:r>
            <a:r>
              <a:rPr lang="sv-SE" dirty="0" smtClean="0"/>
              <a:t>. </a:t>
            </a:r>
            <a:endParaRPr lang="en-US" b="0" i="0" dirty="0">
              <a:solidFill>
                <a:srgbClr val="404040"/>
              </a:solidFill>
              <a:effectLst/>
              <a:latin typeface="Inter"/>
            </a:endParaRPr>
          </a:p>
        </p:txBody>
      </p:sp>
      <mc:AlternateContent xmlns:mc="http://schemas.openxmlformats.org/markup-compatibility/2006">
        <mc:Choice xmlns:a14="http://schemas.microsoft.com/office/drawing/2010/main" Requires="a14">
          <p:sp>
            <p:nvSpPr>
              <p:cNvPr id="11" name="Rectangle 10"/>
              <p:cNvSpPr/>
              <p:nvPr/>
            </p:nvSpPr>
            <p:spPr>
              <a:xfrm>
                <a:off x="3769719" y="3854552"/>
                <a:ext cx="4529702" cy="7707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sv-SE" i="1" smtClean="0">
                              <a:latin typeface="Cambria Math" panose="02040503050406030204" pitchFamily="18" charset="0"/>
                            </a:rPr>
                          </m:ctrlPr>
                        </m:dPr>
                        <m:e>
                          <m:f>
                            <m:fPr>
                              <m:ctrlPr>
                                <a:rPr lang="sv-SE" i="1">
                                  <a:latin typeface="Cambria Math" panose="02040503050406030204" pitchFamily="18" charset="0"/>
                                </a:rPr>
                              </m:ctrlPr>
                            </m:fPr>
                            <m:num>
                              <m:sSubSup>
                                <m:sSubSupPr>
                                  <m:ctrlPr>
                                    <a:rPr lang="sv-SE" i="1">
                                      <a:latin typeface="Cambria Math" panose="02040503050406030204" pitchFamily="18" charset="0"/>
                                    </a:rPr>
                                  </m:ctrlPr>
                                </m:sSubSupPr>
                                <m:e>
                                  <m:r>
                                    <a:rPr lang="sv-SE" i="1">
                                      <a:latin typeface="Cambria Math" panose="02040503050406030204" pitchFamily="18" charset="0"/>
                                    </a:rPr>
                                    <m:t>𝑈</m:t>
                                  </m:r>
                                </m:e>
                                <m:sub>
                                  <m:r>
                                    <a:rPr lang="sv-SE" i="1">
                                      <a:latin typeface="Cambria Math" panose="02040503050406030204" pitchFamily="18" charset="0"/>
                                    </a:rPr>
                                    <m:t>𝑑𝑐</m:t>
                                  </m:r>
                                </m:sub>
                                <m:sup>
                                  <m:r>
                                    <a:rPr lang="sv-SE" i="1">
                                      <a:latin typeface="Cambria Math" panose="02040503050406030204" pitchFamily="18" charset="0"/>
                                    </a:rPr>
                                    <m:t>2</m:t>
                                  </m:r>
                                </m:sup>
                              </m:sSubSup>
                            </m:num>
                            <m:den>
                              <m:r>
                                <a:rPr lang="sv-SE" i="1">
                                  <a:latin typeface="Cambria Math" panose="02040503050406030204" pitchFamily="18" charset="0"/>
                                </a:rPr>
                                <m:t>2</m:t>
                              </m:r>
                            </m:den>
                          </m:f>
                        </m:e>
                      </m:d>
                      <m:f>
                        <m:fPr>
                          <m:ctrlPr>
                            <a:rPr lang="sv-SE" i="1">
                              <a:latin typeface="Cambria Math" panose="02040503050406030204" pitchFamily="18" charset="0"/>
                            </a:rPr>
                          </m:ctrlPr>
                        </m:fPr>
                        <m:num>
                          <m:rad>
                            <m:radPr>
                              <m:degHide m:val="on"/>
                              <m:ctrlPr>
                                <a:rPr lang="sv-SE" i="1">
                                  <a:latin typeface="Cambria Math" panose="02040503050406030204" pitchFamily="18" charset="0"/>
                                </a:rPr>
                              </m:ctrlPr>
                            </m:radPr>
                            <m:deg/>
                            <m:e>
                              <m:sSubSup>
                                <m:sSubSupPr>
                                  <m:ctrlPr>
                                    <a:rPr lang="sv-SE" i="1">
                                      <a:latin typeface="Cambria Math" panose="02040503050406030204" pitchFamily="18" charset="0"/>
                                    </a:rPr>
                                  </m:ctrlPr>
                                </m:sSubSupPr>
                                <m:e>
                                  <m:r>
                                    <a:rPr lang="sv-SE" i="1">
                                      <a:latin typeface="Cambria Math" panose="02040503050406030204" pitchFamily="18" charset="0"/>
                                    </a:rPr>
                                    <m:t>𝑀</m:t>
                                  </m:r>
                                </m:e>
                                <m:sub>
                                  <m:r>
                                    <a:rPr lang="sv-SE" i="1">
                                      <a:latin typeface="Cambria Math" panose="02040503050406030204" pitchFamily="18" charset="0"/>
                                    </a:rPr>
                                    <m:t>1</m:t>
                                  </m:r>
                                </m:sub>
                                <m:sup>
                                  <m:r>
                                    <a:rPr lang="sv-SE" i="1">
                                      <a:latin typeface="Cambria Math" panose="02040503050406030204" pitchFamily="18" charset="0"/>
                                    </a:rPr>
                                    <m:t>2</m:t>
                                  </m:r>
                                </m:sup>
                              </m:sSubSup>
                              <m:r>
                                <a:rPr lang="sv-SE" i="1">
                                  <a:latin typeface="Cambria Math" panose="02040503050406030204" pitchFamily="18" charset="0"/>
                                </a:rPr>
                                <m:t>+</m:t>
                              </m:r>
                              <m:sSubSup>
                                <m:sSubSupPr>
                                  <m:ctrlPr>
                                    <a:rPr lang="sv-SE" i="1">
                                      <a:latin typeface="Cambria Math" panose="02040503050406030204" pitchFamily="18" charset="0"/>
                                    </a:rPr>
                                  </m:ctrlPr>
                                </m:sSubSupPr>
                                <m:e>
                                  <m:r>
                                    <a:rPr lang="sv-SE" i="1">
                                      <a:latin typeface="Cambria Math" panose="02040503050406030204" pitchFamily="18" charset="0"/>
                                    </a:rPr>
                                    <m:t>𝑀</m:t>
                                  </m:r>
                                </m:e>
                                <m:sub>
                                  <m:r>
                                    <a:rPr lang="sv-SE" i="1">
                                      <a:latin typeface="Cambria Math" panose="02040503050406030204" pitchFamily="18" charset="0"/>
                                    </a:rPr>
                                    <m:t>2</m:t>
                                  </m:r>
                                </m:sub>
                                <m:sup>
                                  <m:r>
                                    <a:rPr lang="sv-SE" i="1">
                                      <a:latin typeface="Cambria Math" panose="02040503050406030204" pitchFamily="18" charset="0"/>
                                    </a:rPr>
                                    <m:t>2</m:t>
                                  </m:r>
                                </m:sup>
                              </m:sSubSup>
                              <m:r>
                                <a:rPr lang="sv-SE" i="1">
                                  <a:latin typeface="Cambria Math" panose="02040503050406030204" pitchFamily="18" charset="0"/>
                                </a:rPr>
                                <m:t>−2</m:t>
                              </m:r>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1</m:t>
                                  </m:r>
                                </m:sub>
                              </m:sSub>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2</m:t>
                                  </m:r>
                                </m:sub>
                              </m:sSub>
                              <m:func>
                                <m:funcPr>
                                  <m:ctrlPr>
                                    <a:rPr lang="sv-SE" i="1">
                                      <a:latin typeface="Cambria Math" panose="02040503050406030204" pitchFamily="18" charset="0"/>
                                    </a:rPr>
                                  </m:ctrlPr>
                                </m:funcPr>
                                <m:fName>
                                  <m:r>
                                    <m:rPr>
                                      <m:sty m:val="p"/>
                                    </m:rPr>
                                    <a:rPr lang="sv-SE">
                                      <a:latin typeface="Cambria Math" panose="02040503050406030204" pitchFamily="18" charset="0"/>
                                    </a:rPr>
                                    <m:t>cos</m:t>
                                  </m:r>
                                </m:fName>
                                <m:e>
                                  <m:d>
                                    <m:dPr>
                                      <m:ctrlPr>
                                        <a:rPr lang="sv-SE" i="1">
                                          <a:latin typeface="Cambria Math" panose="02040503050406030204" pitchFamily="18" charset="0"/>
                                        </a:rPr>
                                      </m:ctrlPr>
                                    </m:dPr>
                                    <m:e>
                                      <m:r>
                                        <a:rPr lang="sv-SE" i="1">
                                          <a:latin typeface="Cambria Math" panose="02040503050406030204" pitchFamily="18" charset="0"/>
                                        </a:rPr>
                                        <m:t>𝛿</m:t>
                                      </m:r>
                                    </m:e>
                                  </m:d>
                                </m:e>
                              </m:func>
                            </m:e>
                          </m:rad>
                          <m:r>
                            <m:rPr>
                              <m:lit/>
                            </m:rPr>
                            <a:rPr lang="sv-SE" i="1">
                              <a:latin typeface="Cambria Math" panose="02040503050406030204" pitchFamily="18" charset="0"/>
                            </a:rPr>
                            <m:t> </m:t>
                          </m:r>
                        </m:num>
                        <m:den>
                          <m:r>
                            <a:rPr lang="sv-SE" i="1">
                              <a:latin typeface="Cambria Math" panose="02040503050406030204" pitchFamily="18" charset="0"/>
                            </a:rPr>
                            <m:t>𝑗</m:t>
                          </m:r>
                          <m:r>
                            <a:rPr lang="sv-SE" i="1">
                              <a:latin typeface="Cambria Math" panose="02040503050406030204" pitchFamily="18" charset="0"/>
                            </a:rPr>
                            <m:t>𝜔</m:t>
                          </m:r>
                          <m:r>
                            <a:rPr lang="sv-SE" i="1">
                              <a:latin typeface="Cambria Math" panose="02040503050406030204" pitchFamily="18" charset="0"/>
                            </a:rPr>
                            <m:t>𝐿</m:t>
                          </m:r>
                        </m:den>
                      </m:f>
                      <m:r>
                        <a:rPr lang="sv-SE" b="0" i="1" smtClean="0">
                          <a:latin typeface="Cambria Math" panose="02040503050406030204" pitchFamily="18" charset="0"/>
                        </a:rPr>
                        <m:t>&lt;</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𝐼</m:t>
                          </m:r>
                        </m:e>
                        <m:sub>
                          <m:r>
                            <a:rPr lang="sv-SE" b="0" i="1" smtClean="0">
                              <a:latin typeface="Cambria Math" panose="02040503050406030204" pitchFamily="18" charset="0"/>
                            </a:rPr>
                            <m:t>𝑚𝑎𝑥</m:t>
                          </m:r>
                        </m:sub>
                      </m:sSub>
                    </m:oMath>
                  </m:oMathPara>
                </a14:m>
                <a:endParaRPr lang="sv-SE" dirty="0"/>
              </a:p>
            </p:txBody>
          </p:sp>
        </mc:Choice>
        <mc:Fallback>
          <p:sp>
            <p:nvSpPr>
              <p:cNvPr id="11" name="Rectangle 10"/>
              <p:cNvSpPr>
                <a:spLocks noRot="1" noChangeAspect="1" noMove="1" noResize="1" noEditPoints="1" noAdjustHandles="1" noChangeArrowheads="1" noChangeShapeType="1" noTextEdit="1"/>
              </p:cNvSpPr>
              <p:nvPr/>
            </p:nvSpPr>
            <p:spPr>
              <a:xfrm>
                <a:off x="3769719" y="3854552"/>
                <a:ext cx="4529702" cy="770788"/>
              </a:xfrm>
              <a:prstGeom prst="rect">
                <a:avLst/>
              </a:prstGeom>
              <a:blipFill>
                <a:blip r:embed="rId2"/>
                <a:stretch>
                  <a:fillRect/>
                </a:stretch>
              </a:blipFill>
            </p:spPr>
            <p:txBody>
              <a:bodyPr/>
              <a:lstStyle/>
              <a:p>
                <a:r>
                  <a:rPr lang="sv-SE">
                    <a:noFill/>
                  </a:rPr>
                  <a:t> </a:t>
                </a:r>
              </a:p>
            </p:txBody>
          </p:sp>
        </mc:Fallback>
      </mc:AlternateContent>
      <p:pic>
        <p:nvPicPr>
          <p:cNvPr id="6" name="Picture 5"/>
          <p:cNvPicPr>
            <a:picLocks noChangeAspect="1"/>
          </p:cNvPicPr>
          <p:nvPr/>
        </p:nvPicPr>
        <p:blipFill>
          <a:blip r:embed="rId3"/>
          <a:stretch>
            <a:fillRect/>
          </a:stretch>
        </p:blipFill>
        <p:spPr>
          <a:xfrm>
            <a:off x="6118320" y="4737721"/>
            <a:ext cx="5368457" cy="1751513"/>
          </a:xfrm>
          <a:prstGeom prst="rect">
            <a:avLst/>
          </a:prstGeom>
        </p:spPr>
      </p:pic>
      <p:pic>
        <p:nvPicPr>
          <p:cNvPr id="12" name="Picture 11"/>
          <p:cNvPicPr>
            <a:picLocks noChangeAspect="1"/>
          </p:cNvPicPr>
          <p:nvPr/>
        </p:nvPicPr>
        <p:blipFill>
          <a:blip r:embed="rId4"/>
          <a:stretch>
            <a:fillRect/>
          </a:stretch>
        </p:blipFill>
        <p:spPr>
          <a:xfrm>
            <a:off x="704796" y="4737721"/>
            <a:ext cx="4034546" cy="1971365"/>
          </a:xfrm>
          <a:prstGeom prst="rect">
            <a:avLst/>
          </a:prstGeom>
        </p:spPr>
      </p:pic>
    </p:spTree>
    <p:extLst>
      <p:ext uri="{BB962C8B-B14F-4D97-AF65-F5344CB8AC3E}">
        <p14:creationId xmlns:p14="http://schemas.microsoft.com/office/powerpoint/2010/main" val="12988422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Control: Back-to-Back Inverter</a:t>
            </a:r>
            <a:endParaRPr lang="sv-SE"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2"/>
          <a:stretch>
            <a:fillRect/>
          </a:stretch>
        </p:blipFill>
        <p:spPr>
          <a:xfrm>
            <a:off x="984260" y="1447800"/>
            <a:ext cx="9945752" cy="2171699"/>
          </a:xfrm>
          <a:prstGeom prst="rect">
            <a:avLst/>
          </a:prstGeom>
        </p:spPr>
      </p:pic>
      <p:pic>
        <p:nvPicPr>
          <p:cNvPr id="2" name="Picture 1"/>
          <p:cNvPicPr>
            <a:picLocks noChangeAspect="1"/>
          </p:cNvPicPr>
          <p:nvPr/>
        </p:nvPicPr>
        <p:blipFill>
          <a:blip r:embed="rId3"/>
          <a:stretch>
            <a:fillRect/>
          </a:stretch>
        </p:blipFill>
        <p:spPr>
          <a:xfrm>
            <a:off x="3206497" y="3836518"/>
            <a:ext cx="4642103" cy="2353742"/>
          </a:xfrm>
          <a:prstGeom prst="rect">
            <a:avLst/>
          </a:prstGeom>
        </p:spPr>
      </p:pic>
    </p:spTree>
    <p:extLst>
      <p:ext uri="{BB962C8B-B14F-4D97-AF65-F5344CB8AC3E}">
        <p14:creationId xmlns:p14="http://schemas.microsoft.com/office/powerpoint/2010/main" val="22194138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8910</TotalTime>
  <Words>744</Words>
  <Application>Microsoft Office PowerPoint</Application>
  <PresentationFormat>Widescreen</PresentationFormat>
  <Paragraphs>75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Cambria Math</vt:lpstr>
      <vt:lpstr>Times New Roman</vt:lpstr>
      <vt:lpstr>Figtree</vt:lpstr>
      <vt:lpstr>Inter</vt:lpstr>
      <vt:lpstr>Calibri</vt:lpstr>
      <vt:lpstr>Office-tema</vt:lpstr>
      <vt:lpstr>2-Level Inverter Integration with 62mm Power Module</vt:lpstr>
      <vt:lpstr>Busbar Desing</vt:lpstr>
      <vt:lpstr>Parasitic Inductances (Switching Speed Limitation)</vt:lpstr>
      <vt:lpstr>Parasitic Inductances (Switching Speed Limitation)</vt:lpstr>
      <vt:lpstr>Gate Driver and Sensors (that we consider to use)</vt:lpstr>
      <vt:lpstr>Cooling : Six 62mm Power Modules (in a row)</vt:lpstr>
      <vt:lpstr>Control: Back-to-Back Inverter</vt:lpstr>
      <vt:lpstr>Control: Back-to-Back Inverter</vt:lpstr>
      <vt:lpstr>Control: Back-to-Back Inverter</vt:lpstr>
      <vt:lpstr>Control: Back-to-Back Inverter</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214</cp:revision>
  <dcterms:created xsi:type="dcterms:W3CDTF">2024-01-10T13:17:29Z</dcterms:created>
  <dcterms:modified xsi:type="dcterms:W3CDTF">2025-03-07T09:37:03Z</dcterms:modified>
</cp:coreProperties>
</file>