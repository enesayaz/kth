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4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04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320040" y="50292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75000"/>
            </a:srgbClr>
          </a:solidFill>
          <a:ln w="1016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1F5F9"/>
                </a:solidFill>
              </a:rPr>
              <a:t>POWER ELECTRONICS  ·  PWM TECHNIQUE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Minimizing DC-Link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Capacitor RMS Current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Multi-Carrier PWM via Triple Overlap Principle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3566160"/>
            <a:ext cx="45720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320040" y="3703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Two-level three-phase VSI  </a:t>
            </a:r>
            <a:r>
              <a:rPr lang="en-US" sz="1000" dirty="0">
                <a:solidFill>
                  <a:srgbClr val="0D9488"/>
                </a:solidFill>
              </a:rPr>
              <a:t> · </a:t>
            </a:r>
            <a:r>
              <a:rPr lang="en-US" sz="1000" dirty="0">
                <a:solidFill>
                  <a:srgbClr val="64748B"/>
                </a:solidFill>
              </a:rPr>
              <a:t>  Analytical closed-form optimum  </a:t>
            </a:r>
            <a:r>
              <a:rPr lang="en-US" sz="1000" dirty="0">
                <a:solidFill>
                  <a:srgbClr val="0D9488"/>
                </a:solidFill>
              </a:rPr>
              <a:t> · </a:t>
            </a:r>
            <a:r>
              <a:rPr lang="en-US" sz="1000" dirty="0">
                <a:solidFill>
                  <a:srgbClr val="64748B"/>
                </a:solidFill>
              </a:rPr>
              <a:t>  No LUT, no sweep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KTH Royal Institute of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Uncontrolled switching → excessive capacitor stress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58521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9632" y="822960"/>
            <a:ext cx="274320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Shape 5"/>
          <p:cNvSpPr/>
          <p:nvPr/>
        </p:nvSpPr>
        <p:spPr>
          <a:xfrm>
            <a:off x="6199632" y="822960"/>
            <a:ext cx="54864" cy="10789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6"/>
          <p:cNvSpPr/>
          <p:nvPr/>
        </p:nvSpPr>
        <p:spPr>
          <a:xfrm>
            <a:off x="6355080" y="914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of inverter failures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from capacitor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9632" y="2084832"/>
            <a:ext cx="274320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2" name="Shape 9"/>
          <p:cNvSpPr/>
          <p:nvPr/>
        </p:nvSpPr>
        <p:spPr>
          <a:xfrm>
            <a:off x="6199632" y="2084832"/>
            <a:ext cx="54864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0"/>
          <p:cNvSpPr/>
          <p:nvPr/>
        </p:nvSpPr>
        <p:spPr>
          <a:xfrm>
            <a:off x="6355080" y="21762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RMS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55080" y="2633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causes thermal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stress &amp; aging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9632" y="3346704"/>
            <a:ext cx="274320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Shape 13"/>
          <p:cNvSpPr/>
          <p:nvPr/>
        </p:nvSpPr>
        <p:spPr>
          <a:xfrm>
            <a:off x="6199632" y="3346704"/>
            <a:ext cx="54864" cy="10789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4"/>
          <p:cNvSpPr/>
          <p:nvPr/>
        </p:nvSpPr>
        <p:spPr>
          <a:xfrm>
            <a:off x="6355080" y="34381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hw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355080" y="38953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extra hardware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required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82880" y="47548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Goal: dynamically choose carrier phase shifts θ_b, θ_c each switching cycle to minimise I²_cap,rms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ANALYTICAL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RMS² budget decomposition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0"/>
            <a:ext cx="8869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THE KEY 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Triple overlap principle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315968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43159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347472" y="89611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 λ_abc  (Triple Overlap)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" y="1389888"/>
            <a:ext cx="4059936" cy="530352"/>
          </a:xfrm>
          <a:prstGeom prst="rect">
            <a:avLst/>
          </a:prstGeom>
          <a:solidFill>
            <a:srgbClr val="0F172A"/>
          </a:solidFill>
          <a:ln w="1524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310896" y="138988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∂I² / ∂λ_abc = −(ia²+ib²+ic²)  &lt;  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011680"/>
            <a:ext cx="40050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When all three switches are ON simultaneously,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i_a + i_b + i_c = 0  →  only −ī_dc flows.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Triple overlap ALWAYS reduces RMS² 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regardless of current magnitude or sign.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315968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315968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4828032" y="89611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 λ_bc,only  (Same-Sign Pair)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1456" y="1389888"/>
            <a:ext cx="4059936" cy="530352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4791456" y="138988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∂I² / ∂λ_bc,only = 2·ib·ic  &gt;  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011680"/>
            <a:ext cx="40050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When the two same-sign legs switch together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without the lone leg, i_b + i_c = −i_a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flows as ripple current.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Same-sign exclusive overlap ALWAYS bad.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solidFill>
            <a:srgbClr val="0F2744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Optimal rule: nest both bank pulses INSIDE the lone pulse  →  λ_bc,only = 0  AND  λ_abc = max(0, db+dc−da)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PULSE GEOMETRY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Before &amp; after: nesting the bank pulses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SECTOR LOGIC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Three if-else cases cover all six sign combinations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49808"/>
            <a:ext cx="512064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749808"/>
            <a:ext cx="3566160" cy="4206240"/>
          </a:xfrm>
          <a:prstGeom prst="rect">
            <a:avLst/>
          </a:prstGeom>
          <a:solidFill>
            <a:srgbClr val="0B0F1A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5"/>
          <p:cNvSpPr/>
          <p:nvPr/>
        </p:nvSpPr>
        <p:spPr>
          <a:xfrm>
            <a:off x="5468112" y="868680"/>
            <a:ext cx="34198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 comparisons, 1 subtraction
</a:t>
            </a: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sign(ia);  </a:t>
            </a: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sign(ib);  </a:t>
            </a: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sign(ic);
</a:t>
            </a: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sa≠sb &amp;&amp; sa≠sc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lone=A
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 θ_b=0;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θ_c=</a:t>
            </a:r>
            <a:endParaRPr lang="en-US" sz="8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da−dc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sb≠sa &amp;&amp; sb≠sc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lone=B
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 θ_b=0;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θ_c=</a:t>
            </a:r>
            <a:endParaRPr lang="en-US" sz="8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db−dc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lone=C
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</a:t>
            </a:r>
            <a:endParaRPr lang="en-US" sz="8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 err="1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θ_b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8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dc−db</a:t>
            </a: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θ_c=0;
</a:t>
            </a: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FULL CYCLE 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Sinusoidal references, adaptive phase shifts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Single switching interval — before vs after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1F5F9"/>
                </a:solidFill>
              </a:rPr>
              <a:t>Real-time algorithm: 2 comparisons + 1 subtraction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6217920" cy="4187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8" name="Shape 5"/>
          <p:cNvSpPr/>
          <p:nvPr/>
        </p:nvSpPr>
        <p:spPr>
          <a:xfrm>
            <a:off x="6492240" y="822960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6"/>
          <p:cNvSpPr/>
          <p:nvPr/>
        </p:nvSpPr>
        <p:spPr>
          <a:xfrm>
            <a:off x="6601968" y="84124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No offline LUT required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1389888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Shape 8"/>
          <p:cNvSpPr/>
          <p:nvPr/>
        </p:nvSpPr>
        <p:spPr>
          <a:xfrm>
            <a:off x="6492240" y="1389888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9"/>
          <p:cNvSpPr/>
          <p:nvPr/>
        </p:nvSpPr>
        <p:spPr>
          <a:xfrm>
            <a:off x="6601968" y="140817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No iterative solver or sweep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1956816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4" name="Shape 11"/>
          <p:cNvSpPr/>
          <p:nvPr/>
        </p:nvSpPr>
        <p:spPr>
          <a:xfrm>
            <a:off x="6492240" y="1956816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2"/>
          <p:cNvSpPr/>
          <p:nvPr/>
        </p:nvSpPr>
        <p:spPr>
          <a:xfrm>
            <a:off x="6601968" y="197510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Analytically optimal — provably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2523744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7" name="Shape 14"/>
          <p:cNvSpPr/>
          <p:nvPr/>
        </p:nvSpPr>
        <p:spPr>
          <a:xfrm>
            <a:off x="6492240" y="2523744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5"/>
          <p:cNvSpPr/>
          <p:nvPr/>
        </p:nvSpPr>
        <p:spPr>
          <a:xfrm>
            <a:off x="6601968" y="254203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2 sign checks + 1 subtraction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92240" y="3090672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0" name="Shape 17"/>
          <p:cNvSpPr/>
          <p:nvPr/>
        </p:nvSpPr>
        <p:spPr>
          <a:xfrm>
            <a:off x="6492240" y="3090672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8"/>
          <p:cNvSpPr/>
          <p:nvPr/>
        </p:nvSpPr>
        <p:spPr>
          <a:xfrm>
            <a:off x="6601968" y="31089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Updates every switching cycle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92240" y="3657600"/>
            <a:ext cx="246888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3" name="Shape 20"/>
          <p:cNvSpPr/>
          <p:nvPr/>
        </p:nvSpPr>
        <p:spPr>
          <a:xfrm>
            <a:off x="6492240" y="3657600"/>
            <a:ext cx="45720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1"/>
          <p:cNvSpPr/>
          <p:nvPr/>
        </p:nvSpPr>
        <p:spPr>
          <a:xfrm>
            <a:off x="6601968" y="367588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</a:rPr>
              <a:t>✓  No extra hardware needed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5029200" cy="5029200"/>
          </a:xfrm>
          <a:prstGeom prst="ellipse">
            <a:avLst/>
          </a:prstGeom>
          <a:solidFill>
            <a:srgbClr val="0D9488">
              <a:alpha val="10000"/>
            </a:srgbClr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4748B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4224528" cy="1536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54864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393192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14813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Closed-Form RMS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I²_rms decomposes into fixed F₀ plus pairwise overlap cross-terms.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All overlaps are piecewise-linear in phase shifts — exact, no approximation.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3127248"/>
            <a:ext cx="4224528" cy="1536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256032" y="3127248"/>
            <a:ext cx="54864" cy="15361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393192" y="3218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" y="3218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Overlap Always Beneficial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" y="374904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∂I²/∂λ_abc = −(ia²+ib²+ic²) &lt; 0 unconditionally.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Maximizing triple overlap is equivalent to maximizing sum-to-zero intervals.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1389888"/>
            <a:ext cx="4224528" cy="1536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4645152" y="1389888"/>
            <a:ext cx="54864" cy="15361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4782312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82312" y="14813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Two-Rule Implementation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82312" y="201168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Align START of one bank pulse with lone pulse.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Align END of other bank pulse with lone pulse.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→ θ_b = 0,   θ_c = d_lone − d_bank2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3127248"/>
            <a:ext cx="4224528" cy="1536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4645152" y="3127248"/>
            <a:ext cx="54864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4782312" y="3218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82312" y="3218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If-Else Cases Cover Full Cycle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82312" y="374904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Sign detection → 3 sectors → one subtraction per case.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No sweep, no LUT, no offline computation needed.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4828032"/>
            <a:ext cx="868680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228600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Proven analytically and verified numerically against brute-force sweep across all operating points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635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DC-Link Capacitor RMS Minimization</dc:title>
  <dc:subject>PptxGenJS Presentation</dc:subject>
  <dc:creator>KTH Power Electronics</dc:creator>
  <cp:lastModifiedBy>Enes Ayaz</cp:lastModifiedBy>
  <cp:revision>2</cp:revision>
  <dcterms:created xsi:type="dcterms:W3CDTF">2026-03-02T15:29:19Z</dcterms:created>
  <dcterms:modified xsi:type="dcterms:W3CDTF">2026-03-02T16:28:13Z</dcterms:modified>
</cp:coreProperties>
</file>