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8"/>
  </p:notesMasterIdLst>
  <p:sldIdLst>
    <p:sldId id="256" r:id="rId2"/>
    <p:sldId id="289" r:id="rId3"/>
    <p:sldId id="291" r:id="rId4"/>
    <p:sldId id="292" r:id="rId5"/>
    <p:sldId id="290" r:id="rId6"/>
    <p:sldId id="286" r:id="rId7"/>
  </p:sldIdLst>
  <p:sldSz cx="12192000" cy="6858000"/>
  <p:notesSz cx="6858000" cy="9144000"/>
  <p:embeddedFontLst>
    <p:embeddedFont>
      <p:font typeface="Calibri" panose="020F0502020204030204" pitchFamily="34" charset="0"/>
      <p:regular r:id="rId9"/>
      <p:bold r:id="rId10"/>
      <p:italic r:id="rId11"/>
      <p:boldItalic r:id="rId12"/>
    </p:embeddedFont>
    <p:embeddedFont>
      <p:font typeface="Figtree" panose="020B0604020202020204" charset="0"/>
      <p:regular r:id="rId13"/>
      <p:bold r:id="rId14"/>
      <p:italic r:id="rId15"/>
      <p:boldItalic r:id="rId16"/>
    </p:embeddedFont>
    <p:embeddedFont>
      <p:font typeface="Cambria Math" panose="02040503050406030204" pitchFamily="18" charset="0"/>
      <p:regular r:id="rId17"/>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42" autoAdjust="0"/>
    <p:restoredTop sz="96327"/>
  </p:normalViewPr>
  <p:slideViewPr>
    <p:cSldViewPr snapToGrid="0">
      <p:cViewPr varScale="1">
        <p:scale>
          <a:sx n="160" d="100"/>
          <a:sy n="160" d="100"/>
        </p:scale>
        <p:origin x="498"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2025-07-15</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2025-07-15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2025-07-15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2025-07-15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2025-07-15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2025-07-15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2025-07-15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2025-07-15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2025-07-15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2025-07-15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2025-07-15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2025-07-15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2025-07-15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2025-07-15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2025-07-15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2025-07-15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2025-07-15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2025-07-15</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2025-07-15</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2025-07-15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2025-07-15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2025-07-15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2025-07-15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2025-07-15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2025-07-15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2025-07-15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2025-07-15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2025-07-15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2025-07-15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2025-07-15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2025-07-15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2025-07-15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2025-07-15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2025-07-15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2025-07-15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2025-07-15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2025-07-15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2025-07-15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2025-07-15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2025-07-15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2025-07-15</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2025-07-15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2025-07-15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2025-07-15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2025-07-15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2025-07-15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2025-07-15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2025-07-15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2025-07-15</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2.jpeg"/><Relationship Id="rId7" Type="http://schemas.openxmlformats.org/officeDocument/2006/relationships/image" Target="../media/image26.jpeg"/><Relationship Id="rId2" Type="http://schemas.openxmlformats.org/officeDocument/2006/relationships/image" Target="../media/image21.png"/><Relationship Id="rId1" Type="http://schemas.openxmlformats.org/officeDocument/2006/relationships/slideLayout" Target="../slideLayouts/slideLayout12.xml"/><Relationship Id="rId6" Type="http://schemas.openxmlformats.org/officeDocument/2006/relationships/image" Target="../media/image25.jpeg"/><Relationship Id="rId5" Type="http://schemas.openxmlformats.org/officeDocument/2006/relationships/image" Target="../media/image24.png"/><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0.png"/><Relationship Id="rId1" Type="http://schemas.openxmlformats.org/officeDocument/2006/relationships/slideLayout" Target="../slideLayouts/slideLayout12.xml"/><Relationship Id="rId5" Type="http://schemas.openxmlformats.org/officeDocument/2006/relationships/image" Target="../media/image31.emf"/><Relationship Id="rId4" Type="http://schemas.openxmlformats.org/officeDocument/2006/relationships/image" Target="../media/image30.emf"/></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jpeg"/><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12.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269129"/>
            <a:ext cx="8798701" cy="1956921"/>
          </a:xfrm>
        </p:spPr>
        <p:txBody>
          <a:bodyPr/>
          <a:lstStyle/>
          <a:p>
            <a:r>
              <a:rPr lang="en-US" dirty="0" smtClean="0"/>
              <a:t>Inverter </a:t>
            </a:r>
            <a:r>
              <a:rPr lang="en-US" dirty="0" err="1" smtClean="0"/>
              <a:t>Protoyping</a:t>
            </a:r>
            <a:r>
              <a:rPr lang="en-US" dirty="0" smtClean="0"/>
              <a:t>:</a:t>
            </a:r>
            <a:r>
              <a:rPr lang="en-US" dirty="0" smtClean="0"/>
              <a:t> 62mm Power Module</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r>
              <a:rPr lang="en-US" dirty="0" smtClean="0"/>
              <a:t>KTH</a:t>
            </a:r>
            <a:endParaRPr lang="sv-SE" dirty="0"/>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err="1" smtClean="0">
                <a:latin typeface="Times New Roman" panose="02020603050405020304" pitchFamily="18" charset="0"/>
                <a:cs typeface="Times New Roman" panose="02020603050405020304" pitchFamily="18" charset="0"/>
              </a:rPr>
              <a:t>Busbar</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Desing</a:t>
            </a:r>
            <a:endParaRPr lang="sv-SE" dirty="0">
              <a:latin typeface="Times New Roman" panose="02020603050405020304" pitchFamily="18" charset="0"/>
              <a:cs typeface="Times New Roman" panose="02020603050405020304" pitchFamily="18" charset="0"/>
            </a:endParaRPr>
          </a:p>
        </p:txBody>
      </p:sp>
      <p:sp>
        <p:nvSpPr>
          <p:cNvPr id="12" name="Rectangle 11"/>
          <p:cNvSpPr/>
          <p:nvPr/>
        </p:nvSpPr>
        <p:spPr>
          <a:xfrm>
            <a:off x="4533530" y="1084954"/>
            <a:ext cx="304470" cy="295835"/>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13" name="Rectangle 12"/>
          <p:cNvSpPr/>
          <p:nvPr/>
        </p:nvSpPr>
        <p:spPr>
          <a:xfrm>
            <a:off x="4525091" y="2006986"/>
            <a:ext cx="292286" cy="262965"/>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14" name="TextBox 13"/>
          <p:cNvSpPr txBox="1"/>
          <p:nvPr/>
        </p:nvSpPr>
        <p:spPr>
          <a:xfrm>
            <a:off x="5013602" y="1040359"/>
            <a:ext cx="3624498" cy="307777"/>
          </a:xfrm>
          <a:prstGeom prst="rect">
            <a:avLst/>
          </a:prstGeom>
          <a:noFill/>
        </p:spPr>
        <p:txBody>
          <a:bodyPr wrap="square" rtlCol="0">
            <a:spAutoFit/>
          </a:bodyPr>
          <a:lstStyle/>
          <a:p>
            <a:r>
              <a:rPr lang="en-US" sz="1400" dirty="0" smtClean="0"/>
              <a:t>Capacitor : KEMET C44U 1300V 200uH</a:t>
            </a:r>
            <a:endParaRPr lang="sv-SE" sz="1400" dirty="0"/>
          </a:p>
        </p:txBody>
      </p:sp>
      <p:sp>
        <p:nvSpPr>
          <p:cNvPr id="15" name="TextBox 14"/>
          <p:cNvSpPr txBox="1"/>
          <p:nvPr/>
        </p:nvSpPr>
        <p:spPr>
          <a:xfrm>
            <a:off x="5029450" y="2077627"/>
            <a:ext cx="3906487" cy="307777"/>
          </a:xfrm>
          <a:prstGeom prst="rect">
            <a:avLst/>
          </a:prstGeom>
          <a:noFill/>
        </p:spPr>
        <p:txBody>
          <a:bodyPr wrap="square" rtlCol="0">
            <a:spAutoFit/>
          </a:bodyPr>
          <a:lstStyle/>
          <a:p>
            <a:r>
              <a:rPr lang="en-US" sz="1400" dirty="0" smtClean="0"/>
              <a:t>Power Modules : Infineon 2kV </a:t>
            </a:r>
            <a:r>
              <a:rPr lang="en-US" sz="1400" dirty="0" err="1" smtClean="0"/>
              <a:t>CoolSic</a:t>
            </a:r>
            <a:r>
              <a:rPr lang="en-US" sz="1400" dirty="0" smtClean="0"/>
              <a:t> 62mm</a:t>
            </a:r>
            <a:endParaRPr lang="sv-SE" sz="1400" dirty="0"/>
          </a:p>
        </p:txBody>
      </p:sp>
      <p:sp>
        <p:nvSpPr>
          <p:cNvPr id="16" name="Oval 15"/>
          <p:cNvSpPr/>
          <p:nvPr/>
        </p:nvSpPr>
        <p:spPr>
          <a:xfrm>
            <a:off x="400577" y="1937670"/>
            <a:ext cx="214823" cy="191247"/>
          </a:xfrm>
          <a:prstGeom prst="ellipse">
            <a:avLst/>
          </a:prstGeom>
          <a:solidFill>
            <a:srgbClr val="0029ED"/>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17" name="TextBox 16"/>
          <p:cNvSpPr txBox="1"/>
          <p:nvPr/>
        </p:nvSpPr>
        <p:spPr>
          <a:xfrm>
            <a:off x="847318" y="1848627"/>
            <a:ext cx="2058895" cy="307777"/>
          </a:xfrm>
          <a:prstGeom prst="rect">
            <a:avLst/>
          </a:prstGeom>
          <a:noFill/>
        </p:spPr>
        <p:txBody>
          <a:bodyPr wrap="square" rtlCol="0">
            <a:spAutoFit/>
          </a:bodyPr>
          <a:lstStyle/>
          <a:p>
            <a:r>
              <a:rPr lang="en-US" sz="1400" dirty="0" smtClean="0"/>
              <a:t>DC- Nodes</a:t>
            </a:r>
            <a:endParaRPr lang="sv-SE" sz="1400" dirty="0"/>
          </a:p>
        </p:txBody>
      </p:sp>
      <p:sp>
        <p:nvSpPr>
          <p:cNvPr id="18" name="Oval 17"/>
          <p:cNvSpPr/>
          <p:nvPr/>
        </p:nvSpPr>
        <p:spPr>
          <a:xfrm>
            <a:off x="400576" y="2319865"/>
            <a:ext cx="214823" cy="191247"/>
          </a:xfrm>
          <a:prstGeom prst="ellipse">
            <a:avLst/>
          </a:prstGeom>
          <a:solidFill>
            <a:srgbClr val="FF0000"/>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sp>
        <p:nvSpPr>
          <p:cNvPr id="19" name="TextBox 18"/>
          <p:cNvSpPr txBox="1"/>
          <p:nvPr/>
        </p:nvSpPr>
        <p:spPr>
          <a:xfrm>
            <a:off x="847317" y="2250628"/>
            <a:ext cx="2058895" cy="307777"/>
          </a:xfrm>
          <a:prstGeom prst="rect">
            <a:avLst/>
          </a:prstGeom>
          <a:noFill/>
        </p:spPr>
        <p:txBody>
          <a:bodyPr wrap="square" rtlCol="0">
            <a:spAutoFit/>
          </a:bodyPr>
          <a:lstStyle/>
          <a:p>
            <a:r>
              <a:rPr lang="en-US" sz="1400" dirty="0" smtClean="0"/>
              <a:t>DC+ Nodes</a:t>
            </a:r>
            <a:endParaRPr lang="sv-SE" sz="1400" dirty="0"/>
          </a:p>
        </p:txBody>
      </p:sp>
      <p:pic>
        <p:nvPicPr>
          <p:cNvPr id="24" name="Picture 23"/>
          <p:cNvPicPr>
            <a:picLocks noChangeAspect="1"/>
          </p:cNvPicPr>
          <p:nvPr/>
        </p:nvPicPr>
        <p:blipFill rotWithShape="1">
          <a:blip r:embed="rId2"/>
          <a:srcRect l="8711"/>
          <a:stretch/>
        </p:blipFill>
        <p:spPr>
          <a:xfrm>
            <a:off x="8638100" y="1782340"/>
            <a:ext cx="1548023" cy="1025216"/>
          </a:xfrm>
          <a:prstGeom prst="rect">
            <a:avLst/>
          </a:prstGeom>
        </p:spPr>
      </p:pic>
      <p:pic>
        <p:nvPicPr>
          <p:cNvPr id="25" name="Picture 2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09308" y="733705"/>
            <a:ext cx="671260" cy="895013"/>
          </a:xfrm>
          <a:prstGeom prst="rect">
            <a:avLst/>
          </a:prstGeom>
        </p:spPr>
      </p:pic>
      <p:sp>
        <p:nvSpPr>
          <p:cNvPr id="26" name="TextBox 25"/>
          <p:cNvSpPr txBox="1"/>
          <p:nvPr/>
        </p:nvSpPr>
        <p:spPr>
          <a:xfrm>
            <a:off x="5086487" y="2831261"/>
            <a:ext cx="966437" cy="307777"/>
          </a:xfrm>
          <a:prstGeom prst="rect">
            <a:avLst/>
          </a:prstGeom>
          <a:noFill/>
        </p:spPr>
        <p:txBody>
          <a:bodyPr wrap="square" rtlCol="0">
            <a:spAutoFit/>
          </a:bodyPr>
          <a:lstStyle/>
          <a:p>
            <a:r>
              <a:rPr lang="en-US" sz="1400" dirty="0" err="1" smtClean="0"/>
              <a:t>Coldplate</a:t>
            </a:r>
            <a:endParaRPr lang="en-US" sz="1400" dirty="0"/>
          </a:p>
        </p:txBody>
      </p:sp>
      <p:pic>
        <p:nvPicPr>
          <p:cNvPr id="27" name="Picture 26"/>
          <p:cNvPicPr>
            <a:picLocks noChangeAspect="1"/>
          </p:cNvPicPr>
          <p:nvPr/>
        </p:nvPicPr>
        <p:blipFill>
          <a:blip r:embed="rId4"/>
          <a:stretch>
            <a:fillRect/>
          </a:stretch>
        </p:blipFill>
        <p:spPr>
          <a:xfrm>
            <a:off x="6153376" y="2498599"/>
            <a:ext cx="985485" cy="1061188"/>
          </a:xfrm>
          <a:prstGeom prst="rect">
            <a:avLst/>
          </a:prstGeom>
        </p:spPr>
      </p:pic>
      <p:sp>
        <p:nvSpPr>
          <p:cNvPr id="28" name="Rectangle 27"/>
          <p:cNvSpPr/>
          <p:nvPr/>
        </p:nvSpPr>
        <p:spPr>
          <a:xfrm>
            <a:off x="4543659" y="2833756"/>
            <a:ext cx="304470" cy="295835"/>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p>
        </p:txBody>
      </p:sp>
      <p:grpSp>
        <p:nvGrpSpPr>
          <p:cNvPr id="30" name="Group 29"/>
          <p:cNvGrpSpPr/>
          <p:nvPr/>
        </p:nvGrpSpPr>
        <p:grpSpPr>
          <a:xfrm>
            <a:off x="2029573" y="1084954"/>
            <a:ext cx="2275728" cy="2651814"/>
            <a:chOff x="334122" y="1171388"/>
            <a:chExt cx="4022495" cy="4678176"/>
          </a:xfrm>
        </p:grpSpPr>
        <p:pic>
          <p:nvPicPr>
            <p:cNvPr id="3" name="Picture 2"/>
            <p:cNvPicPr>
              <a:picLocks noChangeAspect="1"/>
            </p:cNvPicPr>
            <p:nvPr/>
          </p:nvPicPr>
          <p:blipFill>
            <a:blip r:embed="rId5"/>
            <a:stretch>
              <a:fillRect/>
            </a:stretch>
          </p:blipFill>
          <p:spPr>
            <a:xfrm>
              <a:off x="334122" y="1171388"/>
              <a:ext cx="4022495" cy="4678176"/>
            </a:xfrm>
            <a:prstGeom prst="rect">
              <a:avLst/>
            </a:prstGeom>
          </p:spPr>
        </p:pic>
        <p:sp>
          <p:nvSpPr>
            <p:cNvPr id="5" name="Rectangle 4"/>
            <p:cNvSpPr/>
            <p:nvPr/>
          </p:nvSpPr>
          <p:spPr>
            <a:xfrm>
              <a:off x="1039905" y="1625600"/>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 name="Rectangle 5"/>
            <p:cNvSpPr/>
            <p:nvPr/>
          </p:nvSpPr>
          <p:spPr>
            <a:xfrm>
              <a:off x="2537011" y="1670423"/>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7" name="Rectangle 6"/>
            <p:cNvSpPr/>
            <p:nvPr/>
          </p:nvSpPr>
          <p:spPr>
            <a:xfrm>
              <a:off x="1039905" y="3053276"/>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 name="Rectangle 7"/>
            <p:cNvSpPr/>
            <p:nvPr/>
          </p:nvSpPr>
          <p:spPr>
            <a:xfrm>
              <a:off x="2537011" y="3053276"/>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9" name="Rectangle 8"/>
            <p:cNvSpPr/>
            <p:nvPr/>
          </p:nvSpPr>
          <p:spPr>
            <a:xfrm>
              <a:off x="2949948" y="4814047"/>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 name="Rectangle 9"/>
            <p:cNvSpPr/>
            <p:nvPr/>
          </p:nvSpPr>
          <p:spPr>
            <a:xfrm>
              <a:off x="1901896" y="4814047"/>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 name="Rectangle 10"/>
            <p:cNvSpPr/>
            <p:nvPr/>
          </p:nvSpPr>
          <p:spPr>
            <a:xfrm>
              <a:off x="853844" y="4814047"/>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9" name="Rectangle 28"/>
            <p:cNvSpPr/>
            <p:nvPr/>
          </p:nvSpPr>
          <p:spPr>
            <a:xfrm>
              <a:off x="449570" y="4217773"/>
              <a:ext cx="3745911" cy="1510674"/>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pic>
        <p:nvPicPr>
          <p:cNvPr id="46" name="Picture 45"/>
          <p:cNvPicPr>
            <a:picLocks noChangeAspect="1"/>
          </p:cNvPicPr>
          <p:nvPr/>
        </p:nvPicPr>
        <p:blipFill rotWithShape="1">
          <a:blip r:embed="rId6">
            <a:extLst>
              <a:ext uri="{28A0092B-C50C-407E-A947-70E740481C1C}">
                <a14:useLocalDpi xmlns:a14="http://schemas.microsoft.com/office/drawing/2010/main" val="0"/>
              </a:ext>
            </a:extLst>
          </a:blip>
          <a:srcRect l="9414" t="56556" r="12585" b="10778"/>
          <a:stretch/>
        </p:blipFill>
        <p:spPr>
          <a:xfrm>
            <a:off x="453263" y="3994237"/>
            <a:ext cx="5428348" cy="1705058"/>
          </a:xfrm>
          <a:prstGeom prst="rect">
            <a:avLst/>
          </a:prstGeom>
        </p:spPr>
      </p:pic>
      <p:pic>
        <p:nvPicPr>
          <p:cNvPr id="47" name="Picture 46"/>
          <p:cNvPicPr>
            <a:picLocks noChangeAspect="1"/>
          </p:cNvPicPr>
          <p:nvPr/>
        </p:nvPicPr>
        <p:blipFill rotWithShape="1">
          <a:blip r:embed="rId7">
            <a:extLst>
              <a:ext uri="{28A0092B-C50C-407E-A947-70E740481C1C}">
                <a14:useLocalDpi xmlns:a14="http://schemas.microsoft.com/office/drawing/2010/main" val="0"/>
              </a:ext>
            </a:extLst>
          </a:blip>
          <a:srcRect l="20611" t="10404" r="39322" b="41048"/>
          <a:stretch/>
        </p:blipFill>
        <p:spPr>
          <a:xfrm>
            <a:off x="6061828" y="3832834"/>
            <a:ext cx="2352186" cy="2137538"/>
          </a:xfrm>
          <a:prstGeom prst="rect">
            <a:avLst/>
          </a:prstGeom>
        </p:spPr>
      </p:pic>
      <p:cxnSp>
        <p:nvCxnSpPr>
          <p:cNvPr id="51" name="Straight Arrow Connector 50"/>
          <p:cNvCxnSpPr>
            <a:endCxn id="52" idx="0"/>
          </p:cNvCxnSpPr>
          <p:nvPr/>
        </p:nvCxnSpPr>
        <p:spPr>
          <a:xfrm>
            <a:off x="1657350" y="5435600"/>
            <a:ext cx="6363" cy="824687"/>
          </a:xfrm>
          <a:prstGeom prst="straightConnector1">
            <a:avLst/>
          </a:prstGeom>
          <a:ln w="28575">
            <a:solidFill>
              <a:schemeClr val="tx1"/>
            </a:solidFill>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1180247" y="6260287"/>
            <a:ext cx="966931" cy="307777"/>
          </a:xfrm>
          <a:prstGeom prst="rect">
            <a:avLst/>
          </a:prstGeom>
        </p:spPr>
        <p:txBody>
          <a:bodyPr wrap="none">
            <a:spAutoFit/>
          </a:bodyPr>
          <a:lstStyle/>
          <a:p>
            <a:r>
              <a:rPr lang="en-US" sz="1400" dirty="0" err="1"/>
              <a:t>Coldplate</a:t>
            </a:r>
            <a:endParaRPr lang="sv-SE" dirty="0"/>
          </a:p>
        </p:txBody>
      </p:sp>
      <p:sp>
        <p:nvSpPr>
          <p:cNvPr id="55" name="Rectangle 54"/>
          <p:cNvSpPr/>
          <p:nvPr/>
        </p:nvSpPr>
        <p:spPr>
          <a:xfrm>
            <a:off x="4355109" y="6294945"/>
            <a:ext cx="1465466" cy="307777"/>
          </a:xfrm>
          <a:prstGeom prst="rect">
            <a:avLst/>
          </a:prstGeom>
        </p:spPr>
        <p:txBody>
          <a:bodyPr wrap="none">
            <a:spAutoFit/>
          </a:bodyPr>
          <a:lstStyle/>
          <a:p>
            <a:r>
              <a:rPr lang="en-US" sz="1400" dirty="0"/>
              <a:t>Power Modules </a:t>
            </a:r>
            <a:endParaRPr lang="sv-SE" sz="1400" dirty="0"/>
          </a:p>
        </p:txBody>
      </p:sp>
      <p:sp>
        <p:nvSpPr>
          <p:cNvPr id="61" name="TextBox 60"/>
          <p:cNvSpPr txBox="1"/>
          <p:nvPr/>
        </p:nvSpPr>
        <p:spPr>
          <a:xfrm>
            <a:off x="6350937" y="6204894"/>
            <a:ext cx="1124123" cy="523220"/>
          </a:xfrm>
          <a:prstGeom prst="rect">
            <a:avLst/>
          </a:prstGeom>
          <a:noFill/>
        </p:spPr>
        <p:txBody>
          <a:bodyPr wrap="square" rtlCol="0">
            <a:spAutoFit/>
          </a:bodyPr>
          <a:lstStyle/>
          <a:p>
            <a:pPr algn="ctr"/>
            <a:r>
              <a:rPr lang="en-US" sz="1400" dirty="0" smtClean="0"/>
              <a:t>Laminated </a:t>
            </a:r>
          </a:p>
          <a:p>
            <a:pPr algn="ctr"/>
            <a:r>
              <a:rPr lang="en-US" sz="1400" dirty="0" err="1" smtClean="0"/>
              <a:t>Busbar</a:t>
            </a:r>
            <a:endParaRPr lang="sv-SE" sz="1400" dirty="0"/>
          </a:p>
        </p:txBody>
      </p:sp>
      <p:pic>
        <p:nvPicPr>
          <p:cNvPr id="62" name="Picture 61"/>
          <p:cNvPicPr>
            <a:picLocks noChangeAspect="1"/>
          </p:cNvPicPr>
          <p:nvPr/>
        </p:nvPicPr>
        <p:blipFill rotWithShape="1">
          <a:blip r:embed="rId8">
            <a:extLst>
              <a:ext uri="{28A0092B-C50C-407E-A947-70E740481C1C}">
                <a14:useLocalDpi xmlns:a14="http://schemas.microsoft.com/office/drawing/2010/main" val="0"/>
              </a:ext>
            </a:extLst>
          </a:blip>
          <a:srcRect l="22469" t="43333" r="19506" b="12870"/>
          <a:stretch/>
        </p:blipFill>
        <p:spPr>
          <a:xfrm>
            <a:off x="8844938" y="3771660"/>
            <a:ext cx="2342439" cy="2357391"/>
          </a:xfrm>
          <a:prstGeom prst="rect">
            <a:avLst/>
          </a:prstGeom>
        </p:spPr>
      </p:pic>
      <p:cxnSp>
        <p:nvCxnSpPr>
          <p:cNvPr id="65" name="Straight Arrow Connector 64"/>
          <p:cNvCxnSpPr>
            <a:endCxn id="55" idx="0"/>
          </p:cNvCxnSpPr>
          <p:nvPr/>
        </p:nvCxnSpPr>
        <p:spPr>
          <a:xfrm>
            <a:off x="5069302" y="5543550"/>
            <a:ext cx="18540" cy="751395"/>
          </a:xfrm>
          <a:prstGeom prst="straightConnector1">
            <a:avLst/>
          </a:prstGeom>
          <a:ln w="28575">
            <a:solidFill>
              <a:schemeClr val="tx1"/>
            </a:solidFill>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a:off x="6864350" y="5699295"/>
            <a:ext cx="27072" cy="560992"/>
          </a:xfrm>
          <a:prstGeom prst="straightConnector1">
            <a:avLst/>
          </a:prstGeom>
          <a:ln w="28575">
            <a:solidFill>
              <a:schemeClr val="tx1"/>
            </a:solidFill>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a:off x="7966154" y="4826000"/>
            <a:ext cx="24406" cy="1486616"/>
          </a:xfrm>
          <a:prstGeom prst="straightConnector1">
            <a:avLst/>
          </a:prstGeom>
          <a:ln w="28575">
            <a:solidFill>
              <a:schemeClr val="tx1"/>
            </a:solidFill>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sp>
        <p:nvSpPr>
          <p:cNvPr id="69" name="Rectangle 68"/>
          <p:cNvSpPr/>
          <p:nvPr/>
        </p:nvSpPr>
        <p:spPr>
          <a:xfrm>
            <a:off x="7541032" y="6312616"/>
            <a:ext cx="974947" cy="307777"/>
          </a:xfrm>
          <a:prstGeom prst="rect">
            <a:avLst/>
          </a:prstGeom>
        </p:spPr>
        <p:txBody>
          <a:bodyPr wrap="none">
            <a:spAutoFit/>
          </a:bodyPr>
          <a:lstStyle/>
          <a:p>
            <a:r>
              <a:rPr lang="en-US" sz="1400" dirty="0"/>
              <a:t>Capacitor</a:t>
            </a:r>
            <a:endParaRPr lang="sv-SE" sz="1400" dirty="0"/>
          </a:p>
        </p:txBody>
      </p:sp>
      <p:cxnSp>
        <p:nvCxnSpPr>
          <p:cNvPr id="71" name="Straight Arrow Connector 70"/>
          <p:cNvCxnSpPr/>
          <p:nvPr/>
        </p:nvCxnSpPr>
        <p:spPr>
          <a:xfrm>
            <a:off x="10750550" y="5722642"/>
            <a:ext cx="31750" cy="572304"/>
          </a:xfrm>
          <a:prstGeom prst="straightConnector1">
            <a:avLst/>
          </a:prstGeom>
          <a:ln w="28575">
            <a:solidFill>
              <a:schemeClr val="tx1"/>
            </a:solidFill>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10114975" y="6294945"/>
            <a:ext cx="1359475" cy="307777"/>
          </a:xfrm>
          <a:prstGeom prst="rect">
            <a:avLst/>
          </a:prstGeom>
          <a:noFill/>
        </p:spPr>
        <p:txBody>
          <a:bodyPr wrap="square" rtlCol="0">
            <a:spAutoFit/>
          </a:bodyPr>
          <a:lstStyle/>
          <a:p>
            <a:r>
              <a:rPr lang="en-US" sz="1400" dirty="0" smtClean="0"/>
              <a:t>Gate Driver</a:t>
            </a:r>
            <a:endParaRPr lang="sv-SE" sz="1400" dirty="0"/>
          </a:p>
        </p:txBody>
      </p:sp>
    </p:spTree>
    <p:extLst>
      <p:ext uri="{BB962C8B-B14F-4D97-AF65-F5344CB8AC3E}">
        <p14:creationId xmlns:p14="http://schemas.microsoft.com/office/powerpoint/2010/main" val="36761956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2105" y="278103"/>
            <a:ext cx="10990263" cy="568412"/>
          </a:xfrm>
        </p:spPr>
        <p:txBody>
          <a:bodyPr/>
          <a:lstStyle/>
          <a:p>
            <a:r>
              <a:rPr lang="en-US" dirty="0" err="1">
                <a:latin typeface="Times New Roman" panose="02020603050405020304" pitchFamily="18" charset="0"/>
                <a:cs typeface="Times New Roman" panose="02020603050405020304" pitchFamily="18" charset="0"/>
              </a:rPr>
              <a:t>Busbar</a:t>
            </a:r>
            <a:r>
              <a:rPr lang="en-US" dirty="0">
                <a:latin typeface="Times New Roman" panose="02020603050405020304" pitchFamily="18" charset="0"/>
                <a:cs typeface="Times New Roman" panose="02020603050405020304" pitchFamily="18" charset="0"/>
              </a:rPr>
              <a:t> Geometry 62mm Power Module</a:t>
            </a:r>
            <a:endParaRPr lang="sv-SE" dirty="0"/>
          </a:p>
        </p:txBody>
      </p:sp>
      <p:pic>
        <p:nvPicPr>
          <p:cNvPr id="4" name="Picture 3"/>
          <p:cNvPicPr>
            <a:picLocks noChangeAspect="1"/>
          </p:cNvPicPr>
          <p:nvPr/>
        </p:nvPicPr>
        <p:blipFill>
          <a:blip r:embed="rId2"/>
          <a:stretch>
            <a:fillRect/>
          </a:stretch>
        </p:blipFill>
        <p:spPr>
          <a:xfrm>
            <a:off x="539951" y="1090304"/>
            <a:ext cx="4022495" cy="4678176"/>
          </a:xfrm>
          <a:prstGeom prst="rect">
            <a:avLst/>
          </a:prstGeom>
        </p:spPr>
      </p:pic>
      <p:sp>
        <p:nvSpPr>
          <p:cNvPr id="5" name="Rectangle 4"/>
          <p:cNvSpPr/>
          <p:nvPr/>
        </p:nvSpPr>
        <p:spPr>
          <a:xfrm>
            <a:off x="1245734" y="1544516"/>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 name="Rectangle 5"/>
          <p:cNvSpPr/>
          <p:nvPr/>
        </p:nvSpPr>
        <p:spPr>
          <a:xfrm>
            <a:off x="2742840" y="1589339"/>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7" name="Rectangle 6"/>
          <p:cNvSpPr/>
          <p:nvPr/>
        </p:nvSpPr>
        <p:spPr>
          <a:xfrm>
            <a:off x="1245734" y="2972192"/>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 name="Rectangle 7"/>
          <p:cNvSpPr/>
          <p:nvPr/>
        </p:nvSpPr>
        <p:spPr>
          <a:xfrm>
            <a:off x="2742840" y="2972192"/>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9" name="Rectangle 8"/>
          <p:cNvSpPr/>
          <p:nvPr/>
        </p:nvSpPr>
        <p:spPr>
          <a:xfrm>
            <a:off x="3155777" y="473296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 name="Rectangle 9"/>
          <p:cNvSpPr/>
          <p:nvPr/>
        </p:nvSpPr>
        <p:spPr>
          <a:xfrm>
            <a:off x="2107725" y="473296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 name="Rectangle 10"/>
          <p:cNvSpPr/>
          <p:nvPr/>
        </p:nvSpPr>
        <p:spPr>
          <a:xfrm>
            <a:off x="1059673" y="473296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2" name="Rectangle 11"/>
          <p:cNvSpPr/>
          <p:nvPr/>
        </p:nvSpPr>
        <p:spPr>
          <a:xfrm>
            <a:off x="377052" y="5853552"/>
            <a:ext cx="304470" cy="295835"/>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3" name="Rectangle 12"/>
          <p:cNvSpPr/>
          <p:nvPr/>
        </p:nvSpPr>
        <p:spPr>
          <a:xfrm>
            <a:off x="377052" y="6343623"/>
            <a:ext cx="292286" cy="262965"/>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4" name="TextBox 13"/>
          <p:cNvSpPr txBox="1"/>
          <p:nvPr/>
        </p:nvSpPr>
        <p:spPr>
          <a:xfrm>
            <a:off x="854840" y="5781835"/>
            <a:ext cx="1679388" cy="369332"/>
          </a:xfrm>
          <a:prstGeom prst="rect">
            <a:avLst/>
          </a:prstGeom>
          <a:noFill/>
        </p:spPr>
        <p:txBody>
          <a:bodyPr wrap="square" rtlCol="0">
            <a:spAutoFit/>
          </a:bodyPr>
          <a:lstStyle/>
          <a:p>
            <a:r>
              <a:rPr lang="en-US" dirty="0" smtClean="0"/>
              <a:t>Capacitor</a:t>
            </a:r>
            <a:endParaRPr lang="sv-SE" dirty="0"/>
          </a:p>
        </p:txBody>
      </p:sp>
      <p:sp>
        <p:nvSpPr>
          <p:cNvPr id="15" name="TextBox 14"/>
          <p:cNvSpPr txBox="1"/>
          <p:nvPr/>
        </p:nvSpPr>
        <p:spPr>
          <a:xfrm>
            <a:off x="844710" y="6282079"/>
            <a:ext cx="2058895" cy="369332"/>
          </a:xfrm>
          <a:prstGeom prst="rect">
            <a:avLst/>
          </a:prstGeom>
          <a:noFill/>
        </p:spPr>
        <p:txBody>
          <a:bodyPr wrap="square" rtlCol="0">
            <a:spAutoFit/>
          </a:bodyPr>
          <a:lstStyle/>
          <a:p>
            <a:r>
              <a:rPr lang="en-US" dirty="0" smtClean="0"/>
              <a:t>Power Modules</a:t>
            </a:r>
            <a:endParaRPr lang="sv-SE" dirty="0"/>
          </a:p>
        </p:txBody>
      </p:sp>
      <p:sp>
        <p:nvSpPr>
          <p:cNvPr id="16" name="Oval 15"/>
          <p:cNvSpPr/>
          <p:nvPr/>
        </p:nvSpPr>
        <p:spPr>
          <a:xfrm>
            <a:off x="2826954" y="5956644"/>
            <a:ext cx="214823" cy="191247"/>
          </a:xfrm>
          <a:prstGeom prst="ellipse">
            <a:avLst/>
          </a:prstGeom>
          <a:solidFill>
            <a:srgbClr val="0029ED"/>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7" name="TextBox 16"/>
          <p:cNvSpPr txBox="1"/>
          <p:nvPr/>
        </p:nvSpPr>
        <p:spPr>
          <a:xfrm>
            <a:off x="3058430" y="5898183"/>
            <a:ext cx="2058895" cy="369332"/>
          </a:xfrm>
          <a:prstGeom prst="rect">
            <a:avLst/>
          </a:prstGeom>
          <a:noFill/>
        </p:spPr>
        <p:txBody>
          <a:bodyPr wrap="square" rtlCol="0">
            <a:spAutoFit/>
          </a:bodyPr>
          <a:lstStyle/>
          <a:p>
            <a:r>
              <a:rPr lang="en-US" dirty="0" smtClean="0"/>
              <a:t>DC- Nodes</a:t>
            </a:r>
            <a:endParaRPr lang="sv-SE" dirty="0"/>
          </a:p>
        </p:txBody>
      </p:sp>
      <p:sp>
        <p:nvSpPr>
          <p:cNvPr id="18" name="Oval 17"/>
          <p:cNvSpPr/>
          <p:nvPr/>
        </p:nvSpPr>
        <p:spPr>
          <a:xfrm>
            <a:off x="2826953" y="6338839"/>
            <a:ext cx="214823" cy="191247"/>
          </a:xfrm>
          <a:prstGeom prst="ellipse">
            <a:avLst/>
          </a:prstGeom>
          <a:solidFill>
            <a:srgbClr val="FF0000"/>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TextBox 18"/>
          <p:cNvSpPr txBox="1"/>
          <p:nvPr/>
        </p:nvSpPr>
        <p:spPr>
          <a:xfrm>
            <a:off x="3078977" y="6290439"/>
            <a:ext cx="2058895" cy="369332"/>
          </a:xfrm>
          <a:prstGeom prst="rect">
            <a:avLst/>
          </a:prstGeom>
          <a:noFill/>
        </p:spPr>
        <p:txBody>
          <a:bodyPr wrap="square" rtlCol="0">
            <a:spAutoFit/>
          </a:bodyPr>
          <a:lstStyle/>
          <a:p>
            <a:r>
              <a:rPr lang="en-US" dirty="0" smtClean="0"/>
              <a:t>DC+ Nodes</a:t>
            </a:r>
            <a:endParaRPr lang="sv-SE" dirty="0"/>
          </a:p>
        </p:txBody>
      </p:sp>
      <p:sp>
        <p:nvSpPr>
          <p:cNvPr id="20" name="TextBox 19"/>
          <p:cNvSpPr txBox="1"/>
          <p:nvPr/>
        </p:nvSpPr>
        <p:spPr>
          <a:xfrm>
            <a:off x="3058430" y="3268146"/>
            <a:ext cx="483622" cy="369332"/>
          </a:xfrm>
          <a:prstGeom prst="rect">
            <a:avLst/>
          </a:prstGeom>
          <a:noFill/>
        </p:spPr>
        <p:txBody>
          <a:bodyPr wrap="square" rtlCol="0">
            <a:spAutoFit/>
          </a:bodyPr>
          <a:lstStyle/>
          <a:p>
            <a:r>
              <a:rPr lang="sv-SE" dirty="0" smtClean="0"/>
              <a:t>C1</a:t>
            </a:r>
            <a:endParaRPr lang="sv-SE" dirty="0"/>
          </a:p>
        </p:txBody>
      </p:sp>
      <p:sp>
        <p:nvSpPr>
          <p:cNvPr id="21" name="TextBox 20"/>
          <p:cNvSpPr txBox="1"/>
          <p:nvPr/>
        </p:nvSpPr>
        <p:spPr>
          <a:xfrm>
            <a:off x="1566231" y="3268146"/>
            <a:ext cx="483622" cy="369332"/>
          </a:xfrm>
          <a:prstGeom prst="rect">
            <a:avLst/>
          </a:prstGeom>
          <a:noFill/>
        </p:spPr>
        <p:txBody>
          <a:bodyPr wrap="square" rtlCol="0">
            <a:spAutoFit/>
          </a:bodyPr>
          <a:lstStyle/>
          <a:p>
            <a:r>
              <a:rPr lang="sv-SE" dirty="0" smtClean="0"/>
              <a:t>C2</a:t>
            </a:r>
            <a:endParaRPr lang="sv-SE" dirty="0"/>
          </a:p>
        </p:txBody>
      </p:sp>
      <p:sp>
        <p:nvSpPr>
          <p:cNvPr id="22" name="TextBox 21"/>
          <p:cNvSpPr txBox="1"/>
          <p:nvPr/>
        </p:nvSpPr>
        <p:spPr>
          <a:xfrm>
            <a:off x="1550771" y="1789774"/>
            <a:ext cx="483622" cy="369332"/>
          </a:xfrm>
          <a:prstGeom prst="rect">
            <a:avLst/>
          </a:prstGeom>
          <a:noFill/>
        </p:spPr>
        <p:txBody>
          <a:bodyPr wrap="square" rtlCol="0">
            <a:spAutoFit/>
          </a:bodyPr>
          <a:lstStyle/>
          <a:p>
            <a:r>
              <a:rPr lang="sv-SE" dirty="0" smtClean="0"/>
              <a:t>C3</a:t>
            </a:r>
            <a:endParaRPr lang="sv-SE" dirty="0"/>
          </a:p>
        </p:txBody>
      </p:sp>
      <p:sp>
        <p:nvSpPr>
          <p:cNvPr id="23" name="TextBox 22"/>
          <p:cNvSpPr txBox="1"/>
          <p:nvPr/>
        </p:nvSpPr>
        <p:spPr>
          <a:xfrm>
            <a:off x="3034090" y="1789774"/>
            <a:ext cx="507962" cy="369332"/>
          </a:xfrm>
          <a:prstGeom prst="rect">
            <a:avLst/>
          </a:prstGeom>
          <a:noFill/>
        </p:spPr>
        <p:txBody>
          <a:bodyPr wrap="square" rtlCol="0">
            <a:spAutoFit/>
          </a:bodyPr>
          <a:lstStyle/>
          <a:p>
            <a:r>
              <a:rPr lang="sv-SE" dirty="0" smtClean="0"/>
              <a:t>C4</a:t>
            </a:r>
            <a:endParaRPr lang="sv-SE" dirty="0"/>
          </a:p>
        </p:txBody>
      </p:sp>
      <p:sp>
        <p:nvSpPr>
          <p:cNvPr id="3" name="Rectangle 2"/>
          <p:cNvSpPr/>
          <p:nvPr/>
        </p:nvSpPr>
        <p:spPr>
          <a:xfrm>
            <a:off x="5876613" y="3723849"/>
            <a:ext cx="4410182"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Lumped Circuit Representation </a:t>
            </a:r>
            <a:r>
              <a:rPr lang="en-US" dirty="0" smtClean="0">
                <a:latin typeface="Times New Roman" panose="02020603050405020304" pitchFamily="18" charset="0"/>
                <a:cs typeface="Times New Roman" panose="02020603050405020304" pitchFamily="18" charset="0"/>
              </a:rPr>
              <a:t>for one phase</a:t>
            </a:r>
            <a:endParaRPr lang="sv-SE" dirty="0"/>
          </a:p>
        </p:txBody>
      </p:sp>
      <p:sp>
        <p:nvSpPr>
          <p:cNvPr id="25" name="TextBox 24"/>
          <p:cNvSpPr txBox="1"/>
          <p:nvPr/>
        </p:nvSpPr>
        <p:spPr>
          <a:xfrm>
            <a:off x="5589221" y="4093181"/>
            <a:ext cx="5233693" cy="1477328"/>
          </a:xfrm>
          <a:prstGeom prst="rect">
            <a:avLst/>
          </a:prstGeom>
          <a:noFill/>
        </p:spPr>
        <p:txBody>
          <a:bodyPr wrap="square" rtlCol="0">
            <a:spAutoFit/>
          </a:bodyPr>
          <a:lstStyle/>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20 inductance values (and mutual inductances between them).</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Q3D Extractor can give the equivalent impedance between </a:t>
            </a:r>
            <a:r>
              <a:rPr lang="en-US" dirty="0" smtClean="0">
                <a:latin typeface="Times New Roman" panose="02020603050405020304" pitchFamily="18" charset="0"/>
                <a:cs typeface="Times New Roman" panose="02020603050405020304" pitchFamily="18" charset="0"/>
              </a:rPr>
              <a:t>one sink and multiple sources. </a:t>
            </a:r>
          </a:p>
          <a:p>
            <a:pPr marL="285750" indent="-285750">
              <a:buFont typeface="Arial" panose="020B0604020202020204" pitchFamily="34" charset="0"/>
              <a:buChar char="•"/>
            </a:pPr>
            <a:endParaRPr lang="en-US" dirty="0" smtClean="0">
              <a:latin typeface="Times New Roman" panose="02020603050405020304" pitchFamily="18" charset="0"/>
              <a:cs typeface="Times New Roman" panose="02020603050405020304" pitchFamily="18" charset="0"/>
            </a:endParaRPr>
          </a:p>
        </p:txBody>
      </p:sp>
      <p:pic>
        <p:nvPicPr>
          <p:cNvPr id="26" name="Picture 25"/>
          <p:cNvPicPr>
            <a:picLocks noChangeAspect="1"/>
          </p:cNvPicPr>
          <p:nvPr/>
        </p:nvPicPr>
        <p:blipFill>
          <a:blip r:embed="rId3"/>
          <a:stretch>
            <a:fillRect/>
          </a:stretch>
        </p:blipFill>
        <p:spPr>
          <a:xfrm>
            <a:off x="4695594" y="5350600"/>
            <a:ext cx="4881656" cy="1464497"/>
          </a:xfrm>
          <a:prstGeom prst="rect">
            <a:avLst/>
          </a:prstGeom>
        </p:spPr>
      </p:pic>
      <p:sp>
        <p:nvSpPr>
          <p:cNvPr id="27" name="TextBox 26"/>
          <p:cNvSpPr txBox="1"/>
          <p:nvPr/>
        </p:nvSpPr>
        <p:spPr>
          <a:xfrm>
            <a:off x="9641027" y="5539804"/>
            <a:ext cx="2479086" cy="923330"/>
          </a:xfrm>
          <a:prstGeom prst="rect">
            <a:avLst/>
          </a:prstGeom>
          <a:noFill/>
        </p:spPr>
        <p:txBody>
          <a:bodyPr wrap="square" rtlCol="0">
            <a:spAutoFit/>
          </a:bodyPr>
          <a:lstStyle/>
          <a:p>
            <a:pPr algn="ctr"/>
            <a:r>
              <a:rPr lang="sv-SE" dirty="0" err="1" smtClean="0"/>
              <a:t>Stray</a:t>
            </a:r>
            <a:r>
              <a:rPr lang="sv-SE" dirty="0" smtClean="0"/>
              <a:t> </a:t>
            </a:r>
            <a:r>
              <a:rPr lang="sv-SE" dirty="0" err="1" smtClean="0"/>
              <a:t>inductance</a:t>
            </a:r>
            <a:r>
              <a:rPr lang="sv-SE" dirty="0" smtClean="0"/>
              <a:t> inside the </a:t>
            </a:r>
            <a:r>
              <a:rPr lang="sv-SE" dirty="0" err="1" smtClean="0"/>
              <a:t>modules</a:t>
            </a:r>
            <a:r>
              <a:rPr lang="sv-SE" dirty="0" smtClean="0"/>
              <a:t> is </a:t>
            </a:r>
            <a:r>
              <a:rPr lang="sv-SE" dirty="0" err="1" smtClean="0"/>
              <a:t>considerably</a:t>
            </a:r>
            <a:r>
              <a:rPr lang="sv-SE" dirty="0" smtClean="0"/>
              <a:t> </a:t>
            </a:r>
            <a:r>
              <a:rPr lang="sv-SE" dirty="0" err="1" smtClean="0"/>
              <a:t>high</a:t>
            </a:r>
            <a:r>
              <a:rPr lang="sv-SE" dirty="0" smtClean="0"/>
              <a:t>. </a:t>
            </a:r>
            <a:endParaRPr lang="sv-SE" dirty="0"/>
          </a:p>
        </p:txBody>
      </p:sp>
      <p:pic>
        <p:nvPicPr>
          <p:cNvPr id="28" name="Picture 27"/>
          <p:cNvPicPr>
            <a:picLocks noChangeAspect="1"/>
          </p:cNvPicPr>
          <p:nvPr/>
        </p:nvPicPr>
        <p:blipFill>
          <a:blip r:embed="rId4"/>
          <a:stretch>
            <a:fillRect/>
          </a:stretch>
        </p:blipFill>
        <p:spPr>
          <a:xfrm>
            <a:off x="6101056" y="1090304"/>
            <a:ext cx="4005156" cy="2446849"/>
          </a:xfrm>
          <a:prstGeom prst="rect">
            <a:avLst/>
          </a:prstGeom>
        </p:spPr>
      </p:pic>
    </p:spTree>
    <p:extLst>
      <p:ext uri="{BB962C8B-B14F-4D97-AF65-F5344CB8AC3E}">
        <p14:creationId xmlns:p14="http://schemas.microsoft.com/office/powerpoint/2010/main" val="2809973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Impedance Model</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nvPr>
            </p:nvGraphicFramePr>
            <p:xfrm>
              <a:off x="1912641" y="1243723"/>
              <a:ext cx="8128000" cy="18491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78631582"/>
                        </a:ext>
                      </a:extLst>
                    </a:gridCol>
                    <a:gridCol w="2032000">
                      <a:extLst>
                        <a:ext uri="{9D8B030D-6E8A-4147-A177-3AD203B41FA5}">
                          <a16:colId xmlns:a16="http://schemas.microsoft.com/office/drawing/2014/main" val="844494951"/>
                        </a:ext>
                      </a:extLst>
                    </a:gridCol>
                    <a:gridCol w="2032000">
                      <a:extLst>
                        <a:ext uri="{9D8B030D-6E8A-4147-A177-3AD203B41FA5}">
                          <a16:colId xmlns:a16="http://schemas.microsoft.com/office/drawing/2014/main" val="3775262176"/>
                        </a:ext>
                      </a:extLst>
                    </a:gridCol>
                    <a:gridCol w="2032000">
                      <a:extLst>
                        <a:ext uri="{9D8B030D-6E8A-4147-A177-3AD203B41FA5}">
                          <a16:colId xmlns:a16="http://schemas.microsoft.com/office/drawing/2014/main" val="3461459550"/>
                        </a:ext>
                      </a:extLst>
                    </a:gridCol>
                  </a:tblGrid>
                  <a:tr h="0">
                    <a:tc>
                      <a:txBody>
                        <a:bodyPr/>
                        <a:lstStyle/>
                        <a:p>
                          <a:endParaRPr lang="sv-SE" dirty="0"/>
                        </a:p>
                      </a:txBody>
                      <a:tcPr/>
                    </a:tc>
                    <a:tc>
                      <a:txBody>
                        <a:bodyPr/>
                        <a:lstStyle/>
                        <a:p>
                          <a:r>
                            <a:rPr lang="en-US" dirty="0" smtClean="0"/>
                            <a:t>Leg</a:t>
                          </a:r>
                          <a:r>
                            <a:rPr lang="en-US" baseline="0" dirty="0" smtClean="0"/>
                            <a:t> A</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B</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C</a:t>
                          </a:r>
                          <a:endParaRPr lang="sv-SE" dirty="0" smtClean="0"/>
                        </a:p>
                      </a:txBody>
                      <a:tcPr/>
                    </a:tc>
                    <a:extLst>
                      <a:ext uri="{0D108BD9-81ED-4DB2-BD59-A6C34878D82A}">
                        <a16:rowId xmlns:a16="http://schemas.microsoft.com/office/drawing/2014/main" val="3784776413"/>
                      </a:ext>
                    </a:extLst>
                  </a:tr>
                  <a:tr h="370840">
                    <a:tc>
                      <a:txBody>
                        <a:bodyPr/>
                        <a:lstStyle/>
                        <a:p>
                          <a:r>
                            <a:rPr lang="en-US" dirty="0" smtClean="0"/>
                            <a:t>Capacitor-1</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33041933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Capacitor-2</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9042489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Capacitor-3</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20059962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Capacitor-4</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tr-TR"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1700131790"/>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4251438957"/>
                  </p:ext>
                </p:extLst>
              </p:nvPr>
            </p:nvGraphicFramePr>
            <p:xfrm>
              <a:off x="1912641" y="1243723"/>
              <a:ext cx="8128000" cy="18491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78631582"/>
                        </a:ext>
                      </a:extLst>
                    </a:gridCol>
                    <a:gridCol w="2032000">
                      <a:extLst>
                        <a:ext uri="{9D8B030D-6E8A-4147-A177-3AD203B41FA5}">
                          <a16:colId xmlns:a16="http://schemas.microsoft.com/office/drawing/2014/main" val="844494951"/>
                        </a:ext>
                      </a:extLst>
                    </a:gridCol>
                    <a:gridCol w="2032000">
                      <a:extLst>
                        <a:ext uri="{9D8B030D-6E8A-4147-A177-3AD203B41FA5}">
                          <a16:colId xmlns:a16="http://schemas.microsoft.com/office/drawing/2014/main" val="3775262176"/>
                        </a:ext>
                      </a:extLst>
                    </a:gridCol>
                    <a:gridCol w="2032000">
                      <a:extLst>
                        <a:ext uri="{9D8B030D-6E8A-4147-A177-3AD203B41FA5}">
                          <a16:colId xmlns:a16="http://schemas.microsoft.com/office/drawing/2014/main" val="3461459550"/>
                        </a:ext>
                      </a:extLst>
                    </a:gridCol>
                  </a:tblGrid>
                  <a:tr h="365760">
                    <a:tc>
                      <a:txBody>
                        <a:bodyPr/>
                        <a:lstStyle/>
                        <a:p>
                          <a:endParaRPr lang="sv-SE" dirty="0"/>
                        </a:p>
                      </a:txBody>
                      <a:tcPr/>
                    </a:tc>
                    <a:tc>
                      <a:txBody>
                        <a:bodyPr/>
                        <a:lstStyle/>
                        <a:p>
                          <a:r>
                            <a:rPr lang="en-US" dirty="0" smtClean="0"/>
                            <a:t>Leg</a:t>
                          </a:r>
                          <a:r>
                            <a:rPr lang="en-US" baseline="0" dirty="0" smtClean="0"/>
                            <a:t> A</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B</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C</a:t>
                          </a:r>
                          <a:endParaRPr lang="sv-SE" dirty="0" smtClean="0"/>
                        </a:p>
                      </a:txBody>
                      <a:tcPr/>
                    </a:tc>
                    <a:extLst>
                      <a:ext uri="{0D108BD9-81ED-4DB2-BD59-A6C34878D82A}">
                        <a16:rowId xmlns:a16="http://schemas.microsoft.com/office/drawing/2014/main" val="3784776413"/>
                      </a:ext>
                    </a:extLst>
                  </a:tr>
                  <a:tr h="370840">
                    <a:tc>
                      <a:txBody>
                        <a:bodyPr/>
                        <a:lstStyle/>
                        <a:p>
                          <a:r>
                            <a:rPr lang="en-US" dirty="0" smtClean="0"/>
                            <a:t>Capacitor-1</a:t>
                          </a:r>
                          <a:endParaRPr lang="sv-SE" dirty="0"/>
                        </a:p>
                      </a:txBody>
                      <a:tcPr/>
                    </a:tc>
                    <a:tc>
                      <a:txBody>
                        <a:bodyPr/>
                        <a:lstStyle/>
                        <a:p>
                          <a:endParaRPr lang="sv-SE"/>
                        </a:p>
                      </a:txBody>
                      <a:tcPr>
                        <a:blipFill>
                          <a:blip r:embed="rId2"/>
                          <a:stretch>
                            <a:fillRect l="-100299" t="-106557" r="-200898" b="-324590"/>
                          </a:stretch>
                        </a:blipFill>
                      </a:tcPr>
                    </a:tc>
                    <a:tc>
                      <a:txBody>
                        <a:bodyPr/>
                        <a:lstStyle/>
                        <a:p>
                          <a:endParaRPr lang="sv-SE"/>
                        </a:p>
                      </a:txBody>
                      <a:tcPr>
                        <a:blipFill>
                          <a:blip r:embed="rId2"/>
                          <a:stretch>
                            <a:fillRect l="-200901" t="-106557" r="-101502" b="-324590"/>
                          </a:stretch>
                        </a:blipFill>
                      </a:tcPr>
                    </a:tc>
                    <a:tc>
                      <a:txBody>
                        <a:bodyPr/>
                        <a:lstStyle/>
                        <a:p>
                          <a:endParaRPr lang="sv-SE"/>
                        </a:p>
                      </a:txBody>
                      <a:tcPr>
                        <a:blipFill>
                          <a:blip r:embed="rId2"/>
                          <a:stretch>
                            <a:fillRect l="-300000" t="-106557" r="-1198" b="-324590"/>
                          </a:stretch>
                        </a:blipFill>
                      </a:tcPr>
                    </a:tc>
                    <a:extLst>
                      <a:ext uri="{0D108BD9-81ED-4DB2-BD59-A6C34878D82A}">
                        <a16:rowId xmlns:a16="http://schemas.microsoft.com/office/drawing/2014/main" val="33041933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Capacitor-2</a:t>
                          </a:r>
                          <a:endParaRPr lang="sv-SE" dirty="0" smtClean="0"/>
                        </a:p>
                      </a:txBody>
                      <a:tcPr/>
                    </a:tc>
                    <a:tc>
                      <a:txBody>
                        <a:bodyPr/>
                        <a:lstStyle/>
                        <a:p>
                          <a:endParaRPr lang="sv-SE"/>
                        </a:p>
                      </a:txBody>
                      <a:tcPr>
                        <a:blipFill>
                          <a:blip r:embed="rId2"/>
                          <a:stretch>
                            <a:fillRect l="-100299" t="-206557" r="-200898" b="-224590"/>
                          </a:stretch>
                        </a:blipFill>
                      </a:tcPr>
                    </a:tc>
                    <a:tc>
                      <a:txBody>
                        <a:bodyPr/>
                        <a:lstStyle/>
                        <a:p>
                          <a:endParaRPr lang="sv-SE"/>
                        </a:p>
                      </a:txBody>
                      <a:tcPr>
                        <a:blipFill>
                          <a:blip r:embed="rId2"/>
                          <a:stretch>
                            <a:fillRect l="-200901" t="-206557" r="-101502" b="-224590"/>
                          </a:stretch>
                        </a:blipFill>
                      </a:tcPr>
                    </a:tc>
                    <a:tc>
                      <a:txBody>
                        <a:bodyPr/>
                        <a:lstStyle/>
                        <a:p>
                          <a:endParaRPr lang="sv-SE"/>
                        </a:p>
                      </a:txBody>
                      <a:tcPr>
                        <a:blipFill>
                          <a:blip r:embed="rId2"/>
                          <a:stretch>
                            <a:fillRect l="-300000" t="-206557" r="-1198" b="-224590"/>
                          </a:stretch>
                        </a:blipFill>
                      </a:tcPr>
                    </a:tc>
                    <a:extLst>
                      <a:ext uri="{0D108BD9-81ED-4DB2-BD59-A6C34878D82A}">
                        <a16:rowId xmlns:a16="http://schemas.microsoft.com/office/drawing/2014/main" val="9042489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Capacitor-3</a:t>
                          </a:r>
                          <a:endParaRPr lang="sv-SE" dirty="0" smtClean="0"/>
                        </a:p>
                      </a:txBody>
                      <a:tcPr/>
                    </a:tc>
                    <a:tc>
                      <a:txBody>
                        <a:bodyPr/>
                        <a:lstStyle/>
                        <a:p>
                          <a:endParaRPr lang="sv-SE"/>
                        </a:p>
                      </a:txBody>
                      <a:tcPr>
                        <a:blipFill>
                          <a:blip r:embed="rId2"/>
                          <a:stretch>
                            <a:fillRect l="-100299" t="-306557" r="-200898" b="-124590"/>
                          </a:stretch>
                        </a:blipFill>
                      </a:tcPr>
                    </a:tc>
                    <a:tc>
                      <a:txBody>
                        <a:bodyPr/>
                        <a:lstStyle/>
                        <a:p>
                          <a:endParaRPr lang="sv-SE"/>
                        </a:p>
                      </a:txBody>
                      <a:tcPr>
                        <a:blipFill>
                          <a:blip r:embed="rId2"/>
                          <a:stretch>
                            <a:fillRect l="-200901" t="-306557" r="-101502" b="-124590"/>
                          </a:stretch>
                        </a:blipFill>
                      </a:tcPr>
                    </a:tc>
                    <a:tc>
                      <a:txBody>
                        <a:bodyPr/>
                        <a:lstStyle/>
                        <a:p>
                          <a:endParaRPr lang="sv-SE"/>
                        </a:p>
                      </a:txBody>
                      <a:tcPr>
                        <a:blipFill>
                          <a:blip r:embed="rId2"/>
                          <a:stretch>
                            <a:fillRect l="-300000" t="-306557" r="-1198" b="-124590"/>
                          </a:stretch>
                        </a:blipFill>
                      </a:tcPr>
                    </a:tc>
                    <a:extLst>
                      <a:ext uri="{0D108BD9-81ED-4DB2-BD59-A6C34878D82A}">
                        <a16:rowId xmlns:a16="http://schemas.microsoft.com/office/drawing/2014/main" val="20059962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Capacitor-4</a:t>
                          </a:r>
                          <a:endParaRPr lang="sv-SE" dirty="0" smtClean="0"/>
                        </a:p>
                      </a:txBody>
                      <a:tcPr/>
                    </a:tc>
                    <a:tc>
                      <a:txBody>
                        <a:bodyPr/>
                        <a:lstStyle/>
                        <a:p>
                          <a:endParaRPr lang="sv-SE"/>
                        </a:p>
                      </a:txBody>
                      <a:tcPr>
                        <a:blipFill>
                          <a:blip r:embed="rId2"/>
                          <a:stretch>
                            <a:fillRect l="-100299" t="-406557" r="-200898" b="-24590"/>
                          </a:stretch>
                        </a:blipFill>
                      </a:tcPr>
                    </a:tc>
                    <a:tc>
                      <a:txBody>
                        <a:bodyPr/>
                        <a:lstStyle/>
                        <a:p>
                          <a:endParaRPr lang="sv-SE"/>
                        </a:p>
                      </a:txBody>
                      <a:tcPr>
                        <a:blipFill>
                          <a:blip r:embed="rId2"/>
                          <a:stretch>
                            <a:fillRect l="-200901" t="-406557" r="-101502" b="-24590"/>
                          </a:stretch>
                        </a:blipFill>
                      </a:tcPr>
                    </a:tc>
                    <a:tc>
                      <a:txBody>
                        <a:bodyPr/>
                        <a:lstStyle/>
                        <a:p>
                          <a:endParaRPr lang="sv-SE"/>
                        </a:p>
                      </a:txBody>
                      <a:tcPr>
                        <a:blipFill>
                          <a:blip r:embed="rId2"/>
                          <a:stretch>
                            <a:fillRect l="-300000" t="-406557" r="-1198" b="-24590"/>
                          </a:stretch>
                        </a:blipFill>
                      </a:tcPr>
                    </a:tc>
                    <a:extLst>
                      <a:ext uri="{0D108BD9-81ED-4DB2-BD59-A6C34878D82A}">
                        <a16:rowId xmlns:a16="http://schemas.microsoft.com/office/drawing/2014/main" val="1700131790"/>
                      </a:ext>
                    </a:extLst>
                  </a:tr>
                </a:tbl>
              </a:graphicData>
            </a:graphic>
          </p:graphicFrame>
        </mc:Fallback>
      </mc:AlternateContent>
      <p:sp>
        <p:nvSpPr>
          <p:cNvPr id="10" name="Rectangle 9">
            <a:extLst>
              <a:ext uri="{FF2B5EF4-FFF2-40B4-BE49-F238E27FC236}">
                <a16:creationId xmlns:a16="http://schemas.microsoft.com/office/drawing/2014/main" id="{5FD27746-BC71-497E-87F6-231B78DB66C2}"/>
              </a:ext>
            </a:extLst>
          </p:cNvPr>
          <p:cNvSpPr/>
          <p:nvPr/>
        </p:nvSpPr>
        <p:spPr>
          <a:xfrm>
            <a:off x="3147022" y="3162160"/>
            <a:ext cx="6286336" cy="646331"/>
          </a:xfrm>
          <a:prstGeom prst="rect">
            <a:avLst/>
          </a:prstGeom>
        </p:spPr>
        <p:txBody>
          <a:bodyPr wrap="none">
            <a:spAutoFit/>
          </a:bodyPr>
          <a:lstStyle/>
          <a:p>
            <a:r>
              <a:rPr lang="tr-TR" dirty="0" err="1">
                <a:latin typeface="Times New Roman" panose="02020603050405020304" pitchFamily="18" charset="0"/>
                <a:cs typeface="Times New Roman" panose="02020603050405020304" pitchFamily="18" charset="0"/>
              </a:rPr>
              <a:t>The</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response</a:t>
            </a:r>
            <a:r>
              <a:rPr lang="tr-TR" dirty="0">
                <a:latin typeface="Times New Roman" panose="02020603050405020304" pitchFamily="18" charset="0"/>
                <a:cs typeface="Times New Roman" panose="02020603050405020304" pitchFamily="18" charset="0"/>
              </a:rPr>
              <a:t> of </a:t>
            </a:r>
            <a:r>
              <a:rPr lang="tr-TR" dirty="0" err="1">
                <a:latin typeface="Times New Roman" panose="02020603050405020304" pitchFamily="18" charset="0"/>
                <a:cs typeface="Times New Roman" panose="02020603050405020304" pitchFamily="18" charset="0"/>
              </a:rPr>
              <a:t>capacitor</a:t>
            </a:r>
            <a:r>
              <a:rPr lang="tr-TR" dirty="0">
                <a:latin typeface="Times New Roman" panose="02020603050405020304" pitchFamily="18" charset="0"/>
                <a:cs typeface="Times New Roman" panose="02020603050405020304" pitchFamily="18" charset="0"/>
              </a:rPr>
              <a:t> A </a:t>
            </a:r>
            <a:r>
              <a:rPr lang="tr-TR" dirty="0" err="1">
                <a:latin typeface="Times New Roman" panose="02020603050405020304" pitchFamily="18" charset="0"/>
                <a:cs typeface="Times New Roman" panose="02020603050405020304" pitchFamily="18" charset="0"/>
              </a:rPr>
              <a:t>for</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each</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leg</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should</a:t>
            </a:r>
            <a:r>
              <a:rPr lang="tr-TR" dirty="0">
                <a:latin typeface="Times New Roman" panose="02020603050405020304" pitchFamily="18" charset="0"/>
                <a:cs typeface="Times New Roman" panose="02020603050405020304" pitchFamily="18" charset="0"/>
              </a:rPr>
              <a:t> be </a:t>
            </a:r>
            <a:r>
              <a:rPr lang="tr-TR" dirty="0" err="1">
                <a:latin typeface="Times New Roman" panose="02020603050405020304" pitchFamily="18" charset="0"/>
                <a:cs typeface="Times New Roman" panose="02020603050405020304" pitchFamily="18" charset="0"/>
              </a:rPr>
              <a:t>calculated</a:t>
            </a:r>
            <a:r>
              <a:rPr lang="tr-TR" dirty="0">
                <a:latin typeface="Times New Roman" panose="02020603050405020304" pitchFamily="18" charset="0"/>
                <a:cs typeface="Times New Roman" panose="02020603050405020304" pitchFamily="18" charset="0"/>
              </a:rPr>
              <a:t> as: </a:t>
            </a:r>
          </a:p>
          <a:p>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327133" y="821362"/>
            <a:ext cx="4733365"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Step response of capacitors to each leg</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EA414EB2-1DD8-401E-96DE-5071FE225EAE}"/>
                  </a:ext>
                </a:extLst>
              </p:cNvPr>
              <p:cNvSpPr/>
              <p:nvPr/>
            </p:nvSpPr>
            <p:spPr>
              <a:xfrm>
                <a:off x="3109960" y="3613117"/>
                <a:ext cx="6323398" cy="390748"/>
              </a:xfrm>
              <a:prstGeom prst="rect">
                <a:avLst/>
              </a:prstGeom>
            </p:spPr>
            <p:txBody>
              <a:bodyPr wrap="none">
                <a:spAutoFit/>
              </a:bodyPr>
              <a:lstStyle/>
              <a:p>
                <a14:m>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𝑐𝑎𝑝𝐴</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en-US"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𝐴</m:t>
                            </m:r>
                          </m:sub>
                        </m:sSub>
                        <m:r>
                          <a:rPr lang="en-US"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𝐴</m:t>
                            </m:r>
                          </m:sub>
                        </m:sSub>
                        <m:r>
                          <a:rPr lang="en-US" b="0" i="1" smtClean="0">
                            <a:latin typeface="Cambria Math" panose="02040503050406030204" pitchFamily="18" charset="0"/>
                          </a:rPr>
                          <m:t> )</m:t>
                        </m:r>
                        <m:r>
                          <a:rPr lang="tr-TR" b="0" i="1" smtClean="0">
                            <a:latin typeface="Cambria Math" panose="02040503050406030204" pitchFamily="18" charset="0"/>
                          </a:rPr>
                          <m:t>𝐻</m:t>
                        </m:r>
                      </m:e>
                      <m:sub>
                        <m:r>
                          <a:rPr lang="en-US" b="0" i="1" smtClean="0">
                            <a:latin typeface="Cambria Math" panose="02040503050406030204" pitchFamily="18" charset="0"/>
                          </a:rPr>
                          <m:t>1</m:t>
                        </m:r>
                        <m:r>
                          <a:rPr lang="tr-TR" b="0" i="1" smtClean="0">
                            <a:latin typeface="Cambria Math" panose="02040503050406030204" pitchFamily="18" charset="0"/>
                          </a:rPr>
                          <m:t>𝐴</m:t>
                        </m:r>
                      </m:sub>
                    </m:sSub>
                    <m:d>
                      <m:dPr>
                        <m:ctrlPr>
                          <a:rPr lang="tr-TR" b="0" i="1" smtClean="0">
                            <a:latin typeface="Cambria Math" panose="02040503050406030204" pitchFamily="18" charset="0"/>
                          </a:rPr>
                        </m:ctrlPr>
                      </m:dPr>
                      <m:e>
                        <m:r>
                          <a:rPr lang="tr-TR" b="0" i="1" smtClean="0">
                            <a:latin typeface="Cambria Math" panose="02040503050406030204" pitchFamily="18" charset="0"/>
                          </a:rPr>
                          <m:t>𝜔</m:t>
                        </m:r>
                      </m:e>
                    </m:d>
                    <m:r>
                      <a:rPr lang="tr-TR" b="0" i="0" smtClean="0">
                        <a:latin typeface="Cambria Math" panose="02040503050406030204" pitchFamily="18" charset="0"/>
                      </a:rPr>
                      <m:t>+</m:t>
                    </m:r>
                    <m:sSub>
                      <m:sSubPr>
                        <m:ctrlPr>
                          <a:rPr lang="tr-TR" i="1">
                            <a:latin typeface="Cambria Math" panose="02040503050406030204" pitchFamily="18" charset="0"/>
                          </a:rPr>
                        </m:ctrlPr>
                      </m:sSubPr>
                      <m:e>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en-US" b="0" i="1" smtClean="0">
                                <a:latin typeface="Cambria Math" panose="02040503050406030204" pitchFamily="18" charset="0"/>
                              </a:rPr>
                              <m:t>𝐵</m:t>
                            </m:r>
                          </m:sub>
                        </m:sSub>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𝐼</m:t>
                            </m:r>
                          </m:e>
                          <m:sub>
                            <m:r>
                              <a:rPr lang="en-US" b="0" i="1" smtClean="0">
                                <a:latin typeface="Cambria Math" panose="02040503050406030204" pitchFamily="18" charset="0"/>
                              </a:rPr>
                              <m:t>𝐵</m:t>
                            </m:r>
                          </m:sub>
                        </m:sSub>
                        <m:r>
                          <a:rPr lang="en-US" i="1">
                            <a:latin typeface="Cambria Math" panose="02040503050406030204" pitchFamily="18" charset="0"/>
                          </a:rPr>
                          <m:t> )</m:t>
                        </m:r>
                        <m:r>
                          <a:rPr lang="tr-TR" i="1">
                            <a:latin typeface="Cambria Math" panose="02040503050406030204" pitchFamily="18" charset="0"/>
                          </a:rPr>
                          <m:t>𝐻</m:t>
                        </m:r>
                      </m:e>
                      <m:sub>
                        <m:r>
                          <a:rPr lang="en-US" i="1">
                            <a:latin typeface="Cambria Math" panose="02040503050406030204" pitchFamily="18" charset="0"/>
                          </a:rPr>
                          <m:t>1</m:t>
                        </m:r>
                        <m:r>
                          <a:rPr lang="en-US" b="0" i="1" smtClean="0">
                            <a:latin typeface="Cambria Math" panose="02040503050406030204" pitchFamily="18" charset="0"/>
                          </a:rPr>
                          <m:t>𝐵</m:t>
                        </m:r>
                      </m:sub>
                    </m:sSub>
                    <m:d>
                      <m:dPr>
                        <m:ctrlPr>
                          <a:rPr lang="tr-TR" i="1">
                            <a:latin typeface="Cambria Math" panose="02040503050406030204" pitchFamily="18" charset="0"/>
                          </a:rPr>
                        </m:ctrlPr>
                      </m:dPr>
                      <m:e>
                        <m:r>
                          <a:rPr lang="tr-TR" i="1">
                            <a:latin typeface="Cambria Math" panose="02040503050406030204" pitchFamily="18" charset="0"/>
                          </a:rPr>
                          <m:t>𝜔</m:t>
                        </m:r>
                      </m:e>
                    </m:d>
                  </m:oMath>
                </a14:m>
                <a:r>
                  <a:rPr lang="en-US" dirty="0" smtClean="0"/>
                  <a:t>+</a:t>
                </a:r>
                <a14:m>
                  <m:oMath xmlns:m="http://schemas.openxmlformats.org/officeDocument/2006/math">
                    <m:sSub>
                      <m:sSubPr>
                        <m:ctrlPr>
                          <a:rPr lang="tr-TR" i="1">
                            <a:latin typeface="Cambria Math" panose="02040503050406030204" pitchFamily="18" charset="0"/>
                          </a:rPr>
                        </m:ctrlPr>
                      </m:sSubPr>
                      <m:e>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en-US" b="0" i="1" smtClean="0">
                                <a:latin typeface="Cambria Math" panose="02040503050406030204" pitchFamily="18" charset="0"/>
                              </a:rPr>
                              <m:t>𝐶</m:t>
                            </m:r>
                          </m:sub>
                        </m:sSub>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𝐼</m:t>
                            </m:r>
                          </m:e>
                          <m:sub>
                            <m:r>
                              <a:rPr lang="en-US" b="0" i="1" smtClean="0">
                                <a:latin typeface="Cambria Math" panose="02040503050406030204" pitchFamily="18" charset="0"/>
                              </a:rPr>
                              <m:t>𝐶</m:t>
                            </m:r>
                          </m:sub>
                        </m:sSub>
                        <m:r>
                          <a:rPr lang="en-US" i="1">
                            <a:latin typeface="Cambria Math" panose="02040503050406030204" pitchFamily="18" charset="0"/>
                          </a:rPr>
                          <m:t> )</m:t>
                        </m:r>
                        <m:r>
                          <a:rPr lang="tr-TR" i="1">
                            <a:latin typeface="Cambria Math" panose="02040503050406030204" pitchFamily="18" charset="0"/>
                          </a:rPr>
                          <m:t>𝐻</m:t>
                        </m:r>
                      </m:e>
                      <m:sub>
                        <m:r>
                          <a:rPr lang="en-US" i="1">
                            <a:latin typeface="Cambria Math" panose="02040503050406030204" pitchFamily="18" charset="0"/>
                          </a:rPr>
                          <m:t>1</m:t>
                        </m:r>
                        <m:r>
                          <a:rPr lang="en-US" b="0" i="1" smtClean="0">
                            <a:latin typeface="Cambria Math" panose="02040503050406030204" pitchFamily="18" charset="0"/>
                          </a:rPr>
                          <m:t>𝐶</m:t>
                        </m:r>
                      </m:sub>
                    </m:sSub>
                    <m:d>
                      <m:dPr>
                        <m:ctrlPr>
                          <a:rPr lang="tr-TR" i="1">
                            <a:latin typeface="Cambria Math" panose="02040503050406030204" pitchFamily="18" charset="0"/>
                          </a:rPr>
                        </m:ctrlPr>
                      </m:dPr>
                      <m:e>
                        <m:r>
                          <a:rPr lang="tr-TR" i="1">
                            <a:latin typeface="Cambria Math" panose="02040503050406030204" pitchFamily="18" charset="0"/>
                          </a:rPr>
                          <m:t>𝜔</m:t>
                        </m:r>
                      </m:e>
                    </m:d>
                  </m:oMath>
                </a14:m>
                <a:endParaRPr lang="en-US" dirty="0"/>
              </a:p>
            </p:txBody>
          </p:sp>
        </mc:Choice>
        <mc:Fallback xmlns="">
          <p:sp>
            <p:nvSpPr>
              <p:cNvPr id="12" name="Rectangle 11">
                <a:extLst>
                  <a:ext uri="{FF2B5EF4-FFF2-40B4-BE49-F238E27FC236}">
                    <a16:creationId xmlns:a16="http://schemas.microsoft.com/office/drawing/2014/main" id="{EA414EB2-1DD8-401E-96DE-5071FE225EAE}"/>
                  </a:ext>
                </a:extLst>
              </p:cNvPr>
              <p:cNvSpPr>
                <a:spLocks noRot="1" noChangeAspect="1" noMove="1" noResize="1" noEditPoints="1" noAdjustHandles="1" noChangeArrowheads="1" noChangeShapeType="1" noTextEdit="1"/>
              </p:cNvSpPr>
              <p:nvPr/>
            </p:nvSpPr>
            <p:spPr>
              <a:xfrm>
                <a:off x="3109960" y="3613117"/>
                <a:ext cx="6323398" cy="390748"/>
              </a:xfrm>
              <a:prstGeom prst="rect">
                <a:avLst/>
              </a:prstGeom>
              <a:blipFill>
                <a:blip r:embed="rId3"/>
                <a:stretch>
                  <a:fillRect t="-9375" b="-18750"/>
                </a:stretch>
              </a:blipFill>
            </p:spPr>
            <p:txBody>
              <a:bodyPr/>
              <a:lstStyle/>
              <a:p>
                <a:r>
                  <a:rPr lang="sv-SE">
                    <a:noFill/>
                  </a:rPr>
                  <a:t> </a:t>
                </a:r>
              </a:p>
            </p:txBody>
          </p:sp>
        </mc:Fallback>
      </mc:AlternateContent>
      <p:pic>
        <p:nvPicPr>
          <p:cNvPr id="7" name="Picture 6"/>
          <p:cNvPicPr>
            <a:picLocks noChangeAspect="1"/>
          </p:cNvPicPr>
          <p:nvPr/>
        </p:nvPicPr>
        <p:blipFill>
          <a:blip r:embed="rId4"/>
          <a:stretch>
            <a:fillRect/>
          </a:stretch>
        </p:blipFill>
        <p:spPr>
          <a:xfrm>
            <a:off x="743901" y="4450366"/>
            <a:ext cx="3144328" cy="2358246"/>
          </a:xfrm>
          <a:prstGeom prst="rect">
            <a:avLst/>
          </a:prstGeom>
        </p:spPr>
      </p:pic>
      <p:sp>
        <p:nvSpPr>
          <p:cNvPr id="8" name="TextBox 7"/>
          <p:cNvSpPr txBox="1"/>
          <p:nvPr/>
        </p:nvSpPr>
        <p:spPr>
          <a:xfrm>
            <a:off x="680713" y="4259448"/>
            <a:ext cx="3583232" cy="369332"/>
          </a:xfrm>
          <a:prstGeom prst="rect">
            <a:avLst/>
          </a:prstGeom>
          <a:noFill/>
        </p:spPr>
        <p:txBody>
          <a:bodyPr wrap="square" rtlCol="0">
            <a:spAutoFit/>
          </a:bodyPr>
          <a:lstStyle/>
          <a:p>
            <a:r>
              <a:rPr lang="en-US" dirty="0" smtClean="0"/>
              <a:t>Capacitor Responses to Phase-A</a:t>
            </a:r>
            <a:endParaRPr lang="sv-SE" dirty="0"/>
          </a:p>
        </p:txBody>
      </p:sp>
      <p:pic>
        <p:nvPicPr>
          <p:cNvPr id="9" name="Picture 8"/>
          <p:cNvPicPr>
            <a:picLocks noChangeAspect="1"/>
          </p:cNvPicPr>
          <p:nvPr/>
        </p:nvPicPr>
        <p:blipFill>
          <a:blip r:embed="rId5"/>
          <a:stretch>
            <a:fillRect/>
          </a:stretch>
        </p:blipFill>
        <p:spPr>
          <a:xfrm>
            <a:off x="8222892" y="4489572"/>
            <a:ext cx="3096347" cy="2322260"/>
          </a:xfrm>
          <a:prstGeom prst="rect">
            <a:avLst/>
          </a:prstGeom>
        </p:spPr>
      </p:pic>
      <p:sp>
        <p:nvSpPr>
          <p:cNvPr id="11" name="TextBox 10"/>
          <p:cNvSpPr txBox="1"/>
          <p:nvPr/>
        </p:nvSpPr>
        <p:spPr>
          <a:xfrm>
            <a:off x="7945564" y="4233989"/>
            <a:ext cx="4695621" cy="369332"/>
          </a:xfrm>
          <a:prstGeom prst="rect">
            <a:avLst/>
          </a:prstGeom>
          <a:noFill/>
        </p:spPr>
        <p:txBody>
          <a:bodyPr wrap="square" rtlCol="0">
            <a:spAutoFit/>
          </a:bodyPr>
          <a:lstStyle/>
          <a:p>
            <a:r>
              <a:rPr lang="en-US" dirty="0" smtClean="0"/>
              <a:t>Capacitor-1 Response to all phases</a:t>
            </a:r>
            <a:endParaRPr lang="sv-SE" dirty="0"/>
          </a:p>
        </p:txBody>
      </p:sp>
    </p:spTree>
    <p:extLst>
      <p:ext uri="{BB962C8B-B14F-4D97-AF65-F5344CB8AC3E}">
        <p14:creationId xmlns:p14="http://schemas.microsoft.com/office/powerpoint/2010/main" val="3781243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Cooling : Six 62mm Power Modules (in a row)</a:t>
            </a:r>
            <a:endParaRPr lang="sv-SE"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9414" t="56556" r="12585" b="10778"/>
          <a:stretch/>
        </p:blipFill>
        <p:spPr>
          <a:xfrm>
            <a:off x="4891913" y="1552574"/>
            <a:ext cx="5428348" cy="1705058"/>
          </a:xfrm>
          <a:prstGeom prst="rect">
            <a:avLst/>
          </a:prstGeom>
        </p:spPr>
      </p:pic>
      <p:pic>
        <p:nvPicPr>
          <p:cNvPr id="5" name="Picture 4"/>
          <p:cNvPicPr>
            <a:picLocks noChangeAspect="1"/>
          </p:cNvPicPr>
          <p:nvPr/>
        </p:nvPicPr>
        <p:blipFill>
          <a:blip r:embed="rId3"/>
          <a:stretch>
            <a:fillRect/>
          </a:stretch>
        </p:blipFill>
        <p:spPr>
          <a:xfrm>
            <a:off x="468229" y="1780790"/>
            <a:ext cx="2742974" cy="2953684"/>
          </a:xfrm>
          <a:prstGeom prst="rect">
            <a:avLst/>
          </a:prstGeom>
        </p:spPr>
      </p:pic>
      <p:sp>
        <p:nvSpPr>
          <p:cNvPr id="2" name="Rectangle 1"/>
          <p:cNvSpPr/>
          <p:nvPr/>
        </p:nvSpPr>
        <p:spPr>
          <a:xfrm>
            <a:off x="853795" y="4824978"/>
            <a:ext cx="2262158" cy="646331"/>
          </a:xfrm>
          <a:prstGeom prst="rect">
            <a:avLst/>
          </a:prstGeom>
        </p:spPr>
        <p:txBody>
          <a:bodyPr wrap="none">
            <a:spAutoFit/>
          </a:bodyPr>
          <a:lstStyle/>
          <a:p>
            <a:pPr algn="ctr"/>
            <a:r>
              <a:rPr lang="sv-SE" b="1" dirty="0">
                <a:latin typeface="Times New Roman" panose="02020603050405020304" pitchFamily="18" charset="0"/>
                <a:cs typeface="Times New Roman" panose="02020603050405020304" pitchFamily="18" charset="0"/>
              </a:rPr>
              <a:t>LIQUID </a:t>
            </a:r>
            <a:r>
              <a:rPr lang="sv-SE" b="1" dirty="0" smtClean="0">
                <a:latin typeface="Times New Roman" panose="02020603050405020304" pitchFamily="18" charset="0"/>
                <a:cs typeface="Times New Roman" panose="02020603050405020304" pitchFamily="18" charset="0"/>
              </a:rPr>
              <a:t>COOLING </a:t>
            </a:r>
          </a:p>
          <a:p>
            <a:pPr algn="ctr"/>
            <a:r>
              <a:rPr lang="sv-SE" b="1" dirty="0" smtClean="0">
                <a:latin typeface="Times New Roman" panose="02020603050405020304" pitchFamily="18" charset="0"/>
                <a:cs typeface="Times New Roman" panose="02020603050405020304" pitchFamily="18" charset="0"/>
              </a:rPr>
              <a:t>Series </a:t>
            </a:r>
            <a:r>
              <a:rPr lang="sv-SE" b="1" dirty="0">
                <a:latin typeface="Times New Roman" panose="02020603050405020304" pitchFamily="18" charset="0"/>
                <a:cs typeface="Times New Roman" panose="02020603050405020304" pitchFamily="18" charset="0"/>
              </a:rPr>
              <a:t>KS</a:t>
            </a:r>
          </a:p>
        </p:txBody>
      </p:sp>
      <p:pic>
        <p:nvPicPr>
          <p:cNvPr id="6" name="Picture 5"/>
          <p:cNvPicPr>
            <a:picLocks noChangeAspect="1"/>
          </p:cNvPicPr>
          <p:nvPr/>
        </p:nvPicPr>
        <p:blipFill>
          <a:blip r:embed="rId4"/>
          <a:stretch>
            <a:fillRect/>
          </a:stretch>
        </p:blipFill>
        <p:spPr>
          <a:xfrm>
            <a:off x="3936013" y="3823392"/>
            <a:ext cx="4209460" cy="2431683"/>
          </a:xfrm>
          <a:prstGeom prst="rect">
            <a:avLst/>
          </a:prstGeom>
        </p:spPr>
      </p:pic>
      <p:pic>
        <p:nvPicPr>
          <p:cNvPr id="7" name="Picture 6"/>
          <p:cNvPicPr>
            <a:picLocks noChangeAspect="1"/>
          </p:cNvPicPr>
          <p:nvPr/>
        </p:nvPicPr>
        <p:blipFill>
          <a:blip r:embed="rId5"/>
          <a:stretch>
            <a:fillRect/>
          </a:stretch>
        </p:blipFill>
        <p:spPr>
          <a:xfrm>
            <a:off x="8240723" y="3710553"/>
            <a:ext cx="3733800" cy="2724150"/>
          </a:xfrm>
          <a:prstGeom prst="rect">
            <a:avLst/>
          </a:prstGeom>
        </p:spPr>
      </p:pic>
    </p:spTree>
    <p:extLst>
      <p:ext uri="{BB962C8B-B14F-4D97-AF65-F5344CB8AC3E}">
        <p14:creationId xmlns:p14="http://schemas.microsoft.com/office/powerpoint/2010/main" val="16010738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Gate Driver and Sensors (that we consider to use)</a:t>
            </a:r>
            <a:endParaRPr lang="sv-SE"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2833" t="29556" r="16500" b="15556"/>
          <a:stretch/>
        </p:blipFill>
        <p:spPr>
          <a:xfrm>
            <a:off x="798195" y="1362075"/>
            <a:ext cx="3348603" cy="1950719"/>
          </a:xfrm>
          <a:prstGeom prst="rect">
            <a:avLst/>
          </a:prstGeom>
        </p:spPr>
      </p:pic>
      <p:sp>
        <p:nvSpPr>
          <p:cNvPr id="5" name="Rectangle 4"/>
          <p:cNvSpPr/>
          <p:nvPr/>
        </p:nvSpPr>
        <p:spPr>
          <a:xfrm>
            <a:off x="381924" y="3749224"/>
            <a:ext cx="4181145" cy="1015663"/>
          </a:xfrm>
          <a:prstGeom prst="rect">
            <a:avLst/>
          </a:prstGeom>
        </p:spPr>
        <p:txBody>
          <a:bodyPr wrap="none">
            <a:spAutoFit/>
          </a:bodyPr>
          <a:lstStyle/>
          <a:p>
            <a:pPr algn="ctr"/>
            <a:r>
              <a:rPr lang="sv-SE" sz="2000" b="1" dirty="0" smtClean="0">
                <a:latin typeface="Times New Roman" panose="02020603050405020304" pitchFamily="18" charset="0"/>
                <a:cs typeface="Times New Roman" panose="02020603050405020304" pitchFamily="18" charset="0"/>
              </a:rPr>
              <a:t>Gate Driver: </a:t>
            </a:r>
            <a:r>
              <a:rPr lang="sv-SE" sz="2000" b="1" dirty="0" err="1" smtClean="0">
                <a:latin typeface="Times New Roman" panose="02020603050405020304" pitchFamily="18" charset="0"/>
                <a:cs typeface="Times New Roman" panose="02020603050405020304" pitchFamily="18" charset="0"/>
              </a:rPr>
              <a:t>Evaluation</a:t>
            </a:r>
            <a:r>
              <a:rPr lang="sv-SE" sz="2000" b="1" dirty="0" smtClean="0">
                <a:latin typeface="Times New Roman" panose="02020603050405020304" pitchFamily="18" charset="0"/>
                <a:cs typeface="Times New Roman" panose="02020603050405020304" pitchFamily="18" charset="0"/>
              </a:rPr>
              <a:t> Board </a:t>
            </a:r>
            <a:r>
              <a:rPr lang="sv-SE" sz="2000" b="1" dirty="0" err="1" smtClean="0">
                <a:latin typeface="Times New Roman" panose="02020603050405020304" pitchFamily="18" charset="0"/>
                <a:cs typeface="Times New Roman" panose="02020603050405020304" pitchFamily="18" charset="0"/>
              </a:rPr>
              <a:t>Cree</a:t>
            </a:r>
            <a:endParaRPr lang="sv-SE" sz="2000" b="1" dirty="0">
              <a:latin typeface="Times New Roman" panose="02020603050405020304" pitchFamily="18" charset="0"/>
              <a:cs typeface="Times New Roman" panose="02020603050405020304" pitchFamily="18" charset="0"/>
            </a:endParaRPr>
          </a:p>
          <a:p>
            <a:pPr algn="ctr"/>
            <a:r>
              <a:rPr lang="sv-SE" sz="2000" dirty="0" smtClean="0">
                <a:solidFill>
                  <a:srgbClr val="000000"/>
                </a:solidFill>
                <a:latin typeface="Times New Roman" panose="02020603050405020304" pitchFamily="18" charset="0"/>
                <a:cs typeface="Times New Roman" panose="02020603050405020304" pitchFamily="18" charset="0"/>
              </a:rPr>
              <a:t>CGD1200HB2P</a:t>
            </a:r>
          </a:p>
          <a:p>
            <a:pPr algn="ctr"/>
            <a:r>
              <a:rPr lang="en-US" sz="2000" dirty="0" smtClean="0">
                <a:solidFill>
                  <a:srgbClr val="000000"/>
                </a:solidFill>
                <a:latin typeface="Times New Roman" panose="02020603050405020304" pitchFamily="18" charset="0"/>
                <a:cs typeface="Times New Roman" panose="02020603050405020304" pitchFamily="18" charset="0"/>
              </a:rPr>
              <a:t>20V -5V</a:t>
            </a:r>
            <a:endParaRPr lang="sv-SE" sz="20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3"/>
          <a:stretch>
            <a:fillRect/>
          </a:stretch>
        </p:blipFill>
        <p:spPr>
          <a:xfrm>
            <a:off x="5379253" y="1362075"/>
            <a:ext cx="2200275" cy="2316879"/>
          </a:xfrm>
          <a:prstGeom prst="rect">
            <a:avLst/>
          </a:prstGeom>
        </p:spPr>
      </p:pic>
      <p:sp>
        <p:nvSpPr>
          <p:cNvPr id="10" name="Rectangle 9"/>
          <p:cNvSpPr/>
          <p:nvPr/>
        </p:nvSpPr>
        <p:spPr>
          <a:xfrm>
            <a:off x="4751546" y="3749224"/>
            <a:ext cx="3455690" cy="1015663"/>
          </a:xfrm>
          <a:prstGeom prst="rect">
            <a:avLst/>
          </a:prstGeom>
        </p:spPr>
        <p:txBody>
          <a:bodyPr wrap="none">
            <a:spAutoFit/>
          </a:bodyPr>
          <a:lstStyle/>
          <a:p>
            <a:pPr algn="ctr"/>
            <a:r>
              <a:rPr lang="sv-SE" sz="2000" b="1" dirty="0" err="1">
                <a:latin typeface="Times New Roman" panose="02020603050405020304" pitchFamily="18" charset="0"/>
                <a:cs typeface="Times New Roman" panose="02020603050405020304" pitchFamily="18" charset="0"/>
              </a:rPr>
              <a:t>Current</a:t>
            </a:r>
            <a:r>
              <a:rPr lang="sv-SE" sz="2000" b="1" dirty="0">
                <a:latin typeface="Times New Roman" panose="02020603050405020304" pitchFamily="18" charset="0"/>
                <a:cs typeface="Times New Roman" panose="02020603050405020304" pitchFamily="18" charset="0"/>
              </a:rPr>
              <a:t> </a:t>
            </a:r>
            <a:r>
              <a:rPr lang="sv-SE" sz="2000" b="1" dirty="0" err="1">
                <a:latin typeface="Times New Roman" panose="02020603050405020304" pitchFamily="18" charset="0"/>
                <a:cs typeface="Times New Roman" panose="02020603050405020304" pitchFamily="18" charset="0"/>
              </a:rPr>
              <a:t>Transducer</a:t>
            </a:r>
            <a:r>
              <a:rPr lang="sv-SE" sz="2000" b="1" dirty="0">
                <a:latin typeface="Times New Roman" panose="02020603050405020304" pitchFamily="18" charset="0"/>
                <a:cs typeface="Times New Roman" panose="02020603050405020304" pitchFamily="18" charset="0"/>
              </a:rPr>
              <a:t> LF </a:t>
            </a:r>
            <a:r>
              <a:rPr lang="sv-SE" sz="2000" b="1" dirty="0" smtClean="0">
                <a:latin typeface="Times New Roman" panose="02020603050405020304" pitchFamily="18" charset="0"/>
                <a:cs typeface="Times New Roman" panose="02020603050405020304" pitchFamily="18" charset="0"/>
              </a:rPr>
              <a:t>310-S</a:t>
            </a:r>
          </a:p>
          <a:p>
            <a:pPr algn="ctr"/>
            <a:r>
              <a:rPr lang="en-US" sz="2000" dirty="0" smtClean="0">
                <a:latin typeface="Times New Roman" panose="02020603050405020304" pitchFamily="18" charset="0"/>
                <a:cs typeface="Times New Roman" panose="02020603050405020304" pitchFamily="18" charset="0"/>
              </a:rPr>
              <a:t>300A (RMS)</a:t>
            </a:r>
          </a:p>
          <a:p>
            <a:pPr algn="ctr"/>
            <a:r>
              <a:rPr lang="en-US" sz="2000" dirty="0" smtClean="0">
                <a:latin typeface="Times New Roman" panose="02020603050405020304" pitchFamily="18" charset="0"/>
                <a:cs typeface="Times New Roman" panose="02020603050405020304" pitchFamily="18" charset="0"/>
              </a:rPr>
              <a:t>100kHz </a:t>
            </a:r>
            <a:r>
              <a:rPr lang="en-US" sz="2000" dirty="0" err="1" smtClean="0">
                <a:latin typeface="Times New Roman" panose="02020603050405020304" pitchFamily="18" charset="0"/>
                <a:cs typeface="Times New Roman" panose="02020603050405020304" pitchFamily="18" charset="0"/>
              </a:rPr>
              <a:t>Bandwith</a:t>
            </a:r>
            <a:endParaRPr lang="sv-SE" sz="2000" dirty="0">
              <a:latin typeface="Times New Roman" panose="02020603050405020304" pitchFamily="18" charset="0"/>
              <a:cs typeface="Times New Roman" panose="02020603050405020304" pitchFamily="18" charset="0"/>
            </a:endParaRPr>
          </a:p>
        </p:txBody>
      </p:sp>
      <p:pic>
        <p:nvPicPr>
          <p:cNvPr id="1026" name="Picture 2" descr="HV2 DC voltage sensor product imag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9050" y="1362075"/>
            <a:ext cx="2482850" cy="248285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8822228" y="3749223"/>
            <a:ext cx="2656496" cy="1015663"/>
          </a:xfrm>
          <a:prstGeom prst="rect">
            <a:avLst/>
          </a:prstGeom>
        </p:spPr>
        <p:txBody>
          <a:bodyPr wrap="none">
            <a:spAutoFit/>
          </a:bodyPr>
          <a:lstStyle/>
          <a:p>
            <a:pPr algn="ctr"/>
            <a:r>
              <a:rPr lang="sv-SE" sz="2000" b="1" dirty="0" err="1" smtClean="0">
                <a:latin typeface="Times New Roman" panose="02020603050405020304" pitchFamily="18" charset="0"/>
                <a:cs typeface="Times New Roman" panose="02020603050405020304" pitchFamily="18" charset="0"/>
              </a:rPr>
              <a:t>Accuenergy</a:t>
            </a:r>
            <a:r>
              <a:rPr lang="sv-SE" sz="2000" b="1" dirty="0" smtClean="0">
                <a:latin typeface="Times New Roman" panose="02020603050405020304" pitchFamily="18" charset="0"/>
                <a:cs typeface="Times New Roman" panose="02020603050405020304" pitchFamily="18" charset="0"/>
              </a:rPr>
              <a:t> HV2-1500</a:t>
            </a:r>
          </a:p>
          <a:p>
            <a:pPr algn="ctr"/>
            <a:r>
              <a:rPr lang="en-US" sz="2000" dirty="0" smtClean="0">
                <a:latin typeface="Times New Roman" panose="02020603050405020304" pitchFamily="18" charset="0"/>
                <a:cs typeface="Times New Roman" panose="02020603050405020304" pitchFamily="18" charset="0"/>
              </a:rPr>
              <a:t>1500V</a:t>
            </a:r>
          </a:p>
          <a:p>
            <a:pPr algn="ctr"/>
            <a:r>
              <a:rPr lang="en-US" sz="2000" dirty="0" smtClean="0">
                <a:latin typeface="Times New Roman" panose="02020603050405020304" pitchFamily="18" charset="0"/>
                <a:cs typeface="Times New Roman" panose="02020603050405020304" pitchFamily="18" charset="0"/>
              </a:rPr>
              <a:t>DC</a:t>
            </a:r>
            <a:endParaRPr lang="sv-SE"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398433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9032</TotalTime>
  <Words>368</Words>
  <Application>Microsoft Office PowerPoint</Application>
  <PresentationFormat>Widescreen</PresentationFormat>
  <Paragraphs>65</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Figtree</vt:lpstr>
      <vt:lpstr>Times New Roman</vt:lpstr>
      <vt:lpstr>Cambria Math</vt:lpstr>
      <vt:lpstr>Office-tema</vt:lpstr>
      <vt:lpstr>Inverter Protoyping: 62mm Power Module</vt:lpstr>
      <vt:lpstr>Busbar Desing</vt:lpstr>
      <vt:lpstr>Busbar Geometry 62mm Power Module</vt:lpstr>
      <vt:lpstr>Impedance Model</vt:lpstr>
      <vt:lpstr>Cooling : Six 62mm Power Modules (in a row)</vt:lpstr>
      <vt:lpstr>Gate Driver and Sensors (that we consider to use)</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219</cp:revision>
  <dcterms:created xsi:type="dcterms:W3CDTF">2024-01-10T13:17:29Z</dcterms:created>
  <dcterms:modified xsi:type="dcterms:W3CDTF">2025-07-15T10:55:05Z</dcterms:modified>
</cp:coreProperties>
</file>