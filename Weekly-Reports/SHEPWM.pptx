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49728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61129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952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5219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800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477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53868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29829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384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8898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0705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3694F-F4AE-49A4-8DDB-21A59EE6BA90}" type="datetimeFigureOut">
              <a:rPr lang="sv-SE" smtClean="0"/>
              <a:t>2024-02-16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89A9B-597A-44EA-BD33-78474CF1061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61588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7F37956-C062-4D32-A8D9-CE026FBF104B}"/>
              </a:ext>
            </a:extLst>
          </p:cNvPr>
          <p:cNvSpPr txBox="1">
            <a:spLocks/>
          </p:cNvSpPr>
          <p:nvPr/>
        </p:nvSpPr>
        <p:spPr>
          <a:xfrm>
            <a:off x="609600" y="182943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479561-93DB-412C-8B92-4FB6C8609078}"/>
              </a:ext>
            </a:extLst>
          </p:cNvPr>
          <p:cNvSpPr/>
          <p:nvPr/>
        </p:nvSpPr>
        <p:spPr>
          <a:xfrm>
            <a:off x="1083276" y="558158"/>
            <a:ext cx="38266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frequency modulation method</a:t>
            </a:r>
          </a:p>
          <a:p>
            <a:pPr marL="742950" lvl="1" indent="-285750">
              <a:buFontTx/>
              <a:buChar char="-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6AC766-971D-48FC-9604-63CB2D324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26" y="1051739"/>
            <a:ext cx="4286250" cy="42767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2E47BC-C2CB-4C71-91E2-F41B77822098}"/>
              </a:ext>
            </a:extLst>
          </p:cNvPr>
          <p:cNvCxnSpPr/>
          <p:nvPr/>
        </p:nvCxnSpPr>
        <p:spPr>
          <a:xfrm>
            <a:off x="5236176" y="2028052"/>
            <a:ext cx="16192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16C485B-FFDE-4420-9B51-246AD2D6735F}"/>
              </a:ext>
            </a:extLst>
          </p:cNvPr>
          <p:cNvSpPr txBox="1"/>
          <p:nvPr/>
        </p:nvSpPr>
        <p:spPr>
          <a:xfrm>
            <a:off x="7217378" y="1427887"/>
            <a:ext cx="34480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Multi-frequency </a:t>
            </a:r>
            <a:r>
              <a:rPr lang="en-US" dirty="0"/>
              <a:t>output with f1,f2,f3 and their higher order harmonics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multi-level </a:t>
            </a:r>
            <a:r>
              <a:rPr lang="en-US" dirty="0" smtClean="0"/>
              <a:t>converter or SHEPWMs with look-</a:t>
            </a:r>
            <a:r>
              <a:rPr lang="en-US" dirty="0" smtClean="0"/>
              <a:t>up table</a:t>
            </a:r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951969-E0DD-44E2-9F73-7121F92DEDCC}"/>
              </a:ext>
            </a:extLst>
          </p:cNvPr>
          <p:cNvCxnSpPr/>
          <p:nvPr/>
        </p:nvCxnSpPr>
        <p:spPr>
          <a:xfrm>
            <a:off x="5236176" y="4399777"/>
            <a:ext cx="16192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AE284EC-D96F-4F2F-B500-09AB8ABE94F8}"/>
              </a:ext>
            </a:extLst>
          </p:cNvPr>
          <p:cNvSpPr txBox="1"/>
          <p:nvPr/>
        </p:nvSpPr>
        <p:spPr>
          <a:xfrm>
            <a:off x="7217378" y="3799612"/>
            <a:ext cx="3448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 frequency output with complex frequencies stemmed from the multiplication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two-level converter</a:t>
            </a:r>
          </a:p>
        </p:txBody>
      </p:sp>
    </p:spTree>
    <p:extLst>
      <p:ext uri="{BB962C8B-B14F-4D97-AF65-F5344CB8AC3E}">
        <p14:creationId xmlns:p14="http://schemas.microsoft.com/office/powerpoint/2010/main" val="320038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18E10E-050B-4049-93A4-CBB2464D4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04800"/>
            <a:ext cx="10353675" cy="262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763F9C-A37F-4806-BA18-099763CC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6" y="3550682"/>
            <a:ext cx="5019675" cy="942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B1B5A-8C90-4334-93AE-9A60C56AF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2" y="4624864"/>
            <a:ext cx="4391025" cy="714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EB2C5A-7305-4F80-BB3D-222A6A302B0A}"/>
              </a:ext>
            </a:extLst>
          </p:cNvPr>
          <p:cNvSpPr txBox="1"/>
          <p:nvPr/>
        </p:nvSpPr>
        <p:spPr>
          <a:xfrm>
            <a:off x="5981700" y="4170491"/>
            <a:ext cx="3257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domain multiplication </a:t>
            </a:r>
          </a:p>
          <a:p>
            <a:r>
              <a:rPr lang="en-US" dirty="0"/>
              <a:t>Frequency domain convolution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07B30-3C97-495E-82AC-87CD9829724B}"/>
              </a:ext>
            </a:extLst>
          </p:cNvPr>
          <p:cNvSpPr txBox="1"/>
          <p:nvPr/>
        </p:nvSpPr>
        <p:spPr>
          <a:xfrm>
            <a:off x="471486" y="5667375"/>
            <a:ext cx="4705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Also it can be formulated considering duty cycle</a:t>
            </a:r>
          </a:p>
        </p:txBody>
      </p:sp>
    </p:spTree>
    <p:extLst>
      <p:ext uri="{BB962C8B-B14F-4D97-AF65-F5344CB8AC3E}">
        <p14:creationId xmlns:p14="http://schemas.microsoft.com/office/powerpoint/2010/main" val="287160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FC3043-6DF2-4E66-ACA0-3843E0D6C98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80648" y="704849"/>
          <a:ext cx="9229730" cy="1337310"/>
        </p:xfrm>
        <a:graphic>
          <a:graphicData uri="http://schemas.openxmlformats.org/drawingml/2006/table">
            <a:tbl>
              <a:tblPr/>
              <a:tblGrid>
                <a:gridCol w="922973">
                  <a:extLst>
                    <a:ext uri="{9D8B030D-6E8A-4147-A177-3AD203B41FA5}">
                      <a16:colId xmlns:a16="http://schemas.microsoft.com/office/drawing/2014/main" val="1841822993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428719812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3929395654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3674733630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920241510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1571145330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34786997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587588588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774441548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127031917"/>
                    </a:ext>
                  </a:extLst>
                </a:gridCol>
              </a:tblGrid>
              <a:tr h="293371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3f1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3f2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4f1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4f2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72475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lang="en-US" dirty="0"/>
                        <a:t>PWM1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42888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PWM2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094351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B6AB97F-6B51-456D-A453-FE29E290C76C}"/>
              </a:ext>
            </a:extLst>
          </p:cNvPr>
          <p:cNvSpPr/>
          <p:nvPr/>
        </p:nvSpPr>
        <p:spPr>
          <a:xfrm>
            <a:off x="4865519" y="2463284"/>
            <a:ext cx="26903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PWMres</a:t>
            </a:r>
            <a:r>
              <a:rPr lang="en-US" dirty="0"/>
              <a:t> = PWM1 x PWM2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156825-62C9-4796-BAF3-8AC613C50FE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32889" y="3109615"/>
          <a:ext cx="11726221" cy="1586656"/>
        </p:xfrm>
        <a:graphic>
          <a:graphicData uri="http://schemas.openxmlformats.org/drawingml/2006/table">
            <a:tbl>
              <a:tblPr/>
              <a:tblGrid>
                <a:gridCol w="1201014">
                  <a:extLst>
                    <a:ext uri="{9D8B030D-6E8A-4147-A177-3AD203B41FA5}">
                      <a16:colId xmlns:a16="http://schemas.microsoft.com/office/drawing/2014/main" val="820118780"/>
                    </a:ext>
                  </a:extLst>
                </a:gridCol>
                <a:gridCol w="474160">
                  <a:extLst>
                    <a:ext uri="{9D8B030D-6E8A-4147-A177-3AD203B41FA5}">
                      <a16:colId xmlns:a16="http://schemas.microsoft.com/office/drawing/2014/main" val="2080484852"/>
                    </a:ext>
                  </a:extLst>
                </a:gridCol>
                <a:gridCol w="837588">
                  <a:extLst>
                    <a:ext uri="{9D8B030D-6E8A-4147-A177-3AD203B41FA5}">
                      <a16:colId xmlns:a16="http://schemas.microsoft.com/office/drawing/2014/main" val="3540079185"/>
                    </a:ext>
                  </a:extLst>
                </a:gridCol>
                <a:gridCol w="837588">
                  <a:extLst>
                    <a:ext uri="{9D8B030D-6E8A-4147-A177-3AD203B41FA5}">
                      <a16:colId xmlns:a16="http://schemas.microsoft.com/office/drawing/2014/main" val="856012666"/>
                    </a:ext>
                  </a:extLst>
                </a:gridCol>
                <a:gridCol w="837588">
                  <a:extLst>
                    <a:ext uri="{9D8B030D-6E8A-4147-A177-3AD203B41FA5}">
                      <a16:colId xmlns:a16="http://schemas.microsoft.com/office/drawing/2014/main" val="4286905789"/>
                    </a:ext>
                  </a:extLst>
                </a:gridCol>
                <a:gridCol w="837588">
                  <a:extLst>
                    <a:ext uri="{9D8B030D-6E8A-4147-A177-3AD203B41FA5}">
                      <a16:colId xmlns:a16="http://schemas.microsoft.com/office/drawing/2014/main" val="1066548099"/>
                    </a:ext>
                  </a:extLst>
                </a:gridCol>
                <a:gridCol w="1109431">
                  <a:extLst>
                    <a:ext uri="{9D8B030D-6E8A-4147-A177-3AD203B41FA5}">
                      <a16:colId xmlns:a16="http://schemas.microsoft.com/office/drawing/2014/main" val="1936266792"/>
                    </a:ext>
                  </a:extLst>
                </a:gridCol>
                <a:gridCol w="720392">
                  <a:extLst>
                    <a:ext uri="{9D8B030D-6E8A-4147-A177-3AD203B41FA5}">
                      <a16:colId xmlns:a16="http://schemas.microsoft.com/office/drawing/2014/main" val="2138754700"/>
                    </a:ext>
                  </a:extLst>
                </a:gridCol>
                <a:gridCol w="941157">
                  <a:extLst>
                    <a:ext uri="{9D8B030D-6E8A-4147-A177-3AD203B41FA5}">
                      <a16:colId xmlns:a16="http://schemas.microsoft.com/office/drawing/2014/main" val="3704086176"/>
                    </a:ext>
                  </a:extLst>
                </a:gridCol>
                <a:gridCol w="653116">
                  <a:extLst>
                    <a:ext uri="{9D8B030D-6E8A-4147-A177-3AD203B41FA5}">
                      <a16:colId xmlns:a16="http://schemas.microsoft.com/office/drawing/2014/main" val="2890830557"/>
                    </a:ext>
                  </a:extLst>
                </a:gridCol>
                <a:gridCol w="924898">
                  <a:extLst>
                    <a:ext uri="{9D8B030D-6E8A-4147-A177-3AD203B41FA5}">
                      <a16:colId xmlns:a16="http://schemas.microsoft.com/office/drawing/2014/main" val="2411530192"/>
                    </a:ext>
                  </a:extLst>
                </a:gridCol>
                <a:gridCol w="684827">
                  <a:extLst>
                    <a:ext uri="{9D8B030D-6E8A-4147-A177-3AD203B41FA5}">
                      <a16:colId xmlns:a16="http://schemas.microsoft.com/office/drawing/2014/main" val="3818915446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4027231041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1579977288"/>
                    </a:ext>
                  </a:extLst>
                </a:gridCol>
              </a:tblGrid>
              <a:tr h="672256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f2-f1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f2+f1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2f1-f2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2f2-f1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2f1+f2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3f1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3f1-f2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2f2+f1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484371"/>
                  </a:ext>
                </a:extLst>
              </a:tr>
              <a:tr h="665054">
                <a:tc>
                  <a:txBody>
                    <a:bodyPr/>
                    <a:lstStyle/>
                    <a:p>
                      <a:r>
                        <a:rPr lang="en-US" dirty="0" err="1"/>
                        <a:t>PWMres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A0x</a:t>
                      </a:r>
                    </a:p>
                    <a:p>
                      <a:r>
                        <a:rPr lang="en-US" dirty="0"/>
                        <a:t>B0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A1/2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B1/2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A1/2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B1/2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A0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A2/2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B1/2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A2/2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A2/2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B1/2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A0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A2/2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B1/2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A3/2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A3/2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B1/2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A1/2</a:t>
                      </a:r>
                    </a:p>
                    <a:p>
                      <a:r>
                        <a:rPr lang="en-US" dirty="0"/>
                        <a:t>X</a:t>
                      </a:r>
                    </a:p>
                    <a:p>
                      <a:r>
                        <a:rPr lang="en-US" dirty="0"/>
                        <a:t>B2/2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366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316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181551-F355-4AAB-8605-0578C737FC9E}"/>
              </a:ext>
            </a:extLst>
          </p:cNvPr>
          <p:cNvSpPr txBox="1"/>
          <p:nvPr/>
        </p:nvSpPr>
        <p:spPr>
          <a:xfrm>
            <a:off x="493160" y="335845"/>
            <a:ext cx="63627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we want to utilize frequencies of 50 kHz, 120 kHz, and 180 kHz with magnitudes of Fa, Fb, Fc.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unknown pulses with frequencies of f1 , f2,  and f3.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which resultant frequencies , from convolution, is selected as the desired frequencies of 50kHz, 100kHz, and 200kHz.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f1=50 kHz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f2+f1=120 kHz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f3+f1=180 kHz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f1=50kHz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f2=70kHz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f3=130 kHz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Fa=A1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Fb=A1/2+B1/2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Fc=A1/2+ C1/2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19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111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</cp:revision>
  <dcterms:created xsi:type="dcterms:W3CDTF">2024-02-16T14:08:02Z</dcterms:created>
  <dcterms:modified xsi:type="dcterms:W3CDTF">2024-02-16T14:10:03Z</dcterms:modified>
</cp:coreProperties>
</file>