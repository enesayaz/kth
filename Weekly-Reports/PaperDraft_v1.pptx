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5" r:id="rId5"/>
    <p:sldId id="266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1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4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22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835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913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6645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1202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523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2255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170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654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919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5030" y="342900"/>
            <a:ext cx="9537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Outline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: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Evaluation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(or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Overview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of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Traction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Inverter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Topologies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for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High-Duty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Electric Truck </a:t>
            </a:r>
            <a:endParaRPr lang="sv-SE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9868" y="1143686"/>
            <a:ext cx="656497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u="sng" dirty="0" err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Literature</a:t>
            </a:r>
            <a:r>
              <a:rPr lang="sv-SE" b="1" u="sng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b="1" u="sng" dirty="0" smtClean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Review:</a:t>
            </a:r>
          </a:p>
          <a:p>
            <a:endParaRPr lang="sv-SE" b="1" u="sng" dirty="0" smtClean="0">
              <a:solidFill>
                <a:srgbClr val="37415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en-US" dirty="0" smtClean="0"/>
              <a:t>Traction Inverters: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 Automotive,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Aerospace because of ratings</a:t>
            </a:r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marL="800100" lvl="1" indent="-342900">
              <a:buFont typeface="+mj-lt"/>
              <a:buAutoNum type="alphaUcPeriod"/>
            </a:pPr>
            <a:r>
              <a:rPr lang="en-US" dirty="0" smtClean="0"/>
              <a:t>Key </a:t>
            </a:r>
            <a:r>
              <a:rPr lang="en-US" dirty="0"/>
              <a:t>Requirements for High-Duty Electric </a:t>
            </a:r>
            <a:r>
              <a:rPr lang="en-US" dirty="0" smtClean="0"/>
              <a:t>Trucks: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Power requirements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High voltage, fast charge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800100" lvl="1" indent="-342900">
              <a:buFont typeface="+mj-lt"/>
              <a:buAutoNum type="alphaUcPeriod"/>
            </a:pPr>
            <a:r>
              <a:rPr lang="en-US" dirty="0" smtClean="0"/>
              <a:t>Existing Traction Inverter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8378" y="4310618"/>
            <a:ext cx="73249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dirty="0" smtClean="0"/>
              <a:t> </a:t>
            </a:r>
            <a:endParaRPr lang="sv-SE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429" y="3243848"/>
            <a:ext cx="2426820" cy="1893502"/>
          </a:xfrm>
          <a:prstGeom prst="rect">
            <a:avLst/>
          </a:prstGeom>
        </p:spPr>
      </p:pic>
      <p:cxnSp>
        <p:nvCxnSpPr>
          <p:cNvPr id="7" name="Straight Arrow Connector 6"/>
          <p:cNvCxnSpPr>
            <a:endCxn id="5" idx="1"/>
          </p:cNvCxnSpPr>
          <p:nvPr/>
        </p:nvCxnSpPr>
        <p:spPr>
          <a:xfrm>
            <a:off x="4373880" y="4047289"/>
            <a:ext cx="1227549" cy="1433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493" y="972048"/>
            <a:ext cx="2489888" cy="1343984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endCxn id="9" idx="1"/>
          </p:cNvCxnSpPr>
          <p:nvPr/>
        </p:nvCxnSpPr>
        <p:spPr>
          <a:xfrm flipV="1">
            <a:off x="3688492" y="1644040"/>
            <a:ext cx="1628001" cy="549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379" y="852606"/>
            <a:ext cx="4052888" cy="268144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4897336" y="2193326"/>
            <a:ext cx="3317024" cy="312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5"/>
          <a:srcRect t="5639" b="10136"/>
          <a:stretch/>
        </p:blipFill>
        <p:spPr>
          <a:xfrm>
            <a:off x="5806646" y="5298710"/>
            <a:ext cx="5295900" cy="1303517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4502492" y="5703799"/>
            <a:ext cx="1456348" cy="236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00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2178" y="721598"/>
            <a:ext cx="732491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u="sng" dirty="0" err="1">
                <a:solidFill>
                  <a:srgbClr val="C00000"/>
                </a:solidFill>
              </a:rPr>
              <a:t>Virtual</a:t>
            </a:r>
            <a:r>
              <a:rPr lang="sv-SE" b="1" u="sng" dirty="0">
                <a:solidFill>
                  <a:srgbClr val="C00000"/>
                </a:solidFill>
              </a:rPr>
              <a:t> </a:t>
            </a:r>
            <a:r>
              <a:rPr lang="sv-SE" b="1" u="sng" dirty="0" err="1" smtClean="0">
                <a:solidFill>
                  <a:srgbClr val="C00000"/>
                </a:solidFill>
              </a:rPr>
              <a:t>Prototyping</a:t>
            </a:r>
            <a:r>
              <a:rPr lang="sv-SE" b="1" u="sng" dirty="0" smtClean="0">
                <a:solidFill>
                  <a:srgbClr val="C00000"/>
                </a:solidFill>
              </a:rPr>
              <a:t> and </a:t>
            </a:r>
            <a:r>
              <a:rPr lang="sv-SE" b="1" u="sng" dirty="0" err="1" smtClean="0">
                <a:solidFill>
                  <a:srgbClr val="C00000"/>
                </a:solidFill>
              </a:rPr>
              <a:t>Modelling</a:t>
            </a:r>
            <a:r>
              <a:rPr lang="sv-SE" b="1" u="sng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Figure-of-Merit </a:t>
            </a:r>
            <a:r>
              <a:rPr lang="en-US" dirty="0" err="1" smtClean="0"/>
              <a:t>SiC</a:t>
            </a:r>
            <a:r>
              <a:rPr lang="en-US" dirty="0" smtClean="0"/>
              <a:t> devices: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rds</a:t>
            </a:r>
            <a:endParaRPr lang="en-US" dirty="0" smtClean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switching loss</a:t>
            </a:r>
          </a:p>
          <a:p>
            <a:pPr marL="1714500" lvl="3" indent="-342900">
              <a:buFont typeface="+mj-lt"/>
              <a:buAutoNum type="alphaUcPeriod"/>
            </a:pPr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Probable Topology Selection and Current-Voltage Waveforms: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2-level 3-phase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3-level 3-phase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2-level 6-phase </a:t>
            </a:r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marL="342900" indent="-342900">
              <a:buFont typeface="+mj-lt"/>
              <a:buAutoNum type="alphaUcPeriod"/>
            </a:pPr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Loss Modelling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Semiconductor Loss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Thermal Model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   Capacitor </a:t>
            </a:r>
            <a:r>
              <a:rPr lang="en-US" dirty="0"/>
              <a:t>Modelling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sv-SE" dirty="0"/>
          </a:p>
          <a:p>
            <a:pPr lvl="3"/>
            <a:endParaRPr lang="en-US" b="1" dirty="0"/>
          </a:p>
          <a:p>
            <a:pPr lvl="3"/>
            <a:endParaRPr lang="sv-SE" b="1" dirty="0" smtClean="0"/>
          </a:p>
          <a:p>
            <a:pPr lvl="3"/>
            <a:endParaRPr lang="sv-SE" b="1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133" y="194370"/>
            <a:ext cx="2698207" cy="153505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V="1">
            <a:off x="3025140" y="1440180"/>
            <a:ext cx="1706880" cy="20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1016563"/>
            <a:ext cx="2917079" cy="1604393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>
            <a:off x="3489960" y="1752600"/>
            <a:ext cx="5234940" cy="22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821" y="2568257"/>
            <a:ext cx="2175066" cy="163129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866" y="2566429"/>
            <a:ext cx="2177501" cy="1633127"/>
          </a:xfrm>
          <a:prstGeom prst="rect">
            <a:avLst/>
          </a:prstGeom>
        </p:spPr>
      </p:pic>
      <p:cxnSp>
        <p:nvCxnSpPr>
          <p:cNvPr id="28" name="Straight Arrow Connector 27"/>
          <p:cNvCxnSpPr/>
          <p:nvPr/>
        </p:nvCxnSpPr>
        <p:spPr>
          <a:xfrm>
            <a:off x="5423862" y="2760423"/>
            <a:ext cx="981603" cy="527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6"/>
          <a:srcRect t="4044"/>
          <a:stretch/>
        </p:blipFill>
        <p:spPr>
          <a:xfrm>
            <a:off x="6073984" y="4242268"/>
            <a:ext cx="2769882" cy="105882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31" name="Straight Arrow Connector 30"/>
          <p:cNvCxnSpPr/>
          <p:nvPr/>
        </p:nvCxnSpPr>
        <p:spPr>
          <a:xfrm>
            <a:off x="3369295" y="4771681"/>
            <a:ext cx="26434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7"/>
          <a:srcRect b="17226"/>
          <a:stretch/>
        </p:blipFill>
        <p:spPr>
          <a:xfrm>
            <a:off x="9673191" y="4888744"/>
            <a:ext cx="1968788" cy="90775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34" name="Straight Arrow Connector 33"/>
          <p:cNvCxnSpPr/>
          <p:nvPr/>
        </p:nvCxnSpPr>
        <p:spPr>
          <a:xfrm>
            <a:off x="3952875" y="5086879"/>
            <a:ext cx="5633085" cy="391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622" y="5584318"/>
            <a:ext cx="3220393" cy="107565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7866" y="5757564"/>
            <a:ext cx="1347144" cy="8232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40" name="Straight Arrow Connector 39"/>
          <p:cNvCxnSpPr>
            <a:endCxn id="38" idx="1"/>
          </p:cNvCxnSpPr>
          <p:nvPr/>
        </p:nvCxnSpPr>
        <p:spPr>
          <a:xfrm>
            <a:off x="3369295" y="5478780"/>
            <a:ext cx="1573327" cy="6433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97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2178" y="721598"/>
            <a:ext cx="732491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dirty="0" err="1">
                <a:solidFill>
                  <a:srgbClr val="C00000"/>
                </a:solidFill>
              </a:rPr>
              <a:t>Performance</a:t>
            </a:r>
            <a:r>
              <a:rPr lang="sv-SE" b="1" dirty="0">
                <a:solidFill>
                  <a:srgbClr val="C00000"/>
                </a:solidFill>
              </a:rPr>
              <a:t> </a:t>
            </a:r>
            <a:r>
              <a:rPr lang="sv-SE" b="1" dirty="0" err="1">
                <a:solidFill>
                  <a:srgbClr val="C00000"/>
                </a:solidFill>
              </a:rPr>
              <a:t>Evaluation</a:t>
            </a:r>
            <a:r>
              <a:rPr lang="sv-SE" b="1" u="sng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Loss and Size </a:t>
            </a:r>
            <a:r>
              <a:rPr lang="en-US" dirty="0" smtClean="0"/>
              <a:t>Comparison</a:t>
            </a:r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marL="342900" indent="-342900">
              <a:buFont typeface="+mj-lt"/>
              <a:buAutoNum type="alphaUcPeriod"/>
            </a:pPr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err="1"/>
              <a:t>Reliablity</a:t>
            </a:r>
            <a:r>
              <a:rPr lang="en-US" dirty="0"/>
              <a:t> and Lifetime?</a:t>
            </a:r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lvl="3"/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Output Harmonics   and Possible Motor Losses</a:t>
            </a:r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C. Common </a:t>
            </a:r>
            <a:r>
              <a:rPr lang="en-US" dirty="0" smtClean="0"/>
              <a:t>Mode Voltage and Bearing Current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dirty="0" smtClean="0"/>
              <a:t>PWM methodologies</a:t>
            </a: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sv-SE" dirty="0"/>
          </a:p>
          <a:p>
            <a:pPr lvl="3"/>
            <a:endParaRPr lang="en-US" b="1" dirty="0"/>
          </a:p>
          <a:p>
            <a:pPr lvl="3"/>
            <a:endParaRPr lang="sv-SE" b="1" dirty="0" smtClean="0"/>
          </a:p>
          <a:p>
            <a:pPr lvl="3"/>
            <a:endParaRPr lang="sv-SE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425" y="72759"/>
            <a:ext cx="3762866" cy="2397998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3619500" y="1476375"/>
            <a:ext cx="2924175" cy="19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730" y="2594011"/>
            <a:ext cx="3377561" cy="1568153"/>
          </a:xfrm>
          <a:prstGeom prst="rect">
            <a:avLst/>
          </a:prstGeom>
        </p:spPr>
      </p:pic>
      <p:cxnSp>
        <p:nvCxnSpPr>
          <p:cNvPr id="23" name="Straight Arrow Connector 22"/>
          <p:cNvCxnSpPr>
            <a:endCxn id="22" idx="1"/>
          </p:cNvCxnSpPr>
          <p:nvPr/>
        </p:nvCxnSpPr>
        <p:spPr>
          <a:xfrm>
            <a:off x="5177422" y="3106159"/>
            <a:ext cx="2037308" cy="2719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091" y="4293505"/>
            <a:ext cx="3981450" cy="1670787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081587" y="4245485"/>
            <a:ext cx="2995613" cy="7122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095" y="4988822"/>
            <a:ext cx="3197298" cy="1823765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>
            <a:off x="3382095" y="4495800"/>
            <a:ext cx="1598649" cy="4619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89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4500" y="292100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>
                <a:solidFill>
                  <a:srgbClr val="C00000"/>
                </a:solidFill>
              </a:rPr>
              <a:t>Virtual</a:t>
            </a:r>
            <a:r>
              <a:rPr lang="sv-SE" b="1" u="sng" dirty="0">
                <a:solidFill>
                  <a:srgbClr val="C00000"/>
                </a:solidFill>
              </a:rPr>
              <a:t> </a:t>
            </a:r>
            <a:r>
              <a:rPr lang="sv-SE" b="1" u="sng" dirty="0" err="1">
                <a:solidFill>
                  <a:srgbClr val="C00000"/>
                </a:solidFill>
              </a:rPr>
              <a:t>Prototyping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235075"/>
            <a:ext cx="4476750" cy="933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25" y="756682"/>
            <a:ext cx="4587357" cy="2597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87" y="2168525"/>
            <a:ext cx="4048125" cy="1276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25" y="4196040"/>
            <a:ext cx="4800600" cy="619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6625" y="701953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 smtClean="0">
                <a:solidFill>
                  <a:srgbClr val="C00000"/>
                </a:solidFill>
              </a:rPr>
              <a:t>Conduction</a:t>
            </a:r>
            <a:r>
              <a:rPr lang="sv-SE" b="1" u="sng" dirty="0" smtClean="0">
                <a:solidFill>
                  <a:srgbClr val="C00000"/>
                </a:solidFill>
              </a:rPr>
              <a:t> Loss</a:t>
            </a:r>
            <a:endParaRPr lang="sv-SE" dirty="0"/>
          </a:p>
        </p:txBody>
      </p:sp>
      <p:sp>
        <p:nvSpPr>
          <p:cNvPr id="10" name="TextBox 9"/>
          <p:cNvSpPr txBox="1"/>
          <p:nvPr/>
        </p:nvSpPr>
        <p:spPr>
          <a:xfrm>
            <a:off x="936625" y="3793847"/>
            <a:ext cx="341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 smtClean="0">
                <a:solidFill>
                  <a:srgbClr val="C00000"/>
                </a:solidFill>
              </a:rPr>
              <a:t>Zero</a:t>
            </a:r>
            <a:r>
              <a:rPr lang="sv-SE" b="1" u="sng" dirty="0" smtClean="0">
                <a:solidFill>
                  <a:srgbClr val="C00000"/>
                </a:solidFill>
              </a:rPr>
              <a:t> </a:t>
            </a:r>
            <a:r>
              <a:rPr lang="sv-SE" b="1" u="sng" dirty="0" err="1" smtClean="0">
                <a:solidFill>
                  <a:srgbClr val="C00000"/>
                </a:solidFill>
              </a:rPr>
              <a:t>Current</a:t>
            </a:r>
            <a:r>
              <a:rPr lang="sv-SE" b="1" u="sng" dirty="0" smtClean="0">
                <a:solidFill>
                  <a:srgbClr val="C00000"/>
                </a:solidFill>
              </a:rPr>
              <a:t> </a:t>
            </a:r>
            <a:r>
              <a:rPr lang="sv-SE" b="1" u="sng" dirty="0" err="1" smtClean="0">
                <a:solidFill>
                  <a:srgbClr val="C00000"/>
                </a:solidFill>
              </a:rPr>
              <a:t>Switching</a:t>
            </a:r>
            <a:r>
              <a:rPr lang="sv-SE" b="1" u="sng" dirty="0" smtClean="0">
                <a:solidFill>
                  <a:srgbClr val="C00000"/>
                </a:solidFill>
              </a:rPr>
              <a:t> Loss</a:t>
            </a:r>
            <a:endParaRPr lang="sv-SE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337" y="4680505"/>
            <a:ext cx="5743575" cy="5429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225" y="3742245"/>
            <a:ext cx="4678363" cy="25648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075" y="5299630"/>
            <a:ext cx="40767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6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4500" y="292100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>
                <a:solidFill>
                  <a:srgbClr val="C00000"/>
                </a:solidFill>
              </a:rPr>
              <a:t>Virtual</a:t>
            </a:r>
            <a:r>
              <a:rPr lang="sv-SE" b="1" u="sng" dirty="0">
                <a:solidFill>
                  <a:srgbClr val="C00000"/>
                </a:solidFill>
              </a:rPr>
              <a:t> </a:t>
            </a:r>
            <a:r>
              <a:rPr lang="sv-SE" b="1" u="sng" dirty="0" err="1">
                <a:solidFill>
                  <a:srgbClr val="C00000"/>
                </a:solidFill>
              </a:rPr>
              <a:t>Prototyping</a:t>
            </a:r>
            <a:endParaRPr lang="sv-SE" dirty="0"/>
          </a:p>
        </p:txBody>
      </p:sp>
      <p:sp>
        <p:nvSpPr>
          <p:cNvPr id="9" name="TextBox 8"/>
          <p:cNvSpPr txBox="1"/>
          <p:nvPr/>
        </p:nvSpPr>
        <p:spPr>
          <a:xfrm>
            <a:off x="936624" y="701953"/>
            <a:ext cx="420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 smtClean="0">
                <a:solidFill>
                  <a:srgbClr val="C00000"/>
                </a:solidFill>
              </a:rPr>
              <a:t>Switching</a:t>
            </a:r>
            <a:r>
              <a:rPr lang="sv-SE" b="1" u="sng" dirty="0" smtClean="0">
                <a:solidFill>
                  <a:srgbClr val="C00000"/>
                </a:solidFill>
              </a:rPr>
              <a:t> Loss – dv/dt and di/dt</a:t>
            </a:r>
            <a:endParaRPr lang="sv-SE" dirty="0"/>
          </a:p>
        </p:txBody>
      </p:sp>
      <p:pic>
        <p:nvPicPr>
          <p:cNvPr id="2050" name="Picture 2" descr="C:\Users\enesa\AppData\Local\Temp\ConnectorClipboard9001578144035710531\image1699519413576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524" y="2147888"/>
            <a:ext cx="30861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enesa\AppData\Local\Temp\ConnectorClipboard9001578144035710531\image1699519418712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4" y="2831307"/>
            <a:ext cx="5391150" cy="121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enesa\AppData\Local\Temp\ConnectorClipboard9001578144035710531\image169951942624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2" y="1290618"/>
            <a:ext cx="58959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0" y="4321062"/>
            <a:ext cx="4519613" cy="2429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86838" y="4977637"/>
            <a:ext cx="3167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2-level loss-</a:t>
            </a:r>
            <a:r>
              <a:rPr lang="sv-SE" dirty="0" err="1"/>
              <a:t>minimized</a:t>
            </a:r>
            <a:r>
              <a:rPr lang="sv-SE" dirty="0"/>
              <a:t> </a:t>
            </a:r>
            <a:endParaRPr lang="sv-SE" dirty="0" smtClean="0"/>
          </a:p>
          <a:p>
            <a:r>
              <a:rPr lang="sv-SE" dirty="0" smtClean="0"/>
              <a:t>optimal </a:t>
            </a:r>
            <a:r>
              <a:rPr lang="sv-SE" dirty="0" err="1"/>
              <a:t>semiconductor</a:t>
            </a:r>
            <a:r>
              <a:rPr lang="sv-SE" dirty="0"/>
              <a:t> </a:t>
            </a:r>
            <a:r>
              <a:rPr lang="sv-SE" dirty="0" err="1"/>
              <a:t>die</a:t>
            </a:r>
            <a:r>
              <a:rPr lang="sv-SE" dirty="0"/>
              <a:t> </a:t>
            </a:r>
            <a:r>
              <a:rPr lang="sv-SE" dirty="0" smtClean="0"/>
              <a:t>area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2413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135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34</cp:revision>
  <dcterms:created xsi:type="dcterms:W3CDTF">2023-10-25T13:10:18Z</dcterms:created>
  <dcterms:modified xsi:type="dcterms:W3CDTF">2023-11-16T10:33:20Z</dcterms:modified>
</cp:coreProperties>
</file>