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2"/>
  </p:notesMasterIdLst>
  <p:sldIdLst>
    <p:sldId id="266" r:id="rId2"/>
    <p:sldId id="269" r:id="rId3"/>
    <p:sldId id="273" r:id="rId4"/>
    <p:sldId id="270" r:id="rId5"/>
    <p:sldId id="268" r:id="rId6"/>
    <p:sldId id="274" r:id="rId7"/>
    <p:sldId id="298" r:id="rId8"/>
    <p:sldId id="275" r:id="rId9"/>
    <p:sldId id="276" r:id="rId10"/>
    <p:sldId id="300" r:id="rId11"/>
  </p:sldIdLst>
  <p:sldSz cx="12192000" cy="6858000"/>
  <p:notesSz cx="6858000" cy="9144000"/>
  <p:embeddedFontLst>
    <p:embeddedFont>
      <p:font typeface="Figtree" panose="020B0604020202020204" charset="0"/>
      <p:regular r:id="rId13"/>
      <p:bold r:id="rId14"/>
      <p:italic r:id="rId15"/>
      <p:boldItalic r:id="rId16"/>
    </p:embeddedFont>
    <p:embeddedFont>
      <p:font typeface="Calibri" panose="020F0502020204030204" pitchFamily="34" charset="0"/>
      <p:regular r:id="rId17"/>
      <p:bold r:id="rId18"/>
      <p:italic r:id="rId19"/>
      <p:boldItalic r:id="rId20"/>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013" autoAdjust="0"/>
    <p:restoredTop sz="96327"/>
  </p:normalViewPr>
  <p:slideViewPr>
    <p:cSldViewPr snapToGrid="0">
      <p:cViewPr varScale="1">
        <p:scale>
          <a:sx n="155" d="100"/>
          <a:sy n="155" d="100"/>
        </p:scale>
        <p:origin x="156" y="2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2025-04-25</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2.sv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10.svg"/><Relationship Id="rId4" Type="http://schemas.openxmlformats.org/officeDocument/2006/relationships/image" Target="../media/image5.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369C0258-E083-684F-B81E-2491FB4EFBD1}" type="datetime1">
              <a:rPr lang="sv-SE" smtClean="0"/>
              <a:t>2025-04-25</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D7F93862-881E-DF46-AD81-FDB1501BAD48}" type="datetime1">
              <a:rPr lang="sv-SE" smtClean="0"/>
              <a:t>2025-04-25</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xmlns=""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1A0D637-CC39-0F47-97F1-76AAE59A5700}" type="datetime1">
              <a:rPr lang="sv-SE" smtClean="0"/>
              <a:t>2025-04-25</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FC84D86F-77A2-B649-9DAB-4D28280CD96F}" type="datetime1">
              <a:rPr lang="sv-SE" smtClean="0"/>
              <a:t>2025-04-25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75DBF22-A5DA-3B43-92C3-F6BCD51A4216}" type="datetime1">
              <a:rPr lang="sv-SE" smtClean="0"/>
              <a:t>2025-04-25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0F5ACA-7455-4642-BFE0-35A3360E2D3F}" type="datetime1">
              <a:rPr lang="sv-SE" smtClean="0"/>
              <a:t>2025-04-25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7029E1-9B44-DE43-98B9-EBAFD8B9E3F1}" type="datetime1">
              <a:rPr lang="sv-SE" smtClean="0"/>
              <a:t>2025-04-25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r:embed="rId4">
            <a:extLst>
              <a:ext uri="{96DAC541-7B7A-43D3-8B79-37D633B846F1}">
                <asvg:svgBlip xmlns:asvg="http://schemas.microsoft.com/office/drawing/2016/SVG/main" xmlns="" r:embed="rId5"/>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EECCBBAF-5C49-D145-9814-61A8103632A9}" type="datetime1">
              <a:rPr lang="sv-SE" smtClean="0"/>
              <a:t>2025-04-25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823D8581-A4D9-BE4A-AEA5-9282CF05EB42}" type="datetime1">
              <a:rPr lang="sv-SE" smtClean="0"/>
              <a:t>2025-04-25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8C894E9-0885-714C-A367-BDC2DC59BB91}" type="datetime1">
              <a:rPr lang="sv-SE" smtClean="0"/>
              <a:t>2025-04-25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E926FF3D-704F-D246-9E92-4739AF4BF32C}" type="datetime1">
              <a:rPr lang="sv-SE" smtClean="0"/>
              <a:t>2025-04-25</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2025-04-25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E2AD36EE-D7EC-624A-BB6C-F8DADCB0E6B6}" type="datetime1">
              <a:rPr lang="sv-SE" smtClean="0"/>
              <a:t>2025-04-25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CEEB1428-F34F-9743-B7C9-0212F6B23615}" type="datetime1">
              <a:rPr lang="sv-SE" smtClean="0"/>
              <a:t>2025-04-25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117AD585-73D1-4C4C-9D7C-030D27625895}" type="datetime1">
              <a:rPr lang="sv-SE" smtClean="0"/>
              <a:t>2025-04-25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07E8514D-D455-9E46-BC18-4265F6A85EC5}" type="datetime1">
              <a:rPr lang="sv-SE" smtClean="0"/>
              <a:t>2025-04-25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A67A58AE-A0B6-FF4E-B30B-64917FEAC316}" type="datetime1">
              <a:rPr lang="sv-SE" smtClean="0"/>
              <a:t>2025-04-25</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3626A2DA-BD88-784C-A132-57FFB928491A}" type="datetime1">
              <a:rPr lang="sv-SE" smtClean="0"/>
              <a:t>2025-04-25</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AC15C714-122B-4048-9D2D-1F5A3BEA504A}" type="datetime1">
              <a:rPr lang="sv-SE" smtClean="0"/>
              <a:t>2025-04-25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EE5E874D-60F8-8B45-B36B-3029A6FA7FCB}" type="datetime1">
              <a:rPr lang="sv-SE" smtClean="0"/>
              <a:t>2025-04-25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FE3A002-8AA0-194E-81B1-1ADE5B52840E}" type="datetime1">
              <a:rPr lang="sv-SE" smtClean="0"/>
              <a:t>2025-04-25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003E109-5503-A446-83DE-4F0349794E27}" type="datetime1">
              <a:rPr lang="sv-SE" smtClean="0"/>
              <a:t>2025-04-25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1F9706F9-3770-3C47-9C0E-E405B1F87DBD}" type="datetime1">
              <a:rPr lang="sv-SE" smtClean="0"/>
              <a:t>2025-04-25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E503FC7-D8F6-4243-8CCB-9A739180F56A}" type="datetime1">
              <a:rPr lang="sv-SE" smtClean="0"/>
              <a:t>2025-04-25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719EDF7-C24A-7E4C-9EBB-98C778ECC35A}" type="datetime1">
              <a:rPr lang="sv-SE" smtClean="0"/>
              <a:t>2025-04-25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DB96772-CADE-B345-804B-3DF93A11AE0A}" type="datetime1">
              <a:rPr lang="sv-SE" smtClean="0"/>
              <a:t>2025-04-25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69F8B43-28B6-0949-93DC-6B291391CFD4}" type="datetime1">
              <a:rPr lang="sv-SE" smtClean="0"/>
              <a:t>2025-04-25</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450A6BD-1EFB-BD42-9DC0-F0A6BEB4C27D}" type="datetime1">
              <a:rPr lang="sv-SE" smtClean="0"/>
              <a:t>2025-04-25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ADBDFCF2-2839-8D4F-B5E5-9B488CE2E4EE}" type="datetime1">
              <a:rPr lang="sv-SE" smtClean="0"/>
              <a:t>2025-04-25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7A9746E-62D8-944D-99B0-D98695592DCF}" type="datetime1">
              <a:rPr lang="sv-SE" smtClean="0"/>
              <a:t>2025-04-25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C42A3C6-0141-7544-8502-44E44E5AD51F}" type="datetime1">
              <a:rPr lang="sv-SE" smtClean="0"/>
              <a:t>2025-04-25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5A8E03F6-2D99-9C4F-8DF5-D169CFDD1A0C}" type="datetime1">
              <a:rPr lang="sv-SE" smtClean="0"/>
              <a:t>2025-04-25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8AF63115-71BE-3E46-BB5A-A4600F1506C7}" type="datetime1">
              <a:rPr lang="sv-SE" smtClean="0"/>
              <a:t>2025-04-25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09FED66-59CE-6445-BA05-B37954B8CE47}" type="datetime1">
              <a:rPr lang="sv-SE" smtClean="0"/>
              <a:t>2025-04-25</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C332B6B-9A86-944B-B689-8453757791DF}" type="datetime1">
              <a:rPr lang="sv-SE" smtClean="0"/>
              <a:t>2025-04-25</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957E16A-1246-F744-BDA8-D5896FB385F8}" type="datetime1">
              <a:rPr lang="sv-SE" smtClean="0"/>
              <a:t>2025-04-25</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8888E78-A3E8-2E47-A37C-B0DACC4AC38C}" type="datetime1">
              <a:rPr lang="sv-SE" smtClean="0"/>
              <a:t>2025-04-25</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1801B8-2ABD-E645-B0F3-2F4D3FFFF5AE}" type="datetime1">
              <a:rPr lang="sv-SE" smtClean="0"/>
              <a:t>2025-04-25</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64FA935-6078-184F-946C-D8B2130A7BC4}" type="datetime1">
              <a:rPr lang="sv-SE" smtClean="0"/>
              <a:t>2025-04-25</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878DDE6C-6786-8C48-9317-AF0776715ACF}" type="datetime1">
              <a:rPr lang="sv-SE" smtClean="0"/>
              <a:t>2025-04-25</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2025-04-25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2025-04-25</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A3328FD-6257-AC43-9CE4-2903A4D2BB9D}" type="datetime1">
              <a:rPr lang="sv-SE" smtClean="0"/>
              <a:t>2025-04-25</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2BABC24-2A82-014C-9256-A51302708EE4}" type="datetime1">
              <a:rPr lang="sv-SE" smtClean="0"/>
              <a:t>2025-04-25</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77AA192B-9140-F746-B429-ACF197DC5439}" type="datetime1">
              <a:rPr lang="sv-SE" smtClean="0"/>
              <a:t>2025-04-25</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120FD48D-1F42-B341-AF85-AE480DB64991}" type="datetime1">
              <a:rPr lang="sv-SE" smtClean="0"/>
              <a:t>2025-04-25</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45830D3C-297D-AF4B-BF84-42155CB091D6}" type="datetime1">
              <a:rPr lang="sv-SE" smtClean="0"/>
              <a:t>2025-04-25</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888E4D63-BE2C-4D4B-BBD2-256262659A9F}" type="datetime1">
              <a:rPr lang="sv-SE" smtClean="0"/>
              <a:t>2025-04-25</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r:embed="rId49" cstate="print">
            <a:extLst>
              <a:ext uri="{28A0092B-C50C-407E-A947-70E740481C1C}">
                <a14:useLocalDpi xmlns:a14="http://schemas.microsoft.com/office/drawing/2010/main"/>
              </a:ext>
              <a:ext uri="{96DAC541-7B7A-43D3-8B79-37D633B846F1}">
                <asvg:svgBlip xmlns:asvg="http://schemas.microsoft.com/office/drawing/2016/SVG/main" xmlns="" r:embed="rId50"/>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timing>
    <p:tnLst>
      <p:par>
        <p:cTn id="1" dur="indefinite" restart="never" nodeType="tmRoot"/>
      </p:par>
    </p:tnLst>
  </p:timing>
  <p:hf sldNum="0"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hyperlink" Target="https://doi.org/10.1109/OJPEL.2023.3327423" TargetMode="External"/><Relationship Id="rId2" Type="http://schemas.openxmlformats.org/officeDocument/2006/relationships/hyperlink" Target="https://doi.org/10.1109/ICEMS56177.2022.9982999" TargetMode="Externa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000" dirty="0"/>
              <a:t>Multi-Objective Optimization of Traction Inverters for Electric Trucks Considering Environmental Impacts</a:t>
            </a:r>
            <a:endParaRPr lang="sv-SE" sz="4000" dirty="0"/>
          </a:p>
        </p:txBody>
      </p:sp>
      <p:sp>
        <p:nvSpPr>
          <p:cNvPr id="3" name="Subtitle 2"/>
          <p:cNvSpPr>
            <a:spLocks noGrp="1"/>
          </p:cNvSpPr>
          <p:nvPr>
            <p:ph type="subTitle" idx="1"/>
          </p:nvPr>
        </p:nvSpPr>
        <p:spPr>
          <a:xfrm>
            <a:off x="2132013" y="5486400"/>
            <a:ext cx="7926387" cy="752475"/>
          </a:xfrm>
        </p:spPr>
        <p:txBody>
          <a:bodyPr>
            <a:noAutofit/>
          </a:bodyPr>
          <a:lstStyle/>
          <a:p>
            <a:r>
              <a:rPr lang="en-US" sz="2400" dirty="0"/>
              <a:t>A </a:t>
            </a:r>
            <a:r>
              <a:rPr lang="en-US" sz="2400" dirty="0" smtClean="0"/>
              <a:t>Life-Cycle-Based </a:t>
            </a:r>
            <a:r>
              <a:rPr lang="en-US" sz="2400" dirty="0"/>
              <a:t>Approach for Minimizing Environmental </a:t>
            </a:r>
            <a:r>
              <a:rPr lang="en-US" sz="2400" dirty="0" smtClean="0"/>
              <a:t>Footprint</a:t>
            </a:r>
          </a:p>
          <a:p>
            <a:r>
              <a:rPr lang="en-US" sz="2400" dirty="0" smtClean="0"/>
              <a:t>Enes Ayaz, KTH</a:t>
            </a:r>
            <a:endParaRPr lang="sv-SE" sz="2400" dirty="0"/>
          </a:p>
        </p:txBody>
      </p:sp>
    </p:spTree>
    <p:extLst>
      <p:ext uri="{BB962C8B-B14F-4D97-AF65-F5344CB8AC3E}">
        <p14:creationId xmlns:p14="http://schemas.microsoft.com/office/powerpoint/2010/main" val="285583682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5850" y="227806"/>
            <a:ext cx="10990263" cy="568412"/>
          </a:xfrm>
        </p:spPr>
        <p:txBody>
          <a:bodyPr/>
          <a:lstStyle/>
          <a:p>
            <a:r>
              <a:rPr lang="sv-SE" dirty="0" err="1"/>
              <a:t>Introduction</a:t>
            </a:r>
            <a:r>
              <a:rPr lang="sv-SE" dirty="0"/>
              <a:t> &amp; </a:t>
            </a:r>
            <a:r>
              <a:rPr lang="sv-SE" dirty="0" smtClean="0"/>
              <a:t>Motivation</a:t>
            </a:r>
            <a:endParaRPr lang="sv-SE" dirty="0"/>
          </a:p>
        </p:txBody>
      </p:sp>
      <p:sp>
        <p:nvSpPr>
          <p:cNvPr id="6" name="Content Placeholder 5"/>
          <p:cNvSpPr>
            <a:spLocks noGrp="1"/>
          </p:cNvSpPr>
          <p:nvPr>
            <p:ph idx="1"/>
          </p:nvPr>
        </p:nvSpPr>
        <p:spPr>
          <a:xfrm>
            <a:off x="363609" y="1122773"/>
            <a:ext cx="7353300" cy="5197707"/>
          </a:xfrm>
        </p:spPr>
        <p:txBody>
          <a:bodyPr/>
          <a:lstStyle/>
          <a:p>
            <a:pPr marL="0" indent="0" algn="just">
              <a:buNone/>
            </a:pPr>
            <a:r>
              <a:rPr lang="en-US" sz="2400" b="1" dirty="0" smtClean="0"/>
              <a:t>Introduction:</a:t>
            </a:r>
          </a:p>
          <a:p>
            <a:pPr algn="just"/>
            <a:r>
              <a:rPr lang="en-US" sz="2400" dirty="0" smtClean="0"/>
              <a:t>Climate </a:t>
            </a:r>
            <a:r>
              <a:rPr lang="en-US" sz="2400" dirty="0"/>
              <a:t>targets (e.g., Paris Agreement) emphasize the need for net-zero emissions by </a:t>
            </a:r>
            <a:r>
              <a:rPr lang="en-US" sz="2400" dirty="0" smtClean="0"/>
              <a:t>2050.</a:t>
            </a:r>
          </a:p>
          <a:p>
            <a:pPr algn="just"/>
            <a:r>
              <a:rPr lang="en-US" sz="2400" dirty="0" smtClean="0"/>
              <a:t>Electric </a:t>
            </a:r>
            <a:r>
              <a:rPr lang="en-US" sz="2400" dirty="0"/>
              <a:t>trucks are critical for reducing CO2 emissions in the transportation </a:t>
            </a:r>
            <a:r>
              <a:rPr lang="en-US" sz="2400" dirty="0" smtClean="0"/>
              <a:t>sector.</a:t>
            </a:r>
          </a:p>
          <a:p>
            <a:pPr algn="just"/>
            <a:endParaRPr lang="en-US" dirty="0" smtClean="0"/>
          </a:p>
          <a:p>
            <a:pPr marL="0" indent="0" algn="just">
              <a:buNone/>
            </a:pPr>
            <a:r>
              <a:rPr lang="en-US" sz="2400" b="1" dirty="0" smtClean="0"/>
              <a:t>Motivation:</a:t>
            </a:r>
          </a:p>
          <a:p>
            <a:pPr algn="just"/>
            <a:r>
              <a:rPr lang="en-US" sz="2400" dirty="0" smtClean="0"/>
              <a:t>Traditional </a:t>
            </a:r>
            <a:r>
              <a:rPr lang="en-US" sz="2400" dirty="0"/>
              <a:t>power converter optimization focuses on efficiency and power density</a:t>
            </a:r>
            <a:r>
              <a:rPr lang="en-US" sz="2400" dirty="0" smtClean="0"/>
              <a:t>.</a:t>
            </a:r>
          </a:p>
          <a:p>
            <a:pPr algn="just"/>
            <a:r>
              <a:rPr lang="en-US" sz="2400" dirty="0" smtClean="0"/>
              <a:t>Environmental </a:t>
            </a:r>
            <a:r>
              <a:rPr lang="en-US" sz="2400" dirty="0"/>
              <a:t>impacts across the inverter's </a:t>
            </a:r>
            <a:r>
              <a:rPr lang="en-US" sz="2400" dirty="0" smtClean="0"/>
              <a:t>lifecycle and reliability </a:t>
            </a:r>
            <a:r>
              <a:rPr lang="en-US" sz="2400" dirty="0"/>
              <a:t>are often overlooked but crucial for sustainability</a:t>
            </a:r>
            <a:r>
              <a:rPr lang="en-US" sz="2400" dirty="0" smtClean="0"/>
              <a:t>.</a:t>
            </a:r>
            <a:endParaRPr lang="sv-SE" sz="2400" dirty="0"/>
          </a:p>
        </p:txBody>
      </p:sp>
      <p:pic>
        <p:nvPicPr>
          <p:cNvPr id="9" name="Picture 8"/>
          <p:cNvPicPr>
            <a:picLocks noChangeAspect="1"/>
          </p:cNvPicPr>
          <p:nvPr/>
        </p:nvPicPr>
        <p:blipFill rotWithShape="1">
          <a:blip r:embed="rId2"/>
          <a:srcRect l="11686"/>
          <a:stretch/>
        </p:blipFill>
        <p:spPr>
          <a:xfrm>
            <a:off x="7962048" y="1228724"/>
            <a:ext cx="4090288" cy="2009775"/>
          </a:xfrm>
          <a:prstGeom prst="rect">
            <a:avLst/>
          </a:prstGeom>
        </p:spPr>
      </p:pic>
      <p:pic>
        <p:nvPicPr>
          <p:cNvPr id="10" name="Picture 9"/>
          <p:cNvPicPr>
            <a:picLocks noChangeAspect="1"/>
          </p:cNvPicPr>
          <p:nvPr/>
        </p:nvPicPr>
        <p:blipFill>
          <a:blip r:embed="rId3"/>
          <a:stretch>
            <a:fillRect/>
          </a:stretch>
        </p:blipFill>
        <p:spPr>
          <a:xfrm>
            <a:off x="7783584" y="3636662"/>
            <a:ext cx="4044879" cy="2372426"/>
          </a:xfrm>
          <a:prstGeom prst="rect">
            <a:avLst/>
          </a:prstGeom>
        </p:spPr>
      </p:pic>
    </p:spTree>
    <p:extLst>
      <p:ext uri="{BB962C8B-B14F-4D97-AF65-F5344CB8AC3E}">
        <p14:creationId xmlns:p14="http://schemas.microsoft.com/office/powerpoint/2010/main" val="402088928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5850" y="228857"/>
            <a:ext cx="10990263" cy="568412"/>
          </a:xfrm>
        </p:spPr>
        <p:txBody>
          <a:bodyPr/>
          <a:lstStyle/>
          <a:p>
            <a:r>
              <a:rPr lang="sv-SE" dirty="0" smtClean="0"/>
              <a:t>Challenges</a:t>
            </a:r>
            <a:endParaRPr lang="sv-SE" dirty="0"/>
          </a:p>
        </p:txBody>
      </p:sp>
      <p:sp>
        <p:nvSpPr>
          <p:cNvPr id="6" name="Content Placeholder 5"/>
          <p:cNvSpPr>
            <a:spLocks noGrp="1"/>
          </p:cNvSpPr>
          <p:nvPr>
            <p:ph idx="1"/>
          </p:nvPr>
        </p:nvSpPr>
        <p:spPr>
          <a:xfrm>
            <a:off x="338139" y="1148444"/>
            <a:ext cx="6629399" cy="5351210"/>
          </a:xfrm>
        </p:spPr>
        <p:txBody>
          <a:bodyPr/>
          <a:lstStyle/>
          <a:p>
            <a:pPr marL="0" indent="0" algn="just">
              <a:buNone/>
            </a:pPr>
            <a:r>
              <a:rPr lang="en-US" b="1" dirty="0" smtClean="0"/>
              <a:t>Energy Efficiency and Beyond:</a:t>
            </a:r>
          </a:p>
          <a:p>
            <a:pPr algn="just"/>
            <a:r>
              <a:rPr lang="en-US" dirty="0" smtClean="0"/>
              <a:t>The </a:t>
            </a:r>
            <a:r>
              <a:rPr lang="en-US" u="sng" dirty="0" smtClean="0"/>
              <a:t>environmental impact </a:t>
            </a:r>
            <a:r>
              <a:rPr lang="en-US" dirty="0" smtClean="0"/>
              <a:t>of power electronics goes beyond energy efficiency.</a:t>
            </a:r>
          </a:p>
          <a:p>
            <a:pPr algn="just"/>
            <a:r>
              <a:rPr lang="en-US" dirty="0" smtClean="0"/>
              <a:t>Future electrification (e.g., trucks) needs </a:t>
            </a:r>
            <a:r>
              <a:rPr lang="en-US" u="sng" dirty="0" smtClean="0"/>
              <a:t>sustainable solutions</a:t>
            </a:r>
            <a:r>
              <a:rPr lang="en-US" dirty="0" smtClean="0"/>
              <a:t> for power conversion systems.</a:t>
            </a:r>
          </a:p>
          <a:p>
            <a:pPr marL="0" indent="0" algn="just">
              <a:buNone/>
            </a:pPr>
            <a:r>
              <a:rPr lang="sv-SE" b="1" dirty="0" smtClean="0"/>
              <a:t>Research Challenges:</a:t>
            </a:r>
            <a:endParaRPr lang="en-US" b="1" dirty="0" smtClean="0"/>
          </a:p>
          <a:p>
            <a:pPr algn="just"/>
            <a:r>
              <a:rPr lang="en-US" dirty="0" smtClean="0"/>
              <a:t>How </a:t>
            </a:r>
            <a:r>
              <a:rPr lang="en-US" dirty="0"/>
              <a:t>can we integrate life-cycle environmental impacts with </a:t>
            </a:r>
            <a:r>
              <a:rPr lang="en-US" u="sng" dirty="0"/>
              <a:t>traditional performance metrics </a:t>
            </a:r>
            <a:r>
              <a:rPr lang="en-US" dirty="0"/>
              <a:t>(efficiency, power </a:t>
            </a:r>
            <a:r>
              <a:rPr lang="en-US" dirty="0" smtClean="0"/>
              <a:t>density, reliability)?</a:t>
            </a:r>
          </a:p>
          <a:p>
            <a:pPr algn="just"/>
            <a:r>
              <a:rPr lang="en-US" dirty="0" smtClean="0"/>
              <a:t>The </a:t>
            </a:r>
            <a:r>
              <a:rPr lang="en-US" dirty="0"/>
              <a:t>need for multi-objective optimization frameworks that include</a:t>
            </a:r>
            <a:r>
              <a:rPr lang="en-US" dirty="0" smtClean="0"/>
              <a:t>:</a:t>
            </a:r>
          </a:p>
          <a:p>
            <a:pPr lvl="1" algn="just"/>
            <a:r>
              <a:rPr lang="en-US" dirty="0" smtClean="0"/>
              <a:t>Global </a:t>
            </a:r>
            <a:r>
              <a:rPr lang="en-US" dirty="0"/>
              <a:t>Warming Potential (GWP</a:t>
            </a:r>
            <a:r>
              <a:rPr lang="en-US" dirty="0" smtClean="0"/>
              <a:t>)</a:t>
            </a:r>
          </a:p>
          <a:p>
            <a:pPr lvl="1" algn="just"/>
            <a:r>
              <a:rPr lang="en-US" dirty="0"/>
              <a:t>Damage to Eco-System Quality (DESQ</a:t>
            </a:r>
            <a:r>
              <a:rPr lang="en-US" dirty="0" smtClean="0"/>
              <a:t>)</a:t>
            </a:r>
          </a:p>
          <a:p>
            <a:pPr lvl="1" algn="just"/>
            <a:r>
              <a:rPr lang="en-US" dirty="0"/>
              <a:t>Damage to Resource Availability (DRA</a:t>
            </a:r>
            <a:r>
              <a:rPr lang="en-US" dirty="0" smtClean="0"/>
              <a:t>),</a:t>
            </a:r>
          </a:p>
          <a:p>
            <a:pPr lvl="1" algn="just"/>
            <a:r>
              <a:rPr lang="en-US" dirty="0"/>
              <a:t>Damage to Human Health (DHH</a:t>
            </a:r>
            <a:r>
              <a:rPr lang="en-US" dirty="0" smtClean="0"/>
              <a:t>)</a:t>
            </a:r>
            <a:endParaRPr lang="en-US" dirty="0"/>
          </a:p>
        </p:txBody>
      </p:sp>
      <p:pic>
        <p:nvPicPr>
          <p:cNvPr id="3" name="Picture 2"/>
          <p:cNvPicPr>
            <a:picLocks noChangeAspect="1"/>
          </p:cNvPicPr>
          <p:nvPr/>
        </p:nvPicPr>
        <p:blipFill>
          <a:blip r:embed="rId2"/>
          <a:stretch>
            <a:fillRect/>
          </a:stretch>
        </p:blipFill>
        <p:spPr>
          <a:xfrm>
            <a:off x="7310438" y="663332"/>
            <a:ext cx="4422775" cy="5942255"/>
          </a:xfrm>
          <a:prstGeom prst="rect">
            <a:avLst/>
          </a:prstGeom>
        </p:spPr>
      </p:pic>
    </p:spTree>
    <p:extLst>
      <p:ext uri="{BB962C8B-B14F-4D97-AF65-F5344CB8AC3E}">
        <p14:creationId xmlns:p14="http://schemas.microsoft.com/office/powerpoint/2010/main" val="93965925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1737" y="247907"/>
            <a:ext cx="10990263" cy="568412"/>
          </a:xfrm>
        </p:spPr>
        <p:txBody>
          <a:bodyPr/>
          <a:lstStyle/>
          <a:p>
            <a:r>
              <a:rPr lang="sv-SE" dirty="0"/>
              <a:t>Research Problem &amp; </a:t>
            </a:r>
            <a:r>
              <a:rPr lang="sv-SE" dirty="0" err="1"/>
              <a:t>Objectives</a:t>
            </a:r>
            <a:endParaRPr lang="sv-SE" dirty="0"/>
          </a:p>
        </p:txBody>
      </p:sp>
      <p:sp>
        <p:nvSpPr>
          <p:cNvPr id="6" name="Content Placeholder 5"/>
          <p:cNvSpPr>
            <a:spLocks noGrp="1"/>
          </p:cNvSpPr>
          <p:nvPr>
            <p:ph idx="1"/>
          </p:nvPr>
        </p:nvSpPr>
        <p:spPr>
          <a:xfrm>
            <a:off x="390526" y="1062719"/>
            <a:ext cx="6153150" cy="5752032"/>
          </a:xfrm>
        </p:spPr>
        <p:txBody>
          <a:bodyPr/>
          <a:lstStyle/>
          <a:p>
            <a:pPr marL="0" indent="0" algn="just">
              <a:buNone/>
            </a:pPr>
            <a:r>
              <a:rPr lang="en-US" b="1" dirty="0"/>
              <a:t>Research Problem</a:t>
            </a:r>
            <a:r>
              <a:rPr lang="en-US" b="1" dirty="0" smtClean="0"/>
              <a:t>:</a:t>
            </a:r>
          </a:p>
          <a:p>
            <a:pPr algn="just"/>
            <a:r>
              <a:rPr lang="en-US" dirty="0" smtClean="0"/>
              <a:t>How </a:t>
            </a:r>
            <a:r>
              <a:rPr lang="en-US" dirty="0"/>
              <a:t>to design traction inverters for electric trucks that not only </a:t>
            </a:r>
            <a:r>
              <a:rPr lang="en-US" u="sng" dirty="0"/>
              <a:t>maximize energy efficiency </a:t>
            </a:r>
            <a:r>
              <a:rPr lang="en-US" dirty="0"/>
              <a:t>but also </a:t>
            </a:r>
            <a:r>
              <a:rPr lang="en-US" u="sng" dirty="0"/>
              <a:t>minimize environmental impacts</a:t>
            </a:r>
            <a:r>
              <a:rPr lang="en-US" dirty="0" smtClean="0"/>
              <a:t>.</a:t>
            </a:r>
          </a:p>
          <a:p>
            <a:pPr marL="0" indent="0" algn="just">
              <a:buNone/>
            </a:pPr>
            <a:r>
              <a:rPr lang="en-US" b="1" dirty="0" smtClean="0"/>
              <a:t>Objectives: </a:t>
            </a:r>
          </a:p>
          <a:p>
            <a:pPr algn="just"/>
            <a:r>
              <a:rPr lang="en-US" dirty="0" smtClean="0"/>
              <a:t>Extend </a:t>
            </a:r>
            <a:r>
              <a:rPr lang="en-US" dirty="0"/>
              <a:t>multi-objective optimization of traction inverters to include</a:t>
            </a:r>
            <a:r>
              <a:rPr lang="en-US" dirty="0" smtClean="0"/>
              <a:t>:</a:t>
            </a:r>
          </a:p>
          <a:p>
            <a:pPr lvl="1" algn="just"/>
            <a:r>
              <a:rPr lang="en-US" sz="2000" dirty="0" smtClean="0"/>
              <a:t>Carbon footprint (GWP, DESQ, DRA, DHH)</a:t>
            </a:r>
          </a:p>
          <a:p>
            <a:pPr lvl="1" algn="just"/>
            <a:r>
              <a:rPr lang="en-US" sz="2000" dirty="0" smtClean="0"/>
              <a:t>Material </a:t>
            </a:r>
            <a:r>
              <a:rPr lang="en-US" sz="2000" dirty="0"/>
              <a:t>efficiency (</a:t>
            </a:r>
            <a:r>
              <a:rPr lang="en-US" sz="2000" u="sng" dirty="0"/>
              <a:t>circular economy</a:t>
            </a:r>
            <a:r>
              <a:rPr lang="en-US" sz="2000" dirty="0" smtClean="0"/>
              <a:t>)</a:t>
            </a:r>
          </a:p>
          <a:p>
            <a:pPr lvl="1" algn="just"/>
            <a:r>
              <a:rPr lang="en-US" sz="2000" u="sng" dirty="0" smtClean="0"/>
              <a:t>Recycling </a:t>
            </a:r>
            <a:r>
              <a:rPr lang="en-US" sz="2000" u="sng" dirty="0"/>
              <a:t>potential</a:t>
            </a:r>
            <a:r>
              <a:rPr lang="en-US" sz="2000" dirty="0"/>
              <a:t> at the end of </a:t>
            </a:r>
            <a:r>
              <a:rPr lang="en-US" sz="2000" dirty="0" smtClean="0"/>
              <a:t>life</a:t>
            </a:r>
          </a:p>
          <a:p>
            <a:pPr algn="just"/>
            <a:r>
              <a:rPr lang="en-US" dirty="0" smtClean="0"/>
              <a:t>Evaluate </a:t>
            </a:r>
            <a:r>
              <a:rPr lang="en-US" dirty="0"/>
              <a:t>design trade-offs between efficiency, environmental impact, and power density. </a:t>
            </a:r>
            <a:endParaRPr lang="en-US" dirty="0" smtClean="0"/>
          </a:p>
          <a:p>
            <a:pPr algn="just"/>
            <a:r>
              <a:rPr lang="en-US" dirty="0" smtClean="0"/>
              <a:t>Evaluate </a:t>
            </a:r>
            <a:r>
              <a:rPr lang="en-US" u="sng" dirty="0"/>
              <a:t>different inverter topologies </a:t>
            </a:r>
            <a:r>
              <a:rPr lang="en-US" dirty="0"/>
              <a:t>(e.g., </a:t>
            </a:r>
            <a:r>
              <a:rPr lang="en-US" dirty="0" smtClean="0"/>
              <a:t>2-level vs. SPB </a:t>
            </a:r>
            <a:r>
              <a:rPr lang="en-US" dirty="0"/>
              <a:t>vs. multilevel) using </a:t>
            </a:r>
            <a:r>
              <a:rPr lang="en-US" u="sng" dirty="0"/>
              <a:t>Pareto-front</a:t>
            </a:r>
            <a:r>
              <a:rPr lang="en-US" dirty="0"/>
              <a:t> analysis</a:t>
            </a:r>
            <a:r>
              <a:rPr lang="en-US" dirty="0" smtClean="0"/>
              <a:t>.</a:t>
            </a:r>
          </a:p>
          <a:p>
            <a:pPr algn="just"/>
            <a:r>
              <a:rPr lang="en-US" dirty="0" smtClean="0"/>
              <a:t>Include </a:t>
            </a:r>
            <a:r>
              <a:rPr lang="en-US" u="sng" dirty="0"/>
              <a:t>life-cycle assessment (LCA) metrics </a:t>
            </a:r>
            <a:r>
              <a:rPr lang="en-US" dirty="0"/>
              <a:t>in the design phase, considering the use phase of the inverter in electric trucks.</a:t>
            </a:r>
            <a:endParaRPr lang="en-US" dirty="0" smtClean="0"/>
          </a:p>
          <a:p>
            <a:endParaRPr lang="en-US" sz="2400" dirty="0" smtClean="0"/>
          </a:p>
          <a:p>
            <a:endParaRPr lang="sv-SE" sz="2400" dirty="0"/>
          </a:p>
        </p:txBody>
      </p:sp>
      <p:pic>
        <p:nvPicPr>
          <p:cNvPr id="5" name="Picture 4"/>
          <p:cNvPicPr>
            <a:picLocks noChangeAspect="1"/>
          </p:cNvPicPr>
          <p:nvPr/>
        </p:nvPicPr>
        <p:blipFill>
          <a:blip r:embed="rId2"/>
          <a:stretch>
            <a:fillRect/>
          </a:stretch>
        </p:blipFill>
        <p:spPr>
          <a:xfrm>
            <a:off x="8386634" y="167588"/>
            <a:ext cx="3624811" cy="6532344"/>
          </a:xfrm>
          <a:prstGeom prst="rect">
            <a:avLst/>
          </a:prstGeom>
        </p:spPr>
      </p:pic>
    </p:spTree>
    <p:extLst>
      <p:ext uri="{BB962C8B-B14F-4D97-AF65-F5344CB8AC3E}">
        <p14:creationId xmlns:p14="http://schemas.microsoft.com/office/powerpoint/2010/main" val="265893534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0125" y="209807"/>
            <a:ext cx="10990263" cy="568412"/>
          </a:xfrm>
        </p:spPr>
        <p:txBody>
          <a:bodyPr/>
          <a:lstStyle/>
          <a:p>
            <a:r>
              <a:rPr lang="en-US" dirty="0"/>
              <a:t>Adopted </a:t>
            </a:r>
            <a:r>
              <a:rPr lang="sv-SE" dirty="0" err="1" smtClean="0"/>
              <a:t>Methodology</a:t>
            </a:r>
            <a:endParaRPr lang="sv-SE" dirty="0"/>
          </a:p>
        </p:txBody>
      </p:sp>
      <p:sp>
        <p:nvSpPr>
          <p:cNvPr id="3" name="Content Placeholder 2"/>
          <p:cNvSpPr>
            <a:spLocks noGrp="1"/>
          </p:cNvSpPr>
          <p:nvPr>
            <p:ph idx="1"/>
          </p:nvPr>
        </p:nvSpPr>
        <p:spPr>
          <a:xfrm>
            <a:off x="428626" y="1129394"/>
            <a:ext cx="6419850" cy="5432044"/>
          </a:xfrm>
        </p:spPr>
        <p:txBody>
          <a:bodyPr/>
          <a:lstStyle/>
          <a:p>
            <a:pPr marL="0" indent="0" algn="just">
              <a:buNone/>
            </a:pPr>
            <a:r>
              <a:rPr lang="en-US" b="1" dirty="0" smtClean="0"/>
              <a:t>Life-Cycle </a:t>
            </a:r>
            <a:r>
              <a:rPr lang="en-US" b="1" dirty="0"/>
              <a:t>Assessment (LCA</a:t>
            </a:r>
            <a:r>
              <a:rPr lang="en-US" b="1" dirty="0" smtClean="0"/>
              <a:t>):</a:t>
            </a:r>
          </a:p>
          <a:p>
            <a:pPr lvl="1" algn="just"/>
            <a:r>
              <a:rPr lang="en-US" sz="2000" dirty="0" smtClean="0"/>
              <a:t>Assess </a:t>
            </a:r>
            <a:r>
              <a:rPr lang="en-US" sz="2000" dirty="0"/>
              <a:t>all stages of the traction inverter lifecycle: </a:t>
            </a:r>
            <a:r>
              <a:rPr lang="en-US" sz="2000" u="sng" dirty="0"/>
              <a:t>manufacturing</a:t>
            </a:r>
            <a:r>
              <a:rPr lang="en-US" sz="2000" dirty="0"/>
              <a:t>, </a:t>
            </a:r>
            <a:r>
              <a:rPr lang="en-US" sz="2000" u="sng" dirty="0" smtClean="0"/>
              <a:t>use-phase</a:t>
            </a:r>
            <a:r>
              <a:rPr lang="en-US" sz="2000" dirty="0"/>
              <a:t>, and</a:t>
            </a:r>
            <a:r>
              <a:rPr lang="en-US" sz="2000" u="sng" dirty="0"/>
              <a:t> end-of-life</a:t>
            </a:r>
            <a:r>
              <a:rPr lang="en-US" sz="2000" dirty="0" smtClean="0"/>
              <a:t>.</a:t>
            </a:r>
          </a:p>
          <a:p>
            <a:pPr lvl="1" algn="just"/>
            <a:r>
              <a:rPr lang="en-US" sz="2000" dirty="0" smtClean="0"/>
              <a:t>Incorporate </a:t>
            </a:r>
            <a:r>
              <a:rPr lang="en-US" sz="2000" dirty="0"/>
              <a:t>environmental metrics such as GWP, resource depletion, and recyclability</a:t>
            </a:r>
            <a:r>
              <a:rPr lang="en-US" sz="2000" dirty="0" smtClean="0"/>
              <a:t>.</a:t>
            </a:r>
          </a:p>
          <a:p>
            <a:pPr marL="0" indent="0" algn="just">
              <a:buNone/>
            </a:pPr>
            <a:r>
              <a:rPr lang="en-US" b="1" dirty="0" smtClean="0"/>
              <a:t>Multi-Objective </a:t>
            </a:r>
            <a:r>
              <a:rPr lang="en-US" b="1" dirty="0"/>
              <a:t>Optimization</a:t>
            </a:r>
            <a:r>
              <a:rPr lang="en-US" b="1" dirty="0" smtClean="0"/>
              <a:t>:</a:t>
            </a:r>
          </a:p>
          <a:p>
            <a:pPr lvl="1" algn="just"/>
            <a:r>
              <a:rPr lang="en-US" sz="2000" dirty="0" smtClean="0"/>
              <a:t>Extend </a:t>
            </a:r>
            <a:r>
              <a:rPr lang="en-US" sz="2000" dirty="0"/>
              <a:t>traditional optimization (efficiency, cost, power density) to include LCA results</a:t>
            </a:r>
            <a:r>
              <a:rPr lang="en-US" sz="2000" dirty="0" smtClean="0"/>
              <a:t>.</a:t>
            </a:r>
          </a:p>
          <a:p>
            <a:pPr lvl="1" algn="just"/>
            <a:r>
              <a:rPr lang="en-US" sz="2000" dirty="0" smtClean="0"/>
              <a:t>Use </a:t>
            </a:r>
            <a:r>
              <a:rPr lang="en-US" sz="2000" u="sng" dirty="0"/>
              <a:t>Pareto-front analysis </a:t>
            </a:r>
            <a:r>
              <a:rPr lang="en-US" sz="2000" dirty="0"/>
              <a:t>to balance conflicting objectives (e.g., higher efficiency vs. higher material footprint</a:t>
            </a:r>
            <a:r>
              <a:rPr lang="en-US" sz="2000" dirty="0" smtClean="0"/>
              <a:t>).</a:t>
            </a:r>
          </a:p>
          <a:p>
            <a:pPr marL="0" indent="0" algn="just">
              <a:buNone/>
            </a:pPr>
            <a:r>
              <a:rPr lang="en-US" b="1" dirty="0"/>
              <a:t>Tools</a:t>
            </a:r>
            <a:r>
              <a:rPr lang="en-US" dirty="0"/>
              <a:t>: Optimization algorithm (e.g., MATLAB), modeling of </a:t>
            </a:r>
            <a:r>
              <a:rPr lang="en-US" dirty="0" err="1"/>
              <a:t>SiC</a:t>
            </a:r>
            <a:r>
              <a:rPr lang="en-US" dirty="0"/>
              <a:t> and Si components, and switching frequency </a:t>
            </a:r>
            <a:r>
              <a:rPr lang="en-US" dirty="0" smtClean="0"/>
              <a:t>evaluation.</a:t>
            </a:r>
          </a:p>
          <a:p>
            <a:pPr marL="0" indent="0" algn="just">
              <a:buNone/>
            </a:pPr>
            <a:r>
              <a:rPr lang="en-US" b="1" dirty="0" smtClean="0"/>
              <a:t>Case </a:t>
            </a:r>
            <a:r>
              <a:rPr lang="en-US" b="1" dirty="0"/>
              <a:t>Study: </a:t>
            </a:r>
            <a:r>
              <a:rPr lang="en-US" dirty="0"/>
              <a:t>A comparative study of different traction inverter topologies (e.g., Si vs. </a:t>
            </a:r>
            <a:r>
              <a:rPr lang="en-US" dirty="0" err="1" smtClean="0"/>
              <a:t>SiC</a:t>
            </a:r>
            <a:r>
              <a:rPr lang="en-US" dirty="0" smtClean="0"/>
              <a:t>,  2L vs. 3L).</a:t>
            </a:r>
            <a:endParaRPr lang="sv-SE" dirty="0"/>
          </a:p>
        </p:txBody>
      </p:sp>
      <p:pic>
        <p:nvPicPr>
          <p:cNvPr id="4" name="Picture 3"/>
          <p:cNvPicPr>
            <a:picLocks noChangeAspect="1"/>
          </p:cNvPicPr>
          <p:nvPr/>
        </p:nvPicPr>
        <p:blipFill rotWithShape="1">
          <a:blip r:embed="rId2"/>
          <a:srcRect r="51203"/>
          <a:stretch/>
        </p:blipFill>
        <p:spPr>
          <a:xfrm>
            <a:off x="7353301" y="209807"/>
            <a:ext cx="4397877" cy="2947730"/>
          </a:xfrm>
          <a:prstGeom prst="rect">
            <a:avLst/>
          </a:prstGeom>
        </p:spPr>
      </p:pic>
      <p:pic>
        <p:nvPicPr>
          <p:cNvPr id="5" name="Picture 4"/>
          <p:cNvPicPr>
            <a:picLocks noChangeAspect="1"/>
          </p:cNvPicPr>
          <p:nvPr/>
        </p:nvPicPr>
        <p:blipFill rotWithShape="1">
          <a:blip r:embed="rId2"/>
          <a:srcRect l="48421"/>
          <a:stretch/>
        </p:blipFill>
        <p:spPr>
          <a:xfrm>
            <a:off x="7410206" y="3324997"/>
            <a:ext cx="4464121" cy="2830747"/>
          </a:xfrm>
          <a:prstGeom prst="rect">
            <a:avLst/>
          </a:prstGeom>
        </p:spPr>
      </p:pic>
    </p:spTree>
    <p:extLst>
      <p:ext uri="{BB962C8B-B14F-4D97-AF65-F5344CB8AC3E}">
        <p14:creationId xmlns:p14="http://schemas.microsoft.com/office/powerpoint/2010/main" val="119841328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286007"/>
            <a:ext cx="10990263" cy="568412"/>
          </a:xfrm>
        </p:spPr>
        <p:txBody>
          <a:bodyPr/>
          <a:lstStyle/>
          <a:p>
            <a:r>
              <a:rPr lang="sv-SE" dirty="0" err="1"/>
              <a:t>Application</a:t>
            </a:r>
            <a:r>
              <a:rPr lang="sv-SE" dirty="0"/>
              <a:t> </a:t>
            </a:r>
            <a:r>
              <a:rPr lang="sv-SE" dirty="0" err="1" smtClean="0"/>
              <a:t>of</a:t>
            </a:r>
            <a:r>
              <a:rPr lang="sv-SE" dirty="0" smtClean="0"/>
              <a:t> </a:t>
            </a:r>
            <a:r>
              <a:rPr lang="sv-SE" dirty="0" err="1"/>
              <a:t>Traction</a:t>
            </a:r>
            <a:r>
              <a:rPr lang="sv-SE" dirty="0"/>
              <a:t> </a:t>
            </a:r>
            <a:r>
              <a:rPr lang="sv-SE" dirty="0" err="1"/>
              <a:t>Inverters</a:t>
            </a:r>
            <a:endParaRPr lang="sv-SE" dirty="0"/>
          </a:p>
        </p:txBody>
      </p:sp>
      <p:sp>
        <p:nvSpPr>
          <p:cNvPr id="3" name="Content Placeholder 2"/>
          <p:cNvSpPr>
            <a:spLocks noGrp="1"/>
          </p:cNvSpPr>
          <p:nvPr>
            <p:ph idx="1"/>
          </p:nvPr>
        </p:nvSpPr>
        <p:spPr>
          <a:xfrm>
            <a:off x="609600" y="1319893"/>
            <a:ext cx="6353175" cy="4926447"/>
          </a:xfrm>
        </p:spPr>
        <p:txBody>
          <a:bodyPr/>
          <a:lstStyle/>
          <a:p>
            <a:pPr marL="0" indent="0" algn="just">
              <a:buNone/>
            </a:pPr>
            <a:r>
              <a:rPr lang="en-US" sz="2400" b="1" dirty="0"/>
              <a:t>Optimization Process</a:t>
            </a:r>
            <a:r>
              <a:rPr lang="en-US" sz="2400" b="1" dirty="0" smtClean="0"/>
              <a:t>:</a:t>
            </a:r>
          </a:p>
          <a:p>
            <a:pPr algn="just"/>
            <a:r>
              <a:rPr lang="en-US" sz="2400" dirty="0" smtClean="0"/>
              <a:t>Compare </a:t>
            </a:r>
            <a:r>
              <a:rPr lang="en-US" sz="2400" u="sng" dirty="0"/>
              <a:t>2-level</a:t>
            </a:r>
            <a:r>
              <a:rPr lang="en-US" sz="2400" dirty="0"/>
              <a:t> </a:t>
            </a:r>
            <a:r>
              <a:rPr lang="en-US" sz="2400" dirty="0" smtClean="0"/>
              <a:t>vs. SPB (series-parallel) vs</a:t>
            </a:r>
            <a:r>
              <a:rPr lang="en-US" sz="2400" dirty="0"/>
              <a:t>. </a:t>
            </a:r>
            <a:r>
              <a:rPr lang="en-US" sz="2400" u="sng" dirty="0" smtClean="0"/>
              <a:t>Multilevel</a:t>
            </a:r>
            <a:r>
              <a:rPr lang="en-US" sz="2400" dirty="0" smtClean="0"/>
              <a:t> </a:t>
            </a:r>
            <a:r>
              <a:rPr lang="en-US" sz="2400" dirty="0"/>
              <a:t>(e.g., 3-level, </a:t>
            </a:r>
            <a:r>
              <a:rPr lang="en-US" sz="2400" dirty="0" smtClean="0"/>
              <a:t>5-level) </a:t>
            </a:r>
            <a:r>
              <a:rPr lang="en-US" sz="2400" dirty="0"/>
              <a:t>inverter topologies</a:t>
            </a:r>
            <a:r>
              <a:rPr lang="en-US" sz="2400" dirty="0" smtClean="0"/>
              <a:t>.</a:t>
            </a:r>
          </a:p>
          <a:p>
            <a:pPr algn="just"/>
            <a:r>
              <a:rPr lang="en-US" sz="2400" dirty="0" smtClean="0"/>
              <a:t>Evaluate </a:t>
            </a:r>
            <a:r>
              <a:rPr lang="en-US" sz="2400" dirty="0"/>
              <a:t>key parameters</a:t>
            </a:r>
            <a:r>
              <a:rPr lang="en-US" sz="2400" dirty="0" smtClean="0"/>
              <a:t>:</a:t>
            </a:r>
          </a:p>
          <a:p>
            <a:pPr lvl="1" algn="just"/>
            <a:r>
              <a:rPr lang="en-US" sz="2400" dirty="0" smtClean="0"/>
              <a:t>Switching </a:t>
            </a:r>
            <a:r>
              <a:rPr lang="en-US" sz="2400" dirty="0"/>
              <a:t>frequency vs. losses and efficiency</a:t>
            </a:r>
            <a:r>
              <a:rPr lang="en-US" sz="2400" dirty="0" smtClean="0"/>
              <a:t>.</a:t>
            </a:r>
          </a:p>
          <a:p>
            <a:pPr lvl="1" algn="just"/>
            <a:r>
              <a:rPr lang="en-US" sz="2400" dirty="0" smtClean="0"/>
              <a:t>Component-level </a:t>
            </a:r>
            <a:r>
              <a:rPr lang="en-US" sz="2400" dirty="0"/>
              <a:t>impacts (semiconductors, capacitors, PCBs, etc</a:t>
            </a:r>
            <a:r>
              <a:rPr lang="en-US" sz="2400" dirty="0" smtClean="0"/>
              <a:t>.).</a:t>
            </a:r>
          </a:p>
          <a:p>
            <a:pPr algn="just"/>
            <a:r>
              <a:rPr lang="en-US" sz="2400" dirty="0" smtClean="0"/>
              <a:t>Use </a:t>
            </a:r>
            <a:r>
              <a:rPr lang="en-US" sz="2400" dirty="0"/>
              <a:t>of mission profiles to optimize the use-phase emissions (e.g., hours of operation per day for electric </a:t>
            </a:r>
            <a:r>
              <a:rPr lang="en-US" sz="2400" dirty="0" smtClean="0"/>
              <a:t>trucks).</a:t>
            </a:r>
            <a:endParaRPr lang="sv-SE" sz="2400" dirty="0"/>
          </a:p>
        </p:txBody>
      </p:sp>
      <p:pic>
        <p:nvPicPr>
          <p:cNvPr id="4" name="Picture 3"/>
          <p:cNvPicPr>
            <a:picLocks noChangeAspect="1"/>
          </p:cNvPicPr>
          <p:nvPr/>
        </p:nvPicPr>
        <p:blipFill>
          <a:blip r:embed="rId2"/>
          <a:stretch>
            <a:fillRect/>
          </a:stretch>
        </p:blipFill>
        <p:spPr>
          <a:xfrm>
            <a:off x="7224713" y="1943100"/>
            <a:ext cx="4551554" cy="3573427"/>
          </a:xfrm>
          <a:prstGeom prst="rect">
            <a:avLst/>
          </a:prstGeom>
        </p:spPr>
      </p:pic>
    </p:spTree>
    <p:extLst>
      <p:ext uri="{BB962C8B-B14F-4D97-AF65-F5344CB8AC3E}">
        <p14:creationId xmlns:p14="http://schemas.microsoft.com/office/powerpoint/2010/main" val="333160696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9175" y="282832"/>
            <a:ext cx="10990263" cy="568412"/>
          </a:xfrm>
        </p:spPr>
        <p:txBody>
          <a:bodyPr/>
          <a:lstStyle/>
          <a:p>
            <a:r>
              <a:rPr lang="en-US" sz="3200" dirty="0" smtClean="0"/>
              <a:t>Topologies– 2 Level or Multilevel VSIs</a:t>
            </a:r>
            <a:endParaRPr lang="sv-SE" sz="3200" dirty="0"/>
          </a:p>
        </p:txBody>
      </p:sp>
      <p:pic>
        <p:nvPicPr>
          <p:cNvPr id="4" name="Picture 3"/>
          <p:cNvPicPr>
            <a:picLocks noChangeAspect="1"/>
          </p:cNvPicPr>
          <p:nvPr/>
        </p:nvPicPr>
        <p:blipFill>
          <a:blip r:embed="rId2"/>
          <a:stretch>
            <a:fillRect/>
          </a:stretch>
        </p:blipFill>
        <p:spPr>
          <a:xfrm>
            <a:off x="6514306" y="927444"/>
            <a:ext cx="5324812" cy="5248275"/>
          </a:xfrm>
          <a:prstGeom prst="rect">
            <a:avLst/>
          </a:prstGeom>
        </p:spPr>
      </p:pic>
      <p:pic>
        <p:nvPicPr>
          <p:cNvPr id="5" name="Picture 4"/>
          <p:cNvPicPr>
            <a:picLocks noChangeAspect="1"/>
          </p:cNvPicPr>
          <p:nvPr/>
        </p:nvPicPr>
        <p:blipFill>
          <a:blip r:embed="rId3"/>
          <a:stretch>
            <a:fillRect/>
          </a:stretch>
        </p:blipFill>
        <p:spPr>
          <a:xfrm>
            <a:off x="923925" y="1540563"/>
            <a:ext cx="4305300" cy="2574237"/>
          </a:xfrm>
          <a:prstGeom prst="rect">
            <a:avLst/>
          </a:prstGeom>
        </p:spPr>
      </p:pic>
      <p:sp>
        <p:nvSpPr>
          <p:cNvPr id="6" name="TextBox 5"/>
          <p:cNvSpPr txBox="1"/>
          <p:nvPr/>
        </p:nvSpPr>
        <p:spPr>
          <a:xfrm>
            <a:off x="923925" y="4622191"/>
            <a:ext cx="4714875" cy="1477328"/>
          </a:xfrm>
          <a:prstGeom prst="rect">
            <a:avLst/>
          </a:prstGeom>
          <a:noFill/>
        </p:spPr>
        <p:txBody>
          <a:bodyPr wrap="square" rtlCol="0">
            <a:spAutoFit/>
          </a:bodyPr>
          <a:lstStyle/>
          <a:p>
            <a:r>
              <a:rPr lang="en-US" dirty="0" smtClean="0"/>
              <a:t>Possible Semiconductor Technology</a:t>
            </a:r>
          </a:p>
          <a:p>
            <a:pPr marL="285750" indent="-285750">
              <a:buFont typeface="Arial" panose="020B0604020202020204" pitchFamily="34" charset="0"/>
              <a:buChar char="•"/>
            </a:pPr>
            <a:r>
              <a:rPr lang="en-US" dirty="0" smtClean="0"/>
              <a:t>2L- </a:t>
            </a:r>
            <a:r>
              <a:rPr lang="en-US" dirty="0" err="1" smtClean="0"/>
              <a:t>SiC</a:t>
            </a:r>
            <a:endParaRPr lang="en-US" dirty="0" smtClean="0"/>
          </a:p>
          <a:p>
            <a:pPr marL="285750" indent="-285750">
              <a:buFont typeface="Arial" panose="020B0604020202020204" pitchFamily="34" charset="0"/>
              <a:buChar char="•"/>
            </a:pPr>
            <a:r>
              <a:rPr lang="en-US" dirty="0" smtClean="0"/>
              <a:t>3L- </a:t>
            </a:r>
            <a:r>
              <a:rPr lang="en-US" dirty="0" err="1" smtClean="0"/>
              <a:t>SiC</a:t>
            </a:r>
            <a:r>
              <a:rPr lang="en-US" dirty="0" smtClean="0"/>
              <a:t> </a:t>
            </a:r>
          </a:p>
          <a:p>
            <a:pPr marL="285750" indent="-285750">
              <a:buFont typeface="Arial" panose="020B0604020202020204" pitchFamily="34" charset="0"/>
              <a:buChar char="•"/>
            </a:pPr>
            <a:r>
              <a:rPr lang="en-US" dirty="0" smtClean="0"/>
              <a:t>5L- </a:t>
            </a:r>
            <a:r>
              <a:rPr lang="en-US" dirty="0" err="1" smtClean="0"/>
              <a:t>GaN</a:t>
            </a:r>
            <a:r>
              <a:rPr lang="en-US" dirty="0" smtClean="0"/>
              <a:t> </a:t>
            </a:r>
          </a:p>
          <a:p>
            <a:pPr marL="285750" indent="-285750">
              <a:buFont typeface="Arial" panose="020B0604020202020204" pitchFamily="34" charset="0"/>
              <a:buChar char="•"/>
            </a:pPr>
            <a:r>
              <a:rPr lang="en-US" dirty="0" smtClean="0"/>
              <a:t>7L- Si</a:t>
            </a:r>
            <a:endParaRPr lang="sv-SE" dirty="0"/>
          </a:p>
        </p:txBody>
      </p:sp>
    </p:spTree>
    <p:extLst>
      <p:ext uri="{BB962C8B-B14F-4D97-AF65-F5344CB8AC3E}">
        <p14:creationId xmlns:p14="http://schemas.microsoft.com/office/powerpoint/2010/main" val="165741675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7750" y="371732"/>
            <a:ext cx="10990263" cy="568412"/>
          </a:xfrm>
        </p:spPr>
        <p:txBody>
          <a:bodyPr/>
          <a:lstStyle/>
          <a:p>
            <a:r>
              <a:rPr lang="sv-SE" dirty="0" err="1" smtClean="0"/>
              <a:t>Expected</a:t>
            </a:r>
            <a:r>
              <a:rPr lang="sv-SE" dirty="0" smtClean="0"/>
              <a:t> </a:t>
            </a:r>
            <a:r>
              <a:rPr lang="sv-SE" dirty="0" err="1" smtClean="0"/>
              <a:t>Results</a:t>
            </a:r>
            <a:endParaRPr lang="sv-SE" dirty="0"/>
          </a:p>
        </p:txBody>
      </p:sp>
      <p:sp>
        <p:nvSpPr>
          <p:cNvPr id="3" name="Content Placeholder 2"/>
          <p:cNvSpPr>
            <a:spLocks noGrp="1"/>
          </p:cNvSpPr>
          <p:nvPr>
            <p:ph idx="1"/>
          </p:nvPr>
        </p:nvSpPr>
        <p:spPr>
          <a:xfrm>
            <a:off x="304801" y="1281793"/>
            <a:ext cx="6153150" cy="5270895"/>
          </a:xfrm>
        </p:spPr>
        <p:txBody>
          <a:bodyPr/>
          <a:lstStyle/>
          <a:p>
            <a:pPr marL="0" indent="0" algn="just">
              <a:buNone/>
            </a:pPr>
            <a:r>
              <a:rPr lang="en-US" sz="2400" b="1" dirty="0"/>
              <a:t>Expected Outcomes</a:t>
            </a:r>
            <a:r>
              <a:rPr lang="en-US" sz="2400" b="1" dirty="0" smtClean="0"/>
              <a:t>:</a:t>
            </a:r>
          </a:p>
          <a:p>
            <a:pPr algn="just"/>
            <a:r>
              <a:rPr lang="en-US" sz="2400" dirty="0" smtClean="0"/>
              <a:t>Achieve </a:t>
            </a:r>
            <a:r>
              <a:rPr lang="en-US" sz="2400" dirty="0"/>
              <a:t>optimized designs with higher efficiency and lower environmental footprint (e.g., lower GWP</a:t>
            </a:r>
            <a:r>
              <a:rPr lang="en-US" sz="2400" dirty="0" smtClean="0"/>
              <a:t>).</a:t>
            </a:r>
          </a:p>
          <a:p>
            <a:pPr algn="just"/>
            <a:endParaRPr lang="en-US" sz="2400" dirty="0" smtClean="0"/>
          </a:p>
          <a:p>
            <a:pPr marL="0" indent="0" algn="just">
              <a:buNone/>
            </a:pPr>
            <a:r>
              <a:rPr lang="en-US" sz="2400" b="1" dirty="0" smtClean="0"/>
              <a:t>Design </a:t>
            </a:r>
            <a:r>
              <a:rPr lang="en-US" sz="2400" b="1" dirty="0"/>
              <a:t>Trade-offs</a:t>
            </a:r>
            <a:r>
              <a:rPr lang="en-US" sz="2400" b="1" dirty="0" smtClean="0"/>
              <a:t>:</a:t>
            </a:r>
          </a:p>
          <a:p>
            <a:pPr algn="just"/>
            <a:r>
              <a:rPr lang="en-US" sz="2400" dirty="0" smtClean="0"/>
              <a:t>Higher </a:t>
            </a:r>
            <a:r>
              <a:rPr lang="en-US" sz="2400" dirty="0"/>
              <a:t>switching frequencies reduce passive component size but increase semiconductor losses</a:t>
            </a:r>
            <a:r>
              <a:rPr lang="en-US" sz="2400" dirty="0" smtClean="0"/>
              <a:t>.</a:t>
            </a:r>
          </a:p>
          <a:p>
            <a:pPr algn="just"/>
            <a:r>
              <a:rPr lang="en-US" sz="2400" dirty="0" smtClean="0"/>
              <a:t>Inverter </a:t>
            </a:r>
            <a:r>
              <a:rPr lang="en-US" sz="2400" dirty="0"/>
              <a:t>design with an initially higher environmental impact (e.g., larger components) might yield lower lifecycle emissions due to superior efficiency</a:t>
            </a:r>
            <a:r>
              <a:rPr lang="en-US" sz="2400" dirty="0" smtClean="0"/>
              <a:t>.</a:t>
            </a:r>
          </a:p>
        </p:txBody>
      </p:sp>
      <p:pic>
        <p:nvPicPr>
          <p:cNvPr id="4" name="Picture 3"/>
          <p:cNvPicPr>
            <a:picLocks noChangeAspect="1"/>
          </p:cNvPicPr>
          <p:nvPr/>
        </p:nvPicPr>
        <p:blipFill>
          <a:blip r:embed="rId2"/>
          <a:stretch>
            <a:fillRect/>
          </a:stretch>
        </p:blipFill>
        <p:spPr>
          <a:xfrm>
            <a:off x="8131969" y="281863"/>
            <a:ext cx="2595562" cy="3745111"/>
          </a:xfrm>
          <a:prstGeom prst="rect">
            <a:avLst/>
          </a:prstGeom>
        </p:spPr>
      </p:pic>
      <p:pic>
        <p:nvPicPr>
          <p:cNvPr id="5" name="Picture 4"/>
          <p:cNvPicPr>
            <a:picLocks noChangeAspect="1"/>
          </p:cNvPicPr>
          <p:nvPr/>
        </p:nvPicPr>
        <p:blipFill>
          <a:blip r:embed="rId3"/>
          <a:stretch>
            <a:fillRect/>
          </a:stretch>
        </p:blipFill>
        <p:spPr>
          <a:xfrm>
            <a:off x="7636716" y="4162424"/>
            <a:ext cx="3392440" cy="2333115"/>
          </a:xfrm>
          <a:prstGeom prst="rect">
            <a:avLst/>
          </a:prstGeom>
        </p:spPr>
      </p:pic>
      <p:sp>
        <p:nvSpPr>
          <p:cNvPr id="6" name="TextBox 5"/>
          <p:cNvSpPr txBox="1"/>
          <p:nvPr/>
        </p:nvSpPr>
        <p:spPr>
          <a:xfrm>
            <a:off x="10841831" y="929028"/>
            <a:ext cx="857250" cy="369332"/>
          </a:xfrm>
          <a:prstGeom prst="rect">
            <a:avLst/>
          </a:prstGeom>
          <a:noFill/>
        </p:spPr>
        <p:txBody>
          <a:bodyPr wrap="square" rtlCol="0">
            <a:spAutoFit/>
          </a:bodyPr>
          <a:lstStyle/>
          <a:p>
            <a:r>
              <a:rPr lang="en-US" dirty="0" smtClean="0"/>
              <a:t>3LTT</a:t>
            </a:r>
            <a:endParaRPr lang="sv-SE" dirty="0"/>
          </a:p>
        </p:txBody>
      </p:sp>
      <p:sp>
        <p:nvSpPr>
          <p:cNvPr id="7" name="TextBox 6"/>
          <p:cNvSpPr txBox="1"/>
          <p:nvPr/>
        </p:nvSpPr>
        <p:spPr>
          <a:xfrm>
            <a:off x="10841831" y="3026119"/>
            <a:ext cx="1350169" cy="369332"/>
          </a:xfrm>
          <a:prstGeom prst="rect">
            <a:avLst/>
          </a:prstGeom>
          <a:noFill/>
        </p:spPr>
        <p:txBody>
          <a:bodyPr wrap="square" rtlCol="0">
            <a:spAutoFit/>
          </a:bodyPr>
          <a:lstStyle/>
          <a:p>
            <a:r>
              <a:rPr lang="en-US" dirty="0" smtClean="0"/>
              <a:t>7LHANPC</a:t>
            </a:r>
            <a:endParaRPr lang="sv-SE" dirty="0"/>
          </a:p>
        </p:txBody>
      </p:sp>
    </p:spTree>
    <p:extLst>
      <p:ext uri="{BB962C8B-B14F-4D97-AF65-F5344CB8AC3E}">
        <p14:creationId xmlns:p14="http://schemas.microsoft.com/office/powerpoint/2010/main" val="331379233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362207"/>
            <a:ext cx="10990263" cy="568412"/>
          </a:xfrm>
        </p:spPr>
        <p:txBody>
          <a:bodyPr/>
          <a:lstStyle/>
          <a:p>
            <a:r>
              <a:rPr lang="en-US" dirty="0" smtClean="0"/>
              <a:t>References</a:t>
            </a:r>
            <a:endParaRPr lang="sv-SE" dirty="0"/>
          </a:p>
        </p:txBody>
      </p:sp>
      <p:sp>
        <p:nvSpPr>
          <p:cNvPr id="3" name="Content Placeholder 2"/>
          <p:cNvSpPr>
            <a:spLocks noGrp="1"/>
          </p:cNvSpPr>
          <p:nvPr>
            <p:ph idx="1"/>
          </p:nvPr>
        </p:nvSpPr>
        <p:spPr>
          <a:xfrm>
            <a:off x="600075" y="1105930"/>
            <a:ext cx="10990263" cy="5220222"/>
          </a:xfrm>
        </p:spPr>
        <p:txBody>
          <a:bodyPr/>
          <a:lstStyle/>
          <a:p>
            <a:r>
              <a:rPr lang="sv-SE" sz="1600" dirty="0" err="1" smtClean="0"/>
              <a:t>Rohner</a:t>
            </a:r>
            <a:r>
              <a:rPr lang="sv-SE" sz="1600" dirty="0"/>
              <a:t>, G., Kolar, J. W., </a:t>
            </a:r>
            <a:r>
              <a:rPr lang="sv-SE" sz="1600" dirty="0" err="1"/>
              <a:t>Bortis</a:t>
            </a:r>
            <a:r>
              <a:rPr lang="sv-SE" sz="1600" dirty="0"/>
              <a:t>, D., &amp; Schweizer, M. (2022). </a:t>
            </a:r>
            <a:r>
              <a:rPr lang="en-US" sz="1600" dirty="0"/>
              <a:t>Optimal Level Number and Performance Evaluation of Si/</a:t>
            </a:r>
            <a:r>
              <a:rPr lang="en-US" sz="1600" dirty="0" err="1"/>
              <a:t>GaN</a:t>
            </a:r>
            <a:r>
              <a:rPr lang="en-US" sz="1600" dirty="0"/>
              <a:t> Multi-Level Flying Capacitor Inverter for Variable Speed Drive Systems. </a:t>
            </a:r>
            <a:r>
              <a:rPr lang="en-US" sz="1600" i="1" dirty="0"/>
              <a:t>2022 International Conference on Electrical Machines and Systems, ICEMS 2022</a:t>
            </a:r>
            <a:r>
              <a:rPr lang="en-US" sz="1600" dirty="0"/>
              <a:t>, 1–6. </a:t>
            </a:r>
            <a:r>
              <a:rPr lang="en-US" sz="1600" dirty="0">
                <a:hlinkClick r:id="rId2"/>
              </a:rPr>
              <a:t>https://</a:t>
            </a:r>
            <a:r>
              <a:rPr lang="en-US" sz="1600" dirty="0" smtClean="0">
                <a:hlinkClick r:id="rId2"/>
              </a:rPr>
              <a:t>doi.org/10.1109/ICEMS56177.2022.9982999</a:t>
            </a:r>
            <a:endParaRPr lang="en-US" sz="1600" dirty="0" smtClean="0"/>
          </a:p>
          <a:p>
            <a:r>
              <a:rPr lang="sv-SE" sz="1600" dirty="0" err="1"/>
              <a:t>Rohner</a:t>
            </a:r>
            <a:r>
              <a:rPr lang="sv-SE" sz="1600" dirty="0"/>
              <a:t>, G., </a:t>
            </a:r>
            <a:r>
              <a:rPr lang="sv-SE" sz="1600" dirty="0" err="1"/>
              <a:t>Gfrorer</a:t>
            </a:r>
            <a:r>
              <a:rPr lang="sv-SE" sz="1600" dirty="0"/>
              <a:t>, T., </a:t>
            </a:r>
            <a:r>
              <a:rPr lang="sv-SE" sz="1600" dirty="0" err="1"/>
              <a:t>Niklaus</a:t>
            </a:r>
            <a:r>
              <a:rPr lang="sv-SE" sz="1600" dirty="0"/>
              <a:t>, P. S., Huber, J., </a:t>
            </a:r>
            <a:r>
              <a:rPr lang="sv-SE" sz="1600" dirty="0" err="1"/>
              <a:t>Bortis</a:t>
            </a:r>
            <a:r>
              <a:rPr lang="sv-SE" sz="1600" dirty="0"/>
              <a:t>, D., Schweizer, M., &amp; Kolar, J. W. (2023). </a:t>
            </a:r>
            <a:r>
              <a:rPr lang="en-US" sz="1600" dirty="0"/>
              <a:t>Hardware-Based Comparative Analysis of Multilevel Inverter Topologies for Integrated Motor Drives Considering Overload Operation. </a:t>
            </a:r>
            <a:r>
              <a:rPr lang="en-US" sz="1600" i="1" dirty="0"/>
              <a:t>IEEE Open Journal of Power Electronics</a:t>
            </a:r>
            <a:r>
              <a:rPr lang="en-US" sz="1600" dirty="0"/>
              <a:t>, </a:t>
            </a:r>
            <a:r>
              <a:rPr lang="en-US" sz="1600" i="1" dirty="0"/>
              <a:t>4</a:t>
            </a:r>
            <a:r>
              <a:rPr lang="en-US" sz="1600" dirty="0"/>
              <a:t>(August), 934–944. </a:t>
            </a:r>
            <a:r>
              <a:rPr lang="en-US" sz="1600" dirty="0">
                <a:hlinkClick r:id="rId3"/>
              </a:rPr>
              <a:t>https://doi.org/10.1109/OJPEL.2023.3327423</a:t>
            </a:r>
            <a:endParaRPr lang="en-US" sz="1600" dirty="0"/>
          </a:p>
          <a:p>
            <a:r>
              <a:rPr lang="sv-SE" sz="1600" dirty="0" err="1"/>
              <a:t>Rohner</a:t>
            </a:r>
            <a:r>
              <a:rPr lang="sv-SE" sz="1600" dirty="0"/>
              <a:t>, G., Huber, J., </a:t>
            </a:r>
            <a:r>
              <a:rPr lang="sv-SE" sz="1600" dirty="0" err="1"/>
              <a:t>Mirić</a:t>
            </a:r>
            <a:r>
              <a:rPr lang="sv-SE" sz="1600" dirty="0"/>
              <a:t>, S., &amp; Kolar, J. W. (2024). </a:t>
            </a:r>
            <a:r>
              <a:rPr lang="en-US" sz="1600" dirty="0"/>
              <a:t>Comparative Evaluation of Three-Phase Three-Level Flying Capacitor and Stacked </a:t>
            </a:r>
            <a:r>
              <a:rPr lang="en-US" sz="1600" dirty="0" err="1"/>
              <a:t>Polyphase</a:t>
            </a:r>
            <a:r>
              <a:rPr lang="en-US" sz="1600" dirty="0"/>
              <a:t> Bridge </a:t>
            </a:r>
            <a:r>
              <a:rPr lang="en-US" sz="1600" dirty="0" err="1"/>
              <a:t>GaN</a:t>
            </a:r>
            <a:r>
              <a:rPr lang="en-US" sz="1600" dirty="0"/>
              <a:t> Inverter Systems for Integrated Motor Drives. </a:t>
            </a:r>
            <a:r>
              <a:rPr lang="sv-SE" sz="1600" i="1" dirty="0"/>
              <a:t>Electronics (</a:t>
            </a:r>
            <a:r>
              <a:rPr lang="sv-SE" sz="1600" i="1" dirty="0" err="1"/>
              <a:t>Switzerland</a:t>
            </a:r>
            <a:r>
              <a:rPr lang="sv-SE" sz="1600" i="1" dirty="0"/>
              <a:t>)</a:t>
            </a:r>
            <a:r>
              <a:rPr lang="sv-SE" sz="1600" dirty="0"/>
              <a:t>, </a:t>
            </a:r>
            <a:r>
              <a:rPr lang="sv-SE" sz="1600" i="1" dirty="0"/>
              <a:t>13</a:t>
            </a:r>
            <a:r>
              <a:rPr lang="sv-SE" sz="1600" dirty="0"/>
              <a:t>(7). https://doi.org/10.3390/electronics13071259</a:t>
            </a:r>
          </a:p>
          <a:p>
            <a:r>
              <a:rPr lang="en-US" sz="1600" dirty="0" err="1"/>
              <a:t>Rohner</a:t>
            </a:r>
            <a:r>
              <a:rPr lang="en-US" sz="1600" dirty="0"/>
              <a:t>, G., Huber, J., </a:t>
            </a:r>
            <a:r>
              <a:rPr lang="en-US" sz="1600" dirty="0" err="1"/>
              <a:t>Mirić</a:t>
            </a:r>
            <a:r>
              <a:rPr lang="en-US" sz="1600" dirty="0"/>
              <a:t>, S., &amp; Kolar, J. W. (2024). Comparative Evaluation of Three-Phase Three-Level Flying Capacitor and Stacked </a:t>
            </a:r>
            <a:r>
              <a:rPr lang="en-US" sz="1600" dirty="0" err="1"/>
              <a:t>Polyphase</a:t>
            </a:r>
            <a:r>
              <a:rPr lang="en-US" sz="1600" dirty="0"/>
              <a:t> Bridge </a:t>
            </a:r>
            <a:r>
              <a:rPr lang="en-US" sz="1600" dirty="0" err="1"/>
              <a:t>GaN</a:t>
            </a:r>
            <a:r>
              <a:rPr lang="en-US" sz="1600" dirty="0"/>
              <a:t> Inverter Systems for Integrated Motor Drives. </a:t>
            </a:r>
            <a:r>
              <a:rPr lang="en-US" sz="1600" i="1" dirty="0"/>
              <a:t>Electronics (Switzerland)</a:t>
            </a:r>
            <a:r>
              <a:rPr lang="en-US" sz="1600" dirty="0"/>
              <a:t>, </a:t>
            </a:r>
            <a:r>
              <a:rPr lang="en-US" sz="1600" i="1" dirty="0"/>
              <a:t>13</a:t>
            </a:r>
            <a:r>
              <a:rPr lang="en-US" sz="1600" dirty="0"/>
              <a:t>(7). https://doi.org/10.3390/electronics13071259</a:t>
            </a:r>
            <a:endParaRPr lang="sv-SE" sz="1600" dirty="0"/>
          </a:p>
          <a:p>
            <a:r>
              <a:rPr lang="en-US" sz="1600" dirty="0" err="1"/>
              <a:t>Imperiali</a:t>
            </a:r>
            <a:r>
              <a:rPr lang="en-US" sz="1600" dirty="0"/>
              <a:t>, L., </a:t>
            </a:r>
            <a:r>
              <a:rPr lang="en-US" sz="1600" dirty="0" err="1"/>
              <a:t>Menzi</a:t>
            </a:r>
            <a:r>
              <a:rPr lang="en-US" sz="1600" dirty="0"/>
              <a:t>, D., Kolar, J. W., &amp; Huber, J. (2024). Multi-Objective Minimization of Life-Cycle Environmental Impacts of Three-Phase AC-DC Converter Building Blocks. </a:t>
            </a:r>
            <a:r>
              <a:rPr lang="en-US" sz="1600" i="1" dirty="0"/>
              <a:t>Conference Proceedings - IEEE Applied Power Electronics Conference and Exposition - APEC</a:t>
            </a:r>
            <a:r>
              <a:rPr lang="en-US" sz="1600" dirty="0"/>
              <a:t>, 2994–3004. https://doi.org/10.1109/APEC48139.2024.10509190</a:t>
            </a:r>
            <a:endParaRPr lang="sv-SE" sz="1600" dirty="0"/>
          </a:p>
          <a:p>
            <a:r>
              <a:rPr lang="sv-SE" sz="1600" dirty="0"/>
              <a:t>Huber, J., </a:t>
            </a:r>
            <a:r>
              <a:rPr lang="sv-SE" sz="1600" dirty="0" err="1"/>
              <a:t>Imperiali</a:t>
            </a:r>
            <a:r>
              <a:rPr lang="sv-SE" sz="1600" dirty="0"/>
              <a:t>, L., </a:t>
            </a:r>
            <a:r>
              <a:rPr lang="sv-SE" sz="1600" dirty="0" err="1"/>
              <a:t>Menzi</a:t>
            </a:r>
            <a:r>
              <a:rPr lang="sv-SE" sz="1600" dirty="0"/>
              <a:t>, D., </a:t>
            </a:r>
            <a:r>
              <a:rPr lang="sv-SE" sz="1600" dirty="0" err="1"/>
              <a:t>Musil</a:t>
            </a:r>
            <a:r>
              <a:rPr lang="sv-SE" sz="1600" dirty="0"/>
              <a:t>, F., &amp; Kolar, J. W. (2024). </a:t>
            </a:r>
            <a:r>
              <a:rPr lang="en-US" sz="1600" dirty="0"/>
              <a:t>Life-Cycle Carbon Footprints of Low-Voltage Motor Drives with 600-V </a:t>
            </a:r>
            <a:r>
              <a:rPr lang="en-US" sz="1600" dirty="0" err="1"/>
              <a:t>GaN</a:t>
            </a:r>
            <a:r>
              <a:rPr lang="en-US" sz="1600" dirty="0"/>
              <a:t> or 650-V </a:t>
            </a:r>
            <a:r>
              <a:rPr lang="en-US" sz="1600" dirty="0" err="1"/>
              <a:t>SiC</a:t>
            </a:r>
            <a:r>
              <a:rPr lang="en-US" sz="1600" dirty="0"/>
              <a:t> Power Transistors. </a:t>
            </a:r>
            <a:r>
              <a:rPr lang="en-US" sz="1600" i="1" dirty="0"/>
              <a:t>Proceedings of the 13th International E-Conference on Integrated Power Electronics Systems </a:t>
            </a:r>
            <a:r>
              <a:rPr lang="en-US" sz="1600" dirty="0"/>
              <a:t>.</a:t>
            </a:r>
            <a:endParaRPr lang="sv-SE" sz="1600" dirty="0"/>
          </a:p>
          <a:p>
            <a:r>
              <a:rPr lang="sv-SE" sz="1600" dirty="0"/>
              <a:t>Huber, J., </a:t>
            </a:r>
            <a:r>
              <a:rPr lang="sv-SE" sz="1600" dirty="0" err="1"/>
              <a:t>Imperiali</a:t>
            </a:r>
            <a:r>
              <a:rPr lang="sv-SE" sz="1600" dirty="0"/>
              <a:t>, L., </a:t>
            </a:r>
            <a:r>
              <a:rPr lang="sv-SE" sz="1600" dirty="0" err="1"/>
              <a:t>Menzi</a:t>
            </a:r>
            <a:r>
              <a:rPr lang="sv-SE" sz="1600" dirty="0"/>
              <a:t>, D., </a:t>
            </a:r>
            <a:r>
              <a:rPr lang="sv-SE" sz="1600" dirty="0" err="1"/>
              <a:t>Musil</a:t>
            </a:r>
            <a:r>
              <a:rPr lang="sv-SE" sz="1600" dirty="0"/>
              <a:t>, F., &amp; Kolar, J. W. (2024). </a:t>
            </a:r>
            <a:r>
              <a:rPr lang="en-US" sz="1600" dirty="0"/>
              <a:t>Energy Efficiency is Not Enough! </a:t>
            </a:r>
            <a:r>
              <a:rPr lang="en-US" sz="1600" i="1" dirty="0"/>
              <a:t>IEEE Power Electronics Magazine</a:t>
            </a:r>
            <a:r>
              <a:rPr lang="en-US" sz="1600" dirty="0"/>
              <a:t>, </a:t>
            </a:r>
            <a:r>
              <a:rPr lang="en-US" sz="1600" i="1" dirty="0"/>
              <a:t>11</a:t>
            </a:r>
            <a:r>
              <a:rPr lang="en-US" sz="1600" dirty="0"/>
              <a:t>(1), 18–31. https://doi.org/10.1109/MPEL.2024.3354013</a:t>
            </a:r>
            <a:endParaRPr lang="sv-SE" sz="1600" dirty="0"/>
          </a:p>
          <a:p>
            <a:endParaRPr lang="sv-SE" sz="1800" dirty="0"/>
          </a:p>
          <a:p>
            <a:endParaRPr lang="sv-SE" sz="1800" dirty="0"/>
          </a:p>
        </p:txBody>
      </p:sp>
    </p:spTree>
    <p:extLst>
      <p:ext uri="{BB962C8B-B14F-4D97-AF65-F5344CB8AC3E}">
        <p14:creationId xmlns:p14="http://schemas.microsoft.com/office/powerpoint/2010/main" val="38039706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362207"/>
            <a:ext cx="10990263" cy="568412"/>
          </a:xfrm>
        </p:spPr>
        <p:txBody>
          <a:bodyPr/>
          <a:lstStyle/>
          <a:p>
            <a:r>
              <a:rPr lang="en-US" dirty="0" smtClean="0"/>
              <a:t>References</a:t>
            </a:r>
            <a:endParaRPr lang="sv-SE" dirty="0"/>
          </a:p>
        </p:txBody>
      </p:sp>
      <p:sp>
        <p:nvSpPr>
          <p:cNvPr id="3" name="Content Placeholder 2"/>
          <p:cNvSpPr>
            <a:spLocks noGrp="1"/>
          </p:cNvSpPr>
          <p:nvPr>
            <p:ph idx="1"/>
          </p:nvPr>
        </p:nvSpPr>
        <p:spPr>
          <a:xfrm>
            <a:off x="600075" y="1105930"/>
            <a:ext cx="10990263" cy="5220222"/>
          </a:xfrm>
        </p:spPr>
        <p:txBody>
          <a:bodyPr/>
          <a:lstStyle/>
          <a:p>
            <a:r>
              <a:rPr lang="sv-SE" sz="1600" dirty="0" smtClean="0"/>
              <a:t>J</a:t>
            </a:r>
            <a:r>
              <a:rPr lang="sv-SE" sz="1600" dirty="0"/>
              <a:t>. Wang, Y. Li and Y. Han, "</a:t>
            </a:r>
            <a:r>
              <a:rPr lang="sv-SE" sz="1600" dirty="0" err="1"/>
              <a:t>Evaluation</a:t>
            </a:r>
            <a:r>
              <a:rPr lang="sv-SE" sz="1600" dirty="0"/>
              <a:t> and design for an </a:t>
            </a:r>
            <a:r>
              <a:rPr lang="sv-SE" sz="1600" dirty="0" err="1"/>
              <a:t>integrated</a:t>
            </a:r>
            <a:r>
              <a:rPr lang="sv-SE" sz="1600" dirty="0"/>
              <a:t> </a:t>
            </a:r>
            <a:r>
              <a:rPr lang="sv-SE" sz="1600" dirty="0" err="1"/>
              <a:t>modular</a:t>
            </a:r>
            <a:r>
              <a:rPr lang="sv-SE" sz="1600" dirty="0"/>
              <a:t> motor drive (IMMD) </a:t>
            </a:r>
            <a:r>
              <a:rPr lang="sv-SE" sz="1600" dirty="0" err="1"/>
              <a:t>with</a:t>
            </a:r>
            <a:r>
              <a:rPr lang="sv-SE" sz="1600" dirty="0"/>
              <a:t> </a:t>
            </a:r>
            <a:r>
              <a:rPr lang="sv-SE" sz="1600" dirty="0" err="1"/>
              <a:t>GaN</a:t>
            </a:r>
            <a:r>
              <a:rPr lang="sv-SE" sz="1600" dirty="0"/>
              <a:t> </a:t>
            </a:r>
            <a:r>
              <a:rPr lang="sv-SE" sz="1600" dirty="0" err="1"/>
              <a:t>devices</a:t>
            </a:r>
            <a:r>
              <a:rPr lang="sv-SE" sz="1600" dirty="0"/>
              <a:t>," 2013 IEEE Energy </a:t>
            </a:r>
            <a:r>
              <a:rPr lang="sv-SE" sz="1600" dirty="0" err="1"/>
              <a:t>Conversion</a:t>
            </a:r>
            <a:r>
              <a:rPr lang="sv-SE" sz="1600" dirty="0"/>
              <a:t> Congress and Exposition, Denver, CO, USA, 2013, </a:t>
            </a:r>
            <a:r>
              <a:rPr lang="sv-SE" sz="1600" dirty="0" err="1"/>
              <a:t>pp</a:t>
            </a:r>
            <a:r>
              <a:rPr lang="sv-SE" sz="1600" dirty="0"/>
              <a:t>. 4318-4325, </a:t>
            </a:r>
            <a:r>
              <a:rPr lang="sv-SE" sz="1600" dirty="0" err="1"/>
              <a:t>doi</a:t>
            </a:r>
            <a:r>
              <a:rPr lang="sv-SE" sz="1600" dirty="0"/>
              <a:t>: 10.1109/ECCE.2013.6647278. </a:t>
            </a:r>
            <a:endParaRPr lang="sv-SE" sz="1600" dirty="0" smtClean="0"/>
          </a:p>
          <a:p>
            <a:r>
              <a:rPr lang="sv-SE" sz="1600" dirty="0" smtClean="0"/>
              <a:t>J</a:t>
            </a:r>
            <a:r>
              <a:rPr lang="sv-SE" sz="1600" dirty="0"/>
              <a:t>. Wang and Y. Han, "A new </a:t>
            </a:r>
            <a:r>
              <a:rPr lang="sv-SE" sz="1600" dirty="0" err="1"/>
              <a:t>concept</a:t>
            </a:r>
            <a:r>
              <a:rPr lang="sv-SE" sz="1600" dirty="0"/>
              <a:t> </a:t>
            </a:r>
            <a:r>
              <a:rPr lang="sv-SE" sz="1600" dirty="0" err="1"/>
              <a:t>of</a:t>
            </a:r>
            <a:r>
              <a:rPr lang="sv-SE" sz="1600" dirty="0"/>
              <a:t> </a:t>
            </a:r>
            <a:r>
              <a:rPr lang="sv-SE" sz="1600" dirty="0" err="1"/>
              <a:t>multilevel</a:t>
            </a:r>
            <a:r>
              <a:rPr lang="sv-SE" sz="1600" dirty="0"/>
              <a:t> </a:t>
            </a:r>
            <a:r>
              <a:rPr lang="sv-SE" sz="1600" dirty="0" err="1"/>
              <a:t>converter</a:t>
            </a:r>
            <a:r>
              <a:rPr lang="sv-SE" sz="1600" dirty="0"/>
              <a:t> motor drive </a:t>
            </a:r>
            <a:r>
              <a:rPr lang="sv-SE" sz="1600" dirty="0" err="1"/>
              <a:t>with</a:t>
            </a:r>
            <a:r>
              <a:rPr lang="sv-SE" sz="1600" dirty="0"/>
              <a:t> </a:t>
            </a:r>
            <a:r>
              <a:rPr lang="sv-SE" sz="1600" dirty="0" err="1"/>
              <a:t>modular</a:t>
            </a:r>
            <a:r>
              <a:rPr lang="sv-SE" sz="1600" dirty="0"/>
              <a:t> design and split </a:t>
            </a:r>
            <a:r>
              <a:rPr lang="sv-SE" sz="1600" dirty="0" err="1"/>
              <a:t>winding</a:t>
            </a:r>
            <a:r>
              <a:rPr lang="sv-SE" sz="1600" dirty="0"/>
              <a:t> </a:t>
            </a:r>
            <a:r>
              <a:rPr lang="sv-SE" sz="1600" dirty="0" err="1"/>
              <a:t>machine</a:t>
            </a:r>
            <a:r>
              <a:rPr lang="sv-SE" sz="1600" dirty="0"/>
              <a:t>," 2014 Power and Energy Conference at Illinois (PECI), </a:t>
            </a:r>
            <a:r>
              <a:rPr lang="sv-SE" sz="1600" dirty="0" err="1"/>
              <a:t>Champaign</a:t>
            </a:r>
            <a:r>
              <a:rPr lang="sv-SE" sz="1600" dirty="0"/>
              <a:t>, IL, USA, 2014, </a:t>
            </a:r>
            <a:r>
              <a:rPr lang="sv-SE" sz="1600" dirty="0" err="1"/>
              <a:t>pp</a:t>
            </a:r>
            <a:r>
              <a:rPr lang="sv-SE" sz="1600" dirty="0"/>
              <a:t>. 1-6, </a:t>
            </a:r>
            <a:r>
              <a:rPr lang="sv-SE" sz="1600" dirty="0" err="1"/>
              <a:t>doi</a:t>
            </a:r>
            <a:r>
              <a:rPr lang="sv-SE" sz="1600" dirty="0"/>
              <a:t>: 10.1109/PECI.2014.6804550. </a:t>
            </a:r>
            <a:r>
              <a:rPr lang="sv-SE" sz="1600" dirty="0" smtClean="0"/>
              <a:t>J</a:t>
            </a:r>
            <a:r>
              <a:rPr lang="sv-SE" sz="1600" dirty="0"/>
              <a:t>. Wang and Y. Han, "A </a:t>
            </a:r>
            <a:r>
              <a:rPr lang="sv-SE" sz="1600" dirty="0" err="1"/>
              <a:t>class</a:t>
            </a:r>
            <a:r>
              <a:rPr lang="sv-SE" sz="1600" dirty="0"/>
              <a:t> </a:t>
            </a:r>
            <a:r>
              <a:rPr lang="sv-SE" sz="1600" dirty="0" err="1"/>
              <a:t>of</a:t>
            </a:r>
            <a:r>
              <a:rPr lang="sv-SE" sz="1600" dirty="0"/>
              <a:t> </a:t>
            </a:r>
            <a:r>
              <a:rPr lang="sv-SE" sz="1600" dirty="0" err="1"/>
              <a:t>modular</a:t>
            </a:r>
            <a:r>
              <a:rPr lang="sv-SE" sz="1600" dirty="0"/>
              <a:t> </a:t>
            </a:r>
            <a:r>
              <a:rPr lang="sv-SE" sz="1600" dirty="0" err="1"/>
              <a:t>multilevel</a:t>
            </a:r>
            <a:r>
              <a:rPr lang="sv-SE" sz="1600" dirty="0"/>
              <a:t> motor drives </a:t>
            </a:r>
            <a:r>
              <a:rPr lang="sv-SE" sz="1600" dirty="0" err="1"/>
              <a:t>with</a:t>
            </a:r>
            <a:r>
              <a:rPr lang="sv-SE" sz="1600" dirty="0"/>
              <a:t> design </a:t>
            </a:r>
            <a:r>
              <a:rPr lang="sv-SE" sz="1600" dirty="0" err="1"/>
              <a:t>flexibility</a:t>
            </a:r>
            <a:r>
              <a:rPr lang="sv-SE" sz="1600" dirty="0"/>
              <a:t> and </a:t>
            </a:r>
            <a:r>
              <a:rPr lang="sv-SE" sz="1600" dirty="0" err="1"/>
              <a:t>reduced</a:t>
            </a:r>
            <a:r>
              <a:rPr lang="sv-SE" sz="1600" dirty="0"/>
              <a:t> </a:t>
            </a:r>
            <a:r>
              <a:rPr lang="sv-SE" sz="1600" dirty="0" err="1"/>
              <a:t>components</a:t>
            </a:r>
            <a:r>
              <a:rPr lang="sv-SE" sz="1600" dirty="0"/>
              <a:t> </a:t>
            </a:r>
            <a:r>
              <a:rPr lang="sv-SE" sz="1600" dirty="0" err="1"/>
              <a:t>number</a:t>
            </a:r>
            <a:r>
              <a:rPr lang="sv-SE" sz="1600" dirty="0"/>
              <a:t>," 2015 IEEE </a:t>
            </a:r>
            <a:r>
              <a:rPr lang="sv-SE" sz="1600" dirty="0" err="1"/>
              <a:t>Applied</a:t>
            </a:r>
            <a:r>
              <a:rPr lang="sv-SE" sz="1600" dirty="0"/>
              <a:t> Power Electronics Conference and Exposition (APEC), Charlotte, NC, USA, 2015, </a:t>
            </a:r>
            <a:r>
              <a:rPr lang="sv-SE" sz="1600" dirty="0" err="1"/>
              <a:t>pp</a:t>
            </a:r>
            <a:r>
              <a:rPr lang="sv-SE" sz="1600" dirty="0"/>
              <a:t>. 2387-2393, </a:t>
            </a:r>
            <a:r>
              <a:rPr lang="sv-SE" sz="1600" dirty="0" err="1"/>
              <a:t>doi</a:t>
            </a:r>
            <a:r>
              <a:rPr lang="sv-SE" sz="1600" dirty="0"/>
              <a:t>: 10.1109/APEC.2015.7104682. </a:t>
            </a:r>
            <a:r>
              <a:rPr lang="en-US" sz="1600" dirty="0" smtClean="0"/>
              <a:t>Design </a:t>
            </a:r>
            <a:r>
              <a:rPr lang="en-US" sz="1600" dirty="0"/>
              <a:t>of Multilevel Integrated Modular Motor Drive </a:t>
            </a:r>
            <a:r>
              <a:rPr lang="en-US" sz="1600" dirty="0" err="1"/>
              <a:t>withGallium</a:t>
            </a:r>
            <a:r>
              <a:rPr lang="en-US" sz="1600" dirty="0"/>
              <a:t> Nitride Power Devices, </a:t>
            </a:r>
            <a:r>
              <a:rPr lang="en-US" sz="1600" dirty="0" err="1"/>
              <a:t>Jiyao</a:t>
            </a:r>
            <a:r>
              <a:rPr lang="en-US" sz="1600" dirty="0"/>
              <a:t> </a:t>
            </a:r>
            <a:r>
              <a:rPr lang="en-US" sz="1600" dirty="0" smtClean="0"/>
              <a:t>Wang</a:t>
            </a:r>
          </a:p>
          <a:p>
            <a:r>
              <a:rPr lang="sv-SE" sz="1600" dirty="0"/>
              <a:t>H. Zhang, O. Wallmark, M. Leksell, S. Norrga, M. N. </a:t>
            </a:r>
            <a:r>
              <a:rPr lang="sv-SE" sz="1600" dirty="0" err="1"/>
              <a:t>Harnefors</a:t>
            </a:r>
            <a:r>
              <a:rPr lang="sv-SE" sz="1600" dirty="0"/>
              <a:t> and L. </a:t>
            </a:r>
            <a:r>
              <a:rPr lang="sv-SE" sz="1600" dirty="0" err="1"/>
              <a:t>Jin</a:t>
            </a:r>
            <a:r>
              <a:rPr lang="sv-SE" sz="1600" dirty="0"/>
              <a:t>, "</a:t>
            </a:r>
            <a:r>
              <a:rPr lang="sv-SE" sz="1600" dirty="0" err="1"/>
              <a:t>Machine</a:t>
            </a:r>
            <a:r>
              <a:rPr lang="sv-SE" sz="1600" dirty="0"/>
              <a:t> design </a:t>
            </a:r>
            <a:r>
              <a:rPr lang="sv-SE" sz="1600" dirty="0" err="1"/>
              <a:t>considerations</a:t>
            </a:r>
            <a:r>
              <a:rPr lang="sv-SE" sz="1600" dirty="0"/>
              <a:t> for an MHF/SPB-</a:t>
            </a:r>
            <a:r>
              <a:rPr lang="sv-SE" sz="1600" dirty="0" err="1"/>
              <a:t>converter</a:t>
            </a:r>
            <a:r>
              <a:rPr lang="sv-SE" sz="1600" dirty="0"/>
              <a:t> </a:t>
            </a:r>
            <a:r>
              <a:rPr lang="sv-SE" sz="1600" dirty="0" err="1"/>
              <a:t>based</a:t>
            </a:r>
            <a:r>
              <a:rPr lang="sv-SE" sz="1600" dirty="0"/>
              <a:t> </a:t>
            </a:r>
            <a:r>
              <a:rPr lang="sv-SE" sz="1600" dirty="0" err="1"/>
              <a:t>electric</a:t>
            </a:r>
            <a:r>
              <a:rPr lang="sv-SE" sz="1600" dirty="0"/>
              <a:t> drive," IECON 2014 - 40th </a:t>
            </a:r>
            <a:r>
              <a:rPr lang="sv-SE" sz="1600" dirty="0" err="1"/>
              <a:t>Annual</a:t>
            </a:r>
            <a:r>
              <a:rPr lang="sv-SE" sz="1600" dirty="0"/>
              <a:t> Conference </a:t>
            </a:r>
            <a:r>
              <a:rPr lang="sv-SE" sz="1600" dirty="0" err="1"/>
              <a:t>of</a:t>
            </a:r>
            <a:r>
              <a:rPr lang="sv-SE" sz="1600" dirty="0"/>
              <a:t> the IEEE Industrial Electronics </a:t>
            </a:r>
            <a:r>
              <a:rPr lang="sv-SE" sz="1600" dirty="0" err="1"/>
              <a:t>Society</a:t>
            </a:r>
            <a:r>
              <a:rPr lang="sv-SE" sz="1600" dirty="0"/>
              <a:t>, Dallas, TX, USA, 2014, </a:t>
            </a:r>
            <a:r>
              <a:rPr lang="sv-SE" sz="1600" dirty="0" err="1"/>
              <a:t>pp</a:t>
            </a:r>
            <a:r>
              <a:rPr lang="sv-SE" sz="1600" dirty="0"/>
              <a:t>. 3849-3854, </a:t>
            </a:r>
            <a:r>
              <a:rPr lang="sv-SE" sz="1600" dirty="0" err="1"/>
              <a:t>doi</a:t>
            </a:r>
            <a:r>
              <a:rPr lang="sv-SE" sz="1600" dirty="0"/>
              <a:t>: 10.1109/IECON.2014.7049074. </a:t>
            </a:r>
          </a:p>
          <a:p>
            <a:r>
              <a:rPr lang="sv-SE" sz="1600" dirty="0" smtClean="0"/>
              <a:t>L</a:t>
            </a:r>
            <a:r>
              <a:rPr lang="sv-SE" sz="1600" dirty="0"/>
              <a:t>. </a:t>
            </a:r>
            <a:r>
              <a:rPr lang="sv-SE" sz="1600" dirty="0" err="1"/>
              <a:t>Jin</a:t>
            </a:r>
            <a:r>
              <a:rPr lang="sv-SE" sz="1600" dirty="0"/>
              <a:t>, S. Norrga, H. Zhang and O. Wallmark, "</a:t>
            </a:r>
            <a:r>
              <a:rPr lang="sv-SE" sz="1600" dirty="0" err="1"/>
              <a:t>Evaluation</a:t>
            </a:r>
            <a:r>
              <a:rPr lang="sv-SE" sz="1600" dirty="0"/>
              <a:t> </a:t>
            </a:r>
            <a:r>
              <a:rPr lang="sv-SE" sz="1600" dirty="0" err="1"/>
              <a:t>of</a:t>
            </a:r>
            <a:r>
              <a:rPr lang="sv-SE" sz="1600" dirty="0"/>
              <a:t> a </a:t>
            </a:r>
            <a:r>
              <a:rPr lang="sv-SE" sz="1600" dirty="0" err="1"/>
              <a:t>multiphase</a:t>
            </a:r>
            <a:r>
              <a:rPr lang="sv-SE" sz="1600" dirty="0"/>
              <a:t> drive system in EV and HEV </a:t>
            </a:r>
            <a:r>
              <a:rPr lang="sv-SE" sz="1600" dirty="0" err="1"/>
              <a:t>applications</a:t>
            </a:r>
            <a:r>
              <a:rPr lang="sv-SE" sz="1600" dirty="0"/>
              <a:t>," 2015 IEEE International Electric Machines &amp; Drives Conference (IEMDC), Coeur </a:t>
            </a:r>
            <a:r>
              <a:rPr lang="sv-SE" sz="1600" dirty="0" err="1"/>
              <a:t>d'Alene</a:t>
            </a:r>
            <a:r>
              <a:rPr lang="sv-SE" sz="1600" dirty="0"/>
              <a:t>, ID, USA, 2015, </a:t>
            </a:r>
            <a:r>
              <a:rPr lang="sv-SE" sz="1600" dirty="0" err="1"/>
              <a:t>pp</a:t>
            </a:r>
            <a:r>
              <a:rPr lang="sv-SE" sz="1600" dirty="0"/>
              <a:t>. 941-945, </a:t>
            </a:r>
            <a:r>
              <a:rPr lang="sv-SE" sz="1600" dirty="0" err="1"/>
              <a:t>doi</a:t>
            </a:r>
            <a:r>
              <a:rPr lang="sv-SE" sz="1600" dirty="0"/>
              <a:t>: 10.1109/IEMDC.2015.7409174. </a:t>
            </a:r>
          </a:p>
          <a:p>
            <a:r>
              <a:rPr lang="sv-SE" sz="1600" dirty="0"/>
              <a:t>H. Zhang and O. Wallmark, "</a:t>
            </a:r>
            <a:r>
              <a:rPr lang="sv-SE" sz="1600" dirty="0" err="1"/>
              <a:t>Evaluation</a:t>
            </a:r>
            <a:r>
              <a:rPr lang="sv-SE" sz="1600" dirty="0"/>
              <a:t> </a:t>
            </a:r>
            <a:r>
              <a:rPr lang="sv-SE" sz="1600" dirty="0" err="1"/>
              <a:t>of</a:t>
            </a:r>
            <a:r>
              <a:rPr lang="sv-SE" sz="1600" dirty="0"/>
              <a:t> </a:t>
            </a:r>
            <a:r>
              <a:rPr lang="sv-SE" sz="1600" dirty="0" err="1"/>
              <a:t>winding</a:t>
            </a:r>
            <a:r>
              <a:rPr lang="sv-SE" sz="1600" dirty="0"/>
              <a:t> arrangements in </a:t>
            </a:r>
            <a:r>
              <a:rPr lang="sv-SE" sz="1600" dirty="0" err="1"/>
              <a:t>electric</a:t>
            </a:r>
            <a:r>
              <a:rPr lang="sv-SE" sz="1600" dirty="0"/>
              <a:t> </a:t>
            </a:r>
            <a:r>
              <a:rPr lang="sv-SE" sz="1600" dirty="0" err="1"/>
              <a:t>machinery</a:t>
            </a:r>
            <a:r>
              <a:rPr lang="sv-SE" sz="1600" dirty="0"/>
              <a:t> for </a:t>
            </a:r>
            <a:r>
              <a:rPr lang="sv-SE" sz="1600" dirty="0" err="1"/>
              <a:t>modular</a:t>
            </a:r>
            <a:r>
              <a:rPr lang="sv-SE" sz="1600" dirty="0"/>
              <a:t> </a:t>
            </a:r>
            <a:r>
              <a:rPr lang="sv-SE" sz="1600" dirty="0" err="1"/>
              <a:t>electric</a:t>
            </a:r>
            <a:r>
              <a:rPr lang="sv-SE" sz="1600" dirty="0"/>
              <a:t> drives," 2016 IEEE 8th International Power Electronics and Motion Control Conference (IPEMC-ECCE </a:t>
            </a:r>
            <a:r>
              <a:rPr lang="sv-SE" sz="1600" dirty="0" err="1"/>
              <a:t>Asia</a:t>
            </a:r>
            <a:r>
              <a:rPr lang="sv-SE" sz="1600" dirty="0"/>
              <a:t>), Hefei, China, 2016, </a:t>
            </a:r>
            <a:r>
              <a:rPr lang="sv-SE" sz="1600" dirty="0" err="1"/>
              <a:t>pp</a:t>
            </a:r>
            <a:r>
              <a:rPr lang="sv-SE" sz="1600" dirty="0"/>
              <a:t>. 2820-2825, </a:t>
            </a:r>
            <a:r>
              <a:rPr lang="sv-SE" sz="1600" dirty="0" err="1"/>
              <a:t>doi</a:t>
            </a:r>
            <a:r>
              <a:rPr lang="sv-SE" sz="1600" dirty="0"/>
              <a:t>: 10.1109/IPEMC.2016.7512744. </a:t>
            </a:r>
          </a:p>
          <a:p>
            <a:endParaRPr lang="sv-SE" sz="1600" dirty="0"/>
          </a:p>
          <a:p>
            <a:endParaRPr lang="sv-SE" sz="1600" dirty="0"/>
          </a:p>
          <a:p>
            <a:endParaRPr lang="sv-SE" sz="1600" dirty="0"/>
          </a:p>
          <a:p>
            <a:endParaRPr lang="sv-SE" sz="1800" dirty="0"/>
          </a:p>
          <a:p>
            <a:endParaRPr lang="sv-SE" sz="1800" dirty="0"/>
          </a:p>
        </p:txBody>
      </p:sp>
    </p:spTree>
    <p:extLst>
      <p:ext uri="{BB962C8B-B14F-4D97-AF65-F5344CB8AC3E}">
        <p14:creationId xmlns:p14="http://schemas.microsoft.com/office/powerpoint/2010/main" val="77084437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KTH_presentation_template_Figtree" id="{E6011EE6-5294-D344-AE93-F618069F8922}" vid="{45727F30-E711-A740-91D8-A34DFFD32AAE}"/>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KTH_presentation_template_Figtree (2)</Template>
  <TotalTime>8160</TotalTime>
  <Words>1279</Words>
  <Application>Microsoft Office PowerPoint</Application>
  <PresentationFormat>Widescreen</PresentationFormat>
  <Paragraphs>81</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Figtree</vt:lpstr>
      <vt:lpstr>Calibri</vt:lpstr>
      <vt:lpstr>Arial</vt:lpstr>
      <vt:lpstr>Office-tema</vt:lpstr>
      <vt:lpstr>Multi-Objective Optimization of Traction Inverters for Electric Trucks Considering Environmental Impacts</vt:lpstr>
      <vt:lpstr>Introduction &amp; Motivation</vt:lpstr>
      <vt:lpstr>Challenges</vt:lpstr>
      <vt:lpstr>Research Problem &amp; Objectives</vt:lpstr>
      <vt:lpstr>Adopted Methodology</vt:lpstr>
      <vt:lpstr>Application of Traction Inverters</vt:lpstr>
      <vt:lpstr>Topologies– 2 Level or Multilevel VSIs</vt:lpstr>
      <vt:lpstr>Expected Results</vt:lpstr>
      <vt:lpstr>References</vt:lpstr>
      <vt:lpstr>References</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Tove Guldbrand</dc:creator>
  <cp:lastModifiedBy>Enes Ayaz</cp:lastModifiedBy>
  <cp:revision>186</cp:revision>
  <dcterms:created xsi:type="dcterms:W3CDTF">2024-01-10T13:17:29Z</dcterms:created>
  <dcterms:modified xsi:type="dcterms:W3CDTF">2025-04-25T12:52:43Z</dcterms:modified>
</cp:coreProperties>
</file>