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9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7AD-A099-4676-95FE-AF4A5B480C44}" type="datetimeFigureOut">
              <a:rPr lang="sv-SE" smtClean="0"/>
              <a:t>2023-08-16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2DA-2679-4DB4-A6FB-9A12A3993E4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0182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7AD-A099-4676-95FE-AF4A5B480C44}" type="datetimeFigureOut">
              <a:rPr lang="sv-SE" smtClean="0"/>
              <a:t>2023-08-16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2DA-2679-4DB4-A6FB-9A12A3993E4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00837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7AD-A099-4676-95FE-AF4A5B480C44}" type="datetimeFigureOut">
              <a:rPr lang="sv-SE" smtClean="0"/>
              <a:t>2023-08-16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2DA-2679-4DB4-A6FB-9A12A3993E4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16032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7AD-A099-4676-95FE-AF4A5B480C44}" type="datetimeFigureOut">
              <a:rPr lang="sv-SE" smtClean="0"/>
              <a:t>2023-08-16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2DA-2679-4DB4-A6FB-9A12A3993E4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55610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7AD-A099-4676-95FE-AF4A5B480C44}" type="datetimeFigureOut">
              <a:rPr lang="sv-SE" smtClean="0"/>
              <a:t>2023-08-16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2DA-2679-4DB4-A6FB-9A12A3993E4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32944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7AD-A099-4676-95FE-AF4A5B480C44}" type="datetimeFigureOut">
              <a:rPr lang="sv-SE" smtClean="0"/>
              <a:t>2023-08-16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2DA-2679-4DB4-A6FB-9A12A3993E4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79324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7AD-A099-4676-95FE-AF4A5B480C44}" type="datetimeFigureOut">
              <a:rPr lang="sv-SE" smtClean="0"/>
              <a:t>2023-08-16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2DA-2679-4DB4-A6FB-9A12A3993E4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67259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7AD-A099-4676-95FE-AF4A5B480C44}" type="datetimeFigureOut">
              <a:rPr lang="sv-SE" smtClean="0"/>
              <a:t>2023-08-16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2DA-2679-4DB4-A6FB-9A12A3993E4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892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7AD-A099-4676-95FE-AF4A5B480C44}" type="datetimeFigureOut">
              <a:rPr lang="sv-SE" smtClean="0"/>
              <a:t>2023-08-16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2DA-2679-4DB4-A6FB-9A12A3993E4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92986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7AD-A099-4676-95FE-AF4A5B480C44}" type="datetimeFigureOut">
              <a:rPr lang="sv-SE" smtClean="0"/>
              <a:t>2023-08-16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2DA-2679-4DB4-A6FB-9A12A3993E4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83957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7AD-A099-4676-95FE-AF4A5B480C44}" type="datetimeFigureOut">
              <a:rPr lang="sv-SE" smtClean="0"/>
              <a:t>2023-08-16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2DA-2679-4DB4-A6FB-9A12A3993E4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21884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5947AD-A099-4676-95FE-AF4A5B480C44}" type="datetimeFigureOut">
              <a:rPr lang="sv-SE" smtClean="0"/>
              <a:t>2023-08-16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5F2DA-2679-4DB4-A6FB-9A12A3993E4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13086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163754" y="165569"/>
            <a:ext cx="3256006" cy="70476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Modulation Functions</a:t>
            </a:r>
          </a:p>
          <a:p>
            <a:pPr algn="ctr"/>
            <a:r>
              <a:rPr lang="en-US" dirty="0" smtClean="0"/>
              <a:t>(Carrier-based)</a:t>
            </a:r>
            <a:endParaRPr lang="sv-SE" dirty="0"/>
          </a:p>
        </p:txBody>
      </p:sp>
      <p:sp>
        <p:nvSpPr>
          <p:cNvPr id="8" name="TextBox 7"/>
          <p:cNvSpPr txBox="1"/>
          <p:nvPr/>
        </p:nvSpPr>
        <p:spPr>
          <a:xfrm>
            <a:off x="7668736" y="458289"/>
            <a:ext cx="177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VSC/</a:t>
            </a:r>
            <a:r>
              <a:rPr lang="en-US" dirty="0" err="1" smtClean="0"/>
              <a:t>modlab</a:t>
            </a:r>
            <a:endParaRPr lang="sv-SE" dirty="0"/>
          </a:p>
        </p:txBody>
      </p:sp>
      <p:cxnSp>
        <p:nvCxnSpPr>
          <p:cNvPr id="17" name="Straight Connector 16"/>
          <p:cNvCxnSpPr>
            <a:stCxn id="5" idx="2"/>
          </p:cNvCxnSpPr>
          <p:nvPr/>
        </p:nvCxnSpPr>
        <p:spPr>
          <a:xfrm>
            <a:off x="5791757" y="870338"/>
            <a:ext cx="233" cy="3863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3088257" y="1269280"/>
            <a:ext cx="22632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 flipV="1">
            <a:off x="5351493" y="1269280"/>
            <a:ext cx="2768943" cy="92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37" idx="0"/>
          </p:cNvCxnSpPr>
          <p:nvPr/>
        </p:nvCxnSpPr>
        <p:spPr>
          <a:xfrm>
            <a:off x="3088257" y="1269280"/>
            <a:ext cx="0" cy="5555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39" idx="0"/>
          </p:cNvCxnSpPr>
          <p:nvPr/>
        </p:nvCxnSpPr>
        <p:spPr>
          <a:xfrm>
            <a:off x="8120436" y="1278541"/>
            <a:ext cx="0" cy="5463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634378" y="1368213"/>
            <a:ext cx="106937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2L</a:t>
            </a:r>
            <a:endParaRPr lang="sv-SE" dirty="0"/>
          </a:p>
        </p:txBody>
      </p:sp>
      <p:sp>
        <p:nvSpPr>
          <p:cNvPr id="36" name="TextBox 35"/>
          <p:cNvSpPr txBox="1"/>
          <p:nvPr/>
        </p:nvSpPr>
        <p:spPr>
          <a:xfrm>
            <a:off x="8173995" y="1362395"/>
            <a:ext cx="1069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3L-NPC</a:t>
            </a:r>
            <a:endParaRPr lang="sv-SE" dirty="0"/>
          </a:p>
        </p:txBody>
      </p:sp>
      <p:sp>
        <p:nvSpPr>
          <p:cNvPr id="37" name="Rectangle 36"/>
          <p:cNvSpPr/>
          <p:nvPr/>
        </p:nvSpPr>
        <p:spPr>
          <a:xfrm>
            <a:off x="1600813" y="1824842"/>
            <a:ext cx="2974888" cy="36452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mod_2lcarr</a:t>
            </a:r>
            <a:endParaRPr lang="sv-SE" dirty="0"/>
          </a:p>
        </p:txBody>
      </p:sp>
      <p:sp>
        <p:nvSpPr>
          <p:cNvPr id="39" name="Rectangle 38"/>
          <p:cNvSpPr/>
          <p:nvPr/>
        </p:nvSpPr>
        <p:spPr>
          <a:xfrm>
            <a:off x="6632992" y="1824842"/>
            <a:ext cx="2974888" cy="36452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mlspwm</a:t>
            </a:r>
            <a:endParaRPr lang="sv-SE" dirty="0"/>
          </a:p>
        </p:txBody>
      </p:sp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791149"/>
              </p:ext>
            </p:extLst>
          </p:nvPr>
        </p:nvGraphicFramePr>
        <p:xfrm>
          <a:off x="755166" y="2253862"/>
          <a:ext cx="4678142" cy="445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9071">
                  <a:extLst>
                    <a:ext uri="{9D8B030D-6E8A-4147-A177-3AD203B41FA5}">
                      <a16:colId xmlns:a16="http://schemas.microsoft.com/office/drawing/2014/main" val="1976804256"/>
                    </a:ext>
                  </a:extLst>
                </a:gridCol>
                <a:gridCol w="2339071">
                  <a:extLst>
                    <a:ext uri="{9D8B030D-6E8A-4147-A177-3AD203B41FA5}">
                      <a16:colId xmlns:a16="http://schemas.microsoft.com/office/drawing/2014/main" val="1484256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Inputs</a:t>
                      </a:r>
                      <a:endParaRPr lang="sv-SE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Outputs</a:t>
                      </a:r>
                      <a:endParaRPr lang="sv-SE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2950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ma</a:t>
                      </a:r>
                      <a:endParaRPr lang="sv-S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</a:t>
                      </a:r>
                      <a:endParaRPr lang="sv-S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3042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6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pn</a:t>
                      </a:r>
                      <a:endParaRPr lang="sv-SE" sz="16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wt</a:t>
                      </a:r>
                      <a:r>
                        <a:rPr lang="en-US" sz="1600" dirty="0" smtClean="0"/>
                        <a:t> (optional)</a:t>
                      </a:r>
                      <a:endParaRPr lang="sv-S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3670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6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npoints</a:t>
                      </a:r>
                      <a:endParaRPr lang="sv-SE" sz="16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 smtClean="0"/>
                        <a:t>carr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dirty="0" smtClean="0"/>
                        <a:t>(optional)</a:t>
                      </a:r>
                      <a:endParaRPr lang="sv-SE" sz="16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543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6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carrtype</a:t>
                      </a:r>
                      <a:r>
                        <a:rPr lang="sv-SE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sv-SE" sz="16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sv-SE" sz="16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optional</a:t>
                      </a:r>
                      <a:r>
                        <a:rPr lang="sv-SE" sz="16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sv-SE" sz="16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ref (optional)</a:t>
                      </a:r>
                      <a:endParaRPr lang="sv-S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2250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smp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sv-SE" sz="16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sv-SE" sz="16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optional</a:t>
                      </a:r>
                      <a:r>
                        <a:rPr lang="sv-SE" sz="16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sv-S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sv-S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4026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cmode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sv-SE" sz="16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sv-SE" sz="16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optional</a:t>
                      </a:r>
                      <a:r>
                        <a:rPr lang="sv-SE" sz="16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sv-S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sv-S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464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theta0 </a:t>
                      </a:r>
                      <a:r>
                        <a:rPr lang="sv-SE" sz="16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sv-SE" sz="16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optional</a:t>
                      </a:r>
                      <a:r>
                        <a:rPr lang="sv-SE" sz="16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sv-SE" sz="16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sv-S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3329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thetac</a:t>
                      </a:r>
                      <a:r>
                        <a:rPr lang="en-US" sz="1600" dirty="0" smtClean="0"/>
                        <a:t> </a:t>
                      </a:r>
                      <a:r>
                        <a:rPr lang="sv-SE" sz="16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sv-SE" sz="16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optional</a:t>
                      </a:r>
                      <a:r>
                        <a:rPr lang="sv-SE" sz="16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sv-S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sv-S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5154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start </a:t>
                      </a:r>
                      <a:r>
                        <a:rPr lang="sv-SE" sz="16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sv-SE" sz="16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optional</a:t>
                      </a:r>
                      <a:r>
                        <a:rPr lang="sv-SE" sz="16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sv-SE" sz="16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sv-S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5039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end </a:t>
                      </a:r>
                      <a:r>
                        <a:rPr lang="sv-SE" sz="16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sv-SE" sz="16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optional</a:t>
                      </a:r>
                      <a:r>
                        <a:rPr lang="sv-SE" sz="16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sv-SE" sz="16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sv-S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22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ma0 </a:t>
                      </a:r>
                      <a:r>
                        <a:rPr lang="sv-SE" sz="16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sv-SE" sz="16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optional</a:t>
                      </a:r>
                      <a:r>
                        <a:rPr lang="sv-SE" sz="16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sv-SE" sz="16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sv-S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9352604"/>
                  </a:ext>
                </a:extLst>
              </a:tr>
            </a:tbl>
          </a:graphicData>
        </a:graphic>
      </p:graphicFrame>
      <p:graphicFrame>
        <p:nvGraphicFramePr>
          <p:cNvPr id="60" name="Table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449870"/>
              </p:ext>
            </p:extLst>
          </p:nvPr>
        </p:nvGraphicFramePr>
        <p:xfrm>
          <a:off x="5926689" y="2253492"/>
          <a:ext cx="4678142" cy="4079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9071">
                  <a:extLst>
                    <a:ext uri="{9D8B030D-6E8A-4147-A177-3AD203B41FA5}">
                      <a16:colId xmlns:a16="http://schemas.microsoft.com/office/drawing/2014/main" val="1976804256"/>
                    </a:ext>
                  </a:extLst>
                </a:gridCol>
                <a:gridCol w="2339071">
                  <a:extLst>
                    <a:ext uri="{9D8B030D-6E8A-4147-A177-3AD203B41FA5}">
                      <a16:colId xmlns:a16="http://schemas.microsoft.com/office/drawing/2014/main" val="1484256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Inputs</a:t>
                      </a:r>
                      <a:endParaRPr lang="sv-SE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Outputs</a:t>
                      </a:r>
                      <a:endParaRPr lang="sv-SE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2950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ma</a:t>
                      </a:r>
                      <a:endParaRPr lang="sv-S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</a:t>
                      </a:r>
                      <a:endParaRPr lang="sv-S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3042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wt</a:t>
                      </a:r>
                      <a:r>
                        <a:rPr lang="en-US" sz="1600" dirty="0" smtClean="0"/>
                        <a:t> (optional)</a:t>
                      </a:r>
                      <a:endParaRPr lang="sv-S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3670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6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nlev</a:t>
                      </a:r>
                      <a:endParaRPr lang="sv-SE" sz="16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 smtClean="0"/>
                        <a:t>carr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dirty="0" smtClean="0"/>
                        <a:t>(optional)</a:t>
                      </a:r>
                      <a:endParaRPr lang="sv-SE" sz="16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543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theta0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ref (optional)</a:t>
                      </a:r>
                      <a:endParaRPr lang="sv-S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2250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6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npts</a:t>
                      </a:r>
                      <a:endParaRPr lang="sv-SE" sz="16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slev</a:t>
                      </a:r>
                      <a:r>
                        <a:rPr lang="en-US" sz="1600" baseline="0" dirty="0" smtClean="0"/>
                        <a:t> (optional)</a:t>
                      </a:r>
                      <a:endParaRPr lang="sv-S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4026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6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  <a:r>
                        <a:rPr lang="sv-SE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sv-S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sv-S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464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</a:t>
                      </a:r>
                      <a:endParaRPr lang="sv-SE" sz="16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sv-S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3329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thetac</a:t>
                      </a:r>
                      <a:r>
                        <a:rPr lang="en-US" sz="1600" dirty="0" smtClean="0"/>
                        <a:t> </a:t>
                      </a:r>
                      <a:r>
                        <a:rPr lang="sv-SE" sz="16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sv-SE" sz="16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optional</a:t>
                      </a:r>
                      <a:r>
                        <a:rPr lang="sv-SE" sz="16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sv-S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sv-S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5154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6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scale</a:t>
                      </a:r>
                      <a:r>
                        <a:rPr lang="sv-SE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sv-SE" sz="16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sv-SE" sz="16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optional</a:t>
                      </a:r>
                      <a:r>
                        <a:rPr lang="sv-SE" sz="16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sv-SE" sz="16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sv-S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5039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offset </a:t>
                      </a:r>
                      <a:r>
                        <a:rPr lang="sv-SE" sz="16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sv-SE" sz="16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optional</a:t>
                      </a:r>
                      <a:r>
                        <a:rPr lang="sv-SE" sz="16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sv-SE" sz="16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sv-S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22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119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3471"/>
          </a:xfrm>
        </p:spPr>
        <p:txBody>
          <a:bodyPr/>
          <a:lstStyle/>
          <a:p>
            <a:pPr algn="ctr"/>
            <a:r>
              <a:rPr lang="en-US" dirty="0" smtClean="0"/>
              <a:t>mod_2lcarr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9899"/>
            <a:ext cx="10515600" cy="4927064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sv-SE" sz="1900" b="1" dirty="0" err="1"/>
              <a:t>m</a:t>
            </a:r>
            <a:r>
              <a:rPr lang="sv-SE" sz="1900" b="1" dirty="0" err="1" smtClean="0"/>
              <a:t>a</a:t>
            </a:r>
            <a:r>
              <a:rPr lang="sv-SE" sz="1900" dirty="0" smtClean="0"/>
              <a:t> : </a:t>
            </a:r>
            <a:r>
              <a:rPr lang="sv-SE" sz="1900" dirty="0"/>
              <a:t>modulation </a:t>
            </a:r>
            <a:r>
              <a:rPr lang="sv-SE" sz="1900" dirty="0" smtClean="0"/>
              <a:t>index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900" b="1" dirty="0" err="1" smtClean="0"/>
              <a:t>pn</a:t>
            </a:r>
            <a:r>
              <a:rPr lang="en-US" sz="1900" dirty="0" smtClean="0"/>
              <a:t> : pulse number (carrier to fundamental ratio fc/f0)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900" b="1" dirty="0" err="1"/>
              <a:t>n</a:t>
            </a:r>
            <a:r>
              <a:rPr lang="en-US" sz="1900" b="1" dirty="0" err="1" smtClean="0"/>
              <a:t>points</a:t>
            </a:r>
            <a:r>
              <a:rPr lang="en-US" sz="1900" dirty="0" smtClean="0"/>
              <a:t>: number of sampling points during fundamental signal (determine the time steps)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900" b="1" dirty="0" err="1" smtClean="0"/>
              <a:t>carrytype</a:t>
            </a:r>
            <a:r>
              <a:rPr lang="en-US" sz="1900" dirty="0" smtClean="0"/>
              <a:t>: Type of carrier signal (two options)</a:t>
            </a:r>
          </a:p>
          <a:p>
            <a:pPr lvl="4"/>
            <a:r>
              <a:rPr lang="en-US" sz="1900" dirty="0"/>
              <a:t>'</a:t>
            </a:r>
            <a:r>
              <a:rPr lang="en-US" sz="1900" dirty="0" err="1"/>
              <a:t>sawp</a:t>
            </a:r>
            <a:r>
              <a:rPr lang="en-US" sz="1900" dirty="0"/>
              <a:t>' : </a:t>
            </a:r>
            <a:r>
              <a:rPr lang="en-US" sz="1900" dirty="0" err="1"/>
              <a:t>sawtooth</a:t>
            </a:r>
            <a:r>
              <a:rPr lang="en-US" sz="1900" dirty="0"/>
              <a:t> carrier with positive </a:t>
            </a:r>
            <a:r>
              <a:rPr lang="en-US" sz="1900" dirty="0" smtClean="0"/>
              <a:t>slope</a:t>
            </a:r>
          </a:p>
          <a:p>
            <a:pPr lvl="4"/>
            <a:r>
              <a:rPr lang="sv-SE" sz="1900" dirty="0"/>
              <a:t>'</a:t>
            </a:r>
            <a:r>
              <a:rPr lang="sv-SE" sz="1900" dirty="0" err="1"/>
              <a:t>tria</a:t>
            </a:r>
            <a:r>
              <a:rPr lang="sv-SE" sz="1900" dirty="0"/>
              <a:t>' : </a:t>
            </a:r>
            <a:r>
              <a:rPr lang="sv-SE" sz="1900" dirty="0" err="1"/>
              <a:t>triangular</a:t>
            </a:r>
            <a:r>
              <a:rPr lang="sv-SE" sz="1900" dirty="0"/>
              <a:t> </a:t>
            </a:r>
            <a:r>
              <a:rPr lang="sv-SE" sz="1900" dirty="0" err="1"/>
              <a:t>carrier</a:t>
            </a:r>
            <a:r>
              <a:rPr lang="sv-SE" sz="1900" dirty="0"/>
              <a:t> (default</a:t>
            </a:r>
            <a:r>
              <a:rPr lang="sv-SE" sz="1900" dirty="0" smtClean="0"/>
              <a:t>)</a:t>
            </a:r>
            <a:endParaRPr lang="sv-SE" sz="1900" dirty="0"/>
          </a:p>
          <a:p>
            <a:pPr marL="514350" indent="-514350">
              <a:buFont typeface="+mj-lt"/>
              <a:buAutoNum type="arabicPeriod"/>
            </a:pPr>
            <a:r>
              <a:rPr lang="en-US" sz="1900" b="1" dirty="0" err="1"/>
              <a:t>smp</a:t>
            </a:r>
            <a:r>
              <a:rPr lang="en-US" sz="1900" dirty="0"/>
              <a:t>: (optional) reference sampling </a:t>
            </a:r>
            <a:r>
              <a:rPr lang="en-US" sz="1900" dirty="0" smtClean="0"/>
              <a:t>mode (three options)</a:t>
            </a:r>
            <a:endParaRPr lang="en-US" sz="1900" dirty="0"/>
          </a:p>
          <a:p>
            <a:pPr lvl="4"/>
            <a:r>
              <a:rPr lang="sv-SE" sz="1900" dirty="0" smtClean="0"/>
              <a:t>'</a:t>
            </a:r>
            <a:r>
              <a:rPr lang="sv-SE" sz="1900" dirty="0" err="1" smtClean="0"/>
              <a:t>ns</a:t>
            </a:r>
            <a:r>
              <a:rPr lang="sv-SE" sz="1900" dirty="0" smtClean="0"/>
              <a:t>' : </a:t>
            </a:r>
            <a:r>
              <a:rPr lang="sv-SE" sz="1900" dirty="0" err="1" smtClean="0"/>
              <a:t>natural</a:t>
            </a:r>
            <a:r>
              <a:rPr lang="sv-SE" sz="1900" dirty="0" smtClean="0"/>
              <a:t> sampling (default)</a:t>
            </a:r>
          </a:p>
          <a:p>
            <a:pPr lvl="4"/>
            <a:r>
              <a:rPr lang="sv-SE" sz="1900" dirty="0" smtClean="0"/>
              <a:t>'</a:t>
            </a:r>
            <a:r>
              <a:rPr lang="sv-SE" sz="1900" dirty="0" err="1" smtClean="0"/>
              <a:t>rs</a:t>
            </a:r>
            <a:r>
              <a:rPr lang="sv-SE" sz="1900" dirty="0" smtClean="0"/>
              <a:t>' : </a:t>
            </a:r>
            <a:r>
              <a:rPr lang="sv-SE" sz="1900" dirty="0" err="1" smtClean="0"/>
              <a:t>regular</a:t>
            </a:r>
            <a:r>
              <a:rPr lang="sv-SE" sz="1900" dirty="0" smtClean="0"/>
              <a:t> </a:t>
            </a:r>
            <a:r>
              <a:rPr lang="sv-SE" sz="1900" dirty="0" err="1" smtClean="0"/>
              <a:t>symmetric</a:t>
            </a:r>
            <a:r>
              <a:rPr lang="sv-SE" sz="1900" dirty="0" smtClean="0"/>
              <a:t> sampling</a:t>
            </a:r>
          </a:p>
          <a:p>
            <a:pPr lvl="4"/>
            <a:r>
              <a:rPr lang="sv-SE" sz="1900" dirty="0" smtClean="0"/>
              <a:t>'</a:t>
            </a:r>
            <a:r>
              <a:rPr lang="sv-SE" sz="1900" dirty="0" err="1" smtClean="0"/>
              <a:t>ra</a:t>
            </a:r>
            <a:r>
              <a:rPr lang="sv-SE" sz="1900" dirty="0" smtClean="0"/>
              <a:t>' : </a:t>
            </a:r>
            <a:r>
              <a:rPr lang="sv-SE" sz="1900" dirty="0" err="1" smtClean="0"/>
              <a:t>regular</a:t>
            </a:r>
            <a:r>
              <a:rPr lang="sv-SE" sz="1900" dirty="0" smtClean="0"/>
              <a:t> </a:t>
            </a:r>
            <a:r>
              <a:rPr lang="sv-SE" sz="1900" dirty="0" err="1" smtClean="0"/>
              <a:t>asymmetric</a:t>
            </a:r>
            <a:r>
              <a:rPr lang="sv-SE" sz="1900" dirty="0" smtClean="0"/>
              <a:t> sampling</a:t>
            </a:r>
          </a:p>
          <a:p>
            <a:pPr marL="514350" indent="-514350">
              <a:buFont typeface="+mj-lt"/>
              <a:buAutoNum type="arabicPeriod"/>
            </a:pPr>
            <a:r>
              <a:rPr lang="sv-SE" sz="1900" dirty="0" smtClean="0"/>
              <a:t> </a:t>
            </a:r>
            <a:r>
              <a:rPr lang="sv-SE" sz="1900" b="1" dirty="0" err="1"/>
              <a:t>cmode</a:t>
            </a:r>
            <a:r>
              <a:rPr lang="sv-SE" sz="1900" dirty="0"/>
              <a:t>: (</a:t>
            </a:r>
            <a:r>
              <a:rPr lang="sv-SE" sz="1900" dirty="0" err="1"/>
              <a:t>optional</a:t>
            </a:r>
            <a:r>
              <a:rPr lang="sv-SE" sz="1900" dirty="0"/>
              <a:t>) </a:t>
            </a:r>
            <a:r>
              <a:rPr lang="sv-SE" sz="1900" dirty="0" err="1"/>
              <a:t>reference</a:t>
            </a:r>
            <a:r>
              <a:rPr lang="sv-SE" sz="1900" dirty="0"/>
              <a:t> common-mode </a:t>
            </a:r>
            <a:r>
              <a:rPr lang="sv-SE" sz="1900" dirty="0" err="1"/>
              <a:t>component</a:t>
            </a:r>
            <a:r>
              <a:rPr lang="sv-SE" sz="1900" dirty="0"/>
              <a:t> for </a:t>
            </a:r>
            <a:r>
              <a:rPr lang="sv-SE" sz="1900" dirty="0" err="1"/>
              <a:t>three-phase</a:t>
            </a:r>
            <a:r>
              <a:rPr lang="sv-SE" sz="1900" dirty="0"/>
              <a:t> systems</a:t>
            </a:r>
          </a:p>
          <a:p>
            <a:pPr lvl="4"/>
            <a:r>
              <a:rPr lang="sv-SE" sz="1900" dirty="0" smtClean="0"/>
              <a:t> </a:t>
            </a:r>
            <a:r>
              <a:rPr lang="sv-SE" sz="1900" dirty="0"/>
              <a:t>'</a:t>
            </a:r>
            <a:r>
              <a:rPr lang="sv-SE" sz="1900" dirty="0" err="1"/>
              <a:t>none</a:t>
            </a:r>
            <a:r>
              <a:rPr lang="sv-SE" sz="1900" dirty="0"/>
              <a:t>' : No common mode (default)</a:t>
            </a:r>
          </a:p>
          <a:p>
            <a:pPr lvl="4"/>
            <a:r>
              <a:rPr lang="sv-SE" sz="1900" dirty="0" smtClean="0"/>
              <a:t> </a:t>
            </a:r>
            <a:r>
              <a:rPr lang="sv-SE" sz="1900" dirty="0"/>
              <a:t>'tri4' : </a:t>
            </a:r>
            <a:r>
              <a:rPr lang="sv-SE" sz="1900" dirty="0" err="1"/>
              <a:t>One</a:t>
            </a:r>
            <a:r>
              <a:rPr lang="sv-SE" sz="1900" dirty="0"/>
              <a:t> </a:t>
            </a:r>
            <a:r>
              <a:rPr lang="sv-SE" sz="1900" dirty="0" err="1"/>
              <a:t>fourth</a:t>
            </a:r>
            <a:r>
              <a:rPr lang="sv-SE" sz="1900" dirty="0"/>
              <a:t> </a:t>
            </a:r>
            <a:r>
              <a:rPr lang="sv-SE" sz="1900" dirty="0" err="1"/>
              <a:t>third</a:t>
            </a:r>
            <a:r>
              <a:rPr lang="sv-SE" sz="1900" dirty="0"/>
              <a:t> </a:t>
            </a:r>
            <a:r>
              <a:rPr lang="sv-SE" sz="1900" dirty="0" err="1"/>
              <a:t>harmonic</a:t>
            </a:r>
            <a:endParaRPr lang="sv-SE" sz="1900" dirty="0"/>
          </a:p>
          <a:p>
            <a:pPr lvl="4"/>
            <a:r>
              <a:rPr lang="sv-SE" sz="1900" dirty="0"/>
              <a:t> </a:t>
            </a:r>
            <a:r>
              <a:rPr lang="sv-SE" sz="1900" dirty="0" smtClean="0"/>
              <a:t>'tri6</a:t>
            </a:r>
            <a:r>
              <a:rPr lang="sv-SE" sz="1900" dirty="0"/>
              <a:t>' : </a:t>
            </a:r>
            <a:r>
              <a:rPr lang="sv-SE" sz="1900" dirty="0" err="1"/>
              <a:t>One</a:t>
            </a:r>
            <a:r>
              <a:rPr lang="sv-SE" sz="1900" dirty="0"/>
              <a:t> </a:t>
            </a:r>
            <a:r>
              <a:rPr lang="sv-SE" sz="1900" dirty="0" err="1"/>
              <a:t>sixth</a:t>
            </a:r>
            <a:r>
              <a:rPr lang="sv-SE" sz="1900" dirty="0"/>
              <a:t> </a:t>
            </a:r>
            <a:r>
              <a:rPr lang="sv-SE" sz="1900" dirty="0" err="1"/>
              <a:t>third</a:t>
            </a:r>
            <a:r>
              <a:rPr lang="sv-SE" sz="1900" dirty="0"/>
              <a:t> </a:t>
            </a:r>
            <a:r>
              <a:rPr lang="sv-SE" sz="1900" dirty="0" err="1"/>
              <a:t>harmonic</a:t>
            </a:r>
            <a:endParaRPr lang="sv-SE" sz="1900" dirty="0"/>
          </a:p>
          <a:p>
            <a:pPr marL="514350" indent="-514350">
              <a:buFont typeface="+mj-lt"/>
              <a:buAutoNum type="arabicPeriod"/>
            </a:pPr>
            <a:r>
              <a:rPr lang="sv-SE" sz="1900" b="1" dirty="0" smtClean="0"/>
              <a:t>theta0</a:t>
            </a:r>
            <a:r>
              <a:rPr lang="sv-SE" sz="1900" dirty="0"/>
              <a:t>: (</a:t>
            </a:r>
            <a:r>
              <a:rPr lang="sv-SE" sz="1900" dirty="0" err="1"/>
              <a:t>optional</a:t>
            </a:r>
            <a:r>
              <a:rPr lang="sv-SE" sz="1900" dirty="0"/>
              <a:t>) </a:t>
            </a:r>
            <a:r>
              <a:rPr lang="sv-SE" sz="1900" dirty="0" err="1"/>
              <a:t>reference</a:t>
            </a:r>
            <a:r>
              <a:rPr lang="sv-SE" sz="1900" dirty="0"/>
              <a:t> </a:t>
            </a:r>
            <a:r>
              <a:rPr lang="sv-SE" sz="1900" dirty="0" err="1"/>
              <a:t>phase</a:t>
            </a:r>
            <a:r>
              <a:rPr lang="sv-SE" sz="1900" dirty="0"/>
              <a:t> offset</a:t>
            </a:r>
          </a:p>
          <a:p>
            <a:pPr marL="514350" indent="-514350">
              <a:buFont typeface="+mj-lt"/>
              <a:buAutoNum type="arabicPeriod"/>
            </a:pPr>
            <a:r>
              <a:rPr lang="sv-SE" sz="1900" b="1" dirty="0" err="1" smtClean="0"/>
              <a:t>thetac</a:t>
            </a:r>
            <a:r>
              <a:rPr lang="sv-SE" sz="1900" dirty="0"/>
              <a:t>: (</a:t>
            </a:r>
            <a:r>
              <a:rPr lang="sv-SE" sz="1900" dirty="0" err="1"/>
              <a:t>optional</a:t>
            </a:r>
            <a:r>
              <a:rPr lang="sv-SE" sz="1900" dirty="0"/>
              <a:t>) </a:t>
            </a:r>
            <a:r>
              <a:rPr lang="sv-SE" sz="1900" dirty="0" err="1"/>
              <a:t>carrier</a:t>
            </a:r>
            <a:r>
              <a:rPr lang="sv-SE" sz="1900" dirty="0"/>
              <a:t> </a:t>
            </a:r>
            <a:r>
              <a:rPr lang="sv-SE" sz="1900" dirty="0" err="1"/>
              <a:t>phase</a:t>
            </a:r>
            <a:r>
              <a:rPr lang="sv-SE" sz="1900" dirty="0"/>
              <a:t> offset</a:t>
            </a:r>
          </a:p>
          <a:p>
            <a:pPr marL="514350" indent="-514350">
              <a:buFont typeface="+mj-lt"/>
              <a:buAutoNum type="arabicPeriod"/>
            </a:pPr>
            <a:r>
              <a:rPr lang="sv-SE" sz="1900" b="1" dirty="0" smtClean="0"/>
              <a:t>start</a:t>
            </a:r>
            <a:r>
              <a:rPr lang="sv-SE" sz="1900" dirty="0"/>
              <a:t>: (</a:t>
            </a:r>
            <a:r>
              <a:rPr lang="sv-SE" sz="1900" dirty="0" err="1"/>
              <a:t>optional</a:t>
            </a:r>
            <a:r>
              <a:rPr lang="sv-SE" sz="1900" dirty="0"/>
              <a:t>) </a:t>
            </a:r>
            <a:r>
              <a:rPr lang="sv-SE" sz="1900" dirty="0" err="1"/>
              <a:t>reference</a:t>
            </a:r>
            <a:r>
              <a:rPr lang="sv-SE" sz="1900" dirty="0"/>
              <a:t> </a:t>
            </a:r>
            <a:r>
              <a:rPr lang="sv-SE" sz="1900" dirty="0" err="1"/>
              <a:t>angle</a:t>
            </a:r>
            <a:r>
              <a:rPr lang="sv-SE" sz="1900" dirty="0"/>
              <a:t> to start </a:t>
            </a:r>
            <a:r>
              <a:rPr lang="sv-SE" sz="1900" dirty="0" err="1"/>
              <a:t>with</a:t>
            </a:r>
            <a:r>
              <a:rPr lang="sv-SE" sz="1900" dirty="0"/>
              <a:t> (default=0)</a:t>
            </a:r>
          </a:p>
          <a:p>
            <a:pPr marL="514350" indent="-514350">
              <a:buFont typeface="+mj-lt"/>
              <a:buAutoNum type="arabicPeriod"/>
            </a:pPr>
            <a:r>
              <a:rPr lang="sv-SE" sz="1900" b="1" dirty="0" smtClean="0"/>
              <a:t>end</a:t>
            </a:r>
            <a:r>
              <a:rPr lang="sv-SE" sz="1900" dirty="0"/>
              <a:t>: (</a:t>
            </a:r>
            <a:r>
              <a:rPr lang="sv-SE" sz="1900" dirty="0" err="1"/>
              <a:t>optional</a:t>
            </a:r>
            <a:r>
              <a:rPr lang="sv-SE" sz="1900" dirty="0"/>
              <a:t>) </a:t>
            </a:r>
            <a:r>
              <a:rPr lang="sv-SE" sz="1900" dirty="0" err="1"/>
              <a:t>reference</a:t>
            </a:r>
            <a:r>
              <a:rPr lang="sv-SE" sz="1900" dirty="0"/>
              <a:t> </a:t>
            </a:r>
            <a:r>
              <a:rPr lang="sv-SE" sz="1900" dirty="0" err="1"/>
              <a:t>angle</a:t>
            </a:r>
            <a:r>
              <a:rPr lang="sv-SE" sz="1900" dirty="0"/>
              <a:t> to end </a:t>
            </a:r>
            <a:r>
              <a:rPr lang="sv-SE" sz="1900" dirty="0" err="1"/>
              <a:t>with</a:t>
            </a:r>
            <a:r>
              <a:rPr lang="sv-SE" sz="1900" dirty="0"/>
              <a:t> (default=2pi)</a:t>
            </a:r>
          </a:p>
          <a:p>
            <a:pPr marL="514350" indent="-514350">
              <a:buFont typeface="+mj-lt"/>
              <a:buAutoNum type="arabicPeriod"/>
            </a:pPr>
            <a:r>
              <a:rPr lang="sv-SE" sz="1900" b="1" dirty="0" smtClean="0"/>
              <a:t>ma0</a:t>
            </a:r>
            <a:r>
              <a:rPr lang="sv-SE" sz="1900" dirty="0"/>
              <a:t>: (</a:t>
            </a:r>
            <a:r>
              <a:rPr lang="sv-SE" sz="1900" dirty="0" err="1"/>
              <a:t>optional</a:t>
            </a:r>
            <a:r>
              <a:rPr lang="sv-SE" sz="1900" dirty="0"/>
              <a:t>) DC </a:t>
            </a:r>
            <a:r>
              <a:rPr lang="sv-SE" sz="1900" dirty="0" err="1"/>
              <a:t>reference</a:t>
            </a:r>
            <a:r>
              <a:rPr lang="sv-SE" sz="1900" dirty="0"/>
              <a:t> (default =0)</a:t>
            </a:r>
          </a:p>
          <a:p>
            <a:endParaRPr lang="en-US" sz="3000" dirty="0"/>
          </a:p>
          <a:p>
            <a:endParaRPr lang="sv-SE" sz="3000" dirty="0" smtClean="0"/>
          </a:p>
          <a:p>
            <a:pPr lvl="4"/>
            <a:endParaRPr lang="en-US" dirty="0"/>
          </a:p>
          <a:p>
            <a:pPr marL="1828800" lvl="4" indent="0">
              <a:buNone/>
            </a:pPr>
            <a:endParaRPr lang="sv-SE" dirty="0" smtClean="0"/>
          </a:p>
          <a:p>
            <a:endParaRPr lang="en-US" dirty="0"/>
          </a:p>
          <a:p>
            <a:pPr marL="0" indent="0">
              <a:buNone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658985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3471"/>
          </a:xfrm>
        </p:spPr>
        <p:txBody>
          <a:bodyPr/>
          <a:lstStyle/>
          <a:p>
            <a:pPr algn="ctr"/>
            <a:r>
              <a:rPr lang="en-US" dirty="0" smtClean="0"/>
              <a:t>mod_2lcarr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9899"/>
            <a:ext cx="10515600" cy="1412982"/>
          </a:xfrm>
        </p:spPr>
        <p:txBody>
          <a:bodyPr>
            <a:normAutofit/>
          </a:bodyPr>
          <a:lstStyle/>
          <a:p>
            <a:pPr marL="514350" indent="-514350" fontAlgn="t">
              <a:buFont typeface="+mj-lt"/>
              <a:buAutoNum type="arabicPeriod"/>
            </a:pPr>
            <a:r>
              <a:rPr lang="en-US" sz="1500" b="1" dirty="0"/>
              <a:t>s</a:t>
            </a:r>
            <a:r>
              <a:rPr lang="en-US" sz="1500" dirty="0" smtClean="0"/>
              <a:t>: </a:t>
            </a:r>
            <a:r>
              <a:rPr lang="en-US" sz="1500" dirty="0" err="1"/>
              <a:t>P</a:t>
            </a:r>
            <a:r>
              <a:rPr lang="en-US" sz="1500" dirty="0" err="1" smtClean="0"/>
              <a:t>wm</a:t>
            </a:r>
            <a:r>
              <a:rPr lang="en-US" sz="1500" dirty="0" smtClean="0"/>
              <a:t> </a:t>
            </a:r>
            <a:r>
              <a:rPr lang="en-US" sz="1500" dirty="0"/>
              <a:t>pattern during fundamental </a:t>
            </a:r>
            <a:r>
              <a:rPr lang="en-US" sz="1500" dirty="0" smtClean="0"/>
              <a:t>cycle</a:t>
            </a:r>
            <a:endParaRPr lang="sv-SE" sz="1500" dirty="0"/>
          </a:p>
          <a:p>
            <a:pPr marL="514350" indent="-514350" fontAlgn="t">
              <a:buFont typeface="+mj-lt"/>
              <a:buAutoNum type="arabicPeriod"/>
            </a:pPr>
            <a:r>
              <a:rPr lang="en-US" sz="1500" b="1" dirty="0" err="1"/>
              <a:t>w</a:t>
            </a:r>
            <a:r>
              <a:rPr lang="en-US" sz="1500" b="1" dirty="0" err="1" smtClean="0"/>
              <a:t>t</a:t>
            </a:r>
            <a:r>
              <a:rPr lang="en-US" sz="1500" dirty="0" smtClean="0"/>
              <a:t>: </a:t>
            </a:r>
            <a:r>
              <a:rPr lang="en-US" sz="1500" dirty="0"/>
              <a:t>(optional</a:t>
            </a:r>
            <a:r>
              <a:rPr lang="en-US" sz="1500" dirty="0" smtClean="0"/>
              <a:t>) </a:t>
            </a:r>
            <a:r>
              <a:rPr lang="en-US" sz="1500" dirty="0"/>
              <a:t>phase angle vector corresponding to </a:t>
            </a:r>
            <a:r>
              <a:rPr lang="en-US" sz="1500" dirty="0" smtClean="0"/>
              <a:t>s</a:t>
            </a:r>
            <a:endParaRPr lang="sv-SE" sz="1500" dirty="0"/>
          </a:p>
          <a:p>
            <a:pPr marL="514350" indent="-514350">
              <a:buFont typeface="+mj-lt"/>
              <a:buAutoNum type="arabicPeriod"/>
            </a:pPr>
            <a:r>
              <a:rPr lang="en-US" sz="1500" b="1" dirty="0" err="1"/>
              <a:t>c</a:t>
            </a:r>
            <a:r>
              <a:rPr lang="en-US" sz="1500" b="1" dirty="0" err="1" smtClean="0"/>
              <a:t>arr</a:t>
            </a:r>
            <a:r>
              <a:rPr lang="en-US" sz="1500" dirty="0" smtClean="0"/>
              <a:t>: </a:t>
            </a:r>
            <a:r>
              <a:rPr lang="en-US" sz="1500" dirty="0"/>
              <a:t>(optional</a:t>
            </a:r>
            <a:r>
              <a:rPr lang="en-US" sz="1500" dirty="0" smtClean="0"/>
              <a:t>) </a:t>
            </a:r>
            <a:r>
              <a:rPr lang="sv-SE" sz="1500" dirty="0" err="1" smtClean="0"/>
              <a:t>carrier</a:t>
            </a:r>
            <a:r>
              <a:rPr lang="sv-SE" sz="1500" dirty="0" smtClean="0"/>
              <a:t> signal </a:t>
            </a:r>
            <a:r>
              <a:rPr lang="sv-SE" sz="1500" dirty="0" err="1" smtClean="0"/>
              <a:t>vector</a:t>
            </a:r>
            <a:r>
              <a:rPr lang="sv-SE" sz="1500" dirty="0" smtClean="0"/>
              <a:t> </a:t>
            </a:r>
            <a:endParaRPr lang="sv-SE" sz="1500" dirty="0"/>
          </a:p>
          <a:p>
            <a:pPr marL="514350" indent="-514350" fontAlgn="t">
              <a:buFont typeface="+mj-lt"/>
              <a:buAutoNum type="arabicPeriod"/>
            </a:pPr>
            <a:r>
              <a:rPr lang="en-US" sz="1500" b="1" dirty="0"/>
              <a:t>r</a:t>
            </a:r>
            <a:r>
              <a:rPr lang="en-US" sz="1500" b="1" dirty="0" smtClean="0"/>
              <a:t>ef</a:t>
            </a:r>
            <a:r>
              <a:rPr lang="en-US" sz="1500" dirty="0" smtClean="0"/>
              <a:t>: </a:t>
            </a:r>
            <a:r>
              <a:rPr lang="en-US" sz="1500" dirty="0"/>
              <a:t>(optional</a:t>
            </a:r>
            <a:r>
              <a:rPr lang="en-US" sz="1500" dirty="0" smtClean="0"/>
              <a:t>) reference signal vector</a:t>
            </a:r>
          </a:p>
          <a:p>
            <a:pPr marL="0" indent="0" fontAlgn="t">
              <a:buNone/>
            </a:pPr>
            <a:endParaRPr lang="sv-SE" dirty="0"/>
          </a:p>
          <a:p>
            <a:endParaRPr lang="en-US" sz="3000" dirty="0"/>
          </a:p>
          <a:p>
            <a:endParaRPr lang="sv-SE" sz="3000" dirty="0" smtClean="0"/>
          </a:p>
          <a:p>
            <a:pPr lvl="4"/>
            <a:endParaRPr lang="en-US" dirty="0"/>
          </a:p>
          <a:p>
            <a:pPr marL="1828800" lvl="4" indent="0">
              <a:buNone/>
            </a:pPr>
            <a:endParaRPr lang="sv-SE" dirty="0" smtClean="0"/>
          </a:p>
          <a:p>
            <a:endParaRPr lang="en-US" dirty="0"/>
          </a:p>
          <a:p>
            <a:pPr marL="0" indent="0">
              <a:buNone/>
            </a:pPr>
            <a:endParaRPr lang="sv-S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741" y="2875967"/>
            <a:ext cx="4232189" cy="317414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172" y="2875967"/>
            <a:ext cx="4100384" cy="307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319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3471"/>
          </a:xfrm>
        </p:spPr>
        <p:txBody>
          <a:bodyPr/>
          <a:lstStyle/>
          <a:p>
            <a:pPr algn="ctr"/>
            <a:r>
              <a:rPr lang="en-US" dirty="0" err="1" smtClean="0"/>
              <a:t>mlspwm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9899"/>
            <a:ext cx="10515600" cy="4927064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sv-SE" sz="1900" b="1" dirty="0" err="1"/>
              <a:t>m</a:t>
            </a:r>
            <a:r>
              <a:rPr lang="sv-SE" sz="1900" b="1" dirty="0" err="1" smtClean="0"/>
              <a:t>a</a:t>
            </a:r>
            <a:r>
              <a:rPr lang="sv-SE" sz="1900" dirty="0" smtClean="0"/>
              <a:t> : </a:t>
            </a:r>
            <a:r>
              <a:rPr lang="sv-SE" sz="1900" dirty="0"/>
              <a:t>modulation </a:t>
            </a:r>
            <a:r>
              <a:rPr lang="sv-SE" sz="1900" dirty="0" smtClean="0"/>
              <a:t>index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900" b="1" dirty="0" smtClean="0"/>
              <a:t>p</a:t>
            </a:r>
            <a:r>
              <a:rPr lang="en-US" sz="1900" dirty="0" smtClean="0"/>
              <a:t> : pulse number (carrier to fundamental ratio fc/f0)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900" b="1" dirty="0" err="1" smtClean="0"/>
              <a:t>nlev</a:t>
            </a:r>
            <a:r>
              <a:rPr lang="en-US" sz="1900" dirty="0" smtClean="0"/>
              <a:t>: </a:t>
            </a:r>
            <a:r>
              <a:rPr lang="sv-SE" sz="1900" dirty="0" err="1"/>
              <a:t>number</a:t>
            </a:r>
            <a:r>
              <a:rPr lang="sv-SE" sz="1900" dirty="0"/>
              <a:t> </a:t>
            </a:r>
            <a:r>
              <a:rPr lang="sv-SE" sz="1900" dirty="0" err="1"/>
              <a:t>of</a:t>
            </a:r>
            <a:r>
              <a:rPr lang="sv-SE" sz="1900" dirty="0"/>
              <a:t> </a:t>
            </a:r>
            <a:r>
              <a:rPr lang="sv-SE" sz="1900" dirty="0" err="1" smtClean="0"/>
              <a:t>levels</a:t>
            </a:r>
            <a:r>
              <a:rPr lang="en-US" sz="1900" dirty="0" smtClean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sv-SE" sz="1900" b="1" dirty="0" smtClean="0"/>
              <a:t>theta0</a:t>
            </a:r>
            <a:r>
              <a:rPr lang="sv-SE" sz="1900" dirty="0" smtClean="0"/>
              <a:t>: </a:t>
            </a:r>
            <a:r>
              <a:rPr lang="sv-SE" sz="1900" dirty="0" err="1" smtClean="0"/>
              <a:t>reference</a:t>
            </a:r>
            <a:r>
              <a:rPr lang="sv-SE" sz="1900" dirty="0" smtClean="0"/>
              <a:t> </a:t>
            </a:r>
            <a:r>
              <a:rPr lang="sv-SE" sz="1900" dirty="0" err="1" smtClean="0"/>
              <a:t>phase</a:t>
            </a:r>
            <a:r>
              <a:rPr lang="sv-SE" sz="1900" dirty="0" smtClean="0"/>
              <a:t> offset</a:t>
            </a:r>
            <a:endParaRPr lang="en-US" sz="19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1900" b="1" dirty="0" err="1" smtClean="0"/>
              <a:t>npts</a:t>
            </a:r>
            <a:r>
              <a:rPr lang="en-US" sz="1900" dirty="0" smtClean="0"/>
              <a:t>: number of sampling points during fundamental signal (determine the time steps)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900" b="1" dirty="0" smtClean="0"/>
              <a:t>type</a:t>
            </a:r>
            <a:r>
              <a:rPr lang="en-US" sz="1900" dirty="0" smtClean="0"/>
              <a:t>: Type of modulation</a:t>
            </a:r>
          </a:p>
          <a:p>
            <a:pPr lvl="4"/>
            <a:r>
              <a:rPr lang="en-US" sz="1900" dirty="0" smtClean="0"/>
              <a:t> </a:t>
            </a:r>
            <a:r>
              <a:rPr lang="en-US" sz="1900" dirty="0"/>
              <a:t>'pcs' -&gt; Phase shifted carriers</a:t>
            </a:r>
          </a:p>
          <a:p>
            <a:pPr lvl="4"/>
            <a:r>
              <a:rPr lang="en-US" sz="1900" dirty="0"/>
              <a:t> </a:t>
            </a:r>
            <a:r>
              <a:rPr lang="en-US" sz="1900" dirty="0" smtClean="0"/>
              <a:t>'pc2</a:t>
            </a:r>
            <a:r>
              <a:rPr lang="en-US" sz="1900" dirty="0"/>
              <a:t>' -&gt; M2LC phase shifted carriers</a:t>
            </a:r>
          </a:p>
          <a:p>
            <a:pPr lvl="4"/>
            <a:r>
              <a:rPr lang="en-US" sz="1900" dirty="0"/>
              <a:t> </a:t>
            </a:r>
            <a:r>
              <a:rPr lang="en-US" sz="1900" dirty="0" smtClean="0"/>
              <a:t>'sc1</a:t>
            </a:r>
            <a:r>
              <a:rPr lang="en-US" sz="1900" dirty="0"/>
              <a:t>' -&gt; Stacked carriers with equal phase 'PD'</a:t>
            </a:r>
          </a:p>
          <a:p>
            <a:pPr lvl="4"/>
            <a:r>
              <a:rPr lang="en-US" sz="1900" dirty="0"/>
              <a:t> </a:t>
            </a:r>
            <a:r>
              <a:rPr lang="en-US" sz="1900" dirty="0" smtClean="0"/>
              <a:t>'sc2</a:t>
            </a:r>
            <a:r>
              <a:rPr lang="en-US" sz="1900" dirty="0"/>
              <a:t>' -&gt; Stacked carriers with alternative phase opposition 'APOD'</a:t>
            </a:r>
          </a:p>
          <a:p>
            <a:pPr lvl="4"/>
            <a:r>
              <a:rPr lang="en-US" sz="1900" dirty="0"/>
              <a:t> </a:t>
            </a:r>
            <a:r>
              <a:rPr lang="en-US" sz="1900" dirty="0" smtClean="0"/>
              <a:t>'sc3</a:t>
            </a:r>
            <a:r>
              <a:rPr lang="en-US" sz="1900" dirty="0"/>
              <a:t>' -&gt; Stacked carriers with phase opposition 'POD'</a:t>
            </a:r>
          </a:p>
          <a:p>
            <a:pPr marL="514350" indent="-514350">
              <a:buFont typeface="+mj-lt"/>
              <a:buAutoNum type="arabicPeriod"/>
            </a:pPr>
            <a:r>
              <a:rPr lang="sv-SE" sz="1900" b="1" dirty="0" err="1" smtClean="0"/>
              <a:t>opt</a:t>
            </a:r>
            <a:r>
              <a:rPr lang="sv-SE" sz="1900" dirty="0" smtClean="0"/>
              <a:t>: </a:t>
            </a:r>
            <a:r>
              <a:rPr lang="sv-SE" sz="1900" dirty="0"/>
              <a:t>(</a:t>
            </a:r>
            <a:r>
              <a:rPr lang="sv-SE" sz="1900" dirty="0" err="1"/>
              <a:t>optional</a:t>
            </a:r>
            <a:r>
              <a:rPr lang="sv-SE" sz="1900" dirty="0"/>
              <a:t>) </a:t>
            </a:r>
            <a:r>
              <a:rPr lang="sv-SE" sz="1900" dirty="0" err="1"/>
              <a:t>reference</a:t>
            </a:r>
            <a:r>
              <a:rPr lang="sv-SE" sz="1900" dirty="0"/>
              <a:t> common-mode </a:t>
            </a:r>
            <a:r>
              <a:rPr lang="sv-SE" sz="1900" dirty="0" err="1"/>
              <a:t>component</a:t>
            </a:r>
            <a:r>
              <a:rPr lang="sv-SE" sz="1900" dirty="0"/>
              <a:t> for </a:t>
            </a:r>
            <a:r>
              <a:rPr lang="sv-SE" sz="1900" dirty="0" err="1"/>
              <a:t>three-phase</a:t>
            </a:r>
            <a:r>
              <a:rPr lang="sv-SE" sz="1900" dirty="0"/>
              <a:t> systems</a:t>
            </a:r>
          </a:p>
          <a:p>
            <a:pPr lvl="4"/>
            <a:r>
              <a:rPr lang="sv-SE" sz="1900" dirty="0" smtClean="0"/>
              <a:t> </a:t>
            </a:r>
            <a:r>
              <a:rPr lang="sv-SE" sz="1900" dirty="0"/>
              <a:t>'</a:t>
            </a:r>
            <a:r>
              <a:rPr lang="sv-SE" sz="1900" dirty="0" err="1"/>
              <a:t>none</a:t>
            </a:r>
            <a:r>
              <a:rPr lang="sv-SE" sz="1900" dirty="0"/>
              <a:t>' : No common mode (default)</a:t>
            </a:r>
          </a:p>
          <a:p>
            <a:pPr lvl="4"/>
            <a:r>
              <a:rPr lang="sv-SE" sz="1900" dirty="0" smtClean="0"/>
              <a:t> ’3rd1' </a:t>
            </a:r>
            <a:r>
              <a:rPr lang="sv-SE" sz="1900" dirty="0"/>
              <a:t>: </a:t>
            </a:r>
            <a:r>
              <a:rPr lang="sv-SE" sz="1900" dirty="0" err="1"/>
              <a:t>One</a:t>
            </a:r>
            <a:r>
              <a:rPr lang="sv-SE" sz="1900" dirty="0"/>
              <a:t> </a:t>
            </a:r>
            <a:r>
              <a:rPr lang="sv-SE" sz="1900" dirty="0" err="1"/>
              <a:t>sixth</a:t>
            </a:r>
            <a:r>
              <a:rPr lang="sv-SE" sz="1900" dirty="0"/>
              <a:t> </a:t>
            </a:r>
            <a:r>
              <a:rPr lang="sv-SE" sz="1900" dirty="0" err="1"/>
              <a:t>third</a:t>
            </a:r>
            <a:r>
              <a:rPr lang="sv-SE" sz="1900" dirty="0"/>
              <a:t> </a:t>
            </a:r>
            <a:r>
              <a:rPr lang="sv-SE" sz="1900" dirty="0" err="1"/>
              <a:t>harmonic</a:t>
            </a:r>
            <a:endParaRPr lang="sv-SE" sz="1900" dirty="0"/>
          </a:p>
          <a:p>
            <a:pPr marL="514350" indent="-514350">
              <a:buFont typeface="+mj-lt"/>
              <a:buAutoNum type="arabicPeriod"/>
            </a:pPr>
            <a:r>
              <a:rPr lang="sv-SE" sz="1900" b="1" dirty="0" err="1" smtClean="0"/>
              <a:t>thetac</a:t>
            </a:r>
            <a:r>
              <a:rPr lang="sv-SE" sz="1900" dirty="0"/>
              <a:t>: (</a:t>
            </a:r>
            <a:r>
              <a:rPr lang="sv-SE" sz="1900" dirty="0" err="1"/>
              <a:t>optional</a:t>
            </a:r>
            <a:r>
              <a:rPr lang="sv-SE" sz="1900" dirty="0"/>
              <a:t>) </a:t>
            </a:r>
            <a:r>
              <a:rPr lang="sv-SE" sz="1900" dirty="0" err="1"/>
              <a:t>carrier</a:t>
            </a:r>
            <a:r>
              <a:rPr lang="sv-SE" sz="1900" dirty="0"/>
              <a:t> </a:t>
            </a:r>
            <a:r>
              <a:rPr lang="sv-SE" sz="1900" dirty="0" err="1"/>
              <a:t>phase</a:t>
            </a:r>
            <a:r>
              <a:rPr lang="sv-SE" sz="1900" dirty="0"/>
              <a:t> offset</a:t>
            </a:r>
          </a:p>
          <a:p>
            <a:pPr marL="514350" indent="-514350">
              <a:buFont typeface="+mj-lt"/>
              <a:buAutoNum type="arabicPeriod"/>
            </a:pPr>
            <a:r>
              <a:rPr lang="sv-SE" sz="1900" b="1" dirty="0" err="1" smtClean="0"/>
              <a:t>scale</a:t>
            </a:r>
            <a:r>
              <a:rPr lang="sv-SE" sz="1900" dirty="0" smtClean="0"/>
              <a:t>: </a:t>
            </a:r>
            <a:r>
              <a:rPr lang="sv-SE" sz="1900" dirty="0"/>
              <a:t>(</a:t>
            </a:r>
            <a:r>
              <a:rPr lang="sv-SE" sz="1900" dirty="0" err="1"/>
              <a:t>optional</a:t>
            </a:r>
            <a:r>
              <a:rPr lang="sv-SE" sz="1900" dirty="0" smtClean="0"/>
              <a:t>)</a:t>
            </a:r>
            <a:endParaRPr lang="sv-SE" sz="1900" dirty="0"/>
          </a:p>
          <a:p>
            <a:pPr marL="514350" indent="-514350">
              <a:buFont typeface="+mj-lt"/>
              <a:buAutoNum type="arabicPeriod"/>
            </a:pPr>
            <a:r>
              <a:rPr lang="sv-SE" sz="1900" b="1" dirty="0" smtClean="0"/>
              <a:t>offset</a:t>
            </a:r>
            <a:r>
              <a:rPr lang="sv-SE" sz="1900" dirty="0" smtClean="0"/>
              <a:t>: </a:t>
            </a:r>
            <a:r>
              <a:rPr lang="sv-SE" sz="1900" dirty="0"/>
              <a:t>(</a:t>
            </a:r>
            <a:r>
              <a:rPr lang="sv-SE" sz="1900" dirty="0" err="1"/>
              <a:t>optional</a:t>
            </a:r>
            <a:r>
              <a:rPr lang="sv-SE" sz="1900" dirty="0"/>
              <a:t>) </a:t>
            </a:r>
            <a:endParaRPr lang="sv-SE" sz="1900" dirty="0" smtClean="0"/>
          </a:p>
          <a:p>
            <a:pPr marL="514350" indent="-514350">
              <a:buFont typeface="+mj-lt"/>
              <a:buAutoNum type="arabicPeriod"/>
            </a:pPr>
            <a:r>
              <a:rPr lang="sv-SE" sz="1900" b="1" dirty="0" err="1" smtClean="0"/>
              <a:t>carrmod</a:t>
            </a:r>
            <a:r>
              <a:rPr lang="sv-SE" sz="1900" dirty="0" smtClean="0"/>
              <a:t>: </a:t>
            </a:r>
            <a:r>
              <a:rPr lang="sv-SE" sz="1900" dirty="0"/>
              <a:t>(</a:t>
            </a:r>
            <a:r>
              <a:rPr lang="sv-SE" sz="1900" dirty="0" err="1"/>
              <a:t>optional</a:t>
            </a:r>
            <a:r>
              <a:rPr lang="sv-SE" sz="1900" dirty="0" smtClean="0"/>
              <a:t>)</a:t>
            </a:r>
            <a:endParaRPr lang="en-US" sz="1900" dirty="0"/>
          </a:p>
          <a:p>
            <a:pPr marL="1828800" lvl="4" indent="0">
              <a:buNone/>
            </a:pPr>
            <a:endParaRPr lang="sv-SE" dirty="0" smtClean="0"/>
          </a:p>
          <a:p>
            <a:endParaRPr lang="en-US" dirty="0"/>
          </a:p>
          <a:p>
            <a:pPr marL="0" indent="0">
              <a:buNone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350953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3471"/>
          </a:xfrm>
        </p:spPr>
        <p:txBody>
          <a:bodyPr/>
          <a:lstStyle/>
          <a:p>
            <a:pPr algn="ctr"/>
            <a:r>
              <a:rPr lang="en-US" dirty="0" err="1" smtClean="0"/>
              <a:t>mlspwm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9899"/>
            <a:ext cx="10515600" cy="4927064"/>
          </a:xfrm>
        </p:spPr>
        <p:txBody>
          <a:bodyPr>
            <a:normAutofit/>
          </a:bodyPr>
          <a:lstStyle/>
          <a:p>
            <a:pPr marL="514350" indent="-514350" fontAlgn="t">
              <a:buFont typeface="+mj-lt"/>
              <a:buAutoNum type="arabicPeriod"/>
            </a:pPr>
            <a:r>
              <a:rPr lang="en-US" sz="2000" b="1" dirty="0" err="1" smtClean="0"/>
              <a:t>stot</a:t>
            </a:r>
            <a:r>
              <a:rPr lang="en-US" sz="2000" dirty="0" smtClean="0"/>
              <a:t>: </a:t>
            </a:r>
            <a:r>
              <a:rPr lang="en-US" sz="2000" dirty="0" err="1" smtClean="0"/>
              <a:t>Pwm</a:t>
            </a:r>
            <a:r>
              <a:rPr lang="en-US" sz="2000" dirty="0" smtClean="0"/>
              <a:t> pattern during fundamental cycle</a:t>
            </a:r>
            <a:endParaRPr lang="sv-SE" sz="2000" dirty="0" smtClean="0"/>
          </a:p>
          <a:p>
            <a:pPr marL="514350" indent="-514350" fontAlgn="t">
              <a:buFont typeface="+mj-lt"/>
              <a:buAutoNum type="arabicPeriod"/>
            </a:pPr>
            <a:r>
              <a:rPr lang="en-US" sz="2000" b="1" dirty="0" err="1" smtClean="0"/>
              <a:t>wt</a:t>
            </a:r>
            <a:r>
              <a:rPr lang="en-US" sz="2000" dirty="0" smtClean="0"/>
              <a:t>: (optional) phase angle vector corresponding to s</a:t>
            </a:r>
            <a:endParaRPr lang="sv-SE" sz="20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000" b="1" dirty="0" err="1" smtClean="0"/>
              <a:t>carr</a:t>
            </a:r>
            <a:r>
              <a:rPr lang="en-US" sz="2000" dirty="0" smtClean="0"/>
              <a:t>: (optional) </a:t>
            </a:r>
            <a:r>
              <a:rPr lang="sv-SE" sz="2000" dirty="0" err="1" smtClean="0"/>
              <a:t>carrier</a:t>
            </a:r>
            <a:r>
              <a:rPr lang="sv-SE" sz="2000" dirty="0" smtClean="0"/>
              <a:t> signal </a:t>
            </a:r>
            <a:r>
              <a:rPr lang="sv-SE" sz="2000" dirty="0" err="1" smtClean="0"/>
              <a:t>vector</a:t>
            </a:r>
            <a:r>
              <a:rPr lang="sv-SE" sz="2000" dirty="0" smtClean="0"/>
              <a:t> </a:t>
            </a:r>
          </a:p>
          <a:p>
            <a:pPr marL="514350" indent="-514350" fontAlgn="t">
              <a:buFont typeface="+mj-lt"/>
              <a:buAutoNum type="arabicPeriod"/>
            </a:pPr>
            <a:r>
              <a:rPr lang="en-US" sz="2000" b="1" dirty="0" smtClean="0"/>
              <a:t>ref</a:t>
            </a:r>
            <a:r>
              <a:rPr lang="en-US" sz="2000" dirty="0" smtClean="0"/>
              <a:t>: (optional) reference signal vector</a:t>
            </a:r>
          </a:p>
          <a:p>
            <a:pPr marL="1828800" lvl="4" indent="0">
              <a:buNone/>
            </a:pPr>
            <a:endParaRPr lang="sv-SE" dirty="0" smtClean="0"/>
          </a:p>
          <a:p>
            <a:endParaRPr lang="en-US" dirty="0"/>
          </a:p>
          <a:p>
            <a:pPr marL="0" indent="0">
              <a:buNone/>
            </a:pPr>
            <a:endParaRPr lang="sv-S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494" y="3036803"/>
            <a:ext cx="4104501" cy="30783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578" y="2879223"/>
            <a:ext cx="4689472" cy="351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683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1406</TotalTime>
  <Words>496</Words>
  <Application>Microsoft Office PowerPoint</Application>
  <PresentationFormat>Widescreen</PresentationFormat>
  <Paragraphs>101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mod_2lcarr</vt:lpstr>
      <vt:lpstr>mod_2lcarr</vt:lpstr>
      <vt:lpstr>mlspwm</vt:lpstr>
      <vt:lpstr>mlspwm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19</cp:revision>
  <dcterms:created xsi:type="dcterms:W3CDTF">2023-08-14T13:11:02Z</dcterms:created>
  <dcterms:modified xsi:type="dcterms:W3CDTF">2023-08-16T07:57:31Z</dcterms:modified>
</cp:coreProperties>
</file>