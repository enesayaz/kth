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4"/>
  </p:notesMasterIdLst>
  <p:sldIdLst>
    <p:sldId id="256" r:id="rId2"/>
    <p:sldId id="289" r:id="rId3"/>
  </p:sldIdLst>
  <p:sldSz cx="12192000" cy="6858000"/>
  <p:notesSz cx="6858000" cy="9144000"/>
  <p:embeddedFontLst>
    <p:embeddedFont>
      <p:font typeface="Figtree" panose="020B0604020202020204" charset="0"/>
      <p:regular r:id="rId5"/>
      <p:bold r:id="rId6"/>
      <p:italic r:id="rId7"/>
      <p:boldItalic r:id="rId8"/>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942" autoAdjust="0"/>
    <p:restoredTop sz="96327"/>
  </p:normalViewPr>
  <p:slideViewPr>
    <p:cSldViewPr snapToGrid="0">
      <p:cViewPr varScale="1">
        <p:scale>
          <a:sx n="108" d="100"/>
          <a:sy n="108" d="100"/>
        </p:scale>
        <p:origin x="80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3" Type="http://schemas.openxmlformats.org/officeDocument/2006/relationships/slide" Target="slides/slide2.xml"/><Relationship Id="rId7" Type="http://schemas.openxmlformats.org/officeDocument/2006/relationships/font" Target="fonts/font3.fntdata"/><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theme" Target="theme/theme1.xml"/><Relationship Id="rId5" Type="http://schemas.openxmlformats.org/officeDocument/2006/relationships/font" Target="fonts/font1.fntdata"/><Relationship Id="rId10" Type="http://schemas.openxmlformats.org/officeDocument/2006/relationships/viewProps" Target="viewProps.xml"/><Relationship Id="rId4" Type="http://schemas.openxmlformats.org/officeDocument/2006/relationships/notesMaster" Target="notesMasters/notesMaster1.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2026-03-04</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12.svg"/><Relationship Id="rId4" Type="http://schemas.openxmlformats.org/officeDocument/2006/relationships/image" Target="../media/image1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3.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Master" Target="../slideMasters/slideMaster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3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2026-03-04</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2026-03-04</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2026-03-04</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2026-03-04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2026-03-04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2026-03-04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2026-03-04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2026-03-04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2026-03-04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2026-03-04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2026-03-04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2026-03-04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2026-03-04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2026-03-04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2026-03-04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2026-03-04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2026-03-04</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2026-03-04</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2026-03-04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2026-03-04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2026-03-04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2026-03-04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2026-03-04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2026-03-04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2026-03-04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2026-03-04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2026-03-04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2026-03-04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2026-03-04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2026-03-04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2026-03-04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2026-03-04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2026-03-04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2026-03-04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2026-03-04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2026-03-04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2026-03-04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2026-03-04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2026-03-04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2026-03-04</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2026-03-04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2026-03-04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2026-03-04</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2026-03-04</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2026-03-04</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2026-03-04</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2026-03-04</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2026-03-04</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a:xfrm>
            <a:off x="1695853" y="3269129"/>
            <a:ext cx="8798701" cy="1956921"/>
          </a:xfrm>
        </p:spPr>
        <p:txBody>
          <a:bodyPr/>
          <a:lstStyle/>
          <a:p>
            <a:r>
              <a:rPr lang="sv-SE" dirty="0" err="1"/>
              <a:t>Thesis</a:t>
            </a:r>
            <a:r>
              <a:rPr lang="sv-SE" dirty="0"/>
              <a:t> </a:t>
            </a:r>
            <a:r>
              <a:rPr lang="sv-SE" dirty="0" err="1"/>
              <a:t>Overview</a:t>
            </a:r>
            <a:endParaRPr lang="sv-SE" dirty="0"/>
          </a:p>
        </p:txBody>
      </p:sp>
      <p:sp>
        <p:nvSpPr>
          <p:cNvPr id="5" name="Underrubrik 4">
            <a:extLst>
              <a:ext uri="{FF2B5EF4-FFF2-40B4-BE49-F238E27FC236}">
                <a16:creationId xmlns:a16="http://schemas.microsoft.com/office/drawing/2014/main" id="{92A29924-00C9-C549-25FA-02CDD1D96ADA}"/>
              </a:ext>
            </a:extLst>
          </p:cNvPr>
          <p:cNvSpPr>
            <a:spLocks noGrp="1"/>
          </p:cNvSpPr>
          <p:nvPr>
            <p:ph type="subTitle" idx="1"/>
          </p:nvPr>
        </p:nvSpPr>
        <p:spPr/>
        <p:txBody>
          <a:bodyPr/>
          <a:lstStyle/>
          <a:p>
            <a:r>
              <a:rPr lang="en-US" dirty="0"/>
              <a:t>Enes Ayaz</a:t>
            </a:r>
            <a:endParaRPr lang="sv-SE" dirty="0"/>
          </a:p>
        </p:txBody>
      </p:sp>
    </p:spTree>
    <p:extLst>
      <p:ext uri="{BB962C8B-B14F-4D97-AF65-F5344CB8AC3E}">
        <p14:creationId xmlns:p14="http://schemas.microsoft.com/office/powerpoint/2010/main" val="208122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538" y="305867"/>
            <a:ext cx="10990263" cy="1468275"/>
          </a:xfrm>
        </p:spPr>
        <p:txBody>
          <a:bodyPr/>
          <a:lstStyle/>
          <a:p>
            <a:pPr algn="ctr"/>
            <a:r>
              <a:rPr lang="en-US" sz="2400" dirty="0"/>
              <a:t>System-Level Analysis of </a:t>
            </a:r>
            <a:r>
              <a:rPr lang="en-US" sz="2400" strike="sngStrike" dirty="0"/>
              <a:t>High-Voltage</a:t>
            </a:r>
            <a:r>
              <a:rPr lang="en-US" sz="2400" dirty="0"/>
              <a:t> Traction Drive Systems :</a:t>
            </a:r>
            <a:br>
              <a:rPr lang="en-US" sz="2400" dirty="0"/>
            </a:br>
            <a:r>
              <a:rPr lang="en-US" sz="2400" dirty="0"/>
              <a:t>Holistic Inverter Topology Design, </a:t>
            </a:r>
            <a:r>
              <a:rPr lang="en-US" sz="2400" strike="sngStrike" dirty="0"/>
              <a:t>Advanced Modulation Strategies, </a:t>
            </a:r>
            <a:r>
              <a:rPr lang="en-US" sz="2400" dirty="0"/>
              <a:t>and Motor-Drive Enhancements</a:t>
            </a:r>
            <a:br>
              <a:rPr lang="en-US" sz="2400" dirty="0"/>
            </a:br>
            <a:endParaRPr lang="sv-SE" sz="2400" dirty="0"/>
          </a:p>
        </p:txBody>
      </p:sp>
      <p:graphicFrame>
        <p:nvGraphicFramePr>
          <p:cNvPr id="5" name="Table 4"/>
          <p:cNvGraphicFramePr>
            <a:graphicFrameLocks noGrp="1"/>
          </p:cNvGraphicFramePr>
          <p:nvPr>
            <p:extLst>
              <p:ext uri="{D42A27DB-BD31-4B8C-83A1-F6EECF244321}">
                <p14:modId xmlns:p14="http://schemas.microsoft.com/office/powerpoint/2010/main" val="1614434575"/>
              </p:ext>
            </p:extLst>
          </p:nvPr>
        </p:nvGraphicFramePr>
        <p:xfrm>
          <a:off x="371368" y="1426413"/>
          <a:ext cx="11253695" cy="5151120"/>
        </p:xfrm>
        <a:graphic>
          <a:graphicData uri="http://schemas.openxmlformats.org/drawingml/2006/table">
            <a:tbl>
              <a:tblPr firstRow="1" bandRow="1">
                <a:tableStyleId>{5C22544A-7EE6-4342-B048-85BDC9FD1C3A}</a:tableStyleId>
              </a:tblPr>
              <a:tblGrid>
                <a:gridCol w="862715">
                  <a:extLst>
                    <a:ext uri="{9D8B030D-6E8A-4147-A177-3AD203B41FA5}">
                      <a16:colId xmlns:a16="http://schemas.microsoft.com/office/drawing/2014/main" val="3722875293"/>
                    </a:ext>
                  </a:extLst>
                </a:gridCol>
                <a:gridCol w="1718335">
                  <a:extLst>
                    <a:ext uri="{9D8B030D-6E8A-4147-A177-3AD203B41FA5}">
                      <a16:colId xmlns:a16="http://schemas.microsoft.com/office/drawing/2014/main" val="4094972375"/>
                    </a:ext>
                  </a:extLst>
                </a:gridCol>
                <a:gridCol w="8672645">
                  <a:extLst>
                    <a:ext uri="{9D8B030D-6E8A-4147-A177-3AD203B41FA5}">
                      <a16:colId xmlns:a16="http://schemas.microsoft.com/office/drawing/2014/main" val="3083960993"/>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sz="2000" dirty="0"/>
                        <a:t>Parts</a:t>
                      </a:r>
                    </a:p>
                  </a:txBody>
                  <a:tcPr/>
                </a:tc>
                <a:tc>
                  <a:txBody>
                    <a:bodyPr/>
                    <a:lstStyle/>
                    <a:p>
                      <a:r>
                        <a:rPr lang="sv-SE" sz="2000" dirty="0"/>
                        <a:t>Focus</a:t>
                      </a:r>
                    </a:p>
                  </a:txBody>
                  <a:tcPr/>
                </a:tc>
                <a:tc>
                  <a:txBody>
                    <a:bodyPr/>
                    <a:lstStyle/>
                    <a:p>
                      <a:r>
                        <a:rPr lang="sv-SE" sz="2000" dirty="0"/>
                        <a:t>Papers</a:t>
                      </a:r>
                    </a:p>
                  </a:txBody>
                  <a:tcPr/>
                </a:tc>
                <a:extLst>
                  <a:ext uri="{0D108BD9-81ED-4DB2-BD59-A6C34878D82A}">
                    <a16:rowId xmlns:a16="http://schemas.microsoft.com/office/drawing/2014/main" val="112369599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sz="1600" dirty="0"/>
                        <a:t>Part I</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sz="1600" dirty="0" err="1"/>
                        <a:t>Topology</a:t>
                      </a:r>
                      <a:r>
                        <a:rPr lang="sv-SE" sz="1600"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sv-SE" sz="1600" dirty="0"/>
                        <a:t>&amp; system </a:t>
                      </a:r>
                      <a:r>
                        <a:rPr lang="sv-SE" sz="1600" dirty="0" err="1"/>
                        <a:t>level</a:t>
                      </a:r>
                      <a:r>
                        <a:rPr lang="sv-SE" sz="1600" dirty="0"/>
                        <a:t> </a:t>
                      </a:r>
                      <a:r>
                        <a:rPr lang="sv-SE" sz="1600" dirty="0" err="1"/>
                        <a:t>optimization</a:t>
                      </a:r>
                      <a:endParaRPr lang="sv-SE" sz="1600" dirty="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Evaluation of possible traction inverter topologies for heavy-duty electric vehicles (SPEC-2024)</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600" dirty="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1.2 kV Heavy-Duty Electric Vehicle Powertrains: System-Level Analysis and Holistic Efficiency Optimization of the Traction Inverter (Will be submitted to IEEE ACCESS)</a:t>
                      </a:r>
                    </a:p>
                  </a:txBody>
                  <a:tcPr/>
                </a:tc>
                <a:extLst>
                  <a:ext uri="{0D108BD9-81ED-4DB2-BD59-A6C34878D82A}">
                    <a16:rowId xmlns:a16="http://schemas.microsoft.com/office/drawing/2014/main" val="414324725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sz="1600" dirty="0"/>
                        <a:t>Part II</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sz="1600" dirty="0" err="1"/>
                        <a:t>Advanced</a:t>
                      </a:r>
                      <a:r>
                        <a:rPr lang="sv-SE" sz="1600" dirty="0"/>
                        <a:t> modulation </a:t>
                      </a:r>
                      <a:r>
                        <a:rPr lang="sv-SE" sz="1600" dirty="0" err="1"/>
                        <a:t>techniques</a:t>
                      </a:r>
                      <a:r>
                        <a:rPr lang="sv-SE" sz="1600" dirty="0"/>
                        <a:t> </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Common-Mode Voltage Reduction in Two-Level Inverters by Introducing Adaptive Carrier-Phase-Shift Method (ECCE-2025)</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600" dirty="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Real-Time DC-Link Capacitor Stress Reduction in Two-Level Three-Phase Inverters Using Adaptive Multi-Carrier PWM Method (Submitted to IPEC-2026)</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600" dirty="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Adaptive Carrier Phase-Shifted PWM Strategy with Low-Frequency Common-Mode Injection for Reducing High-Frequency Common-Mode Voltage (Rejected- Will be updated and submitted to OJPEL)</a:t>
                      </a:r>
                    </a:p>
                  </a:txBody>
                  <a:tcPr/>
                </a:tc>
                <a:extLst>
                  <a:ext uri="{0D108BD9-81ED-4DB2-BD59-A6C34878D82A}">
                    <a16:rowId xmlns:a16="http://schemas.microsoft.com/office/drawing/2014/main" val="406532809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sz="1600" dirty="0"/>
                        <a:t>Part III</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sz="1600"/>
                        <a:t>Motor drive innovation</a:t>
                      </a:r>
                      <a:endParaRPr lang="sv-SE" sz="1600" dirty="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Primary-Side Control of Bipolar Field Excitation System for Pole-Changing Electrically Excited Synchronous Machines (ACCEPTED to TIE, waiting for proof-reading)</a:t>
                      </a:r>
                      <a:endParaRPr lang="sv-SE" sz="1600" dirty="0"/>
                    </a:p>
                  </a:txBody>
                  <a:tcPr/>
                </a:tc>
                <a:extLst>
                  <a:ext uri="{0D108BD9-81ED-4DB2-BD59-A6C34878D82A}">
                    <a16:rowId xmlns:a16="http://schemas.microsoft.com/office/drawing/2014/main" val="297568678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sz="1600" strike="sngStrike" dirty="0"/>
                        <a:t>Part IV</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sz="1600" strike="sngStrike" dirty="0"/>
                        <a:t>System </a:t>
                      </a:r>
                      <a:r>
                        <a:rPr lang="sv-SE" sz="1600" strike="sngStrike" dirty="0" err="1"/>
                        <a:t>simplification</a:t>
                      </a:r>
                      <a:endParaRPr lang="sv-SE" sz="1600" strike="sngStrike" dirty="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sv-SE" sz="1600" strike="sngStrike" dirty="0" err="1"/>
                        <a:t>Auxiliary</a:t>
                      </a:r>
                      <a:r>
                        <a:rPr lang="sv-SE" sz="1600" strike="sngStrike" dirty="0"/>
                        <a:t> </a:t>
                      </a:r>
                      <a:r>
                        <a:rPr lang="sv-SE" sz="1600" strike="sngStrike" dirty="0" err="1"/>
                        <a:t>supply</a:t>
                      </a:r>
                      <a:r>
                        <a:rPr lang="sv-SE" sz="1600" strike="sngStrike" dirty="0"/>
                        <a:t> elimination (Not </a:t>
                      </a:r>
                      <a:r>
                        <a:rPr lang="sv-SE" sz="1600" strike="sngStrike" dirty="0" err="1"/>
                        <a:t>started</a:t>
                      </a:r>
                      <a:r>
                        <a:rPr lang="sv-SE" sz="1600" strike="sngStrike" dirty="0"/>
                        <a:t> </a:t>
                      </a:r>
                      <a:r>
                        <a:rPr lang="sv-SE" sz="1600" strike="sngStrike" dirty="0" err="1"/>
                        <a:t>yet</a:t>
                      </a:r>
                      <a:r>
                        <a:rPr lang="sv-SE" sz="1600" strike="sngStrike" dirty="0"/>
                        <a:t>)</a:t>
                      </a:r>
                    </a:p>
                  </a:txBody>
                  <a:tcPr/>
                </a:tc>
                <a:extLst>
                  <a:ext uri="{0D108BD9-81ED-4DB2-BD59-A6C34878D82A}">
                    <a16:rowId xmlns:a16="http://schemas.microsoft.com/office/drawing/2014/main" val="3162098948"/>
                  </a:ext>
                </a:extLst>
              </a:tr>
            </a:tbl>
          </a:graphicData>
        </a:graphic>
      </p:graphicFrame>
      <p:sp>
        <p:nvSpPr>
          <p:cNvPr id="7" name="TextBox 6">
            <a:extLst>
              <a:ext uri="{FF2B5EF4-FFF2-40B4-BE49-F238E27FC236}">
                <a16:creationId xmlns:a16="http://schemas.microsoft.com/office/drawing/2014/main" id="{8063AAB8-8AF1-F616-859A-B8AEFF0E4CE0}"/>
              </a:ext>
            </a:extLst>
          </p:cNvPr>
          <p:cNvSpPr txBox="1"/>
          <p:nvPr/>
        </p:nvSpPr>
        <p:spPr>
          <a:xfrm>
            <a:off x="154530" y="7187424"/>
            <a:ext cx="12455371" cy="584775"/>
          </a:xfrm>
          <a:prstGeom prst="rect">
            <a:avLst/>
          </a:prstGeom>
          <a:noFill/>
        </p:spPr>
        <p:txBody>
          <a:bodyPr wrap="square">
            <a:spAutoFit/>
          </a:bodyPr>
          <a:lstStyle/>
          <a:p>
            <a:r>
              <a:rPr lang="en-US" sz="1600" dirty="0">
                <a:solidFill>
                  <a:srgbClr val="DEF0FF"/>
                </a:solidFill>
              </a:rPr>
              <a:t>System-Level Analysis and Improvement of High-Voltage Traction Drive Systems for Heavy-Duty Electric Vehicles:</a:t>
            </a:r>
            <a:br>
              <a:rPr lang="en-US" sz="1600" dirty="0">
                <a:solidFill>
                  <a:srgbClr val="DEF0FF"/>
                </a:solidFill>
              </a:rPr>
            </a:br>
            <a:r>
              <a:rPr lang="en-US" sz="1600" dirty="0">
                <a:solidFill>
                  <a:srgbClr val="DEF0FF"/>
                </a:solidFill>
              </a:rPr>
              <a:t>Holistic Inverter Topology Design, Advanced Modulation Strategies, and Motor-Drive Enhancements</a:t>
            </a:r>
            <a:endParaRPr lang="sv-SE" sz="1600" dirty="0">
              <a:solidFill>
                <a:srgbClr val="DEF0FF"/>
              </a:solidFill>
            </a:endParaRPr>
          </a:p>
        </p:txBody>
      </p:sp>
    </p:spTree>
    <p:extLst>
      <p:ext uri="{BB962C8B-B14F-4D97-AF65-F5344CB8AC3E}">
        <p14:creationId xmlns:p14="http://schemas.microsoft.com/office/powerpoint/2010/main" val="2301129147"/>
      </p:ext>
    </p:extLst>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_presentation_template_Figtree" id="{E6011EE6-5294-D344-AE93-F618069F8922}" vid="{45727F30-E711-A740-91D8-A34DFFD32AAE}"/>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KTH_presentation_template_Figtree (2)</Template>
  <TotalTime>11247</TotalTime>
  <Words>202</Words>
  <Application>Microsoft Office PowerPoint</Application>
  <PresentationFormat>Widescreen</PresentationFormat>
  <Paragraphs>26</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Figtree</vt:lpstr>
      <vt:lpstr>Office-tema</vt:lpstr>
      <vt:lpstr>Thesis Overview</vt:lpstr>
      <vt:lpstr>System-Level Analysis of High-Voltage Traction Drive Systems : Holistic Inverter Topology Design, Advanced Modulation Strategies, and Motor-Drive Enhancements </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Tove Guldbrand</dc:creator>
  <cp:lastModifiedBy>Enes Ayaz</cp:lastModifiedBy>
  <cp:revision>179</cp:revision>
  <dcterms:created xsi:type="dcterms:W3CDTF">2024-01-10T13:17:29Z</dcterms:created>
  <dcterms:modified xsi:type="dcterms:W3CDTF">2026-03-06T11:02:36Z</dcterms:modified>
</cp:coreProperties>
</file>