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6"/>
  </p:notesMasterIdLst>
  <p:handoutMasterIdLst>
    <p:handoutMasterId r:id="rId5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sv-SE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44" autoAdjust="0"/>
    <p:restoredTop sz="94660"/>
  </p:normalViewPr>
  <p:slideViewPr>
    <p:cSldViewPr>
      <p:cViewPr varScale="1">
        <p:scale>
          <a:sx n="91" d="100"/>
          <a:sy n="91" d="100"/>
        </p:scale>
        <p:origin x="62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92" d="100"/>
          <a:sy n="92" d="100"/>
        </p:scale>
        <p:origin x="279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>
            <a:extLst>
              <a:ext uri="{FF2B5EF4-FFF2-40B4-BE49-F238E27FC236}">
                <a16:creationId xmlns:a16="http://schemas.microsoft.com/office/drawing/2014/main" id="{8641E886-6D8F-4DA2-898A-00B1EAE1AC5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EDFE6A-05C8-4F6B-BA8A-F497180174A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C3AE95-3DFC-4DDB-A7BB-B9BF94A03429}" type="datetimeFigureOut">
              <a:rPr lang="sv-SE" smtClean="0"/>
              <a:t>2026-10-23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AAE70C2B-4AA1-47BF-94B9-F7DF59FCFC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ED3EF666-D1D2-478D-9969-E1DE1FE2D0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96AD15-F18B-494F-8904-C45D7BCBE60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675942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8539D3-FAF3-FC43-8825-CC8C9D4686B2}" type="datetimeFigureOut">
              <a:rPr lang="sv-SE" smtClean="0"/>
              <a:t>2026-10-23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3B8005-7BF2-4B40-A831-B1EE96BFE5D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98434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B926A-213D-3B48-BB0C-19ADA28B3F4D}" type="datetime1">
              <a:rPr lang="sv-SE" smtClean="0"/>
              <a:t>2026-10-23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sp>
        <p:nvSpPr>
          <p:cNvPr id="24" name="Rubrik 1">
            <a:extLst>
              <a:ext uri="{FF2B5EF4-FFF2-40B4-BE49-F238E27FC236}">
                <a16:creationId xmlns:a16="http://schemas.microsoft.com/office/drawing/2014/main" id="{2973C368-F8A4-41B1-9D52-4D79988138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25" name="Underrubrik 2">
            <a:extLst>
              <a:ext uri="{FF2B5EF4-FFF2-40B4-BE49-F238E27FC236}">
                <a16:creationId xmlns:a16="http://schemas.microsoft.com/office/drawing/2014/main" id="{040AB90C-B2A7-4284-98E0-80DAE0A2CD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83F7B48-BB86-D74E-A1EB-2C3CDBAC7F2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912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918E66E3-BED5-4C6D-B465-40B84B88D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FF22D944-0354-4DCD-8334-3FC7C9FFC9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F508-B04A-E34A-80DD-59A12C5D1039}" type="datetime1">
              <a:rPr lang="sv-SE" smtClean="0"/>
              <a:t>2026-10-23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pic>
        <p:nvPicPr>
          <p:cNvPr id="9" name="Bildobjekt 19">
            <a:extLst>
              <a:ext uri="{FF2B5EF4-FFF2-40B4-BE49-F238E27FC236}">
                <a16:creationId xmlns:a16="http://schemas.microsoft.com/office/drawing/2014/main" id="{D08EEA80-13E5-4697-A9DA-21277742FA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526476" y="333641"/>
            <a:ext cx="1287722" cy="2057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E50A1F01-262A-6542-96F8-9345B6213D9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0474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EB0B6BB-AC5F-485A-85BA-F56E433C7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69A48BD2-8B5B-44E1-8F6C-9B0D41A6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3F4D8-4BE6-D743-AE27-D14757A6F270}" type="datetime1">
              <a:rPr lang="sv-SE" smtClean="0"/>
              <a:t>2026-10-23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21B72178-9B2F-45A7-A31E-7710591B0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3155F99B-B767-4EF4-BDED-E7E361EB3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innehåll 6">
            <a:extLst>
              <a:ext uri="{FF2B5EF4-FFF2-40B4-BE49-F238E27FC236}">
                <a16:creationId xmlns:a16="http://schemas.microsoft.com/office/drawing/2014/main" id="{FA474A84-82A6-4747-B64B-83217A0CB54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31888" y="1194198"/>
            <a:ext cx="7765653" cy="3540919"/>
          </a:xfrm>
        </p:spPr>
        <p:txBody>
          <a:bodyPr>
            <a:normAutofit/>
          </a:bodyPr>
          <a:lstStyle>
            <a:lvl1pPr>
              <a:defRPr sz="1500"/>
            </a:lvl1pPr>
            <a:lvl2pPr marL="514350" indent="-171450">
              <a:buFont typeface="Arial" panose="020B0604020202020204" pitchFamily="34" charset="0"/>
              <a:buChar char="‒"/>
              <a:defRPr sz="1350"/>
            </a:lvl2pPr>
            <a:lvl3pPr marL="857250" indent="-171450">
              <a:buFont typeface="Arial" panose="020B0604020202020204" pitchFamily="34" charset="0"/>
              <a:buChar char="˃"/>
              <a:defRPr sz="1200"/>
            </a:lvl3pPr>
            <a:lvl4pPr>
              <a:defRPr sz="1050"/>
            </a:lvl4pPr>
            <a:lvl5pPr marL="1543050" indent="-171450">
              <a:buFont typeface="Arial" panose="020B0604020202020204" pitchFamily="34" charset="0"/>
              <a:buChar char="‒"/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727327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63559-229D-724F-BBD5-623E582CF5C1}" type="datetime1">
              <a:rPr lang="sv-SE" smtClean="0"/>
              <a:t>2026-10-23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11" name="Platshållare för innehåll 6">
            <a:extLst>
              <a:ext uri="{FF2B5EF4-FFF2-40B4-BE49-F238E27FC236}">
                <a16:creationId xmlns:a16="http://schemas.microsoft.com/office/drawing/2014/main" id="{C23E0C61-4086-4E9E-9765-C96613FBE58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193800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innehåll 6">
            <a:extLst>
              <a:ext uri="{FF2B5EF4-FFF2-40B4-BE49-F238E27FC236}">
                <a16:creationId xmlns:a16="http://schemas.microsoft.com/office/drawing/2014/main" id="{F4B1B781-8A23-4309-9884-DD6E3CE0EF2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1888" y="1194594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6" name="Rubrik 5">
            <a:extLst>
              <a:ext uri="{FF2B5EF4-FFF2-40B4-BE49-F238E27FC236}">
                <a16:creationId xmlns:a16="http://schemas.microsoft.com/office/drawing/2014/main" id="{41903042-6CE8-4286-847C-7E810AF5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4158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underrubriker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945529D-785A-43B8-8CB0-BF49CF7DD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F60D0-FE42-A248-8A54-F26FEA948759}" type="datetime1">
              <a:rPr lang="sv-SE" smtClean="0"/>
              <a:t>2026-10-23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8" name="Platshållare för innehåll 6">
            <a:extLst>
              <a:ext uri="{FF2B5EF4-FFF2-40B4-BE49-F238E27FC236}">
                <a16:creationId xmlns:a16="http://schemas.microsoft.com/office/drawing/2014/main" id="{6304BE55-467D-4CE2-9B8D-EC038C989AF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664494"/>
            <a:ext cx="3794297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text 10">
            <a:extLst>
              <a:ext uri="{FF2B5EF4-FFF2-40B4-BE49-F238E27FC236}">
                <a16:creationId xmlns:a16="http://schemas.microsoft.com/office/drawing/2014/main" id="{4D066E04-C797-4C85-AD05-F6EFD42AED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03244" y="1194197"/>
            <a:ext cx="3794297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Platshållare för innehåll 6">
            <a:extLst>
              <a:ext uri="{FF2B5EF4-FFF2-40B4-BE49-F238E27FC236}">
                <a16:creationId xmlns:a16="http://schemas.microsoft.com/office/drawing/2014/main" id="{20A69851-5F12-40D3-A417-2DCD7530A5F4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6220" y="1664494"/>
            <a:ext cx="3792153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4" name="Platshållare för text 10">
            <a:extLst>
              <a:ext uri="{FF2B5EF4-FFF2-40B4-BE49-F238E27FC236}">
                <a16:creationId xmlns:a16="http://schemas.microsoft.com/office/drawing/2014/main" id="{9472B11D-1B06-4AB9-A788-CEFECBDC8E1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36220" y="1194197"/>
            <a:ext cx="3792153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0452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A7D9E-CD1D-F144-88A8-27D2C4D672B1}" type="datetime1">
              <a:rPr lang="sv-SE" smtClean="0"/>
              <a:t>2026-10-23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198"/>
            <a:ext cx="8651081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5339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1585DF-A6DF-A54D-9960-BE991B45200F}" type="datetime1">
              <a:rPr lang="sv-SE" smtClean="0"/>
              <a:t>2026-10-23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594"/>
            <a:ext cx="4237209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  <p:sp>
        <p:nvSpPr>
          <p:cNvPr id="9" name="Platshållare för bild 6">
            <a:extLst>
              <a:ext uri="{FF2B5EF4-FFF2-40B4-BE49-F238E27FC236}">
                <a16:creationId xmlns:a16="http://schemas.microsoft.com/office/drawing/2014/main" id="{3747F699-0360-4395-8415-6E5114D6C6C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60332" y="1194198"/>
            <a:ext cx="4237210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87958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F4B5727-3AF8-4023-B42B-839E8695A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92B391E-9C84-4E0D-898B-8454343B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91D87-1285-6843-BFFA-E098C31F828A}" type="datetime1">
              <a:rPr lang="sv-SE" smtClean="0"/>
              <a:t>2026-10-23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32D627AA-4087-4599-9513-63987ED8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BDE0A226-9A3A-4E94-A386-D753C79EA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96585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EB551155-ADB6-4713-AD48-92A8C535A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3680" y="250032"/>
            <a:ext cx="7763861" cy="6477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CEFDED03-B73B-4057-9667-7B69EF4D7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31887" y="1194197"/>
            <a:ext cx="7765653" cy="34385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80C11F1C-711C-4AD7-A25F-D2B3F451BB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152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E8303-AD2F-DB4D-B8E2-7368B5FD02EE}" type="datetime1">
              <a:rPr lang="sv-SE" smtClean="0"/>
              <a:t>2026-10-23</a:t>
            </a:fld>
            <a:endParaRPr lang="sv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C9465249-3F3D-4589-A44C-3AA1952E4C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902599"/>
            <a:ext cx="3086100" cy="2325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F9DBF7EF-8E59-4075-A8F0-EF49E121C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508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22A9A3-8636-4A04-BD48-3153280FB086}" type="slidenum">
              <a:rPr lang="sv-SE" smtClean="0"/>
              <a:pPr/>
              <a:t>‹#›</a:t>
            </a:fld>
            <a:endParaRPr lang="sv-SE" dirty="0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63C4B2EE-2B48-4379-BBD1-4FA250447FE8}"/>
              </a:ext>
            </a:extLst>
          </p:cNvPr>
          <p:cNvPicPr>
            <a:picLocks noChangeArrowheads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46551" y="250120"/>
            <a:ext cx="644150" cy="65239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" name="Rektangel 53">
            <a:extLst>
              <a:ext uri="{FF2B5EF4-FFF2-40B4-BE49-F238E27FC236}">
                <a16:creationId xmlns:a16="http://schemas.microsoft.com/office/drawing/2014/main" id="{D263F704-88D1-4479-BA22-2920B7F38621}"/>
              </a:ext>
            </a:extLst>
          </p:cNvPr>
          <p:cNvSpPr/>
          <p:nvPr userDrawn="1"/>
        </p:nvSpPr>
        <p:spPr>
          <a:xfrm>
            <a:off x="250750" y="4889099"/>
            <a:ext cx="8646791" cy="1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013"/>
          </a:p>
        </p:txBody>
      </p:sp>
    </p:spTree>
    <p:extLst>
      <p:ext uri="{BB962C8B-B14F-4D97-AF65-F5344CB8AC3E}">
        <p14:creationId xmlns:p14="http://schemas.microsoft.com/office/powerpoint/2010/main" val="27658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3" r:id="rId3"/>
    <p:sldLayoutId id="2147483654" r:id="rId4"/>
    <p:sldLayoutId id="2147483655" r:id="rId5"/>
    <p:sldLayoutId id="2147483651" r:id="rId6"/>
    <p:sldLayoutId id="2147483652" r:id="rId7"/>
    <p:sldLayoutId id="2147483650" r:id="rId8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&gt;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713" userDrawn="1">
          <p15:clr>
            <a:srgbClr val="F26B43"/>
          </p15:clr>
        </p15:guide>
        <p15:guide id="4" pos="5454" userDrawn="1">
          <p15:clr>
            <a:srgbClr val="F26B43"/>
          </p15:clr>
        </p15:guide>
        <p15:guide id="6" pos="358" userDrawn="1">
          <p15:clr>
            <a:srgbClr val="F26B43"/>
          </p15:clr>
        </p15:guide>
        <p15:guide id="7" orient="horz" pos="158" userDrawn="1">
          <p15:clr>
            <a:srgbClr val="F26B43"/>
          </p15:clr>
        </p15:guide>
        <p15:guide id="8" orient="horz" pos="3084" userDrawn="1">
          <p15:clr>
            <a:srgbClr val="F26B43"/>
          </p15:clr>
        </p15:guide>
        <p15:guide id="9" pos="5605" userDrawn="1">
          <p15:clr>
            <a:srgbClr val="F26B43"/>
          </p15:clr>
        </p15:guide>
        <p15:guide id="10" pos="155" userDrawn="1">
          <p15:clr>
            <a:srgbClr val="F26B43"/>
          </p15:clr>
        </p15:guide>
        <p15:guide id="11" pos="560" userDrawn="1">
          <p15:clr>
            <a:srgbClr val="F26B43"/>
          </p15:clr>
        </p15:guide>
        <p15:guide id="12" orient="horz" pos="566" userDrawn="1">
          <p15:clr>
            <a:srgbClr val="F26B43"/>
          </p15:clr>
        </p15:guide>
        <p15:guide id="13" orient="horz" pos="752" userDrawn="1">
          <p15:clr>
            <a:srgbClr val="F26B43"/>
          </p15:clr>
        </p15:guide>
        <p15:guide id="14" orient="horz" pos="298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2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8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130A5-1308-9B4C-0518-763F7C05B9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SPB Leg Building Block: Design Flow</a:t>
            </a:r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9D6B8B-56C9-FDF4-AD4F-D17BF31EB2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Four EPC2361 per switch: DPT and load-test boards, 1200 V / 300 kW SPB inverter</a:t>
            </a:r>
          </a:p>
          <a:p>
            <a:r>
              <a:rPr lang="en-US"/>
              <a:t>Enes Ayaz, KTH Royal Institute of Technology, October 2026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43420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FCDE8-726A-DE32-A1F4-319BB48CF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Design flow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B0E137-5215-291A-1AB4-ED327F0FC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6C7BFC-43D9-C573-AB45-A2F817957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8DACFF3-97D4-E397-5DE0-D15F804391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263017"/>
              </p:ext>
            </p:extLst>
          </p:nvPr>
        </p:nvGraphicFramePr>
        <p:xfrm>
          <a:off x="238125" y="952500"/>
          <a:ext cx="866775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45841402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2947295874"/>
                    </a:ext>
                  </a:extLst>
                </a:gridCol>
                <a:gridCol w="5905500">
                  <a:extLst>
                    <a:ext uri="{9D8B030D-6E8A-4147-A177-3AD203B41FA5}">
                      <a16:colId xmlns:a16="http://schemas.microsoft.com/office/drawing/2014/main" val="289186975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3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Step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Question → decision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65864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Design inputs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1200 V, 300 kW, M ≤ 1.15, PMSM cos </a:t>
                      </a:r>
                      <a:r>
                        <a:rPr lang="el-G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φ = 0.9 → 228 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311789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100–650 V GaN survey, absolute and per volt → 100 V GaN, EPC2361 (Kelvin pad)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258310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Submodule 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pt-BR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</a:t>
                      </a:r>
                      <a:r>
                        <a:rPr lang="pt-B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 L·di/dt ≤ 90 V for 0.5 / 1 nH, even N → 75 V, N = 16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252497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device, one driver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of one cell + LTspice at 0.5 / 1 nH → ≤ 80 A per device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07951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 in parallel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loss, T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V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vs n → 4 EPC2361 per switch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54600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DC link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≥ 50 kHz; 3 % ripple → 20 × 22 µF 2220 + 10 × 1 µF bypass per cell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813820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 drive → block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2EDF7275K per pair (star, Kelvin) → building block of two cells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090514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Four on one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two pairs, one DC pair, one AC output → DPT board and load-test board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22317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Supplies, measurement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two isolated supplies + Zener bias, UFCS per cell (DPT), U.FL V</a:t>
                      </a:r>
                      <a:r>
                        <a:rPr lang="en-US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MMCX V</a:t>
                      </a:r>
                      <a:r>
                        <a:rPr lang="en-US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HO 250-S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87651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Three-phase DC bus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legs share the 75 V bus → laminated PCB busbar; 3D level and 16-level stack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835291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11–12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Verification, boards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fast Q3D set on the final boards and the busbar; fab files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8251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31315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AF465-E19B-A595-7983-D0E3C5131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Design inputs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4054CB-C735-0084-CC9C-66BFDF576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74426-DCC9-7879-05F0-8FA0073BB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879C74-FC46-B762-B56F-DA9F72EA33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773" y="952500"/>
            <a:ext cx="7346453" cy="2047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5D38CFA-88EA-42B2-94D9-0E64DABF7B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7670258"/>
              </p:ext>
            </p:extLst>
          </p:nvPr>
        </p:nvGraphicFramePr>
        <p:xfrm>
          <a:off x="238125" y="3048000"/>
          <a:ext cx="49530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397428173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95903882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485029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bus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1200 V nominal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445109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Output power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300 kW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79388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Modulation index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 ≤ 1.15 (SVM)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174148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Machine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PMSM, cos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φ 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assumed 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46940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Switching frequency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≥ 50 kHz (step 6)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447459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Cooling / T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 test: air 25–40 °C / ≤ 125 °C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001971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 stress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≤ 90 V at nominal bus (100 V part)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09084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FEE42D1-BC03-1B25-D3E4-F7BF61AFFC90}"/>
              </a:ext>
            </a:extLst>
          </p:cNvPr>
          <p:cNvSpPr txBox="1"/>
          <p:nvPr/>
        </p:nvSpPr>
        <p:spPr>
          <a:xfrm>
            <a:off x="5429250" y="3095625"/>
            <a:ext cx="3476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SPB: N three-phase submodules in series on the DC side, each feeding one winding set of the machine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en-US" sz="147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 = 1200 V / N per submodule; each submodule = 3 legs on one DC link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7577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7604F-EB27-5915-9F5C-8E94C03EF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Phase current follows from the inputs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5CE7A-72EF-C1C1-A58A-22E47C424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FC48BB-598B-ED2E-9338-FE1E663B8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A75D6A-E44B-FC0F-7CBA-33AD3F2680DF}"/>
              </a:ext>
            </a:extLst>
          </p:cNvPr>
          <p:cNvSpPr txBox="1"/>
          <p:nvPr/>
        </p:nvSpPr>
        <p:spPr>
          <a:xfrm>
            <a:off x="238125" y="952500"/>
            <a:ext cx="5143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Each of the 3N legs delivers P/3N at 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ph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 = M·V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/(2√2):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I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 = P / (3 · M·V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/(2√2) · cos </a:t>
            </a:r>
            <a:r>
              <a:rPr lang="el-GR" sz="1560">
                <a:solidFill>
                  <a:srgbClr val="1E1E1E"/>
                </a:solidFill>
                <a:latin typeface="Arial" panose="020B0604020202020204" pitchFamily="34" charset="0"/>
              </a:rPr>
              <a:t>φ)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N·V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: the phase current does </a:t>
            </a:r>
            <a:r>
              <a:rPr lang="sv-SE" sz="1460" b="1">
                <a:solidFill>
                  <a:srgbClr val="C84632"/>
                </a:solidFill>
                <a:latin typeface="Arial" panose="020B0604020202020204" pitchFamily="34" charset="0"/>
              </a:rPr>
              <a:t>not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depend on N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ph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= 1.15 · 75 V / 2√2 = 30.5 V; 6.25 kW per leg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 b="1">
                <a:solidFill>
                  <a:srgbClr val="1E1E1E"/>
                </a:solidFill>
                <a:latin typeface="Arial" panose="020B0604020202020204" pitchFamily="34" charset="0"/>
              </a:rPr>
              <a:t>228 Arms per leg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, 322 A peak (cos </a:t>
            </a:r>
            <a:r>
              <a:rPr lang="el-GR" sz="1460">
                <a:solidFill>
                  <a:srgbClr val="1E1E1E"/>
                </a:solidFill>
                <a:latin typeface="Arial" panose="020B0604020202020204" pitchFamily="34" charset="0"/>
              </a:rPr>
              <a:t>φ = 0.9)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DC current per leg 83 A; series DC chain 250 A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Losses in this deck are for cos </a:t>
            </a:r>
            <a:r>
              <a:rPr lang="el-GR" sz="1560">
                <a:solidFill>
                  <a:srgbClr val="1E1E1E"/>
                </a:solidFill>
                <a:latin typeface="Arial" panose="020B0604020202020204" pitchFamily="34" charset="0"/>
              </a:rPr>
              <a:t>φ = 0.9; 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the PMSM operating point is confirmed with the machine design</a:t>
            </a:r>
            <a:endParaRPr lang="sv-SE" sz="156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3998826-B954-8BB3-1079-0933C74CFF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253611"/>
              </p:ext>
            </p:extLst>
          </p:nvPr>
        </p:nvGraphicFramePr>
        <p:xfrm>
          <a:off x="5667375" y="952500"/>
          <a:ext cx="323850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1692161711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388461418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cos </a:t>
                      </a:r>
                      <a:r>
                        <a:rPr lang="el-GR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φ</a:t>
                      </a:r>
                      <a:endParaRPr lang="sv-SE" sz="156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</a:t>
                      </a:r>
                      <a:r>
                        <a:rPr lang="sv-SE" sz="156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062018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205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327316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216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155776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228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210611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241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36496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21238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C1917-0741-D42E-EF34-862B2A546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Voltage class: why 100 V GaN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7266D6-8F22-47E5-5F91-04859C1E9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A79C-C144-CD59-991B-E9507830F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5C2A23-1005-86A4-7E39-1320AE333F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910" y="952500"/>
            <a:ext cx="7284181" cy="2571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83ED42A-818E-718A-4535-B9D96E999288}"/>
              </a:ext>
            </a:extLst>
          </p:cNvPr>
          <p:cNvSpPr txBox="1"/>
          <p:nvPr/>
        </p:nvSpPr>
        <p:spPr>
          <a:xfrm>
            <a:off x="238125" y="35433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(a) At fixed bus voltage and phase current the minimum semiconductor loss scales with √(R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oss,tr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): the 100 V GaN parts have the lowest product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(b) Per volt of blocking capability: 100 V GaN has the lowest R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DS,max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(EPC2361 7.5 µΩ/V, 3–30× below 200–650 V) at a higher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oss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/V; conduction dominates here (12.4 W vs 4–5 W switching per leg, step 5)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(c) Best device per class: 100 V needs more submodules but the fewest devices per switch and the smallest voltage step →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, 100 V, 0.75 mΩ typ, 3 × 5 mm, top-side cooling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83352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CCA95-AE07-3CAB-41AD-1943C2DDC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EPC2361: key data and the Kelvin source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0F3E5A-D7F2-66C0-E2AD-C11EF493E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D4AEA7-C36E-5DD2-A485-B4CDE97E1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A922FD-56BD-D620-CFED-12B355B656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7070" y="952500"/>
            <a:ext cx="6749859" cy="2428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4992D37-1347-5A7B-4120-6C6A6D0874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8336871"/>
              </p:ext>
            </p:extLst>
          </p:nvPr>
        </p:nvGraphicFramePr>
        <p:xfrm>
          <a:off x="238125" y="3448050"/>
          <a:ext cx="4476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924060591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98042728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Parameter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7771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transient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/ 120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912628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DS(on)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0.75 m</a:t>
                      </a:r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 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typ (1.0 max)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7617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range / 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GS(th)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−4 … +6 V / 0.8 – 2.5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61429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iss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oss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3599 / 1019 / 13 pF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317212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GD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28 / 3.8 / 90 nC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11055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78E07D6-9BDA-5EB3-CC2B-BBEC45EAF5F6}"/>
              </a:ext>
            </a:extLst>
          </p:cNvPr>
          <p:cNvSpPr txBox="1"/>
          <p:nvPr/>
        </p:nvSpPr>
        <p:spPr>
          <a:xfrm>
            <a:off x="4857750" y="3448050"/>
            <a:ext cx="40481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Kelvin pad 2 next to the gate: the gate loop returns at the die, the source stripes and vias (L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) stay in the power loop only ⇒ no L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·di/dt feedback into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Low threshold and −4 V limit: gate bump and negative bias need care (step 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Top of the package at </a:t>
            </a:r>
            <a:r>
              <a:rPr lang="en-US" sz="1190" b="1">
                <a:solidFill>
                  <a:srgbClr val="C84632"/>
                </a:solidFill>
                <a:latin typeface="Arial" panose="020B0604020202020204" pitchFamily="34" charset="0"/>
              </a:rPr>
              <a:t>source potential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: the thermal interface must insulate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74973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E683-7462-D2D6-133C-486B62F2D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Submodule voltage from L·di/dt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D307-E4F8-DE46-0D79-2EF0D7843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73A2A5-9CD4-8CE7-836E-E62003D34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7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522F51-1894-91CF-8275-FFF653A660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7322" y="952500"/>
            <a:ext cx="6269356" cy="2552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A946FA-8B9B-FBDF-ABE8-409AE19DA76D}"/>
              </a:ext>
            </a:extLst>
          </p:cNvPr>
          <p:cNvSpPr txBox="1"/>
          <p:nvPr/>
        </p:nvSpPr>
        <p:spPr>
          <a:xfrm>
            <a:off x="238125" y="3524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Peak stress v̂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+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loop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·di/dt ≤ 90 V; turn-on di/dt (gate-charge model, R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2 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Ω): 25 / 33 / 50 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A/ns at 60 / 80 / 120 A per 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At 80 A per device: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≤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73 V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with 0.5 nH, only 57 V with 1 nH ⇒ the loop must stay near 0.5 nH (or the turn-on is slowed); N even (symmetric winding sets): 16 → 75 V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4A8B3BF2-88DD-62D5-3BE5-D30CAD99618C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V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75 V, N = 16; layout target 0.5 nH per cell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96122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47B3E-C784-8686-1158-C5E3A8744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Why not lower: every submodule costs parts and loss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18C539-A651-20E1-31D4-0944D1F4F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EB740B-EB52-5C07-9CAB-AEB68BA61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FD981A-4224-1167-51D6-BF62ED6A73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953000" cy="29895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F4A4675-8442-DCF2-E8FF-0FE32D3E83BC}"/>
              </a:ext>
            </a:extLst>
          </p:cNvPr>
          <p:cNvSpPr txBox="1"/>
          <p:nvPr/>
        </p:nvSpPr>
        <p:spPr>
          <a:xfrm>
            <a:off x="5381625" y="952500"/>
            <a:ext cx="3524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Phase current is fixed by P, V</a:t>
            </a:r>
            <a:r>
              <a:rPr lang="en-US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, M, cos φ, not by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Each submodule carries the full phase current ⇒ conduction loss, transistors, drivers and supplies scale with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60 V (N = 20): +25 % parts and conduction loss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Overshoot margin rechecked on the final boards (Q3D, step 11)</a:t>
            </a:r>
            <a:endParaRPr lang="sv-SE" sz="156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49192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A828D-BB6E-B4CA-0B24-E81B57A3D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Power loop of one cell: copper, bypass ESL and shunt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53FDD8-E4DE-3C3E-E251-17A64F012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9E0DB3-39EE-C6DA-6CC8-CFBFFDA28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D9263C3-F510-6B8E-AA5B-74E55F7833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1093" y="952500"/>
            <a:ext cx="6821813" cy="24955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2335656-7615-66BA-CC65-74EDFFD287D4}"/>
              </a:ext>
            </a:extLst>
          </p:cNvPr>
          <p:cNvSpPr txBox="1"/>
          <p:nvPr/>
        </p:nvSpPr>
        <p:spPr>
          <a:xfrm>
            <a:off x="238125" y="34766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Q3D of the final boards (cell band): loop = copper of the vertical loop over 0.1 mm (vias, pads) + bypass ESL/n (+ UFCS 120 pH on the DPT board)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Copper alone: 0.35 nH (load) / 0.47 nH (DPT, shunt path); with 6 + 4 bypass 0805 per cell: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0.41 / 0.65 nH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Beyond ≈ 4 bypass parts per cell the number hardly matters; part: 1 µF 100 V X7S 0805 next to the drains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C6BC95CF-20EF-6200-CA7A-CC509D7F69D5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Design value L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loop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0.5 nH per cell; 1 nH as the pessimistic bound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0682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EB338-813C-0E90-4B65-2BDCB0E7E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One EPC2361 per switch: how fast and how much overshoot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0DCC0-7E62-FFBA-7DDC-5E81DB5B4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05D5F-2912-2402-66D2-723DAA185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E75F30-C4F9-6117-6E0C-E3CCBA8081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069" y="952500"/>
            <a:ext cx="7395862" cy="24288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B6A517B-AF60-9888-B0C2-DEBFBF667276}"/>
              </a:ext>
            </a:extLst>
          </p:cNvPr>
          <p:cNvSpPr txBox="1"/>
          <p:nvPr/>
        </p:nvSpPr>
        <p:spPr>
          <a:xfrm>
            <a:off x="238125" y="34099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LTspice half bridge at 75 V, lumped loop 0.5 / 1 nH, 1.7 nH gate loop, 2 Ω on / 0 Ω off, 4 A / 8 A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(a) Peak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at 60 / 80 / 120 A: 87 / 83 / 102 V (0.5 nH), 83 / 93 / 137 V (1 nH)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(b, c) A larger loop lowers E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(the loop takes L·di/dt of the voltage while the current rises) but raises E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and the overshoot; turn-on di/dt is set by the driver (≈ 45 A/ns)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(d) Conduction per device at 100 °C: 4.0 / 7.2 / 16.1 W at 60 / 80 / 120 A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; one device would carry 322 A peak ⇒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current per device ≤ 80 A</a:t>
            </a:r>
            <a:endParaRPr lang="sv-SE" sz="119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3831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4F539-BF53-4947-047F-AA1E4CB61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Thermal path per device: load-test board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9A3E4D-1467-9FF3-0598-C571B1B86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63B31E-A6E9-45E9-11A8-7CB67C885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11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002BBBC-3A0F-2B9C-BF1E-CA638B8C46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7680428"/>
              </p:ext>
            </p:extLst>
          </p:nvPr>
        </p:nvGraphicFramePr>
        <p:xfrm>
          <a:off x="238125" y="952500"/>
          <a:ext cx="5619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2500">
                  <a:extLst>
                    <a:ext uri="{9D8B030D-6E8A-4147-A177-3AD203B41FA5}">
                      <a16:colId xmlns:a16="http://schemas.microsoft.com/office/drawing/2014/main" val="51802324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7775447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Path (LAM 4 K 50 12 in air, per device)</a:t>
                      </a:r>
                      <a:endParaRPr lang="sv-SE" sz="13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K/W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977321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el-GR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θ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JC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(top),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60095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gap pad 0.4 mm, 5 W/mK, over the 15 mm² package top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242571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Al spreader, outer cell → tube (8 mm in 12.8 × 3 mm, 2 devices)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991707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Junction → heatsink, per 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898729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Heatsink → air, whole leg (Fischer LAM 4 K 50 12)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94137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5DB6EF9-3C56-C92F-539B-4CC6785A90C0}"/>
              </a:ext>
            </a:extLst>
          </p:cNvPr>
          <p:cNvSpPr txBox="1"/>
          <p:nvPr/>
        </p:nvSpPr>
        <p:spPr>
          <a:xfrm>
            <a:off x="6048375" y="952500"/>
            <a:ext cx="2857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amb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+ 0.65 K/W · P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leg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+ 7.6 K/W · P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The gap pad dominates (insulation is needed: the package top is at source potential)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 = 4 at full load: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69 °C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(40 °C ambient), 52 °C (25 °C), 78 °C with a 3 W/mK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(T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): ×1.49 at 100 °C, ×1.80 at 150 °C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D4F35F-0B93-29CD-2665-05711C14908A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Spreader and pad values are hand estimates from the dimensions; for n ≠ 4 the same per-device path is assumed.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88904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89A5F-41EF-08F3-D47D-7C3DC79FD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n identical cells per switch (one device and one driver each)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A139F8-64C3-ABA7-83C9-DA275FAC6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E1B10D-CC72-AC08-7471-8EEF2ACCB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18E5AE3-078E-45B2-8C1F-CCD4157ED6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52" y="952500"/>
            <a:ext cx="7371896" cy="266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5A3EEC2-3A14-23A3-85D6-6D78000816F7}"/>
              </a:ext>
            </a:extLst>
          </p:cNvPr>
          <p:cNvSpPr txBox="1"/>
          <p:nvPr/>
        </p:nvSpPr>
        <p:spPr>
          <a:xfrm>
            <a:off x="238125" y="36385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228 A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per leg, 50 kHz, T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and R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solved together (load-test board in air, previous slide); LTspice energies at 0.5 nH (left bars) and 1 nH (hatched)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n = 4: 18.0 W (0.5 nH) / 17.0 W (1 nH) per leg, T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69 °C; peak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at 80 A: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83 V (0.5 nH), 93 V (1 nH)</a:t>
            </a:r>
            <a:endParaRPr lang="sv-SE" sz="128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7F4F269B-A23A-9985-9756-333A9E02B9D8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4 EPC2361 per switch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&lt; 80 °C in all three cases; ≤ 90 V needs ≈ 0.5 nH; two equal pairs)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9568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1EF90-DE90-E4E3-DDE6-CCC53C59B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Where the loss comes from: line period and junction temperature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055C13-47C7-AC9F-815B-77A84DEC2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88127E-E48C-59A2-034A-E2F44E939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ED4718-62A3-CC82-DCD9-C13B06DC61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436" y="952500"/>
            <a:ext cx="7651128" cy="2952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CB9C6EC-B0C0-B4C8-DEC6-4106A7EB726E}"/>
              </a:ext>
            </a:extLst>
          </p:cNvPr>
          <p:cNvSpPr txBox="1"/>
          <p:nvPr/>
        </p:nvSpPr>
        <p:spPr>
          <a:xfrm>
            <a:off x="238125" y="39243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 = 4, 50 kHz: switching loss follows |i| (plus a constant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oss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part), conduction loss follows i²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Conduction 12.5 W per leg (at the load-test 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); switching 5.0 W at 0.5 nH, 4.1 W at 1 nH (lower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, higher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and overshoot)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39578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E75D4-4D10-91DD-A839-2C3F2802A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Losses vs number in parallel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5B990C-7452-09F3-A27A-632BB94226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958AD8-DE8D-5586-8A95-9F0A9D825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14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A8D7DC5-B9F4-CD39-8905-92961CA285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459612"/>
              </p:ext>
            </p:extLst>
          </p:nvPr>
        </p:nvGraphicFramePr>
        <p:xfrm>
          <a:off x="238125" y="952500"/>
          <a:ext cx="866775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1750">
                  <a:extLst>
                    <a:ext uri="{9D8B030D-6E8A-4147-A177-3AD203B41FA5}">
                      <a16:colId xmlns:a16="http://schemas.microsoft.com/office/drawing/2014/main" val="262011595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13232209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68278295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67341203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78363621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14075123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15768401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238204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399125551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 per switch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08856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leg, 0.5 nH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39.5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23.2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892005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leg, 1 nH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38.4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17.0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957786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 conduction at T</a:t>
                      </a:r>
                      <a:r>
                        <a:rPr lang="sv-SE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33.9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86130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 switching 0.5 / 1 nH (W)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5.0 / 4.2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4.6 / 3.8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5.0 / 4.1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5.6 / 4.6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6.4 / 5.3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7.3 / 6.1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8.2 / 6.9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621367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Efficiency, 0.5 nH (%)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99.37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99.63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38049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device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212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</a:t>
                      </a:r>
                      <a:r>
                        <a:rPr lang="sv-SE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(°C)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48505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Peak V</a:t>
                      </a:r>
                      <a:r>
                        <a:rPr lang="en-US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0.5 / 1 nH (V)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195 / 292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131 / 180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96 / 123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 / 93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86 / 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86 / 84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84 / 86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 / 87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0467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Driver channels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992142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0648C84-7CC1-5B02-8F60-3F2B2C5E1869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Semiconductor losses only; leg loss / (2 n) = loss per device; T_j on the load-test board at 40 °C ambient, 50 kHz; efficiency relative to 6.25 kW per leg.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39898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00B1C-487C-A8D7-A3C3-CA2E15E1B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Switching frequency: losses, DC-link capacitors, current ripple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B1B1C4-B868-88E6-2789-A80599EE3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AEF741-55D9-C1C9-110C-E87011FF2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1F25213-3AE5-DA5B-276C-0B878DA2E6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39" y="952500"/>
            <a:ext cx="7482322" cy="266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B17A834-2128-BD03-910F-EA9E6177E2C0}"/>
              </a:ext>
            </a:extLst>
          </p:cNvPr>
          <p:cNvSpPr txBox="1"/>
          <p:nvPr/>
        </p:nvSpPr>
        <p:spPr>
          <a:xfrm>
            <a:off x="238125" y="36385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(a) n = 4: 99.77 / 99.71 / 99.61 % at 20 / 50 / 100 kHz; (b) the voltage ripple sets the 2220 count (20 per leg at 50 kHz), ripple current needs only 7; (c) winding ripple Δi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/(4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σ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f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) depends on the machine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7AABC486-8DFE-482C-D8E6-98B9EB833469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≥ 50 kHz (higher allowed by the machine); the DC link is sized for 50 kHz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86325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25416-3B2C-A418-D5F3-F70632C07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DC-link sizing for a three-phase level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EB760D-1C86-F58C-296E-CC7942AE1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2F7C44-773D-3A9B-C682-F850E604F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71859F-09B0-0EEB-4202-A501A8CD2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953000" cy="3067717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50207A5-E565-E0FC-806C-C534F12F51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710615"/>
              </p:ext>
            </p:extLst>
          </p:nvPr>
        </p:nvGraphicFramePr>
        <p:xfrm>
          <a:off x="5381625" y="952500"/>
          <a:ext cx="35242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625">
                  <a:extLst>
                    <a:ext uri="{9D8B030D-6E8A-4147-A177-3AD203B41FA5}">
                      <a16:colId xmlns:a16="http://schemas.microsoft.com/office/drawing/2014/main" val="3206645360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423090803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3275071494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151100352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eff</a:t>
                      </a:r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level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683352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573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787600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382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76729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287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96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419442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64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84459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98B66BF-E325-94FD-326A-2FDDE14A5112}"/>
              </a:ext>
            </a:extLst>
          </p:cNvPr>
          <p:cNvSpPr txBox="1"/>
          <p:nvPr/>
        </p:nvSpPr>
        <p:spPr>
          <a:xfrm>
            <a:off x="5381625" y="2333625"/>
            <a:ext cx="3524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One 75 V level = three legs on one bus (SVPWM, M = 1.15, cos φ = 0.9)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Balanced three-phase: no 2f ripple; capacitor RMS current 85 A per level (≈ 28 A per leg)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Per switching period the bank supplies the difference between the cell current and its average: ΔV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ΔQ / C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0" name="decision">
            <a:extLst>
              <a:ext uri="{FF2B5EF4-FFF2-40B4-BE49-F238E27FC236}">
                <a16:creationId xmlns:a16="http://schemas.microsoft.com/office/drawing/2014/main" id="{CA98C1E7-5E5B-E6AA-D5E6-9D8CC6623B29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≤ 3 % (2.25 V) at 50 kHz ⇒ 127 µF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effective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per leg board ⇒ 20 × 22 µF 2220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1622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75689-1DB9-D9B4-6EFC-3BB7C3C16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Capacitor selection: effective capacitance at 75 V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846E32-298E-BD6A-1279-F82CAF82F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CD030A-FF41-1E51-73D3-FD86D9166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77EB8CD-7BC0-ECA1-78E1-FEF08A7267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2077907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>
                  <a:extLst>
                    <a:ext uri="{9D8B030D-6E8A-4147-A177-3AD203B41FA5}">
                      <a16:colId xmlns:a16="http://schemas.microsoft.com/office/drawing/2014/main" val="2956131559"/>
                    </a:ext>
                  </a:extLst>
                </a:gridCol>
                <a:gridCol w="666750">
                  <a:extLst>
                    <a:ext uri="{9D8B030D-6E8A-4147-A177-3AD203B41FA5}">
                      <a16:colId xmlns:a16="http://schemas.microsoft.com/office/drawing/2014/main" val="242089339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1792759462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3354994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626163635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94124490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 (100 V X7S)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b-NO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nb-NO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nom</a:t>
                      </a:r>
                      <a:r>
                        <a:rPr lang="nb-NO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→ C at 75 V</a:t>
                      </a:r>
                      <a:endParaRPr lang="sv-SE" sz="12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Kept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ESR 50 kHz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Parts / leg (3 %)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770629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Murata GRM32EC72A106KE05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10.0 → 1.50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13982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C3225X7S2A475K200AB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4.7 → 0.92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12.3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011765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C4532X7S2A475K230KB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4.7 → 1.10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23 %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13.1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23813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C5750X7S2A106K230KB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10.0 → 2.45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24 %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6.4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276543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C5750X7S2A156M250KB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15.0 → 3.80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3.6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2126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C5750X7S2A226M280KB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22.0 → 6.35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2.8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597489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E92014A-30D0-60CD-F695-17DB4FA796D5}"/>
              </a:ext>
            </a:extLst>
          </p:cNvPr>
          <p:cNvSpPr txBox="1"/>
          <p:nvPr/>
        </p:nvSpPr>
        <p:spPr>
          <a:xfrm>
            <a:off x="238125" y="28575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DC bias at 75 V from the manufacturers' characteristic data (TDK, Murata): 100 V class-II MLCCs keep only 15–29 %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TDK C5750X7S2A226M280KB (2220, 22 µF): highest C per part and per area (0.22 µF/mm²), 2.8 mΩ, 4.5 A for +10 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Checks: 2.8 mm height under the heatsink spreader; 2220 flex cracking ⇒ away from the board edge and holes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decision">
            <a:extLst>
              <a:ext uri="{FF2B5EF4-FFF2-40B4-BE49-F238E27FC236}">
                <a16:creationId xmlns:a16="http://schemas.microsoft.com/office/drawing/2014/main" id="{EC937501-F5AF-1174-BC1C-DFD6181BA641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Bank: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20 × TDK C5750X7S2A226M280KB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per leg (2 rows), 127 µF effective, 1.4 A ripple per part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72211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03A49-B442-8791-3C2E-EABC17D6D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Bypass capacitors: how many and how large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346AFD-D933-0C95-98EA-69CBCAE67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DA5FFA-04E0-E839-F04A-D84D2B38E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E54B8A-468C-BE1D-90DA-7F53CCEC2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191000" cy="3213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52A6831-713A-C4B2-0D06-8E0B99E122E1}"/>
              </a:ext>
            </a:extLst>
          </p:cNvPr>
          <p:cNvSpPr txBox="1"/>
          <p:nvPr/>
        </p:nvSpPr>
        <p:spPr>
          <a:xfrm>
            <a:off x="4572000" y="952500"/>
            <a:ext cx="4333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Bypass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(1 µF 0805 at the drains) supplies the edge,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bank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the f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ripple; per cell 81 A: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di/dt → number: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Cu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+ ESL/n ≈ 0.5 nH ⇒ n ≥ 4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Hand-over to the bank through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: C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bp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≥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(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I/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V)² </a:t>
            </a:r>
            <a:r>
              <a:rPr lang="sv-SE" sz="1280" b="1">
                <a:solidFill>
                  <a:srgbClr val="C84632"/>
                </a:solidFill>
                <a:latin typeface="Arial" panose="020B0604020202020204" pitchFamily="34" charset="0"/>
              </a:rPr>
              <a:t>sets the value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from Q3D: (pending)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0805 1 µF 100 V X7S keeps only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18 %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at 75 V (TDK data): 0.18 µF per part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dip for 6 / 10 per cell: (pending bank model)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173E7561-7F2A-AAEE-95A1-2DD9182C1047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10 × 1 µF 0805 per cell: 6 on top at the drains + 4 on the bottom, identical in all cells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11924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B891F-4086-140E-7680-C834F2872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DC link of one leg board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095F3A-C73F-3CC6-D65F-14F5B73F0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EEC5F4-A078-3C3B-233E-B5B975AB5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19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6DA1FA2-D83D-1961-9138-80FBEF5A96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5104099"/>
              </p:ext>
            </p:extLst>
          </p:nvPr>
        </p:nvGraphicFramePr>
        <p:xfrm>
          <a:off x="238125" y="952500"/>
          <a:ext cx="495300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625">
                  <a:extLst>
                    <a:ext uri="{9D8B030D-6E8A-4147-A177-3AD203B41FA5}">
                      <a16:colId xmlns:a16="http://schemas.microsoft.com/office/drawing/2014/main" val="3817067589"/>
                    </a:ext>
                  </a:extLst>
                </a:gridCol>
                <a:gridCol w="1381125">
                  <a:extLst>
                    <a:ext uri="{9D8B030D-6E8A-4147-A177-3AD203B41FA5}">
                      <a16:colId xmlns:a16="http://schemas.microsoft.com/office/drawing/2014/main" val="236709574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638344563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169881919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Per leg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Nominal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At 75 V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793865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Bypass, 10 per cell × 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40 × 1 µF 0805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422696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Bank, rows A (8) + B (12)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 × 22 µF 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440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771200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Total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134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27726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7A8C09D-65CA-081D-2F47-467CCF607321}"/>
              </a:ext>
            </a:extLst>
          </p:cNvPr>
          <p:cNvSpPr txBox="1"/>
          <p:nvPr/>
        </p:nvSpPr>
        <p:spPr>
          <a:xfrm>
            <a:off x="238125" y="238125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Ripple at 50 kHz with the three legs of a level sharing: </a:t>
            </a:r>
            <a:r>
              <a:rPr lang="en-US" sz="1470" b="1">
                <a:solidFill>
                  <a:srgbClr val="1E1E1E"/>
                </a:solidFill>
                <a:latin typeface="Arial" panose="020B0604020202020204" pitchFamily="34" charset="0"/>
              </a:rPr>
              <a:t>2.1 V (2.9 %)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Leg alone (DPT, back-to-back test without the busbar): ≈ 2× higher, acceptable for the lab tests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Bank ≥ 10 × bypass (127 vs 7 µF eff.): fulfilled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Row A leaves the board centre free for the DC terminal pins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7646529-055F-5D34-C640-8AF364A3BD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1625" y="952500"/>
            <a:ext cx="3524250" cy="2476688"/>
          </a:xfrm>
          <a:prstGeom prst="rect">
            <a:avLst/>
          </a:prstGeom>
        </p:spPr>
      </p:pic>
      <p:sp>
        <p:nvSpPr>
          <p:cNvPr id="10" name="decision">
            <a:extLst>
              <a:ext uri="{FF2B5EF4-FFF2-40B4-BE49-F238E27FC236}">
                <a16:creationId xmlns:a16="http://schemas.microsoft.com/office/drawing/2014/main" id="{0D4FF52C-79B1-8CC9-664D-30B44D4F14CC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Same DC link on the DPT and load-test boards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82495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BA8DB-53AA-69BA-4835-B22DB3EF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Can one driver drive all four?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9826FB-91AA-B834-8B73-8D37CE2DD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BF8622-9714-9B26-2D47-C77F457E2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9E4EBD-1025-53FB-4F70-E7A6DCC78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425" y="952500"/>
            <a:ext cx="7423150" cy="23336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E5DF51B-0914-2B51-777D-EB4C53AC03D7}"/>
              </a:ext>
            </a:extLst>
          </p:cNvPr>
          <p:cNvSpPr txBox="1"/>
          <p:nvPr/>
        </p:nvSpPr>
        <p:spPr>
          <a:xfrm>
            <a:off x="238125" y="3333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Why E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per transistor rises with n per channel: the n gate capacitances (n × 3.6 nF C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iss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) charge through one driver output (4 A source, 0.85 Ω) and a longer shared gate trace ⇒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rises n× slower ⇒ lower di/dt and dv/dt at turn-on ⇒ longer V–I overlap: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+16 / +31 / +60 %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E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for 3 / 4 / 6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(b) Extra gate-loop inductance of the longer tree raises the gate bump; (a) peak sink current 12–14 A for 4–6 devices exceeds the 8 A rating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(c) One channel per device is symmetric but needs 4 channels and supplies per switch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88363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09FD9-4857-6156-0A9B-3685CC032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Driver arrangement for 1 … 4 EPC2361 per switch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AB750F-9FD2-ACF0-D5A8-4BD9EF415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1C7300-FF78-14B1-82A1-6461E3DBF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DD1985B-C5DE-5D14-53F5-0F859ADC29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29313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A2D3285-00AA-ED0F-9204-64FF7E9BCBB4}"/>
              </a:ext>
            </a:extLst>
          </p:cNvPr>
          <p:cNvSpPr txBox="1"/>
          <p:nvPr/>
        </p:nvSpPr>
        <p:spPr>
          <a:xfrm>
            <a:off x="5715000" y="952500"/>
            <a:ext cx="3190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One dual-channel driver (HS + LS) between two cells: both gate loops equal and with their own Kelvin return (design value ≈ 1.7 nH; extracted on the routed board: step 11)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n = 3 breaks the symmetry (pair + single)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n = 4: two pairs, two drivers, one star per pair ⇒ the building block of two point-symmetric cells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DA77E92E-5498-CB52-AEDE-F32D7F911DD4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2 × EPC2361 per driver channel; 4 per switch = two pairs = two drivers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09088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75F81-B11D-64B1-8B6B-5EF258FFE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driver selection: why the 2EDF7275K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9CABE5-FD88-93A9-C5A1-C9F6FAB5C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F71041-AC24-9A83-7078-BC9B598B5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A9A13E8-F2B2-FFCA-A206-8A9E5EFB37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9881057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111855243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169048180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2098176275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331121787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2EDF7275K (Infineon)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1EDF5673K (Infineon)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LMG1210 (TI)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95170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Channels / isolation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2, each output isolated (functional)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isolated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half bridge, bootstrap HS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88795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Peak source / sink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 A / 8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0.85 Ω / 0.35 Ω output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1.5 A / 3 A class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071874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Prop. delay / mismatch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37 ns / ≤ 3 ns ch-ch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37 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≤ 21 ns / ≤ 3.4 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688263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CMTI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150 V/ns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&gt; 200 V/ns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e-D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300 V/ns (HS dv/dt)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67419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Off-voltage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external (Zener split)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built-in negative (RC)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 V only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97959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ICs per switch (4 EPC2361)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(one per pair)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(weak for a pair)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8043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2AA86A3-BED8-9812-DB63-3909B4E48C39}"/>
              </a:ext>
            </a:extLst>
          </p:cNvPr>
          <p:cNvSpPr txBox="1"/>
          <p:nvPr/>
        </p:nvSpPr>
        <p:spPr>
          <a:xfrm>
            <a:off x="238125" y="30956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 pair needs ≈ 2 × 3.6 nF: 4 A / 8 A drives it at the single-device speed; the 1.5 A / 3 A half-bridge driver does not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Two isolated outputs in one 5 × 5 mm LGA: HS and LS of the same pair from one IC, ≤ 3 ns channel mismatch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Floating outputs: each output gets its own supply split (5.1 V Zener on, −1.9 V off) for the bump margin (next)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3759D3-6049-2242-73D4-454BDE931A67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Data: Infineon / TI product pages and datasheets (2EDF7275K, 1EDF5673K, LMG1210); check the current revision.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6847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BD931-6936-A523-D157-5E3332D06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Why symmetry: what sets the current sharing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E4E6AA-D54C-0AAD-2B10-071C8FCF5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5D6403-D98B-6723-91D6-56267C532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FDC902-1674-91F9-79DB-D260936E28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88" y="952500"/>
            <a:ext cx="6890624" cy="1666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B18E9FA-E57D-4502-2E10-C9CBE7E64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4376161"/>
              </p:ext>
            </p:extLst>
          </p:nvPr>
        </p:nvGraphicFramePr>
        <p:xfrm>
          <a:off x="238125" y="26670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2262239968"/>
                    </a:ext>
                  </a:extLst>
                </a:gridCol>
                <a:gridCol w="1238250">
                  <a:extLst>
                    <a:ext uri="{9D8B030D-6E8A-4147-A177-3AD203B41FA5}">
                      <a16:colId xmlns:a16="http://schemas.microsoft.com/office/drawing/2014/main" val="1433791600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1075707921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336759734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Asymmetry (LTspice, two EPC2361 in parallel)</a:t>
                      </a:r>
                      <a:endParaRPr lang="sv-SE" sz="110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Case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+E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imbalance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Layout 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57460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Power-loop inductance mismatch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+0.3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 cells, identical via sets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83054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Gate-loop inductance mismatch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2 vs 8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19 %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(E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4 : 1)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star network, equal gate traces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232730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Common-source inductance, no Kelvin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0 %, both +47 % E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Kelvin pad per device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102377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Common-source mismatch, no Kelvin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+0.2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Kelvin return per 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21203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Threshold spread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+0.3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 driver channel per pair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530855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Static (conduction): copper / R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DS(on)</a:t>
                      </a:r>
                      <a:endParaRPr lang="sv-SE" sz="1100" baseline="-250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self-limiting (positive TC)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 copper (Q3D, step 11)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3851423"/>
                  </a:ext>
                </a:extLst>
              </a:tr>
            </a:tbl>
          </a:graphicData>
        </a:graphic>
      </p:graphicFrame>
      <p:sp>
        <p:nvSpPr>
          <p:cNvPr id="9" name="decision">
            <a:extLst>
              <a:ext uri="{FF2B5EF4-FFF2-40B4-BE49-F238E27FC236}">
                <a16:creationId xmlns:a16="http://schemas.microsoft.com/office/drawing/2014/main" id="{F2F950EB-950F-67FC-4976-4376477518E9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Star gate network with Kelvin returns, one driver channel per pair, point-symmetric cells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9213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9F892-F6DF-7C76-0C9C-D5BEF8BD4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bump and negative off-voltage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FB472A-FF23-152C-2BBB-F86789529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25FD4E-AD15-9890-D2B4-168490C67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24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CE15CD9-8CDC-4F61-F5B1-18C53CF31E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13573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512F473-2BF8-6074-F2B5-EA2D6FC980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2857500"/>
            <a:ext cx="5334000" cy="18329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F9B5F6D-E397-0E93-3284-1D14C46BE3F8}"/>
              </a:ext>
            </a:extLst>
          </p:cNvPr>
          <p:cNvSpPr txBox="1"/>
          <p:nvPr/>
        </p:nvSpPr>
        <p:spPr>
          <a:xfrm>
            <a:off x="5715000" y="952500"/>
            <a:ext cx="3190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Bump: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when the other device of the leg turns on, the off device sees dv/dt;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·dv/dt flows through its gate loop and lifts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by ≈ Q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≈ 1.06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Independent of load current and bus voltage (top b, c); close to the 0.8 V minimum threshold ⇒ shoot-through risk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Negative off-voltage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shifts the whole bump down: −1 V ⇒ peak ≈ 0 V; extra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divides it further (bottom)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Cost: reverse conduction in the dead time at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+ |V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|; off-state ringing must stay above the −4 V limit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Implemented: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GS,off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= −(V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− 5.1 V) =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−1.9 V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= 7 V), set with the extracted gate loop (step 11): bump ≤ −0.5 V, ringing ≈ −3.4 V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55200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85641-A4A6-B953-3B7B-4F5ED44D7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Building block: two point-symmetric cells, one centre driver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12F069-A177-1D7A-5A7E-A3A2BD572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9F98A5-BA14-5AAC-1D7D-3BDD6EA06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C09A63-283B-F7D0-F071-0F3090C3FA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143500" cy="32146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8762B4B-98D1-5AA7-CB98-3D5F7E6D6D4C}"/>
              </a:ext>
            </a:extLst>
          </p:cNvPr>
          <p:cNvSpPr txBox="1"/>
          <p:nvPr/>
        </p:nvSpPr>
        <p:spPr>
          <a:xfrm>
            <a:off x="5524500" y="95250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Q3D model of the final board (cell band): copper per net, vias, FET pads and bypass terminals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Two cells rotated by 180° about the driver (point symmetry): identical gate loops and Kelvin returns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One 2EDF7275K channel drives a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pair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(star network,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0.5 Ω per transistor)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Each cell keeps its own commutation loop (step 11: 0.41 nH load board, 0.65 nH DPT board)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A1E7F8E2-EFAF-2882-BEF5-255C87E5344C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2 × EPC2361 per channel;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4 per switch = two pairs, two drivers, one leg board</a:t>
            </a:r>
            <a:endParaRPr lang="sv-SE" sz="138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81159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E4779-0A38-6A74-3C03-E39CB86C3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Rev B: four cells per switch, two drivers, one leg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7A2BC6-60FB-387F-BAFC-5D229BDD7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E04544-AEBE-F276-5CBE-29FD92DEE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26</a:t>
            </a:fld>
            <a:endParaRPr lang="sv-S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916C97-949A-84EB-CA25-D33B11FFD2B4}"/>
              </a:ext>
            </a:extLst>
          </p:cNvPr>
          <p:cNvSpPr/>
          <p:nvPr/>
        </p:nvSpPr>
        <p:spPr>
          <a:xfrm>
            <a:off x="333375" y="1143000"/>
            <a:ext cx="4476750" cy="3143250"/>
          </a:xfrm>
          <a:prstGeom prst="rect">
            <a:avLst/>
          </a:prstGeom>
          <a:solidFill>
            <a:srgbClr val="FFFFFF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rIns="25400" rtlCol="0" anchor="ctr"/>
          <a:lstStyle/>
          <a:p>
            <a:pPr algn="ctr"/>
            <a:endParaRPr lang="sv-SE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1D5A2B-0AB8-4B69-E100-9D4FE1B0D6A3}"/>
              </a:ext>
            </a:extLst>
          </p:cNvPr>
          <p:cNvSpPr txBox="1"/>
          <p:nvPr/>
        </p:nvSpPr>
        <p:spPr>
          <a:xfrm>
            <a:off x="381000" y="1171575"/>
            <a:ext cx="2857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1010" b="1">
                <a:solidFill>
                  <a:srgbClr val="787878"/>
                </a:solidFill>
                <a:latin typeface="Arial" panose="020B0604020202020204" pitchFamily="34" charset="0"/>
              </a:rPr>
              <a:t>Rev B leg board, 89.5 × 85.2 mm, 4 layers</a:t>
            </a:r>
            <a:endParaRPr lang="sv-SE" sz="1010" b="1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77B6710-7156-2CC2-E28A-F2D7230809EB}"/>
              </a:ext>
            </a:extLst>
          </p:cNvPr>
          <p:cNvSpPr/>
          <p:nvPr/>
        </p:nvSpPr>
        <p:spPr>
          <a:xfrm>
            <a:off x="2095500" y="1352550"/>
            <a:ext cx="428625" cy="209550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20" b="1">
                <a:solidFill>
                  <a:srgbClr val="1E1E1E"/>
                </a:solidFill>
                <a:latin typeface="Arial" panose="020B0604020202020204" pitchFamily="34" charset="0"/>
              </a:rPr>
              <a:t>DC+</a:t>
            </a:r>
            <a:endParaRPr lang="sv-SE" sz="92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12290CD-8EB4-EFDF-F311-3C28B2E99765}"/>
              </a:ext>
            </a:extLst>
          </p:cNvPr>
          <p:cNvSpPr/>
          <p:nvPr/>
        </p:nvSpPr>
        <p:spPr>
          <a:xfrm>
            <a:off x="2619375" y="1352550"/>
            <a:ext cx="428625" cy="2095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20" b="1">
                <a:solidFill>
                  <a:srgbClr val="1E1E1E"/>
                </a:solidFill>
                <a:latin typeface="Arial" panose="020B0604020202020204" pitchFamily="34" charset="0"/>
              </a:rPr>
              <a:t>DC−</a:t>
            </a:r>
            <a:endParaRPr lang="sv-SE" sz="92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08719A-8B6C-A364-E619-BCE6BF6D4650}"/>
              </a:ext>
            </a:extLst>
          </p:cNvPr>
          <p:cNvCxnSpPr/>
          <p:nvPr/>
        </p:nvCxnSpPr>
        <p:spPr>
          <a:xfrm>
            <a:off x="523875" y="1638300"/>
            <a:ext cx="4095750" cy="0"/>
          </a:xfrm>
          <a:prstGeom prst="line">
            <a:avLst/>
          </a:prstGeom>
          <a:ln w="508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B8D1413-79C6-0A1C-1D64-A17CDCB4A2B7}"/>
              </a:ext>
            </a:extLst>
          </p:cNvPr>
          <p:cNvCxnSpPr/>
          <p:nvPr/>
        </p:nvCxnSpPr>
        <p:spPr>
          <a:xfrm>
            <a:off x="523875" y="1752600"/>
            <a:ext cx="4095750" cy="0"/>
          </a:xfrm>
          <a:prstGeom prst="line">
            <a:avLst/>
          </a:prstGeom>
          <a:ln w="508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2D306F4-618D-A006-BE83-F5F5AEF8A08B}"/>
              </a:ext>
            </a:extLst>
          </p:cNvPr>
          <p:cNvCxnSpPr/>
          <p:nvPr/>
        </p:nvCxnSpPr>
        <p:spPr>
          <a:xfrm>
            <a:off x="2305050" y="1562100"/>
            <a:ext cx="0" cy="762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FDF8CA-179D-4482-1583-48C9B001FC79}"/>
              </a:ext>
            </a:extLst>
          </p:cNvPr>
          <p:cNvCxnSpPr/>
          <p:nvPr/>
        </p:nvCxnSpPr>
        <p:spPr>
          <a:xfrm>
            <a:off x="2828925" y="1562100"/>
            <a:ext cx="0" cy="19050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DC14D77-34CE-B47F-5A9C-D6373DB1F2A8}"/>
              </a:ext>
            </a:extLst>
          </p:cNvPr>
          <p:cNvSpPr txBox="1"/>
          <p:nvPr/>
        </p:nvSpPr>
        <p:spPr>
          <a:xfrm>
            <a:off x="523875" y="1428750"/>
            <a:ext cx="15240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830">
                <a:solidFill>
                  <a:srgbClr val="787878"/>
                </a:solidFill>
                <a:latin typeface="Arial" panose="020B0604020202020204" pitchFamily="34" charset="0"/>
              </a:rPr>
              <a:t>laminated terminal row + one bank</a:t>
            </a:r>
            <a:endParaRPr lang="sv-SE" sz="8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03ECB5B-D064-1FF1-9892-1E345F2E8C21}"/>
              </a:ext>
            </a:extLst>
          </p:cNvPr>
          <p:cNvSpPr/>
          <p:nvPr/>
        </p:nvSpPr>
        <p:spPr>
          <a:xfrm>
            <a:off x="61912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1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B9302C6-4332-546A-568A-3D372B402AB4}"/>
              </a:ext>
            </a:extLst>
          </p:cNvPr>
          <p:cNvSpPr/>
          <p:nvPr/>
        </p:nvSpPr>
        <p:spPr>
          <a:xfrm>
            <a:off x="66675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01342FE-4808-A5D8-5091-1B90F5BA6743}"/>
              </a:ext>
            </a:extLst>
          </p:cNvPr>
          <p:cNvCxnSpPr/>
          <p:nvPr/>
        </p:nvCxnSpPr>
        <p:spPr>
          <a:xfrm>
            <a:off x="90487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FC9E847-9F6F-0717-AC6C-979626B464CD}"/>
              </a:ext>
            </a:extLst>
          </p:cNvPr>
          <p:cNvCxnSpPr/>
          <p:nvPr/>
        </p:nvCxnSpPr>
        <p:spPr>
          <a:xfrm>
            <a:off x="119062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7232D6F-2B47-85C8-E587-043D33489C33}"/>
              </a:ext>
            </a:extLst>
          </p:cNvPr>
          <p:cNvCxnSpPr/>
          <p:nvPr/>
        </p:nvCxnSpPr>
        <p:spPr>
          <a:xfrm>
            <a:off x="104775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0F3F1B-C1BE-BA7C-6E75-18B4042C413C}"/>
              </a:ext>
            </a:extLst>
          </p:cNvPr>
          <p:cNvCxnSpPr/>
          <p:nvPr/>
        </p:nvCxnSpPr>
        <p:spPr>
          <a:xfrm>
            <a:off x="104775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F3FB439-527F-D16C-A83B-4D01813C7A64}"/>
              </a:ext>
            </a:extLst>
          </p:cNvPr>
          <p:cNvSpPr/>
          <p:nvPr/>
        </p:nvSpPr>
        <p:spPr>
          <a:xfrm>
            <a:off x="166687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2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C7F3CE1-770C-BC7E-E9E1-48BFECAACAF3}"/>
              </a:ext>
            </a:extLst>
          </p:cNvPr>
          <p:cNvSpPr/>
          <p:nvPr/>
        </p:nvSpPr>
        <p:spPr>
          <a:xfrm>
            <a:off x="171450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26B70EE-2FE9-06B1-1A2E-3CEF9262A71E}"/>
              </a:ext>
            </a:extLst>
          </p:cNvPr>
          <p:cNvCxnSpPr/>
          <p:nvPr/>
        </p:nvCxnSpPr>
        <p:spPr>
          <a:xfrm>
            <a:off x="195262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53DD8B4-C886-BA33-B075-F5BE8ABE9083}"/>
              </a:ext>
            </a:extLst>
          </p:cNvPr>
          <p:cNvCxnSpPr/>
          <p:nvPr/>
        </p:nvCxnSpPr>
        <p:spPr>
          <a:xfrm>
            <a:off x="223837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FC4BFAA-F493-78CD-6EA0-9E6835F7C4C0}"/>
              </a:ext>
            </a:extLst>
          </p:cNvPr>
          <p:cNvCxnSpPr/>
          <p:nvPr/>
        </p:nvCxnSpPr>
        <p:spPr>
          <a:xfrm>
            <a:off x="209550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C9F0B35-8EA5-0E00-F20D-78CC8F8A0F53}"/>
              </a:ext>
            </a:extLst>
          </p:cNvPr>
          <p:cNvCxnSpPr/>
          <p:nvPr/>
        </p:nvCxnSpPr>
        <p:spPr>
          <a:xfrm>
            <a:off x="209550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140A35C0-B9EE-2E44-AA78-A5BE6D26A71E}"/>
              </a:ext>
            </a:extLst>
          </p:cNvPr>
          <p:cNvSpPr/>
          <p:nvPr/>
        </p:nvSpPr>
        <p:spPr>
          <a:xfrm>
            <a:off x="271462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3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FEBA476-914F-FC84-F4AA-7E0118ADA14C}"/>
              </a:ext>
            </a:extLst>
          </p:cNvPr>
          <p:cNvSpPr/>
          <p:nvPr/>
        </p:nvSpPr>
        <p:spPr>
          <a:xfrm>
            <a:off x="276225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ACAAA58-C6FC-66C7-7BF8-8FE9CD2D69BB}"/>
              </a:ext>
            </a:extLst>
          </p:cNvPr>
          <p:cNvCxnSpPr/>
          <p:nvPr/>
        </p:nvCxnSpPr>
        <p:spPr>
          <a:xfrm>
            <a:off x="300037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476730E-E12C-856C-0162-783F887DC219}"/>
              </a:ext>
            </a:extLst>
          </p:cNvPr>
          <p:cNvCxnSpPr/>
          <p:nvPr/>
        </p:nvCxnSpPr>
        <p:spPr>
          <a:xfrm>
            <a:off x="328612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F45A22D-72C7-0535-45A9-93C090D33FD3}"/>
              </a:ext>
            </a:extLst>
          </p:cNvPr>
          <p:cNvCxnSpPr/>
          <p:nvPr/>
        </p:nvCxnSpPr>
        <p:spPr>
          <a:xfrm>
            <a:off x="314325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22C54BA-8C12-0D51-2122-27D58AE12B14}"/>
              </a:ext>
            </a:extLst>
          </p:cNvPr>
          <p:cNvCxnSpPr/>
          <p:nvPr/>
        </p:nvCxnSpPr>
        <p:spPr>
          <a:xfrm>
            <a:off x="314325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19FB3900-5B3B-7AD5-20D3-1B03F4215CA6}"/>
              </a:ext>
            </a:extLst>
          </p:cNvPr>
          <p:cNvSpPr/>
          <p:nvPr/>
        </p:nvSpPr>
        <p:spPr>
          <a:xfrm>
            <a:off x="376237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4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E38A57B-3624-235E-0508-BDD716390481}"/>
              </a:ext>
            </a:extLst>
          </p:cNvPr>
          <p:cNvSpPr/>
          <p:nvPr/>
        </p:nvSpPr>
        <p:spPr>
          <a:xfrm>
            <a:off x="381000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77BBC51-C0F9-61B3-D970-1329A78D9BC4}"/>
              </a:ext>
            </a:extLst>
          </p:cNvPr>
          <p:cNvCxnSpPr/>
          <p:nvPr/>
        </p:nvCxnSpPr>
        <p:spPr>
          <a:xfrm>
            <a:off x="404812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D0089D4-81B9-E5E3-E4B0-A3B66941F181}"/>
              </a:ext>
            </a:extLst>
          </p:cNvPr>
          <p:cNvCxnSpPr/>
          <p:nvPr/>
        </p:nvCxnSpPr>
        <p:spPr>
          <a:xfrm>
            <a:off x="433387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131804A-1F21-56EB-2EF5-B69DD8194BB8}"/>
              </a:ext>
            </a:extLst>
          </p:cNvPr>
          <p:cNvCxnSpPr/>
          <p:nvPr/>
        </p:nvCxnSpPr>
        <p:spPr>
          <a:xfrm>
            <a:off x="419100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54D1445-CF6C-183C-E237-04D6558CD074}"/>
              </a:ext>
            </a:extLst>
          </p:cNvPr>
          <p:cNvCxnSpPr/>
          <p:nvPr/>
        </p:nvCxnSpPr>
        <p:spPr>
          <a:xfrm>
            <a:off x="419100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62D1E70-67C6-26C2-5591-9790B6CD68ED}"/>
              </a:ext>
            </a:extLst>
          </p:cNvPr>
          <p:cNvSpPr/>
          <p:nvPr/>
        </p:nvSpPr>
        <p:spPr>
          <a:xfrm>
            <a:off x="1000125" y="2981325"/>
            <a:ext cx="1047750" cy="266700"/>
          </a:xfrm>
          <a:prstGeom prst="roundRect">
            <a:avLst/>
          </a:prstGeom>
          <a:solidFill>
            <a:srgbClr val="E6F3E9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2EDF7275K #1</a:t>
            </a:r>
          </a:p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HS + LS, star</a:t>
            </a:r>
            <a:endParaRPr lang="sv-SE" sz="8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34C85A47-F4F2-151D-4A9C-E0B80A91C679}"/>
              </a:ext>
            </a:extLst>
          </p:cNvPr>
          <p:cNvSpPr/>
          <p:nvPr/>
        </p:nvSpPr>
        <p:spPr>
          <a:xfrm>
            <a:off x="3095625" y="2981325"/>
            <a:ext cx="1047750" cy="266700"/>
          </a:xfrm>
          <a:prstGeom prst="roundRect">
            <a:avLst/>
          </a:prstGeom>
          <a:solidFill>
            <a:srgbClr val="E6F3E9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2EDF7275K #2</a:t>
            </a:r>
          </a:p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HS + LS, star</a:t>
            </a:r>
            <a:endParaRPr lang="sv-SE" sz="8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77280B1-2AA8-195D-1AB0-C86DAF2B4092}"/>
              </a:ext>
            </a:extLst>
          </p:cNvPr>
          <p:cNvCxnSpPr/>
          <p:nvPr/>
        </p:nvCxnSpPr>
        <p:spPr>
          <a:xfrm>
            <a:off x="809625" y="3476625"/>
            <a:ext cx="3381375" cy="0"/>
          </a:xfrm>
          <a:prstGeom prst="line">
            <a:avLst/>
          </a:prstGeom>
          <a:ln w="635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7EC06A7-6C4F-D766-06DB-C606FF084360}"/>
              </a:ext>
            </a:extLst>
          </p:cNvPr>
          <p:cNvSpPr txBox="1"/>
          <p:nvPr/>
        </p:nvSpPr>
        <p:spPr>
          <a:xfrm>
            <a:off x="714375" y="3524250"/>
            <a:ext cx="1714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920" b="1">
                <a:solidFill>
                  <a:srgbClr val="1E1E1E"/>
                </a:solidFill>
                <a:latin typeface="Arial" panose="020B0604020202020204" pitchFamily="34" charset="0"/>
              </a:rPr>
              <a:t>AC joined in copper (all layers)</a:t>
            </a:r>
            <a:endParaRPr lang="sv-SE" sz="92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AB5C6B3-F907-60AD-A14F-AB9030C64BF7}"/>
              </a:ext>
            </a:extLst>
          </p:cNvPr>
          <p:cNvCxnSpPr/>
          <p:nvPr/>
        </p:nvCxnSpPr>
        <p:spPr>
          <a:xfrm>
            <a:off x="2571750" y="3476625"/>
            <a:ext cx="0" cy="428625"/>
          </a:xfrm>
          <a:prstGeom prst="line">
            <a:avLst/>
          </a:prstGeom>
          <a:ln w="63500">
            <a:solidFill>
              <a:srgbClr val="1E1E1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A253E05D-576B-EE31-362C-6EA703B5D558}"/>
              </a:ext>
            </a:extLst>
          </p:cNvPr>
          <p:cNvSpPr txBox="1"/>
          <p:nvPr/>
        </p:nvSpPr>
        <p:spPr>
          <a:xfrm>
            <a:off x="2667000" y="3714750"/>
            <a:ext cx="2095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ONE M6 AC bolt pad → Cu bar</a:t>
            </a:r>
          </a:p>
          <a:p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→ LEM HO 250-S → load</a:t>
            </a:r>
            <a:endParaRPr lang="sv-SE" sz="92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5981CA-8849-18E3-7D4F-82C3C0C747E1}"/>
              </a:ext>
            </a:extLst>
          </p:cNvPr>
          <p:cNvSpPr txBox="1"/>
          <p:nvPr/>
        </p:nvSpPr>
        <p:spPr>
          <a:xfrm>
            <a:off x="5000625" y="952500"/>
            <a:ext cx="381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One leg: 4 EPC2361 per switch,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two 2EDF7275K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, each drives one pair (HS + LS channel) through a star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Why one driver per pair: the driver sits between its two cells ⇒ short, identical gate loops; one HS + one LS isolated supply, split per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One DC+ / DC− pair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at the centre: laminated terminal row (L1/L3 +, L2/L4 −) feeds one continuous bank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One AC output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: all four switch nodes joined, one M6 bolt pad, Cu bar through the HO 250-S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Built as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two boards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from the same generator: DPT (UFCS shunt per cell) and load test (no shunt)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97145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875B6-9C19-FC7C-8059-75CC2E5A0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Two boards from one design: double-pulse test and load test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912571-DB89-86F2-E678-3FFD2745C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87F770-2728-4331-0D36-B77426B92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A2366FB-94EE-B2DC-B41B-C390020B93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9518530"/>
              </p:ext>
            </p:extLst>
          </p:nvPr>
        </p:nvGraphicFramePr>
        <p:xfrm>
          <a:off x="238125" y="952500"/>
          <a:ext cx="866775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591842593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3753674944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17644286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 board (spb-bb-revb-dpt)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Load-test board (spb-bb-revb-load)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93291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Purpose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switching energies, per-cell current, overshoot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back-to-back / three-phase load test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667545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LS source path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PMK UFCS-R001 per cell (1 mΩ, 120 pH)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source stripes via-in-pad (blind L1–L2) to DC−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330311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UFCS land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 land shortened to 1.2 mm: blade 1.45 mm from the source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369368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Cooling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none (pulsed test)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Fischer LAM 4 K 50 12 on an Al spreader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18206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per cell (Q3D)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 nH (mean)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 nH (mean)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460717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94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617119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Parts / DRC / schematic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200 footprints, DRC 0 / 0 / 0, schematic = PCB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200 footprints, DRC 0 / 0 / 0, schematic = PCB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590918"/>
                  </a:ext>
                </a:extLst>
              </a:tr>
            </a:tbl>
          </a:graphicData>
        </a:graphic>
      </p:graphicFrame>
      <p:sp>
        <p:nvSpPr>
          <p:cNvPr id="7" name="decision">
            <a:extLst>
              <a:ext uri="{FF2B5EF4-FFF2-40B4-BE49-F238E27FC236}">
                <a16:creationId xmlns:a16="http://schemas.microsoft.com/office/drawing/2014/main" id="{4CD7AF42-2ED2-D1CF-9A47-79BAC0E8937A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Same copper, drivers, bank and terminals; only the LS source path and the cooling differ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48565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32B79-DF20-4F6F-1EB8-ECE3DC5F9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DPT board layout (UFCS shunts, no heatsink)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02B39F-2C0B-883F-E03A-18F59838A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B32473-ED09-3A3A-7E88-37A330156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5250F01-CB31-B020-61AA-E07DEC1FE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86" y="952500"/>
            <a:ext cx="3896478" cy="371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3DCABE-8294-53D5-74F3-C0C5E065D6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375" y="952500"/>
            <a:ext cx="2190750" cy="20914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EC01E83-1C85-308B-AE59-6D4A5F05312D}"/>
              </a:ext>
            </a:extLst>
          </p:cNvPr>
          <p:cNvSpPr txBox="1"/>
          <p:nvPr/>
        </p:nvSpPr>
        <p:spPr>
          <a:xfrm>
            <a:off x="6810375" y="952500"/>
            <a:ext cx="2000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89.5 × 85.2 mm, 4 layers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UFCS-R001 per cell, IN land 1.2 mm (blade at the source edge), return vias in the SHLD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No heatsink, no spreader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DRC 0 / 0 / 0, schematic = PCB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54131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85807-B8B4-601A-2337-F71BCC341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Load-test board layout (no shunt, heatsink)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7A737-11AC-273C-9005-9F83347586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58A1FA-8434-1E22-539A-3975EC521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B3F725-97A6-2FCE-49C2-78341E89A8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86" y="952500"/>
            <a:ext cx="3896478" cy="371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E7E038-EDD2-2997-6772-5A3C2D463F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375" y="952500"/>
            <a:ext cx="2190750" cy="20914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0B4668-17C3-0EF4-1D59-D1B19DBB8BFF}"/>
              </a:ext>
            </a:extLst>
          </p:cNvPr>
          <p:cNvSpPr txBox="1"/>
          <p:nvPr/>
        </p:nvSpPr>
        <p:spPr>
          <a:xfrm>
            <a:off x="6810375" y="952500"/>
            <a:ext cx="2000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89.5 × 85.2 mm, 4 layers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LS source stripes: 3 blind L1–L2 vias each (filled, capped) into the DC− plane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LAM 4 K 50 12 over the cells, 3 spreader holes (H5–H7)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DRC 0 / 0 / 0, schematic = PCB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9622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25C50-530B-A252-A49E-AD9839248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The two boards in 3D (KiCad models)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40C6E0-D166-B8A9-630F-A45634283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D68529-16F4-EEBE-C7F3-81ADBEACF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11A09D-EF57-CB01-91E5-5C49420326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371" y="952500"/>
            <a:ext cx="4066134" cy="285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421A05F-3B5A-815A-7037-383AE8C6D0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7048" y="952500"/>
            <a:ext cx="2968528" cy="2857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DD5D9F7-AC83-890A-258A-7A3846DEF242}"/>
              </a:ext>
            </a:extLst>
          </p:cNvPr>
          <p:cNvSpPr txBox="1"/>
          <p:nvPr/>
        </p:nvSpPr>
        <p:spPr>
          <a:xfrm>
            <a:off x="238125" y="3810000"/>
            <a:ext cx="4238625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010">
                <a:solidFill>
                  <a:srgbClr val="787878"/>
                </a:solidFill>
                <a:latin typeface="Arial" panose="020B0604020202020204" pitchFamily="34" charset="0"/>
              </a:rPr>
              <a:t>DPT board: UFCS shunts over the LS FETs, M6 AC bolt + Cu bar</a:t>
            </a:r>
            <a:endParaRPr lang="sv-SE" sz="101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01C694-D399-7366-4445-7B96A6C59B73}"/>
              </a:ext>
            </a:extLst>
          </p:cNvPr>
          <p:cNvSpPr txBox="1"/>
          <p:nvPr/>
        </p:nvSpPr>
        <p:spPr>
          <a:xfrm>
            <a:off x="4572000" y="3810000"/>
            <a:ext cx="4238625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010">
                <a:solidFill>
                  <a:srgbClr val="787878"/>
                </a:solidFill>
                <a:latin typeface="Arial" panose="020B0604020202020204" pitchFamily="34" charset="0"/>
              </a:rPr>
              <a:t>Load-test board: LAM 4 K 50 12 + Al spreader</a:t>
            </a:r>
            <a:endParaRPr lang="sv-SE" sz="101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B35395-BB73-7E42-C527-4BD377FBADAB}"/>
              </a:ext>
            </a:extLst>
          </p:cNvPr>
          <p:cNvSpPr txBox="1"/>
          <p:nvPr/>
        </p:nvSpPr>
        <p:spPr>
          <a:xfrm>
            <a:off x="238125" y="40481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Every footprint has a 3D model (KiCad library + box models: EPC2361, 2EDF7275K, UFCS, TDK 2220, WE-CNSW, M6 bolt + bar, heatsink); board STEPs in hardware/spb-bb-revb-*/fab; rendered with pyvista (scripts/render_3d.py)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CFECB2-BA9B-7355-6C76-60ED9AD70D53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Box models are dimensioned envelopes, not manufacturer CAD (UFCS SMA jack position approximate).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52907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0C979-0A4B-21F9-19C0-24EECF573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Top view with the silkscreen: DPT and load-test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74FED5-EB08-4878-B98F-2621D3974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790752-8E43-9D6F-33C8-F4FBB9F5B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FA4513-9B1A-E020-FA67-81EB983155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67" y="952500"/>
            <a:ext cx="3499566" cy="3429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3FFACE8-B479-E2CA-C417-2B2C2281EF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9214" y="952500"/>
            <a:ext cx="3327071" cy="3429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987BCE3-7C4F-49EA-C6C0-CB4DE439EBE8}"/>
              </a:ext>
            </a:extLst>
          </p:cNvPr>
          <p:cNvSpPr txBox="1"/>
          <p:nvPr/>
        </p:nvSpPr>
        <p:spPr>
          <a:xfrm>
            <a:off x="238125" y="4429125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DPT board (UFCS shunts over the LS FETs)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BC9D64-7752-1ADC-67B2-0A4FD050345E}"/>
              </a:ext>
            </a:extLst>
          </p:cNvPr>
          <p:cNvSpPr txBox="1"/>
          <p:nvPr/>
        </p:nvSpPr>
        <p:spPr>
          <a:xfrm>
            <a:off x="4619625" y="4429125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load-test board (heatsink removed for the view)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94221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7EAF8-1A08-C9C6-8F97-8B533AC61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Bottom side and the load board without heatsink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FBEA96-0F43-A33D-07C7-962B7102B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E6416D-7A97-1C14-BE65-6AECCE75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CFFB0F-09DA-A53F-BECD-27540A3288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759" y="952500"/>
            <a:ext cx="3855357" cy="285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8F5AFB-0C1B-3F7E-C791-B9A4D7FCFF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8246" y="952500"/>
            <a:ext cx="4066134" cy="2857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15B0EFD-E82A-0A42-0F8A-725F554D371E}"/>
              </a:ext>
            </a:extLst>
          </p:cNvPr>
          <p:cNvSpPr txBox="1"/>
          <p:nvPr/>
        </p:nvSpPr>
        <p:spPr>
          <a:xfrm>
            <a:off x="238125" y="3905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Bottom: REDCUBE M4 DC terminals (the leg stands on the busbar), 4 bypass 0805 per cell, U.FL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and MMCX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ports, M6 AC nut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Top without heatsink: 20 × 2220 bank in two rows, 8 EPC2361 under the spreader pedestals, 2 drivers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34147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8CA2F-4988-F466-1CE3-BD496CC38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Two driver pairs on one switch node: driver skew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AFAA20-0292-D2BC-D37A-F7ED88340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E1A61C-99B6-0A38-BCD4-5584B208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33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352652-748A-F647-12F9-FFDF8F901743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The four switch nodes are joined in copper;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inductance between the switch nodes of the two driver pairs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If driver 2 switches Δt later, pair 1 takes ΔI ≈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·Δt /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until pair 2 follows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Q3D (fast lx model, final boards):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6.77 nH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(HS on) /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5.44 nH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(LS on) on the load board, 4.91 / 2.68 nH on the DPT board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⇒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≈ 14 A per ns of skew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(load board)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0F061A4-0230-7130-4089-BB143133D3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8577120"/>
              </p:ext>
            </p:extLst>
          </p:nvPr>
        </p:nvGraphicFramePr>
        <p:xfrm>
          <a:off x="5429251" y="1047750"/>
          <a:ext cx="3381375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50">
                  <a:extLst>
                    <a:ext uri="{9D8B030D-6E8A-4147-A177-3AD203B41FA5}">
                      <a16:colId xmlns:a16="http://schemas.microsoft.com/office/drawing/2014/main" val="2152536414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211784930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Rev B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579292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PWM source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C2000 drives both headers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96346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Matched traces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 PCB, same CMC per block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18778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Driver skew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2EDF7275K part-to-part: check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37107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 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of both blocks, UFCS per cell (DPT)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5431215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E64862E3-887B-CDD0-13B1-F000BAA629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250" y="2905125"/>
            <a:ext cx="3476625" cy="2172891"/>
          </a:xfrm>
          <a:prstGeom prst="rect">
            <a:avLst/>
          </a:prstGeom>
        </p:spPr>
      </p:pic>
      <p:sp>
        <p:nvSpPr>
          <p:cNvPr id="10" name="decision">
            <a:extLst>
              <a:ext uri="{FF2B5EF4-FFF2-40B4-BE49-F238E27FC236}">
                <a16:creationId xmlns:a16="http://schemas.microsoft.com/office/drawing/2014/main" id="{BA6341BA-2ED6-7981-7FA6-3F7702EFD980}"/>
              </a:ext>
            </a:extLst>
          </p:cNvPr>
          <p:cNvSpPr/>
          <p:nvPr/>
        </p:nvSpPr>
        <p:spPr>
          <a:xfrm>
            <a:off x="238125" y="4400550"/>
            <a:ext cx="50482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Measure the per-cell current (UFCS) with both drivers switching; delay trim in the C2000 if needed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87065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E8077-F78C-9F3A-21A4-1E006F07D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supplies: two isolated supplies, Zener split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FE3EB4-D692-0DCD-F1E1-7A0B9E7F5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D3A62F-5DAC-F95E-90C0-FFBFDFF76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34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DD399B-2CBC-6356-F6AA-13AA1DA2A1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15761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AB9A908-8283-6A53-BEDD-8A827F3DDCE3}"/>
              </a:ext>
            </a:extLst>
          </p:cNvPr>
          <p:cNvSpPr txBox="1"/>
          <p:nvPr/>
        </p:nvSpPr>
        <p:spPr>
          <a:xfrm>
            <a:off x="5381625" y="952500"/>
            <a:ext cx="3429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One external isolated supply for all HS drivers and one for all LS drivers; each splits per driver through a WE-CNSW common-mode choke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5.1 V Zener VDD–S and 150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bias resistor S–VEE (Karakaya, METU 2020, Fig. 4.1):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GS,on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+5.1 V,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GS,off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−(V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− 5.1 V)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7.0 V ⇒ −1.9 V off (bump mitigation, inside the −4 V limit); island decoupling 1 µF + 4.7 µF per rail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33615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D6873-D683-2B38-1627-15E87D0A0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Driver block: input filters, turn-on / turn-off paths, star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1AB542-7AC8-B5AA-5C42-8195E16BE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50C988-C258-C545-E853-A593591E1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4AB3A4-9892-3E85-9487-B28030B11E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05" y="952500"/>
            <a:ext cx="7531789" cy="2476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1A2A1CE-D62F-A025-3E1F-C2F7D06F3E31}"/>
              </a:ext>
            </a:extLst>
          </p:cNvPr>
          <p:cNvSpPr txBox="1"/>
          <p:nvPr/>
        </p:nvSpPr>
        <p:spPr>
          <a:xfrm>
            <a:off x="238125" y="3524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block a 2×5 control header (each signal next to its return); common-mode chokes on 12 V, DIS and NTC, none on PWM_H / PWM_L (no extra delay or LC ringing with the 100 pF input filter; removed after the PWM review)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47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/ 100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pF input filters, 10 k pull-downs,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1.5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(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shared by the pair),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+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Schottky,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transistor ⇒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3.5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device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46522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4C7A-2378-6440-44D2-8FDF2A280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Measurement and control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0955B7-12C9-D36D-31E3-E8BCE0602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96F71-1E00-6298-5702-57C5CE71E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36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785A4E3-5FC9-9C4A-E410-1EF701B5C8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44513"/>
              </p:ext>
            </p:extLst>
          </p:nvPr>
        </p:nvGraphicFramePr>
        <p:xfrm>
          <a:off x="238125" y="952500"/>
          <a:ext cx="495300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750">
                  <a:extLst>
                    <a:ext uri="{9D8B030D-6E8A-4147-A177-3AD203B41FA5}">
                      <a16:colId xmlns:a16="http://schemas.microsoft.com/office/drawing/2014/main" val="2031109177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522310342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1431738081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How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Where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35363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current (DPT)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PMK UFCS-R001, 1 mΩ, 120 pH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LS source of each cell, DPT board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847210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Phase current (control)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LEM HO 250-S, ±625 A, 3.2 mV/A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Cu bar on the M6 AC pad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678499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HS / LS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U.FL, 0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Ω, 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shield = Kelvin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bottom, at each cell (both boards)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24683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LS (DPT)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MMCX (WR-MMCX, 170 V rms): SW / LSRC, rated isolated probe (e.g. IsoVu TIVPMX50X)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bottom, next to each LS FET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41709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Bring-up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test points + spring-tip pads (V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), list in fab/testpoints.csv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both sides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62467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Board temperature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NTC 10 k at the driver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control side (GNDI)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0130410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0FECF4BF-1E76-94ED-19A6-DDA64C3D3B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3667125"/>
            <a:ext cx="5143500" cy="7008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39D43D4-092E-83FA-7C0D-5A9E5249F714}"/>
              </a:ext>
            </a:extLst>
          </p:cNvPr>
          <p:cNvSpPr txBox="1"/>
          <p:nvPr/>
        </p:nvSpPr>
        <p:spPr>
          <a:xfrm>
            <a:off x="5429250" y="238125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Back-to-back load test, closed loop on a TI TMS320F28379D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Load board: no shunt ⇒ phase current from the HO 250-S, cell sharing from the DPT board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No short-circuit protection on the boards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1500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1C0B0-6C33-28D7-81FE-9EE02E119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Power stage schematics (generated, identical to the PCBs)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09B5C9-FE84-B0FB-74EE-6BDED5B38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4EC68B-0EA1-F250-27BA-2DA8BB79B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37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CA4E30-0518-81E2-A6C7-173AA5D20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77" y="952500"/>
            <a:ext cx="4507046" cy="16668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3DF022-DCA3-D929-EDF6-4AEC7ADD4F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77" y="2714625"/>
            <a:ext cx="4507046" cy="16668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2430232-7859-694E-4328-30796F7B7472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Top: DPT board (UFCS in each LS source). Bottom: load-test board (LS source to DC−). make_kicad_sch_revb.py; check_sch_vs_pcb.py: 0 problems on both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07306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1C4EC-CE9D-CB94-AB88-AD11615A3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Three legs on one 75 V bus: what the bus must do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0A3D05-082B-F7A5-D1EF-BD8058A65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6415CA-842E-4F48-7C16-4D1418024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38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37E37A-B9BE-8695-F027-6DC369370F98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The switching edge closes on each board (bypass + bank); the bus only carries the f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ripple between the leg banks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Sharing needs 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≪ 1/(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C): at 50 kHz and ≈ 127 µF eff. per leg L ≪ 80 nH ⇒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target ≤ 5 nH leg to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DC: 250 A stack current enters the level, 83 A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All-MLCC banks joined by nH copper form a high-Q resonator ⇒ damping footprints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A943F0-D476-ABA8-94C0-DAD99FE69A79}"/>
              </a:ext>
            </a:extLst>
          </p:cNvPr>
          <p:cNvSpPr/>
          <p:nvPr/>
        </p:nvSpPr>
        <p:spPr>
          <a:xfrm>
            <a:off x="5429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a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a)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9C86AA6-D5F5-1565-BC7B-BB853C139562}"/>
              </a:ext>
            </a:extLst>
          </p:cNvPr>
          <p:cNvCxnSpPr/>
          <p:nvPr/>
        </p:nvCxnSpPr>
        <p:spPr>
          <a:xfrm>
            <a:off x="5715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A1586CB-597A-FDB1-D47F-AB963D0B84F8}"/>
              </a:ext>
            </a:extLst>
          </p:cNvPr>
          <p:cNvCxnSpPr/>
          <p:nvPr/>
        </p:nvCxnSpPr>
        <p:spPr>
          <a:xfrm>
            <a:off x="6143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066DC47-60AB-7A9F-83CF-F6D1F690A8AC}"/>
              </a:ext>
            </a:extLst>
          </p:cNvPr>
          <p:cNvSpPr/>
          <p:nvPr/>
        </p:nvSpPr>
        <p:spPr>
          <a:xfrm>
            <a:off x="6572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b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b)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168CEBE-6D7A-C833-2B2F-ABB0B6632DC5}"/>
              </a:ext>
            </a:extLst>
          </p:cNvPr>
          <p:cNvCxnSpPr/>
          <p:nvPr/>
        </p:nvCxnSpPr>
        <p:spPr>
          <a:xfrm>
            <a:off x="6858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8CC62E5-A2EA-FE55-9C99-E595CD6F74D4}"/>
              </a:ext>
            </a:extLst>
          </p:cNvPr>
          <p:cNvCxnSpPr/>
          <p:nvPr/>
        </p:nvCxnSpPr>
        <p:spPr>
          <a:xfrm>
            <a:off x="7286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9CA1FAF-1DDB-1BA3-362C-30F9A4D9B469}"/>
              </a:ext>
            </a:extLst>
          </p:cNvPr>
          <p:cNvSpPr/>
          <p:nvPr/>
        </p:nvSpPr>
        <p:spPr>
          <a:xfrm>
            <a:off x="7715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c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c)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FB88004-5EC9-CB44-FFCB-3C216357B39F}"/>
              </a:ext>
            </a:extLst>
          </p:cNvPr>
          <p:cNvCxnSpPr/>
          <p:nvPr/>
        </p:nvCxnSpPr>
        <p:spPr>
          <a:xfrm>
            <a:off x="8001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4A3D9B-5206-4892-D186-DA6AAD0211A1}"/>
              </a:ext>
            </a:extLst>
          </p:cNvPr>
          <p:cNvCxnSpPr/>
          <p:nvPr/>
        </p:nvCxnSpPr>
        <p:spPr>
          <a:xfrm>
            <a:off x="8429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F21E26C-0920-8F46-F440-06BF8F88A99F}"/>
              </a:ext>
            </a:extLst>
          </p:cNvPr>
          <p:cNvCxnSpPr/>
          <p:nvPr/>
        </p:nvCxnSpPr>
        <p:spPr>
          <a:xfrm>
            <a:off x="5381625" y="2381250"/>
            <a:ext cx="3381375" cy="0"/>
          </a:xfrm>
          <a:prstGeom prst="line">
            <a:avLst/>
          </a:prstGeom>
          <a:ln w="635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7949D1E-0A3A-37D9-C848-937D52D56845}"/>
              </a:ext>
            </a:extLst>
          </p:cNvPr>
          <p:cNvCxnSpPr/>
          <p:nvPr/>
        </p:nvCxnSpPr>
        <p:spPr>
          <a:xfrm>
            <a:off x="5381625" y="2476500"/>
            <a:ext cx="3381375" cy="0"/>
          </a:xfrm>
          <a:prstGeom prst="line">
            <a:avLst/>
          </a:prstGeom>
          <a:ln w="635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73A4BFB-EF09-DBB4-84F0-702F6C795A3B}"/>
              </a:ext>
            </a:extLst>
          </p:cNvPr>
          <p:cNvSpPr txBox="1"/>
          <p:nvPr/>
        </p:nvSpPr>
        <p:spPr>
          <a:xfrm>
            <a:off x="5429250" y="2552700"/>
            <a:ext cx="33337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920" b="1">
                <a:solidFill>
                  <a:srgbClr val="1E1E1E"/>
                </a:solidFill>
                <a:latin typeface="Arial" panose="020B0604020202020204" pitchFamily="34" charset="0"/>
              </a:rPr>
              <a:t>laminated PCB busbar (L1 + / L2 − / L3 + / L4 −)</a:t>
            </a:r>
            <a:endParaRPr lang="sv-SE" sz="92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67C6A68-7C4C-DB08-E762-1E99F82ADE81}"/>
              </a:ext>
            </a:extLst>
          </p:cNvPr>
          <p:cNvCxnSpPr/>
          <p:nvPr/>
        </p:nvCxnSpPr>
        <p:spPr>
          <a:xfrm>
            <a:off x="6953250" y="2476500"/>
            <a:ext cx="0" cy="571500"/>
          </a:xfrm>
          <a:prstGeom prst="line">
            <a:avLst/>
          </a:prstGeom>
          <a:ln w="38100">
            <a:solidFill>
              <a:srgbClr val="1E1E1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46D3EA5-581D-786E-B397-7E82CFF29DDF}"/>
              </a:ext>
            </a:extLst>
          </p:cNvPr>
          <p:cNvSpPr txBox="1"/>
          <p:nvPr/>
        </p:nvSpPr>
        <p:spPr>
          <a:xfrm>
            <a:off x="6000750" y="3095625"/>
            <a:ext cx="2095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920">
                <a:solidFill>
                  <a:srgbClr val="787878"/>
                </a:solidFill>
                <a:latin typeface="Arial" panose="020B0604020202020204" pitchFamily="34" charset="0"/>
              </a:rPr>
              <a:t>stack lugs at the centre leg</a:t>
            </a:r>
          </a:p>
          <a:p>
            <a:pPr algn="ctr"/>
            <a:r>
              <a:rPr lang="en-US" sz="920">
                <a:solidFill>
                  <a:srgbClr val="787878"/>
                </a:solidFill>
                <a:latin typeface="Arial" panose="020B0604020202020204" pitchFamily="34" charset="0"/>
              </a:rPr>
              <a:t>to the levels above / below</a:t>
            </a:r>
            <a:endParaRPr lang="sv-SE" sz="92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51033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1E50E-0C0F-4514-6DFC-A72BBF85B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PCB busbar: easy to manufacture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77DD41-C0BB-3890-21E4-7DB722F06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941463-1904-142E-B034-852FF6DCC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C00F37-FF8D-6428-50AF-3595CDC27D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3697" y="952500"/>
            <a:ext cx="3716606" cy="1333500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365E2CC-DF10-CEBF-5CB9-365E0FF9E0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602639"/>
              </p:ext>
            </p:extLst>
          </p:nvPr>
        </p:nvGraphicFramePr>
        <p:xfrm>
          <a:off x="238125" y="2428875"/>
          <a:ext cx="4095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7750">
                  <a:extLst>
                    <a:ext uri="{9D8B030D-6E8A-4147-A177-3AD203B41FA5}">
                      <a16:colId xmlns:a16="http://schemas.microsoft.com/office/drawing/2014/main" val="368133682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270383421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55997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298.5 × 45 mm, 1.6 mm, 4 layers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49764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Copper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 (JLCPCB JLC3313); 3–4 oz option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965815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Stack-up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L1 DC+ / ≤ 0.2 mm / L2 DC− / core / L3 DC+ / ≤ 0.2 mm / L4 DC−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507151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 contact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 × M4: one DC pair per leg (REDCUBE, 6.5 mm)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90903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Stack contact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× M6 lug pads at the centre leg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511449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Insulation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frame holes with 8 mm Cu keep-out (1200 V)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54843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E4E79E8-9E72-C84A-B9C1-380702BB81C1}"/>
              </a:ext>
            </a:extLst>
          </p:cNvPr>
          <p:cNvSpPr txBox="1"/>
          <p:nvPr/>
        </p:nvSpPr>
        <p:spPr>
          <a:xfrm>
            <a:off x="4572000" y="2428875"/>
            <a:ext cx="4238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Q3D (step 11): leg-to-leg loop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1.46 nH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at 1 MHz (a–b), DC busbar loss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Damping caps (100 V hybrid polymer) as DNP footprints; nylon standoffs at the leg corner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Generated: scripts/make_kicad_busbar.py, DRC clean; fab files in hardware/spb-busbar/fab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32430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D21B6-4C9B-0018-EDE7-319C108B2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One 75 V level in 3D: busbar + three load-test legs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030D86-2709-F432-B9C3-9AAFF374E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6DC1BA-6DD5-78EC-2344-5F283A830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62C92A-9F46-E7F4-F121-8EDF7591C2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453" y="952500"/>
            <a:ext cx="5643093" cy="31432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27571F7-7D0B-CED5-35C2-0C2419C2A789}"/>
              </a:ext>
            </a:extLst>
          </p:cNvPr>
          <p:cNvSpPr txBox="1"/>
          <p:nvPr/>
        </p:nvSpPr>
        <p:spPr>
          <a:xfrm>
            <a:off x="238125" y="41433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Legs a, b, c (pitch 94.5 mm, 5 mm gaps) stand on their REDCUBE DC terminals (6.5 mm) on the PCB busbar; M4 × 8 screws from below; AC bar of each leg through its LEM HO 250-S; heatsinks stay inside each board outline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2516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B8C42-B033-6D46-C5A2-779C8A895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Level assembly: busbar side and DC connection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C97A7A-242E-53C5-03BD-04931B01F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3EF451-A9B0-954A-ADEE-2A871CC0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6C725B-B0B5-6B8E-1667-8ADAC27C54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238625" cy="17293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A9D5AE-64D9-5133-2558-931A904476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952500"/>
            <a:ext cx="4238625" cy="18084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FA26A28-E9EC-F2F8-6651-9BA59D184A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438" y="3429000"/>
            <a:ext cx="3048000" cy="12382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5508FE3-7601-76A5-384A-5400C32B3B7E}"/>
              </a:ext>
            </a:extLst>
          </p:cNvPr>
          <p:cNvSpPr txBox="1"/>
          <p:nvPr/>
        </p:nvSpPr>
        <p:spPr>
          <a:xfrm>
            <a:off x="4572000" y="3429000"/>
            <a:ext cx="4238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Right: middle leg on the bus: REDCUBE + M4, nylon standoffs, M6 stack lugs, DNP damping caps, level header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Left bottom: side view (z stack): busbar top z = 0, leg bottom 6.5 mm, heatsink top 52.8 mm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710548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17CFE-90F6-F00D-E0E0-553F0E481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Mechanics: heatsink length fixed by the leg pitch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90C26A-A2BE-6F7D-6036-598DE291B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4E166E-5C69-FC8E-C64B-51C9A5B13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42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1774AD-C9A3-5F23-8DF5-C324A7C35DD4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LAM 4 (100 mm) + fan = 110 mm: wider than the 89.5 mm board ⇒ with 5 mm gaps the heatsinks of neighbouring legs would overlap by ≈ 15 mm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LAM 4 K 50 12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(Farnell 4708974, 0.65 K/W): 50 mm tube + fan centred over the cells (x −35 … 25 mm), inside the board outline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Al spreader 89.5 × 12.8 × 3 mm carries the outer cells (x ±33 mm) to the tube; ≈ 18 W FET loss per leg ⇒ ≈ 12 K heatsink rise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Spreader underside 1.68 mm, top 4.68 mm: clears the 2.8 mm bank and all bypass parts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79638B-F693-8990-8274-82C3B377C5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9763" y="952500"/>
            <a:ext cx="2572724" cy="2476500"/>
          </a:xfrm>
          <a:prstGeom prst="rect">
            <a:avLst/>
          </a:prstGeom>
        </p:spPr>
      </p:pic>
      <p:sp>
        <p:nvSpPr>
          <p:cNvPr id="9" name="decision">
            <a:extLst>
              <a:ext uri="{FF2B5EF4-FFF2-40B4-BE49-F238E27FC236}">
                <a16:creationId xmlns:a16="http://schemas.microsoft.com/office/drawing/2014/main" id="{C5E7D754-CB7D-A094-602B-DB6FA302462C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Load board heatsink: LAM 4 K 50 12, centred; leg pitch stays 94.5 mm (busbar unchanged)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9967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05CEF-1197-817E-8A27-B3655A5B6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Full inverter: 16 levels on one 1200 V stack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2BD143-9090-0BB2-85EB-A4DA43602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B1E572-F180-972F-1E89-51EA4090D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CE07989-82FF-2973-2BB8-E9701AA0F4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236" y="952500"/>
            <a:ext cx="1091278" cy="38100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E68A3BE-6DA6-8864-D0E2-2002883102DE}"/>
              </a:ext>
            </a:extLst>
          </p:cNvPr>
          <p:cNvSpPr txBox="1"/>
          <p:nvPr/>
        </p:nvSpPr>
        <p:spPr>
          <a:xfrm>
            <a:off x="3286125" y="952500"/>
            <a:ext cx="5524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16 identical levels (75 V each) stacked in z, pitch 72 mm ⇒ ≈ 1.15 m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DC+ lug of level k ↔ DC− lug of level k + 1 by a Cu braid (8 × 1.5 mm in the model); stack ends = 1200 V DC+ / DC−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Each level: 3 legs = one three-phase winding set; AC bars + HO 250-S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Every level floats up to 1200 V above the frame: insulating standoffs with 8 mm Cu keep-out on the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Assembly STEP: hardware/assembly/spb-level-assembly.step (1 level), spb-stack-assembly.step (16 levels), scripts/make_assembly_step.py (OpenCascade)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06E971-C8DF-40E5-E846-448527D76818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Stack direction and frame are illustrative: the machine-side layout (winding terminals) sets the final arrangement.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493075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E9CF0-A53A-7E21-5F6C-18C6CB0CA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Fast Q3D set on the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F10B89-808D-DD39-2EC2-722F57507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9356F0-F039-DDD2-EAAC-6630A0D02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44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28B8EC6-C193-6F3E-FBE9-17D126B20C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8738196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101776396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1837760849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150055437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178303386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80744187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Model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Region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Solve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Gives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Run time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374604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(per board)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band y −4.6 … 20.6 mm, AC split per cell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100 MHz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commutation 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787 / 30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915685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full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whole board, all terminals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R only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current sharing, copper loss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26 / 22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505457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bank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terminals + bank + bypass (y −25 … 4.3 mm)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 MHz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 DC-link port, 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bypass → bank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66000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cells + AC columns + AC bus, no bank / terminals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100 MHz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between the driver pairs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138 / 113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221787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PCB busbar, stitching vias every 2nd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+ AC 1 MHz, 2 %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loop, DC distribution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43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58981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three-phase level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× bank model + busbar matrices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network (MNA)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ripple sharing, |Z|, terminal currents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seconds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902472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FD980AB-D57E-B241-C413-BE688BD1D386}"/>
              </a:ext>
            </a:extLst>
          </p:cNvPr>
          <p:cNvSpPr txBox="1"/>
          <p:nvPr/>
        </p:nvSpPr>
        <p:spPr>
          <a:xfrm>
            <a:off x="238125" y="3714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Instead of one large model (&gt; 3 h, not converged): small models, each solved only for what it is used for; DC is solved for R only (the DC-inductance solve alone ran &gt; 19 h on the first attempt)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Run: simulation/bb_q3d/run_bb_q3d_final.cmd (KTH licence) → final_post.py → reports/slides/data/final_numbers.json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Run times: DPT / load board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753214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A6836-443C-A5CB-07EE-0EF387BA7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commutation loop per cell,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8FD801-21E7-314F-BDAC-EEA39FECA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0C8349-73A9-124C-71EC-87AEECD31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3DA0700-A1BD-DFB2-B741-45F0FB97FF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87" y="952500"/>
            <a:ext cx="5135777" cy="271462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5418487-703D-50A9-C483-527A6BA68A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3306828"/>
              </p:ext>
            </p:extLst>
          </p:nvPr>
        </p:nvGraphicFramePr>
        <p:xfrm>
          <a:off x="5524501" y="952500"/>
          <a:ext cx="3286125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5875">
                  <a:extLst>
                    <a:ext uri="{9D8B030D-6E8A-4147-A177-3AD203B41FA5}">
                      <a16:colId xmlns:a16="http://schemas.microsoft.com/office/drawing/2014/main" val="3694451968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3917780546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1067535710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Loop per cell (nH)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 test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667907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1 / 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0.652 / 0.652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0.408 / 0.408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423642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3 / 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0.647 / 0.653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0.406 / 0.412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3247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mean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081136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C84632"/>
                          </a:solidFill>
                          <a:latin typeface="Arial" panose="020B0604020202020204" pitchFamily="34" charset="0"/>
                        </a:rPr>
                        <a:t>94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97669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40DC4B6-1A05-7653-714B-EE6810E3F238}"/>
              </a:ext>
            </a:extLst>
          </p:cNvPr>
          <p:cNvSpPr txBox="1"/>
          <p:nvPr/>
        </p:nvSpPr>
        <p:spPr>
          <a:xfrm>
            <a:off x="5524500" y="2667000"/>
            <a:ext cx="32861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All four LS switching together; HS shorted, bypass as its ESL, UFCS 120 pH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Cells within 1 % (DPT) and 2 % (load): left/right symmetric by layout (power vias pruned in mirror pairs)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DPT ≤ 90 V: turn-on ≤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23 A/ns</a:t>
            </a:r>
            <a:endParaRPr lang="sv-SE" sz="128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99184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7DBB2-4C9C-CC94-DB60-4D211756B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Q3D: coupling between the cells and the gate loops (DPT board)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B73EBF-C9DC-9084-1CE9-E26FEE24C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F08190-1483-6A9F-F998-8692F1416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46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F9F307C-A123-0197-2476-F0A5349753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9973302"/>
              </p:ext>
            </p:extLst>
          </p:nvPr>
        </p:nvGraphicFramePr>
        <p:xfrm>
          <a:off x="238125" y="952500"/>
          <a:ext cx="381000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625">
                  <a:extLst>
                    <a:ext uri="{9D8B030D-6E8A-4147-A177-3AD203B41FA5}">
                      <a16:colId xmlns:a16="http://schemas.microsoft.com/office/drawing/2014/main" val="1681741845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2923066576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2153659277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234451575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 (pH), k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cell 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cell 3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cell 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80589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7, 0.011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1, 0.002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0, 0.001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877029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21, 0.034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1, 0.002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93918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7, 0.011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668268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5D3C3BB-5E9E-5B2B-6C6A-098753359E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8877649"/>
              </p:ext>
            </p:extLst>
          </p:nvPr>
        </p:nvGraphicFramePr>
        <p:xfrm>
          <a:off x="238125" y="2381250"/>
          <a:ext cx="381000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3966635047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3524436700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98151736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Gate loop (nH, copper)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HS Q1 / Q2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LS Q3 / Q4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131079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device driven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12.53 / 12.56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7.61 / 7.62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78341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pair driven (operation)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20.6 / 20.6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12.3 / 12.3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693398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branch / shared star-driver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4.5 / 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2.9 / 4.7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624884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gate-power coupling, both cells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max 9 pH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max 0.26 V at 30 A/ns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875753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35C5CD01-FB96-0DBD-481E-147CA246DE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6125" y="952500"/>
            <a:ext cx="3937000" cy="29527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DBEB874-E86A-96DC-B90C-6B3C7836383A}"/>
              </a:ext>
            </a:extLst>
          </p:cNvPr>
          <p:cNvSpPr txBox="1"/>
          <p:nvPr/>
        </p:nvSpPr>
        <p:spPr>
          <a:xfrm>
            <a:off x="238125" y="3905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Cells: at most 21 pH between neighbours (k ≤ 0.034) ⇒ each cell commutates through its own loop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Gate: Kelvin return on the adjacent layer from every gate pad to the driver caps; Q1 = Q2, Q3 = Q4 within 0.3 %, block 2 an identical copy ⇒ all four paralleled devices equal; but ≈ 10× the 1.7 nH design value (driver behind the barrier)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525205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DDF19-57E8-35CC-BB57-29117A056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Gate drive from the extracted gate network (SPICE, DPT board, 75 V, 322 A)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5A49F8-AEC1-0259-4926-4E8D2079F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CC80C8-4CB3-CA06-5D87-DD70D7FC4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8012E92-A8F9-4D0D-08AB-28F1393233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4019012"/>
              </p:ext>
            </p:extLst>
          </p:nvPr>
        </p:nvGraphicFramePr>
        <p:xfrm>
          <a:off x="238125" y="952500"/>
          <a:ext cx="866775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1250">
                  <a:extLst>
                    <a:ext uri="{9D8B030D-6E8A-4147-A177-3AD203B41FA5}">
                      <a16:colId xmlns:a16="http://schemas.microsoft.com/office/drawing/2014/main" val="239274647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131093524"/>
                    </a:ext>
                  </a:extLst>
                </a:gridCol>
                <a:gridCol w="571500">
                  <a:extLst>
                    <a:ext uri="{9D8B030D-6E8A-4147-A177-3AD203B41FA5}">
                      <a16:colId xmlns:a16="http://schemas.microsoft.com/office/drawing/2014/main" val="2507162072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61926452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943673763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4259045637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14705540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Case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g,on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HS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/ 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(4 cells)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di/dt 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bump, held-off gate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839450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lumped 1.7 nH gate, R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1.5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−1.9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89.8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136 / 17 µJ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31 A/ns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-1.04 … -1.00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84080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extracted, R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1.0 </a:t>
                      </a:r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−1.9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105.3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97 / 20 µJ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49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-0.72 … -0.46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445784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extracted, RON 1.5 Ω (board)</a:t>
                      </a:r>
                      <a:endParaRPr lang="sv-SE" sz="1100" b="1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−1.9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92.9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125 / 20 µJ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36 A/ns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-0.76 … -0.50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157925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9824906-DDDF-C3B5-D176-30E15CA82492}"/>
              </a:ext>
            </a:extLst>
          </p:cNvPr>
          <p:cNvSpPr txBox="1"/>
          <p:nvPr/>
        </p:nvSpPr>
        <p:spPr>
          <a:xfrm>
            <a:off x="238125" y="24288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Extracted gate network: Q3D copper + 0.4 nH per 0603 resistor body + 1 nH D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; UFCS 120 pH as its own inductor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The larger gate loop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speeds up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the turn-on ⇒ HS overshoot ≈ 75 V + 0.65 nH × di/dt: R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1.0 Ω gives 105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−1.9 V off: bump of the held-off gate ≤ −0.5 V (≥ 1.3 V below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th,min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0.8 V); with 0 V off it was +1.2 … +1.4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Off-state ringing ≈ −3.4 V against the −4 V limit (EPC2361) ⇒ no larger negative bias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Turn-on of the four cells within 0.2 %; turn-off current inner vs outer cells ±1.5 % (power side)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decision">
            <a:extLst>
              <a:ext uri="{FF2B5EF4-FFF2-40B4-BE49-F238E27FC236}">
                <a16:creationId xmlns:a16="http://schemas.microsoft.com/office/drawing/2014/main" id="{84617F64-C47B-E0B1-9038-A3CE00C47040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DPT: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1.5 Ω (R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3.5 Ω), V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7 V (−1.9 / +5.1 V); next revision: driver stage next to each pair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38311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79E0F-129D-B4A9-816D-AACF26BBA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 model of the cell band (fast loop model)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FFC7B4-36A2-97E7-66AE-F77330E37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5EB60A-E38B-25A0-875B-5D07908F8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B05779-8811-AE7E-DDA9-C9F09B7BB7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286250" cy="26789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DEE163E-FB84-B6DF-7564-B930277F59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25" y="952500"/>
            <a:ext cx="4286250" cy="26789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DD89876-C331-D8DC-E98E-BDBCA41985E4}"/>
              </a:ext>
            </a:extLst>
          </p:cNvPr>
          <p:cNvSpPr txBox="1"/>
          <p:nvPr/>
        </p:nvSpPr>
        <p:spPr>
          <a:xfrm>
            <a:off x="238125" y="3810000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DPT board: LS source (green) to the UFCS land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0CADDA-784A-E046-9175-F08F300A5031}"/>
              </a:ext>
            </a:extLst>
          </p:cNvPr>
          <p:cNvSpPr txBox="1"/>
          <p:nvPr/>
        </p:nvSpPr>
        <p:spPr>
          <a:xfrm>
            <a:off x="4619625" y="3810000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load-test board: LS source straight to DC−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5641E0-0415-7532-EEA4-46211D8D3505}"/>
              </a:ext>
            </a:extLst>
          </p:cNvPr>
          <p:cNvSpPr txBox="1"/>
          <p:nvPr/>
        </p:nvSpPr>
        <p:spPr>
          <a:xfrm>
            <a:off x="238125" y="4095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Geometry exported from the routed KiCad boards (revb_export.py): copper per net and layer with clearance holes, vias with their layer span (blind L1–L2 on the load board), FET and bypass terminal pads; z stretched 4×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71495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CE5FC-5609-CF89-DC52-3EB055321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static current sharing and copper loss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8EFDC0-0719-5BC7-AFF1-197083661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60AB4B-CB3B-18AF-947C-20D381500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49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FCE881C-8B91-9CEE-6170-4AE8AF16D4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8656786"/>
              </p:ext>
            </p:extLst>
          </p:nvPr>
        </p:nvGraphicFramePr>
        <p:xfrm>
          <a:off x="238125" y="952500"/>
          <a:ext cx="86677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500">
                  <a:extLst>
                    <a:ext uri="{9D8B030D-6E8A-4147-A177-3AD203B41FA5}">
                      <a16:colId xmlns:a16="http://schemas.microsoft.com/office/drawing/2014/main" val="3979099808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381907229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23482068"/>
                    </a:ext>
                  </a:extLst>
                </a:gridCol>
                <a:gridCol w="2762250">
                  <a:extLst>
                    <a:ext uri="{9D8B030D-6E8A-4147-A177-3AD203B41FA5}">
                      <a16:colId xmlns:a16="http://schemas.microsoft.com/office/drawing/2014/main" val="17067648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75204568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Board, path (DC)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 total (m</a:t>
                      </a:r>
                      <a:r>
                        <a:rPr lang="el-GR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Ω)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 copper (m</a:t>
                      </a:r>
                      <a:r>
                        <a:rPr lang="el-GR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Ω)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share cell 1 / 2 / 3 / 4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max/min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2360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DC+ → HS FETs → AC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59435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AC → LS FETs → shunts → DC−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495684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load: DC+ → HS FETs → AC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08032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load: AC → LS FETs → DC−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26116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FE0A0A2-2D6F-8787-B428-54A032D1F20F}"/>
              </a:ext>
            </a:extLst>
          </p:cNvPr>
          <p:cNvSpPr txBox="1"/>
          <p:nvPr/>
        </p:nvSpPr>
        <p:spPr>
          <a:xfrm>
            <a:off x="238125" y="25241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Static sharing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how the conduction (DC) current splits between the four parallel cells: set by each cell's copper path (DC terminals → cell → AC pad) plus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; dynamic sharing during the edges is set by the gate loops (step 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Full-board DC model; FET 0.75 mΩ × 1.49 (100 °C), UFCS 1 mΩ; DC terminals as one pair, AC at the M6 bolt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Board copper loss at 228 A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(DPT, + (pending) W in the shunts) /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(load board)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Hand-over inductance bypass → bank L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(pending) (bank model, 1 MHz) ⇒ used for the bypass sizing (step 6)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20046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01EF6-51F3-8E5A-2C30-B1AE370C8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three load-test legs on the PCB busbar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4225CB-EB67-5FF7-2372-E031237CF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A64C6F-E0F6-ADFA-A54E-0D81A7C46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50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C4377CA-B5C3-7900-214A-E1444C8976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0143318"/>
              </p:ext>
            </p:extLst>
          </p:nvPr>
        </p:nvGraphicFramePr>
        <p:xfrm>
          <a:off x="238125" y="952500"/>
          <a:ext cx="4476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2828886507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3198527221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358028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 a–b / a–c, 1 MHz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1.46 / 1.98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135648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 a–b / a–c, DC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7.41 / 10.01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702411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Ripple of leg a at 50 kHz from banks a / b / 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891015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Busbar DC loss (250 A in, 3 × 83 A)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587490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Highest REDCUBE terminal current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383152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AC16FB-2514-B9F0-6638-E81CD6E81BB6}"/>
              </a:ext>
            </a:extLst>
          </p:cNvPr>
          <p:cNvSpPr txBox="1"/>
          <p:nvPr/>
        </p:nvSpPr>
        <p:spPr>
          <a:xfrm>
            <a:off x="238125" y="33813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Network: Q3D bank-model matrices of three load-test legs (cells draw at their bypass; MLCCs with ESR/ESL, C at 75 V) + busbar (DC below 1 MHz, AC above); peaks in |Z| = inter-leg resonance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Target ≤ 5 nH leg to leg (step 10)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160178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31F5E-F599-BC60-1E3F-713533A92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Main findings on the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39592C-6CCC-69BF-5766-4B2143201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5957AE-0165-AB9C-28A4-725D3FEBF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51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377CC17-4D21-683A-7211-9E7E8384E3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0447795"/>
              </p:ext>
            </p:extLst>
          </p:nvPr>
        </p:nvGraphicFramePr>
        <p:xfrm>
          <a:off x="238125" y="952500"/>
          <a:ext cx="8667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0750">
                  <a:extLst>
                    <a:ext uri="{9D8B030D-6E8A-4147-A177-3AD203B41FA5}">
                      <a16:colId xmlns:a16="http://schemas.microsoft.com/office/drawing/2014/main" val="115355275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78622954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1413691625"/>
                    </a:ext>
                  </a:extLst>
                </a:gridCol>
                <a:gridCol w="2952750">
                  <a:extLst>
                    <a:ext uri="{9D8B030D-6E8A-4147-A177-3AD203B41FA5}">
                      <a16:colId xmlns:a16="http://schemas.microsoft.com/office/drawing/2014/main" val="223140020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Load-test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Consequence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647659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limit di/dt; load: 30 A/ns ok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860325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Static sharing, max/min (HS / LS)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verify with the UFCS per cell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223411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Board copper loss at 228 A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endParaRPr lang="sv-SE" sz="1190" baseline="-250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 the board, not the FETs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488036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between driver pairs (HS / LS)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4.91 / 2.68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6.77 / 5.44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skew →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 = 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 / L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606409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 leg-to-leg loop (1 MHz)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1.46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target ≤ 5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6139904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D4C4124B-0626-89FD-2DB4-011C57A746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2905125"/>
            <a:ext cx="3810000" cy="23812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C37F2E7-D26C-DCF4-CF8D-B7D4C8C475F7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All values from the fast Q3D set on the final layouts (run_bb_q3d_final.cmd, final_post.py).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02726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9AF01-CFA1-7D76-E7BD-F34D6252E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Fabrication files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EE3F0F-80BA-66D3-B2DF-85E6A02C4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29CE46-FBE5-6FF6-64AE-FF02B7740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8ACF9B4-E670-BC63-39A4-FF4FF9ECF4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648964"/>
              </p:ext>
            </p:extLst>
          </p:nvPr>
        </p:nvGraphicFramePr>
        <p:xfrm>
          <a:off x="238125" y="952500"/>
          <a:ext cx="86677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3421665653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48412892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80608432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Fab set (hardware/&lt;board&gt;/fab)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Notes for the fab house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874982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spb-bb-revb-dpt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Gerber zip, drill, pos, BOM, STEP, assembly + schematic PDF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layers, 0.1 mm prepreg, via-in-pad filled + capped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09301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spb-bb-revb-load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+ blind vias L1–L2 (0.25 mm) filled + capped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688665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Gerber zip, drill, pos, BOM, STEP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 (JLC3313), bolt pads without mask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80127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assembly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spb-level-assembly.step, spb-stack-assembly.step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mechanics / frame design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690571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C12ED91-ED1B-A8DF-1119-5C014485E27F}"/>
              </a:ext>
            </a:extLst>
          </p:cNvPr>
          <p:cNvSpPr txBox="1"/>
          <p:nvPr/>
        </p:nvSpPr>
        <p:spPr>
          <a:xfrm>
            <a:off x="238125" y="22860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Generated: make_kicad_bb_revb.py (BOARD=dpt | load), make_kicad_sch_revb.py, make_kicad_busbar.py, make_3d_models_revb.py, make_fab_outputs_revb.py, make_assembly_step.py, render_3d.py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Mechanical items (screws, spreader, gap pads, heatsink, lugs) are listed at the end of each BOM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90FF18-7FB2-474B-8D22-681158BD5E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33" y="3000375"/>
            <a:ext cx="1898285" cy="18097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DE7EBAF-0452-112E-DAE6-048CA1BBD8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7483" y="3000375"/>
            <a:ext cx="1898285" cy="18097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F036A1B-3B4C-8590-D761-140C5025D6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25" y="3000375"/>
            <a:ext cx="4286250" cy="1537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7875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32257-0057-120E-B2D6-E103005C5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Status and next steps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472976-9EC8-01D1-F329-974EBF1BD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1C9BC8-E1DF-D720-3133-A27038744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53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61D3063-98F8-17F5-F905-D1A324C816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7119269"/>
              </p:ext>
            </p:extLst>
          </p:nvPr>
        </p:nvGraphicFramePr>
        <p:xfrm>
          <a:off x="238125" y="952500"/>
          <a:ext cx="4953000" cy="1885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1217891876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8138608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Status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861787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link: 20 × 22 µF 2220 + 10 × 1 µF per cell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 both layouts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255368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board (UFCS, no heatsink)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0 / 0 / 0, schematic = PCB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747519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Load-test board (no shunt, LAM 4 K 50)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0 / 0 / 0, schematic = PCB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274597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PCB busbar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clean, fab files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35172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Fast Q3D: loop, DC, L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busbar, level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 (this deck)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8469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3D models, board + assembly STEP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742119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Fab outputs + BOMs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40623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and three-phase load test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after assembly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48958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98D737C-1DD2-64D3-9C8C-85EEE7955A11}"/>
              </a:ext>
            </a:extLst>
          </p:cNvPr>
          <p:cNvSpPr txBox="1"/>
          <p:nvPr/>
        </p:nvSpPr>
        <p:spPr>
          <a:xfrm>
            <a:off x="5429250" y="95250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Order: DPT board first (switching energies, per-cell current, overshoot vs di/dt), then 3 load boards +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Mechanics: spreader drawing, frame and stack insulation from the assembly STEP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Decide after measurement: bank depopulation, damping caps, busbar copper weight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Machine: L</a:t>
            </a:r>
            <a:r>
              <a:rPr lang="el-GR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σ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,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cos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φ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and the final f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endParaRPr lang="sv-SE" sz="1380" baseline="-2500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648107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48E5D-02E0-27A0-3308-D5CDAA9935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Thank you - 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62FECC-67D8-4BD1-F2EC-D6C65BF5E70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Enes Ayaz, KTH Royal Institute of Technology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388758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KTH">
      <a:dk1>
        <a:srgbClr val="000000"/>
      </a:dk1>
      <a:lt1>
        <a:srgbClr val="FFFFFF"/>
      </a:lt1>
      <a:dk2>
        <a:srgbClr val="65656C"/>
      </a:dk2>
      <a:lt2>
        <a:srgbClr val="838389"/>
      </a:lt2>
      <a:accent1>
        <a:srgbClr val="1954A6"/>
      </a:accent1>
      <a:accent2>
        <a:srgbClr val="5E87C0"/>
      </a:accent2>
      <a:accent3>
        <a:srgbClr val="2091C3"/>
      </a:accent3>
      <a:accent4>
        <a:srgbClr val="D02F80"/>
      </a:accent4>
      <a:accent5>
        <a:srgbClr val="D95999"/>
      </a:accent5>
      <a:accent6>
        <a:srgbClr val="61922E"/>
      </a:accent6>
      <a:hlink>
        <a:srgbClr val="65656C"/>
      </a:hlink>
      <a:folHlink>
        <a:srgbClr val="83838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3"/>
        </a:solidFill>
        <a:ln>
          <a:noFill/>
        </a:ln>
      </a:spPr>
      <a:bodyPr rtlCol="0" anchor="ctr"/>
      <a:lstStyle>
        <a:defPPr algn="ctr">
          <a:defRPr sz="2000"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7121384-D8C6-FA41-9A6B-F4615C0099B0}" vid="{DF4435B0-2EFE-BF49-8755-0024FDD40B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KTH_16_9</Template>
  <TotalTime>3677</TotalTime>
  <Words>7438</Words>
  <Application>Microsoft Office PowerPoint</Application>
  <PresentationFormat>On-screen Show (16:9)</PresentationFormat>
  <Paragraphs>896</Paragraphs>
  <Slides>54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Office-tema</vt:lpstr>
      <vt:lpstr>SPB Leg Building Block: Design Flow</vt:lpstr>
      <vt:lpstr>Design flow</vt:lpstr>
      <vt:lpstr>Design inputs</vt:lpstr>
      <vt:lpstr>Phase current follows from the inputs</vt:lpstr>
      <vt:lpstr>Voltage class: why 100 V GaN</vt:lpstr>
      <vt:lpstr>EPC2361: key data and the Kelvin source</vt:lpstr>
      <vt:lpstr>Submodule voltage from L·di/dt</vt:lpstr>
      <vt:lpstr>Why not lower: every submodule costs parts and loss</vt:lpstr>
      <vt:lpstr>Power loop of one cell: copper, bypass ESL and shunt</vt:lpstr>
      <vt:lpstr>One EPC2361 per switch: how fast and how much overshoot</vt:lpstr>
      <vt:lpstr>Thermal path per device: load-test board</vt:lpstr>
      <vt:lpstr>n identical cells per switch (one device and one driver each)</vt:lpstr>
      <vt:lpstr>Where the loss comes from: line period and junction temperature</vt:lpstr>
      <vt:lpstr>Losses vs number in parallel</vt:lpstr>
      <vt:lpstr>Switching frequency: losses, DC-link capacitors, current ripple</vt:lpstr>
      <vt:lpstr>DC-link sizing for a three-phase level</vt:lpstr>
      <vt:lpstr>Capacitor selection: effective capacitance at 75 V</vt:lpstr>
      <vt:lpstr>Bypass capacitors: how many and how large</vt:lpstr>
      <vt:lpstr>DC link of one leg board</vt:lpstr>
      <vt:lpstr>Can one driver drive all four?</vt:lpstr>
      <vt:lpstr>Driver arrangement for 1 … 4 EPC2361 per switch</vt:lpstr>
      <vt:lpstr>Gate driver selection: why the 2EDF7275K</vt:lpstr>
      <vt:lpstr>Why symmetry: what sets the current sharing</vt:lpstr>
      <vt:lpstr>Gate bump and negative off-voltage</vt:lpstr>
      <vt:lpstr>Building block: two point-symmetric cells, one centre driver</vt:lpstr>
      <vt:lpstr>Rev B: four cells per switch, two drivers, one leg</vt:lpstr>
      <vt:lpstr>Two boards from one design: double-pulse test and load test</vt:lpstr>
      <vt:lpstr>DPT board layout (UFCS shunts, no heatsink)</vt:lpstr>
      <vt:lpstr>Load-test board layout (no shunt, heatsink)</vt:lpstr>
      <vt:lpstr>The two boards in 3D (KiCad models)</vt:lpstr>
      <vt:lpstr>Top view with the silkscreen: DPT and load-test boards</vt:lpstr>
      <vt:lpstr>Bottom side and the load board without heatsink</vt:lpstr>
      <vt:lpstr>Two driver pairs on one switch node: driver skew</vt:lpstr>
      <vt:lpstr>Gate supplies: two isolated supplies, Zener split</vt:lpstr>
      <vt:lpstr>Driver block: input filters, turn-on / turn-off paths, star</vt:lpstr>
      <vt:lpstr>Measurement and control</vt:lpstr>
      <vt:lpstr>Power stage schematics (generated, identical to the PCBs)</vt:lpstr>
      <vt:lpstr>Three legs on one 75 V bus: what the bus must do</vt:lpstr>
      <vt:lpstr>PCB busbar: easy to manufacture</vt:lpstr>
      <vt:lpstr>One 75 V level in 3D: busbar + three load-test legs</vt:lpstr>
      <vt:lpstr>Level assembly: busbar side and DC connection</vt:lpstr>
      <vt:lpstr>Mechanics: heatsink length fixed by the leg pitch</vt:lpstr>
      <vt:lpstr>Full inverter: 16 levels on one 1200 V stack</vt:lpstr>
      <vt:lpstr>Fast Q3D set on the final boards</vt:lpstr>
      <vt:lpstr>Q3D: commutation loop per cell, final boards</vt:lpstr>
      <vt:lpstr>Q3D: coupling between the cells and the gate loops (DPT board)</vt:lpstr>
      <vt:lpstr>Gate drive from the extracted gate network (SPICE, DPT board, 75 V, 322 A)</vt:lpstr>
      <vt:lpstr>Q3D model of the cell band (fast loop model)</vt:lpstr>
      <vt:lpstr>Q3D: static current sharing and copper loss</vt:lpstr>
      <vt:lpstr>Q3D: three load-test legs on the PCB busbar</vt:lpstr>
      <vt:lpstr>Main findings on the final boards</vt:lpstr>
      <vt:lpstr>Fabrication files</vt:lpstr>
      <vt:lpstr>Status and next steps</vt:lpstr>
      <vt:lpstr>Thank you - questions?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Malin Modig</dc:creator>
  <cp:lastModifiedBy>Enes Ayaz</cp:lastModifiedBy>
  <cp:revision>2</cp:revision>
  <dcterms:created xsi:type="dcterms:W3CDTF">2019-12-10T08:55:59Z</dcterms:created>
  <dcterms:modified xsi:type="dcterms:W3CDTF">2026-10-26T07:41:18Z</dcterms:modified>
</cp:coreProperties>
</file>