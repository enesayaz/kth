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400D1-02AF-19C8-9B47-D453B51BB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14CF7-7936-0C9A-C68B-13EA24B2B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444C33-FE63-4DE5-57AA-0E6B67188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BFDC2-92EA-EC42-A9CD-B65A5201B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31359-0B11-954B-943D-370DCA46B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42126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3107D-FA41-6BD2-3D15-5F4D44751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E3A10-445D-2316-F077-A4F9C62B9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40C108-B34C-753D-46F1-BEE3E252B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A0D0E8-0129-70D8-D6DC-CE05AAA70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767BAA-12AE-3126-733F-C6844D1EF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62202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AC7F-73F2-B0F7-CEBC-9967AF19A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8FCFB-8E38-C2CB-C290-E01D6BB694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19A5E-671D-BFBB-4D2D-6889FD9F6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82DE8-9DFA-E0B5-C413-C29822244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80CB4-37DD-E2E5-775E-FF7DA1018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79982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BFF07-3B67-4E10-324B-27FD6D31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6BDB8-1ED3-4B98-16D0-A888D72C6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D29B27-1057-75D8-22A2-48BB5709C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896C67-2D7D-9065-08B7-87420F56A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9A847E-E3BE-795C-C544-96308840B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9A83A-2AAF-07C3-A27E-FB7D21FD8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1124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5859C-D21E-6AE0-D500-938945851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0A7130-ADA3-3C41-756B-5BA0572C9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D51DBA-62C0-4164-6E84-955C601D3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EDC6D2-3BFC-C6B8-86FB-0EDC261DE5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17F4C1-A626-AEE4-C680-7043369362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216EBD-5A56-874C-0FB3-7CE89F916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163852-9F68-7661-3B82-9321E28F1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D5137B-EED0-8D4A-5630-1C3251EED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02426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C66C3-0FE5-48EC-24F2-AF8CCD438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8D1D7C-343B-6997-3691-75DE75638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1965CD-21A5-B772-F52A-496CD1ECD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1A9BCC-999F-7F12-84BA-05793B2EF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4268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F8DCEA-D039-E7C5-00F7-CF9693101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6B4727-DCED-FB73-D0A4-282017234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AACEA-55E1-4D52-87D6-4133CA8F5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85643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B4899-82B3-E746-253C-562968E28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01693-ACDA-A8BF-155D-6A2E79C5D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60F253-2A37-B8F1-3D2A-A316AB94E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974AE3-2FD3-45E1-919E-78EEFF55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8E3087-4D3F-A402-8D5F-E947BA6D9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F619E1-58AE-55C0-E7B1-45AB24E5E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49524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87F46-9E33-00DC-9D1A-B031DE9A2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408DFE-165D-BAA4-74F8-21B02A08CC2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288141-3C8B-5392-8ADD-26FE7D363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ADC28-0C7C-809E-D350-FBCCFED6B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4F5AB-E9D2-C272-F228-6481AFA0F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B1BFD-F48A-EDA6-65D5-F905526B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0787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144E-DDAD-7F55-A1DE-E40791A3F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43BB36-02C6-6DF3-E94D-791476DFA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E23B-E456-9A7C-CB59-8F2D69A93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CC6EA-AC60-8AF3-B15E-9A55B59FC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6B7FE-14D1-4DE2-8B75-C745A5F38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93021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F6FB16-BD3F-F1E0-8558-FC1706D53D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332540-AE31-39E5-F3BA-E1FCD053B0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0EDC5-26C4-54C2-1E79-12B5251B4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20EF5C-22C5-F68D-5C2D-D1C201F8D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54431-5F20-7CDC-940D-5BD1705B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66925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8CB1D4-C8AF-0BFD-0644-7521C5BE4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0BF32-695E-F88E-0642-2323359FD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B8293-04E0-F72F-4C52-0DF9828A57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C4ED2E-293D-4AE2-B623-C37D603C8DF5}" type="datetimeFigureOut">
              <a:rPr lang="sv-SE" smtClean="0"/>
              <a:t>2026-10-14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C545B0-2639-9D85-E101-4772022B06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7159F-F140-62B4-2452-E2D8A2BD6E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D0536-489B-4034-9194-1CCE188E9A5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66277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39BDCC-0C0A-DB30-A93A-D9F8BEB9EC8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E73EA5-9BB2-A428-636D-8C96140FF616}"/>
              </a:ext>
            </a:extLst>
          </p:cNvPr>
          <p:cNvSpPr txBox="1"/>
          <p:nvPr/>
        </p:nvSpPr>
        <p:spPr>
          <a:xfrm>
            <a:off x="762000" y="1905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3600" b="1">
                <a:solidFill>
                  <a:srgbClr val="FFFFFF"/>
                </a:solidFill>
                <a:latin typeface="Calibri" panose="020F0502020204030204" pitchFamily="34" charset="0"/>
              </a:rPr>
              <a:t>GaN Building Block Rev 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67F437-EEB9-2F4F-0B33-4142C36ABDE4}"/>
              </a:ext>
            </a:extLst>
          </p:cNvPr>
          <p:cNvSpPr txBox="1"/>
          <p:nvPr/>
        </p:nvSpPr>
        <p:spPr>
          <a:xfrm>
            <a:off x="762000" y="3048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>
                <a:solidFill>
                  <a:srgbClr val="FFFFFF"/>
                </a:solidFill>
                <a:latin typeface="Calibri" panose="020F0502020204030204" pitchFamily="34" charset="0"/>
              </a:rPr>
              <a:t>Four EPC2361 per switch on one board, three legs on a PCB busbar:</a:t>
            </a:r>
          </a:p>
          <a:p>
            <a:r>
              <a:rPr lang="en-US" sz="2000">
                <a:solidFill>
                  <a:srgbClr val="FFFFFF"/>
                </a:solidFill>
                <a:latin typeface="Calibri" panose="020F0502020204030204" pitchFamily="34" charset="0"/>
              </a:rPr>
              <a:t>a decision-driven design for a 1200 V, 300 kW Stacked Polyphase Bridge inverter</a:t>
            </a:r>
            <a:endParaRPr lang="sv-SE" sz="20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00F8CA-4A8C-B73B-FA37-EC1948A5507D}"/>
              </a:ext>
            </a:extLst>
          </p:cNvPr>
          <p:cNvSpPr txBox="1"/>
          <p:nvPr/>
        </p:nvSpPr>
        <p:spPr>
          <a:xfrm>
            <a:off x="762000" y="5080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400">
                <a:solidFill>
                  <a:srgbClr val="FFFFFF"/>
                </a:solidFill>
                <a:latin typeface="Calibri" panose="020F0502020204030204" pitchFamily="34" charset="0"/>
              </a:rPr>
              <a:t>Enes Ayaz · KTH Royal Institute of Technology · October 2026</a:t>
            </a:r>
            <a:endParaRPr lang="sv-SE" sz="1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1815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F20377E-EBB8-B2C3-A5D3-7E64E72AF7E4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52022DA-7785-E8FA-6613-1809C86931E1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Design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9B3355-C5CC-BE6D-AB65-782D26DE483D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 / 44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84F42B7-7494-F206-85C7-473996D06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0450324"/>
              </p:ext>
            </p:extLst>
          </p:nvPr>
        </p:nvGraphicFramePr>
        <p:xfrm>
          <a:off x="381000" y="1168400"/>
          <a:ext cx="11430000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000">
                  <a:extLst>
                    <a:ext uri="{9D8B030D-6E8A-4147-A177-3AD203B41FA5}">
                      <a16:colId xmlns:a16="http://schemas.microsoft.com/office/drawing/2014/main" val="186345108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441937089"/>
                    </a:ext>
                  </a:extLst>
                </a:gridCol>
                <a:gridCol w="8382000">
                  <a:extLst>
                    <a:ext uri="{9D8B030D-6E8A-4147-A177-3AD203B41FA5}">
                      <a16:colId xmlns:a16="http://schemas.microsoft.com/office/drawing/2014/main" val="214364239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endParaRPr lang="sv-SE" sz="12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98891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1200 V, 300 kW, M ≤ 1.15, PMSM cos </a:t>
                      </a:r>
                      <a:r>
                        <a:rPr lang="el-G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φ = 0.9 → 228 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rms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75813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100–650 V Si/SiC/GaN survey → 100 V GaN, EPC2361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88939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+ L·di/dt ≤ 90 V, even integer N → 75 V, N = 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01837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first-cut loop + LTspice → ≤ 80 A per device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6834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loss, T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, V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0903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f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sw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≥ 50 kHz; 3 % ripple → 20 × 22 µF 2220 bank + 10 × 1 µF bypass per cell (DC bias at 75 V)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731843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one driver per pair (star, Kelvin) → building block of two cells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191894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two pairs, one driver each (star); one DC pair, one bank, one AC output → Rev B leg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77068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two isolated supplies + Zener bias, UFCS shunt per cell, U.FL, HO 250-S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552619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legs share the 75 V bus → laminated PCB busbar under the legs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63185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Verification, board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Q3D of leg + busbar, KiCad schematic = PCB, Rev B fab files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83089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7085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6004A80-F3C3-1925-872C-84999751AD6A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0D4AC7E-74CB-E2F8-07BD-23DD6B82EB90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Design inputs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54FD77-41C2-A41F-767A-8F7E7E1AC482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1  Design inputs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832961D8-4D0D-ECDF-E912-0BBE25D5A1EE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60941CE4-B09A-00BC-7DF5-C582EBABF782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BE30FE3E-6101-14E0-A421-46F015E88D65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8F009C95-6B8A-291B-6D6D-FA91CB10E48A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684B8ACC-15A5-02CA-DD0A-4B3E7713417E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61590E82-E9DF-5D8C-8CFB-89B0C33D9689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A6D566E7-E10D-89B2-CD7C-38C43D565861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6F12ACCF-E6EE-E4D7-6DA2-10DDF2142F8B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797FC13A-FA7E-FD67-E565-B576BF346433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D6B40E09-A57B-E3FC-A23D-B90AE9E51FDE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D22990FD-F083-2FA5-3CED-3545F6317F5D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71530FED-F4F5-DFD8-880B-EED6E5245791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1824DE-C71F-9D17-C03F-819DDAB048D3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 / 44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CECFB55-D564-D1DD-9849-6AFFE18B2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5461000" cy="1522292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E6177437-2FB2-CE78-E830-4CBCB3C975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50477"/>
              </p:ext>
            </p:extLst>
          </p:nvPr>
        </p:nvGraphicFramePr>
        <p:xfrm>
          <a:off x="6223000" y="1295400"/>
          <a:ext cx="55880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272901895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621157309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232442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562269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62529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46475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PMSM, cos </a:t>
                      </a:r>
                      <a:r>
                        <a:rPr lang="el-GR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φ 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854346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79945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Coolant / T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60 °C / ≤ 125 °C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3124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en-US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≤ 90 V at nominal bus (100 V part)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6697221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5D9D1DC0-ACBF-F8B1-3B2F-0A458388DE43}"/>
              </a:ext>
            </a:extLst>
          </p:cNvPr>
          <p:cNvSpPr txBox="1"/>
          <p:nvPr/>
        </p:nvSpPr>
        <p:spPr>
          <a:xfrm>
            <a:off x="6223000" y="4724400"/>
            <a:ext cx="558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SPB: N three-phase submodules in series on the DC side, each feeding one winding set; V</a:t>
            </a:r>
            <a:r>
              <a:rPr lang="en-US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 = 1200 V / N.</a:t>
            </a:r>
            <a:endParaRPr lang="sv-SE" sz="12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82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E53F032-D6C9-E21D-E86B-B64A2AEF3BDC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D7C9B97-25FF-986F-6DD1-F7FB147B1D1A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Phase current follows from the inputs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D32E2B21-4EC9-13B4-21F4-DE25C6EFC61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1586257D-E63D-A0C6-FBB8-56BA2814D30F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C900662D-1CBB-D697-DA52-0CC3527F3F11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22126871-80D3-5BD6-159E-D53B102EFE14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0EA2B0BA-D634-5848-5A8D-7750E6B7F209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64BF229F-BBAE-0FC4-B70D-28E8B0437936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A7B44A53-C8BA-72C9-47F8-9C79E9D8644B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956C9B04-4922-9805-F0DE-58653BECD9CF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C441490C-6DB1-D356-C0E9-62ABB8598B83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BA77AB42-00FD-7C03-C13F-F47AD4AC66E5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E8DC316E-7053-1AE8-F97C-C14216A1C442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6ACAD33D-215D-2419-0126-7C06C045B44C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B87CE4-3FFC-65D0-7E62-9164FDF21BD1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4 / 44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5653B4-8DF6-F0C0-7E28-996F053759A2}"/>
              </a:ext>
            </a:extLst>
          </p:cNvPr>
          <p:cNvSpPr txBox="1"/>
          <p:nvPr/>
        </p:nvSpPr>
        <p:spPr>
          <a:xfrm>
            <a:off x="381000" y="1168400"/>
            <a:ext cx="660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Each of the 3N legs delivers P/3N at V</a:t>
            </a:r>
            <a:r>
              <a:rPr lang="sv-SE" sz="1500" baseline="-25000">
                <a:solidFill>
                  <a:srgbClr val="1E1E1E"/>
                </a:solidFill>
                <a:latin typeface="Calibri" panose="020F0502020204030204" pitchFamily="34" charset="0"/>
              </a:rPr>
              <a:t>ph</a:t>
            </a: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 = M·V</a:t>
            </a:r>
            <a:r>
              <a:rPr lang="sv-SE" sz="15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I</a:t>
            </a:r>
            <a:r>
              <a:rPr lang="sv-SE" sz="1500" baseline="-25000">
                <a:solidFill>
                  <a:srgbClr val="1E1E1E"/>
                </a:solidFill>
                <a:latin typeface="Calibri" panose="020F0502020204030204" pitchFamily="34" charset="0"/>
              </a:rPr>
              <a:t>rms</a:t>
            </a: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 = P / (3 · M·V</a:t>
            </a:r>
            <a:r>
              <a:rPr lang="sv-SE" sz="1500" baseline="-25000">
                <a:solidFill>
                  <a:srgbClr val="1E1E1E"/>
                </a:solidFill>
                <a:latin typeface="Calibri" panose="020F0502020204030204" pitchFamily="34" charset="0"/>
              </a:rPr>
              <a:t>bus</a:t>
            </a: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/(2√2) · cos </a:t>
            </a:r>
            <a:r>
              <a:rPr lang="el-GR" sz="1500">
                <a:solidFill>
                  <a:srgbClr val="1E1E1E"/>
                </a:solidFill>
                <a:latin typeface="Calibri" panose="020F0502020204030204" pitchFamily="34" charset="0"/>
              </a:rPr>
              <a:t>φ)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N·V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= V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bus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: the phase current does </a:t>
            </a:r>
            <a:r>
              <a:rPr lang="sv-SE" sz="1400" b="1">
                <a:solidFill>
                  <a:srgbClr val="C84632"/>
                </a:solidFill>
                <a:latin typeface="Calibri" panose="020F0502020204030204" pitchFamily="34" charset="0"/>
              </a:rPr>
              <a:t>not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depend on N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V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ph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= 1.15 · 75 V / 2√2 = 30.5 V; 6.25 kW per leg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400" b="1">
                <a:solidFill>
                  <a:srgbClr val="1E1E1E"/>
                </a:solidFill>
                <a:latin typeface="Calibri" panose="020F0502020204030204" pitchFamily="34" charset="0"/>
              </a:rPr>
              <a:t>228 Arms per leg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, 322 A peak (cos </a:t>
            </a:r>
            <a:r>
              <a:rPr lang="el-GR" sz="1400">
                <a:solidFill>
                  <a:srgbClr val="1E1E1E"/>
                </a:solidFill>
                <a:latin typeface="Calibri" panose="020F0502020204030204" pitchFamily="34" charset="0"/>
              </a:rPr>
              <a:t>φ = 0.9)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DC current per leg 83 A; series DC chain 250 A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3EC0B640-F665-9751-E934-44D5C50DE8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3893188"/>
              </p:ext>
            </p:extLst>
          </p:nvPr>
        </p:nvGraphicFramePr>
        <p:xfrm>
          <a:off x="7493000" y="1295400"/>
          <a:ext cx="38100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983142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150487735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cos </a:t>
                      </a:r>
                      <a:r>
                        <a:rPr lang="el-GR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φ</a:t>
                      </a:r>
                      <a:endParaRPr lang="sv-SE" sz="14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</a:t>
                      </a:r>
                      <a:r>
                        <a:rPr lang="sv-SE" sz="1400" b="1" baseline="-2500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rms</a:t>
                      </a:r>
                      <a:r>
                        <a:rPr lang="sv-SE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525229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760374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3467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90129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9644263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340DF51-BBD0-83E8-30C3-0F5702B864F8}"/>
              </a:ext>
            </a:extLst>
          </p:cNvPr>
          <p:cNvSpPr txBox="1"/>
          <p:nvPr/>
        </p:nvSpPr>
        <p:spPr>
          <a:xfrm>
            <a:off x="381000" y="628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Losses below are for cos φ = 0.9; the PMSM operating point must be confirmed with the machine design.</a:t>
            </a:r>
            <a:endParaRPr lang="sv-SE" sz="1000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7615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90BA4D2-80FB-26F5-9575-A43157DE6E04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931C343-A9D8-81BC-1CB1-BC95B9A68C2F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Voltage class: why 100 V GaN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76E0D6-D1EC-9BEE-6D02-F0B1582695E7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2  Device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425E7050-22DF-D02A-3DAF-45EB1CC7EDC6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B8AB7B68-A905-ED7F-BB36-E668E8CCBEA9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D0990D3F-41A0-82D9-4589-6482216133BD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E5B4839B-5E98-40B0-3DEF-35D803EA2C54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ADBA2301-3055-2ADB-91BE-388EBA8CA02B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AAC2EDCE-EE56-4131-A539-718F75626EB3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073507B9-A69D-6F84-9AC2-1E5582BF6BD2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63BC7D31-89FE-3E43-3090-1F25ACF63F17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250AA68E-08B0-7843-5D00-92EE9D363289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FCE72324-FBFA-1083-930A-28C05D698EF2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82B666F2-19DB-EF20-C5C4-CAE681FE0F3B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05846288-7A0A-088C-DB16-D7EDB39D979B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8E719E-B532-6FB5-5E6D-6C877D4B6C3B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5 / 44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FAC0A0D-E8F9-42C2-5FF7-6995FD31B4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604000" cy="202552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45DC3DB-003F-D67F-6D17-C0F33749F3BC}"/>
              </a:ext>
            </a:extLst>
          </p:cNvPr>
          <p:cNvSpPr txBox="1"/>
          <p:nvPr/>
        </p:nvSpPr>
        <p:spPr>
          <a:xfrm>
            <a:off x="7239000" y="1168400"/>
            <a:ext cx="457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At fixed bus voltage and phase current the minimum semiconductor loss scales with R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DS(on)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·C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oss,tr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100 V GaN gives the lowest product among 100–650 V Si/SiC/GaN candidates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Selected: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EPC2361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, 100 V, 0.75 mΩ typ, 3 × 5 mm, top-side cooling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7287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3D186D0-270E-ADDD-13C1-A3622BD4BF15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FAA38A3-5B4A-813D-D696-0AB05FBD675F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EPC2361 key data</a:t>
            </a: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F2867C8A-7B2C-A929-03E7-D7876C258C26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DAC473A2-1528-7B83-2248-9F1DB90B1F8C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B8900CC8-C925-938D-4997-81DAF403ACDF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B9DE7E6F-61BD-A0F9-AAE3-5BB40515BDE9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938B837B-48B0-8831-8C68-0FE753F0D4CB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B990F5E2-D12C-F87D-5DF2-0E83A7279F8A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B7F25CEC-1E09-156D-E8EA-1CB3259CE64E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FE95E318-48B3-6336-FEF8-A2A72500DF6B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BBBB8A33-C8F5-BEC5-C959-CA7707E80C70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8A2A922E-1C98-D3EA-7CF9-499677E17501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33683195-DFE5-B67E-5936-E15AE1ACDBB2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CDD16E75-ABCA-762B-D76D-FB63D648A5DE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91843D-5799-2A67-3636-0E38E1C3399A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6 / 44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BE964357-0266-DBBA-448F-A8177FF1E1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2606300"/>
              </p:ext>
            </p:extLst>
          </p:nvPr>
        </p:nvGraphicFramePr>
        <p:xfrm>
          <a:off x="381000" y="1168400"/>
          <a:ext cx="5969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42456442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714618839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619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5260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0.75 m</a:t>
                      </a:r>
                      <a:r>
                        <a:rPr lang="el-GR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Ω 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85225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GS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range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−4 … +6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83805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 / 1.1 / 2.5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84090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iss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/ C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oss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/ C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86988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Q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/ Q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GD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/ Q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92717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G,int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 Ω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31952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</a:t>
                      </a:r>
                      <a:r>
                        <a:rPr lang="el-GR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θ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JC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top / R</a:t>
                      </a:r>
                      <a:r>
                        <a:rPr lang="el-GR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θ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0.2 / 1.5 K/W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11762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91DDD4F6-F6D2-9A01-BD0E-CC5F71214D21}"/>
              </a:ext>
            </a:extLst>
          </p:cNvPr>
          <p:cNvSpPr txBox="1"/>
          <p:nvPr/>
        </p:nvSpPr>
        <p:spPr>
          <a:xfrm>
            <a:off x="6731000" y="1168400"/>
            <a:ext cx="508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Low threshold and −4 V limit: gate drive needs care (bump, negative bias)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Top of the package at </a:t>
            </a:r>
            <a:r>
              <a:rPr lang="en-US" sz="1400" b="1">
                <a:solidFill>
                  <a:srgbClr val="C84632"/>
                </a:solidFill>
                <a:latin typeface="Calibri" panose="020F0502020204030204" pitchFamily="34" charset="0"/>
              </a:rPr>
              <a:t>source potential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: the thermal interface must insulate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Seven interleaved stripes; pad 2 next to the gate is the natural Kelvin point (own net KH/KL on Rev B)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8546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BD544B3-984A-5359-D0F7-19EA1DE0FDBD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A7D06C6-E801-DB94-C593-008E6977AC1F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Submodule voltage from L·di/dt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CE72A-218E-2114-092E-9BEDBAFC5270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3  Submodule voltage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116F7ADB-1D3A-6FB6-AD7D-522788B26EA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A511F237-FF36-569F-5FFE-FF23824F1469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F77DE937-784C-2659-CE75-E475C3E44E71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1BE60183-E7D1-2B80-B25D-F8115BFCE39E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4A5F821F-DA57-F659-3386-F8088B82416D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A68DD483-EDFA-098C-D57B-2BD60B9AB959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009EBDD5-855B-AFDD-B749-14363D0AD335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9BD522F0-0E5E-0C33-4773-187484E7710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E7958BD9-F468-7DC3-E7F2-6B89EB35DAA1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97E953A5-BCEE-C52E-34AB-0F8FC305BFFF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3065361D-5656-7971-9C5E-4B17C8DC41C0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EBAF7FD8-2849-EA31-68CB-8E8588E2417E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E8C0F-4068-B099-D885-1D9DD338B2E4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7 / 44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8BE2BA3-D184-54DD-1DE1-FB3568E220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350000" cy="256690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44FF9A2-C7F5-592E-AF4F-92B946E8B16C}"/>
              </a:ext>
            </a:extLst>
          </p:cNvPr>
          <p:cNvSpPr txBox="1"/>
          <p:nvPr/>
        </p:nvSpPr>
        <p:spPr>
          <a:xfrm>
            <a:off x="6921500" y="1168400"/>
            <a:ext cx="4889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Peak stress v̂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DS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=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+ L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loop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·di/dt ≤ 90 V (10 % below the rating)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First-cut loop with MLCCs: ≈ 0.5 nH per cell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Fast switching (≈ 30 A/ns, analytical gate-charge model) ⇒ 15 V overshoot ⇒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≤ 75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N integer and even (symmetric submodules and winding sets): 14 → 86 V, 18 → 67 V and 12.5 % more parts</a:t>
            </a:r>
          </a:p>
        </p:txBody>
      </p:sp>
      <p:sp>
        <p:nvSpPr>
          <p:cNvPr id="21" name="decision">
            <a:extLst>
              <a:ext uri="{FF2B5EF4-FFF2-40B4-BE49-F238E27FC236}">
                <a16:creationId xmlns:a16="http://schemas.microsoft.com/office/drawing/2014/main" id="{A00FF927-04D0-8910-BC75-501B0ECCC15B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pt-BR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pt-BR" sz="1400">
                <a:solidFill>
                  <a:srgbClr val="1E1E1E"/>
                </a:solidFill>
                <a:latin typeface="Calibri" panose="020F0502020204030204" pitchFamily="34" charset="0"/>
              </a:rPr>
              <a:t> V</a:t>
            </a:r>
            <a:r>
              <a:rPr lang="pt-BR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pt-BR" sz="1400">
                <a:solidFill>
                  <a:srgbClr val="1E1E1E"/>
                </a:solidFill>
                <a:latin typeface="Calibri" panose="020F0502020204030204" pitchFamily="34" charset="0"/>
              </a:rPr>
              <a:t> = 75 V, N = 16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286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8AAA680-CCD4-8EFD-DC11-74FD0562E73E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A6D9B69-325E-99A0-2A9C-B10B133FDBC2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Why not lower: every submodule costs parts and loss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F2045085-B053-3671-9EE1-3F2D67EA0B01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878C9E47-432D-3F3C-E451-4C2EFA5E3A1C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DDC7DF9C-2858-991B-37A4-160AA600EFFD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EAE52199-4306-DC57-A0AB-32401AD333A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13AFF1AF-C2C7-FABA-FBDA-9D2D54A30C11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5AA1446A-BF39-4653-7027-7251F14D23CB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F93C9A2D-89A3-0FEB-E891-C724E33594FA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8193C9FE-546D-4F2D-F851-EEDB97ED81F9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491D0D44-2202-BED4-FDAD-DDCD94E4BE77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EF68431B-193A-8803-6533-0C24E307A6DF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41FBE12F-AB94-5788-370A-022CDA63EEB9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39321167-9B0E-A14C-3AEB-BF53E884D6CD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2D0B10-EEB8-FF83-3F2D-99ED0CCFF4B2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8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1468DE3-6B52-32BE-AC43-C750D20101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5461000" cy="329621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FA6AEA1-F3FD-7D94-0613-D10805D07E60}"/>
              </a:ext>
            </a:extLst>
          </p:cNvPr>
          <p:cNvSpPr txBox="1"/>
          <p:nvPr/>
        </p:nvSpPr>
        <p:spPr>
          <a:xfrm>
            <a:off x="6096000" y="1168400"/>
            <a:ext cx="5715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Phase current is fixed by P, V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bus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Overshoot margin rechecked with the final layout (Q3D, 0.374 nH per cell on Rev A; Rev B in step 11)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5698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F4DFB71-546A-6F75-5B90-48E39E11AB7D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5EDDE44-FFF8-AA3B-2988-91E31414EDB2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First-cut power loop of one cell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183D3-66D1-C4CF-D3FF-BA54200B1762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000">
                <a:solidFill>
                  <a:srgbClr val="E8EFF8"/>
                </a:solidFill>
                <a:latin typeface="Calibri" panose="020F0502020204030204" pitchFamily="34" charset="0"/>
              </a:rPr>
              <a:t>4  One device, one driver</a:t>
            </a:r>
            <a:endParaRPr lang="sv-SE" sz="1000">
              <a:solidFill>
                <a:srgbClr val="E8EFF8"/>
              </a:solidFill>
              <a:latin typeface="Calibri" panose="020F0502020204030204" pitchFamily="34" charset="0"/>
            </a:endParaRP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E918F67C-5B9F-F175-0F29-9C4798FA31A5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9736E528-3A8F-4886-540C-787C99188F6A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EC6AC5C2-732D-4C36-67B4-C8F0B15FCF64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CD79C100-8646-E0E2-99F7-103106E197C6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CD608B37-BCDC-4963-E12A-25A079FC00A1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852F1D00-67C1-6213-BC6F-E7C7124A3513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10B0E6DB-020B-A2FF-F7AA-ABA247973C96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3150B1FA-FD8F-F057-7B1C-9B46B6A5B264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52157885-5986-E680-6097-8D94F295738E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EB0D0494-8225-6C99-BD05-616576B3E474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202C223B-47C3-6F3F-008A-E19BE81C1FCF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72640BD5-DA2C-6C06-BFC6-5997C1237786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2D024F-03D2-D462-CA62-EB1D783657C4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9 / 44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87E43B3-34A2-CEF6-915B-05753A24E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350000" cy="249061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79852E-27E1-D17D-E57A-30FEDE052E2F}"/>
              </a:ext>
            </a:extLst>
          </p:cNvPr>
          <p:cNvSpPr txBox="1"/>
          <p:nvPr/>
        </p:nvSpPr>
        <p:spPr>
          <a:xfrm>
            <a:off x="6921500" y="1168400"/>
            <a:ext cx="4889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Loop = PCB copper (vertical loop over 0.1 mm dielectric, vias, pads) + ESL of the local MLCCs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Copper alone ≈ 0.31 nH; MLCCs in parallel add ESL/n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c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1 / 2 / 4 / 6 MLCCs: 0.79 / 0.55 / 0.43 / 0.39 nH: beyond ≈ 4 the number hardly matters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Part: 1 µF 100 V X7S 0805 next to the drains</a:t>
            </a:r>
          </a:p>
        </p:txBody>
      </p:sp>
      <p:sp>
        <p:nvSpPr>
          <p:cNvPr id="21" name="decision">
            <a:extLst>
              <a:ext uri="{FF2B5EF4-FFF2-40B4-BE49-F238E27FC236}">
                <a16:creationId xmlns:a16="http://schemas.microsoft.com/office/drawing/2014/main" id="{2C6C03F0-8CA2-DFCC-8A9D-EB593EF806CB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Design with 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loop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= 0.5 nH per cell (0.3 and 0.8 nH as bounds)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4476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89648918-F8DE-979B-88D3-9AB0315005A7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D7989AC-6DFD-2146-FA0D-4849B66714B9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One EPC2361 per switch: how fast and how much overshoot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769A7077-FB9E-D5AD-B485-4681E4B565D1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EF9AF948-3592-D396-CAB2-979E7980769E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C0061B52-B2C5-B9BC-1041-F7E9B1096E8C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412924C1-E358-9E45-CD0F-4789819C31B6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6B472D62-1C17-F7EC-FB76-018980FE4B59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8DEAB56C-14ED-20C3-FDDA-7F8A8DB007AE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557AD3DE-C779-E630-CBC4-E89A53ED3DF5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24DE3ABD-BA8F-31DC-6D3C-0A1E85C1D55C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F456A499-05FD-B7DD-675B-9562107BDE53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EEA3F73C-C3D0-BDEA-0CBF-4388BA6F6F1E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621A9393-3F34-9DBA-373D-685DB837AD69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792CC396-989D-18F4-85B9-005BC9DB9178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FF9EA8-DA6F-4076-1D5C-0968D428D1C8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10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90343F2-8579-482C-3ACD-F1FD1A8D4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4257" y="1168400"/>
            <a:ext cx="5743486" cy="2921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868AFF-61EF-75DC-FD67-1ACA69C99E88}"/>
              </a:ext>
            </a:extLst>
          </p:cNvPr>
          <p:cNvSpPr txBox="1"/>
          <p:nvPr/>
        </p:nvSpPr>
        <p:spPr>
          <a:xfrm>
            <a:off x="381000" y="4216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LTspice half bridge, double pulse at 75 V: lumped loop, 1.7 nH gate loop, 0.03 nH common source, 2 Ω on / 0 Ω off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Turn-on di/dt set by the driver (≈ 45 A/ns); turn-off di/dt grows with current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0.5 nH: 83 V at 79 A, </a:t>
            </a:r>
            <a:r>
              <a:rPr lang="en-US" sz="1300" b="1">
                <a:solidFill>
                  <a:srgbClr val="C84632"/>
                </a:solidFill>
                <a:latin typeface="Calibri" panose="020F0502020204030204" pitchFamily="34" charset="0"/>
              </a:rPr>
              <a:t>101 V at 119 A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One device would carry 322 A peak ⇒ </a:t>
            </a:r>
            <a:r>
              <a:rPr lang="en-US" sz="1300" b="1">
                <a:solidFill>
                  <a:srgbClr val="1E1E1E"/>
                </a:solidFill>
                <a:latin typeface="Calibri" panose="020F0502020204030204" pitchFamily="34" charset="0"/>
              </a:rPr>
              <a:t>current per device ≤ 80 A</a:t>
            </a:r>
            <a:endParaRPr lang="sv-SE" sz="1300" b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01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ECCD6B6-68B2-7D05-64C0-864FAE391CA9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76B13C8-9B00-2E97-3262-2E25C4C9FF44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Thermal path per device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F1DF62-32F2-324C-6C01-2529A22AE26B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5  Devices in parallel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092F6A44-B5F9-0CE2-C671-D00CA057A3FD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DE84D04D-FC24-81CD-6DE9-6B6115FA8F0F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CAA2E379-C176-BAEB-4CD1-745FDA43CADF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E46B6CF2-FC74-EB06-493C-4B01E5668F0B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86B8A617-D409-F59A-124D-B3A210065897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EE15B1C6-3896-35C3-8984-5ADD7EEF28FD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79B451F7-2AC4-350B-5362-7B03B57923FF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137249C5-FE58-5284-9FC9-39B5F198A09F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394071DC-FAFF-A39E-9874-6B4CBCF07913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2ACB252F-EEFB-4247-87C3-D4F6FF017A73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819B304A-18E7-F6B6-6C77-192B8ADCDE7F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2EA13747-67F4-0C2F-E846-6598F597410B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5DA781-7861-FF6B-39B9-427AA15F34C7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11 / 44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A19CDEC-4BF9-B8A5-AE90-362AFDFB45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844276"/>
              </p:ext>
            </p:extLst>
          </p:nvPr>
        </p:nvGraphicFramePr>
        <p:xfrm>
          <a:off x="381000" y="1168400"/>
          <a:ext cx="66040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0">
                  <a:extLst>
                    <a:ext uri="{9D8B030D-6E8A-4147-A177-3AD203B41FA5}">
                      <a16:colId xmlns:a16="http://schemas.microsoft.com/office/drawing/2014/main" val="335233257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709450447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Layer (top-side cooling, per device)</a:t>
                      </a:r>
                      <a:endParaRPr lang="sv-SE" sz="13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97232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</a:t>
                      </a:r>
                      <a:r>
                        <a:rPr lang="el-GR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θ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JC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288088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pl-PL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TIM 1, 50 µm, 3 W/mK, 15 mm²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1.11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953489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pl-PL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AlN 0.635 mm, 170 W/mK, 25 mm²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0.15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90540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pl-PL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TIM 2, 50 µm, 3 W/mK, 50 mm²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0.33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0774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cold plate, h = 10 kW/m²K, 100 mm²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1.00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0536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coupling to neighbours, coolant rise (+20 %)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26353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Junction–coolant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3.4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36284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8A68276-9E17-D76B-24B0-0E0ECA1C7CE9}"/>
              </a:ext>
            </a:extLst>
          </p:cNvPr>
          <p:cNvSpPr txBox="1"/>
          <p:nvPr/>
        </p:nvSpPr>
        <p:spPr>
          <a:xfrm>
            <a:off x="7302500" y="1168400"/>
            <a:ext cx="4508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Two TIM layers and the cold plate dominate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Used for the decisions: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3.4 K/W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, coolant 60 °C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Bounds: 2.1 K/W (sintered stack), 8 K/W (gap pad)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R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DS(on)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(T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j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) from the datasheet: 1.49 at 100 °C, 1.80 at 150 °C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9110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444C6656-AABF-2C30-471E-51066882C4E8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06A618-E673-3D59-E138-36DDAED4CDD6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n identical cells per switch (one device and one driver each)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190E914B-5444-8134-0304-C80E5378139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0376F6CC-BE80-227D-A909-D168CE9DE4DE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FC092F66-29AF-AC69-16BB-0AF95480691A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1D9681A8-092B-C631-9AAD-2684E201D550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B4E982FA-67DD-C447-17B1-BFE7301AAC4E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53BF3592-CE6F-3D42-C2D8-C7E3F78A5465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950EA9C2-B43E-EBA9-004F-549FCF603AB3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F892B899-85F3-4FD3-18E3-AC3BA1A38BAC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ABCE613F-0D99-FFF5-40A4-9B28A1263788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B2C9564C-89C4-6D28-437A-10E47AA78E7A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CC5AD75C-614B-3D9B-78C9-8A121065D036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463C4342-2003-8D45-D739-5B552CB73144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D16B5F-5920-DB5C-2956-D397C4A5B354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12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5D7C28E-7DC6-ED45-0C24-A24DA45082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409" y="1168400"/>
            <a:ext cx="7951183" cy="3175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DFC9122-9FD7-94EF-40EF-0A8ADCFCAB05}"/>
              </a:ext>
            </a:extLst>
          </p:cNvPr>
          <p:cNvSpPr txBox="1"/>
          <p:nvPr/>
        </p:nvSpPr>
        <p:spPr>
          <a:xfrm>
            <a:off x="381000" y="4406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228 A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rms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per leg, 50 kHz, T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j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and R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DS(on)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solved together; LTspice energies at 0.5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n = 1: T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j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&gt; 150 °C; n = 2: 33 W and 131 V; n = 3: 96 V at 0.5 nH; n = 4 / 8: 18 / 15 W per leg</a:t>
            </a:r>
          </a:p>
        </p:txBody>
      </p:sp>
      <p:sp>
        <p:nvSpPr>
          <p:cNvPr id="20" name="decision">
            <a:extLst>
              <a:ext uri="{FF2B5EF4-FFF2-40B4-BE49-F238E27FC236}">
                <a16:creationId xmlns:a16="http://schemas.microsoft.com/office/drawing/2014/main" id="{5702C3E9-6EDE-EB6E-22A2-28501AA8B893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4 EPC2361 per switch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(V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DS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and T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j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for all three R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th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; 4 splits into two equal pairs)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9120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1438578-3D53-C982-0210-3BEE2D0A45A3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50DC84C-9940-8410-754C-3C27354C8C02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Where the loss comes from: line period and junction temperature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26056964-ED58-29E8-A852-F808830E4CD0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AA3F92C9-7C24-1161-8C5A-BB0929217280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C7B5A9F1-0E06-765D-DBE7-986D57A7B4D2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8A1E3E00-BCB3-34E7-D0FA-77D858508D82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95BB37A2-610D-26AA-446B-19EF017353A6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4145FCDB-4DEB-117D-D0C0-7EB9E95C5BF5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6F2F838D-1953-9261-9020-672E0A6A33F2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DC46BCC6-CEFA-4E6C-342E-925C4DB4978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F56FC78A-6183-750E-3F01-11C2AE8213AE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95C28173-9E3C-A2D5-D539-C8CF114D9D86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0F9FD935-2853-D5A4-896E-BFA0708E7BC5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8A672C9D-C742-9E4D-B449-824292280E48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9C90C2-B78F-810D-8BC7-8BD29513DF72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13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0633B12-DB51-5A47-6756-331CAAE01B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282" y="1168400"/>
            <a:ext cx="9215436" cy="3683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4AF892D-B811-2A8C-A28B-E7DCFB5B5287}"/>
              </a:ext>
            </a:extLst>
          </p:cNvPr>
          <p:cNvSpPr txBox="1"/>
          <p:nvPr/>
        </p:nvSpPr>
        <p:spPr>
          <a:xfrm>
            <a:off x="381000" y="4978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n = 4, 50 kHz: switching loss follows |i| (plus a constant E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oss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Conduction loss at the operating point is 28 % above its 25 °C value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2309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E61A850-18C4-63A4-2BB9-A657B3D0E020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59CFD1D-7048-DC80-87D1-EF4C1D1B5011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Losses vs number in parallel</a:t>
            </a: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6C0B160F-D296-EB4C-A0BA-B7223858F02F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0CE1E565-7B93-49A4-332F-86ACA25EC092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3F466740-EEE6-1F3A-50E9-AEF31E9AE3EE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B4E3925D-16F9-AECF-21D4-170FC0D6CA0F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750A0018-1061-6629-741F-30F4D678A75D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877C00FA-5FCF-1829-4057-B44E5BA0BD4A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951FF3B3-F861-5D9A-87D8-D8C8E6892173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D8537470-00CF-D148-24A1-F4C44535FA89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E04508B6-5DF6-ED91-B6A2-EAEA95B5385F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225CE79C-953D-50C2-AC50-9F6F40E7FA85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BD0921D3-7561-B476-1FE0-44DEAB5291A9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83A2E1AF-7DD7-D002-1D2B-3E8559E726D1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C7A3F9-257B-2E84-33F1-51D4BE7E9BD4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14 / 44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DD376A1-01E7-E31F-2073-8737CC85A4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850283"/>
              </p:ext>
            </p:extLst>
          </p:nvPr>
        </p:nvGraphicFramePr>
        <p:xfrm>
          <a:off x="381000" y="1168400"/>
          <a:ext cx="11430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2692022633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561241679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935786094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2285673838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676028415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4147462154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463519306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155506997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120098081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908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Loss per leg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79.1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33.0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17.8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14.9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03936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 conduction at T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70.0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27.5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0507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 switching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8.4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5.0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5.4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34975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Efficiency (%)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98.73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99.47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99.65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99.72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5413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06427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194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814344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Peak V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(V)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194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131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5286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84145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AC18EDA5-00E7-633B-1F5D-29DA4C51D346}"/>
              </a:ext>
            </a:extLst>
          </p:cNvPr>
          <p:cNvSpPr txBox="1"/>
          <p:nvPr/>
        </p:nvSpPr>
        <p:spPr>
          <a:xfrm>
            <a:off x="381000" y="628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Semiconductor losses only, 3.4 K/W, 60 °C coolant, 0.5 nH, 50 kHz; efficiency relative to 6.25 kW per leg.</a:t>
            </a:r>
            <a:endParaRPr lang="sv-SE" sz="1000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1426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436FE01-052E-8D0C-CE19-F2F8B18D58F9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358CD67-54DD-EF58-7E6F-38AD05D5D32F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Switching frequency: losses, DC-link capacitors, current ripple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2D645-EEA9-611B-B5D2-673F9B9AF6A6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000">
                <a:solidFill>
                  <a:srgbClr val="E8EFF8"/>
                </a:solidFill>
                <a:latin typeface="Calibri" panose="020F0502020204030204" pitchFamily="34" charset="0"/>
              </a:rPr>
              <a:t>6  Switching frequency and DC link</a:t>
            </a:r>
            <a:endParaRPr lang="sv-SE" sz="1000">
              <a:solidFill>
                <a:srgbClr val="E8EFF8"/>
              </a:solidFill>
              <a:latin typeface="Calibri" panose="020F0502020204030204" pitchFamily="34" charset="0"/>
            </a:endParaRP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F744E53F-B4CF-5A08-60AA-4F191825D2A9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05C55DA3-E84B-7C83-13F0-AEF7E55AAF90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88C68EB9-24D4-4715-E1B2-D1398B408D06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F21B997B-7517-8C1E-3FAE-1388C511E23A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F53D41CD-6500-89EB-4F81-F095ACA3EEC5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BEA85D15-4A32-202E-5B39-8879CEB67E28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0E73AB3C-44D6-F833-6038-30487934A065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049F94BB-A191-93A1-BA46-6DA6F7FC8594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AB14A323-17DE-2264-2034-2C2209EB72C0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583ABDF0-6876-46BF-F0B9-13B1ADE87C97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3A400573-8EA0-A108-99F5-462043BC5F78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709B1D5E-35DB-3D5F-2405-6A87183FC57A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A548ED-8003-A0AA-3477-F551E2AC8A6E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15 / 44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7144C6D-A127-DD64-FD95-047F94E11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9415" y="1168400"/>
            <a:ext cx="7033171" cy="2794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F5156FE-B12C-7DF7-7F7B-29E3556924D6}"/>
              </a:ext>
            </a:extLst>
          </p:cNvPr>
          <p:cNvSpPr txBox="1"/>
          <p:nvPr/>
        </p:nvSpPr>
        <p:spPr>
          <a:xfrm>
            <a:off x="381000" y="4025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(a) n = 4: 99.77 / 99.72 / 99.63 % at 20 / 50 / 100 kHz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(b) Voltage ripple sets the MLCC count below ≈ 99 kHz, ripple current above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(c) Winding current ripple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Δ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i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pp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=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/(4 L</a:t>
            </a:r>
            <a:r>
              <a:rPr lang="el-GR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σ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f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) depends on the machine leakage inductance</a:t>
            </a:r>
          </a:p>
        </p:txBody>
      </p:sp>
      <p:sp>
        <p:nvSpPr>
          <p:cNvPr id="21" name="decision">
            <a:extLst>
              <a:ext uri="{FF2B5EF4-FFF2-40B4-BE49-F238E27FC236}">
                <a16:creationId xmlns:a16="http://schemas.microsoft.com/office/drawing/2014/main" id="{4A2D08E6-D096-7BFF-2E6D-6E9FEB1D1406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f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≥ 50 kHz (higher allowed by the machine); the DC link below is sized for 50 kHz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6460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F8EF952-C2D7-343C-D07A-1D8678BF2DA1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E93BAD4-16B8-9DB1-965B-5BB1036095AE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DC-link sizing for a three-phase level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00850F62-23E2-C8DE-6E8F-99FC666343FB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06A0AACD-68D9-B44A-9F34-A0B7105360F7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FB6760CA-D1CF-F197-54FF-DAD90B2670E5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DE1CC146-0003-8925-5C2B-0915EA5E263C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E9813467-7AEE-8601-2170-9BF3BFE6D365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5126248C-DD93-20AB-3626-38CD92327C8C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89B92848-A953-D98F-47A5-138083F174E3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81A255E0-DF2E-28F5-9F9E-06CE19FBC066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5FFF8115-0F7A-63BB-5089-B25F8E54EE68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64CE162C-1340-EF06-0FD2-AA4C5D07288B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E0248814-6307-212B-2FCD-68BB903A5E9B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BEB2E87D-EAA4-B86B-F3C2-9C4B7538CD8C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B2B684-666A-8EB1-EEEF-5F2E0195D2CF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16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1CCB001-77C2-39AB-4469-C54FDB36B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604000" cy="250256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ED276A9-E2E9-88E2-685F-CD13A2E42B20}"/>
              </a:ext>
            </a:extLst>
          </p:cNvPr>
          <p:cNvSpPr txBox="1"/>
          <p:nvPr/>
        </p:nvSpPr>
        <p:spPr>
          <a:xfrm>
            <a:off x="381000" y="3835400"/>
            <a:ext cx="660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One 75 V level = three legs on one bus; SVPWM M = 1.15, cos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φ = 0.9, 322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A peak, switching function per period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Balanced three-phase: no 2f ripple; capacitor RMS current </a:t>
            </a: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85 A per level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Worst charge excursion per period </a:t>
            </a: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860 µC at 50 kHz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(≈ Î/(8 f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)) ⇒ ripple, not current, sets C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1DEF4F8F-620F-83EF-B67F-A1C766139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974833"/>
              </p:ext>
            </p:extLst>
          </p:nvPr>
        </p:nvGraphicFramePr>
        <p:xfrm>
          <a:off x="7302500" y="1168400"/>
          <a:ext cx="45085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617695146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937100816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22002987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680206530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f</a:t>
                      </a:r>
                      <a:r>
                        <a:rPr lang="sv-SE" sz="1200" b="1" baseline="-2500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Δ</a:t>
                      </a:r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200" b="1" baseline="-2500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</a:t>
                      </a:r>
                      <a:r>
                        <a:rPr lang="sv-SE" sz="1200" b="1" baseline="-2500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eff</a:t>
                      </a:r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 per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77089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325637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13065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53225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7346560"/>
                  </a:ext>
                </a:extLst>
              </a:tr>
            </a:tbl>
          </a:graphicData>
        </a:graphic>
      </p:graphicFrame>
      <p:sp>
        <p:nvSpPr>
          <p:cNvPr id="21" name="decision">
            <a:extLst>
              <a:ext uri="{FF2B5EF4-FFF2-40B4-BE49-F238E27FC236}">
                <a16:creationId xmlns:a16="http://schemas.microsoft.com/office/drawing/2014/main" id="{EAA25661-1359-D2F8-4356-5EDAD3A1BC26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ΔV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pp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≤ 3 % (2.25 V) at 50 kHz ⇒ 127 µF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effective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per leg board (three legs share the level)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88198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5A454896-A9DE-4B24-BEFC-8CE3D2E2349C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0180A43-A164-DD6C-E3D9-A6069A4B88F4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Capacitor selection: effective capacitance at 75 V</a:t>
            </a: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EA342C8F-64E0-9965-EB34-02078B4610B3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F08B1279-467F-CEFE-C2EB-AB40C2B4895A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0E1DE8E8-FB84-6344-4551-4BC0183D9E1A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8E43D52E-7ED8-D584-1FEC-DC358BBEE121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7E66572C-32B4-BB8C-851F-0A8BC736AAB9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0E20EF52-591E-E4D4-F873-B951F77BFECC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FF69DA13-9F14-CB9B-3454-DA06FF575F66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E2F002C5-CA74-1916-C44B-6D68E16EB290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E620B34F-1CAA-4ACD-DBAC-D0E04A1023D7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6CFC0A74-C4E2-3B4E-7FF7-9CF5C665D28A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7C24C6BA-9AB1-CDE8-A46E-69FB025894AA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FA9FFE55-60E6-87A5-AE1B-A1680BD1F8AB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8AD8F2-1E59-1CA8-6612-D1512E09D42C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17 / 44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9A95992-DA42-FF62-3BF4-C7E8F80651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129546"/>
              </p:ext>
            </p:extLst>
          </p:nvPr>
        </p:nvGraphicFramePr>
        <p:xfrm>
          <a:off x="381000" y="1168400"/>
          <a:ext cx="11430000" cy="195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>
                  <a:extLst>
                    <a:ext uri="{9D8B030D-6E8A-4147-A177-3AD203B41FA5}">
                      <a16:colId xmlns:a16="http://schemas.microsoft.com/office/drawing/2014/main" val="189152148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092748722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174274435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48030216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651717515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513044010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</a:t>
                      </a:r>
                      <a:r>
                        <a:rPr lang="nb-NO" sz="1200" b="1" baseline="-2500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nom</a:t>
                      </a:r>
                      <a:r>
                        <a:rPr lang="nb-NO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 → C at 75 V</a:t>
                      </a:r>
                      <a:endParaRPr lang="sv-SE" sz="12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16602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096499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12.3 m</a:t>
                      </a:r>
                      <a:r>
                        <a:rPr lang="el-G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Ω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12407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13.1 m</a:t>
                      </a:r>
                      <a:r>
                        <a:rPr lang="el-G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Ω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30463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6.4 m</a:t>
                      </a:r>
                      <a:r>
                        <a:rPr lang="el-G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Ω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005237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3.6 m</a:t>
                      </a:r>
                      <a:r>
                        <a:rPr lang="el-G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Ω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20109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2.8 m</a:t>
                      </a:r>
                      <a:r>
                        <a:rPr lang="el-G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Ω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8212260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AA08B8A-9AC1-308A-C258-54C7A5BFAE55}"/>
              </a:ext>
            </a:extLst>
          </p:cNvPr>
          <p:cNvSpPr txBox="1"/>
          <p:nvPr/>
        </p:nvSpPr>
        <p:spPr>
          <a:xfrm>
            <a:off x="381000" y="3517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DC bias at 75 V from the manufacturers' characteristic data (TDK product centre, Murata): 100 V class-II MLCCs keep only 15–29 %; the current Murata 1210 keeps </a:t>
            </a:r>
            <a:r>
              <a:rPr lang="en-US" sz="1300" b="1">
                <a:solidFill>
                  <a:srgbClr val="C84632"/>
                </a:solidFill>
                <a:latin typeface="Calibri" panose="020F0502020204030204" pitchFamily="34" charset="0"/>
              </a:rPr>
              <a:t>15 %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, not the 30 % assumed before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Checks: 2.8 mm height under the heatsink spreader; 2220 flex cracking ⇒ away from board edge and mounting holes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decision">
            <a:extLst>
              <a:ext uri="{FF2B5EF4-FFF2-40B4-BE49-F238E27FC236}">
                <a16:creationId xmlns:a16="http://schemas.microsoft.com/office/drawing/2014/main" id="{14768637-7874-4104-9D7B-34D616A6B093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Bank: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20 × TDK C5750X7S2A226M280KB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per leg (2 rows), 127 µF effective, 1.4 A ripple per part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723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0C1F4049-BCE3-330A-CE5D-261D1DC9B417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0EDC0A3-8FA0-7ADA-081E-076254A84BC4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Bypass capacitors: how many and how large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F6C36FA9-2149-BAFB-3322-FBA1F3724242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FCF74BA6-2D86-4B6F-19E5-534BF4E284E8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34BE2223-5F3D-8544-E56B-E037B655DA0F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244F64C3-F246-313B-5F49-E6B61D77E88D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4E753174-BA71-7691-D191-7042EB434F1F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9CE2594C-0420-EBEB-80E5-B2BEB97611A9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7C3997CA-C9B0-C746-EAE0-4BCF016C5814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AF1B3068-B8FC-76D4-D7C6-E20304A98D9D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C6FC83B9-DBE4-BAAB-D907-54BACA8BC405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9F9424CB-AE9A-57C1-CAF7-43EEA0F55074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99442DDD-D56A-2116-7EB3-786A6A1DC1E4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EE35F5A9-97B3-ECF0-BC2D-A8188F8A2F10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097434-4199-8FE6-1B1F-0504B39F1DB6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18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456545C-1B1E-CC62-AF31-DA7F437DC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5080000" cy="389466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1DF4315-650E-3D6F-F204-EB455E4E129E}"/>
              </a:ext>
            </a:extLst>
          </p:cNvPr>
          <p:cNvSpPr txBox="1"/>
          <p:nvPr/>
        </p:nvSpPr>
        <p:spPr>
          <a:xfrm>
            <a:off x="5715000" y="1168400"/>
            <a:ext cx="6096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Bypass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(1 µF 0805 at the drains) supplies the edge, </a:t>
            </a: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bank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the f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ripple; per cell 81 A: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di/dt → number: L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Cu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+ ESL/n ≤ 0.5 nH ⇒ n ≥ 4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Hand-over to the bank through L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b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: C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bp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≥ L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b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(</a:t>
            </a:r>
            <a:r>
              <a:rPr lang="el-GR" sz="1200">
                <a:solidFill>
                  <a:srgbClr val="1E1E1E"/>
                </a:solidFill>
                <a:latin typeface="Calibri" panose="020F0502020204030204" pitchFamily="34" charset="0"/>
              </a:rPr>
              <a:t>Δ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I/</a:t>
            </a:r>
            <a:r>
              <a:rPr lang="el-GR" sz="1200">
                <a:solidFill>
                  <a:srgbClr val="1E1E1E"/>
                </a:solidFill>
                <a:latin typeface="Calibri" panose="020F0502020204030204" pitchFamily="34" charset="0"/>
              </a:rPr>
              <a:t>Δ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V)²: </a:t>
            </a:r>
            <a:r>
              <a:rPr lang="sv-SE" sz="1200" b="1">
                <a:solidFill>
                  <a:srgbClr val="C84632"/>
                </a:solidFill>
                <a:latin typeface="Calibri" panose="020F0502020204030204" pitchFamily="34" charset="0"/>
              </a:rPr>
              <a:t>sets the value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L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b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from Q3D (Rev B copper): </a:t>
            </a:r>
            <a:r>
              <a:rPr lang="sv-SE" sz="1200" b="1">
                <a:solidFill>
                  <a:srgbClr val="1E1E1E"/>
                </a:solidFill>
                <a:latin typeface="Calibri" panose="020F0502020204030204" pitchFamily="34" charset="0"/>
              </a:rPr>
              <a:t>0.65–0.77 nH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(1 nH assumed before)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0805 1 µF 100 V X7S keeps only </a:t>
            </a:r>
            <a:r>
              <a:rPr lang="sv-SE" sz="1200" b="1">
                <a:solidFill>
                  <a:srgbClr val="1E1E1E"/>
                </a:solidFill>
                <a:latin typeface="Calibri" panose="020F0502020204030204" pitchFamily="34" charset="0"/>
              </a:rPr>
              <a:t>18 %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at 75 V (TDK data): 0.18 µF per part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6 per cell = 1.1 µF ⇒ 2.2 V dip; 10 per cell = 1.8 µF ⇒ </a:t>
            </a:r>
            <a:r>
              <a:rPr lang="sv-SE" sz="1200" b="1">
                <a:solidFill>
                  <a:srgbClr val="1E1E1E"/>
                </a:solidFill>
                <a:latin typeface="Calibri" panose="020F0502020204030204" pitchFamily="34" charset="0"/>
              </a:rPr>
              <a:t>1.7 V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dip</a:t>
            </a:r>
          </a:p>
        </p:txBody>
      </p:sp>
      <p:sp>
        <p:nvSpPr>
          <p:cNvPr id="20" name="decision">
            <a:extLst>
              <a:ext uri="{FF2B5EF4-FFF2-40B4-BE49-F238E27FC236}">
                <a16:creationId xmlns:a16="http://schemas.microsoft.com/office/drawing/2014/main" id="{14A90FBB-BF7E-39AB-A330-82FF40AC3C4A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10 × 1 µF 0805 per cell: 6 on top at the drains (loop unchanged) + 4 on the bottom, identical in all cells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834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74B49335-758E-D105-1F03-D5E0D3C989E7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A65470D-66D8-0BAD-6AA1-8F6A048820AC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DC link of the Rev B leg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3EB9C18E-3D37-11B5-B8A6-21964EFF226A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66394CBE-EFC7-6420-15B9-4BCCAFE9F3AF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0DC5C794-3120-A2FF-9A0B-747DB40E2D8C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63F7F791-D8F3-0893-B648-1F4F5BBFE8B6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EF7C7EEE-D12F-CA0D-7DA6-E9FA60D57507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EA6825DC-445B-C714-EAB4-B7E4C6D6C8B2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A4276557-2A23-154E-D8DF-8CED3828E293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46A8FBCC-9AC4-248D-34A8-02485B76F641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3FD9284A-81D8-4268-8F7E-84AE78F0B3F9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9CB4DDF3-A0ED-1A15-A50E-DEB87EB68D65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D853C1D7-805D-1702-6A27-1325D2361D2C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65AB5321-4F73-5D9A-B845-5C9FD53A5874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A3C9E7-F824-0639-76BD-2BD6500E30B4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19 / 44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51082F0-AF75-6C6C-00A6-166C625EB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849971"/>
              </p:ext>
            </p:extLst>
          </p:nvPr>
        </p:nvGraphicFramePr>
        <p:xfrm>
          <a:off x="381000" y="1168400"/>
          <a:ext cx="5969000" cy="111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424757144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83390885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6623264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6516214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8914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6268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Bank, rows A (8) + B (12)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32185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9571567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D3049AE1-63D1-0417-8C43-00B7552ABCB2}"/>
              </a:ext>
            </a:extLst>
          </p:cNvPr>
          <p:cNvSpPr txBox="1"/>
          <p:nvPr/>
        </p:nvSpPr>
        <p:spPr>
          <a:xfrm>
            <a:off x="6667500" y="1168400"/>
            <a:ext cx="5143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Ripple at 50 kHz with the three legs of a level sharing: </a:t>
            </a:r>
            <a:r>
              <a:rPr lang="en-US" sz="1300" b="1">
                <a:solidFill>
                  <a:srgbClr val="1E1E1E"/>
                </a:solidFill>
                <a:latin typeface="Calibri" panose="020F050202020403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Leg alone (DPT /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60 instead of 99 MLCCs, 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Row A leaves the board centre free: the DC terminal pins are there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decision">
            <a:extLst>
              <a:ext uri="{FF2B5EF4-FFF2-40B4-BE49-F238E27FC236}">
                <a16:creationId xmlns:a16="http://schemas.microsoft.com/office/drawing/2014/main" id="{53D19FC5-C1BF-D7A4-372C-C1D13F368A73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Bank and bypass as above; the Rev B layout is updated to these parts (DRC clean, schematic = PCB)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907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91FF68F-3BC2-BE6C-ACC5-6F49DDF44F76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398AD54-E318-D2CC-0629-4B8799402D5F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Can one driver drive all four?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245143-9EA0-0EED-8C15-07CD0761E304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000">
                <a:solidFill>
                  <a:srgbClr val="E8EFF8"/>
                </a:solidFill>
                <a:latin typeface="Calibri" panose="020F0502020204030204" pitchFamily="34" charset="0"/>
              </a:rPr>
              <a:t>7  Gate drive: from 4 devices to a building block</a:t>
            </a:r>
            <a:endParaRPr lang="sv-SE" sz="1000">
              <a:solidFill>
                <a:srgbClr val="E8EFF8"/>
              </a:solidFill>
              <a:latin typeface="Calibri" panose="020F0502020204030204" pitchFamily="34" charset="0"/>
            </a:endParaRP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4265B686-A702-AD59-CF1C-41DE60D3A4DF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6EFC4B40-3D08-8B36-1F5B-9B0FA6BA595A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BDEB2485-55C6-E50A-2951-613A43B176AB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E700A1D2-A981-22A0-C492-88A2DDECECB4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4A9F0572-1EAE-AD60-B323-CA8403D54DA7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A4323E4A-D0C0-74B3-E8DB-78E4A9D8FE8A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7E06C5D4-97A2-B553-17F9-633E80E2644B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ECD8B331-5374-83E0-036B-F356896E796E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EC9031AB-1F1F-1D97-9B48-F4CCE8494BE1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85262D61-3EC6-91D3-4DF7-DB4226B27C53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DA99D993-881F-396F-620E-7E84C8FA843C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479B3C36-DEF3-C604-31EE-7C4469220C6B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1223D2-5DE8-4578-CADE-D5F269A92C02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20 / 44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CE91947-3436-5A5A-E749-126600EF63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858000" cy="215595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31EAE9C-43CA-A88C-770C-2927DA90805E}"/>
              </a:ext>
            </a:extLst>
          </p:cNvPr>
          <p:cNvSpPr txBox="1"/>
          <p:nvPr/>
        </p:nvSpPr>
        <p:spPr>
          <a:xfrm>
            <a:off x="7429500" y="1168400"/>
            <a:ext cx="4381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One channel for 3 / 4 / 6 transistors: E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on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per transistor +16 / +31 / +60 %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Peak sink current 12–14 A, above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Longer gate tree brings the gate bump back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One driver per device: symmetric, but 4 channels and supplies per switch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9098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87C8A173-8B70-472F-2233-8B7D9A56665E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84F59AC-8FCC-86F0-D2B0-8A351C66A86A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Why symmetry: current-sharing sensitivity</a:t>
            </a: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E1EF23F9-1E12-82D1-6546-0ACCEBE672BE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8470FD89-5D04-30CA-19AC-00DFEDCDD69D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11FF03F4-1B29-03C4-1423-6B18001A7086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7547C18A-5F41-4A59-34B5-2FA4F3A18A31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A801509D-EF1E-4930-10D7-FCCD11239603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162ECB43-AD78-B616-4815-9BF54538C69B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F873442A-3A02-F6DB-8D3D-09FE63F80A17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2B012541-232F-E14C-C52D-2FF9E71D5776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4377ED04-D5F1-1EF8-3D59-7FDE209A36BF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B461C01D-2964-37C3-23EC-078166C9C6E1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5EF4638C-2874-4E58-E4C2-0362238D4CA3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38826801-C22B-38EC-75F8-24099E225D53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633B71-89D1-3558-434D-54E631E57448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21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4C9AE3D-5C64-0C94-70A8-B3170D8327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858000" cy="16589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A5A509C-4902-89C6-F4C8-582ACB97009F}"/>
              </a:ext>
            </a:extLst>
          </p:cNvPr>
          <p:cNvSpPr txBox="1"/>
          <p:nvPr/>
        </p:nvSpPr>
        <p:spPr>
          <a:xfrm>
            <a:off x="7429500" y="1168400"/>
            <a:ext cx="4381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Static sharing is fine (R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DS(on)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has a positive TC)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Dynamic sharing is set by the gate circuits: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gate-loop mismatch 2 vs 8 nH → 19 % imbalance, 4:1 E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on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common source without Kelvin → 29 %, 2.8 × E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⇒ star gate network with Kelvin returns, one driver channel per pair</a:t>
            </a:r>
          </a:p>
        </p:txBody>
      </p:sp>
    </p:spTree>
    <p:extLst>
      <p:ext uri="{BB962C8B-B14F-4D97-AF65-F5344CB8AC3E}">
        <p14:creationId xmlns:p14="http://schemas.microsoft.com/office/powerpoint/2010/main" val="42464379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30504C6-78A5-41C3-4037-7E253CB0E93B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AF26A8-21FD-A0F5-2621-0D8EC6805B77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Gate bump and negative off-voltage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31DCC9A3-3FAA-966C-917C-C4A4E3130CF6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B6CF7939-6A58-F7E3-12C5-C42162FD0431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E9B9ED0D-582F-A92F-B983-272B1EC7D9F5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C8BF6A0C-680C-39B9-9142-DED7D2EAE565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06016EEC-4DE2-5E64-A2ED-E3B7BA60FE03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534F0895-DD6A-AF42-764F-749ADAA60FD4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EF56F2A8-7A63-E230-7CAF-CCE247ECADB2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B6CBF2EE-5168-FB6E-EFC0-68C430DC7175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E184D7FD-E77F-CBC9-329C-DD774C10CF7B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65B76FAC-FBE1-BA2B-36BB-14EE0121CEFB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5BFFEAD7-2438-AA56-51F9-30AF153DEE81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41EF741A-C0C4-CECF-4C8D-C23427800CFB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93F007-3E42-8FD9-82F9-2795B500CB3C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22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874C3D3-B629-A174-04BB-AD6AB6CEED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5588000" cy="14219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D42D775-4C20-01E1-5684-EA6B0C207B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000" y="1168400"/>
            <a:ext cx="5588000" cy="19202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AFF4DC1-BA0D-CDEF-0714-C8EF81BA26BB}"/>
              </a:ext>
            </a:extLst>
          </p:cNvPr>
          <p:cNvSpPr txBox="1"/>
          <p:nvPr/>
        </p:nvSpPr>
        <p:spPr>
          <a:xfrm>
            <a:off x="381000" y="5041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Bump ≈ Q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GD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/C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≈ 1.06 V, independent of current and voltage; close to the 0.8 V minimum threshold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With ≈ −1.2 V off-voltage the peak falls to ≈ 0 V; undershoot −2.3 V (rating −4 V); dead-time loss +0.1 W per leg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48097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00503B67-964E-5BBF-5E08-4CB6EBC38463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B156A7-FA0B-8554-D149-6A481D121186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Building block: two mirrored cells, one centre driver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62BF0B54-5505-A531-3440-552E1F1E8CF7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E41E7287-0301-96D9-DC6F-AB08562EBA22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F281E100-0FA0-8643-96AD-923C52C127DD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32032653-6428-0810-2860-C3D6717E19BE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3F6A2C2C-4B42-0A56-E2FA-88DDAD6BE82E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50BF8B43-451C-B865-A43E-F3072FDDF39B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A00E423F-F1FD-82A3-75EE-A91F1ABE0745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661EB7F9-AD33-49ED-B5FA-2EA7EDC569CE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1F611224-F6C5-A1FA-FDD3-792D8075F25F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E65C28E2-3647-1406-22F2-0131C623779A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FF98BF36-B953-D232-AD68-22C0302A33DC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01BE4CA5-568B-5CD7-A1FE-552046C509C7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E6B8E6-B956-C3E9-878C-9D4B2646DA82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23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07C091-2152-875A-525F-9A235F3D81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5461000" cy="333571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D3541D5-2DD5-B059-0D6E-54031DBBD32A}"/>
              </a:ext>
            </a:extLst>
          </p:cNvPr>
          <p:cNvSpPr txBox="1"/>
          <p:nvPr/>
        </p:nvSpPr>
        <p:spPr>
          <a:xfrm>
            <a:off x="6096000" y="1168400"/>
            <a:ext cx="5715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Two cells mirrored about the driver: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One 2EDF7275K channel drives a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pair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symmetrically (star network, R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G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Each cell keeps its own commutation loop (0.374 nH per cell, Rev A Q3D)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Driver: 4 A / 8 A, separate turn-on (0.75 Ω) and turn-off (diode + 0 Ω) paths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decision">
            <a:extLst>
              <a:ext uri="{FF2B5EF4-FFF2-40B4-BE49-F238E27FC236}">
                <a16:creationId xmlns:a16="http://schemas.microsoft.com/office/drawing/2014/main" id="{C5C4B162-1BA0-B5B0-6259-76587864301F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2 × EPC2361 per driver channel (star per pair);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4 per switch = two pairs, two drivers, one leg board</a:t>
            </a:r>
            <a:endParaRPr lang="sv-SE" sz="1400" b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74684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5D014C96-5E35-FF3B-E954-9D3F3A29868E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2C96DB4-248A-CCCE-F7B8-83A5CCC2E0E5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Rev B: four cells per switch, two drivers, one leg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E0093B-8674-6368-22FE-5660492507EB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000">
                <a:solidFill>
                  <a:srgbClr val="E8EFF8"/>
                </a:solidFill>
                <a:latin typeface="Calibri" panose="020F0502020204030204" pitchFamily="34" charset="0"/>
              </a:rPr>
              <a:t>8  Four per switch on one board</a:t>
            </a:r>
            <a:endParaRPr lang="sv-SE" sz="1000">
              <a:solidFill>
                <a:srgbClr val="E8EFF8"/>
              </a:solidFill>
              <a:latin typeface="Calibri" panose="020F0502020204030204" pitchFamily="34" charset="0"/>
            </a:endParaRP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E04D09F7-0604-F3FF-E807-33D6598B4AB5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B122F927-6622-06FC-7E96-F3F779338029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7CBF55D9-28F5-BB25-4A5C-84678FCEF8F8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81DFF04E-3E54-95CD-1544-8117CBB3FCDD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BCE90876-BEC7-B808-8F34-DC39EFD9CC2B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B5E7B4AC-B125-2A5B-26AD-42CB1255FC86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D5BA4DD8-9FF7-2DE1-6991-E54DC5C18921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1006BDA8-AE0B-4350-E89F-2C75FA22B1C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A82E4A2E-F8A3-5965-CEC3-EDC34EAF0EAC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61BE665A-1463-7A09-9F5C-1CC5C6DB7CBE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4E3AD6D1-896E-8C24-A3DD-ED7F052AD9EB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9A59F976-1919-E2C2-5034-08AF86AE42E2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FC7975-FDDA-47DB-3386-4E1BCCFBE554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24 / 44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E37A5A-0293-DCDA-C937-8B6B0D6A33CB}"/>
              </a:ext>
            </a:extLst>
          </p:cNvPr>
          <p:cNvSpPr/>
          <p:nvPr/>
        </p:nvSpPr>
        <p:spPr>
          <a:xfrm>
            <a:off x="508000" y="1422400"/>
            <a:ext cx="5969000" cy="4191000"/>
          </a:xfrm>
          <a:prstGeom prst="rect">
            <a:avLst/>
          </a:prstGeom>
          <a:solidFill>
            <a:srgbClr val="FFFFFF"/>
          </a:solidFill>
          <a:ln w="15875">
            <a:solidFill>
              <a:srgbClr val="78787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757EDD-1418-150C-BD87-6EE27B15EAF7}"/>
              </a:ext>
            </a:extLst>
          </p:cNvPr>
          <p:cNvSpPr txBox="1"/>
          <p:nvPr/>
        </p:nvSpPr>
        <p:spPr>
          <a:xfrm>
            <a:off x="571500" y="1460500"/>
            <a:ext cx="3810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r>
              <a:rPr lang="en-US" sz="1100" b="1">
                <a:solidFill>
                  <a:srgbClr val="787878"/>
                </a:solidFill>
                <a:latin typeface="Calibri" panose="020F0502020204030204" pitchFamily="34" charset="0"/>
              </a:rPr>
              <a:t>Rev B leg board, 89.5 × 80 mm, 4 layers</a:t>
            </a:r>
            <a:endParaRPr lang="sv-SE" sz="1100" b="1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B89F75E-E55B-8BD4-9E11-D84EACD5D172}"/>
              </a:ext>
            </a:extLst>
          </p:cNvPr>
          <p:cNvSpPr/>
          <p:nvPr/>
        </p:nvSpPr>
        <p:spPr>
          <a:xfrm>
            <a:off x="2857500" y="1701800"/>
            <a:ext cx="571500" cy="279400"/>
          </a:xfrm>
          <a:prstGeom prst="roundRect">
            <a:avLst/>
          </a:prstGeom>
          <a:solidFill>
            <a:srgbClr val="FAE9E6"/>
          </a:solidFill>
          <a:ln w="15875">
            <a:solidFill>
              <a:srgbClr val="C846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1000" b="1">
                <a:solidFill>
                  <a:srgbClr val="1E1E1E"/>
                </a:solidFill>
                <a:latin typeface="Calibri" panose="020F0502020204030204" pitchFamily="34" charset="0"/>
              </a:rPr>
              <a:t>DC+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AC53E5E-0C27-24B2-F3D7-3448F9D474C8}"/>
              </a:ext>
            </a:extLst>
          </p:cNvPr>
          <p:cNvSpPr/>
          <p:nvPr/>
        </p:nvSpPr>
        <p:spPr>
          <a:xfrm>
            <a:off x="3556000" y="1701800"/>
            <a:ext cx="571500" cy="279400"/>
          </a:xfrm>
          <a:prstGeom prst="roundRect">
            <a:avLst/>
          </a:prstGeom>
          <a:solidFill>
            <a:srgbClr val="E8EFF8"/>
          </a:solidFill>
          <a:ln w="15875">
            <a:solidFill>
              <a:srgbClr val="3264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1000" b="1">
                <a:solidFill>
                  <a:srgbClr val="1E1E1E"/>
                </a:solidFill>
                <a:latin typeface="Calibri" panose="020F0502020204030204" pitchFamily="34" charset="0"/>
              </a:rPr>
              <a:t>DC−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4F087A6-36BD-DA1C-8077-B7D468D53E6F}"/>
              </a:ext>
            </a:extLst>
          </p:cNvPr>
          <p:cNvCxnSpPr/>
          <p:nvPr/>
        </p:nvCxnSpPr>
        <p:spPr>
          <a:xfrm>
            <a:off x="762000" y="2082800"/>
            <a:ext cx="546100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813D0A5-0412-7123-FD63-A34E62CEC60B}"/>
              </a:ext>
            </a:extLst>
          </p:cNvPr>
          <p:cNvCxnSpPr/>
          <p:nvPr/>
        </p:nvCxnSpPr>
        <p:spPr>
          <a:xfrm>
            <a:off x="762000" y="2235200"/>
            <a:ext cx="546100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5D5DA23-EE69-0138-562F-1667A261DF1B}"/>
              </a:ext>
            </a:extLst>
          </p:cNvPr>
          <p:cNvCxnSpPr/>
          <p:nvPr/>
        </p:nvCxnSpPr>
        <p:spPr>
          <a:xfrm>
            <a:off x="3136900" y="1981200"/>
            <a:ext cx="0" cy="1016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7D956B8-0A09-AF40-550A-AACF570A8DC2}"/>
              </a:ext>
            </a:extLst>
          </p:cNvPr>
          <p:cNvCxnSpPr/>
          <p:nvPr/>
        </p:nvCxnSpPr>
        <p:spPr>
          <a:xfrm>
            <a:off x="3835400" y="1981200"/>
            <a:ext cx="0" cy="2540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0964947-881C-F171-6FB8-94E9B4C0946F}"/>
              </a:ext>
            </a:extLst>
          </p:cNvPr>
          <p:cNvSpPr txBox="1"/>
          <p:nvPr/>
        </p:nvSpPr>
        <p:spPr>
          <a:xfrm>
            <a:off x="762000" y="1803400"/>
            <a:ext cx="2032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r>
              <a:rPr lang="en-US" sz="900">
                <a:solidFill>
                  <a:srgbClr val="787878"/>
                </a:solidFill>
                <a:latin typeface="Calibri" panose="020F0502020204030204" pitchFamily="34" charset="0"/>
              </a:rPr>
              <a:t>laminated terminal row + one bank</a:t>
            </a:r>
            <a:endParaRPr lang="sv-SE" sz="900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8863789-95A3-98C2-2AB9-E335E104B54F}"/>
              </a:ext>
            </a:extLst>
          </p:cNvPr>
          <p:cNvSpPr/>
          <p:nvPr/>
        </p:nvSpPr>
        <p:spPr>
          <a:xfrm>
            <a:off x="889000" y="2501900"/>
            <a:ext cx="1143000" cy="825500"/>
          </a:xfrm>
          <a:prstGeom prst="roundRect">
            <a:avLst/>
          </a:prstGeom>
          <a:solidFill>
            <a:srgbClr val="FAE9E6"/>
          </a:solidFill>
          <a:ln w="15875">
            <a:solidFill>
              <a:srgbClr val="C846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cell 1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HS + LS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EPC2361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998FEE8-37DB-4998-A33C-DBFA51036195}"/>
              </a:ext>
            </a:extLst>
          </p:cNvPr>
          <p:cNvSpPr/>
          <p:nvPr/>
        </p:nvSpPr>
        <p:spPr>
          <a:xfrm>
            <a:off x="1079500" y="3454400"/>
            <a:ext cx="762000" cy="330200"/>
          </a:xfrm>
          <a:prstGeom prst="roundRect">
            <a:avLst/>
          </a:prstGeom>
          <a:solidFill>
            <a:srgbClr val="E2F3E8"/>
          </a:solidFill>
          <a:ln w="15875">
            <a:solidFill>
              <a:srgbClr val="148C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00">
                <a:solidFill>
                  <a:srgbClr val="1E1E1E"/>
                </a:solidFill>
                <a:latin typeface="Calibri" panose="020F0502020204030204" pitchFamily="34" charset="0"/>
              </a:rPr>
              <a:t>UFCS 1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E3B04FD-D198-5C8E-2845-23FC391DE1A7}"/>
              </a:ext>
            </a:extLst>
          </p:cNvPr>
          <p:cNvCxnSpPr/>
          <p:nvPr/>
        </p:nvCxnSpPr>
        <p:spPr>
          <a:xfrm>
            <a:off x="1270000" y="2082800"/>
            <a:ext cx="0" cy="419100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26ACFD2-F5D6-790C-BE4C-CC7B12FF9D36}"/>
              </a:ext>
            </a:extLst>
          </p:cNvPr>
          <p:cNvCxnSpPr/>
          <p:nvPr/>
        </p:nvCxnSpPr>
        <p:spPr>
          <a:xfrm>
            <a:off x="1651000" y="2235200"/>
            <a:ext cx="0" cy="266700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CE879DD-6928-2B18-4454-A9BE99AE9CE2}"/>
              </a:ext>
            </a:extLst>
          </p:cNvPr>
          <p:cNvCxnSpPr/>
          <p:nvPr/>
        </p:nvCxnSpPr>
        <p:spPr>
          <a:xfrm>
            <a:off x="1460500" y="3327400"/>
            <a:ext cx="0" cy="12700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1D3D6A6-360C-BFD1-1127-C1982F0B9CA7}"/>
              </a:ext>
            </a:extLst>
          </p:cNvPr>
          <p:cNvCxnSpPr/>
          <p:nvPr/>
        </p:nvCxnSpPr>
        <p:spPr>
          <a:xfrm>
            <a:off x="1460500" y="4279900"/>
            <a:ext cx="0" cy="2540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ADB4912A-CAD0-5A18-5437-90656E69337B}"/>
              </a:ext>
            </a:extLst>
          </p:cNvPr>
          <p:cNvSpPr/>
          <p:nvPr/>
        </p:nvSpPr>
        <p:spPr>
          <a:xfrm>
            <a:off x="2286000" y="2501900"/>
            <a:ext cx="1143000" cy="825500"/>
          </a:xfrm>
          <a:prstGeom prst="roundRect">
            <a:avLst/>
          </a:prstGeom>
          <a:solidFill>
            <a:srgbClr val="FAE9E6"/>
          </a:solidFill>
          <a:ln w="15875">
            <a:solidFill>
              <a:srgbClr val="C846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cell 2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HS + LS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EPC2361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049BBC9-2FD6-B104-78AF-B4DE3900467C}"/>
              </a:ext>
            </a:extLst>
          </p:cNvPr>
          <p:cNvSpPr/>
          <p:nvPr/>
        </p:nvSpPr>
        <p:spPr>
          <a:xfrm>
            <a:off x="2476500" y="3454400"/>
            <a:ext cx="762000" cy="330200"/>
          </a:xfrm>
          <a:prstGeom prst="roundRect">
            <a:avLst/>
          </a:prstGeom>
          <a:solidFill>
            <a:srgbClr val="E2F3E8"/>
          </a:solidFill>
          <a:ln w="15875">
            <a:solidFill>
              <a:srgbClr val="148C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00">
                <a:solidFill>
                  <a:srgbClr val="1E1E1E"/>
                </a:solidFill>
                <a:latin typeface="Calibri" panose="020F0502020204030204" pitchFamily="34" charset="0"/>
              </a:rPr>
              <a:t>UFCS 2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7F055E-1D22-C322-4138-8A2C800FE23B}"/>
              </a:ext>
            </a:extLst>
          </p:cNvPr>
          <p:cNvCxnSpPr/>
          <p:nvPr/>
        </p:nvCxnSpPr>
        <p:spPr>
          <a:xfrm>
            <a:off x="2667000" y="2082800"/>
            <a:ext cx="0" cy="419100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20EC241-5F4D-C81A-6B2E-E0B2760513B9}"/>
              </a:ext>
            </a:extLst>
          </p:cNvPr>
          <p:cNvCxnSpPr/>
          <p:nvPr/>
        </p:nvCxnSpPr>
        <p:spPr>
          <a:xfrm>
            <a:off x="3048000" y="2235200"/>
            <a:ext cx="0" cy="266700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B30826E-18D9-309E-A442-F073CB04AB97}"/>
              </a:ext>
            </a:extLst>
          </p:cNvPr>
          <p:cNvCxnSpPr/>
          <p:nvPr/>
        </p:nvCxnSpPr>
        <p:spPr>
          <a:xfrm>
            <a:off x="2857500" y="3327400"/>
            <a:ext cx="0" cy="12700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00A918-670E-CB84-52C2-C7287E21EE4A}"/>
              </a:ext>
            </a:extLst>
          </p:cNvPr>
          <p:cNvCxnSpPr/>
          <p:nvPr/>
        </p:nvCxnSpPr>
        <p:spPr>
          <a:xfrm>
            <a:off x="2857500" y="4279900"/>
            <a:ext cx="0" cy="2540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8124FAC-7A17-957C-9DF6-D32DC0A0E22F}"/>
              </a:ext>
            </a:extLst>
          </p:cNvPr>
          <p:cNvSpPr/>
          <p:nvPr/>
        </p:nvSpPr>
        <p:spPr>
          <a:xfrm>
            <a:off x="3683000" y="2501900"/>
            <a:ext cx="1143000" cy="825500"/>
          </a:xfrm>
          <a:prstGeom prst="roundRect">
            <a:avLst/>
          </a:prstGeom>
          <a:solidFill>
            <a:srgbClr val="FAE9E6"/>
          </a:solidFill>
          <a:ln w="15875">
            <a:solidFill>
              <a:srgbClr val="C846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cell 3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HS + LS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EPC2361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2A2AA049-5DE2-7BA6-5CB4-B2B3994FF1E0}"/>
              </a:ext>
            </a:extLst>
          </p:cNvPr>
          <p:cNvSpPr/>
          <p:nvPr/>
        </p:nvSpPr>
        <p:spPr>
          <a:xfrm>
            <a:off x="3873500" y="3454400"/>
            <a:ext cx="762000" cy="330200"/>
          </a:xfrm>
          <a:prstGeom prst="roundRect">
            <a:avLst/>
          </a:prstGeom>
          <a:solidFill>
            <a:srgbClr val="E2F3E8"/>
          </a:solidFill>
          <a:ln w="15875">
            <a:solidFill>
              <a:srgbClr val="148C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00">
                <a:solidFill>
                  <a:srgbClr val="1E1E1E"/>
                </a:solidFill>
                <a:latin typeface="Calibri" panose="020F0502020204030204" pitchFamily="34" charset="0"/>
              </a:rPr>
              <a:t>UFCS 3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6B3E8E5-AB9B-EE52-295E-C22961E72A58}"/>
              </a:ext>
            </a:extLst>
          </p:cNvPr>
          <p:cNvCxnSpPr/>
          <p:nvPr/>
        </p:nvCxnSpPr>
        <p:spPr>
          <a:xfrm>
            <a:off x="4064000" y="2082800"/>
            <a:ext cx="0" cy="419100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BD8FB03-3BFB-8A61-17BD-9C0776DB333C}"/>
              </a:ext>
            </a:extLst>
          </p:cNvPr>
          <p:cNvCxnSpPr/>
          <p:nvPr/>
        </p:nvCxnSpPr>
        <p:spPr>
          <a:xfrm>
            <a:off x="4445000" y="2235200"/>
            <a:ext cx="0" cy="266700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28658-E1FF-CFB6-A837-D3E18FEDC35D}"/>
              </a:ext>
            </a:extLst>
          </p:cNvPr>
          <p:cNvCxnSpPr/>
          <p:nvPr/>
        </p:nvCxnSpPr>
        <p:spPr>
          <a:xfrm>
            <a:off x="4254500" y="3327400"/>
            <a:ext cx="0" cy="12700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638D33B-BBE3-C646-66EC-6FF108946742}"/>
              </a:ext>
            </a:extLst>
          </p:cNvPr>
          <p:cNvCxnSpPr/>
          <p:nvPr/>
        </p:nvCxnSpPr>
        <p:spPr>
          <a:xfrm>
            <a:off x="4254500" y="4279900"/>
            <a:ext cx="0" cy="2540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5CC6DE1-849A-2078-FA78-0A0B90FC9BFE}"/>
              </a:ext>
            </a:extLst>
          </p:cNvPr>
          <p:cNvSpPr/>
          <p:nvPr/>
        </p:nvSpPr>
        <p:spPr>
          <a:xfrm>
            <a:off x="5080000" y="2501900"/>
            <a:ext cx="1143000" cy="825500"/>
          </a:xfrm>
          <a:prstGeom prst="roundRect">
            <a:avLst/>
          </a:prstGeom>
          <a:solidFill>
            <a:srgbClr val="FAE9E6"/>
          </a:solidFill>
          <a:ln w="15875">
            <a:solidFill>
              <a:srgbClr val="C846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cell 4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HS + LS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EPC2361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4C9D779-1E31-3C4A-36CA-3BF14F153CB3}"/>
              </a:ext>
            </a:extLst>
          </p:cNvPr>
          <p:cNvSpPr/>
          <p:nvPr/>
        </p:nvSpPr>
        <p:spPr>
          <a:xfrm>
            <a:off x="5270500" y="3454400"/>
            <a:ext cx="762000" cy="330200"/>
          </a:xfrm>
          <a:prstGeom prst="roundRect">
            <a:avLst/>
          </a:prstGeom>
          <a:solidFill>
            <a:srgbClr val="E2F3E8"/>
          </a:solidFill>
          <a:ln w="15875">
            <a:solidFill>
              <a:srgbClr val="148C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00">
                <a:solidFill>
                  <a:srgbClr val="1E1E1E"/>
                </a:solidFill>
                <a:latin typeface="Calibri" panose="020F0502020204030204" pitchFamily="34" charset="0"/>
              </a:rPr>
              <a:t>UFCS 4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202B9B2-B523-5DCA-5FEB-7F6C42719DCD}"/>
              </a:ext>
            </a:extLst>
          </p:cNvPr>
          <p:cNvCxnSpPr/>
          <p:nvPr/>
        </p:nvCxnSpPr>
        <p:spPr>
          <a:xfrm>
            <a:off x="5461000" y="2082800"/>
            <a:ext cx="0" cy="419100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2CE2288-3DEB-30B6-1544-2A3CE76AF922}"/>
              </a:ext>
            </a:extLst>
          </p:cNvPr>
          <p:cNvCxnSpPr/>
          <p:nvPr/>
        </p:nvCxnSpPr>
        <p:spPr>
          <a:xfrm>
            <a:off x="5842000" y="2235200"/>
            <a:ext cx="0" cy="266700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FD5DCE1-B0E7-20D5-2831-65391852E1CD}"/>
              </a:ext>
            </a:extLst>
          </p:cNvPr>
          <p:cNvCxnSpPr/>
          <p:nvPr/>
        </p:nvCxnSpPr>
        <p:spPr>
          <a:xfrm>
            <a:off x="5651500" y="3327400"/>
            <a:ext cx="0" cy="12700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86ABCB5-A4BD-EC8D-0AB3-79BEDE1543F5}"/>
              </a:ext>
            </a:extLst>
          </p:cNvPr>
          <p:cNvCxnSpPr/>
          <p:nvPr/>
        </p:nvCxnSpPr>
        <p:spPr>
          <a:xfrm>
            <a:off x="5651500" y="4279900"/>
            <a:ext cx="0" cy="2540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C232112F-6A0B-6FF5-F96F-F4641BC558CC}"/>
              </a:ext>
            </a:extLst>
          </p:cNvPr>
          <p:cNvSpPr/>
          <p:nvPr/>
        </p:nvSpPr>
        <p:spPr>
          <a:xfrm>
            <a:off x="1397000" y="3873500"/>
            <a:ext cx="1397000" cy="355600"/>
          </a:xfrm>
          <a:prstGeom prst="roundRect">
            <a:avLst/>
          </a:prstGeom>
          <a:solidFill>
            <a:srgbClr val="E6F3E9"/>
          </a:solidFill>
          <a:ln w="15875">
            <a:solidFill>
              <a:srgbClr val="3C8C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900">
                <a:solidFill>
                  <a:srgbClr val="1E1E1E"/>
                </a:solidFill>
                <a:latin typeface="Calibri" panose="020F0502020204030204" pitchFamily="34" charset="0"/>
              </a:rPr>
              <a:t>2EDF7275K #1</a:t>
            </a:r>
          </a:p>
          <a:p>
            <a:pPr algn="ctr"/>
            <a:r>
              <a:rPr lang="nn-NO" sz="900">
                <a:solidFill>
                  <a:srgbClr val="1E1E1E"/>
                </a:solidFill>
                <a:latin typeface="Calibri" panose="020F0502020204030204" pitchFamily="34" charset="0"/>
              </a:rPr>
              <a:t>HS + LS, star</a:t>
            </a:r>
            <a:endParaRPr lang="sv-SE" sz="9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BFA016F-01AF-C72B-FBC8-58725CD62FCD}"/>
              </a:ext>
            </a:extLst>
          </p:cNvPr>
          <p:cNvSpPr/>
          <p:nvPr/>
        </p:nvSpPr>
        <p:spPr>
          <a:xfrm>
            <a:off x="4191000" y="3873500"/>
            <a:ext cx="1397000" cy="355600"/>
          </a:xfrm>
          <a:prstGeom prst="roundRect">
            <a:avLst/>
          </a:prstGeom>
          <a:solidFill>
            <a:srgbClr val="E6F3E9"/>
          </a:solidFill>
          <a:ln w="15875">
            <a:solidFill>
              <a:srgbClr val="3C8C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900">
                <a:solidFill>
                  <a:srgbClr val="1E1E1E"/>
                </a:solidFill>
                <a:latin typeface="Calibri" panose="020F0502020204030204" pitchFamily="34" charset="0"/>
              </a:rPr>
              <a:t>2EDF7275K #2</a:t>
            </a:r>
          </a:p>
          <a:p>
            <a:pPr algn="ctr"/>
            <a:r>
              <a:rPr lang="nn-NO" sz="900">
                <a:solidFill>
                  <a:srgbClr val="1E1E1E"/>
                </a:solidFill>
                <a:latin typeface="Calibri" panose="020F0502020204030204" pitchFamily="34" charset="0"/>
              </a:rPr>
              <a:t>HS + LS, star</a:t>
            </a:r>
            <a:endParaRPr lang="sv-SE" sz="9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9EE40E1-92EF-D1B6-D68A-779FE5162763}"/>
              </a:ext>
            </a:extLst>
          </p:cNvPr>
          <p:cNvCxnSpPr/>
          <p:nvPr/>
        </p:nvCxnSpPr>
        <p:spPr>
          <a:xfrm>
            <a:off x="1143000" y="4533900"/>
            <a:ext cx="4508500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CFB7B58F-A0E0-8AAF-EA46-4A6DE7621627}"/>
              </a:ext>
            </a:extLst>
          </p:cNvPr>
          <p:cNvSpPr txBox="1"/>
          <p:nvPr/>
        </p:nvSpPr>
        <p:spPr>
          <a:xfrm>
            <a:off x="1016000" y="4597400"/>
            <a:ext cx="2286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r>
              <a:rPr lang="en-US" sz="1000" b="1">
                <a:solidFill>
                  <a:srgbClr val="1E1E1E"/>
                </a:solidFill>
                <a:latin typeface="Calibri" panose="020F0502020204030204" pitchFamily="34" charset="0"/>
              </a:rPr>
              <a:t>AC joined in copper (all layers)</a:t>
            </a:r>
            <a:endParaRPr lang="sv-SE" sz="1000" b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82F71F5-CFCB-1018-396B-6156D7905FC4}"/>
              </a:ext>
            </a:extLst>
          </p:cNvPr>
          <p:cNvCxnSpPr/>
          <p:nvPr/>
        </p:nvCxnSpPr>
        <p:spPr>
          <a:xfrm>
            <a:off x="3492500" y="4533900"/>
            <a:ext cx="0" cy="571500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8C1E4EC-2DD3-9116-AA84-17357D6B15B1}"/>
              </a:ext>
            </a:extLst>
          </p:cNvPr>
          <p:cNvSpPr txBox="1"/>
          <p:nvPr/>
        </p:nvSpPr>
        <p:spPr>
          <a:xfrm>
            <a:off x="3619500" y="4851400"/>
            <a:ext cx="2794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ONE M6 AC bolt pad → Cu bar</a:t>
            </a:r>
          </a:p>
          <a:p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→ LEM HO 250-S → load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548CBB-AF4E-35A7-5534-BACACD0F48FF}"/>
              </a:ext>
            </a:extLst>
          </p:cNvPr>
          <p:cNvSpPr txBox="1"/>
          <p:nvPr/>
        </p:nvSpPr>
        <p:spPr>
          <a:xfrm>
            <a:off x="6731000" y="1168400"/>
            <a:ext cx="508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One leg: 4 EPC2361 per switch, </a:t>
            </a:r>
            <a:r>
              <a:rPr lang="en-US" sz="1300" b="1">
                <a:solidFill>
                  <a:srgbClr val="1E1E1E"/>
                </a:solidFill>
                <a:latin typeface="Calibri" panose="020F0502020204030204" pitchFamily="34" charset="0"/>
              </a:rPr>
              <a:t>two 2EDF7275K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Why one driver per pair (option B): the driver sits between its two cells ⇒ short, identical gate loops (1.7 nH);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 b="1">
                <a:solidFill>
                  <a:srgbClr val="1E1E1E"/>
                </a:solidFill>
                <a:latin typeface="Calibri" panose="020F0502020204030204" pitchFamily="34" charset="0"/>
              </a:rPr>
              <a:t>One DC+ / DC− pair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 b="1">
                <a:solidFill>
                  <a:srgbClr val="1E1E1E"/>
                </a:solidFill>
                <a:latin typeface="Calibri" panose="020F0502020204030204" pitchFamily="34" charset="0"/>
              </a:rPr>
              <a:t>One AC output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UFCS shunt in every LS source: same board for DPT and back-to-back load test; no short-circuit protection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1530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B876A9DB-82C9-7CA3-7808-98751C348CC5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A8CBC38-42FC-D399-ECEC-FC8614231A02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Rev B leg board layout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E3523DC2-4FFE-9430-1A87-907CA5F2278A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73299036-648B-91C8-014A-B18DD3AA32D2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FB74A3E4-4D8B-C3D7-F9AA-A7FC79E8ED4B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89E3D13C-87C0-3EF3-3AF5-10F8B62DF26F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62F4748D-9578-EFE2-CD73-5C0FB238EAF5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4EFAA98A-4FDE-727F-C399-DCB52F088C66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4A8E1A39-6AF0-6489-4281-DE72C823F04D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7DA5136C-83F6-C32D-5720-4B411FDF2D6A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B230EC12-D82D-838B-D9A6-4306E0D626ED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0CAA93C0-0188-2302-D08F-B52CC503BF16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04EF0651-62FB-3491-262C-B6F27D0FCF33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4A63F1D3-886F-C7C4-E983-AB0D5D7789F7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F549D7-FDD3-1CB2-411A-70FFFED41561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25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9A2EF43-9834-E490-5D4F-6EA1A8618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98" y="1168400"/>
            <a:ext cx="5521004" cy="495299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240BFE-82F8-4983-C0B8-3C5DCF34E0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168400"/>
            <a:ext cx="2921000" cy="262408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F97D0FE-06E3-AF13-5E8A-02145E2C5408}"/>
              </a:ext>
            </a:extLst>
          </p:cNvPr>
          <p:cNvSpPr txBox="1"/>
          <p:nvPr/>
        </p:nvSpPr>
        <p:spPr>
          <a:xfrm>
            <a:off x="9144000" y="1168400"/>
            <a:ext cx="2667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89.5 × 80 mm, 4 layers, 204 parts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Top edge: one DC+ / DC− pair (REDCUBE M4, bottom side), 20 × 2220 bank in two rows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Bottom edge: one M6 AC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Heatsink LAM 4 rotated 90° over cells and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DRC 0 / 0 / 0; schematic = PCB (0 problems)</a:t>
            </a:r>
            <a:endParaRPr lang="sv-SE" sz="12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5098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44971F1-9C78-8755-1345-438E343DDF16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B1AE120-E966-43B5-688E-B06A5366F75A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Rev B leg board in 3D (KiCad models)</a:t>
            </a: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BDB0FF38-FB71-01AB-89EC-D171DDBB732C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66645E75-F74C-8FE6-777B-0A72F9D64CFC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74E6BB53-AB37-B062-8213-E5B39524AB00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36D6CDEC-4769-E294-B2DF-282D51CE89E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FF2251C4-3BBF-4D85-0F53-D2D60CDF2CB3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E684B72C-5D6B-9536-3B6D-BEBD8DD33005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64CA027B-EE5E-F403-F9DB-9173E15BC477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C4AE43AF-9B54-6660-1E3C-E511D90F0735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5531C3F2-9973-2E80-0F87-ED34121B21AE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00EEC28B-04DB-A8C9-E14A-C44AD7086930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1BAC765A-5741-7A1B-765E-C6DE38E1447F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356B2DF4-15CF-ACC9-9FB5-96A00801A4A0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6DDAE-1EC1-545B-27BA-4FFDBE3375BC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26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889FB87-A522-2E32-CA07-2FC7AE78E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5651500" cy="371491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F981323-3868-B098-8EAB-FF2BDE8DDA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0566" y="1168400"/>
            <a:ext cx="4709369" cy="38100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B6E810D8-5FA6-FB95-05AE-BBEB5BFF1A4A}"/>
              </a:ext>
            </a:extLst>
          </p:cNvPr>
          <p:cNvSpPr txBox="1"/>
          <p:nvPr/>
        </p:nvSpPr>
        <p:spPr>
          <a:xfrm>
            <a:off x="381000" y="5041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Every footprint has a 3D model: KiCad library parts, plus box models for EPC2361, 2EDF7275K, PMK UFCS, TDK 2220 (2.8 mm), WE-CNSW, M6 bolt + 12 × 5 mm Cu bar, LAM 4 + Al spreader (scripts/make_3d_models_revb.py)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Board STEP for the mechanics: hardware/spb-bb-revb/fab/spb-bb-revb.step. Spreader underside 1.68 mm, top 4.68 mm: clears the 2.8 mm bank; the shunts stay in front of the heatsink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09DC2E-13CB-8AC2-995F-9981E409FD4E}"/>
              </a:ext>
            </a:extLst>
          </p:cNvPr>
          <p:cNvSpPr txBox="1"/>
          <p:nvPr/>
        </p:nvSpPr>
        <p:spPr>
          <a:xfrm>
            <a:off x="381000" y="628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Box models are dimensioned envelopes, not manufacturer CAD (UFCS SMA jack position approximate).</a:t>
            </a:r>
            <a:endParaRPr lang="sv-SE" sz="1000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05147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7931B0D-25CD-3310-5B42-00CAD6BB5AD0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00C2620-0F9E-E782-5701-A99B2959AD27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Rev B leg board in 3D: bottom side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70144CF6-2376-1B45-93E7-571C2F901F0D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01BCCBA4-40D3-6E17-623A-ABD920E9EE92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F3854F86-8256-37B7-5537-5B46F81A0269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A70CFFE2-4A07-8286-C5B7-56FBD4EBA3C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7632DE85-7973-EE21-6284-638CCBA883C6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2CB8ADA9-2473-D064-C2A6-FB977110ED80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D723A911-3BAC-F41C-00FE-96104F0B4452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D9C114DE-2FBF-FB1D-2232-17CC4DB6DE5A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9159C6A7-D3A4-425A-93B3-21206E94FC14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D77E557B-9513-E71A-A631-B2111841B6BA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2732CD12-710D-9032-CEE8-8D5855A26730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E8E41F45-3F07-2402-38DB-97379811AD47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652DE6-342B-C6E9-26E2-57912028F2C6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27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898ECB8-4E3D-FC30-24C5-FE8C5519E8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7112000" cy="457402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54E1C89-DF5A-D8E8-ECDC-1511739C153D}"/>
              </a:ext>
            </a:extLst>
          </p:cNvPr>
          <p:cNvSpPr txBox="1"/>
          <p:nvPr/>
        </p:nvSpPr>
        <p:spPr>
          <a:xfrm>
            <a:off x="7747000" y="1168400"/>
            <a:ext cx="406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REDCUBE M4 DC terminals on the bottom: the leg stands on the PCB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4 bypass 0805 per cell under the drains, mirrored in all cells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U.FL probes per cell: V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HS / LS, V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DS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M6 nut of the AC bolt under the 14 mm pad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2620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4EA39D47-64C8-B32F-8881-74CD985CD636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E89B459-9EBD-EC15-57A9-FCA5278FEACB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Two driver pairs on one switch node: driver skew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3A847F95-971D-93E5-FF89-57D7BF78AB9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88739559-961B-2CD9-D129-033D8239CD72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54458DBC-844F-8CC8-9B32-A9240753772E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826B1143-2DA9-ED2B-5E7F-02A3A4ADEF50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2D6349EB-35FB-9AD2-CE31-4450DD657328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765963F4-B463-8378-F0E2-7E0C59D44735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9E7CF6AE-31DF-F18D-E74C-5A1774EA83A3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CCCCE1CA-BB2C-68DB-AF6B-C251CFC08EDB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6C63A863-7679-0CB4-482A-C87B1CABB105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1FB22164-62AB-9094-297A-01ED1107502F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C282CAAE-935D-5582-7600-BD1ED7F7F09A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97C14ADE-EE72-52CC-281B-4B1FF0A0F8EA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060649-E54F-6F25-C889-1DF9BCD11D92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28 / 44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A68D5A-699B-96A5-E2DD-164C47059C48}"/>
              </a:ext>
            </a:extLst>
          </p:cNvPr>
          <p:cNvSpPr txBox="1"/>
          <p:nvPr/>
        </p:nvSpPr>
        <p:spPr>
          <a:xfrm>
            <a:off x="381000" y="1168400"/>
            <a:ext cx="660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Joining the AC in copper makes the inductance between the switch nodes of the two driver pairs (L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x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) small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If driver 2 switches Δt later, pair 1 takes ΔI ≈ V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·Δt / 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x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Q3D (previous Rev B layout, rerun pending): 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x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= 1.14 nH (HS on) / 1.08 nH (LS on) ⇒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≈ 69 A per ns of skew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Rev A deck required 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x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≳ 20 nH for two separate blocks; on one board the skew must be small instead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FF07C6E-BBE8-C118-7851-C02A16DB72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060087"/>
              </p:ext>
            </p:extLst>
          </p:nvPr>
        </p:nvGraphicFramePr>
        <p:xfrm>
          <a:off x="7302500" y="1295400"/>
          <a:ext cx="45085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4033570279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102554841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8218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76922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same PCB, same CMC per block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46997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488022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U.FL V</a:t>
                      </a:r>
                      <a:r>
                        <a:rPr lang="en-US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GS</a:t>
                      </a:r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of both blocks, UFCS per cell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6369952"/>
                  </a:ext>
                </a:extLst>
              </a:tr>
            </a:tbl>
          </a:graphicData>
        </a:graphic>
      </p:graphicFrame>
      <p:sp>
        <p:nvSpPr>
          <p:cNvPr id="19" name="decision">
            <a:extLst>
              <a:ext uri="{FF2B5EF4-FFF2-40B4-BE49-F238E27FC236}">
                <a16:creationId xmlns:a16="http://schemas.microsoft.com/office/drawing/2014/main" id="{4694B6C5-7112-EF64-F603-8CA937C56EA5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Measure the per-cell current (UFCS) with both blocks switching; add delay trim in the C2000 if needed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441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F79ED3A-3096-6198-E5E8-DD3D954F6D46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540A3B0-DFB1-CC72-2BDE-9BC375CD35F6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Gate supplies: two isolated supplies, Zener split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2E121C-53DE-DF13-1F29-1A3B710B62D8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9  Supplies and measurement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16BC149F-147F-6F0E-EB17-6049F396F0DE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53DDC779-45E0-933F-B9F3-378BEA1FB0DE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01BA2FE0-2D10-C127-A768-D3E171F4656D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CA2DC772-BA99-3B08-FFDC-2C8249960806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3A749BA5-93A2-D3A8-9FFE-5F111E0F312F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891F75F0-A6E0-C875-78D1-BF9B69A68AB9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69849EA3-4588-B299-AC42-901AD7E0E1F7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911A7B41-3B89-8AFA-9069-27E9BDF98C4B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1E157F87-C1DC-4A0C-B7AF-00ED4DC8D26D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8C559A58-F680-E935-2EFE-9729BBC863FB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3A9BFF19-0773-9DFD-9D07-AB544E3CB47E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18219D6F-7616-5359-024B-5BA1305715CE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624F6B-B86E-6E99-6CED-7C738802EACE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29 / 44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8A6C100-E3F9-DF53-CD8E-7CD0BB6AE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604000" cy="195143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9E80DED-29AD-ECCA-3BE9-59D98EE6B688}"/>
              </a:ext>
            </a:extLst>
          </p:cNvPr>
          <p:cNvSpPr txBox="1"/>
          <p:nvPr/>
        </p:nvSpPr>
        <p:spPr>
          <a:xfrm>
            <a:off x="7239000" y="1168400"/>
            <a:ext cx="457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5.1 V Zener VDD–S and 150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bias resistor S–VEE (Karakaya, METU 2020, Fig. 4.1):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GS,on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= +5.1 V,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GS,off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= −(V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ISO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e.g.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ISO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= 6.3 V ⇒ −1.2 V off (bump mitigation); island decoupling 1 µF + 4.7 µF per rail</a:t>
            </a:r>
          </a:p>
        </p:txBody>
      </p:sp>
    </p:spTree>
    <p:extLst>
      <p:ext uri="{BB962C8B-B14F-4D97-AF65-F5344CB8AC3E}">
        <p14:creationId xmlns:p14="http://schemas.microsoft.com/office/powerpoint/2010/main" val="6560927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01657796-E60F-2B38-8622-AA2D5C704A62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169C4DC-ACB9-561C-C969-D722F28356CC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Driver block: input filters, turn-on / turn-off paths, star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3945AB33-CC4E-6A3B-4998-DAC84ECF03E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018FB683-57E6-BD9E-562F-887C5EF6EF35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5625AD43-D7F1-6DA7-1748-3F1F4D7380AA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118B660A-2738-E193-381F-22C0008DFF56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EFFA01AD-4A51-0836-9C4E-8C6B713AC73B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32C24B81-295A-CAAC-ED79-0E9B09DC333E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C6997B2A-2CC5-B40A-68D1-C288EB270DEA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B3653DA9-5089-E49A-A9B8-0202B2B97675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2419078A-201F-9E28-7D7A-FD9D488C8378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018CE392-C58D-BDE3-685B-75B4D44A132E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5FFFA857-BD46-1556-D35F-89B56CC668E3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47763512-80B9-94A7-B7DF-7996329931F8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A16B93-B08D-FF0B-01E3-9608FEA46234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30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E05F42B-A15A-A010-4125-D53FA58762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806" y="1168400"/>
            <a:ext cx="10042388" cy="3302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7CA08F6-D6FA-DE03-3371-B7A4075C36EE}"/>
              </a:ext>
            </a:extLst>
          </p:cNvPr>
          <p:cNvSpPr txBox="1"/>
          <p:nvPr/>
        </p:nvSpPr>
        <p:spPr>
          <a:xfrm>
            <a:off x="381000" y="4597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Per block a 2×3 control header (12 V, GND, PWM_H, PWM_L, DIS) with common-mode chokes on each pair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47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/ 100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pF input filters, 10 k pull-downs, R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ON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0.75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Ω,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R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OFF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0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+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Schottky, R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0.5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per transistor</a:t>
            </a:r>
          </a:p>
        </p:txBody>
      </p:sp>
    </p:spTree>
    <p:extLst>
      <p:ext uri="{BB962C8B-B14F-4D97-AF65-F5344CB8AC3E}">
        <p14:creationId xmlns:p14="http://schemas.microsoft.com/office/powerpoint/2010/main" val="12953480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C5D394A7-5807-707D-5123-A697DA961129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810ACF-A798-1E12-3D97-59D0FE15BB99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Measurement and control</a:t>
            </a: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765773D9-D3B9-90BE-A148-8DE27CC17733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76795C89-561A-C80B-99C3-699CEC14B961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0EE19704-666B-37FD-E0A5-9B244C49B99A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40367B2A-E782-E8E4-7764-913B95A290BF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68B717A6-1C22-C776-C314-D283917A3328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548C458F-9AEF-F877-5E8C-91638E3C5B58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503B8711-80F1-E785-284F-7870C73F0111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C70E27E2-7827-977D-F668-7D16CC22C8F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E8632DD2-A8DE-A6C0-C1D6-688CDD9F7993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58742862-3238-8144-3926-3273440B0627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D34DDA20-F82C-154A-675D-00B49C88351E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894A34E4-CD97-D286-0E97-79025A81E032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82D7B6-EF87-AA18-40A9-FB91721F9C08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31 / 44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CC1CF1EC-7D77-AB7B-D4A4-458D9B3560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793339"/>
              </p:ext>
            </p:extLst>
          </p:nvPr>
        </p:nvGraphicFramePr>
        <p:xfrm>
          <a:off x="381000" y="1168400"/>
          <a:ext cx="6604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417586180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8093679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798377860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09714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Cell current (DPT + load)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PMK UFCS-R001, 1 mΩ, 120 pH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LS source of each cell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4815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LEM HO 250-S, ±625 A, 3.2 mV/A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Cu bar on the M6 AC pad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31248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U.FL, 0 </a:t>
                      </a:r>
                      <a:r>
                        <a:rPr lang="el-G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Ω, 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bottom, at each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89255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U.FL, 953 Ω (20:1 into 50 Ω)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bottom, at each cell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07589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Heatsink temperature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NTC 10 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DC− domain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995677"/>
                  </a:ext>
                </a:extLst>
              </a:tr>
            </a:tbl>
          </a:graphicData>
        </a:graphic>
      </p:graphicFrame>
      <p:pic>
        <p:nvPicPr>
          <p:cNvPr id="19" name="Picture 18">
            <a:extLst>
              <a:ext uri="{FF2B5EF4-FFF2-40B4-BE49-F238E27FC236}">
                <a16:creationId xmlns:a16="http://schemas.microsoft.com/office/drawing/2014/main" id="{A77502E6-4818-995F-A789-AF99844ADE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500" y="1168400"/>
            <a:ext cx="4508500" cy="61432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BEE3566-FCC2-F639-36C0-474CA2DD301D}"/>
              </a:ext>
            </a:extLst>
          </p:cNvPr>
          <p:cNvSpPr txBox="1"/>
          <p:nvPr/>
        </p:nvSpPr>
        <p:spPr>
          <a:xfrm>
            <a:off x="7302500" y="3073400"/>
            <a:ext cx="4508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UFCS continuous rating 50 A only up to +30 °C ambient: short load-test runs or forced 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No short-circuit protection on the board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4920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3B54329-D96F-3875-89C8-ACB6A97162E1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501203-F00F-0183-144A-5CAD610F62B5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Power stage schematic (generated, identical to the PCB)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6C55AFEE-3DE6-F691-17C0-3132FDCE545D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F3B43ADE-33B7-4B79-1316-C51F57B60CA8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5F4C69A9-B9E6-7195-F0D6-E008836155EB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F36A35F4-659A-0FE6-E88E-376974B2F347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B48A62DF-44A6-DD10-3FCD-85C8C81F1665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8D7B6548-268A-2FE9-C56F-D62778417868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AFC1AF26-16ED-F50F-0291-487CA4D92ECC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73578B46-46E0-0B7C-AD92-55A37DA93F1D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92D02E4B-B92F-E4FC-9310-5D1FAF6E0504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7D9A45FB-BFBA-94D7-E7A3-996234D6886C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C8B31856-4DC1-A8F7-B14F-3A1533883B17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48932562-6178-1CF1-3A8B-2BE55D2D340E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72990E-1926-AE28-9671-F6598E21D615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32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8C57B7E-42E9-1F43-882C-A3FDAFC0A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999" y="1168400"/>
            <a:ext cx="11332001" cy="4191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3E88FED-C0FD-61EE-48DE-ED07FAED30B8}"/>
              </a:ext>
            </a:extLst>
          </p:cNvPr>
          <p:cNvSpPr txBox="1"/>
          <p:nvPr/>
        </p:nvSpPr>
        <p:spPr>
          <a:xfrm>
            <a:off x="381000" y="628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1000">
                <a:solidFill>
                  <a:srgbClr val="787878"/>
                </a:solidFill>
                <a:latin typeface="Calibri" panose="020F0502020204030204" pitchFamily="34" charset="0"/>
              </a:rPr>
              <a:t>scripts/make_kicad_sch_revb.py; check_sch_vs_pcb.py: 89 PCB nets, 0 problems</a:t>
            </a:r>
          </a:p>
        </p:txBody>
      </p:sp>
    </p:spTree>
    <p:extLst>
      <p:ext uri="{BB962C8B-B14F-4D97-AF65-F5344CB8AC3E}">
        <p14:creationId xmlns:p14="http://schemas.microsoft.com/office/powerpoint/2010/main" val="7821392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23DCCFE-D7B5-23EB-32B6-F97B0A46C84B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C9E3F47-6388-2EC8-6D98-BCA108413AF3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Three legs on one 75 V bus: what the bus must do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ABD167-B003-8C1A-43D9-92766509C9A3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10  Three-phase DC bus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CEEB2467-AEA8-6C5F-7777-0FF1375D4A8D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26AB1A03-E7DD-9363-8832-EA5057B758E2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FDC0E4F6-F385-5909-0E1F-588E9C8F2F1F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7B95035B-89AA-4846-45F9-9DF0F5FACB3D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30AF0D30-0498-D3A4-702C-085403AB56B5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3C259689-BC0C-E872-4727-5A7E5FDAB697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830C0472-2B77-379A-C7E3-14585E005408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5A9D863B-A680-3B7F-765B-58AD25916CAE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A7858DA3-7E78-5E1C-ECDD-20B70FFD82AF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01AAB299-179D-250F-1A83-9029FC178239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8F4C4C9F-4FCC-9D4B-2626-A32C37EEF02C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DDE8E5C5-009C-D049-C0EB-F003E4289514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5374F2-6C54-D0DC-0AF5-425AD5D353D3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33 / 44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28CF6B-594F-45DE-4C92-A15C45392D00}"/>
              </a:ext>
            </a:extLst>
          </p:cNvPr>
          <p:cNvSpPr txBox="1"/>
          <p:nvPr/>
        </p:nvSpPr>
        <p:spPr>
          <a:xfrm>
            <a:off x="381000" y="1168400"/>
            <a:ext cx="660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The switching edge closes on each board (bypass + bank); the bus only carries the f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Sharing needs </a:t>
            </a:r>
            <a:r>
              <a:rPr lang="el-GR" sz="1400">
                <a:solidFill>
                  <a:srgbClr val="1E1E1E"/>
                </a:solidFill>
                <a:latin typeface="Calibri" panose="020F0502020204030204" pitchFamily="34" charset="0"/>
              </a:rPr>
              <a:t>ω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L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bus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≪ 1/(</a:t>
            </a:r>
            <a:r>
              <a:rPr lang="el-GR" sz="1400">
                <a:solidFill>
                  <a:srgbClr val="1E1E1E"/>
                </a:solidFill>
                <a:latin typeface="Calibri" panose="020F0502020204030204" pitchFamily="34" charset="0"/>
              </a:rPr>
              <a:t>ω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C): at 50 kHz and ≈ 250 µF eff. per leg L ≪ 40 nH ⇒ </a:t>
            </a:r>
            <a:r>
              <a:rPr lang="sv-SE" sz="1400" b="1">
                <a:solidFill>
                  <a:srgbClr val="1E1E1E"/>
                </a:solidFill>
                <a:latin typeface="Calibri" panose="020F050202020403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All-MLCC banks joined by nH copper form a high-Q resonator ⇒ damping footprints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3F5141D-9924-B498-D902-8BFD88DC9846}"/>
              </a:ext>
            </a:extLst>
          </p:cNvPr>
          <p:cNvSpPr/>
          <p:nvPr/>
        </p:nvSpPr>
        <p:spPr>
          <a:xfrm>
            <a:off x="7302500" y="1422400"/>
            <a:ext cx="1333500" cy="1143000"/>
          </a:xfrm>
          <a:prstGeom prst="roundRect">
            <a:avLst/>
          </a:prstGeom>
          <a:solidFill>
            <a:srgbClr val="E8EFF8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leg 1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(phase a)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Rev B board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1E026BD-EBD6-E007-C7C4-AE514972C0FB}"/>
              </a:ext>
            </a:extLst>
          </p:cNvPr>
          <p:cNvCxnSpPr/>
          <p:nvPr/>
        </p:nvCxnSpPr>
        <p:spPr>
          <a:xfrm>
            <a:off x="7683500" y="2565400"/>
            <a:ext cx="0" cy="508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5A4148B-72DD-D0BF-6D44-B8F90E52F690}"/>
              </a:ext>
            </a:extLst>
          </p:cNvPr>
          <p:cNvCxnSpPr/>
          <p:nvPr/>
        </p:nvCxnSpPr>
        <p:spPr>
          <a:xfrm>
            <a:off x="8255000" y="2565400"/>
            <a:ext cx="0" cy="6350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6E3AE3D-5A24-21AE-4E9B-8D97A80E49D2}"/>
              </a:ext>
            </a:extLst>
          </p:cNvPr>
          <p:cNvSpPr/>
          <p:nvPr/>
        </p:nvSpPr>
        <p:spPr>
          <a:xfrm>
            <a:off x="8826500" y="1422400"/>
            <a:ext cx="1333500" cy="1143000"/>
          </a:xfrm>
          <a:prstGeom prst="roundRect">
            <a:avLst/>
          </a:prstGeom>
          <a:solidFill>
            <a:srgbClr val="E8EFF8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leg 2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(phase b)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Rev B board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C47E6B9-D1AF-DA6D-E062-5F88D1687ADC}"/>
              </a:ext>
            </a:extLst>
          </p:cNvPr>
          <p:cNvCxnSpPr/>
          <p:nvPr/>
        </p:nvCxnSpPr>
        <p:spPr>
          <a:xfrm>
            <a:off x="9207500" y="2565400"/>
            <a:ext cx="0" cy="508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059F0D7-2B3A-5605-8CDF-7858B14FC8B6}"/>
              </a:ext>
            </a:extLst>
          </p:cNvPr>
          <p:cNvCxnSpPr/>
          <p:nvPr/>
        </p:nvCxnSpPr>
        <p:spPr>
          <a:xfrm>
            <a:off x="9779000" y="2565400"/>
            <a:ext cx="0" cy="6350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A944C1-BA0E-DFB4-DD7D-FCE7D84C9508}"/>
              </a:ext>
            </a:extLst>
          </p:cNvPr>
          <p:cNvSpPr/>
          <p:nvPr/>
        </p:nvSpPr>
        <p:spPr>
          <a:xfrm>
            <a:off x="10350500" y="1422400"/>
            <a:ext cx="1333500" cy="1143000"/>
          </a:xfrm>
          <a:prstGeom prst="roundRect">
            <a:avLst/>
          </a:prstGeom>
          <a:solidFill>
            <a:srgbClr val="E8EFF8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leg 3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(phase c)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Rev B board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F78D290-0C4B-D4ED-1E92-4763CD517DD7}"/>
              </a:ext>
            </a:extLst>
          </p:cNvPr>
          <p:cNvCxnSpPr/>
          <p:nvPr/>
        </p:nvCxnSpPr>
        <p:spPr>
          <a:xfrm>
            <a:off x="10731500" y="2565400"/>
            <a:ext cx="0" cy="508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CCB5017-18AC-2ED0-5DF5-787DB21587BB}"/>
              </a:ext>
            </a:extLst>
          </p:cNvPr>
          <p:cNvCxnSpPr/>
          <p:nvPr/>
        </p:nvCxnSpPr>
        <p:spPr>
          <a:xfrm>
            <a:off x="11303000" y="2565400"/>
            <a:ext cx="0" cy="6350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88982B9-1BA1-0EEA-D5E7-DC10B6149190}"/>
              </a:ext>
            </a:extLst>
          </p:cNvPr>
          <p:cNvCxnSpPr/>
          <p:nvPr/>
        </p:nvCxnSpPr>
        <p:spPr>
          <a:xfrm>
            <a:off x="7239000" y="3073400"/>
            <a:ext cx="4508500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8A5951C-7011-86EA-8B44-B6A59B45DA41}"/>
              </a:ext>
            </a:extLst>
          </p:cNvPr>
          <p:cNvCxnSpPr/>
          <p:nvPr/>
        </p:nvCxnSpPr>
        <p:spPr>
          <a:xfrm>
            <a:off x="7239000" y="3200400"/>
            <a:ext cx="4508500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DDC7BAA-2178-7A30-8B4E-ED6FC58211D3}"/>
              </a:ext>
            </a:extLst>
          </p:cNvPr>
          <p:cNvSpPr txBox="1"/>
          <p:nvPr/>
        </p:nvSpPr>
        <p:spPr>
          <a:xfrm>
            <a:off x="7302500" y="3302000"/>
            <a:ext cx="4445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pPr algn="ctr"/>
            <a:r>
              <a:rPr lang="en-US" sz="1000" b="1">
                <a:solidFill>
                  <a:srgbClr val="1E1E1E"/>
                </a:solidFill>
                <a:latin typeface="Calibri" panose="020F0502020204030204" pitchFamily="34" charset="0"/>
              </a:rPr>
              <a:t>laminated PCB busbar (L1 + / L2 − / L3 + / L4 −)</a:t>
            </a:r>
            <a:endParaRPr lang="sv-SE" sz="1000" b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8B2E60-2E99-8EDF-8336-CA7CA95C59E5}"/>
              </a:ext>
            </a:extLst>
          </p:cNvPr>
          <p:cNvCxnSpPr/>
          <p:nvPr/>
        </p:nvCxnSpPr>
        <p:spPr>
          <a:xfrm>
            <a:off x="9334500" y="3200400"/>
            <a:ext cx="0" cy="7620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1BE86FF-5C6D-E1E1-DCA4-235C66F59D90}"/>
              </a:ext>
            </a:extLst>
          </p:cNvPr>
          <p:cNvSpPr txBox="1"/>
          <p:nvPr/>
        </p:nvSpPr>
        <p:spPr>
          <a:xfrm>
            <a:off x="8064500" y="4025900"/>
            <a:ext cx="2794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pPr algn="ctr"/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stack lugs at the centre leg</a:t>
            </a:r>
          </a:p>
          <a:p>
            <a:pPr algn="ctr"/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to the levels above / below</a:t>
            </a:r>
            <a:endParaRPr lang="sv-SE" sz="1000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09716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43EC6788-F402-B268-2B72-2C6403245365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26D602E-853D-DE2E-6F4A-B18B3E6B2BCD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PCB busbar: easy to manufacture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0F77A71E-50FB-322B-8E26-7BE36EB8B6C9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740125D3-67C7-B708-B196-AB2AEBA109FC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1372FB19-3424-A250-B5A9-091A4B0E9AD2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A6E608C5-D38D-B657-37D9-4BD8E307F7C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C3D62511-8173-F544-4A39-85FAC29E019C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F526B094-8DD9-8ED4-71C1-1CB4FA5F3B0D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836D27BB-396C-ECCB-CF32-613F94E1C7BA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FE14C638-11FD-B6E4-DAE8-9779DCE0DBB7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8488C74C-4781-803C-3B5B-F6DC7992B2F6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7CD1E0E5-C3A4-ADBD-05CB-A1350DD81DCB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CB3D7A3C-5EE5-628B-CCF8-57AA9D72A259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BA16FD31-E728-48F2-EB88-69B77084D73F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930355-872A-EA88-2024-AE92C98E98D9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34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6515AAF-683D-A272-C0B2-2CB9B7666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8262" y="1168400"/>
            <a:ext cx="4955475" cy="1778000"/>
          </a:xfrm>
          <a:prstGeom prst="rect">
            <a:avLst/>
          </a:prstGeom>
        </p:spPr>
      </p:pic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D993302B-3A3B-AE75-DC44-15437B852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81463"/>
              </p:ext>
            </p:extLst>
          </p:nvPr>
        </p:nvGraphicFramePr>
        <p:xfrm>
          <a:off x="381000" y="3136900"/>
          <a:ext cx="5461000" cy="195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407870760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44766808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374038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943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409038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146363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415469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 × M6 lug pads at the centre leg (92 vias each)</a:t>
                      </a:r>
                      <a:endParaRPr lang="sv-SE" sz="11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8404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957261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19A57CA-92D7-EAA1-3446-766EDEF9409C}"/>
              </a:ext>
            </a:extLst>
          </p:cNvPr>
          <p:cNvSpPr txBox="1"/>
          <p:nvPr/>
        </p:nvSpPr>
        <p:spPr>
          <a:xfrm>
            <a:off x="6159500" y="3136900"/>
            <a:ext cx="5651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Estimate (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μ</a:t>
            </a:r>
            <a:r>
              <a:rPr lang="el-GR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0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·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d·l/w): </a:t>
            </a: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0.28 nH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R per polarity and leg segment 0.27 m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(2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oz) ⇒ 7.5 W at 83 A per leg (3 oz: 5.0 W, 4 oz: 3.7 W)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Generated: scripts/make_kicad_busbar.py, DRC clean</a:t>
            </a:r>
          </a:p>
        </p:txBody>
      </p:sp>
    </p:spTree>
    <p:extLst>
      <p:ext uri="{BB962C8B-B14F-4D97-AF65-F5344CB8AC3E}">
        <p14:creationId xmlns:p14="http://schemas.microsoft.com/office/powerpoint/2010/main" val="38832609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B1407DC1-51AB-88CE-31AF-088FFB0AC0BB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F760F69-F4C9-2ED8-572E-FBCC3D8FED97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Q3D: commutation loop per cell, final layout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153DCF-6845-24A7-C65D-F8E3FEA68650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11  Verification (Q3D)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C8B7E45B-B502-ED60-65B1-72E1200413AC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C1A5359B-8FD0-A9B2-9721-4FF0FCC9D033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34176DC5-B378-679D-9744-CC04181F56B2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6EE5576D-E8B7-2FE2-FFF2-7A867CF84E5C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15AA848E-C47A-6838-5C12-57C114670162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7BD5C409-6CBE-BFA3-962F-02CC853D8D85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2B730498-4F77-382D-D75D-867393ADE927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B338BBFD-9A87-B2E9-AF91-BD356D9410B5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5B97AEA2-49D1-0526-DC4E-0B14FDBEBEB4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83317E23-BDE5-CBAD-E792-C1A7DF24019C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CAA7F6BA-A8F3-F641-7ED0-5347543A8C04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CFB52A2A-D59A-702F-01E8-AC75A4D04952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B6A4EA-FD11-2AD9-9A29-446589A06E39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35 / 44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22725F1-B386-297C-292D-54613C7624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149" y="1168400"/>
            <a:ext cx="6847703" cy="3619500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51E7C4F7-0522-8095-A512-9F2146E9CC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3730496"/>
              </p:ext>
            </p:extLst>
          </p:nvPr>
        </p:nvGraphicFramePr>
        <p:xfrm>
          <a:off x="7429500" y="1168400"/>
          <a:ext cx="43815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3070411080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090446040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25914598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Final layout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with shunt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no shunt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72806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0.69 / 0.70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 / 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08973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0.69 / 0.70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 / 0.41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70834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858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v̂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C84632"/>
                          </a:solidFill>
                          <a:latin typeface="Calibri" panose="020F0502020204030204" pitchFamily="34" charset="0"/>
                        </a:rPr>
                        <a:t>96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160082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BAE10AB2-CC97-17AF-6424-848B3436FD8A}"/>
              </a:ext>
            </a:extLst>
          </p:cNvPr>
          <p:cNvSpPr txBox="1"/>
          <p:nvPr/>
        </p:nvSpPr>
        <p:spPr>
          <a:xfrm>
            <a:off x="7429500" y="3200400"/>
            <a:ext cx="4381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Four cells within </a:t>
            </a:r>
            <a:r>
              <a:rPr lang="en-US" sz="1200" b="1">
                <a:solidFill>
                  <a:srgbClr val="1E1E1E"/>
                </a:solidFill>
                <a:latin typeface="Calibri" panose="020F0502020204030204" pitchFamily="34" charset="0"/>
              </a:rPr>
              <a:t>2 %</a:t>
            </a: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 (shunt) and </a:t>
            </a:r>
            <a:r>
              <a:rPr lang="en-US" sz="1200" b="1">
                <a:solidFill>
                  <a:srgbClr val="1E1E1E"/>
                </a:solidFill>
                <a:latin typeface="Calibri" panose="020F0502020204030204" pitchFamily="34" charset="0"/>
              </a:rPr>
              <a:t>1 %</a:t>
            </a: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 (no shunt); before the fix the left cells were 0.13–0.14 nH higher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Shunt costs ≈ 0.29 nH: 120 pH part + the LS source detour to the 15 × 3 mm pads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≤ 90 V with the shunt: turn-on ≤ 22 A/ns</a:t>
            </a:r>
            <a:endParaRPr lang="sv-SE" sz="12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354945-D362-E6EB-538E-A2CEE857EA9E}"/>
              </a:ext>
            </a:extLst>
          </p:cNvPr>
          <p:cNvSpPr txBox="1"/>
          <p:nvPr/>
        </p:nvSpPr>
        <p:spPr>
          <a:xfrm>
            <a:off x="381000" y="4914900"/>
            <a:ext cx="685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00">
                <a:solidFill>
                  <a:srgbClr val="1E1E1E"/>
                </a:solidFill>
                <a:latin typeface="Calibri" panose="020F0502020204030204" pitchFamily="34" charset="0"/>
              </a:rPr>
              <a:t>Fast loop-only model: routed copper of the FET band (y −4.6 … 20.6 mm), all 8 FETs, per-cell AC and source nets, bypass groups as sinks; 2 % convergence, ≈ 45 min per run (run_bb_q3d_loop.cmd)</a:t>
            </a:r>
            <a:endParaRPr lang="sv-SE" sz="11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0F17AD-B851-BF90-F47A-C04B795CE45A}"/>
              </a:ext>
            </a:extLst>
          </p:cNvPr>
          <p:cNvSpPr txBox="1"/>
          <p:nvPr/>
        </p:nvSpPr>
        <p:spPr>
          <a:xfrm>
            <a:off x="381000" y="628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Loop per cell with all four LS FETs switching together (cell coupling included); simulation/bb_q3d/results/loop_summary_*.json</a:t>
            </a:r>
            <a:endParaRPr lang="sv-SE" sz="1000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6319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49F6ABAF-8E92-B3DD-9BEF-469F9D5B14D0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AA38837-A343-FF2C-52CA-C950180DB48D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Where the loop current flows (exploded side view)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ED16E98D-903F-4A80-DA7F-8CE82F21148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4C5960A7-4C55-24CF-16F9-F0A11791D2D3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1D13E69B-0958-C40A-3942-70665E597DA2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DFA10F4B-0F79-410A-D996-9CEF1692BD0E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150B053B-5B31-E132-ADB6-F18112308C96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C49A7BF8-77D1-AEF8-481F-C7137416A47E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014FCE9C-A41E-8C5F-5877-4E0899DB8D09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D8E2CC9F-BA90-A39E-72C1-38FB24EF86ED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366A20FC-8729-8E14-C6A8-7256A9B3F9E4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B353F476-2BF6-FB20-02EA-A6ACD1425D56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96ABA1D7-EFF0-F0C1-C0B2-D60E516254C5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F695D8E4-DCFB-877D-6AEE-741FF850ABE2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7DDB1C-FB9A-FA25-1AF6-0DA77B954FAF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36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93D397-9881-C8A9-5CE4-F378D3EA12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5612" y="1168400"/>
            <a:ext cx="2700776" cy="4191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8C53411-27F5-CAF0-7347-4AEF68F751B8}"/>
              </a:ext>
            </a:extLst>
          </p:cNvPr>
          <p:cNvSpPr txBox="1"/>
          <p:nvPr/>
        </p:nvSpPr>
        <p:spPr>
          <a:xfrm>
            <a:off x="381000" y="5486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Bypass → L1 drain stripes → HS FET → switch node → LS FET → source → (shunt) → L2 DC− plane under the cell → bypass. The return on L2 directly below L1 makes the loop vertical and small (Karakaya, METU 2020, Design 3)</a:t>
            </a:r>
          </a:p>
        </p:txBody>
      </p:sp>
    </p:spTree>
    <p:extLst>
      <p:ext uri="{BB962C8B-B14F-4D97-AF65-F5344CB8AC3E}">
        <p14:creationId xmlns:p14="http://schemas.microsoft.com/office/powerpoint/2010/main" val="37667777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7C2B525-6F56-3775-F53F-7673BA90BD7F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A088F97-8DC8-6077-B007-52BEE2F4E018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Shunt in the loop: study of the options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834F2025-F182-351B-EADD-14A93025514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D4A41853-80A1-0290-8E59-8C3E0430B73A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ED3ADED9-0580-1D89-7105-D05B88901BF7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BA042E05-9993-FD96-9245-19DE421B6D3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319B55DE-48C7-AD8F-00AD-E7FDAD9D4B57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AA7146AC-0F15-C8CF-2830-27038B0C2959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E6D12A8D-60B6-A29C-186C-94A9537E2ECF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FDC5DA99-B397-08A5-7710-6C0B526C039F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02CB2254-7A1E-DA66-28C0-55CC5525D08F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58852BD4-18C1-7A5A-80EF-D8B65DC107BB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0EB71B0C-CC48-EB59-5338-DCD9285FE3B2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1FE424B8-387B-3174-F9FD-0843D85AF51B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809326-9E08-3550-B366-D6513C886FE8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37 / 44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DAC70B7-60BD-C23A-45F5-D690140BC5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858000" cy="36249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F7B934F-E5F8-5537-BD6A-ECB09E1B2421}"/>
              </a:ext>
            </a:extLst>
          </p:cNvPr>
          <p:cNvSpPr txBox="1"/>
          <p:nvPr/>
        </p:nvSpPr>
        <p:spPr>
          <a:xfrm>
            <a:off x="7429500" y="1168400"/>
            <a:ext cx="4381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UFCS = 0.7 mm blade on two 15 × 3 mm pads: current crosses only at the blade ⇒ fixed geometry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Vias in the shunt DC− pad and a notched heatsink (IN pad shortened, blade 1.45 mm from the source) gain only 0.05–0.08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Largest gain on the routed board: </a:t>
            </a:r>
            <a:r>
              <a:rPr lang="en-US" sz="1200" b="1">
                <a:solidFill>
                  <a:srgbClr val="1E1E1E"/>
                </a:solidFill>
                <a:latin typeface="Calibri" panose="020F0502020204030204" pitchFamily="34" charset="0"/>
              </a:rPr>
              <a:t>source via-in-pad</a:t>
            </a: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 and </a:t>
            </a:r>
            <a:r>
              <a:rPr lang="en-US" sz="1200" b="1">
                <a:solidFill>
                  <a:srgbClr val="1E1E1E"/>
                </a:solidFill>
                <a:latin typeface="Calibri" panose="020F0502020204030204" pitchFamily="34" charset="0"/>
              </a:rPr>
              <a:t>symmetric via pruning</a:t>
            </a: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 (final, 0.69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Without the shunt, LS source vias straight to L2 (blind L1–L2): </a:t>
            </a:r>
            <a:r>
              <a:rPr lang="en-US" sz="1200" b="1">
                <a:solidFill>
                  <a:srgbClr val="1E1E1E"/>
                </a:solidFill>
                <a:latin typeface="Calibri" panose="020F0502020204030204" pitchFamily="34" charset="0"/>
              </a:rPr>
              <a:t>0.41 nH</a:t>
            </a: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, close to the 0.374 nH model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Bypass on both sides: the bottom row lowers the loop by only ≈ 0.02 nH; it is there for capacitance</a:t>
            </a:r>
            <a:endParaRPr lang="sv-SE" sz="12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decision">
            <a:extLst>
              <a:ext uri="{FF2B5EF4-FFF2-40B4-BE49-F238E27FC236}">
                <a16:creationId xmlns:a16="http://schemas.microsoft.com/office/drawing/2014/main" id="{883A0958-ECF3-7C20-8E27-C6E620A51D68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Proposal: two assemblies of the same design: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DPT board with UFCS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(di/dt ≤ 22 A/ns) and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load-test board without shunt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(source via-in-pad, 30 A/ns)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74208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4F60AD04-DBDF-CAD5-BF5A-5524DA17FD35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3600E26-1710-1496-47AB-3B7B92977D86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Left/right symmetry: cause and fix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9B87BC69-9F8A-5AF5-A7C2-60AEFF0E746A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2F6B530C-882B-F066-CC7C-13CD7F24DBF1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1A68C919-895B-B738-2B07-127FD2219820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85C1D40B-5F07-1912-190B-14F707EED96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8C6EE14E-3CD6-E465-E1DB-418BA073C461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ACABDA84-7D2A-1B7E-4BB7-BB55E263C49F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B3CD6DCC-DC37-6DFB-1229-D1EB4CB8A554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7CBCBA40-CC73-A967-E765-6411A7703B39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1A10F047-F889-53C1-5DB7-2683973FD49D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645B75B7-5779-F2A4-6E58-4933B2213FD4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A5628817-418A-AE60-A52C-DDF98EC51C5A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D691826D-2882-C4F3-C46E-40F9BF38C251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AC7C02-E764-4ED4-E75C-EE38C8892568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38 / 44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A9D7203F-4311-5C5A-FF06-124B2FCADC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9824236"/>
              </p:ext>
            </p:extLst>
          </p:nvPr>
        </p:nvGraphicFramePr>
        <p:xfrm>
          <a:off x="381000" y="1168400"/>
          <a:ext cx="6604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514752105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205560768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353487079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989038078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407994355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Test (no-shunt board, 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cell 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cell 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634214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as routed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0672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left FETs not rotated (rot 0)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3513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Kelvin collectors moved L2 → L4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3214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mirrored model (solver check)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0556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power vias pruned in mirror pairs</a:t>
                      </a:r>
                      <a:endParaRPr lang="sv-SE" sz="1200" b="1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609408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4DE6CB8D-327B-8578-60AC-7807F8520711}"/>
              </a:ext>
            </a:extLst>
          </p:cNvPr>
          <p:cNvSpPr txBox="1"/>
          <p:nvPr/>
        </p:nvSpPr>
        <p:spPr>
          <a:xfrm>
            <a:off x="7302500" y="1168400"/>
            <a:ext cx="4508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Cause: the clearance clean-up removed power vias near pads one by one; a few vias from the source copper to the L2 DC− plane survived only in the right cells ⇒ shorter return path there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Not the cause: FET rotation (180° vs 0°), Kelvin routing, solver (mirrored model shows the same)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Fix: a via that fails clearance takes its mirror twin with it (make_kicad_bb_revb.py) ⇒ identical via sets in every cell; Kelvin collectors stay on L4 (L2 plane uncut)</a:t>
            </a:r>
            <a:endParaRPr lang="sv-SE" sz="12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decision">
            <a:extLst>
              <a:ext uri="{FF2B5EF4-FFF2-40B4-BE49-F238E27FC236}">
                <a16:creationId xmlns:a16="http://schemas.microsoft.com/office/drawing/2014/main" id="{4DC61BBD-106A-22A1-BBB5-9447345FA902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Symmetric cells ⇒ equal dynamic current sharing by layout; verify with the UFCS per cell in the DPT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03559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7F22D401-80E7-4E15-2E41-BF078C23D6DC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F77BD91-FE0D-38B5-32D4-BF67BCF2D529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Q3D: static current sharing and copper loss (previous layout)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C71524BE-146A-3029-19EB-9890B12EF34F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AF60932E-CEF6-DCE9-E9E6-DF7A16B3B632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7421BD26-EC72-D455-AF48-4CB1470CCD2D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FE0219DF-E933-A2FF-9A44-5685D2FD1FEB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1AAADECB-9C99-24C2-8761-591ADCAB230D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15AF3390-10E5-4531-9974-B059788849DA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8861614F-CD7F-D2A0-EA62-1A645EB7B284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35822409-963A-651D-8A67-86E1F637AB4D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4EA2917B-D42B-5273-2283-A67C2E0F51C4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BB2A78B3-A75E-91CA-9218-3C3CD47BD777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CE73ABC6-9C3A-1DC3-D25A-54E3CB679879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20742AA5-1E91-A165-A0AF-AEE21529C07E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C05280-819A-2928-49CF-643490FD60F8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39 / 44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1A8F7E0-9E21-C2FF-4D97-1DC2B03DC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273743"/>
              </p:ext>
            </p:extLst>
          </p:nvPr>
        </p:nvGraphicFramePr>
        <p:xfrm>
          <a:off x="381000" y="1168400"/>
          <a:ext cx="11430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1348862498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64446275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535926152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11902772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602657267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 total (m</a:t>
                      </a:r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Ω)</a:t>
                      </a:r>
                      <a:endParaRPr lang="sv-SE" sz="12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 copper (m</a:t>
                      </a:r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Ω)</a:t>
                      </a:r>
                      <a:endParaRPr lang="sv-SE" sz="12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current share cell 1 / 2 / 3 / 4</a:t>
                      </a:r>
                      <a:endParaRPr lang="sv-SE" sz="12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94787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0.98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0.70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20 % / 29 % / 23 % / 28 %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1.48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7492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1.38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20 % / 29 % / 24 % / 28 %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1.46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059587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EE8791E1-FAA8-DA11-E382-DFC177EE9DEA}"/>
              </a:ext>
            </a:extLst>
          </p:cNvPr>
          <p:cNvSpPr txBox="1"/>
          <p:nvPr/>
        </p:nvSpPr>
        <p:spPr>
          <a:xfrm>
            <a:off x="381000" y="2438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 b="1">
                <a:solidFill>
                  <a:srgbClr val="C84632"/>
                </a:solidFill>
                <a:latin typeface="Calibri" panose="020F0502020204030204" pitchFamily="34" charset="0"/>
              </a:rPr>
              <a:t>Previous layout (13 Oct: two DC pairs, four AC terminals, 1210 bank)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: full-board rerun on the final layout pending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Converged DC solve; FET 0.75 mΩ × 1.49 (100 °C), shunt 1 mΩ; DC terminals joined (bus), AC terminals joined (bar)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Board copper loss at 228 A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rms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: </a:t>
            </a:r>
            <a:r>
              <a:rPr lang="en-US" sz="1300" b="1">
                <a:solidFill>
                  <a:srgbClr val="C84632"/>
                </a:solidFill>
                <a:latin typeface="Calibri" panose="020F0502020204030204" pitchFamily="34" charset="0"/>
              </a:rPr>
              <a:t>40 W per leg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(semiconductors ≈ 18 W); shunts ≈ 6.5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Static sharing is uneven: the inner cells (2, 4) carry ≈ 29 %, the outer cells (1, 3) ≈ 20–23 % ⇒ hotter inner cells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Cause: the copper path from each cell to the joined AC bus and to the DC terminals differs (cell position, AC columns on L3/L4)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Next layout iteration: widen the outer-cell AC columns / add AC copper on L1–L2, 2 oz → 3 oz, symmetric DC terminal placement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98663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2157F50-E5A9-66BE-7FE0-7B1A42396263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9DE78B0-0E3F-2594-FB06-D1E26BFC2F21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Main PCB: findings from the Q3D extraction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A7D182CB-645A-0E9E-EAF5-49EB83AE985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023441FF-F4CA-1961-F5D7-C2424D9DEE83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4A5702A5-4DAF-1A65-31E2-C1E7C06BAC0F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72A321EF-FAAA-BAE4-6820-F8C89DDCC38D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936ADF7F-7B3C-38F8-1DF7-B0603D5385C8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8A095026-D139-3975-A5D2-00D5D07F212A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081E1404-D7FA-5CCA-AD3F-797746DADF82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E67EADE2-3174-FB60-9E99-9B67B3BFDD63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3D30DD39-886A-BFF7-8F2C-2599FB085F7A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1851DE91-6F9C-9002-A7E6-7E5866E25C3A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84A07A46-E57B-5C64-B699-C05F7BD9C4D3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2947AED4-480C-059C-F6D2-06BF231B7CBC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816FE6-363F-C225-B4DB-83BAD80875BD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40 / 44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736F57A-C57B-190B-CC8F-5BD51A8FB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5629"/>
              </p:ext>
            </p:extLst>
          </p:nvPr>
        </p:nvGraphicFramePr>
        <p:xfrm>
          <a:off x="381000" y="1168400"/>
          <a:ext cx="11430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1182963102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1616379342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348584367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97583104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Rev B (Q3D)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Target / Rev A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41972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Loop per cell, with shunt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0.69 nH (4 cells within 2 %)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 nH design, 0.374 nH Rev A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DPT at ≤ 22 A/ns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334652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Loop per cell, no shunt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0.41 nH (4 cells within 1 %)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 nH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load test at 30 A/ns: 87 V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02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Static sharing, max/min *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48 % above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&lt; 10 %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rerun on the final layout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342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Board copper loss *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40 W per leg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≈ 11 W (2 × Rev A block)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rerun on the final layout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998926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Block-to-block L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x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≳ 20 nH (Rev A deck)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69 A per ns 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395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E36116C3-B990-3FF6-5B5D-299FA0B8E2E6}"/>
              </a:ext>
            </a:extLst>
          </p:cNvPr>
          <p:cNvSpPr txBox="1"/>
          <p:nvPr/>
        </p:nvSpPr>
        <p:spPr>
          <a:xfrm>
            <a:off x="381000" y="3835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Loop: symmetric and within the design value without the shunt; with the shunt the turn-on must be slowed for the DPT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The Rev B board is a good </a:t>
            </a:r>
            <a:r>
              <a:rPr lang="en-US" sz="1300" b="1">
                <a:solidFill>
                  <a:srgbClr val="C84632"/>
                </a:solidFill>
                <a:latin typeface="Calibri" panose="020F0502020204030204" pitchFamily="34" charset="0"/>
              </a:rPr>
              <a:t>measurement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board: UFCS per cell, U.FL V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/ V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DS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, both drivers from one C2000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Next Q3D: full board on the final layout (DC sharing, copper loss, L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x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) and the busbar with one DC pair per leg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5056FF-DE77-EBA1-EBA5-6C9C43AB99A5}"/>
              </a:ext>
            </a:extLst>
          </p:cNvPr>
          <p:cNvSpPr txBox="1"/>
          <p:nvPr/>
        </p:nvSpPr>
        <p:spPr>
          <a:xfrm>
            <a:off x="381000" y="628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* previous layout (13 Oct); values in nH unless noted</a:t>
            </a:r>
            <a:endParaRPr lang="sv-SE" sz="1000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93873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C45224BD-F592-BD22-2BC6-7572F3991C62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040D1A8-D25C-1990-1AB1-955B5EC6839D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Q3D: three legs on the PCB busbar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12BC9094-C030-B5A4-8D20-DA9D2E382A1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60C5CB9A-5809-01AA-4F26-611D4167EBCF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CA1969F8-183F-2CB9-B7E5-D04CAEE24128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7F0DE38F-FC3D-4BE0-3806-9DC82091A80F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1D21BE52-ED05-CD09-9EE7-FB5E13F7A581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31FDC964-3D64-AFA2-C7BA-48DA5CA0EAD3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B44F2C69-D45C-648F-E28F-8C0AA633DA05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58BEC12F-50AC-7E64-B67C-6DD4B814C3D5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53767AC0-8F44-18E2-7A14-FE0E1029467D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C281BCE3-F360-9D79-7F8B-30CD170B62A2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D9801A49-895F-CFF4-CAB0-8C81FD0492FA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239A4B72-DDC4-F357-DA13-9AE6B85AE419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AD9655-4019-EAB8-62B2-9815474CCD08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41 / 44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039E553-B27C-0277-99A3-9A214714F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165732"/>
              </p:ext>
            </p:extLst>
          </p:nvPr>
        </p:nvGraphicFramePr>
        <p:xfrm>
          <a:off x="381000" y="1168400"/>
          <a:ext cx="5969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3793958036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426727655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93069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nn-NO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Leg-to-leg loop 1 → 2 (DC / 1 MHz)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4.36 / 0.88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56456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nn-NO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Leg-to-leg loop 1 → 3 (DC / 1 MHz)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9.10 / 1.37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92908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Ripple of leg 1 at 50 kHz from legs 1 / 2 / 3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26 % / 35 % / 39 %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24012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Busbar DC loss (250 A in, 3 × 83 A)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12.4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82738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62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887662"/>
                  </a:ext>
                </a:extLst>
              </a:tr>
            </a:tbl>
          </a:graphicData>
        </a:graphic>
      </p:graphicFrame>
      <p:pic>
        <p:nvPicPr>
          <p:cNvPr id="19" name="Picture 18">
            <a:extLst>
              <a:ext uri="{FF2B5EF4-FFF2-40B4-BE49-F238E27FC236}">
                <a16:creationId xmlns:a16="http://schemas.microsoft.com/office/drawing/2014/main" id="{7BA4FD76-C76F-EFEE-3292-715B1EF21B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0500" y="1168400"/>
            <a:ext cx="5270500" cy="271054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006AEB4-A988-08F4-2082-F52D65754A46}"/>
              </a:ext>
            </a:extLst>
          </p:cNvPr>
          <p:cNvSpPr txBox="1"/>
          <p:nvPr/>
        </p:nvSpPr>
        <p:spPr>
          <a:xfrm>
            <a:off x="381000" y="4406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Target ≤ 5 nH leg to leg met at 1 MHz; DC values are the low-frequency limit (current spread through all layers)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 b="1">
                <a:solidFill>
                  <a:srgbClr val="C84632"/>
                </a:solidFill>
                <a:latin typeface="Calibri" panose="020F0502020204030204" pitchFamily="34" charset="0"/>
              </a:rPr>
              <a:t>Busbar version with two DC pairs per leg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; the busbar is regenerated with one pair per leg, rerun pending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Network: Q3D matrices of three Rev B legs + busbar, MLCC banks with ESR/ESL and 35 % of C at 75 V; peaks in |Z| = inter-leg resonance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0025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5FCBFA0-69F2-0A0D-EA1C-B714A572AA70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0578B5E-5430-E9DA-5F03-D61E95404096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Rev B fabrication 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DFD4B5-B6DB-70BA-4A5C-7DD9B9395002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12  Rev B board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EDC5E03A-5AAB-3874-A281-878D910E87AB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78A4DC1B-8282-CFE7-6B40-78BB6EA54B84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08E973A3-37E2-8E07-C607-0CFB5780D044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6F4024DD-4635-3243-9519-B00E98A7D06B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75287B0C-15F3-5220-15FC-13DA5B5684E3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AEAEF052-3CDA-E3CB-B610-039567F16340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C38DD2FC-5D6E-A60E-2361-C4F9D6818EDE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29E571F5-53D9-098D-979C-3445E9ED1E4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A44C3D02-8CAF-58B2-31C1-5DE815E8F775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36CFE3C3-44B9-4575-17E3-918D3EB81C69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0F9B79A0-2C49-B415-DB11-01A091988697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92B9A2D0-E44C-4293-B9B5-7BBEBCE1D3D5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5AB34E-6A02-DCBF-A7EC-A3B70E5EDF0B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42 / 44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EA30DBF-D887-9EF0-53FE-BFC0BD532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133" y="1168400"/>
            <a:ext cx="3673734" cy="381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12D9914-8DC6-FFF8-1C74-2B6A6C1287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185" y="1168400"/>
            <a:ext cx="4231630" cy="3810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E8E2332-93B5-0881-91BD-37C24401EA93}"/>
              </a:ext>
            </a:extLst>
          </p:cNvPr>
          <p:cNvSpPr txBox="1"/>
          <p:nvPr/>
        </p:nvSpPr>
        <p:spPr>
          <a:xfrm>
            <a:off x="381000" y="5105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Generated: make_kicad_bb_revb.py (board), make_kicad_sch_revb.py (schematic), make_kicad_busbar.py (busbar)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3D models for all parts and the board STEP (fab/spb-bb-revb.step); next: Gerbers, drill, BOM and placement for Rev B and the busbar, LAM 4 100 mm order code</a:t>
            </a:r>
          </a:p>
        </p:txBody>
      </p:sp>
    </p:spTree>
    <p:extLst>
      <p:ext uri="{BB962C8B-B14F-4D97-AF65-F5344CB8AC3E}">
        <p14:creationId xmlns:p14="http://schemas.microsoft.com/office/powerpoint/2010/main" val="18014212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F71D539-99D8-74E2-8896-F1CA5FE48B68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95EBE09-C329-BEAF-974B-6CBA6B1924E2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Status and next steps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E3EC9-DFD7-BE7B-07F9-80EBA3C300D9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Status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E2BF7240-77B3-6C97-D24D-76995A9CD6D1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708D5951-E22A-CE0E-6276-6E6D06EC5940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752E2596-97CE-652D-1494-CE55FDBEA9DB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279CA926-31C7-C3B3-CFDE-E3084260F924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B27626C4-D7F2-D2D2-CFF9-645C05C2C190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1A45447F-C0A4-A805-779D-BB33D7C8AA73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AA7F2B99-C828-03B8-6E0C-A11E52221C32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1FD1803A-B350-2305-C6ED-AFE50E8F0122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F8B919B7-99D0-990E-CB45-7019FD2F8A21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A029BDFF-DAEB-A8B9-07FE-544F6069BCB8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E05C71C4-39A0-C957-8536-083D26AA63F6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D40011C0-B615-D0D3-EC45-9BD102F58A6F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5737FD-A364-0F7D-0D4C-BFE1C195915E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43 / 44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42213B5-A5A9-49F9-74D4-5E4984EBB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699793"/>
              </p:ext>
            </p:extLst>
          </p:nvPr>
        </p:nvGraphicFramePr>
        <p:xfrm>
          <a:off x="381000" y="1168400"/>
          <a:ext cx="66040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1150651559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385671465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321768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DC link: 20 × 22 µF 2220 + 10 × 1 µF per cell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decided, in the layout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33713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Rev B leg board (one leg, 4 per switch)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routed, DRC 0 / 0 / 0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70886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Rev B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generated, = PCB (0 problems)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94596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Loop per cell (fast Q3D)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0.69 nH shunt / 0.41 nH no shunt, symmetric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1028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3D models + board STEP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4364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PCB busbar (one DC pair per leg)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routed, DRC clean, 2 oz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94184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Q3D full board + busbar, final layout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next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18285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Fab outputs, BOM (Rev B, busbar)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next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37116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DPT (shunt) + load test (no shunt)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84625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7B92BEC-C9E5-F41A-FD92-8F94B700DA5B}"/>
              </a:ext>
            </a:extLst>
          </p:cNvPr>
          <p:cNvSpPr txBox="1"/>
          <p:nvPr/>
        </p:nvSpPr>
        <p:spPr>
          <a:xfrm>
            <a:off x="7302500" y="1168400"/>
            <a:ext cx="4508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Decide: two assemblies (DPT with UFCS, load test without shunt and with source via-in-pad)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Measure: per-cell current sharing (UFCS), V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of both drivers (skew), V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DS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overshoot, bus ripple and ringing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Decide after measurement: bank depopulation, damping caps, copper weight of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Machine: L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σ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, cos φ and the final f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endParaRPr lang="sv-SE" sz="1300" baseline="-25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152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1B1AB0-3693-3813-349A-B404165E97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EF65A-E252-29B9-5FCB-2CECDDDCD0BA}"/>
              </a:ext>
            </a:extLst>
          </p:cNvPr>
          <p:cNvSpPr txBox="1"/>
          <p:nvPr/>
        </p:nvSpPr>
        <p:spPr>
          <a:xfrm>
            <a:off x="762000" y="2794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3600" b="1">
                <a:solidFill>
                  <a:srgbClr val="FFFFFF"/>
                </a:solidFill>
                <a:latin typeface="Calibri" panose="020F0502020204030204" pitchFamily="34" charset="0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0CF777-B614-1372-2154-0B82510F2307}"/>
              </a:ext>
            </a:extLst>
          </p:cNvPr>
          <p:cNvSpPr txBox="1"/>
          <p:nvPr/>
        </p:nvSpPr>
        <p:spPr>
          <a:xfrm>
            <a:off x="762000" y="3683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2000">
                <a:solidFill>
                  <a:srgbClr val="FFFFFF"/>
                </a:solidFill>
                <a:latin typeface="Calibri" panose="020F050202020403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530525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7649</Words>
  <Application>Microsoft Office PowerPoint</Application>
  <PresentationFormat>Custom</PresentationFormat>
  <Paragraphs>1202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 Royal Institute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Enes Ayaz</dc:creator>
  <cp:lastModifiedBy>Enes Ayaz</cp:lastModifiedBy>
  <cp:revision>1</cp:revision>
  <dcterms:created xsi:type="dcterms:W3CDTF">2026-10-14T12:43:24Z</dcterms:created>
  <dcterms:modified xsi:type="dcterms:W3CDTF">2026-10-14T12:43:24Z</dcterms:modified>
</cp:coreProperties>
</file>