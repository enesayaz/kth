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76E7-77AF-2CF2-F9CE-8EC2994A09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0078BB-E29D-3C2F-FAAD-C240F682EF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8EAA6-E41D-AF27-E270-6129CE74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A93C3-A526-E07A-D962-F8D3E25EC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FB7C0-A171-CC7F-0000-26DD01C60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79286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57F3A-84F3-8B83-8790-D538CDF7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773EC-E722-C6A3-3845-1F0619225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DFA3E-9E32-D697-7D22-444EE0B0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75589-F6E1-6083-0C16-6769CCB5E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6D5CB9-92CD-BFA1-E930-7D1EEF84D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381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0B4A8-9755-FFA3-FF29-AF23A2203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3037D5-DE13-5C0E-CBE0-D7527FBE9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E5405-EBE6-218F-7897-F2C2FBC1B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33045-321F-E396-DE0F-B6EE241D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01699-8F1C-36F6-A23A-0877135EC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3578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385DB-997A-582E-A949-59B7C0201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5D984-D172-5026-DE80-460739755A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2958B-57FB-3CC4-35C8-C24716C522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10B0BF-8043-A79B-62D8-CA7DC137A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A48115-691D-484C-C6B3-52BE20F81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B4ACA-499D-4446-B7E3-011E5CD45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96216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9F49A-1019-F1B6-C050-548F8F477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AA08D-C1EE-0C22-DFC9-F857803C5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9560AD-395E-C37C-0B35-393288EFF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7876B7-0BE7-B998-1C7E-A2F049D2F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364856-B0C2-C620-3243-FD3DFB2E83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1A12D0-826E-D5F7-4E1D-EC2477A8D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F198CD-2768-90F0-83A5-9C73D0084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5E0475-50A9-790F-925C-084A458AD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8383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A0A99-5278-D071-79BC-E392B242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FB732F-2838-09C6-2721-07531134B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EA156A-31CB-5468-19DB-7A7AD90F9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BFBE7A-6408-F204-88DC-3C196FC0A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65751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553785-47BD-CBB8-1D9F-1B480681D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46C9CD-6E66-8009-F068-390D12C01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33F5DB-9E6D-075E-2ED0-ED51B2AF7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94185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8AA26-BAF0-C761-4782-C139714AF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87EF8-DAF9-DB27-B41C-E2146B3BC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0FD8B1-42B4-FDF3-CD2A-D9D5B6764C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D3A70A-0C6B-9DAA-432E-C1E411C9C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7FE94-7F83-D74F-EB29-FD08CC81C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B78544-F004-6E5A-63A7-1842F9BBD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2840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C98C2-76B2-6C06-C7F7-9E5A0F1BB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C39300-641A-1007-934E-6C99653367B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3B6F2E-E393-C184-1C9C-07FA54AFA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AB2187-A1F3-4CF6-64BF-C65960D5D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A8540-51E0-E828-2ADC-DDE883890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D86EE-AD0C-378C-E471-59A00B6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685494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BD6C1-5060-B077-A7DD-F94A1A25F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845C3-643E-8B36-E720-6EFC46EF59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1362E-D93B-BF8B-BDF3-FDCB1415A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C9D21-D388-A0C6-9C75-EB581531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EA366-BA9B-63DB-3EF8-4E4C83F58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01066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131FC4-8A4C-A939-8432-8C36FCA858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0C671B-0C33-90E5-D3C9-1AB4131C03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CB66F-FF45-7B0A-3371-C70CEB89E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DE2D7-49F9-2357-5E1E-C9DFF87A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4855E-1445-EBB8-CE0D-126626362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195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A71E8-8DE4-BA3C-483C-92C8F960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ABA6AF-7920-59E0-1688-12227B0CA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F0A92-2FC5-4D6D-486A-9DEEC6B2D3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40EFC-FE3A-4787-B2B7-BAFC74F781A8}" type="datetimeFigureOut">
              <a:rPr lang="sv-SE" smtClean="0"/>
              <a:t>2026-10-13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C0971B-DE0D-3D79-0551-5C3409CB0A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FB73D-E6AC-314F-54C9-6AADE56A8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121532-91E3-4B92-BB56-055557D40A7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23599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0FF087-3C36-B355-D592-5FA6CE328D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7DA1AC-14F6-C937-C832-82AFA02D77F9}"/>
              </a:ext>
            </a:extLst>
          </p:cNvPr>
          <p:cNvSpPr txBox="1"/>
          <p:nvPr/>
        </p:nvSpPr>
        <p:spPr>
          <a:xfrm>
            <a:off x="762000" y="1905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3600" b="1">
                <a:solidFill>
                  <a:srgbClr val="FFFFFF"/>
                </a:solidFill>
                <a:latin typeface="Calibri" panose="020F0502020204030204" pitchFamily="34" charset="0"/>
              </a:rPr>
              <a:t>GaN Building Block Rev 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30FEB-7EF8-B4FF-9CDF-67C9DBB7761A}"/>
              </a:ext>
            </a:extLst>
          </p:cNvPr>
          <p:cNvSpPr txBox="1"/>
          <p:nvPr/>
        </p:nvSpPr>
        <p:spPr>
          <a:xfrm>
            <a:off x="762000" y="3048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>
                <a:solidFill>
                  <a:srgbClr val="FFFFFF"/>
                </a:solidFill>
                <a:latin typeface="Calibri" panose="020F0502020204030204" pitchFamily="34" charset="0"/>
              </a:rPr>
              <a:t>Four EPC2361 per switch on one board, three legs on a PCB busbar:</a:t>
            </a:r>
          </a:p>
          <a:p>
            <a:r>
              <a:rPr lang="en-US" sz="2000">
                <a:solidFill>
                  <a:srgbClr val="FFFFFF"/>
                </a:solidFill>
                <a:latin typeface="Calibri" panose="020F0502020204030204" pitchFamily="34" charset="0"/>
              </a:rPr>
              <a:t>a decision-driven design for a 1200 V, 300 kW Stacked Polyphase Bridge inverter</a:t>
            </a:r>
            <a:endParaRPr lang="sv-SE" sz="20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FEF4A8-0476-1E93-C422-C47F6C2E2E34}"/>
              </a:ext>
            </a:extLst>
          </p:cNvPr>
          <p:cNvSpPr txBox="1"/>
          <p:nvPr/>
        </p:nvSpPr>
        <p:spPr>
          <a:xfrm>
            <a:off x="762000" y="508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400">
                <a:solidFill>
                  <a:srgbClr val="FFFFFF"/>
                </a:solidFill>
                <a:latin typeface="Calibri" panose="020F0502020204030204" pitchFamily="34" charset="0"/>
              </a:rPr>
              <a:t>Enes Ayaz · KTH Royal Institute of Technology · October 2026</a:t>
            </a:r>
            <a:endParaRPr lang="sv-SE" sz="1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6147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086BF62-A198-A39F-4735-BE12EB9D6491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FE1A1DE-AC4F-0105-28E7-673DB5721670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Design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582CC8-6372-D149-74B1-76A540E853A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 / 37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2EE858-406C-B9B9-F885-E2609CEB94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001793"/>
              </p:ext>
            </p:extLst>
          </p:nvPr>
        </p:nvGraphicFramePr>
        <p:xfrm>
          <a:off x="381000" y="1168400"/>
          <a:ext cx="11430000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2673172356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876798529"/>
                    </a:ext>
                  </a:extLst>
                </a:gridCol>
                <a:gridCol w="8382000">
                  <a:extLst>
                    <a:ext uri="{9D8B030D-6E8A-4147-A177-3AD203B41FA5}">
                      <a16:colId xmlns:a16="http://schemas.microsoft.com/office/drawing/2014/main" val="20106248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5477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1200 V, 300 kW, M ≤ 1.15, PMSM cos 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φ = 0.9 → 228 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rms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0914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100–650 V Si/SiC/GaN survey → 100 V GaN, EPC2361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3812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+ L·di/dt ≤ 90 V, even integer N → 75 V, N = 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86617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first-cut loop + LTspice → ≤ 80 A per device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18425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loss, T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, 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72055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sw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loss vs MLCC count → ≥ 50 kHz; bypass 6 × 1 µF per cell + bank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461013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one driver per pair (star, Kelvin) → building block of two cells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71782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two blocks side by side, DC link and AC joined in copper → Rev B leg board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3640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two isolated supplies + Zener bias, UFCS shunt per cell, U.FL, HO 250-S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84512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legs share the 75 V bus → laminated PCB busbar under the legs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260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Verification, board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Q3D of leg + busbar, KiCad schematic = PCB, Rev B fab files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516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7614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2EE6DB9-662B-A2A8-830C-C4213EAD3E46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14B7D0D-373D-9C92-9918-67F21491422E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Design inputs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332359-762C-CC12-8EE5-FBC06A775C63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  Design inputs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DBDEBF61-98A0-3A6D-FE51-7D06F64DD943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E722754B-F913-539F-C617-7352CB8312C1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EDB61321-AC8A-86C6-6D01-4C41AB84F227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8BC2CB67-D7AC-40EF-95C0-0861975619E2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C234514A-F792-A16F-42EE-DF8B3E8D47A8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D2DBBAFF-88E8-2078-FA2E-3EF8A9A77DB2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18964671-4A09-7C52-9857-580DDA44258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0CA958A7-B735-2BD9-22D3-BCB727C93C0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1652B627-E198-E1EC-7A40-2B9054421559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6DA0FE88-007E-1FC9-E9A9-14991D8CF04C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B00960F2-707D-D276-FD5A-D1FBB900CB37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FC29FB5A-08EB-EC94-FF0E-3C193DA5B109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8D5003-55EC-A864-7C12-DC76A5EA1350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C49CEA3-2EAE-F243-DAEB-E7E32D1543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461000" cy="1522292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C96286B-E598-52B1-8FAF-E5AC186C25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360965"/>
              </p:ext>
            </p:extLst>
          </p:nvPr>
        </p:nvGraphicFramePr>
        <p:xfrm>
          <a:off x="6223000" y="1295400"/>
          <a:ext cx="55880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4192226332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313149472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5130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8896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1959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676384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PMSM, cos </a:t>
                      </a:r>
                      <a:r>
                        <a:rPr lang="el-GR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φ 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33431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2528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Coolant / T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60 °C / ≤ 125 °C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55483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en-US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≤ 90 V at nominal bus (100 V part)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205172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06460636-8AB0-3841-36B3-46C861BE20F9}"/>
              </a:ext>
            </a:extLst>
          </p:cNvPr>
          <p:cNvSpPr txBox="1"/>
          <p:nvPr/>
        </p:nvSpPr>
        <p:spPr>
          <a:xfrm>
            <a:off x="6223000" y="4724400"/>
            <a:ext cx="558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SPB: N three-phase submodules in series on the DC side, each feeding one winding set; V</a:t>
            </a:r>
            <a:r>
              <a:rPr lang="en-US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en-US" sz="1200">
                <a:solidFill>
                  <a:srgbClr val="1E1E1E"/>
                </a:solidFill>
                <a:latin typeface="Calibri" panose="020F0502020204030204" pitchFamily="34" charset="0"/>
              </a:rPr>
              <a:t> = 1200 V / N.</a:t>
            </a:r>
            <a:endParaRPr lang="sv-SE" sz="12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3479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5AA56B6-2508-CD7A-A905-3ABB130A70EC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2782B1-AF77-FD15-F7F0-0F741367E812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Phase current follows from the inputs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48C585F4-6FCC-FEA5-4538-845A97F79986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51B67EC8-52E5-D3C6-78D8-6EBE127B57F7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A68816D9-AB2A-C3F0-AEF4-71714BD9B8AD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FCD81771-6205-F8F8-E51C-E06187AB4180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AA1EE200-14F9-C7CF-0920-1A5A72A34D9E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08CE1450-A085-6EA5-192B-0964AD341E0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3FBCDC15-12D1-EAFF-166D-D4B0293DE78C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13644288-F3F0-5331-B36F-07371DD091DA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D5C91304-187A-FCF0-AAB1-503D38647811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131688B9-B609-0690-F10A-8F6F7091606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F6FF3287-609E-A294-EB0A-C538D6A9287F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75487EB9-BCE3-F3E4-7352-90CB3AC7B365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BBCB11-8FC5-D91C-CA93-6FDD38C91A26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4 / 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840D01-E570-C525-54A9-97851B8E82FE}"/>
              </a:ext>
            </a:extLst>
          </p:cNvPr>
          <p:cNvSpPr txBox="1"/>
          <p:nvPr/>
        </p:nvSpPr>
        <p:spPr>
          <a:xfrm>
            <a:off x="381000" y="1168400"/>
            <a:ext cx="660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Each of the 3N legs delivers P/3N at V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ph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 = M·V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I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rms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 = P / (3 · M·V</a:t>
            </a:r>
            <a:r>
              <a:rPr lang="sv-SE" sz="15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sv-SE" sz="1500">
                <a:solidFill>
                  <a:srgbClr val="1E1E1E"/>
                </a:solidFill>
                <a:latin typeface="Calibri" panose="020F0502020204030204" pitchFamily="34" charset="0"/>
              </a:rPr>
              <a:t>/(2√2) · cos </a:t>
            </a:r>
            <a:r>
              <a:rPr lang="el-GR" sz="1500">
                <a:solidFill>
                  <a:srgbClr val="1E1E1E"/>
                </a:solidFill>
                <a:latin typeface="Calibri" panose="020F0502020204030204" pitchFamily="34" charset="0"/>
              </a:rPr>
              <a:t>φ)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N·V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= V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: the phase current does </a:t>
            </a:r>
            <a:r>
              <a:rPr lang="sv-SE" sz="1400" b="1">
                <a:solidFill>
                  <a:srgbClr val="C84632"/>
                </a:solidFill>
                <a:latin typeface="Calibri" panose="020F0502020204030204" pitchFamily="34" charset="0"/>
              </a:rPr>
              <a:t>not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depend on N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V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ph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= 1.15 · 75 V / 2√2 = 30.5 V; 6.25 kW per leg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 b="1">
                <a:solidFill>
                  <a:srgbClr val="1E1E1E"/>
                </a:solidFill>
                <a:latin typeface="Calibri" panose="020F0502020204030204" pitchFamily="34" charset="0"/>
              </a:rPr>
              <a:t>228 Arms per leg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, 322 A peak (cos </a:t>
            </a:r>
            <a:r>
              <a:rPr lang="el-GR" sz="1400">
                <a:solidFill>
                  <a:srgbClr val="1E1E1E"/>
                </a:solidFill>
                <a:latin typeface="Calibri" panose="020F0502020204030204" pitchFamily="34" charset="0"/>
              </a:rPr>
              <a:t>φ = 0.9)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DC current per leg 83 A; series DC chain 250 A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51A81D7-76B8-D647-68C6-C106DA1F5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971341"/>
              </p:ext>
            </p:extLst>
          </p:nvPr>
        </p:nvGraphicFramePr>
        <p:xfrm>
          <a:off x="7493000" y="1295400"/>
          <a:ext cx="3810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173599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7976438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cos </a:t>
                      </a:r>
                      <a:r>
                        <a:rPr lang="el-GR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φ</a:t>
                      </a:r>
                      <a:endParaRPr lang="sv-SE" sz="14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</a:t>
                      </a:r>
                      <a:r>
                        <a:rPr lang="sv-SE" sz="1400" b="1" baseline="-2500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rms</a:t>
                      </a:r>
                      <a:r>
                        <a:rPr lang="sv-SE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308264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67935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6669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336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7014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593E618-E624-437E-D1ED-BE01120EA318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Losses below are for cos φ = 0.9; the PMSM operating point must be confirmed with the machine design.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021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8F1296AE-C09E-E85B-8D6F-891384707071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3D5520D-4BB5-5588-56A7-33ACC460EE79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Voltage class: why 100 V GaN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3ED95C-B579-9F9F-CEA9-90D2C9CFF2DA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2  Device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D07913D6-4765-C590-92F6-969F2BA376C5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48EEC408-74FB-9DFC-9370-5CA70FD76B61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03089DBE-31AB-E051-8460-081538FF845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3A077795-5351-578A-0BA3-913F58D9258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8A54FC07-2D6C-71E6-9E3E-76E10DB732D8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632A863A-8ACF-4C80-6DFA-52E0A479E583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BB9C9A5A-C069-E398-53FA-8A335E52C4C7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0155CA39-3CBE-A978-A473-97A3E080043E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76A95C8B-F7C5-9D9A-AA1E-07ACF2A138AB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0DE51622-058C-8603-84CB-0A83FA1D4BB1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48E6013E-7C92-8D32-A4A8-2AAEB22888A5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4D27FB03-5222-15D7-A284-3963F622E91A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B310BC-A35C-D937-0B3F-541CB8F871FE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5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8538EC-6666-C6ED-4F65-A9C737C52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604000" cy="20255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4538B82-6F95-A86B-E390-9DF99DD02D9B}"/>
              </a:ext>
            </a:extLst>
          </p:cNvPr>
          <p:cNvSpPr txBox="1"/>
          <p:nvPr/>
        </p:nvSpPr>
        <p:spPr>
          <a:xfrm>
            <a:off x="7239000" y="1168400"/>
            <a:ext cx="457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At fixed bus voltage and phase current the minimum semiconductor loss scales with 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·C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oss,tr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100 V GaN gives the lowest product among 100–650 V Si/SiC/GaN candidates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Selected: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, 100 V, 0.75 mΩ typ, 3 × 5 mm, top-side cooling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485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34F4313-483C-73E1-9311-F8DE84A3D909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2A1191C-B424-2F07-9683-D17BCAFE8B4E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EPC2361 key data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F8C65CEC-ABC5-C184-AC03-E38F70A86E4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4F4F5982-656B-36F8-BC78-FDA7FB24843B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DF12BAD8-0B0D-4968-3CFC-A35A19E2B2CD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A004187F-EBF4-DAC0-127E-0C6BC91E1A4D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D7AD74FB-7097-6154-E27F-84680191B092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D4A5978-0A28-5831-E2E9-7CE0ADA73909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7E21E861-AAD9-ACA9-5801-1E257B762678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CE68BDA1-EB25-A3E8-FB9A-5143166B222B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BAC451A6-4EBB-8B67-1A71-4B45BED0BB0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3B4C11BA-7D66-5B92-CFD7-4195D5E0B96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47BE1BCE-F5F3-7196-D075-3D841E4F674E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E5EBF675-EF89-8DE3-03EA-EA520BD0AD40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9CE35F-ED1C-2D49-14B8-F74CEEECABAF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6 / 37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A3ADAE-4C98-BDD3-C9EC-FF55E366E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09120"/>
              </p:ext>
            </p:extLst>
          </p:nvPr>
        </p:nvGraphicFramePr>
        <p:xfrm>
          <a:off x="381000" y="1168400"/>
          <a:ext cx="5969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3817744429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253553832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959348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7482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0.75 m</a:t>
                      </a:r>
                      <a:r>
                        <a:rPr lang="el-GR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 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2051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range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−4 … +6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349227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 / 1.1 / 2.5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8111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iss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C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oss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C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80972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Q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Q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GD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/ Q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6744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G,int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0.4 Ω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5375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el-GR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θ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JC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top / R</a:t>
                      </a:r>
                      <a:r>
                        <a:rPr lang="el-GR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θ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0.2 / 1.5 K/W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12911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27D1BA6-9E91-D31E-1BF1-5B213FAE9A1B}"/>
              </a:ext>
            </a:extLst>
          </p:cNvPr>
          <p:cNvSpPr txBox="1"/>
          <p:nvPr/>
        </p:nvSpPr>
        <p:spPr>
          <a:xfrm>
            <a:off x="6731000" y="1168400"/>
            <a:ext cx="508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Low threshold and −4 V limit: gate drive needs care (bump, negative bias)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Top of the package at </a:t>
            </a:r>
            <a:r>
              <a:rPr lang="en-US" sz="1400" b="1">
                <a:solidFill>
                  <a:srgbClr val="C84632"/>
                </a:solidFill>
                <a:latin typeface="Calibri" panose="020F0502020204030204" pitchFamily="34" charset="0"/>
              </a:rPr>
              <a:t>source potential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: the thermal interface must insulate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Seven interleaved stripes; pad 2 next to the gate is the natural Kelvin point (own net KH/KL on Rev B)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372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84F5D3F-9430-1CF8-66FD-A36E84687E64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9705F8A-4ED2-3801-04C8-2F0D58E83BD8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Submodule voltage from L·di/dt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E6EF33-7FE0-97D6-9F72-24C32FB81F52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3  Submodule voltage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4DD7FF20-32C9-4428-8404-943C79934296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9DC50F19-8732-08FC-7E3A-DD8B31D1AF5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DDE01420-4978-44CC-CE0F-69A1E50FF4E0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00397481-2447-16A4-CEC9-B115ADC75D90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58D47A5C-5AD2-34B9-0C38-C49D5B968880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00892B54-C5D5-F5AC-C94A-2D471ED140FE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65DD8C8F-4456-6C25-636E-F72E91239FAC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4195DA2B-6D46-BEC7-DFF0-E753A30F09D9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F142EB44-84A7-69C3-DFB0-F076F69BEFD6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58EDA5A5-DEBD-929C-0634-1E0BDC44365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5A7F44A7-BE01-0197-0011-E8054FA7DDD6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A7EF9542-BC68-8ABD-D86C-EB0E68619458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B9630E-F80A-93FC-FB83-071163C9981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7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C75815-2D92-6210-9043-9AA8846F2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350000" cy="256690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FEE14E-928C-FB1B-D55B-D05AD61AF25C}"/>
              </a:ext>
            </a:extLst>
          </p:cNvPr>
          <p:cNvSpPr txBox="1"/>
          <p:nvPr/>
        </p:nvSpPr>
        <p:spPr>
          <a:xfrm>
            <a:off x="6921500" y="1168400"/>
            <a:ext cx="4889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Peak stress v̂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+ L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loop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·di/dt ≤ 90 V (10 % below the rating)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First-cut loop with MLCCs: ≈ 0.5 nH per cell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Fast switching (≈ 30 A/ns, analytical gate-charge model) ⇒ 15 V overshoot ⇒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≤ 75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N integer and even (symmetric submodules and winding sets): 14 → 86 V, 18 → 67 V and 12.5 % more parts</a:t>
            </a:r>
          </a:p>
        </p:txBody>
      </p:sp>
      <p:sp>
        <p:nvSpPr>
          <p:cNvPr id="21" name="decision">
            <a:extLst>
              <a:ext uri="{FF2B5EF4-FFF2-40B4-BE49-F238E27FC236}">
                <a16:creationId xmlns:a16="http://schemas.microsoft.com/office/drawing/2014/main" id="{AF1BBE9F-FDCB-E421-DE74-F0E2A55DA7AF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pt-BR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pt-BR" sz="1400">
                <a:solidFill>
                  <a:srgbClr val="1E1E1E"/>
                </a:solidFill>
                <a:latin typeface="Calibri" panose="020F0502020204030204" pitchFamily="34" charset="0"/>
              </a:rPr>
              <a:t> V</a:t>
            </a:r>
            <a:r>
              <a:rPr lang="pt-BR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pt-BR" sz="1400">
                <a:solidFill>
                  <a:srgbClr val="1E1E1E"/>
                </a:solidFill>
                <a:latin typeface="Calibri" panose="020F0502020204030204" pitchFamily="34" charset="0"/>
              </a:rPr>
              <a:t> = 75 V, N = 16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322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DAA86E2-ABD8-7079-286A-398D000D34C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9B789A-FE1C-FAD6-A853-A1D33E1B5FFE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Why not lower: every submodule costs parts and loss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1BBB8C71-F6B6-2A35-4FAA-0B784F0BFA2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38EE8874-3881-FBDA-8C6D-84F63FBC2D5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5BDE22D4-02F4-BC88-5004-E5414A3D59F3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45639295-13E8-9494-706D-7495DE43801B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81E7D9BF-4628-0B05-907A-97AE006539B3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32179051-F390-053E-8E7C-D6BD3EFB3BCC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F598EA3E-1173-4402-78C7-B122B90C9456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AE030003-CA40-F7ED-96F6-73DBBBD3F3C5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9F9FEDC3-5635-F5FD-6512-5F7C50A8F8D7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33D44C19-557C-47C3-FA3B-16A5F79ECD2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1D2E0131-33DA-0DCD-475E-D0FA812C50D5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E7F051EE-4C59-419B-DE25-71501BE419E7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EA5F01-699B-4D4A-76B0-969FE2105B3E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8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D3E29E4-B644-FE21-E32D-6ED86FCA50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461000" cy="329621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A79CFB0-882B-B766-F200-6F16C9B4D828}"/>
              </a:ext>
            </a:extLst>
          </p:cNvPr>
          <p:cNvSpPr txBox="1"/>
          <p:nvPr/>
        </p:nvSpPr>
        <p:spPr>
          <a:xfrm>
            <a:off x="6096000" y="1168400"/>
            <a:ext cx="5715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Phase current is fixed by P, 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Overshoot margin rechecked with the final layout (Q3D, 0.374 nH per cell on Rev A; Rev B in step 11)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79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81D6802B-AA3E-2D4C-1282-C42CA8168F29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962BD0-5E56-30C9-C897-CF94EBCB48F1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First-cut power loop of one cell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963E9-3677-96B8-E895-C5C0CFE74160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4  One device, one driver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AFD77F1B-1E8C-A524-983A-984B4E370FC8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C86E35AA-3BBD-F4C6-6E6D-0D7546BEC29E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38222AEA-ED6E-79D9-4C27-9D7770F273F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CE4EA9D6-A057-D741-8DA9-CEC186CE2807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9832D5FE-B854-996A-A432-F747CBE38CE2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BDE103BB-511C-CCA0-6D13-C6BC89A97D59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C0E91831-2103-995F-EFCF-FFE5146FA27F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160D1D68-A9F0-95CF-D158-8CCE09661C82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2E3BBE65-E744-503A-F49E-7FB6CD4D3E3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684D536C-057A-BC8D-5AE3-746BA28B3597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72C892EC-E2B4-BC54-A0CE-D265C2514FB4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3EAF6D74-27B5-AAC8-ABCC-6425ED83785F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F5FA42-BFFF-F144-18DD-D50A14AC6437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9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373FADF-9B3C-C9EF-A7CE-3AC7692B6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350000" cy="249061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8EE939-37C4-9C4C-E6D9-9F0E747BDB6C}"/>
              </a:ext>
            </a:extLst>
          </p:cNvPr>
          <p:cNvSpPr txBox="1"/>
          <p:nvPr/>
        </p:nvSpPr>
        <p:spPr>
          <a:xfrm>
            <a:off x="6921500" y="1168400"/>
            <a:ext cx="4889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Loop = PCB copper (vertical loop over 0.1 mm dielectric, vias, pads) + ESL of the local MLCCs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Copper alone ≈ 0.31 nH; MLCCs in parallel add ESL/n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c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1 / 2 / 4 / 6 MLCCs: 0.79 / 0.55 / 0.43 / 0.39 nH: beyond ≈ 4 the number hardly matters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Part: 1 µF 100 V X7S 0805 next to the drains</a:t>
            </a:r>
          </a:p>
        </p:txBody>
      </p:sp>
      <p:sp>
        <p:nvSpPr>
          <p:cNvPr id="21" name="decision">
            <a:extLst>
              <a:ext uri="{FF2B5EF4-FFF2-40B4-BE49-F238E27FC236}">
                <a16:creationId xmlns:a16="http://schemas.microsoft.com/office/drawing/2014/main" id="{6F403929-BA7F-D13A-ED82-A872D45DCBF4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Design with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loop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= 0.5 nH per cell (0.3 and 0.8 nH as bounds)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659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762BC61-7030-A926-DFAE-EE89C69A54D7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DCA9C7A-682C-DFD4-C3C1-33FE79175A80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One EPC2361 per switch: how fast and how much overshoot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214D5D32-1BA5-4A30-F9C0-AC2902DF7F89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9A6F0A1A-248E-7685-2188-E255E7D67AEB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0579F069-F6EE-D41F-D9C3-330EC17CAD1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E2181314-FD06-2E11-6D81-5A8C9D50C152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BCDAE02D-5960-3DB5-2EBD-4803AD9F2F99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DB7701A5-5425-C7EF-57F5-7F8705040B8E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B5720AD8-ADD7-B26F-84CE-7A78848D3CC8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8167BB73-7E1B-7E8A-CF2C-D006F45B1DAA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4D3D0B0F-EB5A-9006-3DCE-F9909DEC0722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700D3440-F6A4-DC21-D001-11CB653EE9A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AAE78A6E-7416-7DB4-0777-1C87F400ED32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95F06992-8E36-A0C8-00B8-DE2ADAAA7377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A9C360-B425-6ED1-8A41-1A9D9374A0B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10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748D4C4-B23B-169E-1B67-F220177834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257" y="1168400"/>
            <a:ext cx="5743486" cy="2921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D944B62-707B-D513-C442-3E3B3BD63F64}"/>
              </a:ext>
            </a:extLst>
          </p:cNvPr>
          <p:cNvSpPr txBox="1"/>
          <p:nvPr/>
        </p:nvSpPr>
        <p:spPr>
          <a:xfrm>
            <a:off x="381000" y="4216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LTspice half bridge, double pulse at 75 V: lumped loop, 1.7 nH gate loop, 0.03 nH common source, 2 Ω on / 0 Ω off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Turn-on di/dt set by the driver (≈ 45 A/ns); turn-off di/dt grows with current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0.5 nH: 83 V at 79 A, </a:t>
            </a: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101 V at 119 A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One device would carry 322 A peak ⇒ </a:t>
            </a:r>
            <a:r>
              <a:rPr lang="en-US" sz="1300" b="1">
                <a:solidFill>
                  <a:srgbClr val="1E1E1E"/>
                </a:solidFill>
                <a:latin typeface="Calibri" panose="020F0502020204030204" pitchFamily="34" charset="0"/>
              </a:rPr>
              <a:t>current per device ≤ 80 A</a:t>
            </a:r>
            <a:endParaRPr lang="sv-SE" sz="13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9937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E3720D5-407A-AAD9-A1ED-E92FD434F1A3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BCEDA81-5D34-2809-7E83-9AB5AA03D8AC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Thermal path per device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71013-7906-782B-84A7-B02A4B1706CC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5  Devices in parallel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CDE5A101-F76D-5282-3970-787644D1B5F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BF5FAA25-D4EB-16F6-719A-34478DE80F98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49195A95-84AA-F2A3-7DC5-0ACAA01FCCA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C0FF3DEC-E29E-3663-8326-87FCDEEF5296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A08022C0-C4CE-F961-7AF5-0CEF7572BC5F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E43D18F3-B261-21CE-DA4B-A7CC35270CBF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44E062DE-7396-55D9-E402-7BA21398FFD9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AFE429D0-6FCA-99AE-6E04-A6B2EB9BB540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429E90D1-ED3C-A0DB-8792-A84F54D0CE92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B719821E-46E5-21E0-BBE8-0E0C2DD4CEB7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34A4361B-D703-F4BF-F62D-B9BA9B4C53CD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A89B6903-56AE-8D08-D8CF-238DF6E50BE0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259DEC-67F8-DA2F-B717-F89DDC1B1393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11 / 37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F41D744-521A-29F2-39EC-7F3ED5C6E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11514"/>
              </p:ext>
            </p:extLst>
          </p:nvPr>
        </p:nvGraphicFramePr>
        <p:xfrm>
          <a:off x="381000" y="1168400"/>
          <a:ext cx="66040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0">
                  <a:extLst>
                    <a:ext uri="{9D8B030D-6E8A-4147-A177-3AD203B41FA5}">
                      <a16:colId xmlns:a16="http://schemas.microsoft.com/office/drawing/2014/main" val="37176636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24649409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Layer (top-side cooling, per device)</a:t>
                      </a:r>
                      <a:endParaRPr lang="sv-SE" sz="13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3254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el-GR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θ</a:t>
                      </a:r>
                      <a:r>
                        <a:rPr lang="sv-SE" sz="13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JC</a:t>
                      </a:r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35255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pl-PL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TIM 1, 50 µm, 3 W/mK, 15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1.11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08069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pl-PL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AlN 0.635 mm, 170 W/mK, 25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0.15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280439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pl-PL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TIM 2, 50 µm, 3 W/mK, 50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0.33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8588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cold plate, h = 10 kW/m²K, 100 mm²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1.00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0379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coupling to neighbours, coolant rise (+20 %)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1346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Junction–coolant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88818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239A8E6-4132-5481-30C0-59CA344F0BEF}"/>
              </a:ext>
            </a:extLst>
          </p:cNvPr>
          <p:cNvSpPr txBox="1"/>
          <p:nvPr/>
        </p:nvSpPr>
        <p:spPr>
          <a:xfrm>
            <a:off x="7302500" y="1168400"/>
            <a:ext cx="4508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Two TIM layers and the cold plate dominate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Used for the decisions: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3.4 K/W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, coolant 60 °C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Bounds: 2.1 K/W (sintered stack), 8 K/W (gap pad)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(T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) from the datasheet: 1.49 at 100 °C, 1.80 at 150 °C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3217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FB11199-16D7-A495-1757-AC810F1BD02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A9581E3-6E9F-192C-56F7-6C9A493AE84A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n identical cells per switch (one device and one driver each)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65AA36EE-DA4B-F612-6F4B-752DDDF5D52B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50A217A6-133C-5C16-9A29-7D3AD415B684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DF22DF03-031E-24FE-4EB8-24D4FD13CEDE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8E4030A6-A5CE-A783-7C45-4B87D1AA4693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1778CF7A-9303-4EB2-6128-2E0436687B0B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2060102E-2294-3874-E9C5-0CC583CD136D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9D5A3896-37A6-2106-6AF7-10502DA33971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0921F6E9-99EB-38C2-38E9-8FFA9F234FAA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B8941B7A-20C0-E7F4-C6B6-61A6A36D7711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AC76AF36-A81C-A1D5-D5A0-DD107C27753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050C2CDA-5E12-2320-8F95-9F202E5D2D23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608BB3B8-064A-8E68-C2E9-48980FB7220D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7FFC0D-0E4B-1F14-0A6E-E968D99EFDDE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12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D708B5-221C-2C11-501A-174A7993B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409" y="1168400"/>
            <a:ext cx="7951183" cy="3175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776F38-CD31-3BB5-C4A9-513C57992022}"/>
              </a:ext>
            </a:extLst>
          </p:cNvPr>
          <p:cNvSpPr txBox="1"/>
          <p:nvPr/>
        </p:nvSpPr>
        <p:spPr>
          <a:xfrm>
            <a:off x="381000" y="4406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228 A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rms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per leg, 50 kHz, T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and 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solved together; LTspice energies at 0.5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n = 1: T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&gt; 150 °C; n = 2: 33 W and 131 V; n = 3: 96 V at 0.5 nH; n = 4 / 8: 18 / 15 W per leg</a:t>
            </a:r>
          </a:p>
        </p:txBody>
      </p:sp>
      <p:sp>
        <p:nvSpPr>
          <p:cNvPr id="20" name="decision">
            <a:extLst>
              <a:ext uri="{FF2B5EF4-FFF2-40B4-BE49-F238E27FC236}">
                <a16:creationId xmlns:a16="http://schemas.microsoft.com/office/drawing/2014/main" id="{405F36AB-42ED-9086-ED6E-CD6EFAE91F2B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4 EPC2361 per switch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(V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and T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j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for all three 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th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; 4 splits into two equal pairs)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1955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4E612B1-20CC-0D9E-3DAB-1F9BB7BCD9CC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DAAD993-3FE4-ED10-860C-EE7AA7946D13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Where the loss comes from: line period and junction temperature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63B6CB55-A420-4CAD-178C-47F71B59E0E1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39E9106A-B510-08D7-FBFF-64D98DF4B589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1CF59F7D-76C2-F18C-97A3-89CCE1BBB238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98D5C1C8-86CF-9917-A00E-CD8E3728A98E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EAE5837C-8363-20CC-AF9B-C2D4731E4E4C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A3F65D15-6EB9-F03C-CDA9-E72ED0DA885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A933A645-91E8-B083-4998-9133FF9D3E1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4C7E6CDE-51E0-B55F-DB28-2B7814985523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72475D79-6F3F-D2A3-5E9C-B23B6428C835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FF4505E1-6974-5C07-3CF2-1873FB73ABE8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6F73513-6F5E-1804-F48B-96DCDA4FA8F1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DF6E96B1-204C-6A9B-0A07-D6FE1C77D2D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FFF8BF-A9B5-B579-8EA2-2FCF3F7F73CC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13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0683E4-D0A5-0D69-4B0A-B53F263C2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282" y="1168400"/>
            <a:ext cx="9215436" cy="3683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0E8DE01-7540-5CB3-E5E3-0E736D55966D}"/>
              </a:ext>
            </a:extLst>
          </p:cNvPr>
          <p:cNvSpPr txBox="1"/>
          <p:nvPr/>
        </p:nvSpPr>
        <p:spPr>
          <a:xfrm>
            <a:off x="381000" y="4978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 = 4, 50 kHz: switching loss follows |i| (plus a constant E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oss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Conduction loss at the operating point is 28 % above its 25 °C value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929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87405985-9840-1F99-BDCF-E2E2CC87E9E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7C55027-3764-FFD0-67EA-69DE9B0D09AB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Losses vs number in parallel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6FAEB7C6-5C0C-1E95-5697-00BE5D1CE2B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72DFCBBE-90F4-2D6B-3B00-5AB8C324AF74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30890B14-8791-DF6F-B715-F4B6EFBD4A5C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AB3817B5-CAF5-28C1-61DA-D05F8FA8D3E3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ADDF5DB7-0C64-151E-9E9B-5E01BCC67F05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FE98A3D-BEC7-E63D-48F8-E05BEF13429E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EC0CF312-8479-EFFE-EE57-737F0C61873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A2651878-3AFE-F91F-87A0-BCE635F5CAA6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7BABCDC3-7332-DB1A-63BE-C1AC9409E1E3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9B06AC2C-68C9-4016-F917-D740D7A8CDD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8AB1174C-5F7C-F8D4-540A-B74257AA2B15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969D7DFA-3E90-8E3B-F7F1-BB501DA901AC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2A744F-1021-1DE8-0378-B7231B60EE9D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14 / 37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30B57FC-9606-BCDA-A43D-BB2E210CD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3035614"/>
              </p:ext>
            </p:extLst>
          </p:nvPr>
        </p:nvGraphicFramePr>
        <p:xfrm>
          <a:off x="381000" y="1168400"/>
          <a:ext cx="11430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047955093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029684506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161104039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933785158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58984600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663623511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249121463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780954959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221771695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7014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Loss per leg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79.1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33.0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17.8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240888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 conduction at T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70.0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27.5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27173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 switching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5.4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18727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Efficiency (%)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98.73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99.47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99.65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7991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938066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j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72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057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Peak 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(V)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131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81617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20850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D4C7C36-A47B-6FF1-E786-741D72AB73E2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Semiconductor losses only, 3.4 K/W, 60 °C coolant, 0.5 nH, 50 kHz; efficiency relative to 6.25 kW per leg.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3966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EDCF279-C792-FC10-4BB1-B48CA1AEE85E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02E54BB-7252-C7C1-FF7B-1EEDF7654E18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Switching frequency: losses, DC-link capacitors, current ripple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9EA10-689A-5422-2058-A1BCF28F6615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6  Switching frequency and DC link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4DAC79A3-CBA0-0D01-88CE-C89C6FBC1DFA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9456598A-01C2-81FD-57A3-163666712CAD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F84DC2E1-A629-2E09-8891-5C9745961C67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3FA36A14-34A7-BBC9-F73A-B6250CD901A1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F8253C0E-B4A9-C15D-6F37-7323AA207FC8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4F631D4A-36F9-4EDD-64C1-3CEBE58D9EB1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37E406EC-EE95-D63B-1BA4-8FE194C0197B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372B4DE3-D764-D5D2-6FC2-E8509F97559C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C2EC12D1-4238-C39E-15A0-4855EEACFAC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63B4052A-C5FE-143F-7404-642A130399D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81192B09-5D5E-E3FF-011D-D2B2F8F53B5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2F772ED1-3543-C3D1-C3CB-F0A7FA56BF32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651B83-BCD2-C408-9CF6-E06FE85AAB0D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15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AEF672A-5CEF-BC50-6CFC-76AE3778B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9415" y="1168400"/>
            <a:ext cx="7033171" cy="2794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2B1E7EB-995F-16FF-96CA-F71F7B7D8AAE}"/>
              </a:ext>
            </a:extLst>
          </p:cNvPr>
          <p:cNvSpPr txBox="1"/>
          <p:nvPr/>
        </p:nvSpPr>
        <p:spPr>
          <a:xfrm>
            <a:off x="381000" y="4025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(a) n = 4: 99.77 / 99.72 / 99.63 % at 20 / 50 / 100 kHz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(b) Voltage ripple sets the MLCC count below ≈ 99 kHz, ripple current above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(c) Winding current ripple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i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pp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/(4 L</a:t>
            </a:r>
            <a:r>
              <a:rPr lang="el-GR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σ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f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) depends on the machine leakage inductance</a:t>
            </a:r>
          </a:p>
        </p:txBody>
      </p:sp>
      <p:sp>
        <p:nvSpPr>
          <p:cNvPr id="21" name="decision">
            <a:extLst>
              <a:ext uri="{FF2B5EF4-FFF2-40B4-BE49-F238E27FC236}">
                <a16:creationId xmlns:a16="http://schemas.microsoft.com/office/drawing/2014/main" id="{75D96C3E-2AD0-AA25-5332-B6F9805AF993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f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≥ 50 kHz (higher allowed by the machine); the DC link below is sized for 50 kHz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299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F9330F4-DAA9-5999-5C33-1FCCDBC8AFC6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36CC247-8C5F-1E6B-F3E2-559C02227293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Bypass capacitors: how many and how large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9A2B8D26-6EFE-CC44-9171-6BD43AF4EB10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847CAAAA-0F3B-C57F-4C46-D9D56E40F7A3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7724874F-37DF-BEDE-A230-408339454E01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8465C037-39DD-EE25-E804-C8F7627384CE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7FE94018-201E-F4B1-1277-5D57137338AE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D1D09DEF-BF06-5F2B-4A25-3D76F3F56C32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C920D3AB-0E5E-A984-0137-A423AE6DF55D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768DA3BD-977F-7332-ECC7-F407C75C9DEC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602C82CA-415C-B68D-C9A2-1A4F55319AC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6712D234-8DC2-E782-72F1-C46126050D79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168E357-2548-DD46-A244-ECB8BE2D11F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A0CF420E-CC35-5B1F-7966-2374D898AE36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26D7C8-8A05-4DA3-61AB-0041901AD6FC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16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BC8EF7-F5B5-3B2F-F29A-5CBE56D1A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95400"/>
            <a:ext cx="5080000" cy="200776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5108ABF-88E9-7115-0359-1D10D56EC45B}"/>
              </a:ext>
            </a:extLst>
          </p:cNvPr>
          <p:cNvSpPr txBox="1"/>
          <p:nvPr/>
        </p:nvSpPr>
        <p:spPr>
          <a:xfrm>
            <a:off x="5715000" y="1168400"/>
            <a:ext cx="6096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Bypass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(1 µF 0805) supplies the edge,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bank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(10 µF 1210) the f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ripple; per cell 81 A: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di/dt → number: L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Cu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+ ESL/n ≤ 0.5 nH ⇒ n ≥ 4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Edge charge </a:t>
            </a:r>
            <a:r>
              <a:rPr lang="el-GR" sz="12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Q = I(t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ri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/2 + t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vf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) + Q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oss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= 0.59 µC ⇒ 0.4 µF for 1.5 V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Hand-over to the bank through L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: C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bp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≥ L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(</a:t>
            </a:r>
            <a:r>
              <a:rPr lang="el-GR" sz="12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I/</a:t>
            </a:r>
            <a:r>
              <a:rPr lang="el-GR" sz="12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V)² = 2.9 µF (1 nH, 1.5 V): </a:t>
            </a:r>
            <a:r>
              <a:rPr lang="sv-SE" sz="1200" b="1">
                <a:solidFill>
                  <a:srgbClr val="C84632"/>
                </a:solidFill>
                <a:latin typeface="Calibri" panose="020F0502020204030204" pitchFamily="34" charset="0"/>
              </a:rPr>
              <a:t>sets the value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Checks: C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bp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≫ C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oss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; bypass–bank resonance ≈ 3 MHz ⇒ C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bank</a:t>
            </a:r>
            <a:r>
              <a:rPr lang="sv-SE" sz="1200">
                <a:solidFill>
                  <a:srgbClr val="1E1E1E"/>
                </a:solidFill>
                <a:latin typeface="Calibri" panose="020F0502020204030204" pitchFamily="34" charset="0"/>
              </a:rPr>
              <a:t> ≥ 10 C</a:t>
            </a:r>
            <a:r>
              <a:rPr lang="sv-SE" sz="1200" baseline="-25000">
                <a:solidFill>
                  <a:srgbClr val="1E1E1E"/>
                </a:solidFill>
                <a:latin typeface="Calibri" panose="020F0502020204030204" pitchFamily="34" charset="0"/>
              </a:rPr>
              <a:t>bp</a:t>
            </a:r>
          </a:p>
        </p:txBody>
      </p:sp>
      <p:sp>
        <p:nvSpPr>
          <p:cNvPr id="20" name="decision">
            <a:extLst>
              <a:ext uri="{FF2B5EF4-FFF2-40B4-BE49-F238E27FC236}">
                <a16:creationId xmlns:a16="http://schemas.microsoft.com/office/drawing/2014/main" id="{448050D1-283B-4817-E399-C4342BD6ED37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6 × 1 µF 0805 per cell (2.7 µF eff.), unchanged on Rev B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404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9C52EC5-0BEC-63FF-F934-A36CCE6E713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B7C0B0E-84CE-DB15-71A2-A6E052287756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DC link of the Rev B leg and of one 75 V level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32CFE09C-E8EC-28BF-D84C-B65EC01A4E9A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184B2A81-4187-D996-693F-C65A77165A1B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34ABF3E4-3CB9-42F9-051F-A8B63A323DB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CD2477DB-407E-C9C2-8557-134E62900ACF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E62AF865-BEA7-AC9A-969E-46E1EA7C75BE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EFA5D76-7289-EC56-0937-5CD08CD2A43F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0324FB47-8667-3B4F-4FF4-65A7BB9E94E6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674C5A49-C28D-FF3D-5286-A2EFE6F26FD3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B7CAA94E-5C6F-F25E-C80C-6DEAF6A74F2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F842E724-8E7A-E71C-D3A5-C011AD33C759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C17F43DD-88C5-E41F-A62B-CD29C80233F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8CA11E43-F471-2A61-F51A-448344E4FF24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6A4EA4-0CD0-D5CF-83B4-CB92083E704A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17 / 37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3328E1E-FF5E-BF0D-090F-7293815D45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065899"/>
              </p:ext>
            </p:extLst>
          </p:nvPr>
        </p:nvGraphicFramePr>
        <p:xfrm>
          <a:off x="381000" y="1168400"/>
          <a:ext cx="5969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309419126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52043580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402842634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0287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Bypass, 6 per cell × 4 cells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24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36924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63 × 10 µF 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630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51412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654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28763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Effective at 75 V (X7S, 30–45 %)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≈ 200–300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61858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7F13EF1F-71AF-2854-8EDF-2118187182D5}"/>
              </a:ext>
            </a:extLst>
          </p:cNvPr>
          <p:cNvSpPr txBox="1"/>
          <p:nvPr/>
        </p:nvSpPr>
        <p:spPr>
          <a:xfrm>
            <a:off x="6667500" y="1168400"/>
            <a:ext cx="5143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Three-phase: no 2f power ripple, only f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ripple ⇒ hundreds of µF, not mF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Cap RMS current per level (Kolar, M = 1.15, cos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φ = 0.9): ≈ 0.37 × 228 ≈ </a:t>
            </a:r>
            <a:r>
              <a:rPr lang="el-GR" sz="1300" b="1">
                <a:solidFill>
                  <a:srgbClr val="1E1E1E"/>
                </a:solidFill>
                <a:latin typeface="Calibri" panose="020F0502020204030204" pitchFamily="34" charset="0"/>
              </a:rPr>
              <a:t>85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A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, &lt; 1 A per 1210 part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Δ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pp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≈ Î/(8 f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C): one leg alone 3.2 V (4.3 %), </a:t>
            </a:r>
            <a:r>
              <a:rPr lang="sv-SE" sz="1300" b="1">
                <a:solidFill>
                  <a:srgbClr val="C84632"/>
                </a:solidFill>
                <a:latin typeface="Calibri" panose="020F0502020204030204" pitchFamily="34" charset="0"/>
              </a:rPr>
              <a:t>three legs sharing ≈ 1.1 V (1.4 %)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at 50 kHz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Bank ≥ 10 × bypass (240 µF): fulfilled</a:t>
            </a:r>
          </a:p>
        </p:txBody>
      </p:sp>
      <p:sp>
        <p:nvSpPr>
          <p:cNvPr id="19" name="decision">
            <a:extLst>
              <a:ext uri="{FF2B5EF4-FFF2-40B4-BE49-F238E27FC236}">
                <a16:creationId xmlns:a16="http://schemas.microsoft.com/office/drawing/2014/main" id="{A193101E-38F5-9AB0-ACBA-35EA12BF621C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Keep all footprints; three legs share one bus per level (step 10); depopulate after the ripple measurement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951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23B6C30-CB82-D7C1-8279-DF4CA80DB90D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7CD0B6D-7C1E-3374-C43D-A3B832064546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Can one driver drive all four?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220B05-9B97-6809-8D27-6D3887381B57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7  Gate drive: from 4 devices to a building block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555D7550-52E9-2F1F-9EF9-95906AD7CD21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3635DC0C-4452-41A4-E799-A0FCCBD2DA3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DEF77D0E-B327-1DD2-D31F-DDE038161E41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E57EA7F6-B8C0-2E3B-FB43-AC4DAEC1502C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D850A54E-B81F-5337-B39B-50089E744840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ABFEF8AA-036D-0992-B762-E83B694485D7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A7387CD0-5AFD-A0CC-0758-528DD2851B61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A743ADAE-FF0C-22BD-02C5-A67EC34BC581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219BE492-B0A7-E17C-D090-362DDD699BD2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005DAEBB-4330-3F74-F066-800AE3F399B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D63BF594-2CBA-53B0-F32E-44FCD54D8C77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2338669F-EEF9-4D78-A8D6-7586F3AEFCF6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DACD74-EB7E-3CDD-443C-79B1539B7836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18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483B9F-CE23-A7AB-F258-1549F1F982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858000" cy="215595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E7FDC7-7176-8392-826C-7C4C92BA51F2}"/>
              </a:ext>
            </a:extLst>
          </p:cNvPr>
          <p:cNvSpPr txBox="1"/>
          <p:nvPr/>
        </p:nvSpPr>
        <p:spPr>
          <a:xfrm>
            <a:off x="7429500" y="1168400"/>
            <a:ext cx="438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One channel for 3 / 4 / 6 transistors: E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per transistor +16 / +31 / +60 %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Peak sink current 12–14 A, above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Longer gate tree brings the gate bump back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One driver per device: symmetric, but 4 channels and supplies per switch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523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A1ADA3D-9DD4-9FF2-CD8B-2DD931ED0C8E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BCD9283-4D12-8D42-6ACC-4BA0FE94AD7B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Why symmetry: current-sharing sensitivity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0FBBA86E-8EEC-0C62-F7CA-4B4BB0C4A48F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E3FAE950-42D7-B1DB-824D-3DFD10805702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D5BB6C41-79DD-89D4-EF41-4E8425FB57C9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EC6949CB-65AA-3B18-F338-E92128B4F7A7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8F1F9740-9B2A-B70C-F37D-E6FB7A80610D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F79BE1D9-2B62-4B1E-7569-F2C637C09DBA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6FE24E36-BD99-F6F2-11C9-77515A884D6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1D0665AA-FF9A-F2F9-710E-13A9EBE5EB36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9F211BF9-513E-C7F1-D0E8-C4688B066FB4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26695E81-142D-F7F2-0B39-E63C28C2AA8C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5EC8DD1C-77BB-18C7-35FB-41160C336BFA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E1ABAD21-0BB6-E1EC-BF59-62E9E917E3D8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9B4896-240A-96CC-B5DE-D76415D07396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19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5FF57E5-1D3E-124C-D5BD-3BBC4B0B8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858000" cy="16589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921FAE9-DF3D-0FDD-5E1C-C32B25EDAE2B}"/>
              </a:ext>
            </a:extLst>
          </p:cNvPr>
          <p:cNvSpPr txBox="1"/>
          <p:nvPr/>
        </p:nvSpPr>
        <p:spPr>
          <a:xfrm>
            <a:off x="7429500" y="1168400"/>
            <a:ext cx="438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Static sharing is fine (R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DS(on)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has a positive TC)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Dynamic sharing is set by the gate circuits: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gate-loop mismatch 2 vs 8 nH → 19 % imbalance, 4:1 E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</a:p>
          <a:p>
            <a:pPr marL="800100" lvl="1" indent="-342900">
              <a:spcAft>
                <a:spcPts val="400"/>
              </a:spcAft>
              <a:buFont typeface="+mj-lt"/>
              <a:buChar char="–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common source without Kelvin → 29 %, 2.8 × E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⇒ star gate network with Kelvin returns, one driver channel per pair</a:t>
            </a:r>
          </a:p>
        </p:txBody>
      </p:sp>
    </p:spTree>
    <p:extLst>
      <p:ext uri="{BB962C8B-B14F-4D97-AF65-F5344CB8AC3E}">
        <p14:creationId xmlns:p14="http://schemas.microsoft.com/office/powerpoint/2010/main" val="26127246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9B6E0A1-6471-1863-CB1F-F8020B7179EA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EF2101-992A-6052-E6F8-7E80AECF7927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Gate bump and negative off-voltage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9DB40DBF-076B-D0BC-B71A-67C17224AAF1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3357104D-420B-FC07-262C-53B846ED31BF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6F3563EC-B8E6-4010-5023-4C2470F4C4AC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4CD128C0-344C-805E-445E-1200036047B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BEDF2061-3EEA-AEB2-86FE-41CC9AB1CA12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9930795-F3BB-2503-251B-B6D481D6C41A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9BF1BDB0-E569-0EE1-E1E8-D5DCCAB7852D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338A790D-1201-7CFE-0E5D-AAE5A7A96109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84AD3CA1-309C-E33A-B916-BDF38B75194A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4ED9629B-BC27-D4C3-D628-CD9A4335723F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6695328-7A2E-FC6A-D7C2-739DE42064A0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B86D12B6-5DB8-A479-5113-BBFCA126BDA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7BD0CD-B176-0E5A-1D0F-A5882665E66F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20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BE6DA78-B299-242C-DEC9-FA587F48A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588000" cy="14219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B22CA55-99AD-E7BE-5D90-01913848F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000" y="1168400"/>
            <a:ext cx="5588000" cy="19202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48C96D5-E606-E003-C965-0D9D564CF3C0}"/>
              </a:ext>
            </a:extLst>
          </p:cNvPr>
          <p:cNvSpPr txBox="1"/>
          <p:nvPr/>
        </p:nvSpPr>
        <p:spPr>
          <a:xfrm>
            <a:off x="381000" y="5041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Bump ≈ Q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GD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/C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≈ 1.06 V, independent of current and voltage; close to the 0.8 V minimum threshold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With ≈ −1.2 V off-voltage the peak falls to ≈ 0 V; undershoot −2.3 V (rating −4 V); dead-time loss +0.1 W per leg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376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03E422F-84B8-C627-2903-F295215C1C38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9C85291-F879-9063-658B-37E022AA061D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Building block: two mirrored cells, one centre driver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7DBA3BB4-EF5F-4E32-9279-63D44C3E16F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6D223E5B-0DE6-2046-3911-4CD65B7BC2AE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20F80276-B7C9-9449-BD75-F1864C8AF44F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DC82A362-F3BE-5488-4802-9AE6CA8C3C5D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F81FB17E-2279-FFC1-4CAC-E937707CA24E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67E89BE-55EC-5C31-DA6B-0E1757901FC2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63D2E32B-B5B6-9610-FBCD-C8CA7434F4DF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DB48CBF6-3EA1-5ECE-F2DD-2E6CA701A292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3268C00C-922B-6C4C-467E-E7ACA5FF4B45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089D957F-079B-85A9-FC18-CB9DB2612473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5FAC7928-244C-C2A4-CA78-61DC309FF830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D20091D0-CC44-E0B9-7DA8-39FAE344EB99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511097-7F45-3689-2DEA-6E46CC4E92A3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21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D8A7F1A-40EE-6B6D-5E08-97886C72B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5461000" cy="33357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2EAE144-48B5-6373-9266-F879534D01B1}"/>
              </a:ext>
            </a:extLst>
          </p:cNvPr>
          <p:cNvSpPr txBox="1"/>
          <p:nvPr/>
        </p:nvSpPr>
        <p:spPr>
          <a:xfrm>
            <a:off x="6096000" y="1168400"/>
            <a:ext cx="5715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Two cells mirrored about the driver: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One 2EDF7275K channel drives a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pair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symmetrically (star network, R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G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Each cell keeps its own commutation loop (0.374 nH per cell, Rev A Q3D)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Driver: 4 A / 8 A, separate turn-on (0.75 Ω) and turn-off (diode + 0 Ω) paths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decision">
            <a:extLst>
              <a:ext uri="{FF2B5EF4-FFF2-40B4-BE49-F238E27FC236}">
                <a16:creationId xmlns:a16="http://schemas.microsoft.com/office/drawing/2014/main" id="{6B2FCD18-2AF9-A02C-3D5E-C6C364F4A72F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Building block = 2 × EPC2361 per switch, one driver;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4 per switch = two blocks</a:t>
            </a:r>
            <a:endParaRPr lang="sv-SE" sz="14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36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CFE3A16-C792-DD8A-1FDC-A0B2F231A338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8CB1068-D1EC-E6BB-1927-C4599E70429B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Rev B: two blocks on one leg board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928E7-6C68-A8CE-BB3D-32D750DBC07F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000">
                <a:solidFill>
                  <a:srgbClr val="E8EFF8"/>
                </a:solidFill>
                <a:latin typeface="Calibri" panose="020F0502020204030204" pitchFamily="34" charset="0"/>
              </a:rPr>
              <a:t>8  Four per switch on one board</a:t>
            </a:r>
            <a:endParaRPr lang="sv-SE" sz="1000">
              <a:solidFill>
                <a:srgbClr val="E8EFF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FEB89615-E6EB-F285-6B27-6CFF2B0A44F5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E35CFF26-473C-A9C6-3DB1-ED99423CB361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3A7A7270-5D7A-81A5-DD03-D74CB4336BC1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19C2C063-EA75-AF4E-BC35-43BCF44FF34C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E62AD990-E64B-0296-9AF4-CC99755B2211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FFC00B48-9B3E-0A1F-3996-1357DE6C4E02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FD234938-AFCC-3B2A-10F9-3C8283C9AC30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96B2481B-9FF0-375D-62FC-8D5EB5A82F93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57037AA2-D1FD-4D35-06F8-662F75214CEA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7B9D825B-1D9C-4E60-8F64-2425B491770D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445D14C7-C3AD-B5A4-22C0-800719E35B83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54141A7F-97E3-F9FA-05AB-6D1095309ADD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6DCFE3-6663-5626-C03C-C68A12DA1F3F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22 / 37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60D410-E31E-1F70-E3DB-45B40789FD7C}"/>
              </a:ext>
            </a:extLst>
          </p:cNvPr>
          <p:cNvSpPr/>
          <p:nvPr/>
        </p:nvSpPr>
        <p:spPr>
          <a:xfrm>
            <a:off x="508000" y="1549400"/>
            <a:ext cx="5969000" cy="381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78787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60D11C-81E3-5DBB-B25B-B3E109BDF9F5}"/>
              </a:ext>
            </a:extLst>
          </p:cNvPr>
          <p:cNvSpPr txBox="1"/>
          <p:nvPr/>
        </p:nvSpPr>
        <p:spPr>
          <a:xfrm>
            <a:off x="571500" y="1587500"/>
            <a:ext cx="3810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en-US" sz="1100" b="1">
                <a:solidFill>
                  <a:srgbClr val="787878"/>
                </a:solidFill>
                <a:latin typeface="Calibri" panose="020F0502020204030204" pitchFamily="34" charset="0"/>
              </a:rPr>
              <a:t>Rev B leg board, 89.5 × 80 mm, 4 layers</a:t>
            </a:r>
            <a:endParaRPr lang="sv-SE" sz="1100" b="1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E4B85B7-FBCF-C867-04BA-A8006119B330}"/>
              </a:ext>
            </a:extLst>
          </p:cNvPr>
          <p:cNvCxnSpPr/>
          <p:nvPr/>
        </p:nvCxnSpPr>
        <p:spPr>
          <a:xfrm>
            <a:off x="762000" y="2057400"/>
            <a:ext cx="546100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8AB7DDA-194F-89C3-208E-76F9BC1926D1}"/>
              </a:ext>
            </a:extLst>
          </p:cNvPr>
          <p:cNvCxnSpPr/>
          <p:nvPr/>
        </p:nvCxnSpPr>
        <p:spPr>
          <a:xfrm>
            <a:off x="762000" y="2247900"/>
            <a:ext cx="546100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F3D2926-1376-EC34-EF9F-6251CAD92DB1}"/>
              </a:ext>
            </a:extLst>
          </p:cNvPr>
          <p:cNvSpPr txBox="1"/>
          <p:nvPr/>
        </p:nvSpPr>
        <p:spPr>
          <a:xfrm>
            <a:off x="762000" y="1803400"/>
            <a:ext cx="1524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sv-SE" sz="1000" b="1">
                <a:solidFill>
                  <a:srgbClr val="C84632"/>
                </a:solidFill>
                <a:latin typeface="Calibri" panose="020F0502020204030204" pitchFamily="34" charset="0"/>
              </a:rPr>
              <a:t>DC+ (DCP)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710320-52DF-8F89-FBF4-A0098B435917}"/>
              </a:ext>
            </a:extLst>
          </p:cNvPr>
          <p:cNvSpPr txBox="1"/>
          <p:nvPr/>
        </p:nvSpPr>
        <p:spPr>
          <a:xfrm>
            <a:off x="2286000" y="1803400"/>
            <a:ext cx="1524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sv-SE" sz="1000" b="1">
                <a:solidFill>
                  <a:srgbClr val="3264BE"/>
                </a:solidFill>
                <a:latin typeface="Calibri" panose="020F0502020204030204" pitchFamily="34" charset="0"/>
              </a:rPr>
              <a:t>DC− (DCN)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289F106-F46C-7B1F-D551-DA3A5ABA1BD8}"/>
              </a:ext>
            </a:extLst>
          </p:cNvPr>
          <p:cNvSpPr/>
          <p:nvPr/>
        </p:nvSpPr>
        <p:spPr>
          <a:xfrm>
            <a:off x="889000" y="2565400"/>
            <a:ext cx="1143000" cy="8890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1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CB56541-6862-147E-D4B4-2F304566DD08}"/>
              </a:ext>
            </a:extLst>
          </p:cNvPr>
          <p:cNvSpPr/>
          <p:nvPr/>
        </p:nvSpPr>
        <p:spPr>
          <a:xfrm>
            <a:off x="1079500" y="3581400"/>
            <a:ext cx="762000" cy="3556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1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A34EE7-AFF0-F981-479F-FE4930663CE6}"/>
              </a:ext>
            </a:extLst>
          </p:cNvPr>
          <p:cNvCxnSpPr/>
          <p:nvPr/>
        </p:nvCxnSpPr>
        <p:spPr>
          <a:xfrm>
            <a:off x="1270000" y="2057400"/>
            <a:ext cx="0" cy="5080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33053-E0E5-A5F7-D15D-5D0AB8B3E84B}"/>
              </a:ext>
            </a:extLst>
          </p:cNvPr>
          <p:cNvCxnSpPr/>
          <p:nvPr/>
        </p:nvCxnSpPr>
        <p:spPr>
          <a:xfrm>
            <a:off x="1651000" y="2247900"/>
            <a:ext cx="0" cy="3175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5BF216D-E63C-AAE5-F869-D2C572A61389}"/>
              </a:ext>
            </a:extLst>
          </p:cNvPr>
          <p:cNvCxnSpPr/>
          <p:nvPr/>
        </p:nvCxnSpPr>
        <p:spPr>
          <a:xfrm>
            <a:off x="1460500" y="3454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EC1DAA9-332B-8232-75B0-82AE099B917D}"/>
              </a:ext>
            </a:extLst>
          </p:cNvPr>
          <p:cNvCxnSpPr/>
          <p:nvPr/>
        </p:nvCxnSpPr>
        <p:spPr>
          <a:xfrm>
            <a:off x="1460500" y="4343400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54FC233-23D8-5B2F-D41F-F3CFBCE15143}"/>
              </a:ext>
            </a:extLst>
          </p:cNvPr>
          <p:cNvSpPr/>
          <p:nvPr/>
        </p:nvSpPr>
        <p:spPr>
          <a:xfrm>
            <a:off x="2286000" y="2565400"/>
            <a:ext cx="1143000" cy="8890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2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6180016-CA57-0870-12AC-E1E6A1E6E66F}"/>
              </a:ext>
            </a:extLst>
          </p:cNvPr>
          <p:cNvSpPr/>
          <p:nvPr/>
        </p:nvSpPr>
        <p:spPr>
          <a:xfrm>
            <a:off x="2476500" y="3581400"/>
            <a:ext cx="762000" cy="3556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2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413B49-FB20-A9E7-8665-298CFDE3DCE1}"/>
              </a:ext>
            </a:extLst>
          </p:cNvPr>
          <p:cNvCxnSpPr/>
          <p:nvPr/>
        </p:nvCxnSpPr>
        <p:spPr>
          <a:xfrm>
            <a:off x="2667000" y="2057400"/>
            <a:ext cx="0" cy="5080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D2F81E7-858B-3264-FD7F-1F233A09ED9D}"/>
              </a:ext>
            </a:extLst>
          </p:cNvPr>
          <p:cNvCxnSpPr/>
          <p:nvPr/>
        </p:nvCxnSpPr>
        <p:spPr>
          <a:xfrm>
            <a:off x="3048000" y="2247900"/>
            <a:ext cx="0" cy="3175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B7C9143-9D8A-FA55-57A9-63E3AB396CD8}"/>
              </a:ext>
            </a:extLst>
          </p:cNvPr>
          <p:cNvCxnSpPr/>
          <p:nvPr/>
        </p:nvCxnSpPr>
        <p:spPr>
          <a:xfrm>
            <a:off x="2857500" y="3454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2327C5F-A029-73D4-DA23-9214ADEF5779}"/>
              </a:ext>
            </a:extLst>
          </p:cNvPr>
          <p:cNvCxnSpPr/>
          <p:nvPr/>
        </p:nvCxnSpPr>
        <p:spPr>
          <a:xfrm>
            <a:off x="2857500" y="4343400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B7BA336-B6C6-8C17-536D-699372DC7EED}"/>
              </a:ext>
            </a:extLst>
          </p:cNvPr>
          <p:cNvSpPr/>
          <p:nvPr/>
        </p:nvSpPr>
        <p:spPr>
          <a:xfrm>
            <a:off x="3683000" y="2565400"/>
            <a:ext cx="1143000" cy="8890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3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76A3670-682F-2070-8CD5-C0E20BE758D6}"/>
              </a:ext>
            </a:extLst>
          </p:cNvPr>
          <p:cNvSpPr/>
          <p:nvPr/>
        </p:nvSpPr>
        <p:spPr>
          <a:xfrm>
            <a:off x="3873500" y="3581400"/>
            <a:ext cx="762000" cy="3556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3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7A8AC1B-9EB7-E885-F203-9EA0DB659ACB}"/>
              </a:ext>
            </a:extLst>
          </p:cNvPr>
          <p:cNvCxnSpPr/>
          <p:nvPr/>
        </p:nvCxnSpPr>
        <p:spPr>
          <a:xfrm>
            <a:off x="4064000" y="2057400"/>
            <a:ext cx="0" cy="5080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311283E-ADC6-8AB0-A20A-34DB10327029}"/>
              </a:ext>
            </a:extLst>
          </p:cNvPr>
          <p:cNvCxnSpPr/>
          <p:nvPr/>
        </p:nvCxnSpPr>
        <p:spPr>
          <a:xfrm>
            <a:off x="4445000" y="2247900"/>
            <a:ext cx="0" cy="3175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69E4B04-B6EF-249B-6E54-40C051FAABD3}"/>
              </a:ext>
            </a:extLst>
          </p:cNvPr>
          <p:cNvCxnSpPr/>
          <p:nvPr/>
        </p:nvCxnSpPr>
        <p:spPr>
          <a:xfrm>
            <a:off x="4254500" y="3454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F624DA3-F465-6FCC-6F48-25A945579CCA}"/>
              </a:ext>
            </a:extLst>
          </p:cNvPr>
          <p:cNvCxnSpPr/>
          <p:nvPr/>
        </p:nvCxnSpPr>
        <p:spPr>
          <a:xfrm>
            <a:off x="4254500" y="4343400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E9DB150-8D06-B26E-C8EE-6AFD458181BA}"/>
              </a:ext>
            </a:extLst>
          </p:cNvPr>
          <p:cNvSpPr/>
          <p:nvPr/>
        </p:nvSpPr>
        <p:spPr>
          <a:xfrm>
            <a:off x="5080000" y="2565400"/>
            <a:ext cx="1143000" cy="889000"/>
          </a:xfrm>
          <a:prstGeom prst="roundRect">
            <a:avLst/>
          </a:prstGeom>
          <a:solidFill>
            <a:srgbClr val="FAE9E6"/>
          </a:solidFill>
          <a:ln w="15875">
            <a:solidFill>
              <a:srgbClr val="C846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cell 4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HS + LS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EPC2361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C167DF9F-011D-208B-57AD-EC771FD1A1B2}"/>
              </a:ext>
            </a:extLst>
          </p:cNvPr>
          <p:cNvSpPr/>
          <p:nvPr/>
        </p:nvSpPr>
        <p:spPr>
          <a:xfrm>
            <a:off x="5270500" y="3581400"/>
            <a:ext cx="762000" cy="355600"/>
          </a:xfrm>
          <a:prstGeom prst="roundRect">
            <a:avLst/>
          </a:prstGeom>
          <a:solidFill>
            <a:srgbClr val="E2F3E8"/>
          </a:solidFill>
          <a:ln w="15875">
            <a:solidFill>
              <a:srgbClr val="148C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00">
                <a:solidFill>
                  <a:srgbClr val="1E1E1E"/>
                </a:solidFill>
                <a:latin typeface="Calibri" panose="020F0502020204030204" pitchFamily="34" charset="0"/>
              </a:rPr>
              <a:t>UFCS 4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3CE42CB-4007-A4ED-E168-CCCCF6CADCC5}"/>
              </a:ext>
            </a:extLst>
          </p:cNvPr>
          <p:cNvCxnSpPr/>
          <p:nvPr/>
        </p:nvCxnSpPr>
        <p:spPr>
          <a:xfrm>
            <a:off x="5461000" y="2057400"/>
            <a:ext cx="0" cy="508000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4C08D99-CEB6-6E9F-9E8F-601F1852A8CA}"/>
              </a:ext>
            </a:extLst>
          </p:cNvPr>
          <p:cNvCxnSpPr/>
          <p:nvPr/>
        </p:nvCxnSpPr>
        <p:spPr>
          <a:xfrm>
            <a:off x="5842000" y="2247900"/>
            <a:ext cx="0" cy="317500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ACDD662-079A-4FFC-A5A3-F1179654A930}"/>
              </a:ext>
            </a:extLst>
          </p:cNvPr>
          <p:cNvCxnSpPr/>
          <p:nvPr/>
        </p:nvCxnSpPr>
        <p:spPr>
          <a:xfrm>
            <a:off x="5651500" y="3454400"/>
            <a:ext cx="0" cy="12700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F19E8C-A191-8860-830E-1EC899CEF8C9}"/>
              </a:ext>
            </a:extLst>
          </p:cNvPr>
          <p:cNvCxnSpPr/>
          <p:nvPr/>
        </p:nvCxnSpPr>
        <p:spPr>
          <a:xfrm>
            <a:off x="5651500" y="4343400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D0628AE-DF47-D47A-583B-02CB430E1C82}"/>
              </a:ext>
            </a:extLst>
          </p:cNvPr>
          <p:cNvSpPr/>
          <p:nvPr/>
        </p:nvSpPr>
        <p:spPr>
          <a:xfrm>
            <a:off x="1460500" y="3987800"/>
            <a:ext cx="1270000" cy="330200"/>
          </a:xfrm>
          <a:prstGeom prst="roundRect">
            <a:avLst/>
          </a:prstGeom>
          <a:solidFill>
            <a:srgbClr val="E6F3E9"/>
          </a:solidFill>
          <a:ln w="15875">
            <a:solidFill>
              <a:srgbClr val="3C8C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1000">
                <a:solidFill>
                  <a:srgbClr val="1E1E1E"/>
                </a:solidFill>
                <a:latin typeface="Calibri" panose="020F0502020204030204" pitchFamily="34" charset="0"/>
              </a:rPr>
              <a:t>2EDF7275K #1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4113852-3148-EB28-4704-A76DA9E3CF4D}"/>
              </a:ext>
            </a:extLst>
          </p:cNvPr>
          <p:cNvSpPr/>
          <p:nvPr/>
        </p:nvSpPr>
        <p:spPr>
          <a:xfrm>
            <a:off x="4254500" y="3987800"/>
            <a:ext cx="1270000" cy="330200"/>
          </a:xfrm>
          <a:prstGeom prst="roundRect">
            <a:avLst/>
          </a:prstGeom>
          <a:solidFill>
            <a:srgbClr val="E6F3E9"/>
          </a:solidFill>
          <a:ln w="15875">
            <a:solidFill>
              <a:srgbClr val="3C8C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1000">
                <a:solidFill>
                  <a:srgbClr val="1E1E1E"/>
                </a:solidFill>
                <a:latin typeface="Calibri" panose="020F0502020204030204" pitchFamily="34" charset="0"/>
              </a:rPr>
              <a:t>2EDF7275K #2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4D4577A-5F68-64D8-B16B-F5E5F2C25DC3}"/>
              </a:ext>
            </a:extLst>
          </p:cNvPr>
          <p:cNvCxnSpPr/>
          <p:nvPr/>
        </p:nvCxnSpPr>
        <p:spPr>
          <a:xfrm>
            <a:off x="1143000" y="4533900"/>
            <a:ext cx="4508500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D3A068B-76D0-E4E0-D2F6-0B307831914C}"/>
              </a:ext>
            </a:extLst>
          </p:cNvPr>
          <p:cNvSpPr txBox="1"/>
          <p:nvPr/>
        </p:nvSpPr>
        <p:spPr>
          <a:xfrm>
            <a:off x="1016000" y="4597400"/>
            <a:ext cx="2413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en-US" sz="1000" b="1">
                <a:solidFill>
                  <a:srgbClr val="1E1E1E"/>
                </a:solidFill>
                <a:latin typeface="Calibri" panose="020F0502020204030204" pitchFamily="34" charset="0"/>
              </a:rPr>
              <a:t>AC joined in copper (all layers)</a:t>
            </a:r>
            <a:endParaRPr lang="sv-SE" sz="10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A460B63-DE90-0E78-B73A-DA83EE65B524}"/>
              </a:ext>
            </a:extLst>
          </p:cNvPr>
          <p:cNvCxnSpPr/>
          <p:nvPr/>
        </p:nvCxnSpPr>
        <p:spPr>
          <a:xfrm>
            <a:off x="3492500" y="4533900"/>
            <a:ext cx="0" cy="444500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E96644C-31F4-1730-849A-1BDB257A2E0C}"/>
              </a:ext>
            </a:extLst>
          </p:cNvPr>
          <p:cNvSpPr txBox="1"/>
          <p:nvPr/>
        </p:nvSpPr>
        <p:spPr>
          <a:xfrm>
            <a:off x="3619500" y="4787900"/>
            <a:ext cx="2794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r>
              <a:rPr lang="sv-SE" sz="1000">
                <a:solidFill>
                  <a:srgbClr val="1E1E1E"/>
                </a:solidFill>
                <a:latin typeface="Calibri" panose="020F0502020204030204" pitchFamily="34" charset="0"/>
              </a:rPr>
              <a:t>4 × M4 → Cu bar → LEM HO 250-S → load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EC8ED8F-561D-7C8B-E936-1E31A9526B0A}"/>
              </a:ext>
            </a:extLst>
          </p:cNvPr>
          <p:cNvSpPr txBox="1"/>
          <p:nvPr/>
        </p:nvSpPr>
        <p:spPr>
          <a:xfrm>
            <a:off x="6731000" y="1168400"/>
            <a:ext cx="508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Two Rev A blocks side by side: 4 cells, 2 drivers, star per pair unchanged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 b="1">
                <a:solidFill>
                  <a:srgbClr val="C84632"/>
                </a:solidFill>
                <a:latin typeface="Calibri" panose="020F0502020204030204" pitchFamily="34" charset="0"/>
              </a:rPr>
              <a:t>One DC link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(87 MLCCs) and </a:t>
            </a:r>
            <a:r>
              <a:rPr lang="en-US" sz="1400" b="1">
                <a:solidFill>
                  <a:srgbClr val="C84632"/>
                </a:solidFill>
                <a:latin typeface="Calibri" panose="020F0502020204030204" pitchFamily="34" charset="0"/>
              </a:rPr>
              <a:t>one switch node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: AC of all four cells joined in a full-width 4-layer copper bus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Single output stub through one aperture Hall sensor: the controller sees one phase current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UFCS shunt in every LS source: same board for double-pulse and back-to-back load test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No short-circuit protection (lab board)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661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A58ED43-29CB-F449-B46A-0C987C00B86F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0F27025-C4AA-D77A-C9D4-C7FFDDDE5BEB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Rev B leg board layout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ECAED6F1-7597-DD63-AA0D-22BDCBBB9B2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15C105E0-2B96-DD6D-D259-77AD0F05983D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C5C28F6A-6B73-37F3-5C9C-BC14E0C125A2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33BD566B-01DC-BDDA-A801-F2C32953D471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BC7F1F5B-EFF9-6CAF-8C76-81845ADAAD56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8380E16F-A870-D42F-5125-5D9DCDC59597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BDBCBD96-A8C7-F6E2-9469-B720F0C75ABB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A09E199E-48DD-CEFA-AE9D-98C5227851FB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D184AAD0-0A46-5E03-67F7-399138C8D233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3DB9C081-6067-7AE0-DA76-7024484FCC44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6F53210E-041E-B4AC-D793-A3DC3CEEC0CF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5EEDDA0B-5F58-0804-BE32-3C6F280E7E3F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B4250D-0775-45FD-2563-EFA00E48610A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23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5F9150-D45B-1F6E-6304-B9C05E3C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7620000" cy="42989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249103D-BAA7-39A0-A351-C23668B27CE6}"/>
              </a:ext>
            </a:extLst>
          </p:cNvPr>
          <p:cNvSpPr txBox="1"/>
          <p:nvPr/>
        </p:nvSpPr>
        <p:spPr>
          <a:xfrm>
            <a:off x="8191500" y="1168400"/>
            <a:ext cx="3619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89.5 × 80 mm, 4 layers, 236 parts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Cells at x = ±14.25 / ±33.25 mm, drivers at the block centres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Fischer LAM 4 heatsink rotated 90° (tube across the board) to clear the 27 mm shunts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DC terminals on the bottom edge, AC bus and terminals at the other edge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DRC 0 / 0 / 0; schematic generated from the PCB, netlist identical (0 problems)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631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C4E8FC8-6131-0954-5531-808D255B3F41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720D3AF-0E0D-A6B8-542F-55245C2B1818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Two blocks on one switch node: driver skew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7D934AF9-0E42-50E9-824F-F99F1B9CDC9D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CA31F5B0-6472-CA43-92AF-2586769D9AC0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A83A98F3-7A8F-A63C-867C-F48811DEFDCF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015F1C47-A11B-FB32-DCBE-7C435613FD3C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E5831482-98F1-7B2E-0F02-47D5C791E927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1B3B517E-702F-F03D-BDAA-AEDD847CF20F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E2F5E355-11C4-030F-A06F-C775357FAE3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82BCBA65-AE39-B12D-618D-414ED3782FD6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E18F94CA-34CA-3C98-AB07-78E83D52BF44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4DC6AB84-8013-8EE1-FEC4-6E133E5325A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C57DD08F-4AEE-351D-954D-D8FF66406861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B0105A4A-8E83-AFDA-912B-5A3083114548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9EF846-B184-6986-0CAC-9D372308260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24 / 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5D127E-385D-A3DE-AEA3-5BF2BEE6F179}"/>
              </a:ext>
            </a:extLst>
          </p:cNvPr>
          <p:cNvSpPr txBox="1"/>
          <p:nvPr/>
        </p:nvSpPr>
        <p:spPr>
          <a:xfrm>
            <a:off x="381000" y="1168400"/>
            <a:ext cx="660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Joining the AC in copper makes the inductance between the switch nodes of the two blocks (L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) small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If block 2 switches Δt later, block 1 takes ΔI ≈ 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m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·Δt /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until block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Q3D (Rev B copper, step 11):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= 1.14 nH (HS on) / 1.08 nH (LS on) ⇒ </a:t>
            </a:r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≈ 69 A per ns of skew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Rev A deck required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x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≳ 20 nH for two separate blocks; on one board the skew must be small instead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539BE7E-8B53-D1C8-2169-F65F38327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493341"/>
              </p:ext>
            </p:extLst>
          </p:nvPr>
        </p:nvGraphicFramePr>
        <p:xfrm>
          <a:off x="7302500" y="1295400"/>
          <a:ext cx="45085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722879754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184296203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093468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60448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same PCB, same CMC per block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41847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81048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U.FL V</a:t>
                      </a:r>
                      <a:r>
                        <a:rPr lang="en-US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</a:t>
                      </a:r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of both blocks, UFCS per cell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900339"/>
                  </a:ext>
                </a:extLst>
              </a:tr>
            </a:tbl>
          </a:graphicData>
        </a:graphic>
      </p:graphicFrame>
      <p:sp>
        <p:nvSpPr>
          <p:cNvPr id="19" name="decision">
            <a:extLst>
              <a:ext uri="{FF2B5EF4-FFF2-40B4-BE49-F238E27FC236}">
                <a16:creationId xmlns:a16="http://schemas.microsoft.com/office/drawing/2014/main" id="{B29C8992-E5B6-50D1-976B-030A264C2FEF}"/>
              </a:ext>
            </a:extLst>
          </p:cNvPr>
          <p:cNvSpPr/>
          <p:nvPr/>
        </p:nvSpPr>
        <p:spPr>
          <a:xfrm>
            <a:off x="381000" y="5969000"/>
            <a:ext cx="11430000" cy="533400"/>
          </a:xfrm>
          <a:prstGeom prst="roundRect">
            <a:avLst/>
          </a:prstGeom>
          <a:solidFill>
            <a:srgbClr val="EEF4FB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rtlCol="0" anchor="ctr">
            <a:noAutofit/>
          </a:bodyPr>
          <a:lstStyle/>
          <a:p>
            <a:r>
              <a:rPr lang="en-US" sz="1400" b="1">
                <a:solidFill>
                  <a:srgbClr val="1E1E1E"/>
                </a:solidFill>
                <a:latin typeface="Calibri" panose="020F0502020204030204" pitchFamily="34" charset="0"/>
              </a:rPr>
              <a:t>Decision: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Measure the per-cell current (UFCS) with both blocks switching; add delay trim in the C2000 if needed</a:t>
            </a:r>
            <a:endParaRPr lang="sv-SE" sz="14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4053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F0F16CD-2620-25EE-0BFC-B78EC4F4857A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72303CE-495F-832E-8E5A-0C8E91D93A1E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Gate supplies: two isolated supplies, Zener split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111FC3-7377-C51D-1D76-47FD3CE359E7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9  Supplies and measurement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7A99FB4B-23E9-F9A6-1C6F-5C560A22234B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DEE679F3-12B8-CB0A-1BEE-452392940B9F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B28FC076-47EE-EFDC-5D27-B75FC1EA11DB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787ABB11-975A-2E7E-0606-6AA07C0E6C31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EC7FDF75-F3AE-24F2-4DF7-05E8790C9F97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78691F88-4BC2-6DC6-23A0-6B11B241A38F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A65C2699-3B2E-E693-CEDD-8E2ABF7BB00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2808CFC9-AD21-ED05-CB34-D503801BC165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92FEC162-4BA9-444E-B598-1AD88950155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CC0095EA-2369-D2AF-691A-05BB557063C6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5ABE299D-5A5F-4ACB-6F03-AA23ADAFD2CA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C2CF473F-5245-DFAB-F4DF-4046CBF43409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EC30CF-974B-6586-E8EF-04725CD3EA1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25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EE48F47-7FC0-0F6C-8AC1-910DDB6AC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68400"/>
            <a:ext cx="6604000" cy="195143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F75CEE8-AE91-BBB5-724C-7A5BB6DA88ED}"/>
              </a:ext>
            </a:extLst>
          </p:cNvPr>
          <p:cNvSpPr txBox="1"/>
          <p:nvPr/>
        </p:nvSpPr>
        <p:spPr>
          <a:xfrm>
            <a:off x="7239000" y="1168400"/>
            <a:ext cx="457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5.1 V Zener VDD–S and 150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bias resistor S–VEE (Karakaya, METU 2020, Fig. 4.1):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GS,on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+5.1 V,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GS,off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−(V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ISO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e.g. V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ISO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= 6.3 V ⇒ −1.2 V off (bump mitigation); island decoupling 1 µF + 4.7 µF per rail</a:t>
            </a:r>
          </a:p>
        </p:txBody>
      </p:sp>
    </p:spTree>
    <p:extLst>
      <p:ext uri="{BB962C8B-B14F-4D97-AF65-F5344CB8AC3E}">
        <p14:creationId xmlns:p14="http://schemas.microsoft.com/office/powerpoint/2010/main" val="30941933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5FF4A8C-FEA1-02E6-1D83-15A39AB238D4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EF81B55-5218-3049-89DD-9554E6EFB089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Driver block: input filters, turn-on / turn-off paths, star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146A517C-43CB-8B62-D0D4-F7BC397A95A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FD68BFC9-47FA-997E-C69D-68856D66D3AE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F6069FFB-C89F-78A2-BA08-5C0BAFA72F34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B441B6FE-D309-12E5-532E-D2FEDCC20961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CA1C0DB7-9820-22D7-0793-78BB7520FBB1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B769ECBB-1998-9ECA-C022-F271FDD11D86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BE9862DD-4DEC-B8E0-A621-90AB63683AD7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C53084C1-A160-C895-E93B-123AC0B5741A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E22B4E69-202A-3E13-4AD4-488E782CD1F9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A32FA2E7-7488-9C50-48FF-10E1E8F0546A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A48738D-546B-6B2D-5CD8-1CC6AD42038E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F7488DB0-F302-1334-EEF8-5082F5C07A34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48D4EF-2211-D6A4-5A49-353DE1ACDDE2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26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2E7789A-62C0-7646-7360-DBD9E0FBFA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806" y="1168400"/>
            <a:ext cx="10042388" cy="3302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EA5B19A-2715-D440-CB53-58EC5A74F1A9}"/>
              </a:ext>
            </a:extLst>
          </p:cNvPr>
          <p:cNvSpPr txBox="1"/>
          <p:nvPr/>
        </p:nvSpPr>
        <p:spPr>
          <a:xfrm>
            <a:off x="381000" y="4597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47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/ 100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pF input filters, 10 k pull-downs, 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0.75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Ω,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OFF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0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+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Schottky, 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0.5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per transistor</a:t>
            </a:r>
          </a:p>
        </p:txBody>
      </p:sp>
    </p:spTree>
    <p:extLst>
      <p:ext uri="{BB962C8B-B14F-4D97-AF65-F5344CB8AC3E}">
        <p14:creationId xmlns:p14="http://schemas.microsoft.com/office/powerpoint/2010/main" val="32018782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D111266-4B51-17B0-4ADB-ACA603594A7B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039AA49-9C64-9413-EA87-6BAD18B5F770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Measurement and control</a:t>
            </a: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58BA4241-6E8B-EFC6-D5D8-AEE93B5D147A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2BCDCF33-C70A-CE6D-258E-5F1FF054331D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00851FE4-89BC-35AC-8E94-E377B441354C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F9BD9780-CDB7-7682-91D5-EFF1F0C9126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7CB1BAD9-8A7A-1FC0-CBA7-737DA65E5D17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63669914-3C88-3636-1214-67E662D5CB85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7ED87FD6-FC86-93FF-6D53-9C0E28CB063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4C405EA5-659C-FF73-3F25-43CA587D589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69AB8AF4-BB82-C60C-9CD1-34367496A41D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54606972-CFE1-ADB1-0CAC-9E9C527EA6DF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14DCF4AA-37C6-2196-3A94-9A3F0EDA0CD6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E76B8AF5-2460-725E-A856-D476CCA71EFB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F511C-5C1C-5079-50B4-3C780571DBE8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27 / 37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68C49CB-A5AC-54A5-03B4-9B105B4D2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707223"/>
              </p:ext>
            </p:extLst>
          </p:nvPr>
        </p:nvGraphicFramePr>
        <p:xfrm>
          <a:off x="381000" y="1168400"/>
          <a:ext cx="6604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148821955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4751009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50298311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8414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Cell current (DPT + load)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PMK UFCS-R001, 1 mΩ, 120 pH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LS source of each cell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84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LEM HO 250-S, ±625 A, 3.2 mV/A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Cu bar stub, JST to C2000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9464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U.FL, 0 </a:t>
                      </a:r>
                      <a:r>
                        <a:rPr lang="el-GR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Ω, 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bottom, at each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0971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V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DS</a:t>
                      </a:r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 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U.FL, 953 Ω (20:1 into 50 Ω)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bottom, at each cell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77673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Heatsink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NTC 10 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DC− domain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971831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2EEC5DD5-A40B-19C7-33AA-E719550CD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500" y="1168400"/>
            <a:ext cx="4508500" cy="61432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6F68ED-F98E-C622-50F9-9730ACE85748}"/>
              </a:ext>
            </a:extLst>
          </p:cNvPr>
          <p:cNvSpPr txBox="1"/>
          <p:nvPr/>
        </p:nvSpPr>
        <p:spPr>
          <a:xfrm>
            <a:off x="7302500" y="3073400"/>
            <a:ext cx="4508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UFCS continuous rating 50 A only up to +30 °C ambient: short load-test runs or forced 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No short-circuit protection on the board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8637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EC56EE3-8FB7-04F4-0ADB-663CFCE8A129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F2AB22E-1D72-60C2-7B48-57642C341FE2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Power stage schematic (generated, identical to the PCB)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7EB95AB3-836E-5EDB-59E8-75CA2196C670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1A632B03-5158-675F-2AA9-1B15B3C977AA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6607C61A-26FF-7F72-D2B8-2EBA6AA688D7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D82AA37F-1C58-A42A-106C-CC40D9342C55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96A9F663-4419-06EB-D0B9-3B96DB3C05A2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DC978A14-0704-9EC8-60BC-618386828583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CC065A83-0988-52DC-E642-7FADD167DA59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472C2856-64C2-48C3-A321-55030DCA541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5C58F073-2380-2F53-BF80-C50E327A7460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43AFD367-DE00-76F1-5B05-2894738593A8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295C4753-EDC9-89FC-A99E-E5E237D0EF6C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F7CBE2FB-065C-15AE-454C-58BB9D382E64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D4AD8-86AF-3AC6-41E3-F5ADAE67E52E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28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59E379-A2B7-BB30-ECB0-572D84383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99" y="1168400"/>
            <a:ext cx="11332001" cy="4191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9B772D3-BBC3-F258-06BD-C23EC6C2EF62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1000">
                <a:solidFill>
                  <a:srgbClr val="787878"/>
                </a:solidFill>
                <a:latin typeface="Calibri" panose="020F0502020204030204" pitchFamily="34" charset="0"/>
              </a:rPr>
              <a:t>scripts/make_kicad_sch_revb.py; check_sch_vs_pcb.py: 89 PCB nets, 0 problems</a:t>
            </a:r>
          </a:p>
        </p:txBody>
      </p:sp>
    </p:spTree>
    <p:extLst>
      <p:ext uri="{BB962C8B-B14F-4D97-AF65-F5344CB8AC3E}">
        <p14:creationId xmlns:p14="http://schemas.microsoft.com/office/powerpoint/2010/main" val="2444753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A6EA435-7BF3-1BD6-3BA6-BCDF157C47B5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C08DCE0-2F18-F3C9-4E4B-E3EAD28B0387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Three legs on one 75 V bus: what the bus must do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9FD062-EBFB-E79B-0562-7D488BE8416E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10  Three-phase DC bus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6E84CBFB-256F-BE55-0980-9C5521605F14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33C447A7-AC43-D3F2-276E-C8C5C3AD2FDC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538ED731-8A23-7DF6-5BBC-BCE640819227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E35898B5-CF2B-D722-232E-F7843C6CAA5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6E19BFA1-5AB1-DC70-FF69-2C5A1747563B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0FD312F2-7063-C9A7-12C8-D21BAFF1FD57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BD5D9320-A7D0-F750-FEEB-F4F4652C6E51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E4CFF913-D56A-7211-932C-D34D99677297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1CD6E39C-1F5D-83F1-0A27-B6E88D4D73A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BC8FD5A4-1184-09E6-6043-F1729A7B1A2D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53DC8B38-2B71-6733-42C3-842AB75ACB40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67779221-74FD-1663-8D13-87D89102E70F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203F68-F8AA-6F79-7915-FE1C62BC30FF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29 / 37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693992-E4C3-FEE3-1CAC-41EA6D014C81}"/>
              </a:ext>
            </a:extLst>
          </p:cNvPr>
          <p:cNvSpPr txBox="1"/>
          <p:nvPr/>
        </p:nvSpPr>
        <p:spPr>
          <a:xfrm>
            <a:off x="381000" y="1168400"/>
            <a:ext cx="660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The switching edge closes on each board (bypass + bank); the bus only carries the f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Sharing needs </a:t>
            </a:r>
            <a:r>
              <a:rPr lang="el-GR" sz="1400">
                <a:solidFill>
                  <a:srgbClr val="1E1E1E"/>
                </a:solidFill>
                <a:latin typeface="Calibri" panose="020F0502020204030204" pitchFamily="34" charset="0"/>
              </a:rPr>
              <a:t>ω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L</a:t>
            </a:r>
            <a:r>
              <a:rPr lang="sv-SE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bus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 ≪ 1/(</a:t>
            </a:r>
            <a:r>
              <a:rPr lang="el-GR" sz="1400">
                <a:solidFill>
                  <a:srgbClr val="1E1E1E"/>
                </a:solidFill>
                <a:latin typeface="Calibri" panose="020F0502020204030204" pitchFamily="34" charset="0"/>
              </a:rPr>
              <a:t>ω</a:t>
            </a: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C): at 50 kHz and ≈ 250 µF eff. per leg L ≪ 40 nH ⇒ </a:t>
            </a:r>
            <a:r>
              <a:rPr lang="sv-SE" sz="1400" b="1">
                <a:solidFill>
                  <a:srgbClr val="1E1E1E"/>
                </a:solidFill>
                <a:latin typeface="Calibri" panose="020F050202020403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400">
                <a:solidFill>
                  <a:srgbClr val="1E1E1E"/>
                </a:solidFill>
                <a:latin typeface="Calibri" panose="020F0502020204030204" pitchFamily="34" charset="0"/>
              </a:rPr>
              <a:t>All-MLCC banks joined by nH copper form a high-Q resonator ⇒ damping footprints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3F788B1-D754-71B3-34C6-6756BD2BFC2E}"/>
              </a:ext>
            </a:extLst>
          </p:cNvPr>
          <p:cNvSpPr/>
          <p:nvPr/>
        </p:nvSpPr>
        <p:spPr>
          <a:xfrm>
            <a:off x="7302500" y="1422400"/>
            <a:ext cx="1333500" cy="1143000"/>
          </a:xfrm>
          <a:prstGeom prst="roundRect">
            <a:avLst/>
          </a:prstGeom>
          <a:solidFill>
            <a:srgbClr val="E8EFF8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leg 1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(phase a)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Rev B board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332BE6-6FD8-B257-F61C-1F23D66954F6}"/>
              </a:ext>
            </a:extLst>
          </p:cNvPr>
          <p:cNvCxnSpPr/>
          <p:nvPr/>
        </p:nvCxnSpPr>
        <p:spPr>
          <a:xfrm>
            <a:off x="7683500" y="2565400"/>
            <a:ext cx="0" cy="508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57F6B5-9DED-27E1-2283-3988BFA86447}"/>
              </a:ext>
            </a:extLst>
          </p:cNvPr>
          <p:cNvCxnSpPr/>
          <p:nvPr/>
        </p:nvCxnSpPr>
        <p:spPr>
          <a:xfrm>
            <a:off x="8255000" y="2565400"/>
            <a:ext cx="0" cy="6350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6CA9313-1C52-7A65-40C9-E7C0B074E071}"/>
              </a:ext>
            </a:extLst>
          </p:cNvPr>
          <p:cNvSpPr/>
          <p:nvPr/>
        </p:nvSpPr>
        <p:spPr>
          <a:xfrm>
            <a:off x="8826500" y="1422400"/>
            <a:ext cx="1333500" cy="1143000"/>
          </a:xfrm>
          <a:prstGeom prst="roundRect">
            <a:avLst/>
          </a:prstGeom>
          <a:solidFill>
            <a:srgbClr val="E8EFF8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leg 2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(phase b)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Rev B board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21C56DC-753E-681A-303F-B6BB006736C9}"/>
              </a:ext>
            </a:extLst>
          </p:cNvPr>
          <p:cNvCxnSpPr/>
          <p:nvPr/>
        </p:nvCxnSpPr>
        <p:spPr>
          <a:xfrm>
            <a:off x="9207500" y="2565400"/>
            <a:ext cx="0" cy="508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DBAC78A-1791-1ECC-A60E-F496D033D8A1}"/>
              </a:ext>
            </a:extLst>
          </p:cNvPr>
          <p:cNvCxnSpPr/>
          <p:nvPr/>
        </p:nvCxnSpPr>
        <p:spPr>
          <a:xfrm>
            <a:off x="9779000" y="2565400"/>
            <a:ext cx="0" cy="6350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F26E203-6E90-A17C-3190-001F6DF0CF11}"/>
              </a:ext>
            </a:extLst>
          </p:cNvPr>
          <p:cNvSpPr/>
          <p:nvPr/>
        </p:nvSpPr>
        <p:spPr>
          <a:xfrm>
            <a:off x="10350500" y="1422400"/>
            <a:ext cx="1333500" cy="1143000"/>
          </a:xfrm>
          <a:prstGeom prst="roundRect">
            <a:avLst/>
          </a:prstGeom>
          <a:solidFill>
            <a:srgbClr val="E8EFF8"/>
          </a:solidFill>
          <a:ln w="15875">
            <a:solidFill>
              <a:srgbClr val="1954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leg 3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(phase c)</a:t>
            </a:r>
          </a:p>
          <a:p>
            <a:pPr algn="ctr"/>
            <a:r>
              <a:rPr lang="en-US" sz="1000">
                <a:solidFill>
                  <a:srgbClr val="1E1E1E"/>
                </a:solidFill>
                <a:latin typeface="Calibri" panose="020F0502020204030204" pitchFamily="34" charset="0"/>
              </a:rPr>
              <a:t>Rev B board</a:t>
            </a:r>
            <a:endParaRPr lang="sv-SE" sz="1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259DEC1-01B4-B7A5-F616-4CFC6DEF2130}"/>
              </a:ext>
            </a:extLst>
          </p:cNvPr>
          <p:cNvCxnSpPr/>
          <p:nvPr/>
        </p:nvCxnSpPr>
        <p:spPr>
          <a:xfrm>
            <a:off x="10731500" y="2565400"/>
            <a:ext cx="0" cy="508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47D463F-A740-F41F-733E-E2010C0E91D1}"/>
              </a:ext>
            </a:extLst>
          </p:cNvPr>
          <p:cNvCxnSpPr/>
          <p:nvPr/>
        </p:nvCxnSpPr>
        <p:spPr>
          <a:xfrm>
            <a:off x="11303000" y="2565400"/>
            <a:ext cx="0" cy="6350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6FB2D2-93D2-0DDF-B872-7CC2F4BFFDD4}"/>
              </a:ext>
            </a:extLst>
          </p:cNvPr>
          <p:cNvCxnSpPr/>
          <p:nvPr/>
        </p:nvCxnSpPr>
        <p:spPr>
          <a:xfrm>
            <a:off x="7239000" y="3073400"/>
            <a:ext cx="4508500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1EA3BD-647C-4E8F-94B2-0D0964E94EFD}"/>
              </a:ext>
            </a:extLst>
          </p:cNvPr>
          <p:cNvCxnSpPr/>
          <p:nvPr/>
        </p:nvCxnSpPr>
        <p:spPr>
          <a:xfrm>
            <a:off x="7239000" y="3200400"/>
            <a:ext cx="4508500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EB2FC91-F3F5-8D6A-FD77-D51DACC957E0}"/>
              </a:ext>
            </a:extLst>
          </p:cNvPr>
          <p:cNvSpPr txBox="1"/>
          <p:nvPr/>
        </p:nvSpPr>
        <p:spPr>
          <a:xfrm>
            <a:off x="7302500" y="3302000"/>
            <a:ext cx="4445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pPr algn="ctr"/>
            <a:r>
              <a:rPr lang="en-US" sz="1000" b="1">
                <a:solidFill>
                  <a:srgbClr val="1E1E1E"/>
                </a:solidFill>
                <a:latin typeface="Calibri" panose="020F0502020204030204" pitchFamily="34" charset="0"/>
              </a:rPr>
              <a:t>laminated PCB busbar (L1 + / L2 − / L3 + / L4 −)</a:t>
            </a:r>
            <a:endParaRPr lang="sv-SE" sz="1000" b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AF350FD-27E0-ECEF-066B-83975DEFA3C3}"/>
              </a:ext>
            </a:extLst>
          </p:cNvPr>
          <p:cNvCxnSpPr/>
          <p:nvPr/>
        </p:nvCxnSpPr>
        <p:spPr>
          <a:xfrm>
            <a:off x="9334500" y="3200400"/>
            <a:ext cx="0" cy="7620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896B964-A50A-1B8C-F10E-935BE8A6851C}"/>
              </a:ext>
            </a:extLst>
          </p:cNvPr>
          <p:cNvSpPr txBox="1"/>
          <p:nvPr/>
        </p:nvSpPr>
        <p:spPr>
          <a:xfrm>
            <a:off x="8064500" y="4025900"/>
            <a:ext cx="2794000" cy="323165"/>
          </a:xfrm>
          <a:prstGeom prst="rect">
            <a:avLst/>
          </a:prstGeom>
          <a:noFill/>
        </p:spPr>
        <p:txBody>
          <a:bodyPr vert="horz" wrap="square" lIns="25400" tIns="0" rtlCol="0">
            <a:noAutofit/>
          </a:bodyPr>
          <a:lstStyle/>
          <a:p>
            <a:pPr algn="ctr"/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stack lugs at the centre leg</a:t>
            </a:r>
          </a:p>
          <a:p>
            <a:pPr algn="ctr"/>
            <a:r>
              <a:rPr lang="en-US" sz="1000">
                <a:solidFill>
                  <a:srgbClr val="787878"/>
                </a:solidFill>
                <a:latin typeface="Calibri" panose="020F0502020204030204" pitchFamily="34" charset="0"/>
              </a:rPr>
              <a:t>to the levels above / below</a:t>
            </a:r>
            <a:endParaRPr lang="sv-SE" sz="1000">
              <a:solidFill>
                <a:srgbClr val="7878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1831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7025AB1-1BC8-C1D2-D63E-476FAAC93B1A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E521924-EC28-673B-E637-65B36976C349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PCB busbar: easy to manufacture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3EBC72D2-40C1-17B1-4226-9E29A5FEE329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23381C56-DE46-D9D8-698A-C86762EEBE00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8BFCF05A-EED7-59C2-ED87-3AC0DE7A8A38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72DD507F-EE64-E49A-EF00-4F575DE0637C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9C4D2F1F-3978-7CF9-E622-3F1B8B2B6005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B39E2C7D-D690-EE7F-FFBA-B6FC783E2506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8823C7FA-9C0C-FC01-1457-3D8E4F292D5A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AD25EADF-0DB4-8E2D-66FE-155F45FA9814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3F4A178A-37BA-C296-E88B-33A94283462A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00CE2E6A-2526-D0F6-96C1-DA4A39E981BD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ABD9C07D-5125-51DF-BF11-48CE2FDCDF49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4659E283-D22E-9DB3-58D9-1E82AEFAD9A7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D6AEFE-E2A8-F8DA-A053-1987CDBAFD3B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30 / 37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E4C969A-2657-C1AC-9A52-9AAB1C4173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262" y="1168400"/>
            <a:ext cx="4955475" cy="1778000"/>
          </a:xfrm>
          <a:prstGeom prst="rect">
            <a:avLst/>
          </a:prstGeom>
        </p:spPr>
      </p:pic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6DE795A-53CC-31E1-DED1-5C5135B69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676725"/>
              </p:ext>
            </p:extLst>
          </p:nvPr>
        </p:nvGraphicFramePr>
        <p:xfrm>
          <a:off x="381000" y="3136900"/>
          <a:ext cx="5461000" cy="195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42652386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0623314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158649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584336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33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7465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 × M4 onto the REDCUBE faces (6.5 mm)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2348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 × M6 lug pads at the centre leg (92 vias each)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98274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134832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EED99534-CAAA-11C4-BBF7-5C2A5608A2DE}"/>
              </a:ext>
            </a:extLst>
          </p:cNvPr>
          <p:cNvSpPr txBox="1"/>
          <p:nvPr/>
        </p:nvSpPr>
        <p:spPr>
          <a:xfrm>
            <a:off x="6159500" y="3136900"/>
            <a:ext cx="5651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Estimate (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μ</a:t>
            </a:r>
            <a:r>
              <a:rPr lang="el-GR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0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·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d·l/w):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0.28 nH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R per polarity and leg segment 0.27 m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(2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oz) ⇒ 7.5 W at 83 A per leg (3 oz: 5.0 W, 4 oz: 3.7 W)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Generated: scripts/make_kicad_busbar.py, DRC clean</a:t>
            </a:r>
          </a:p>
        </p:txBody>
      </p:sp>
    </p:spTree>
    <p:extLst>
      <p:ext uri="{BB962C8B-B14F-4D97-AF65-F5344CB8AC3E}">
        <p14:creationId xmlns:p14="http://schemas.microsoft.com/office/powerpoint/2010/main" val="1063755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7F30F0B-34DC-F4A2-5699-39F6D1E8D120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145C2D8-2D0E-190C-7EE9-9351DC139A33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Q3D: Rev B commutation loop per cell, with the shunt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F51DDA-477B-E2A6-F24A-5A7FC19D08CD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11  Verification (Q3D)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5A4CF2B6-C077-732A-9CC3-A5B688040642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9B3D24DC-369E-5234-25F2-6B0F76ECE7B3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C93E0A31-F8DF-E527-20C8-93E8046F5952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24C37B49-E40D-9E9E-9164-E6BD7A084038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D544E77D-5114-83CE-BD7C-938A579EFB23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504CD1B7-09FF-717A-4E7D-DE2AB83963DD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06638E60-01FF-55AA-92A4-2FC4123350F2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D5A75629-8C1A-188E-113F-12489B17098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EDA8C127-C0BB-D200-E962-DA3329AFC73B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90058539-7CA1-B7BC-D3C0-72E579A78188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CCED1F12-2186-BB3B-5572-DB21C6B966E0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AE8768D6-5A18-6487-C905-AB1B5376440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9E85A0-6ECA-C8E8-1E31-1C2E63052F65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31 / 37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90E4696-75C6-39C4-7C36-0D2F0440B1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912150"/>
              </p:ext>
            </p:extLst>
          </p:nvPr>
        </p:nvGraphicFramePr>
        <p:xfrm>
          <a:off x="381000" y="1168400"/>
          <a:ext cx="7112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27395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3629355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4252955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98758837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640971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Configuration (all four LS switching)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9639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local MLCCs, shunt 0 pH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7862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local MLCCs + shunt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0530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local + bank, shunt 0 pH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0.66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62445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local + bank + shunt (120 pH)</a:t>
                      </a:r>
                      <a:endParaRPr lang="sv-SE" sz="1200" b="1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77024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F85A3C0-E731-7156-868F-07D9A3ABD5D7}"/>
              </a:ext>
            </a:extLst>
          </p:cNvPr>
          <p:cNvSpPr txBox="1"/>
          <p:nvPr/>
        </p:nvSpPr>
        <p:spPr>
          <a:xfrm>
            <a:off x="381000" y="3073400"/>
            <a:ext cx="711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Rev A: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0.374 nH per cell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(same definition); Rev B mean: </a:t>
            </a:r>
            <a:r>
              <a:rPr lang="sv-SE" sz="1300" b="1">
                <a:solidFill>
                  <a:srgbClr val="1E1E1E"/>
                </a:solidFill>
                <a:latin typeface="Calibri" panose="020F0502020204030204" pitchFamily="34" charset="0"/>
              </a:rPr>
              <a:t>0.84 nH per cell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Increase = UFCS 120 pH + the LS source copper detour to the shunt pads; cells 1/3 (outer side of each block) are higher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Overshoot at 30 A/ns: v̂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≈ 75 V + L·di/dt = </a:t>
            </a:r>
            <a:r>
              <a:rPr lang="sv-SE" sz="1300" b="1">
                <a:solidFill>
                  <a:srgbClr val="C84632"/>
                </a:solidFill>
                <a:latin typeface="Calibri" panose="020F0502020204030204" pitchFamily="34" charset="0"/>
              </a:rPr>
              <a:t>100 V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(target ≤ 90 V)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9AF4CB-5BCE-CBB5-C8FE-DAADBFBA045D}"/>
              </a:ext>
            </a:extLst>
          </p:cNvPr>
          <p:cNvSpPr txBox="1"/>
          <p:nvPr/>
        </p:nvSpPr>
        <p:spPr>
          <a:xfrm>
            <a:off x="7747000" y="1168400"/>
            <a:ext cx="406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Routed Rev B copper: DCP, DCN, AC, LSRC1–4, ≈ 900 vias; 100 MHz; MLCC ESL 0.48 / 0.5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Result from AC adaptive pass 2 (solve still converging)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Options: slower turn-on (R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ON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, ≈ 20 A/ns ⇒ ≤ 90 V), shorten the LS source → shunt path, or accept the shunt for the DPT only (0 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link in the load test)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22919C-3D9C-06C2-2F61-ACD8CB787E67}"/>
              </a:ext>
            </a:extLst>
          </p:cNvPr>
          <p:cNvSpPr txBox="1"/>
          <p:nvPr/>
        </p:nvSpPr>
        <p:spPr>
          <a:xfrm>
            <a:off x="381000" y="628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1000">
                <a:solidFill>
                  <a:srgbClr val="787878"/>
                </a:solidFill>
                <a:latin typeface="Calibri" panose="020F0502020204030204" pitchFamily="34" charset="0"/>
              </a:rPr>
              <a:t>simulation/bb_q3d: revb_export.py, bb_q3d_revb.py, sd2matrix.py, revb_post.py (values in nH)</a:t>
            </a:r>
          </a:p>
        </p:txBody>
      </p:sp>
    </p:spTree>
    <p:extLst>
      <p:ext uri="{BB962C8B-B14F-4D97-AF65-F5344CB8AC3E}">
        <p14:creationId xmlns:p14="http://schemas.microsoft.com/office/powerpoint/2010/main" val="33407082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713D272-F548-FF1C-B29A-CC8BC3F01C46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CFC6C4A-CCFC-3701-C7A9-32503D4B65CA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Q3D: static current sharing and copper loss of the leg board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7E316080-E427-3CA5-25CA-CCB47311251A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E3895ACB-87F0-BA9F-295E-895818E660BC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F1275CCB-BD4C-CC96-D48F-53DB93EB29DA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7E4D44CB-4419-0965-A8D7-12D9EB84F695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7E8F315E-D4E6-CDD1-C163-534D37701B41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76241D18-36D1-E132-2B39-E74F18C0EC1E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F9D60EAB-3C15-F1F7-04E9-97A9053BD09C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7DF022E3-BA8B-5CAF-56BE-2AD657EBD774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F88FBE31-2BFF-DC9E-FD31-D1476B73263A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E34EB2C7-31A0-FBBD-8D68-F6E07F0DCDE9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62E14A5D-25C9-F88A-B273-2A829BD940F8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7D26EFFF-9BFC-4F33-024A-5AC4333FC0FA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F0F73-852E-CE2D-7CA6-9BF0CE0967C4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32 / 37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EE14669-FA19-067D-5F33-33CD9F620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205706"/>
              </p:ext>
            </p:extLst>
          </p:nvPr>
        </p:nvGraphicFramePr>
        <p:xfrm>
          <a:off x="381000" y="1168400"/>
          <a:ext cx="1143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542803286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89268993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11727601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70326345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20915605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 total (m</a:t>
                      </a: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Ω)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 copper (m</a:t>
                      </a: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Ω)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current share cell 1 / 2 / 3 / 4</a:t>
                      </a:r>
                      <a:endParaRPr lang="sv-SE" sz="12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6479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0.98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0.70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20 % / 29 % / 23 % / 28 %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1.48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25209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1.38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20 % / 29 % / 24 % / 28 %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474800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E9EE5B7-D662-3C28-374E-6DE4A7DDAADA}"/>
              </a:ext>
            </a:extLst>
          </p:cNvPr>
          <p:cNvSpPr txBox="1"/>
          <p:nvPr/>
        </p:nvSpPr>
        <p:spPr>
          <a:xfrm>
            <a:off x="381000" y="2438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Converged DC solve; FET 0.75 m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 × 1.49 (100 °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C), shunt 1 m</a:t>
            </a:r>
            <a:r>
              <a:rPr lang="el-GR" sz="1300">
                <a:solidFill>
                  <a:srgbClr val="1E1E1E"/>
                </a:solidFill>
                <a:latin typeface="Calibri" panose="020F0502020204030204" pitchFamily="34" charset="0"/>
              </a:rPr>
              <a:t>Ω; 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DC terminals joined (bus), AC terminals joined (bar)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Board copper loss at 228 A</a:t>
            </a:r>
            <a:r>
              <a:rPr lang="sv-SE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rms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: </a:t>
            </a:r>
            <a:r>
              <a:rPr lang="sv-SE" sz="1300" b="1">
                <a:solidFill>
                  <a:srgbClr val="C84632"/>
                </a:solidFill>
                <a:latin typeface="Calibri" panose="020F0502020204030204" pitchFamily="34" charset="0"/>
              </a:rPr>
              <a:t>40 W per leg</a:t>
            </a: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 (semiconductors ≈ 18 W); shunts ≈ 6.5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Static sharing is uneven: the inner cells (2, 4) carry ≈ 29 %, the outer cells (1, 3) ≈ 20–23 % ⇒ hotter inner cells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Cause: the copper path from each cell to the joined AC bus and to the DC terminals differs (cell position, AC columns on L3/L4)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Next layout iteration: widen the outer-cell AC columns / add AC copper on L1–L2, 2 oz → 3 oz, symmetric DC terminal placement</a:t>
            </a:r>
          </a:p>
        </p:txBody>
      </p:sp>
    </p:spTree>
    <p:extLst>
      <p:ext uri="{BB962C8B-B14F-4D97-AF65-F5344CB8AC3E}">
        <p14:creationId xmlns:p14="http://schemas.microsoft.com/office/powerpoint/2010/main" val="3888626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31885A7-D7BC-C3FF-A32C-872CE8428013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740ECEE-4F0C-8352-DBCC-D36C9290C8CE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Main PCB: findings from the Q3D extraction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27F6C914-37AF-A630-4036-FC9C08370406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9DD5F176-FE30-9762-F282-9A92DDD16A81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2F0F35E7-D3B0-5D4E-EC10-BE5B66BF25FE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0F4ABC95-6E4F-01CA-C37E-29FDAFA46124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42FBFB85-DD37-37F3-F7C3-81946AA6A930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9934E34E-629A-CD43-C917-DDD00B0EF0E8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5790F8F1-9845-76A1-5D45-1D5EA6F510A7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0E91DA91-2EAF-EEC6-895A-3ADAAAD6C6A4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15955B8A-CB42-C155-3AC1-05772E9856B9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18B24099-790E-E2E6-3761-44F43733FC40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D73E8DC1-5DFE-E9CE-5D49-C67C7B76D1C2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53D5A5F9-A189-ECEA-8318-676E1429EFA6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97A53-499F-8D66-BEDA-8C975A9BE466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33 / 37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A8145034-AA7F-A96C-472F-D0A625B33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4184012"/>
              </p:ext>
            </p:extLst>
          </p:nvPr>
        </p:nvGraphicFramePr>
        <p:xfrm>
          <a:off x="381000" y="1168400"/>
          <a:ext cx="11430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121967190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61070413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103478958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39334554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Rev B (Q3D)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Target / Rev A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3677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0.84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0.5 nH design, 0.374 nH Rev A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slower turn-on or shorter shunt path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41152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Static sharing, max/min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48 % above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&lt; 10 %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layout iteration of the AC/DC copper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51997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Board copper loss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40 W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≈ 11 W (2 × Rev A block)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more copper, shorter paths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5422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Block-to-block L</a:t>
                      </a:r>
                      <a:r>
                        <a:rPr lang="sv-SE" sz="1200" baseline="-250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1.1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≳ 20 nH (Rev A deck)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69 A per ns driver skew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34889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09F0A7B4-BCA3-E741-FBA1-AAF90127D2D4}"/>
              </a:ext>
            </a:extLst>
          </p:cNvPr>
          <p:cNvSpPr txBox="1"/>
          <p:nvPr/>
        </p:nvSpPr>
        <p:spPr>
          <a:xfrm>
            <a:off x="381000" y="3517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The Rev B board works electrically (DRC clean, schematic = PCB) and is a good </a:t>
            </a:r>
            <a:r>
              <a:rPr lang="en-US" sz="1300" b="1">
                <a:solidFill>
                  <a:srgbClr val="C84632"/>
                </a:solidFill>
                <a:latin typeface="Calibri" panose="020F0502020204030204" pitchFamily="34" charset="0"/>
              </a:rPr>
              <a:t>measurement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board (UFCS per cell, U.FL)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Before a production-oriented layout: fix the sharing and loss (AC bus copper), and the driver skew (common PWM, delay trim, or a few nH between the blocks)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The double-pulse test on Rev B measures exactly these: per-cell current (UFCS),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DS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overshoot (U.FL), V</a:t>
            </a:r>
            <a:r>
              <a:rPr lang="en-US" sz="1300" baseline="-25000">
                <a:solidFill>
                  <a:srgbClr val="1E1E1E"/>
                </a:solidFill>
                <a:latin typeface="Calibri" panose="020F0502020204030204" pitchFamily="34" charset="0"/>
              </a:rPr>
              <a:t>GS</a:t>
            </a: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 of both blocks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6022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2FE610F-B3CB-D390-6305-D5FAB0B09683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A2C1C91-EF55-C95B-53A7-21FE5F5C11EC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Q3D: three legs on the PCB busbar</a:t>
            </a:r>
            <a:endParaRPr lang="sv-SE" sz="2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flow1">
            <a:extLst>
              <a:ext uri="{FF2B5EF4-FFF2-40B4-BE49-F238E27FC236}">
                <a16:creationId xmlns:a16="http://schemas.microsoft.com/office/drawing/2014/main" id="{05AFBE78-A2DB-0ED5-AB71-15989D279643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5" name="flow2">
            <a:extLst>
              <a:ext uri="{FF2B5EF4-FFF2-40B4-BE49-F238E27FC236}">
                <a16:creationId xmlns:a16="http://schemas.microsoft.com/office/drawing/2014/main" id="{9E34E761-F8E3-8411-3868-A27035A5C23F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6" name="flow3">
            <a:extLst>
              <a:ext uri="{FF2B5EF4-FFF2-40B4-BE49-F238E27FC236}">
                <a16:creationId xmlns:a16="http://schemas.microsoft.com/office/drawing/2014/main" id="{6149568C-6808-6035-ACD4-7F66741FD384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7" name="flow4">
            <a:extLst>
              <a:ext uri="{FF2B5EF4-FFF2-40B4-BE49-F238E27FC236}">
                <a16:creationId xmlns:a16="http://schemas.microsoft.com/office/drawing/2014/main" id="{6AEBFBC2-FFB2-9132-9575-01F1B24CA1EB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8" name="flow5">
            <a:extLst>
              <a:ext uri="{FF2B5EF4-FFF2-40B4-BE49-F238E27FC236}">
                <a16:creationId xmlns:a16="http://schemas.microsoft.com/office/drawing/2014/main" id="{0F87A768-C771-D4F5-CEDA-B0555350A84F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9" name="flow6">
            <a:extLst>
              <a:ext uri="{FF2B5EF4-FFF2-40B4-BE49-F238E27FC236}">
                <a16:creationId xmlns:a16="http://schemas.microsoft.com/office/drawing/2014/main" id="{5BAF805B-7A90-6667-51F3-0F22CB4DED5C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0" name="flow7">
            <a:extLst>
              <a:ext uri="{FF2B5EF4-FFF2-40B4-BE49-F238E27FC236}">
                <a16:creationId xmlns:a16="http://schemas.microsoft.com/office/drawing/2014/main" id="{53219F7D-CE3E-CE9B-DA9F-AB4B59D7DB1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1" name="flow8">
            <a:extLst>
              <a:ext uri="{FF2B5EF4-FFF2-40B4-BE49-F238E27FC236}">
                <a16:creationId xmlns:a16="http://schemas.microsoft.com/office/drawing/2014/main" id="{CEE0374C-6BFB-A29D-7903-F52C5E5D610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2" name="flow9">
            <a:extLst>
              <a:ext uri="{FF2B5EF4-FFF2-40B4-BE49-F238E27FC236}">
                <a16:creationId xmlns:a16="http://schemas.microsoft.com/office/drawing/2014/main" id="{D18F4A55-2BCB-65FA-C4DE-6B927A58AD8F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3" name="flow10">
            <a:extLst>
              <a:ext uri="{FF2B5EF4-FFF2-40B4-BE49-F238E27FC236}">
                <a16:creationId xmlns:a16="http://schemas.microsoft.com/office/drawing/2014/main" id="{99DE5924-C983-A2B6-9DF7-7898376E02D8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4" name="flow11">
            <a:extLst>
              <a:ext uri="{FF2B5EF4-FFF2-40B4-BE49-F238E27FC236}">
                <a16:creationId xmlns:a16="http://schemas.microsoft.com/office/drawing/2014/main" id="{570D2D68-ABBB-9B13-A6AC-399DC78B9AF3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5" name="flow12">
            <a:extLst>
              <a:ext uri="{FF2B5EF4-FFF2-40B4-BE49-F238E27FC236}">
                <a16:creationId xmlns:a16="http://schemas.microsoft.com/office/drawing/2014/main" id="{71D2F82A-7CAB-3804-D75D-2C07F623BD1E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A78098-C132-E080-C95F-51EF375F110D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34 / 37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D248754-E912-084D-D8D2-AF232B3652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881185"/>
              </p:ext>
            </p:extLst>
          </p:nvPr>
        </p:nvGraphicFramePr>
        <p:xfrm>
          <a:off x="381000" y="1168400"/>
          <a:ext cx="5969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310057099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64370696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387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nn-NO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Leg-to-leg loop 1 → 2 (DC / 1 MHz)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4.36 / 0.88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59648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nn-NO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Leg-to-leg loop 1 → 3 (DC / 1 MHz)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9.10 / 1.37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28072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Ripple of leg 1 at 50 kHz from legs 1 / 2 / 3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26 % / 35 % / 39 %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4815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Busbar DC loss (250 A in, 3 × 83 A)</a:t>
                      </a:r>
                      <a:endParaRPr lang="sv-SE" sz="12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12.4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23696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62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3332150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663A9ECB-3150-365C-B1E7-94EFFED156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0500" y="1168400"/>
            <a:ext cx="5270500" cy="271054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5FCE738-3699-EEC0-FD46-4D96BB7418FA}"/>
              </a:ext>
            </a:extLst>
          </p:cNvPr>
          <p:cNvSpPr txBox="1"/>
          <p:nvPr/>
        </p:nvSpPr>
        <p:spPr>
          <a:xfrm>
            <a:off x="381000" y="44069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Target ≤ 5 nH leg to leg met at 1 MHz; DC values are the low-frequency limit (current spread through all layers)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00">
                <a:solidFill>
                  <a:srgbClr val="1E1E1E"/>
                </a:solidFill>
                <a:latin typeface="Calibri" panose="020F0502020204030204" pitchFamily="34" charset="0"/>
              </a:rPr>
              <a:t>Network: Q3D matrices of three Rev B legs + busbar, MLCC banks with ESR/ESL and 35 % of C at 75 V; peaks in |Z| = inter-leg resonance</a:t>
            </a:r>
            <a:endParaRPr lang="sv-SE" sz="13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71186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77F6D676-9185-7F4C-0906-302CD00AB7FE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94EA538-B003-3D5C-4D1B-E04AE3CF5CD0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Rev B fabrication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4018B-EC4B-7FC9-E41F-051932783114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12  Rev B board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619F3A85-96EB-B649-FA4D-B012749F3130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482CA369-6A19-2E6C-7EEB-5831869A9B04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B0CEA93A-C2FE-835D-8F73-3CB6F0AFD7EA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9AA0B13A-7765-21F5-BCDC-12B8D9F85C7F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C9D40176-6D77-4E2E-749E-2D87E32E2573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EE70B0CB-A08B-4F1C-ECA4-3C90F397BC5B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D01C8A41-5130-39AF-5560-4FAC0A9F1965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A5A66BD9-3512-F1FC-F2DC-3F91BA3D11B8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FCD45EF5-AB7B-AB82-8FF4-6F0031B3A09E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5C76CDE0-1D68-F561-DD08-6ADFEFE5BBC1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A1441FAF-58CD-619A-761B-8C2B13FD849D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B3322851-9A09-B243-B9C8-2E8A82D833BA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07432D-8CA0-400C-304A-0CE88D71ACD0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35 / 37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EF10187-091A-31E8-3372-B2FB38344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133" y="1168400"/>
            <a:ext cx="3673734" cy="381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8CF6431-E01E-16D6-8A35-297C8C02BB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185" y="1168400"/>
            <a:ext cx="4231630" cy="381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D981445-E752-CBC5-4B0F-C8A324DC6C43}"/>
              </a:ext>
            </a:extLst>
          </p:cNvPr>
          <p:cNvSpPr txBox="1"/>
          <p:nvPr/>
        </p:nvSpPr>
        <p:spPr>
          <a:xfrm>
            <a:off x="381000" y="5105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Generated: make_kicad_bb_revb.py (board), make_kicad_sch_revb.py (schematic), make_kicad_busbar.py (busbar)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00">
                <a:solidFill>
                  <a:srgbClr val="1E1E1E"/>
                </a:solidFill>
                <a:latin typeface="Calibri" panose="020F0502020204030204" pitchFamily="34" charset="0"/>
              </a:rPr>
              <a:t>Next: fab outputs and BOM for Rev B, 3D models (UFCS, rotated heatsink), LAM 4 100 mm order code</a:t>
            </a:r>
          </a:p>
        </p:txBody>
      </p:sp>
    </p:spTree>
    <p:extLst>
      <p:ext uri="{BB962C8B-B14F-4D97-AF65-F5344CB8AC3E}">
        <p14:creationId xmlns:p14="http://schemas.microsoft.com/office/powerpoint/2010/main" val="29438481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0051FB2-D782-770B-E75C-D3CE106EC6E3}"/>
              </a:ext>
            </a:extLst>
          </p:cNvPr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1A3EA62-AD96-6D3F-7C5C-DF6CB082B5AB}"/>
              </a:ext>
            </a:extLst>
          </p:cNvPr>
          <p:cNvSpPr txBox="1"/>
          <p:nvPr/>
        </p:nvSpPr>
        <p:spPr>
          <a:xfrm>
            <a:off x="304800" y="50800"/>
            <a:ext cx="10414000" cy="369332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sv-SE" sz="2400">
                <a:solidFill>
                  <a:srgbClr val="FFFFFF"/>
                </a:solidFill>
                <a:latin typeface="Calibri" panose="020F0502020204030204" pitchFamily="34" charset="0"/>
              </a:rPr>
              <a:t>Status and next steps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038FD6-F238-652F-DAE4-E5A353CC94C4}"/>
              </a:ext>
            </a:extLst>
          </p:cNvPr>
          <p:cNvSpPr txBox="1"/>
          <p:nvPr/>
        </p:nvSpPr>
        <p:spPr>
          <a:xfrm>
            <a:off x="8890000" y="177800"/>
            <a:ext cx="304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1000">
                <a:solidFill>
                  <a:srgbClr val="E8EFF8"/>
                </a:solidFill>
                <a:latin typeface="Calibri" panose="020F0502020204030204" pitchFamily="34" charset="0"/>
              </a:rPr>
              <a:t>Status</a:t>
            </a:r>
          </a:p>
        </p:txBody>
      </p:sp>
      <p:sp>
        <p:nvSpPr>
          <p:cNvPr id="5" name="flow1">
            <a:extLst>
              <a:ext uri="{FF2B5EF4-FFF2-40B4-BE49-F238E27FC236}">
                <a16:creationId xmlns:a16="http://schemas.microsoft.com/office/drawing/2014/main" id="{31DCCF97-3960-7E1D-C9C6-D8F30AC026A9}"/>
              </a:ext>
            </a:extLst>
          </p:cNvPr>
          <p:cNvSpPr/>
          <p:nvPr/>
        </p:nvSpPr>
        <p:spPr>
          <a:xfrm>
            <a:off x="3810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Inputs</a:t>
            </a:r>
          </a:p>
        </p:txBody>
      </p:sp>
      <p:sp>
        <p:nvSpPr>
          <p:cNvPr id="6" name="flow2">
            <a:extLst>
              <a:ext uri="{FF2B5EF4-FFF2-40B4-BE49-F238E27FC236}">
                <a16:creationId xmlns:a16="http://schemas.microsoft.com/office/drawing/2014/main" id="{513CE619-D47B-3F8B-7D9B-9D5A2C453FF5}"/>
              </a:ext>
            </a:extLst>
          </p:cNvPr>
          <p:cNvSpPr/>
          <p:nvPr/>
        </p:nvSpPr>
        <p:spPr>
          <a:xfrm>
            <a:off x="13377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Device</a:t>
            </a:r>
          </a:p>
        </p:txBody>
      </p:sp>
      <p:sp>
        <p:nvSpPr>
          <p:cNvPr id="7" name="flow3">
            <a:extLst>
              <a:ext uri="{FF2B5EF4-FFF2-40B4-BE49-F238E27FC236}">
                <a16:creationId xmlns:a16="http://schemas.microsoft.com/office/drawing/2014/main" id="{21C76FB4-B710-3F78-806F-BF20B39B64DC}"/>
              </a:ext>
            </a:extLst>
          </p:cNvPr>
          <p:cNvSpPr/>
          <p:nvPr/>
        </p:nvSpPr>
        <p:spPr>
          <a:xfrm>
            <a:off x="22944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Submodule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voltage</a:t>
            </a:r>
          </a:p>
        </p:txBody>
      </p:sp>
      <p:sp>
        <p:nvSpPr>
          <p:cNvPr id="8" name="flow4">
            <a:extLst>
              <a:ext uri="{FF2B5EF4-FFF2-40B4-BE49-F238E27FC236}">
                <a16:creationId xmlns:a16="http://schemas.microsoft.com/office/drawing/2014/main" id="{27512672-9335-3BE7-3405-6E9306FAA07A}"/>
              </a:ext>
            </a:extLst>
          </p:cNvPr>
          <p:cNvSpPr/>
          <p:nvPr/>
        </p:nvSpPr>
        <p:spPr>
          <a:xfrm>
            <a:off x="32512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device,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driver</a:t>
            </a:r>
          </a:p>
        </p:txBody>
      </p:sp>
      <p:sp>
        <p:nvSpPr>
          <p:cNvPr id="9" name="flow5">
            <a:extLst>
              <a:ext uri="{FF2B5EF4-FFF2-40B4-BE49-F238E27FC236}">
                <a16:creationId xmlns:a16="http://schemas.microsoft.com/office/drawing/2014/main" id="{B19E7A36-7C41-0946-1A7D-407EF416BD3B}"/>
              </a:ext>
            </a:extLst>
          </p:cNvPr>
          <p:cNvSpPr/>
          <p:nvPr/>
        </p:nvSpPr>
        <p:spPr>
          <a:xfrm>
            <a:off x="4207933" y="685800"/>
            <a:ext cx="905934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n in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parallel</a:t>
            </a:r>
          </a:p>
        </p:txBody>
      </p:sp>
      <p:sp>
        <p:nvSpPr>
          <p:cNvPr id="10" name="flow6">
            <a:extLst>
              <a:ext uri="{FF2B5EF4-FFF2-40B4-BE49-F238E27FC236}">
                <a16:creationId xmlns:a16="http://schemas.microsoft.com/office/drawing/2014/main" id="{D7107D6B-446E-D445-C2FD-70EADF2EE32C}"/>
              </a:ext>
            </a:extLst>
          </p:cNvPr>
          <p:cNvSpPr/>
          <p:nvPr/>
        </p:nvSpPr>
        <p:spPr>
          <a:xfrm>
            <a:off x="51646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f_sw,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link</a:t>
            </a:r>
          </a:p>
        </p:txBody>
      </p:sp>
      <p:sp>
        <p:nvSpPr>
          <p:cNvPr id="11" name="flow7">
            <a:extLst>
              <a:ext uri="{FF2B5EF4-FFF2-40B4-BE49-F238E27FC236}">
                <a16:creationId xmlns:a16="http://schemas.microsoft.com/office/drawing/2014/main" id="{6D0FB821-49DC-8D27-AEDC-00A77D0C1423}"/>
              </a:ext>
            </a:extLst>
          </p:cNvPr>
          <p:cNvSpPr/>
          <p:nvPr/>
        </p:nvSpPr>
        <p:spPr>
          <a:xfrm>
            <a:off x="61214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Gate drive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→ block</a:t>
            </a:r>
          </a:p>
        </p:txBody>
      </p:sp>
      <p:sp>
        <p:nvSpPr>
          <p:cNvPr id="12" name="flow8">
            <a:extLst>
              <a:ext uri="{FF2B5EF4-FFF2-40B4-BE49-F238E27FC236}">
                <a16:creationId xmlns:a16="http://schemas.microsoft.com/office/drawing/2014/main" id="{3D2A7072-11C5-A652-94CC-D864618BE10B}"/>
              </a:ext>
            </a:extLst>
          </p:cNvPr>
          <p:cNvSpPr/>
          <p:nvPr/>
        </p:nvSpPr>
        <p:spPr>
          <a:xfrm>
            <a:off x="70781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Four on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one board</a:t>
            </a:r>
          </a:p>
        </p:txBody>
      </p:sp>
      <p:sp>
        <p:nvSpPr>
          <p:cNvPr id="13" name="flow9">
            <a:extLst>
              <a:ext uri="{FF2B5EF4-FFF2-40B4-BE49-F238E27FC236}">
                <a16:creationId xmlns:a16="http://schemas.microsoft.com/office/drawing/2014/main" id="{180ABBCF-8D35-3577-44CF-564CDCBCB618}"/>
              </a:ext>
            </a:extLst>
          </p:cNvPr>
          <p:cNvSpPr/>
          <p:nvPr/>
        </p:nvSpPr>
        <p:spPr>
          <a:xfrm>
            <a:off x="8034867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Supplies,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measurement</a:t>
            </a:r>
          </a:p>
        </p:txBody>
      </p:sp>
      <p:sp>
        <p:nvSpPr>
          <p:cNvPr id="14" name="flow10">
            <a:extLst>
              <a:ext uri="{FF2B5EF4-FFF2-40B4-BE49-F238E27FC236}">
                <a16:creationId xmlns:a16="http://schemas.microsoft.com/office/drawing/2014/main" id="{07E50CDF-5EE6-DD0F-9BF2-CF1B97E545E9}"/>
              </a:ext>
            </a:extLst>
          </p:cNvPr>
          <p:cNvSpPr/>
          <p:nvPr/>
        </p:nvSpPr>
        <p:spPr>
          <a:xfrm>
            <a:off x="8991600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Three-phase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DC bus</a:t>
            </a:r>
          </a:p>
        </p:txBody>
      </p:sp>
      <p:sp>
        <p:nvSpPr>
          <p:cNvPr id="15" name="flow11">
            <a:extLst>
              <a:ext uri="{FF2B5EF4-FFF2-40B4-BE49-F238E27FC236}">
                <a16:creationId xmlns:a16="http://schemas.microsoft.com/office/drawing/2014/main" id="{C017C632-5356-1C9B-BDEF-1A4D2631D1C8}"/>
              </a:ext>
            </a:extLst>
          </p:cNvPr>
          <p:cNvSpPr/>
          <p:nvPr/>
        </p:nvSpPr>
        <p:spPr>
          <a:xfrm>
            <a:off x="9948333" y="685800"/>
            <a:ext cx="905933" cy="381000"/>
          </a:xfrm>
          <a:prstGeom prst="roundRect">
            <a:avLst/>
          </a:prstGeom>
          <a:solidFill>
            <a:srgbClr val="E8EFF8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Verify</a:t>
            </a:r>
            <a:b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1E1E1E"/>
                </a:solidFill>
                <a:latin typeface="Calibri" panose="020F0502020204030204" pitchFamily="34" charset="0"/>
              </a:rPr>
              <a:t>(Q3D)</a:t>
            </a:r>
          </a:p>
        </p:txBody>
      </p:sp>
      <p:sp>
        <p:nvSpPr>
          <p:cNvPr id="16" name="flow12">
            <a:extLst>
              <a:ext uri="{FF2B5EF4-FFF2-40B4-BE49-F238E27FC236}">
                <a16:creationId xmlns:a16="http://schemas.microsoft.com/office/drawing/2014/main" id="{B321A1D0-92D1-721D-4D2F-A4F30CC2E4B2}"/>
              </a:ext>
            </a:extLst>
          </p:cNvPr>
          <p:cNvSpPr/>
          <p:nvPr/>
        </p:nvSpPr>
        <p:spPr>
          <a:xfrm>
            <a:off x="10905067" y="685800"/>
            <a:ext cx="905933" cy="381000"/>
          </a:xfrm>
          <a:prstGeom prst="roundRect">
            <a:avLst/>
          </a:prstGeom>
          <a:solidFill>
            <a:srgbClr val="1954A6"/>
          </a:solidFill>
          <a:ln w="6350">
            <a:solidFill>
              <a:srgbClr val="6298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/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Rev B</a:t>
            </a:r>
            <a:b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</a:br>
            <a:r>
              <a:rPr lang="sv-SE" sz="750">
                <a:solidFill>
                  <a:srgbClr val="FFFFFF"/>
                </a:solidFill>
                <a:latin typeface="Calibri" panose="020F0502020204030204" pitchFamily="34" charset="0"/>
              </a:rPr>
              <a:t>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F1FEB2-ADC2-A989-BF28-D9AA0900F606}"/>
              </a:ext>
            </a:extLst>
          </p:cNvPr>
          <p:cNvSpPr txBox="1"/>
          <p:nvPr/>
        </p:nvSpPr>
        <p:spPr>
          <a:xfrm>
            <a:off x="11176000" y="6540500"/>
            <a:ext cx="762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sv-SE" sz="900">
                <a:solidFill>
                  <a:srgbClr val="787878"/>
                </a:solidFill>
                <a:latin typeface="Calibri" panose="020F0502020204030204" pitchFamily="34" charset="0"/>
              </a:rPr>
              <a:t>36 / 37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6961E5C-F45E-1CFD-C168-0A923DCB11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861608"/>
              </p:ext>
            </p:extLst>
          </p:nvPr>
        </p:nvGraphicFramePr>
        <p:xfrm>
          <a:off x="381000" y="1168400"/>
          <a:ext cx="66040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913769114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137374959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1986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Rev B leg board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routed, DRC clean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71575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Rev B schematic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generated,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7713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routed, DRC clean, 2 oz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1497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Q3D leg +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15507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Fab outputs, BOM (Rev B, busbar)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next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05043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3D models, heatsink order code</a:t>
                      </a:r>
                      <a:endParaRPr lang="sv-SE" sz="1300">
                        <a:solidFill>
                          <a:srgbClr val="1E1E1E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next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229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Double-pulse + back-to-back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00">
                          <a:solidFill>
                            <a:srgbClr val="1E1E1E"/>
                          </a:solidFill>
                          <a:latin typeface="Calibri" panose="020F050202020403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5713798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3EC7D8-E93D-6F35-F00C-D655575AD9B5}"/>
              </a:ext>
            </a:extLst>
          </p:cNvPr>
          <p:cNvSpPr txBox="1"/>
          <p:nvPr/>
        </p:nvSpPr>
        <p:spPr>
          <a:xfrm>
            <a:off x="7302500" y="1168400"/>
            <a:ext cx="45085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Measure: per-cell current sharing (UFCS), V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GS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 of both blocks (skew), bus ripple and ringing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Decide after measurement: bank depopulation, damping caps, copper weight of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Machine: L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σ</a:t>
            </a:r>
            <a:r>
              <a:rPr lang="en-US" sz="1400">
                <a:solidFill>
                  <a:srgbClr val="1E1E1E"/>
                </a:solidFill>
                <a:latin typeface="Calibri" panose="020F0502020204030204" pitchFamily="34" charset="0"/>
              </a:rPr>
              <a:t>, cos φ and the final f</a:t>
            </a:r>
            <a:r>
              <a:rPr lang="en-US" sz="1400" baseline="-25000">
                <a:solidFill>
                  <a:srgbClr val="1E1E1E"/>
                </a:solidFill>
                <a:latin typeface="Calibri" panose="020F0502020204030204" pitchFamily="34" charset="0"/>
              </a:rPr>
              <a:t>sw</a:t>
            </a:r>
            <a:endParaRPr lang="sv-SE" sz="1400" baseline="-25000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6265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49E16F-2D8E-411A-C838-AA81C2EA142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5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EC0C3F-1BBF-D22D-E194-B0EA77258BA5}"/>
              </a:ext>
            </a:extLst>
          </p:cNvPr>
          <p:cNvSpPr txBox="1"/>
          <p:nvPr/>
        </p:nvSpPr>
        <p:spPr>
          <a:xfrm>
            <a:off x="762000" y="2794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3600" b="1">
                <a:solidFill>
                  <a:srgbClr val="FFFFFF"/>
                </a:solidFill>
                <a:latin typeface="Calibri" panose="020F0502020204030204" pitchFamily="34" charset="0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16FF61-FBA8-69F4-379E-B93E73F11CA5}"/>
              </a:ext>
            </a:extLst>
          </p:cNvPr>
          <p:cNvSpPr txBox="1"/>
          <p:nvPr/>
        </p:nvSpPr>
        <p:spPr>
          <a:xfrm>
            <a:off x="762000" y="3683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2000">
                <a:solidFill>
                  <a:srgbClr val="FFFFFF"/>
                </a:solidFill>
                <a:latin typeface="Calibri" panose="020F050202020403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0802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6107</Words>
  <Application>Microsoft Office PowerPoint</Application>
  <PresentationFormat>Custom</PresentationFormat>
  <Paragraphs>979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 Royal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Enes Ayaz</dc:creator>
  <cp:lastModifiedBy>Enes Ayaz</cp:lastModifiedBy>
  <cp:revision>1</cp:revision>
  <dcterms:created xsi:type="dcterms:W3CDTF">2026-10-13T14:35:43Z</dcterms:created>
  <dcterms:modified xsi:type="dcterms:W3CDTF">2026-10-13T14:35:43Z</dcterms:modified>
</cp:coreProperties>
</file>