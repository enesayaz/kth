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7"/>
  </p:notesMasterIdLst>
  <p:handoutMasterIdLst>
    <p:handoutMasterId r:id="rId58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</p:sldIdLst>
  <p:sldSz cx="9144000" cy="5143500" type="screen16x9"/>
  <p:notesSz cx="6858000" cy="9144000"/>
  <p:defaultTextStyle>
    <a:defPPr>
      <a:defRPr lang="sv-SE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44" autoAdjust="0"/>
    <p:restoredTop sz="94660"/>
  </p:normalViewPr>
  <p:slideViewPr>
    <p:cSldViewPr>
      <p:cViewPr varScale="1">
        <p:scale>
          <a:sx n="91" d="100"/>
          <a:sy n="91" d="100"/>
        </p:scale>
        <p:origin x="62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92" d="100"/>
          <a:sy n="92" d="100"/>
        </p:scale>
        <p:origin x="2796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>
            <a:extLst>
              <a:ext uri="{FF2B5EF4-FFF2-40B4-BE49-F238E27FC236}">
                <a16:creationId xmlns:a16="http://schemas.microsoft.com/office/drawing/2014/main" id="{8641E886-6D8F-4DA2-898A-00B1EAE1AC5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C9EDFE6A-05C8-4F6B-BA8A-F497180174A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C3AE95-3DFC-4DDB-A7BB-B9BF94A03429}" type="datetimeFigureOut">
              <a:rPr lang="sv-SE" smtClean="0"/>
              <a:t>2026-10-26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AAE70C2B-4AA1-47BF-94B9-F7DF59FCFC3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ED3EF666-D1D2-478D-9969-E1DE1FE2D06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96AD15-F18B-494F-8904-C45D7BCBE60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0675942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8539D3-FAF3-FC43-8825-CC8C9D4686B2}" type="datetimeFigureOut">
              <a:rPr lang="sv-SE" smtClean="0"/>
              <a:t>2026-10-26</a:t>
            </a:fld>
            <a:endParaRPr lang="sv-S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3B8005-7BF2-4B40-A831-B1EE96BFE5D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98434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D42CF517-9DD4-421C-AE14-6B4A4453B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B926A-213D-3B48-BB0C-19ADA28B3F4D}" type="datetime1">
              <a:rPr lang="sv-SE" smtClean="0"/>
              <a:t>2026-10-26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9E3CD4D9-900F-4086-81FD-AB6606D8B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528E8603-97F6-448F-AF1B-7D33D8C75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t>‹#›</a:t>
            </a:fld>
            <a:endParaRPr lang="sv-SE"/>
          </a:p>
        </p:txBody>
      </p:sp>
      <p:sp>
        <p:nvSpPr>
          <p:cNvPr id="24" name="Rubrik 1">
            <a:extLst>
              <a:ext uri="{FF2B5EF4-FFF2-40B4-BE49-F238E27FC236}">
                <a16:creationId xmlns:a16="http://schemas.microsoft.com/office/drawing/2014/main" id="{2973C368-F8A4-41B1-9D52-4D79988138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7928" y="1390867"/>
            <a:ext cx="8090297" cy="566641"/>
          </a:xfrm>
        </p:spPr>
        <p:txBody>
          <a:bodyPr anchor="t"/>
          <a:lstStyle>
            <a:lvl1pPr algn="l">
              <a:defRPr sz="2700"/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25" name="Underrubrik 2">
            <a:extLst>
              <a:ext uri="{FF2B5EF4-FFF2-40B4-BE49-F238E27FC236}">
                <a16:creationId xmlns:a16="http://schemas.microsoft.com/office/drawing/2014/main" id="{040AB90C-B2A7-4284-98E0-80DAE0A2CD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7928" y="1974952"/>
            <a:ext cx="8090297" cy="596798"/>
          </a:xfrm>
        </p:spPr>
        <p:txBody>
          <a:bodyPr/>
          <a:lstStyle>
            <a:lvl1pPr marL="0" indent="0" algn="l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sv-SE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383F7B48-BB86-D74E-A1EB-2C3CDBAC7F27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700"/>
          <a:stretch/>
        </p:blipFill>
        <p:spPr>
          <a:xfrm>
            <a:off x="246063" y="2559025"/>
            <a:ext cx="8650292" cy="2443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91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_e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918E66E3-BED5-4C6D-B465-40B84B88DB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7928" y="1390867"/>
            <a:ext cx="8090297" cy="566641"/>
          </a:xfrm>
        </p:spPr>
        <p:txBody>
          <a:bodyPr anchor="t"/>
          <a:lstStyle>
            <a:lvl1pPr algn="l">
              <a:defRPr sz="2700"/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FF22D944-0354-4DCD-8334-3FC7C9FFC9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7928" y="1974952"/>
            <a:ext cx="8090297" cy="596798"/>
          </a:xfrm>
        </p:spPr>
        <p:txBody>
          <a:bodyPr/>
          <a:lstStyle>
            <a:lvl1pPr marL="0" indent="0" algn="l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sv-SE" dirty="0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D42CF517-9DD4-421C-AE14-6B4A4453B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EF508-B04A-E34A-80DD-59A12C5D1039}" type="datetime1">
              <a:rPr lang="sv-SE" smtClean="0"/>
              <a:t>2026-10-26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9E3CD4D9-900F-4086-81FD-AB6606D8B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528E8603-97F6-448F-AF1B-7D33D8C75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t>‹#›</a:t>
            </a:fld>
            <a:endParaRPr lang="sv-SE"/>
          </a:p>
        </p:txBody>
      </p:sp>
      <p:pic>
        <p:nvPicPr>
          <p:cNvPr id="9" name="Bildobjekt 19">
            <a:extLst>
              <a:ext uri="{FF2B5EF4-FFF2-40B4-BE49-F238E27FC236}">
                <a16:creationId xmlns:a16="http://schemas.microsoft.com/office/drawing/2014/main" id="{D08EEA80-13E5-4697-A9DA-21277742FA7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26476" y="333641"/>
            <a:ext cx="1287722" cy="205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E50A1F01-262A-6542-96F8-9345B6213D97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700"/>
          <a:stretch/>
        </p:blipFill>
        <p:spPr>
          <a:xfrm>
            <a:off x="246063" y="2559025"/>
            <a:ext cx="8650292" cy="2443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047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4EB0B6BB-AC5F-485A-85BA-F56E433C7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69A48BD2-8B5B-44E1-8F6C-9B0D41A68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3F4D8-4BE6-D743-AE27-D14757A6F270}" type="datetime1">
              <a:rPr lang="sv-SE" smtClean="0"/>
              <a:t>2026-10-26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21B72178-9B2F-45A7-A31E-7710591B0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  <a:endParaRPr lang="sv-SE" dirty="0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3155F99B-B767-4EF4-BDED-E7E361EB3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7" name="Platshållare för innehåll 6">
            <a:extLst>
              <a:ext uri="{FF2B5EF4-FFF2-40B4-BE49-F238E27FC236}">
                <a16:creationId xmlns:a16="http://schemas.microsoft.com/office/drawing/2014/main" id="{FA474A84-82A6-4747-B64B-83217A0CB54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31888" y="1194198"/>
            <a:ext cx="7765653" cy="3540919"/>
          </a:xfrm>
        </p:spPr>
        <p:txBody>
          <a:bodyPr>
            <a:normAutofit/>
          </a:bodyPr>
          <a:lstStyle>
            <a:lvl1pPr>
              <a:defRPr sz="1500"/>
            </a:lvl1pPr>
            <a:lvl2pPr marL="514350" indent="-171450">
              <a:buFont typeface="Arial" panose="020B0604020202020204" pitchFamily="34" charset="0"/>
              <a:buChar char="‒"/>
              <a:defRPr sz="1350"/>
            </a:lvl2pPr>
            <a:lvl3pPr marL="857250" indent="-171450">
              <a:buFont typeface="Arial" panose="020B0604020202020204" pitchFamily="34" charset="0"/>
              <a:buChar char="˃"/>
              <a:defRPr sz="1200"/>
            </a:lvl3pPr>
            <a:lvl4pPr>
              <a:defRPr sz="1050"/>
            </a:lvl4pPr>
            <a:lvl5pPr marL="1543050" indent="-171450">
              <a:buFont typeface="Arial" panose="020B0604020202020204" pitchFamily="34" charset="0"/>
              <a:buChar char="‒"/>
              <a:defRPr sz="105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727327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 och två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8C966D54-57EE-458D-979F-B857F3483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63559-229D-724F-BBD5-623E582CF5C1}" type="datetime1">
              <a:rPr lang="sv-SE" smtClean="0"/>
              <a:t>2026-10-26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5C0D5306-1C16-4D96-8016-0B45E724A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  <a:endParaRPr lang="sv-SE" dirty="0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2579ABBA-285A-4BDD-A8DE-D7E232663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11" name="Platshållare för innehåll 6">
            <a:extLst>
              <a:ext uri="{FF2B5EF4-FFF2-40B4-BE49-F238E27FC236}">
                <a16:creationId xmlns:a16="http://schemas.microsoft.com/office/drawing/2014/main" id="{C23E0C61-4086-4E9E-9765-C96613FBE58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03244" y="1193800"/>
            <a:ext cx="3794694" cy="3540919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 dirty="0"/>
          </a:p>
        </p:txBody>
      </p:sp>
      <p:sp>
        <p:nvSpPr>
          <p:cNvPr id="12" name="Platshållare för innehåll 6">
            <a:extLst>
              <a:ext uri="{FF2B5EF4-FFF2-40B4-BE49-F238E27FC236}">
                <a16:creationId xmlns:a16="http://schemas.microsoft.com/office/drawing/2014/main" id="{F4B1B781-8A23-4309-9884-DD6E3CE0EF2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1131888" y="1194594"/>
            <a:ext cx="3794694" cy="3540919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 dirty="0"/>
          </a:p>
        </p:txBody>
      </p:sp>
      <p:sp>
        <p:nvSpPr>
          <p:cNvPr id="6" name="Rubrik 5">
            <a:extLst>
              <a:ext uri="{FF2B5EF4-FFF2-40B4-BE49-F238E27FC236}">
                <a16:creationId xmlns:a16="http://schemas.microsoft.com/office/drawing/2014/main" id="{41903042-6CE8-4286-847C-7E810AF58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84158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, underrubriker och två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6945529D-785A-43B8-8CB0-BF49CF7DD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8C966D54-57EE-458D-979F-B857F3483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F60D0-FE42-A248-8A54-F26FEA948759}" type="datetime1">
              <a:rPr lang="sv-SE" smtClean="0"/>
              <a:t>2026-10-26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5C0D5306-1C16-4D96-8016-0B45E724A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  <a:endParaRPr lang="sv-SE" dirty="0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2579ABBA-285A-4BDD-A8DE-D7E232663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8" name="Platshållare för innehåll 6">
            <a:extLst>
              <a:ext uri="{FF2B5EF4-FFF2-40B4-BE49-F238E27FC236}">
                <a16:creationId xmlns:a16="http://schemas.microsoft.com/office/drawing/2014/main" id="{6304BE55-467D-4CE2-9B8D-EC038C989AF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03244" y="1664494"/>
            <a:ext cx="3794297" cy="3070622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 dirty="0"/>
          </a:p>
        </p:txBody>
      </p:sp>
      <p:sp>
        <p:nvSpPr>
          <p:cNvPr id="12" name="Platshållare för text 10">
            <a:extLst>
              <a:ext uri="{FF2B5EF4-FFF2-40B4-BE49-F238E27FC236}">
                <a16:creationId xmlns:a16="http://schemas.microsoft.com/office/drawing/2014/main" id="{4D066E04-C797-4C85-AD05-F6EFD42AED3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103244" y="1194197"/>
            <a:ext cx="3794297" cy="398859"/>
          </a:xfrm>
        </p:spPr>
        <p:txBody>
          <a:bodyPr>
            <a:noAutofit/>
          </a:bodyPr>
          <a:lstStyle>
            <a:lvl1pPr marL="0" indent="0">
              <a:buNone/>
              <a:defRPr sz="15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Platshållare för innehåll 6">
            <a:extLst>
              <a:ext uri="{FF2B5EF4-FFF2-40B4-BE49-F238E27FC236}">
                <a16:creationId xmlns:a16="http://schemas.microsoft.com/office/drawing/2014/main" id="{20A69851-5F12-40D3-A417-2DCD7530A5F4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1136220" y="1664494"/>
            <a:ext cx="3792153" cy="3070622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 dirty="0"/>
          </a:p>
        </p:txBody>
      </p:sp>
      <p:sp>
        <p:nvSpPr>
          <p:cNvPr id="14" name="Platshållare för text 10">
            <a:extLst>
              <a:ext uri="{FF2B5EF4-FFF2-40B4-BE49-F238E27FC236}">
                <a16:creationId xmlns:a16="http://schemas.microsoft.com/office/drawing/2014/main" id="{9472B11D-1B06-4AB9-A788-CEFECBDC8E1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36220" y="1194197"/>
            <a:ext cx="3792153" cy="398859"/>
          </a:xfrm>
        </p:spPr>
        <p:txBody>
          <a:bodyPr>
            <a:noAutofit/>
          </a:bodyPr>
          <a:lstStyle>
            <a:lvl1pPr marL="0" indent="0">
              <a:buNone/>
              <a:defRPr sz="1500"/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80452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 och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08A04EEF-7713-4918-A58B-127EED1C3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C91421C8-A909-4498-9C65-2C4F1875E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A7D9E-CD1D-F144-88A8-27D2C4D672B1}" type="datetime1">
              <a:rPr lang="sv-SE" smtClean="0"/>
              <a:t>2026-10-26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698402AB-3C0D-47F3-B526-AEE8B976C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  <a:endParaRPr lang="sv-SE" dirty="0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89E1C101-21B3-4DE8-ACC8-96D836B90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7" name="Platshållare för bild 6">
            <a:extLst>
              <a:ext uri="{FF2B5EF4-FFF2-40B4-BE49-F238E27FC236}">
                <a16:creationId xmlns:a16="http://schemas.microsoft.com/office/drawing/2014/main" id="{FECDBECF-4709-417A-8783-E9CAB0603AC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46460" y="1194198"/>
            <a:ext cx="8651081" cy="3540919"/>
          </a:xfrm>
        </p:spPr>
        <p:txBody>
          <a:bodyPr/>
          <a:lstStyle/>
          <a:p>
            <a:r>
              <a:rPr lang="en-US"/>
              <a:t>Click icon to add picture</a:t>
            </a:r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95339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 och två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08A04EEF-7713-4918-A58B-127EED1C3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C91421C8-A909-4498-9C65-2C4F1875E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585DF-A6DF-A54D-9960-BE991B45200F}" type="datetime1">
              <a:rPr lang="sv-SE" smtClean="0"/>
              <a:t>2026-10-26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698402AB-3C0D-47F3-B526-AEE8B976C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  <a:endParaRPr lang="sv-SE" dirty="0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89E1C101-21B3-4DE8-ACC8-96D836B90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7" name="Platshållare för bild 6">
            <a:extLst>
              <a:ext uri="{FF2B5EF4-FFF2-40B4-BE49-F238E27FC236}">
                <a16:creationId xmlns:a16="http://schemas.microsoft.com/office/drawing/2014/main" id="{FECDBECF-4709-417A-8783-E9CAB0603AC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46460" y="1194594"/>
            <a:ext cx="4237209" cy="3540919"/>
          </a:xfrm>
        </p:spPr>
        <p:txBody>
          <a:bodyPr/>
          <a:lstStyle/>
          <a:p>
            <a:r>
              <a:rPr lang="en-US"/>
              <a:t>Click icon to add picture</a:t>
            </a:r>
            <a:endParaRPr lang="sv-SE"/>
          </a:p>
        </p:txBody>
      </p:sp>
      <p:sp>
        <p:nvSpPr>
          <p:cNvPr id="9" name="Platshållare för bild 6">
            <a:extLst>
              <a:ext uri="{FF2B5EF4-FFF2-40B4-BE49-F238E27FC236}">
                <a16:creationId xmlns:a16="http://schemas.microsoft.com/office/drawing/2014/main" id="{3747F699-0360-4395-8415-6E5114D6C6C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660332" y="1194198"/>
            <a:ext cx="4237210" cy="3540919"/>
          </a:xfrm>
        </p:spPr>
        <p:txBody>
          <a:bodyPr/>
          <a:lstStyle/>
          <a:p>
            <a:r>
              <a:rPr lang="en-US"/>
              <a:t>Click icon to add picture</a:t>
            </a:r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87958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2F4B5727-3AF8-4023-B42B-839E8695A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892B391E-9C84-4E0D-898B-8454343BE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91D87-1285-6843-BFFA-E098C31F828A}" type="datetime1">
              <a:rPr lang="sv-SE" smtClean="0"/>
              <a:t>2026-10-26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32D627AA-4087-4599-9513-63987ED83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  <a:endParaRPr lang="sv-SE" dirty="0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BDE0A226-9A3A-4E94-A386-D753C79EA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96585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>
            <a:extLst>
              <a:ext uri="{FF2B5EF4-FFF2-40B4-BE49-F238E27FC236}">
                <a16:creationId xmlns:a16="http://schemas.microsoft.com/office/drawing/2014/main" id="{EB551155-ADB6-4713-AD48-92A8C535A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3680" y="250032"/>
            <a:ext cx="7763861" cy="6477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sv-SE" dirty="0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CEFDED03-B73B-4057-9667-7B69EF4D71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31887" y="1194197"/>
            <a:ext cx="7765653" cy="34385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80C11F1C-711C-4AD7-A25F-D2B3F451BB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1520" y="4902599"/>
            <a:ext cx="2057400" cy="23257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BE8303-AD2F-DB4D-B8E2-7368B5FD02EE}" type="datetime1">
              <a:rPr lang="sv-SE" smtClean="0"/>
              <a:t>2026-10-26</a:t>
            </a:fld>
            <a:endParaRPr lang="sv-SE" dirty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C9465249-3F3D-4589-A44C-3AA1952E4C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902599"/>
            <a:ext cx="3086100" cy="2325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sv-SE"/>
              <a:t>Footer</a:t>
            </a:r>
            <a:endParaRPr lang="sv-SE" dirty="0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F9DBF7EF-8E59-4075-A8F0-EF49E121CA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835080" y="4902599"/>
            <a:ext cx="2057400" cy="23257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22A9A3-8636-4A04-BD48-3153280FB086}" type="slidenum">
              <a:rPr lang="sv-SE" smtClean="0"/>
              <a:pPr/>
              <a:t>‹#›</a:t>
            </a:fld>
            <a:endParaRPr lang="sv-SE" dirty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63C4B2EE-2B48-4379-BBD1-4FA250447FE8}"/>
              </a:ext>
            </a:extLst>
          </p:cNvPr>
          <p:cNvPicPr>
            <a:picLocks noChangeArrowheads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46551" y="250120"/>
            <a:ext cx="644150" cy="652399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" name="Rektangel 53">
            <a:extLst>
              <a:ext uri="{FF2B5EF4-FFF2-40B4-BE49-F238E27FC236}">
                <a16:creationId xmlns:a16="http://schemas.microsoft.com/office/drawing/2014/main" id="{D263F704-88D1-4479-BA22-2920B7F38621}"/>
              </a:ext>
            </a:extLst>
          </p:cNvPr>
          <p:cNvSpPr/>
          <p:nvPr userDrawn="1"/>
        </p:nvSpPr>
        <p:spPr>
          <a:xfrm>
            <a:off x="250750" y="4889099"/>
            <a:ext cx="8646791" cy="1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sz="1013"/>
          </a:p>
        </p:txBody>
      </p:sp>
    </p:spTree>
    <p:extLst>
      <p:ext uri="{BB962C8B-B14F-4D97-AF65-F5344CB8AC3E}">
        <p14:creationId xmlns:p14="http://schemas.microsoft.com/office/powerpoint/2010/main" val="276586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6" r:id="rId2"/>
    <p:sldLayoutId id="2147483653" r:id="rId3"/>
    <p:sldLayoutId id="2147483654" r:id="rId4"/>
    <p:sldLayoutId id="2147483655" r:id="rId5"/>
    <p:sldLayoutId id="2147483651" r:id="rId6"/>
    <p:sldLayoutId id="2147483652" r:id="rId7"/>
    <p:sldLayoutId id="2147483650" r:id="rId8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‒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&gt;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‒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  <p15:guide id="3" pos="713" userDrawn="1">
          <p15:clr>
            <a:srgbClr val="F26B43"/>
          </p15:clr>
        </p15:guide>
        <p15:guide id="4" pos="5454" userDrawn="1">
          <p15:clr>
            <a:srgbClr val="F26B43"/>
          </p15:clr>
        </p15:guide>
        <p15:guide id="6" pos="358" userDrawn="1">
          <p15:clr>
            <a:srgbClr val="F26B43"/>
          </p15:clr>
        </p15:guide>
        <p15:guide id="7" orient="horz" pos="158" userDrawn="1">
          <p15:clr>
            <a:srgbClr val="F26B43"/>
          </p15:clr>
        </p15:guide>
        <p15:guide id="8" orient="horz" pos="3084" userDrawn="1">
          <p15:clr>
            <a:srgbClr val="F26B43"/>
          </p15:clr>
        </p15:guide>
        <p15:guide id="9" pos="5605" userDrawn="1">
          <p15:clr>
            <a:srgbClr val="F26B43"/>
          </p15:clr>
        </p15:guide>
        <p15:guide id="10" pos="155" userDrawn="1">
          <p15:clr>
            <a:srgbClr val="F26B43"/>
          </p15:clr>
        </p15:guide>
        <p15:guide id="11" pos="560" userDrawn="1">
          <p15:clr>
            <a:srgbClr val="F26B43"/>
          </p15:clr>
        </p15:guide>
        <p15:guide id="12" orient="horz" pos="566" userDrawn="1">
          <p15:clr>
            <a:srgbClr val="F26B43"/>
          </p15:clr>
        </p15:guide>
        <p15:guide id="13" orient="horz" pos="752" userDrawn="1">
          <p15:clr>
            <a:srgbClr val="F26B43"/>
          </p15:clr>
        </p15:guide>
        <p15:guide id="14" orient="horz" pos="298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4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8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8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8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8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8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0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CCA31-3C03-5986-B5A0-33CCA6CDD9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SPB Leg Building Block: Design Flow</a:t>
            </a:r>
            <a:endParaRPr lang="sv-S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52543F-4DA5-2F55-FE49-515E5DE64D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Four EPC2361 per switch: DPT and load-test boards, 1200 V / 300 kW SPB inverter</a:t>
            </a:r>
          </a:p>
          <a:p>
            <a:r>
              <a:rPr lang="en-US"/>
              <a:t>Enes Ayaz, KTH Royal Institute of Technology, October 2026</a:t>
            </a:r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9438820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E8DB8-513B-CE90-1752-396CAB726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sz="2100"/>
              <a:t>Design flow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82DEF6-56C1-9005-EA33-858E17427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7F525B-8873-06E7-5048-7F13BBEB8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2</a:t>
            </a:fld>
            <a:endParaRPr lang="sv-SE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69D383F-744A-810E-7876-6E52DBE5A4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1666127"/>
              </p:ext>
            </p:extLst>
          </p:nvPr>
        </p:nvGraphicFramePr>
        <p:xfrm>
          <a:off x="238125" y="952500"/>
          <a:ext cx="866775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">
                  <a:extLst>
                    <a:ext uri="{9D8B030D-6E8A-4147-A177-3AD203B41FA5}">
                      <a16:colId xmlns:a16="http://schemas.microsoft.com/office/drawing/2014/main" val="2952191029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2468411779"/>
                    </a:ext>
                  </a:extLst>
                </a:gridCol>
                <a:gridCol w="5905500">
                  <a:extLst>
                    <a:ext uri="{9D8B030D-6E8A-4147-A177-3AD203B41FA5}">
                      <a16:colId xmlns:a16="http://schemas.microsoft.com/office/drawing/2014/main" val="1489649378"/>
                    </a:ext>
                  </a:extLst>
                </a:gridCol>
              </a:tblGrid>
              <a:tr h="165100">
                <a:tc>
                  <a:txBody>
                    <a:bodyPr/>
                    <a:lstStyle/>
                    <a:p>
                      <a:pPr algn="l"/>
                      <a:endParaRPr lang="sv-SE" sz="138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1954A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38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Step</a:t>
                      </a:r>
                    </a:p>
                  </a:txBody>
                  <a:tcPr marL="50800" marR="50800" marT="25400" marB="25400">
                    <a:solidFill>
                      <a:srgbClr val="1954A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38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Question → decision</a:t>
                      </a:r>
                    </a:p>
                  </a:txBody>
                  <a:tcPr marL="50800" marR="50800" marT="25400" marB="25400">
                    <a:solidFill>
                      <a:srgbClr val="1954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4100484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3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3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Design inputs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3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1200 V, 300 kW, M ≤ 1.15, PMSM cos </a:t>
                      </a:r>
                      <a:r>
                        <a:rPr lang="el-GR" sz="13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φ = 0.9 → 228 </a:t>
                      </a:r>
                      <a:r>
                        <a:rPr lang="sv-SE" sz="13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A</a:t>
                      </a:r>
                      <a:r>
                        <a:rPr lang="sv-SE" sz="1380" baseline="-250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rms</a:t>
                      </a:r>
                      <a:r>
                        <a:rPr lang="sv-SE" sz="13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 per leg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7685929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3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3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Device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100–650 V GaN survey, absolute and per volt → 100 V GaN, EPC2361 (Kelvin pad)</a:t>
                      </a:r>
                      <a:endParaRPr lang="sv-SE" sz="1380">
                        <a:solidFill>
                          <a:srgbClr val="1E1E1E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6881981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3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3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Submodule voltage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3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V</a:t>
                      </a:r>
                      <a:r>
                        <a:rPr lang="pt-BR" sz="1380" baseline="-250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m</a:t>
                      </a:r>
                      <a:r>
                        <a:rPr lang="pt-BR" sz="13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 + L·di/dt ≤ 90 V for 0.5 / 1 nH, even N → 75 V, N = 16</a:t>
                      </a:r>
                      <a:endParaRPr lang="sv-SE" sz="1380">
                        <a:solidFill>
                          <a:srgbClr val="1E1E1E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17686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3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3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One device, one driver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loop of one cell + LTspice at 0.5 / 1 nH → ≤ 80 A per device</a:t>
                      </a:r>
                      <a:endParaRPr lang="sv-SE" sz="1380">
                        <a:solidFill>
                          <a:srgbClr val="1E1E1E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6647862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3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3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n in parallel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3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loss, T</a:t>
                      </a:r>
                      <a:r>
                        <a:rPr lang="sv-SE" sz="1380" baseline="-250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j</a:t>
                      </a:r>
                      <a:r>
                        <a:rPr lang="sv-SE" sz="13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, V</a:t>
                      </a:r>
                      <a:r>
                        <a:rPr lang="sv-SE" sz="1380" baseline="-250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DS</a:t>
                      </a:r>
                      <a:r>
                        <a:rPr lang="sv-SE" sz="13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 vs n → 4 EPC2361 per switch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8894759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3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3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f</a:t>
                      </a:r>
                      <a:r>
                        <a:rPr lang="sv-SE" sz="1380" baseline="-250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sw</a:t>
                      </a:r>
                      <a:r>
                        <a:rPr lang="sv-SE" sz="13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, DC link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≥ 50 kHz; 3 % ripple → 20 × 22 µF 2220 + 10 × 1 µF bypass per cell</a:t>
                      </a:r>
                      <a:endParaRPr lang="sv-SE" sz="1380">
                        <a:solidFill>
                          <a:srgbClr val="1E1E1E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446852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3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3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Gate drive → block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one 2EDF7275K per pair (star, Kelvin) → building block of two cells</a:t>
                      </a:r>
                      <a:endParaRPr lang="sv-SE" sz="1380">
                        <a:solidFill>
                          <a:srgbClr val="1E1E1E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2936353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3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3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Four on one board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two pairs, one DC pair, one AC output → DPT board and load-test board</a:t>
                      </a:r>
                      <a:endParaRPr lang="sv-SE" sz="1380">
                        <a:solidFill>
                          <a:srgbClr val="1E1E1E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4141360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3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3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Supplies, measurement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two isolated supplies + Zener bias, UFCS per cell (DPT), U.FL V</a:t>
                      </a:r>
                      <a:r>
                        <a:rPr lang="en-US" sz="1380" baseline="-250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GS</a:t>
                      </a:r>
                      <a:r>
                        <a:rPr lang="en-US" sz="13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, MMCX V</a:t>
                      </a:r>
                      <a:r>
                        <a:rPr lang="en-US" sz="1380" baseline="-250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DS</a:t>
                      </a:r>
                      <a:r>
                        <a:rPr lang="en-US" sz="13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, HO 250-S</a:t>
                      </a:r>
                      <a:endParaRPr lang="sv-SE" sz="1380">
                        <a:solidFill>
                          <a:srgbClr val="1E1E1E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0392378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3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3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Three-phase DC bus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legs share the 75 V bus → laminated PCB busbar; 3D level and 16-level stack</a:t>
                      </a:r>
                      <a:endParaRPr lang="sv-SE" sz="1380">
                        <a:solidFill>
                          <a:srgbClr val="1E1E1E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101906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3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11–12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3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Verification, boards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fast Q3D set on the final boards and the busbar; fab files</a:t>
                      </a:r>
                      <a:endParaRPr lang="sv-SE" sz="1380">
                        <a:solidFill>
                          <a:srgbClr val="1E1E1E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24199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7640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D304A-645F-26FC-A0FB-70B709C4D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sz="2100"/>
              <a:t>Design inputs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11339A-9F3C-9B84-E1C1-1BA92EB0B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A14BDD-6DA0-8E96-94D4-9F04D66D0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3</a:t>
            </a:fld>
            <a:endParaRPr lang="sv-S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F22EA68-E3BF-EE6E-211C-31D6EE3E4F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773" y="952500"/>
            <a:ext cx="7346453" cy="2047875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4CB0D41-B76B-5037-E6F6-83016F21A1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6261446"/>
              </p:ext>
            </p:extLst>
          </p:nvPr>
        </p:nvGraphicFramePr>
        <p:xfrm>
          <a:off x="238125" y="3048000"/>
          <a:ext cx="4953000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9750">
                  <a:extLst>
                    <a:ext uri="{9D8B030D-6E8A-4147-A177-3AD203B41FA5}">
                      <a16:colId xmlns:a16="http://schemas.microsoft.com/office/drawing/2014/main" val="2118058516"/>
                    </a:ext>
                  </a:extLst>
                </a:gridCol>
                <a:gridCol w="3143250">
                  <a:extLst>
                    <a:ext uri="{9D8B030D-6E8A-4147-A177-3AD203B41FA5}">
                      <a16:colId xmlns:a16="http://schemas.microsoft.com/office/drawing/2014/main" val="1198813624"/>
                    </a:ext>
                  </a:extLst>
                </a:gridCol>
              </a:tblGrid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19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Quantity</a:t>
                      </a:r>
                    </a:p>
                  </a:txBody>
                  <a:tcPr marL="50800" marR="50800" marT="25400" marB="25400">
                    <a:solidFill>
                      <a:srgbClr val="1954A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Value</a:t>
                      </a:r>
                    </a:p>
                  </a:txBody>
                  <a:tcPr marL="50800" marR="50800" marT="25400" marB="25400">
                    <a:solidFill>
                      <a:srgbClr val="1954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2967277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DC bus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1200 V nominal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0071841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Output power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300 kW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9868639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Modulation index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M ≤ 1.15 (SVM)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1438480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Machine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PMSM, cos </a:t>
                      </a:r>
                      <a:r>
                        <a:rPr lang="el-GR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φ </a:t>
                      </a:r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assumed 0.9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3902053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Switching frequency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≥ 50 kHz (step 6)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2065131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Cooling / T</a:t>
                      </a:r>
                      <a:r>
                        <a:rPr lang="sv-SE" sz="1190" baseline="-250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j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load test: air 25–40 °C / ≤ 125 °C</a:t>
                      </a:r>
                      <a:endParaRPr lang="sv-SE" sz="1190">
                        <a:solidFill>
                          <a:srgbClr val="1E1E1E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1854393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Device stress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V</a:t>
                      </a:r>
                      <a:r>
                        <a:rPr lang="en-US" sz="1190" baseline="-250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DS</a:t>
                      </a:r>
                      <a:r>
                        <a:rPr lang="en-US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 ≤ 90 V at nominal bus (100 V part)</a:t>
                      </a:r>
                      <a:endParaRPr lang="sv-SE" sz="1190">
                        <a:solidFill>
                          <a:srgbClr val="1E1E1E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750597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EB76413-A640-8C9F-BA69-FCD7F6775332}"/>
              </a:ext>
            </a:extLst>
          </p:cNvPr>
          <p:cNvSpPr txBox="1"/>
          <p:nvPr/>
        </p:nvSpPr>
        <p:spPr>
          <a:xfrm>
            <a:off x="5429250" y="3095625"/>
            <a:ext cx="3476625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en-US" sz="1470">
                <a:solidFill>
                  <a:srgbClr val="1E1E1E"/>
                </a:solidFill>
                <a:latin typeface="Arial" panose="020B0604020202020204" pitchFamily="34" charset="0"/>
              </a:rPr>
              <a:t>SPB: N three-phase submodules in series on the DC side, each feeding one winding set of the machine</a:t>
            </a:r>
          </a:p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en-US" sz="1470">
                <a:solidFill>
                  <a:srgbClr val="1E1E1E"/>
                </a:solidFill>
                <a:latin typeface="Arial" panose="020B0604020202020204" pitchFamily="34" charset="0"/>
              </a:rPr>
              <a:t>V</a:t>
            </a:r>
            <a:r>
              <a:rPr lang="en-US" sz="1470" baseline="-25000">
                <a:solidFill>
                  <a:srgbClr val="1E1E1E"/>
                </a:solidFill>
                <a:latin typeface="Arial" panose="020B0604020202020204" pitchFamily="34" charset="0"/>
              </a:rPr>
              <a:t>m</a:t>
            </a:r>
            <a:r>
              <a:rPr lang="en-US" sz="1470">
                <a:solidFill>
                  <a:srgbClr val="1E1E1E"/>
                </a:solidFill>
                <a:latin typeface="Arial" panose="020B0604020202020204" pitchFamily="34" charset="0"/>
              </a:rPr>
              <a:t> = 1200 V / N per submodule; each submodule = 3 legs on one DC link</a:t>
            </a:r>
            <a:endParaRPr lang="sv-SE" sz="1470" dirty="0" err="1">
              <a:solidFill>
                <a:srgbClr val="1E1E1E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80742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F593E-6F2A-0357-2EC4-946F1F258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100"/>
              <a:t>Phase current follows from the inputs</a:t>
            </a:r>
            <a:endParaRPr lang="sv-SE" sz="21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CB161B-F58C-C310-76DA-66640BDC0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4AD301-2CCB-47E5-82C4-622B49BD0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4</a:t>
            </a:fld>
            <a:endParaRPr lang="sv-S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F16905-41E3-D337-D335-C33D5D7B7501}"/>
              </a:ext>
            </a:extLst>
          </p:cNvPr>
          <p:cNvSpPr txBox="1"/>
          <p:nvPr/>
        </p:nvSpPr>
        <p:spPr>
          <a:xfrm>
            <a:off x="238125" y="952500"/>
            <a:ext cx="51435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sv-SE" sz="1560">
                <a:solidFill>
                  <a:srgbClr val="1E1E1E"/>
                </a:solidFill>
                <a:latin typeface="Arial" panose="020B0604020202020204" pitchFamily="34" charset="0"/>
              </a:rPr>
              <a:t>Each of the 3N legs delivers P/3N at V</a:t>
            </a:r>
            <a:r>
              <a:rPr lang="sv-SE" sz="1560" baseline="-25000">
                <a:solidFill>
                  <a:srgbClr val="1E1E1E"/>
                </a:solidFill>
                <a:latin typeface="Arial" panose="020B0604020202020204" pitchFamily="34" charset="0"/>
              </a:rPr>
              <a:t>ph</a:t>
            </a:r>
            <a:r>
              <a:rPr lang="sv-SE" sz="1560">
                <a:solidFill>
                  <a:srgbClr val="1E1E1E"/>
                </a:solidFill>
                <a:latin typeface="Arial" panose="020B0604020202020204" pitchFamily="34" charset="0"/>
              </a:rPr>
              <a:t> = M·V</a:t>
            </a:r>
            <a:r>
              <a:rPr lang="sv-SE" sz="1560" baseline="-25000">
                <a:solidFill>
                  <a:srgbClr val="1E1E1E"/>
                </a:solidFill>
                <a:latin typeface="Arial" panose="020B0604020202020204" pitchFamily="34" charset="0"/>
              </a:rPr>
              <a:t>m</a:t>
            </a:r>
            <a:r>
              <a:rPr lang="sv-SE" sz="1560">
                <a:solidFill>
                  <a:srgbClr val="1E1E1E"/>
                </a:solidFill>
                <a:latin typeface="Arial" panose="020B0604020202020204" pitchFamily="34" charset="0"/>
              </a:rPr>
              <a:t>/(2√2):</a:t>
            </a:r>
          </a:p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sv-SE" sz="1560">
                <a:solidFill>
                  <a:srgbClr val="1E1E1E"/>
                </a:solidFill>
                <a:latin typeface="Arial" panose="020B0604020202020204" pitchFamily="34" charset="0"/>
              </a:rPr>
              <a:t>I</a:t>
            </a:r>
            <a:r>
              <a:rPr lang="sv-SE" sz="1560" baseline="-25000">
                <a:solidFill>
                  <a:srgbClr val="1E1E1E"/>
                </a:solidFill>
                <a:latin typeface="Arial" panose="020B0604020202020204" pitchFamily="34" charset="0"/>
              </a:rPr>
              <a:t>rms</a:t>
            </a:r>
            <a:r>
              <a:rPr lang="sv-SE" sz="1560">
                <a:solidFill>
                  <a:srgbClr val="1E1E1E"/>
                </a:solidFill>
                <a:latin typeface="Arial" panose="020B0604020202020204" pitchFamily="34" charset="0"/>
              </a:rPr>
              <a:t> = P / (3 · M·V</a:t>
            </a:r>
            <a:r>
              <a:rPr lang="sv-SE" sz="1560" baseline="-25000">
                <a:solidFill>
                  <a:srgbClr val="1E1E1E"/>
                </a:solidFill>
                <a:latin typeface="Arial" panose="020B0604020202020204" pitchFamily="34" charset="0"/>
              </a:rPr>
              <a:t>bus</a:t>
            </a:r>
            <a:r>
              <a:rPr lang="sv-SE" sz="1560">
                <a:solidFill>
                  <a:srgbClr val="1E1E1E"/>
                </a:solidFill>
                <a:latin typeface="Arial" panose="020B0604020202020204" pitchFamily="34" charset="0"/>
              </a:rPr>
              <a:t>/(2√2) · cos </a:t>
            </a:r>
            <a:r>
              <a:rPr lang="el-GR" sz="1560">
                <a:solidFill>
                  <a:srgbClr val="1E1E1E"/>
                </a:solidFill>
                <a:latin typeface="Arial" panose="020B0604020202020204" pitchFamily="34" charset="0"/>
              </a:rPr>
              <a:t>φ)</a:t>
            </a:r>
          </a:p>
          <a:p>
            <a:pPr marL="685800" lvl="1" indent="-342900">
              <a:spcAft>
                <a:spcPts val="400"/>
              </a:spcAft>
              <a:buFont typeface="+mj-lt"/>
              <a:buChar char="–"/>
            </a:pPr>
            <a:r>
              <a:rPr lang="sv-SE" sz="1460">
                <a:solidFill>
                  <a:srgbClr val="1E1E1E"/>
                </a:solidFill>
                <a:latin typeface="Arial" panose="020B0604020202020204" pitchFamily="34" charset="0"/>
              </a:rPr>
              <a:t>N·V</a:t>
            </a:r>
            <a:r>
              <a:rPr lang="sv-SE" sz="1460" baseline="-25000">
                <a:solidFill>
                  <a:srgbClr val="1E1E1E"/>
                </a:solidFill>
                <a:latin typeface="Arial" panose="020B0604020202020204" pitchFamily="34" charset="0"/>
              </a:rPr>
              <a:t>m</a:t>
            </a:r>
            <a:r>
              <a:rPr lang="sv-SE" sz="1460">
                <a:solidFill>
                  <a:srgbClr val="1E1E1E"/>
                </a:solidFill>
                <a:latin typeface="Arial" panose="020B0604020202020204" pitchFamily="34" charset="0"/>
              </a:rPr>
              <a:t> = V</a:t>
            </a:r>
            <a:r>
              <a:rPr lang="sv-SE" sz="1460" baseline="-25000">
                <a:solidFill>
                  <a:srgbClr val="1E1E1E"/>
                </a:solidFill>
                <a:latin typeface="Arial" panose="020B0604020202020204" pitchFamily="34" charset="0"/>
              </a:rPr>
              <a:t>bus</a:t>
            </a:r>
            <a:r>
              <a:rPr lang="sv-SE" sz="1460">
                <a:solidFill>
                  <a:srgbClr val="1E1E1E"/>
                </a:solidFill>
                <a:latin typeface="Arial" panose="020B0604020202020204" pitchFamily="34" charset="0"/>
              </a:rPr>
              <a:t>: the phase current does </a:t>
            </a:r>
            <a:r>
              <a:rPr lang="sv-SE" sz="1460" b="1">
                <a:solidFill>
                  <a:srgbClr val="C84632"/>
                </a:solidFill>
                <a:latin typeface="Arial" panose="020B0604020202020204" pitchFamily="34" charset="0"/>
              </a:rPr>
              <a:t>not</a:t>
            </a:r>
            <a:r>
              <a:rPr lang="sv-SE" sz="1460">
                <a:solidFill>
                  <a:srgbClr val="1E1E1E"/>
                </a:solidFill>
                <a:latin typeface="Arial" panose="020B0604020202020204" pitchFamily="34" charset="0"/>
              </a:rPr>
              <a:t> depend on N</a:t>
            </a:r>
          </a:p>
          <a:p>
            <a:pPr marL="685800" lvl="1" indent="-342900">
              <a:spcAft>
                <a:spcPts val="400"/>
              </a:spcAft>
              <a:buFont typeface="+mj-lt"/>
              <a:buChar char="–"/>
            </a:pPr>
            <a:r>
              <a:rPr lang="sv-SE" sz="1460">
                <a:solidFill>
                  <a:srgbClr val="1E1E1E"/>
                </a:solidFill>
                <a:latin typeface="Arial" panose="020B0604020202020204" pitchFamily="34" charset="0"/>
              </a:rPr>
              <a:t>V</a:t>
            </a:r>
            <a:r>
              <a:rPr lang="sv-SE" sz="1460" baseline="-25000">
                <a:solidFill>
                  <a:srgbClr val="1E1E1E"/>
                </a:solidFill>
                <a:latin typeface="Arial" panose="020B0604020202020204" pitchFamily="34" charset="0"/>
              </a:rPr>
              <a:t>ph</a:t>
            </a:r>
            <a:r>
              <a:rPr lang="sv-SE" sz="1460">
                <a:solidFill>
                  <a:srgbClr val="1E1E1E"/>
                </a:solidFill>
                <a:latin typeface="Arial" panose="020B0604020202020204" pitchFamily="34" charset="0"/>
              </a:rPr>
              <a:t> = 1.15 · 75 V / 2√2 = 30.5 V; 6.25 kW per leg</a:t>
            </a:r>
          </a:p>
          <a:p>
            <a:pPr marL="685800" lvl="1" indent="-342900">
              <a:spcAft>
                <a:spcPts val="400"/>
              </a:spcAft>
              <a:buFont typeface="+mj-lt"/>
              <a:buChar char="–"/>
            </a:pPr>
            <a:r>
              <a:rPr lang="sv-SE" sz="1460" b="1">
                <a:solidFill>
                  <a:srgbClr val="1E1E1E"/>
                </a:solidFill>
                <a:latin typeface="Arial" panose="020B0604020202020204" pitchFamily="34" charset="0"/>
              </a:rPr>
              <a:t>228 Arms per leg</a:t>
            </a:r>
            <a:r>
              <a:rPr lang="sv-SE" sz="1460">
                <a:solidFill>
                  <a:srgbClr val="1E1E1E"/>
                </a:solidFill>
                <a:latin typeface="Arial" panose="020B0604020202020204" pitchFamily="34" charset="0"/>
              </a:rPr>
              <a:t>, 322 A peak (cos </a:t>
            </a:r>
            <a:r>
              <a:rPr lang="el-GR" sz="1460">
                <a:solidFill>
                  <a:srgbClr val="1E1E1E"/>
                </a:solidFill>
                <a:latin typeface="Arial" panose="020B0604020202020204" pitchFamily="34" charset="0"/>
              </a:rPr>
              <a:t>φ = 0.9)</a:t>
            </a:r>
          </a:p>
          <a:p>
            <a:pPr marL="685800" lvl="1" indent="-342900">
              <a:spcAft>
                <a:spcPts val="400"/>
              </a:spcAft>
              <a:buFont typeface="+mj-lt"/>
              <a:buChar char="–"/>
            </a:pPr>
            <a:r>
              <a:rPr lang="sv-SE" sz="1460">
                <a:solidFill>
                  <a:srgbClr val="1E1E1E"/>
                </a:solidFill>
                <a:latin typeface="Arial" panose="020B0604020202020204" pitchFamily="34" charset="0"/>
              </a:rPr>
              <a:t>DC current per leg 83 A; series DC chain 250 A</a:t>
            </a:r>
          </a:p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sv-SE" sz="1560">
                <a:solidFill>
                  <a:srgbClr val="1E1E1E"/>
                </a:solidFill>
                <a:latin typeface="Arial" panose="020B0604020202020204" pitchFamily="34" charset="0"/>
              </a:rPr>
              <a:t>Losses in this deck are for cos </a:t>
            </a:r>
            <a:r>
              <a:rPr lang="el-GR" sz="1560">
                <a:solidFill>
                  <a:srgbClr val="1E1E1E"/>
                </a:solidFill>
                <a:latin typeface="Arial" panose="020B0604020202020204" pitchFamily="34" charset="0"/>
              </a:rPr>
              <a:t>φ = 0.9; </a:t>
            </a:r>
            <a:r>
              <a:rPr lang="sv-SE" sz="1560">
                <a:solidFill>
                  <a:srgbClr val="1E1E1E"/>
                </a:solidFill>
                <a:latin typeface="Arial" panose="020B0604020202020204" pitchFamily="34" charset="0"/>
              </a:rPr>
              <a:t>the PMSM operating point is confirmed with the machine design</a:t>
            </a:r>
            <a:endParaRPr lang="sv-SE" sz="1560" dirty="0" err="1">
              <a:solidFill>
                <a:srgbClr val="1E1E1E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E2F4363-B277-8F57-3068-17BD124467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2913125"/>
              </p:ext>
            </p:extLst>
          </p:nvPr>
        </p:nvGraphicFramePr>
        <p:xfrm>
          <a:off x="5667375" y="952500"/>
          <a:ext cx="3238500" cy="1047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9250">
                  <a:extLst>
                    <a:ext uri="{9D8B030D-6E8A-4147-A177-3AD203B41FA5}">
                      <a16:colId xmlns:a16="http://schemas.microsoft.com/office/drawing/2014/main" val="1718787760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3645213451"/>
                    </a:ext>
                  </a:extLst>
                </a:gridCol>
              </a:tblGrid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56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cos </a:t>
                      </a:r>
                      <a:r>
                        <a:rPr lang="el-GR" sz="156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φ</a:t>
                      </a:r>
                      <a:endParaRPr lang="sv-SE" sz="156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1954A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56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I</a:t>
                      </a:r>
                      <a:r>
                        <a:rPr lang="sv-SE" sz="1560" b="1" baseline="-2500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rms</a:t>
                      </a:r>
                      <a:r>
                        <a:rPr lang="sv-SE" sz="156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 per leg</a:t>
                      </a:r>
                    </a:p>
                  </a:txBody>
                  <a:tcPr marL="50800" marR="50800" marT="25400" marB="25400">
                    <a:solidFill>
                      <a:srgbClr val="1954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2446614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56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1.0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56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205 A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7170017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56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0.95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56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216 A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4238446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56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0.9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56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228 A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3613604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56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0.85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56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241 A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48422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1900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09CFF-51E9-9B0F-A3BD-DC0222A3F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100"/>
              <a:t>Voltage class: why 100 V GaN</a:t>
            </a:r>
            <a:endParaRPr lang="sv-SE" sz="21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A3135E-38DE-239A-2AF1-A8211385E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069C83-2A5E-17CB-88A0-E8BD5D03F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5</a:t>
            </a:fld>
            <a:endParaRPr lang="sv-S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3C91CBB-CF80-ACB5-68A6-F327588C64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910" y="952500"/>
            <a:ext cx="7284181" cy="25717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8538C2E-A44A-B31F-96EB-81F3D23BB807}"/>
              </a:ext>
            </a:extLst>
          </p:cNvPr>
          <p:cNvSpPr txBox="1"/>
          <p:nvPr/>
        </p:nvSpPr>
        <p:spPr>
          <a:xfrm>
            <a:off x="238125" y="3543300"/>
            <a:ext cx="866775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en-US" sz="1190">
                <a:solidFill>
                  <a:srgbClr val="1E1E1E"/>
                </a:solidFill>
                <a:latin typeface="Arial" panose="020B0604020202020204" pitchFamily="34" charset="0"/>
              </a:rPr>
              <a:t>(a) At fixed bus voltage and phase current the minimum semiconductor loss scales with √(R</a:t>
            </a:r>
            <a:r>
              <a:rPr lang="en-US" sz="1190" baseline="-25000">
                <a:solidFill>
                  <a:srgbClr val="1E1E1E"/>
                </a:solidFill>
                <a:latin typeface="Arial" panose="020B0604020202020204" pitchFamily="34" charset="0"/>
              </a:rPr>
              <a:t>DS(on)</a:t>
            </a:r>
            <a:r>
              <a:rPr lang="en-US" sz="1190">
                <a:solidFill>
                  <a:srgbClr val="1E1E1E"/>
                </a:solidFill>
                <a:latin typeface="Arial" panose="020B0604020202020204" pitchFamily="34" charset="0"/>
              </a:rPr>
              <a:t>·C</a:t>
            </a:r>
            <a:r>
              <a:rPr lang="en-US" sz="1190" baseline="-25000">
                <a:solidFill>
                  <a:srgbClr val="1E1E1E"/>
                </a:solidFill>
                <a:latin typeface="Arial" panose="020B0604020202020204" pitchFamily="34" charset="0"/>
              </a:rPr>
              <a:t>oss,tr</a:t>
            </a:r>
            <a:r>
              <a:rPr lang="en-US" sz="1190">
                <a:solidFill>
                  <a:srgbClr val="1E1E1E"/>
                </a:solidFill>
                <a:latin typeface="Arial" panose="020B0604020202020204" pitchFamily="34" charset="0"/>
              </a:rPr>
              <a:t>): the 100 V GaN parts have the lowest product</a:t>
            </a:r>
          </a:p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en-US" sz="1190">
                <a:solidFill>
                  <a:srgbClr val="1E1E1E"/>
                </a:solidFill>
                <a:latin typeface="Arial" panose="020B0604020202020204" pitchFamily="34" charset="0"/>
              </a:rPr>
              <a:t>(b) Per volt of blocking capability: 100 V GaN has the lowest R</a:t>
            </a:r>
            <a:r>
              <a:rPr lang="en-US" sz="1190" baseline="-25000">
                <a:solidFill>
                  <a:srgbClr val="1E1E1E"/>
                </a:solidFill>
                <a:latin typeface="Arial" panose="020B0604020202020204" pitchFamily="34" charset="0"/>
              </a:rPr>
              <a:t>DS(on)</a:t>
            </a:r>
            <a:r>
              <a:rPr lang="en-US" sz="1190">
                <a:solidFill>
                  <a:srgbClr val="1E1E1E"/>
                </a:solidFill>
                <a:latin typeface="Arial" panose="020B0604020202020204" pitchFamily="34" charset="0"/>
              </a:rPr>
              <a:t>/V</a:t>
            </a:r>
            <a:r>
              <a:rPr lang="en-US" sz="1190" baseline="-25000">
                <a:solidFill>
                  <a:srgbClr val="1E1E1E"/>
                </a:solidFill>
                <a:latin typeface="Arial" panose="020B0604020202020204" pitchFamily="34" charset="0"/>
              </a:rPr>
              <a:t>DS,max</a:t>
            </a:r>
            <a:r>
              <a:rPr lang="en-US" sz="1190">
                <a:solidFill>
                  <a:srgbClr val="1E1E1E"/>
                </a:solidFill>
                <a:latin typeface="Arial" panose="020B0604020202020204" pitchFamily="34" charset="0"/>
              </a:rPr>
              <a:t> (EPC2361 7.5 µΩ/V, 3–30× below 200–650 V) at a higher C</a:t>
            </a:r>
            <a:r>
              <a:rPr lang="en-US" sz="1190" baseline="-25000">
                <a:solidFill>
                  <a:srgbClr val="1E1E1E"/>
                </a:solidFill>
                <a:latin typeface="Arial" panose="020B0604020202020204" pitchFamily="34" charset="0"/>
              </a:rPr>
              <a:t>oss</a:t>
            </a:r>
            <a:r>
              <a:rPr lang="en-US" sz="1190">
                <a:solidFill>
                  <a:srgbClr val="1E1E1E"/>
                </a:solidFill>
                <a:latin typeface="Arial" panose="020B0604020202020204" pitchFamily="34" charset="0"/>
              </a:rPr>
              <a:t>/V; conduction dominates here (12.4 W vs 4–5 W switching per leg, step 5)</a:t>
            </a:r>
          </a:p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en-US" sz="1190">
                <a:solidFill>
                  <a:srgbClr val="1E1E1E"/>
                </a:solidFill>
                <a:latin typeface="Arial" panose="020B0604020202020204" pitchFamily="34" charset="0"/>
              </a:rPr>
              <a:t>(c) Best device per class: 100 V needs more submodules but the fewest devices per switch and the smallest voltage step → </a:t>
            </a:r>
            <a:r>
              <a:rPr lang="en-US" sz="1190" b="1">
                <a:solidFill>
                  <a:srgbClr val="1E1E1E"/>
                </a:solidFill>
                <a:latin typeface="Arial" panose="020B0604020202020204" pitchFamily="34" charset="0"/>
              </a:rPr>
              <a:t>EPC2361</a:t>
            </a:r>
            <a:r>
              <a:rPr lang="en-US" sz="1190">
                <a:solidFill>
                  <a:srgbClr val="1E1E1E"/>
                </a:solidFill>
                <a:latin typeface="Arial" panose="020B0604020202020204" pitchFamily="34" charset="0"/>
              </a:rPr>
              <a:t>, 100 V, 0.75 mΩ typ, 3 × 5 mm, top-side cooling</a:t>
            </a:r>
            <a:endParaRPr lang="sv-SE" sz="1190" dirty="0" err="1">
              <a:solidFill>
                <a:srgbClr val="1E1E1E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3550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B8A68-9CFC-54B4-477D-6ADC8A42F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100"/>
              <a:t>EPC2361: key data and the Kelvin source</a:t>
            </a:r>
            <a:endParaRPr lang="sv-SE" sz="21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8A763E-6BF5-11B8-008E-B71B8227F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D8F875-4FD3-FEA3-1E11-795577D71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6</a:t>
            </a:fld>
            <a:endParaRPr lang="sv-S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D34927-D0C1-884C-6690-BD94D8EE56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7070" y="952500"/>
            <a:ext cx="6749859" cy="2428875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8E04B80-5899-195D-AD3F-FFAA351222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7960861"/>
              </p:ext>
            </p:extLst>
          </p:nvPr>
        </p:nvGraphicFramePr>
        <p:xfrm>
          <a:off x="238125" y="3448050"/>
          <a:ext cx="4476750" cy="1257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1810191818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1374824971"/>
                    </a:ext>
                  </a:extLst>
                </a:gridCol>
              </a:tblGrid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Parameter</a:t>
                      </a:r>
                    </a:p>
                  </a:txBody>
                  <a:tcPr marL="50800" marR="50800" marT="25400" marB="25400">
                    <a:solidFill>
                      <a:srgbClr val="1954A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Value</a:t>
                      </a:r>
                    </a:p>
                  </a:txBody>
                  <a:tcPr marL="50800" marR="50800" marT="25400" marB="25400">
                    <a:solidFill>
                      <a:srgbClr val="1954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9253526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V</a:t>
                      </a:r>
                      <a:r>
                        <a:rPr lang="sv-SE" sz="1100" baseline="-250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DS</a:t>
                      </a:r>
                      <a:r>
                        <a:rPr lang="sv-SE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 / transient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100 / 120 V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6595646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R</a:t>
                      </a:r>
                      <a:r>
                        <a:rPr lang="sv-SE" sz="1100" baseline="-250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DS(on)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0.75 m</a:t>
                      </a:r>
                      <a:r>
                        <a:rPr lang="el-GR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Ω </a:t>
                      </a:r>
                      <a:r>
                        <a:rPr lang="sv-SE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typ (1.0 max)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6674512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V</a:t>
                      </a:r>
                      <a:r>
                        <a:rPr lang="sv-SE" sz="1100" baseline="-250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GS</a:t>
                      </a:r>
                      <a:r>
                        <a:rPr lang="sv-SE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 range / V</a:t>
                      </a:r>
                      <a:r>
                        <a:rPr lang="sv-SE" sz="1100" baseline="-250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GS(th)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−4 … +6 V / 0.8 – 2.5 V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291145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C</a:t>
                      </a:r>
                      <a:r>
                        <a:rPr lang="sv-SE" sz="1100" baseline="-250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iss</a:t>
                      </a:r>
                      <a:r>
                        <a:rPr lang="sv-SE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 / C</a:t>
                      </a:r>
                      <a:r>
                        <a:rPr lang="sv-SE" sz="1100" baseline="-250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oss</a:t>
                      </a:r>
                      <a:r>
                        <a:rPr lang="sv-SE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 / C</a:t>
                      </a:r>
                      <a:r>
                        <a:rPr lang="sv-SE" sz="1100" baseline="-250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rss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3599 / 1019 / 13 pF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907695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Q</a:t>
                      </a:r>
                      <a:r>
                        <a:rPr lang="sv-SE" sz="1100" baseline="-250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G</a:t>
                      </a:r>
                      <a:r>
                        <a:rPr lang="sv-SE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 / Q</a:t>
                      </a:r>
                      <a:r>
                        <a:rPr lang="sv-SE" sz="1100" baseline="-250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GD</a:t>
                      </a:r>
                      <a:r>
                        <a:rPr lang="sv-SE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 / Q</a:t>
                      </a:r>
                      <a:r>
                        <a:rPr lang="sv-SE" sz="1100" baseline="-250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OSS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28 / 3.8 / 90 nC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155096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26B9B53A-C521-B61E-FA64-BBE5518A62F6}"/>
              </a:ext>
            </a:extLst>
          </p:cNvPr>
          <p:cNvSpPr txBox="1"/>
          <p:nvPr/>
        </p:nvSpPr>
        <p:spPr>
          <a:xfrm>
            <a:off x="4857750" y="3448050"/>
            <a:ext cx="4048125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en-US" sz="1190">
                <a:solidFill>
                  <a:srgbClr val="1E1E1E"/>
                </a:solidFill>
                <a:latin typeface="Arial" panose="020B0604020202020204" pitchFamily="34" charset="0"/>
              </a:rPr>
              <a:t>Kelvin pad 2 next to the gate: the gate loop returns at the die, the source stripes and vias (L</a:t>
            </a:r>
            <a:r>
              <a:rPr lang="en-US" sz="1190" baseline="-25000">
                <a:solidFill>
                  <a:srgbClr val="1E1E1E"/>
                </a:solidFill>
                <a:latin typeface="Arial" panose="020B0604020202020204" pitchFamily="34" charset="0"/>
              </a:rPr>
              <a:t>S</a:t>
            </a:r>
            <a:r>
              <a:rPr lang="en-US" sz="1190">
                <a:solidFill>
                  <a:srgbClr val="1E1E1E"/>
                </a:solidFill>
                <a:latin typeface="Arial" panose="020B0604020202020204" pitchFamily="34" charset="0"/>
              </a:rPr>
              <a:t>) stay in the power loop only ⇒ no L</a:t>
            </a:r>
            <a:r>
              <a:rPr lang="en-US" sz="1190" baseline="-25000">
                <a:solidFill>
                  <a:srgbClr val="1E1E1E"/>
                </a:solidFill>
                <a:latin typeface="Arial" panose="020B0604020202020204" pitchFamily="34" charset="0"/>
              </a:rPr>
              <a:t>S</a:t>
            </a:r>
            <a:r>
              <a:rPr lang="en-US" sz="1190">
                <a:solidFill>
                  <a:srgbClr val="1E1E1E"/>
                </a:solidFill>
                <a:latin typeface="Arial" panose="020B0604020202020204" pitchFamily="34" charset="0"/>
              </a:rPr>
              <a:t>·di/dt feedback into v</a:t>
            </a:r>
            <a:r>
              <a:rPr lang="en-US" sz="1190" baseline="-25000">
                <a:solidFill>
                  <a:srgbClr val="1E1E1E"/>
                </a:solidFill>
                <a:latin typeface="Arial" panose="020B0604020202020204" pitchFamily="34" charset="0"/>
              </a:rPr>
              <a:t>GS</a:t>
            </a:r>
          </a:p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en-US" sz="1190">
                <a:solidFill>
                  <a:srgbClr val="1E1E1E"/>
                </a:solidFill>
                <a:latin typeface="Arial" panose="020B0604020202020204" pitchFamily="34" charset="0"/>
              </a:rPr>
              <a:t>Low threshold and −4 V limit: gate bump and negative bias need care (step 7)</a:t>
            </a:r>
          </a:p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en-US" sz="1190">
                <a:solidFill>
                  <a:srgbClr val="1E1E1E"/>
                </a:solidFill>
                <a:latin typeface="Arial" panose="020B0604020202020204" pitchFamily="34" charset="0"/>
              </a:rPr>
              <a:t>Top of the package at </a:t>
            </a:r>
            <a:r>
              <a:rPr lang="en-US" sz="1190" b="1">
                <a:solidFill>
                  <a:srgbClr val="C84632"/>
                </a:solidFill>
                <a:latin typeface="Arial" panose="020B0604020202020204" pitchFamily="34" charset="0"/>
              </a:rPr>
              <a:t>source potential</a:t>
            </a:r>
            <a:r>
              <a:rPr lang="en-US" sz="1190">
                <a:solidFill>
                  <a:srgbClr val="1E1E1E"/>
                </a:solidFill>
                <a:latin typeface="Arial" panose="020B0604020202020204" pitchFamily="34" charset="0"/>
              </a:rPr>
              <a:t>: the thermal interface must insulate</a:t>
            </a:r>
            <a:endParaRPr lang="sv-SE" sz="1190" dirty="0" err="1">
              <a:solidFill>
                <a:srgbClr val="1E1E1E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11597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058F4-080F-1519-5948-A9CC41E13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sz="2100"/>
              <a:t>Submodule voltage from L·di/dt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1587D6-2B9B-13E0-B01A-368DEB395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34298F-54B3-605D-D3B1-773513DCA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7</a:t>
            </a:fld>
            <a:endParaRPr lang="sv-S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EB54763-36B4-C107-06AC-7F9030007D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7322" y="952500"/>
            <a:ext cx="6269356" cy="25527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B869DC4-B294-1FCE-29AF-2EC1E593F6BA}"/>
              </a:ext>
            </a:extLst>
          </p:cNvPr>
          <p:cNvSpPr txBox="1"/>
          <p:nvPr/>
        </p:nvSpPr>
        <p:spPr>
          <a:xfrm>
            <a:off x="238125" y="3524250"/>
            <a:ext cx="866775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sv-SE" sz="1280">
                <a:solidFill>
                  <a:srgbClr val="1E1E1E"/>
                </a:solidFill>
                <a:latin typeface="Arial" panose="020B0604020202020204" pitchFamily="34" charset="0"/>
              </a:rPr>
              <a:t>Peak stress v̂</a:t>
            </a:r>
            <a:r>
              <a:rPr lang="sv-SE" sz="1280" baseline="-25000">
                <a:solidFill>
                  <a:srgbClr val="1E1E1E"/>
                </a:solidFill>
                <a:latin typeface="Arial" panose="020B0604020202020204" pitchFamily="34" charset="0"/>
              </a:rPr>
              <a:t>DS</a:t>
            </a:r>
            <a:r>
              <a:rPr lang="sv-SE" sz="1280">
                <a:solidFill>
                  <a:srgbClr val="1E1E1E"/>
                </a:solidFill>
                <a:latin typeface="Arial" panose="020B0604020202020204" pitchFamily="34" charset="0"/>
              </a:rPr>
              <a:t> = V</a:t>
            </a:r>
            <a:r>
              <a:rPr lang="sv-SE" sz="1280" baseline="-25000">
                <a:solidFill>
                  <a:srgbClr val="1E1E1E"/>
                </a:solidFill>
                <a:latin typeface="Arial" panose="020B0604020202020204" pitchFamily="34" charset="0"/>
              </a:rPr>
              <a:t>m</a:t>
            </a:r>
            <a:r>
              <a:rPr lang="sv-SE" sz="1280">
                <a:solidFill>
                  <a:srgbClr val="1E1E1E"/>
                </a:solidFill>
                <a:latin typeface="Arial" panose="020B0604020202020204" pitchFamily="34" charset="0"/>
              </a:rPr>
              <a:t> + L</a:t>
            </a:r>
            <a:r>
              <a:rPr lang="sv-SE" sz="1280" baseline="-25000">
                <a:solidFill>
                  <a:srgbClr val="1E1E1E"/>
                </a:solidFill>
                <a:latin typeface="Arial" panose="020B0604020202020204" pitchFamily="34" charset="0"/>
              </a:rPr>
              <a:t>loop</a:t>
            </a:r>
            <a:r>
              <a:rPr lang="sv-SE" sz="1280">
                <a:solidFill>
                  <a:srgbClr val="1E1E1E"/>
                </a:solidFill>
                <a:latin typeface="Arial" panose="020B0604020202020204" pitchFamily="34" charset="0"/>
              </a:rPr>
              <a:t>·di/dt ≤ 90 V; turn-on di/dt (gate-charge model, R</a:t>
            </a:r>
            <a:r>
              <a:rPr lang="sv-SE" sz="1280" baseline="-25000">
                <a:solidFill>
                  <a:srgbClr val="1E1E1E"/>
                </a:solidFill>
                <a:latin typeface="Arial" panose="020B0604020202020204" pitchFamily="34" charset="0"/>
              </a:rPr>
              <a:t>g,on</a:t>
            </a:r>
            <a:r>
              <a:rPr lang="sv-SE" sz="1280">
                <a:solidFill>
                  <a:srgbClr val="1E1E1E"/>
                </a:solidFill>
                <a:latin typeface="Arial" panose="020B0604020202020204" pitchFamily="34" charset="0"/>
              </a:rPr>
              <a:t> 2 </a:t>
            </a:r>
            <a:r>
              <a:rPr lang="el-GR" sz="1280">
                <a:solidFill>
                  <a:srgbClr val="1E1E1E"/>
                </a:solidFill>
                <a:latin typeface="Arial" panose="020B0604020202020204" pitchFamily="34" charset="0"/>
              </a:rPr>
              <a:t>Ω): 25 / 33 / 50 </a:t>
            </a:r>
            <a:r>
              <a:rPr lang="sv-SE" sz="1280">
                <a:solidFill>
                  <a:srgbClr val="1E1E1E"/>
                </a:solidFill>
                <a:latin typeface="Arial" panose="020B0604020202020204" pitchFamily="34" charset="0"/>
              </a:rPr>
              <a:t>A/ns at 60 / 80 / 120 A per device</a:t>
            </a:r>
          </a:p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sv-SE" sz="1280">
                <a:solidFill>
                  <a:srgbClr val="1E1E1E"/>
                </a:solidFill>
                <a:latin typeface="Arial" panose="020B0604020202020204" pitchFamily="34" charset="0"/>
              </a:rPr>
              <a:t>At 80 A per device: V</a:t>
            </a:r>
            <a:r>
              <a:rPr lang="sv-SE" sz="1280" baseline="-25000">
                <a:solidFill>
                  <a:srgbClr val="1E1E1E"/>
                </a:solidFill>
                <a:latin typeface="Arial" panose="020B0604020202020204" pitchFamily="34" charset="0"/>
              </a:rPr>
              <a:t>m</a:t>
            </a:r>
            <a:r>
              <a:rPr lang="sv-SE" sz="1280">
                <a:solidFill>
                  <a:srgbClr val="1E1E1E"/>
                </a:solidFill>
                <a:latin typeface="Arial" panose="020B0604020202020204" pitchFamily="34" charset="0"/>
              </a:rPr>
              <a:t> ≤ </a:t>
            </a:r>
            <a:r>
              <a:rPr lang="sv-SE" sz="1280" b="1">
                <a:solidFill>
                  <a:srgbClr val="1E1E1E"/>
                </a:solidFill>
                <a:latin typeface="Arial" panose="020B0604020202020204" pitchFamily="34" charset="0"/>
              </a:rPr>
              <a:t>73 V</a:t>
            </a:r>
            <a:r>
              <a:rPr lang="sv-SE" sz="1280">
                <a:solidFill>
                  <a:srgbClr val="1E1E1E"/>
                </a:solidFill>
                <a:latin typeface="Arial" panose="020B0604020202020204" pitchFamily="34" charset="0"/>
              </a:rPr>
              <a:t> with 0.5 nH, only 57 V with 1 nH ⇒ the loop must stay near 0.5 nH (or the turn-on is slowed); N even (symmetric winding sets): 16 → 75 V</a:t>
            </a:r>
            <a:endParaRPr lang="sv-SE" sz="1280" dirty="0" err="1">
              <a:solidFill>
                <a:srgbClr val="1E1E1E"/>
              </a:solidFill>
              <a:latin typeface="Arial" panose="020B0604020202020204" pitchFamily="34" charset="0"/>
            </a:endParaRPr>
          </a:p>
        </p:txBody>
      </p:sp>
      <p:sp>
        <p:nvSpPr>
          <p:cNvPr id="9" name="decision">
            <a:extLst>
              <a:ext uri="{FF2B5EF4-FFF2-40B4-BE49-F238E27FC236}">
                <a16:creationId xmlns:a16="http://schemas.microsoft.com/office/drawing/2014/main" id="{39C57C1A-20E9-FC89-14C7-69D644B57028}"/>
              </a:ext>
            </a:extLst>
          </p:cNvPr>
          <p:cNvSpPr/>
          <p:nvPr/>
        </p:nvSpPr>
        <p:spPr>
          <a:xfrm>
            <a:off x="238125" y="4400550"/>
            <a:ext cx="8667750" cy="381000"/>
          </a:xfrm>
          <a:prstGeom prst="roundRect">
            <a:avLst/>
          </a:prstGeom>
          <a:solidFill>
            <a:srgbClr val="EEF4FB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bIns="25400" rtlCol="0" anchor="ctr">
            <a:noAutofit/>
          </a:bodyPr>
          <a:lstStyle/>
          <a:p>
            <a:r>
              <a:rPr lang="en-US" sz="1380" b="1">
                <a:solidFill>
                  <a:srgbClr val="1E1E1E"/>
                </a:solidFill>
                <a:latin typeface="Arial" panose="020B0604020202020204" pitchFamily="34" charset="0"/>
              </a:rPr>
              <a:t>Decision:</a:t>
            </a:r>
            <a:r>
              <a:rPr lang="en-US" sz="1380">
                <a:solidFill>
                  <a:srgbClr val="1E1E1E"/>
                </a:solidFill>
                <a:latin typeface="Arial" panose="020B0604020202020204" pitchFamily="34" charset="0"/>
              </a:rPr>
              <a:t> V</a:t>
            </a:r>
            <a:r>
              <a:rPr lang="en-US" sz="1380" baseline="-25000">
                <a:solidFill>
                  <a:srgbClr val="1E1E1E"/>
                </a:solidFill>
                <a:latin typeface="Arial" panose="020B0604020202020204" pitchFamily="34" charset="0"/>
              </a:rPr>
              <a:t>m</a:t>
            </a:r>
            <a:r>
              <a:rPr lang="en-US" sz="1380">
                <a:solidFill>
                  <a:srgbClr val="1E1E1E"/>
                </a:solidFill>
                <a:latin typeface="Arial" panose="020B0604020202020204" pitchFamily="34" charset="0"/>
              </a:rPr>
              <a:t> = 75 V, N = 16; layout target 0.5 nH per cell</a:t>
            </a:r>
            <a:endParaRPr lang="sv-SE" sz="1380" dirty="0">
              <a:solidFill>
                <a:srgbClr val="1E1E1E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39856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513FF-42B3-AE54-1C6F-98D65AD31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100"/>
              <a:t>Why not lower: every submodule costs parts and loss</a:t>
            </a:r>
            <a:endParaRPr lang="sv-SE" sz="21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244A8C-3D25-62CC-C6FA-2B271F3E5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568F3F-6AE6-3B0F-CE57-4F291D8D9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8</a:t>
            </a:fld>
            <a:endParaRPr lang="sv-S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E9399F-7061-42B9-A139-16FFDA4023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952500"/>
            <a:ext cx="4953000" cy="298958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8E9FC1B-BD96-1C2C-67CE-97216A93C3F5}"/>
              </a:ext>
            </a:extLst>
          </p:cNvPr>
          <p:cNvSpPr txBox="1"/>
          <p:nvPr/>
        </p:nvSpPr>
        <p:spPr>
          <a:xfrm>
            <a:off x="5381625" y="952500"/>
            <a:ext cx="352425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en-US" sz="1560">
                <a:solidFill>
                  <a:srgbClr val="1E1E1E"/>
                </a:solidFill>
                <a:latin typeface="Arial" panose="020B0604020202020204" pitchFamily="34" charset="0"/>
              </a:rPr>
              <a:t>Phase current is fixed by P, V</a:t>
            </a:r>
            <a:r>
              <a:rPr lang="en-US" sz="1560" baseline="-25000">
                <a:solidFill>
                  <a:srgbClr val="1E1E1E"/>
                </a:solidFill>
                <a:latin typeface="Arial" panose="020B0604020202020204" pitchFamily="34" charset="0"/>
              </a:rPr>
              <a:t>bus</a:t>
            </a:r>
            <a:r>
              <a:rPr lang="en-US" sz="1560">
                <a:solidFill>
                  <a:srgbClr val="1E1E1E"/>
                </a:solidFill>
                <a:latin typeface="Arial" panose="020B0604020202020204" pitchFamily="34" charset="0"/>
              </a:rPr>
              <a:t>, M, cos φ, not by N</a:t>
            </a:r>
          </a:p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en-US" sz="1560">
                <a:solidFill>
                  <a:srgbClr val="1E1E1E"/>
                </a:solidFill>
                <a:latin typeface="Arial" panose="020B0604020202020204" pitchFamily="34" charset="0"/>
              </a:rPr>
              <a:t>Each submodule carries the full phase current ⇒ conduction loss, transistors, drivers and supplies scale with N</a:t>
            </a:r>
          </a:p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en-US" sz="1560">
                <a:solidFill>
                  <a:srgbClr val="1E1E1E"/>
                </a:solidFill>
                <a:latin typeface="Arial" panose="020B0604020202020204" pitchFamily="34" charset="0"/>
              </a:rPr>
              <a:t>60 V (N = 20): +25 % parts and conduction loss</a:t>
            </a:r>
          </a:p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en-US" sz="1560">
                <a:solidFill>
                  <a:srgbClr val="1E1E1E"/>
                </a:solidFill>
                <a:latin typeface="Arial" panose="020B0604020202020204" pitchFamily="34" charset="0"/>
              </a:rPr>
              <a:t>Overshoot margin rechecked on the final boards (Q3D, step 11)</a:t>
            </a:r>
            <a:endParaRPr lang="sv-SE" sz="1560" dirty="0" err="1">
              <a:solidFill>
                <a:srgbClr val="1E1E1E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24351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67E92-A818-8DD2-6EA0-E0D51D39C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100"/>
              <a:t>Power loop of one cell: copper, bypass ESL and shunt</a:t>
            </a:r>
            <a:endParaRPr lang="sv-SE" sz="21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5AEE2C-4131-DD22-C52A-77B6EFA81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96971D-FBA1-8CE8-CC3A-08328C187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9</a:t>
            </a:fld>
            <a:endParaRPr lang="sv-S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C3B25A0-FCCC-A65D-D234-D854B54BDA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1093" y="952500"/>
            <a:ext cx="6821813" cy="24955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7037E05-408E-9D28-A020-5C4929B7B753}"/>
              </a:ext>
            </a:extLst>
          </p:cNvPr>
          <p:cNvSpPr txBox="1"/>
          <p:nvPr/>
        </p:nvSpPr>
        <p:spPr>
          <a:xfrm>
            <a:off x="238125" y="3476625"/>
            <a:ext cx="866775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en-US" sz="1280">
                <a:solidFill>
                  <a:srgbClr val="1E1E1E"/>
                </a:solidFill>
                <a:latin typeface="Arial" panose="020B0604020202020204" pitchFamily="34" charset="0"/>
              </a:rPr>
              <a:t>Q3D of the final boards (cell band): loop = copper of the vertical loop over 0.1 mm (vias, pads) + bypass ESL/n (+ UFCS 120 pH on the DPT board)</a:t>
            </a:r>
          </a:p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en-US" sz="1280">
                <a:solidFill>
                  <a:srgbClr val="1E1E1E"/>
                </a:solidFill>
                <a:latin typeface="Arial" panose="020B0604020202020204" pitchFamily="34" charset="0"/>
              </a:rPr>
              <a:t>Copper alone: 0.35 nH (load) / 0.47 nH (DPT, shunt path); with 6 + 4 bypass 0805 per cell: </a:t>
            </a:r>
            <a:r>
              <a:rPr lang="en-US" sz="1280" b="1">
                <a:solidFill>
                  <a:srgbClr val="1E1E1E"/>
                </a:solidFill>
                <a:latin typeface="Arial" panose="020B0604020202020204" pitchFamily="34" charset="0"/>
              </a:rPr>
              <a:t>0.41 / 0.65 nH</a:t>
            </a:r>
          </a:p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en-US" sz="1280">
                <a:solidFill>
                  <a:srgbClr val="1E1E1E"/>
                </a:solidFill>
                <a:latin typeface="Arial" panose="020B0604020202020204" pitchFamily="34" charset="0"/>
              </a:rPr>
              <a:t>Beyond ≈ 4 bypass parts per cell the number hardly matters; part: 1 µF 100 V X7S 0805 next to the drains</a:t>
            </a:r>
            <a:endParaRPr lang="sv-SE" sz="1280" dirty="0" err="1">
              <a:solidFill>
                <a:srgbClr val="1E1E1E"/>
              </a:solidFill>
              <a:latin typeface="Arial" panose="020B0604020202020204" pitchFamily="34" charset="0"/>
            </a:endParaRPr>
          </a:p>
        </p:txBody>
      </p:sp>
      <p:sp>
        <p:nvSpPr>
          <p:cNvPr id="9" name="decision">
            <a:extLst>
              <a:ext uri="{FF2B5EF4-FFF2-40B4-BE49-F238E27FC236}">
                <a16:creationId xmlns:a16="http://schemas.microsoft.com/office/drawing/2014/main" id="{7EA2B495-1741-9779-FD41-8373AA96B305}"/>
              </a:ext>
            </a:extLst>
          </p:cNvPr>
          <p:cNvSpPr/>
          <p:nvPr/>
        </p:nvSpPr>
        <p:spPr>
          <a:xfrm>
            <a:off x="238125" y="4400550"/>
            <a:ext cx="8667750" cy="381000"/>
          </a:xfrm>
          <a:prstGeom prst="roundRect">
            <a:avLst/>
          </a:prstGeom>
          <a:solidFill>
            <a:srgbClr val="EEF4FB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bIns="25400" rtlCol="0" anchor="ctr">
            <a:noAutofit/>
          </a:bodyPr>
          <a:lstStyle/>
          <a:p>
            <a:r>
              <a:rPr lang="en-US" sz="1380" b="1">
                <a:solidFill>
                  <a:srgbClr val="1E1E1E"/>
                </a:solidFill>
                <a:latin typeface="Arial" panose="020B0604020202020204" pitchFamily="34" charset="0"/>
              </a:rPr>
              <a:t>Decision:</a:t>
            </a:r>
            <a:r>
              <a:rPr lang="en-US" sz="1380">
                <a:solidFill>
                  <a:srgbClr val="1E1E1E"/>
                </a:solidFill>
                <a:latin typeface="Arial" panose="020B0604020202020204" pitchFamily="34" charset="0"/>
              </a:rPr>
              <a:t> Design value L</a:t>
            </a:r>
            <a:r>
              <a:rPr lang="en-US" sz="1380" baseline="-25000">
                <a:solidFill>
                  <a:srgbClr val="1E1E1E"/>
                </a:solidFill>
                <a:latin typeface="Arial" panose="020B0604020202020204" pitchFamily="34" charset="0"/>
              </a:rPr>
              <a:t>loop</a:t>
            </a:r>
            <a:r>
              <a:rPr lang="en-US" sz="1380">
                <a:solidFill>
                  <a:srgbClr val="1E1E1E"/>
                </a:solidFill>
                <a:latin typeface="Arial" panose="020B0604020202020204" pitchFamily="34" charset="0"/>
              </a:rPr>
              <a:t> = 0.5 nH per cell; 1 nH as the pessimistic bound</a:t>
            </a:r>
            <a:endParaRPr lang="sv-SE" sz="1380" dirty="0">
              <a:solidFill>
                <a:srgbClr val="1E1E1E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68367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DB2B7-A32B-73FB-1723-1279332A8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100"/>
              <a:t>One EPC2361 per switch: how fast and how much overshoot</a:t>
            </a:r>
            <a:endParaRPr lang="sv-SE" sz="21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E9F23D-DD96-2870-DC89-6E5A53501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9F4D35-F765-28AC-7481-33D6BD3DD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10</a:t>
            </a:fld>
            <a:endParaRPr lang="sv-S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BE87137-F6F9-72F5-E321-9F314EDCDE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069" y="952500"/>
            <a:ext cx="7395862" cy="24288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3EC7738-437A-A74C-7DC4-E4E022C871A8}"/>
              </a:ext>
            </a:extLst>
          </p:cNvPr>
          <p:cNvSpPr txBox="1"/>
          <p:nvPr/>
        </p:nvSpPr>
        <p:spPr>
          <a:xfrm>
            <a:off x="238125" y="3409950"/>
            <a:ext cx="866775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en-US" sz="1190">
                <a:solidFill>
                  <a:srgbClr val="1E1E1E"/>
                </a:solidFill>
                <a:latin typeface="Arial" panose="020B0604020202020204" pitchFamily="34" charset="0"/>
              </a:rPr>
              <a:t>LTspice half bridge at 75 V, lumped loop 0.5 / 1 nH, 1.7 nH gate loop, 2 Ω on / 0 Ω off, 4 A / 8 A driver</a:t>
            </a:r>
          </a:p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en-US" sz="1190">
                <a:solidFill>
                  <a:srgbClr val="1E1E1E"/>
                </a:solidFill>
                <a:latin typeface="Arial" panose="020B0604020202020204" pitchFamily="34" charset="0"/>
              </a:rPr>
              <a:t>(a) Peak V</a:t>
            </a:r>
            <a:r>
              <a:rPr lang="en-US" sz="1190" baseline="-25000">
                <a:solidFill>
                  <a:srgbClr val="1E1E1E"/>
                </a:solidFill>
                <a:latin typeface="Arial" panose="020B0604020202020204" pitchFamily="34" charset="0"/>
              </a:rPr>
              <a:t>DS</a:t>
            </a:r>
            <a:r>
              <a:rPr lang="en-US" sz="1190">
                <a:solidFill>
                  <a:srgbClr val="1E1E1E"/>
                </a:solidFill>
                <a:latin typeface="Arial" panose="020B0604020202020204" pitchFamily="34" charset="0"/>
              </a:rPr>
              <a:t> at 60 / 80 / 120 A: 87 / 83 / 102 V (0.5 nH), 83 / 93 / 137 V (1 nH)</a:t>
            </a:r>
          </a:p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en-US" sz="1190">
                <a:solidFill>
                  <a:srgbClr val="1E1E1E"/>
                </a:solidFill>
                <a:latin typeface="Arial" panose="020B0604020202020204" pitchFamily="34" charset="0"/>
              </a:rPr>
              <a:t>(b, c) A larger loop lowers E</a:t>
            </a:r>
            <a:r>
              <a:rPr lang="en-US" sz="1190" baseline="-25000">
                <a:solidFill>
                  <a:srgbClr val="1E1E1E"/>
                </a:solidFill>
                <a:latin typeface="Arial" panose="020B0604020202020204" pitchFamily="34" charset="0"/>
              </a:rPr>
              <a:t>on</a:t>
            </a:r>
            <a:r>
              <a:rPr lang="en-US" sz="1190">
                <a:solidFill>
                  <a:srgbClr val="1E1E1E"/>
                </a:solidFill>
                <a:latin typeface="Arial" panose="020B0604020202020204" pitchFamily="34" charset="0"/>
              </a:rPr>
              <a:t> (the loop takes L·di/dt of the voltage while the current rises) but raises E</a:t>
            </a:r>
            <a:r>
              <a:rPr lang="en-US" sz="1190" baseline="-25000">
                <a:solidFill>
                  <a:srgbClr val="1E1E1E"/>
                </a:solidFill>
                <a:latin typeface="Arial" panose="020B0604020202020204" pitchFamily="34" charset="0"/>
              </a:rPr>
              <a:t>off</a:t>
            </a:r>
            <a:r>
              <a:rPr lang="en-US" sz="1190">
                <a:solidFill>
                  <a:srgbClr val="1E1E1E"/>
                </a:solidFill>
                <a:latin typeface="Arial" panose="020B0604020202020204" pitchFamily="34" charset="0"/>
              </a:rPr>
              <a:t> and the overshoot; turn-on di/dt is set by the driver (≈ 45 A/ns)</a:t>
            </a:r>
          </a:p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en-US" sz="1190">
                <a:solidFill>
                  <a:srgbClr val="1E1E1E"/>
                </a:solidFill>
                <a:latin typeface="Arial" panose="020B0604020202020204" pitchFamily="34" charset="0"/>
              </a:rPr>
              <a:t>(d) Conduction per device at 100 °C: 4.0 / 7.2 / 16.1 W at 60 / 80 / 120 A</a:t>
            </a:r>
            <a:r>
              <a:rPr lang="en-US" sz="1190" baseline="-25000">
                <a:solidFill>
                  <a:srgbClr val="1E1E1E"/>
                </a:solidFill>
                <a:latin typeface="Arial" panose="020B0604020202020204" pitchFamily="34" charset="0"/>
              </a:rPr>
              <a:t>rms</a:t>
            </a:r>
            <a:r>
              <a:rPr lang="en-US" sz="1190">
                <a:solidFill>
                  <a:srgbClr val="1E1E1E"/>
                </a:solidFill>
                <a:latin typeface="Arial" panose="020B0604020202020204" pitchFamily="34" charset="0"/>
              </a:rPr>
              <a:t>; one device would carry 322 A peak ⇒ </a:t>
            </a:r>
            <a:r>
              <a:rPr lang="en-US" sz="1190" b="1">
                <a:solidFill>
                  <a:srgbClr val="1E1E1E"/>
                </a:solidFill>
                <a:latin typeface="Arial" panose="020B0604020202020204" pitchFamily="34" charset="0"/>
              </a:rPr>
              <a:t>current per device ≤ 80 A</a:t>
            </a:r>
            <a:endParaRPr lang="sv-SE" sz="1190" b="1" dirty="0" err="1">
              <a:solidFill>
                <a:srgbClr val="1E1E1E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00539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C7F1D-A809-B415-7F94-A647AD33B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100"/>
              <a:t>Thermal path per device: load-test board</a:t>
            </a:r>
            <a:endParaRPr lang="sv-SE" sz="21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44953D-A3C5-4BF7-4613-954A6FE74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E39ABC-E495-A015-8B02-C21432536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11</a:t>
            </a:fld>
            <a:endParaRPr lang="sv-SE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472C630-5250-0B3B-C933-1946F7F0E9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3334392"/>
              </p:ext>
            </p:extLst>
          </p:nvPr>
        </p:nvGraphicFramePr>
        <p:xfrm>
          <a:off x="238125" y="952500"/>
          <a:ext cx="5619750" cy="1257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62500">
                  <a:extLst>
                    <a:ext uri="{9D8B030D-6E8A-4147-A177-3AD203B41FA5}">
                      <a16:colId xmlns:a16="http://schemas.microsoft.com/office/drawing/2014/main" val="1266624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3284121008"/>
                    </a:ext>
                  </a:extLst>
                </a:gridCol>
              </a:tblGrid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en-US" sz="138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Path (LAM 4 K 50 12 in air, per device)</a:t>
                      </a:r>
                      <a:endParaRPr lang="sv-SE" sz="138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1954A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38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K/W</a:t>
                      </a:r>
                    </a:p>
                  </a:txBody>
                  <a:tcPr marL="50800" marR="50800" marT="25400" marB="25400">
                    <a:solidFill>
                      <a:srgbClr val="1954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6547766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3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R</a:t>
                      </a:r>
                      <a:r>
                        <a:rPr lang="el-GR" sz="1380" baseline="-250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θ</a:t>
                      </a:r>
                      <a:r>
                        <a:rPr lang="sv-SE" sz="1380" baseline="-250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JC</a:t>
                      </a:r>
                      <a:r>
                        <a:rPr lang="sv-SE" sz="13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 (top), datasheet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3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0.20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2401971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en-US" sz="13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gap pad 0.4 mm, 5 W/mK, over the 15 mm² package top</a:t>
                      </a:r>
                      <a:endParaRPr lang="sv-SE" sz="1380">
                        <a:solidFill>
                          <a:srgbClr val="1E1E1E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3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5.3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1274067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en-US" sz="13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Al spreader, outer cell → tube (8 mm in 12.8 × 3 mm, 2 devices)</a:t>
                      </a:r>
                      <a:endParaRPr lang="sv-SE" sz="1380">
                        <a:solidFill>
                          <a:srgbClr val="1E1E1E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3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2.1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0838977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380" b="1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Junction → heatsink, per device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380" b="1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7.6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3746160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en-US" sz="13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Heatsink → air, whole leg (Fischer LAM 4 K 50 12)</a:t>
                      </a:r>
                      <a:endParaRPr lang="sv-SE" sz="1380">
                        <a:solidFill>
                          <a:srgbClr val="1E1E1E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3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0.65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942475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DD3C72F-BA81-982C-6DB0-D386875A9172}"/>
              </a:ext>
            </a:extLst>
          </p:cNvPr>
          <p:cNvSpPr txBox="1"/>
          <p:nvPr/>
        </p:nvSpPr>
        <p:spPr>
          <a:xfrm>
            <a:off x="6048375" y="952500"/>
            <a:ext cx="28575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en-US" sz="1380">
                <a:solidFill>
                  <a:srgbClr val="1E1E1E"/>
                </a:solidFill>
                <a:latin typeface="Arial" panose="020B0604020202020204" pitchFamily="34" charset="0"/>
              </a:rPr>
              <a:t>T</a:t>
            </a:r>
            <a:r>
              <a:rPr lang="en-US" sz="1380" baseline="-25000">
                <a:solidFill>
                  <a:srgbClr val="1E1E1E"/>
                </a:solidFill>
                <a:latin typeface="Arial" panose="020B0604020202020204" pitchFamily="34" charset="0"/>
              </a:rPr>
              <a:t>j</a:t>
            </a:r>
            <a:r>
              <a:rPr lang="en-US" sz="1380">
                <a:solidFill>
                  <a:srgbClr val="1E1E1E"/>
                </a:solidFill>
                <a:latin typeface="Arial" panose="020B0604020202020204" pitchFamily="34" charset="0"/>
              </a:rPr>
              <a:t> = T</a:t>
            </a:r>
            <a:r>
              <a:rPr lang="en-US" sz="1380" baseline="-25000">
                <a:solidFill>
                  <a:srgbClr val="1E1E1E"/>
                </a:solidFill>
                <a:latin typeface="Arial" panose="020B0604020202020204" pitchFamily="34" charset="0"/>
              </a:rPr>
              <a:t>amb</a:t>
            </a:r>
            <a:r>
              <a:rPr lang="en-US" sz="1380">
                <a:solidFill>
                  <a:srgbClr val="1E1E1E"/>
                </a:solidFill>
                <a:latin typeface="Arial" panose="020B0604020202020204" pitchFamily="34" charset="0"/>
              </a:rPr>
              <a:t> + 0.65 K/W · P</a:t>
            </a:r>
            <a:r>
              <a:rPr lang="en-US" sz="1380" baseline="-25000">
                <a:solidFill>
                  <a:srgbClr val="1E1E1E"/>
                </a:solidFill>
                <a:latin typeface="Arial" panose="020B0604020202020204" pitchFamily="34" charset="0"/>
              </a:rPr>
              <a:t>leg</a:t>
            </a:r>
            <a:r>
              <a:rPr lang="en-US" sz="1380">
                <a:solidFill>
                  <a:srgbClr val="1E1E1E"/>
                </a:solidFill>
                <a:latin typeface="Arial" panose="020B0604020202020204" pitchFamily="34" charset="0"/>
              </a:rPr>
              <a:t> + 7.6 K/W · P</a:t>
            </a:r>
            <a:r>
              <a:rPr lang="en-US" sz="1380" baseline="-25000">
                <a:solidFill>
                  <a:srgbClr val="1E1E1E"/>
                </a:solidFill>
                <a:latin typeface="Arial" panose="020B0604020202020204" pitchFamily="34" charset="0"/>
              </a:rPr>
              <a:t>device</a:t>
            </a:r>
          </a:p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en-US" sz="1380">
                <a:solidFill>
                  <a:srgbClr val="1E1E1E"/>
                </a:solidFill>
                <a:latin typeface="Arial" panose="020B0604020202020204" pitchFamily="34" charset="0"/>
              </a:rPr>
              <a:t>The gap pad dominates (insulation is needed: the package top is at source potential)</a:t>
            </a:r>
          </a:p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en-US" sz="1380">
                <a:solidFill>
                  <a:srgbClr val="1E1E1E"/>
                </a:solidFill>
                <a:latin typeface="Arial" panose="020B0604020202020204" pitchFamily="34" charset="0"/>
              </a:rPr>
              <a:t>n = 4 at full load: </a:t>
            </a:r>
            <a:r>
              <a:rPr lang="en-US" sz="1380" b="1">
                <a:solidFill>
                  <a:srgbClr val="1E1E1E"/>
                </a:solidFill>
                <a:latin typeface="Arial" panose="020B0604020202020204" pitchFamily="34" charset="0"/>
              </a:rPr>
              <a:t>69 °C</a:t>
            </a:r>
            <a:r>
              <a:rPr lang="en-US" sz="1380">
                <a:solidFill>
                  <a:srgbClr val="1E1E1E"/>
                </a:solidFill>
                <a:latin typeface="Arial" panose="020B0604020202020204" pitchFamily="34" charset="0"/>
              </a:rPr>
              <a:t> (40 °C ambient), 52 °C (25 °C), 78 °C with a 3 W/mK pad</a:t>
            </a:r>
          </a:p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en-US" sz="1380">
                <a:solidFill>
                  <a:srgbClr val="1E1E1E"/>
                </a:solidFill>
                <a:latin typeface="Arial" panose="020B0604020202020204" pitchFamily="34" charset="0"/>
              </a:rPr>
              <a:t>R</a:t>
            </a:r>
            <a:r>
              <a:rPr lang="en-US" sz="1380" baseline="-25000">
                <a:solidFill>
                  <a:srgbClr val="1E1E1E"/>
                </a:solidFill>
                <a:latin typeface="Arial" panose="020B0604020202020204" pitchFamily="34" charset="0"/>
              </a:rPr>
              <a:t>DS(on)</a:t>
            </a:r>
            <a:r>
              <a:rPr lang="en-US" sz="1380">
                <a:solidFill>
                  <a:srgbClr val="1E1E1E"/>
                </a:solidFill>
                <a:latin typeface="Arial" panose="020B0604020202020204" pitchFamily="34" charset="0"/>
              </a:rPr>
              <a:t>(T</a:t>
            </a:r>
            <a:r>
              <a:rPr lang="en-US" sz="1380" baseline="-25000">
                <a:solidFill>
                  <a:srgbClr val="1E1E1E"/>
                </a:solidFill>
                <a:latin typeface="Arial" panose="020B0604020202020204" pitchFamily="34" charset="0"/>
              </a:rPr>
              <a:t>j</a:t>
            </a:r>
            <a:r>
              <a:rPr lang="en-US" sz="1380">
                <a:solidFill>
                  <a:srgbClr val="1E1E1E"/>
                </a:solidFill>
                <a:latin typeface="Arial" panose="020B0604020202020204" pitchFamily="34" charset="0"/>
              </a:rPr>
              <a:t>): ×1.49 at 100 °C, ×1.80 at 150 °C</a:t>
            </a:r>
            <a:endParaRPr lang="sv-SE" sz="1380" dirty="0" err="1">
              <a:solidFill>
                <a:srgbClr val="1E1E1E"/>
              </a:solidFill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438DFF-D8F5-79A0-32F3-61CB450DF01D}"/>
              </a:ext>
            </a:extLst>
          </p:cNvPr>
          <p:cNvSpPr txBox="1"/>
          <p:nvPr/>
        </p:nvSpPr>
        <p:spPr>
          <a:xfrm>
            <a:off x="228600" y="4597400"/>
            <a:ext cx="7874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730">
                <a:solidFill>
                  <a:srgbClr val="787878"/>
                </a:solidFill>
                <a:latin typeface="Arial" panose="020B0604020202020204" pitchFamily="34" charset="0"/>
              </a:rPr>
              <a:t>Spreader and pad values are hand estimates from the dimensions; for n ≠ 4 the same per-device path is assumed.</a:t>
            </a:r>
            <a:endParaRPr lang="sv-SE" sz="730" dirty="0" err="1">
              <a:solidFill>
                <a:srgbClr val="787878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77462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3672C-493F-ED8D-B143-61E4173B9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/>
              <a:t>n identical cells per switch (one device and one driver each)</a:t>
            </a:r>
            <a:endParaRPr lang="sv-SE" sz="18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8D4476-B7F0-1D6A-3D7F-B602261EF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E23FB7-6ABA-56D3-D006-D8C47C8F1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12</a:t>
            </a:fld>
            <a:endParaRPr lang="sv-S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2BA1525-96A4-E295-E985-51BA14437D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052" y="952500"/>
            <a:ext cx="7371896" cy="2667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FD203D6-BEAF-C8D2-F379-BD8B3913F1A4}"/>
              </a:ext>
            </a:extLst>
          </p:cNvPr>
          <p:cNvSpPr txBox="1"/>
          <p:nvPr/>
        </p:nvSpPr>
        <p:spPr>
          <a:xfrm>
            <a:off x="238125" y="3638550"/>
            <a:ext cx="866775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en-US" sz="1280">
                <a:solidFill>
                  <a:srgbClr val="1E1E1E"/>
                </a:solidFill>
                <a:latin typeface="Arial" panose="020B0604020202020204" pitchFamily="34" charset="0"/>
              </a:rPr>
              <a:t>228 A</a:t>
            </a:r>
            <a:r>
              <a:rPr lang="en-US" sz="1280" baseline="-25000">
                <a:solidFill>
                  <a:srgbClr val="1E1E1E"/>
                </a:solidFill>
                <a:latin typeface="Arial" panose="020B0604020202020204" pitchFamily="34" charset="0"/>
              </a:rPr>
              <a:t>rms</a:t>
            </a:r>
            <a:r>
              <a:rPr lang="en-US" sz="1280">
                <a:solidFill>
                  <a:srgbClr val="1E1E1E"/>
                </a:solidFill>
                <a:latin typeface="Arial" panose="020B0604020202020204" pitchFamily="34" charset="0"/>
              </a:rPr>
              <a:t> per leg, 50 kHz, T</a:t>
            </a:r>
            <a:r>
              <a:rPr lang="en-US" sz="1280" baseline="-25000">
                <a:solidFill>
                  <a:srgbClr val="1E1E1E"/>
                </a:solidFill>
                <a:latin typeface="Arial" panose="020B0604020202020204" pitchFamily="34" charset="0"/>
              </a:rPr>
              <a:t>j</a:t>
            </a:r>
            <a:r>
              <a:rPr lang="en-US" sz="1280">
                <a:solidFill>
                  <a:srgbClr val="1E1E1E"/>
                </a:solidFill>
                <a:latin typeface="Arial" panose="020B0604020202020204" pitchFamily="34" charset="0"/>
              </a:rPr>
              <a:t> and R</a:t>
            </a:r>
            <a:r>
              <a:rPr lang="en-US" sz="1280" baseline="-25000">
                <a:solidFill>
                  <a:srgbClr val="1E1E1E"/>
                </a:solidFill>
                <a:latin typeface="Arial" panose="020B0604020202020204" pitchFamily="34" charset="0"/>
              </a:rPr>
              <a:t>DS(on)</a:t>
            </a:r>
            <a:r>
              <a:rPr lang="en-US" sz="1280">
                <a:solidFill>
                  <a:srgbClr val="1E1E1E"/>
                </a:solidFill>
                <a:latin typeface="Arial" panose="020B0604020202020204" pitchFamily="34" charset="0"/>
              </a:rPr>
              <a:t> solved together (load-test board in air, previous slide); LTspice energies at 0.5 nH (left bars) and 1 nH (hatched)</a:t>
            </a:r>
          </a:p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en-US" sz="1280">
                <a:solidFill>
                  <a:srgbClr val="1E1E1E"/>
                </a:solidFill>
                <a:latin typeface="Arial" panose="020B0604020202020204" pitchFamily="34" charset="0"/>
              </a:rPr>
              <a:t>n = 4: 18.0 W (0.5 nH) / 17.0 W (1 nH) per leg, T</a:t>
            </a:r>
            <a:r>
              <a:rPr lang="en-US" sz="1280" baseline="-25000">
                <a:solidFill>
                  <a:srgbClr val="1E1E1E"/>
                </a:solidFill>
                <a:latin typeface="Arial" panose="020B0604020202020204" pitchFamily="34" charset="0"/>
              </a:rPr>
              <a:t>j</a:t>
            </a:r>
            <a:r>
              <a:rPr lang="en-US" sz="1280">
                <a:solidFill>
                  <a:srgbClr val="1E1E1E"/>
                </a:solidFill>
                <a:latin typeface="Arial" panose="020B0604020202020204" pitchFamily="34" charset="0"/>
              </a:rPr>
              <a:t> 69 °C; peak V</a:t>
            </a:r>
            <a:r>
              <a:rPr lang="en-US" sz="1280" baseline="-25000">
                <a:solidFill>
                  <a:srgbClr val="1E1E1E"/>
                </a:solidFill>
                <a:latin typeface="Arial" panose="020B0604020202020204" pitchFamily="34" charset="0"/>
              </a:rPr>
              <a:t>DS</a:t>
            </a:r>
            <a:r>
              <a:rPr lang="en-US" sz="1280">
                <a:solidFill>
                  <a:srgbClr val="1E1E1E"/>
                </a:solidFill>
                <a:latin typeface="Arial" panose="020B0604020202020204" pitchFamily="34" charset="0"/>
              </a:rPr>
              <a:t> at 80 A: </a:t>
            </a:r>
            <a:r>
              <a:rPr lang="en-US" sz="1280" b="1">
                <a:solidFill>
                  <a:srgbClr val="1E1E1E"/>
                </a:solidFill>
                <a:latin typeface="Arial" panose="020B0604020202020204" pitchFamily="34" charset="0"/>
              </a:rPr>
              <a:t>83 V (0.5 nH), 93 V (1 nH)</a:t>
            </a:r>
            <a:endParaRPr lang="sv-SE" sz="1280" b="1" dirty="0" err="1">
              <a:solidFill>
                <a:srgbClr val="1E1E1E"/>
              </a:solidFill>
              <a:latin typeface="Arial" panose="020B0604020202020204" pitchFamily="34" charset="0"/>
            </a:endParaRPr>
          </a:p>
        </p:txBody>
      </p:sp>
      <p:sp>
        <p:nvSpPr>
          <p:cNvPr id="9" name="decision">
            <a:extLst>
              <a:ext uri="{FF2B5EF4-FFF2-40B4-BE49-F238E27FC236}">
                <a16:creationId xmlns:a16="http://schemas.microsoft.com/office/drawing/2014/main" id="{744BC1CA-2EB6-4D40-FD45-6BD997956D6A}"/>
              </a:ext>
            </a:extLst>
          </p:cNvPr>
          <p:cNvSpPr/>
          <p:nvPr/>
        </p:nvSpPr>
        <p:spPr>
          <a:xfrm>
            <a:off x="238125" y="4400550"/>
            <a:ext cx="8667750" cy="381000"/>
          </a:xfrm>
          <a:prstGeom prst="roundRect">
            <a:avLst/>
          </a:prstGeom>
          <a:solidFill>
            <a:srgbClr val="EEF4FB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bIns="25400" rtlCol="0" anchor="ctr">
            <a:noAutofit/>
          </a:bodyPr>
          <a:lstStyle/>
          <a:p>
            <a:r>
              <a:rPr lang="en-US" sz="1380" b="1">
                <a:solidFill>
                  <a:srgbClr val="1E1E1E"/>
                </a:solidFill>
                <a:latin typeface="Arial" panose="020B0604020202020204" pitchFamily="34" charset="0"/>
              </a:rPr>
              <a:t>Decision:</a:t>
            </a:r>
            <a:r>
              <a:rPr lang="en-US" sz="1380">
                <a:solidFill>
                  <a:srgbClr val="1E1E1E"/>
                </a:solidFill>
                <a:latin typeface="Arial" panose="020B0604020202020204" pitchFamily="34" charset="0"/>
              </a:rPr>
              <a:t> </a:t>
            </a:r>
            <a:r>
              <a:rPr lang="en-US" sz="1380" b="1">
                <a:solidFill>
                  <a:srgbClr val="1E1E1E"/>
                </a:solidFill>
                <a:latin typeface="Arial" panose="020B0604020202020204" pitchFamily="34" charset="0"/>
              </a:rPr>
              <a:t>4 EPC2361 per switch</a:t>
            </a:r>
            <a:r>
              <a:rPr lang="en-US" sz="1380">
                <a:solidFill>
                  <a:srgbClr val="1E1E1E"/>
                </a:solidFill>
                <a:latin typeface="Arial" panose="020B0604020202020204" pitchFamily="34" charset="0"/>
              </a:rPr>
              <a:t> (T</a:t>
            </a:r>
            <a:r>
              <a:rPr lang="en-US" sz="1380" baseline="-25000">
                <a:solidFill>
                  <a:srgbClr val="1E1E1E"/>
                </a:solidFill>
                <a:latin typeface="Arial" panose="020B0604020202020204" pitchFamily="34" charset="0"/>
              </a:rPr>
              <a:t>j</a:t>
            </a:r>
            <a:r>
              <a:rPr lang="en-US" sz="1380">
                <a:solidFill>
                  <a:srgbClr val="1E1E1E"/>
                </a:solidFill>
                <a:latin typeface="Arial" panose="020B0604020202020204" pitchFamily="34" charset="0"/>
              </a:rPr>
              <a:t> &lt; 80 °C in all three cases; ≤ 90 V needs ≈ 0.5 nH; two equal pairs)</a:t>
            </a:r>
            <a:endParaRPr lang="sv-SE" sz="1380" dirty="0">
              <a:solidFill>
                <a:srgbClr val="1E1E1E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65793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9A2EC-EC4C-A86A-4B43-44C53E0B3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/>
              <a:t>Where the loss comes from: line period and junction temperature</a:t>
            </a:r>
            <a:endParaRPr lang="sv-SE" sz="18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A85D1B-009E-A2FC-A0EC-E1931DE63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1EC066-635B-F4C5-66EB-15DE73963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13</a:t>
            </a:fld>
            <a:endParaRPr lang="sv-S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396D573-37DF-E711-4EDE-2F93A4B0F8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436" y="952500"/>
            <a:ext cx="7651128" cy="29527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B95DE25-013D-B485-55BB-642D7B56298B}"/>
              </a:ext>
            </a:extLst>
          </p:cNvPr>
          <p:cNvSpPr txBox="1"/>
          <p:nvPr/>
        </p:nvSpPr>
        <p:spPr>
          <a:xfrm>
            <a:off x="238125" y="3924300"/>
            <a:ext cx="866775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en-US" sz="1380">
                <a:solidFill>
                  <a:srgbClr val="1E1E1E"/>
                </a:solidFill>
                <a:latin typeface="Arial" panose="020B0604020202020204" pitchFamily="34" charset="0"/>
              </a:rPr>
              <a:t>n = 4, 50 kHz: switching loss follows |i| (plus a constant E</a:t>
            </a:r>
            <a:r>
              <a:rPr lang="en-US" sz="1380" baseline="-25000">
                <a:solidFill>
                  <a:srgbClr val="1E1E1E"/>
                </a:solidFill>
                <a:latin typeface="Arial" panose="020B0604020202020204" pitchFamily="34" charset="0"/>
              </a:rPr>
              <a:t>oss</a:t>
            </a:r>
            <a:r>
              <a:rPr lang="en-US" sz="1380">
                <a:solidFill>
                  <a:srgbClr val="1E1E1E"/>
                </a:solidFill>
                <a:latin typeface="Arial" panose="020B0604020202020204" pitchFamily="34" charset="0"/>
              </a:rPr>
              <a:t> part), conduction loss follows i²</a:t>
            </a:r>
          </a:p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en-US" sz="1380">
                <a:solidFill>
                  <a:srgbClr val="1E1E1E"/>
                </a:solidFill>
                <a:latin typeface="Arial" panose="020B0604020202020204" pitchFamily="34" charset="0"/>
              </a:rPr>
              <a:t>Conduction 12.5 W per leg (at the load-test T</a:t>
            </a:r>
            <a:r>
              <a:rPr lang="en-US" sz="1380" baseline="-25000">
                <a:solidFill>
                  <a:srgbClr val="1E1E1E"/>
                </a:solidFill>
                <a:latin typeface="Arial" panose="020B0604020202020204" pitchFamily="34" charset="0"/>
              </a:rPr>
              <a:t>j</a:t>
            </a:r>
            <a:r>
              <a:rPr lang="en-US" sz="1380">
                <a:solidFill>
                  <a:srgbClr val="1E1E1E"/>
                </a:solidFill>
                <a:latin typeface="Arial" panose="020B0604020202020204" pitchFamily="34" charset="0"/>
              </a:rPr>
              <a:t>); switching 5.0 W at 0.5 nH, 4.1 W at 1 nH (lower E</a:t>
            </a:r>
            <a:r>
              <a:rPr lang="en-US" sz="1380" baseline="-25000">
                <a:solidFill>
                  <a:srgbClr val="1E1E1E"/>
                </a:solidFill>
                <a:latin typeface="Arial" panose="020B0604020202020204" pitchFamily="34" charset="0"/>
              </a:rPr>
              <a:t>on</a:t>
            </a:r>
            <a:r>
              <a:rPr lang="en-US" sz="1380">
                <a:solidFill>
                  <a:srgbClr val="1E1E1E"/>
                </a:solidFill>
                <a:latin typeface="Arial" panose="020B0604020202020204" pitchFamily="34" charset="0"/>
              </a:rPr>
              <a:t>, higher E</a:t>
            </a:r>
            <a:r>
              <a:rPr lang="en-US" sz="1380" baseline="-25000">
                <a:solidFill>
                  <a:srgbClr val="1E1E1E"/>
                </a:solidFill>
                <a:latin typeface="Arial" panose="020B0604020202020204" pitchFamily="34" charset="0"/>
              </a:rPr>
              <a:t>off</a:t>
            </a:r>
            <a:r>
              <a:rPr lang="en-US" sz="1380">
                <a:solidFill>
                  <a:srgbClr val="1E1E1E"/>
                </a:solidFill>
                <a:latin typeface="Arial" panose="020B0604020202020204" pitchFamily="34" charset="0"/>
              </a:rPr>
              <a:t> and overshoot)</a:t>
            </a:r>
            <a:endParaRPr lang="sv-SE" sz="1380" dirty="0" err="1">
              <a:solidFill>
                <a:srgbClr val="1E1E1E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94183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C761A-ABFD-4109-FD29-F08C1E3A3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sz="2100"/>
              <a:t>Losses vs number in parallel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906DB9-1E0A-B6A7-BF5B-F5B918225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1961AA-4263-A1C4-C0B2-23D9E89D7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14</a:t>
            </a:fld>
            <a:endParaRPr lang="sv-SE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F1C6FFF-FB4F-118A-8D2E-E2FA358564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4340196"/>
              </p:ext>
            </p:extLst>
          </p:nvPr>
        </p:nvGraphicFramePr>
        <p:xfrm>
          <a:off x="238125" y="952500"/>
          <a:ext cx="8667750" cy="2095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1750">
                  <a:extLst>
                    <a:ext uri="{9D8B030D-6E8A-4147-A177-3AD203B41FA5}">
                      <a16:colId xmlns:a16="http://schemas.microsoft.com/office/drawing/2014/main" val="307047455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60451715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43934724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10498566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64217267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99026296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96895617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79281598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573279505"/>
                    </a:ext>
                  </a:extLst>
                </a:gridCol>
              </a:tblGrid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28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n per switch</a:t>
                      </a:r>
                    </a:p>
                  </a:txBody>
                  <a:tcPr marL="50800" marR="50800" marT="25400" marB="25400">
                    <a:solidFill>
                      <a:srgbClr val="1954A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50800" marR="50800" marT="25400" marB="25400">
                    <a:solidFill>
                      <a:srgbClr val="1954A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50800" marR="50800" marT="25400" marB="25400">
                    <a:solidFill>
                      <a:srgbClr val="1954A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50800" marR="50800" marT="25400" marB="25400">
                    <a:solidFill>
                      <a:srgbClr val="1954A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50800" marR="50800" marT="25400" marB="25400">
                    <a:solidFill>
                      <a:srgbClr val="1954A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50800" marR="50800" marT="25400" marB="25400">
                    <a:solidFill>
                      <a:srgbClr val="1954A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50800" marR="50800" marT="25400" marB="25400">
                    <a:solidFill>
                      <a:srgbClr val="1954A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50800" marR="50800" marT="25400" marB="25400">
                    <a:solidFill>
                      <a:srgbClr val="1954A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50800" marR="50800" marT="25400" marB="25400">
                    <a:solidFill>
                      <a:srgbClr val="1954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5098181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Loss per leg, 0.5 nH (W)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runaway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39.5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23.2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18.0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15.8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14.8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14.5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14.6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7244017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Loss per leg, 1 nH (W)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runaway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38.4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22.2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17.0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14.8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13.7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13.3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13.3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5026450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  conduction at T</a:t>
                      </a:r>
                      <a:r>
                        <a:rPr lang="sv-SE" sz="1280" baseline="-250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j</a:t>
                      </a:r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 (W)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runaway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33.9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18.0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12.5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9.7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7.9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6.7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5.8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4056216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en-US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  switching 0.5 / 1 nH (W)</a:t>
                      </a:r>
                      <a:endParaRPr lang="sv-SE" sz="1280">
                        <a:solidFill>
                          <a:srgbClr val="1E1E1E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–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5.0 / 4.2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4.6 / 3.8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5.0 / 4.1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5.6 / 4.6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6.4 / 5.3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7.3 / 6.1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8.2 / 6.9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4467161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Efficiency, 0.5 nH (%)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–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99.37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99.63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99.71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99.75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99.76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99.77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99.77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0550414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Loss per device (W)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runaway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9.9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3.9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2.2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1.6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1.2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1.0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0.9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9316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T</a:t>
                      </a:r>
                      <a:r>
                        <a:rPr lang="sv-SE" sz="1280" baseline="-250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j</a:t>
                      </a:r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 (°C)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runaway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141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84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69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62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59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57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56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1743640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en-US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Peak V</a:t>
                      </a:r>
                      <a:r>
                        <a:rPr lang="en-US" sz="1280" baseline="-250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DS</a:t>
                      </a:r>
                      <a:r>
                        <a:rPr lang="en-US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 0.5 / 1 nH (V)</a:t>
                      </a:r>
                      <a:endParaRPr lang="sv-SE" sz="1280">
                        <a:solidFill>
                          <a:srgbClr val="1E1E1E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195 / 292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131 / 180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96 / 123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83 / 93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86 / 85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86 / 84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84 / 86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83 / 87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9319872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Driver channels per leg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16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174948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3F6E744-CFEC-911B-7A25-0E7BCBE74A77}"/>
              </a:ext>
            </a:extLst>
          </p:cNvPr>
          <p:cNvSpPr txBox="1"/>
          <p:nvPr/>
        </p:nvSpPr>
        <p:spPr>
          <a:xfrm>
            <a:off x="228600" y="4597400"/>
            <a:ext cx="7874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730">
                <a:solidFill>
                  <a:srgbClr val="787878"/>
                </a:solidFill>
                <a:latin typeface="Arial" panose="020B0604020202020204" pitchFamily="34" charset="0"/>
              </a:rPr>
              <a:t>Semiconductor losses only; leg loss / (2 n) = loss per device; T_j on the load-test board at 40 °C ambient, 50 kHz; efficiency relative to 6.25 kW per leg.</a:t>
            </a:r>
            <a:endParaRPr lang="sv-SE" sz="730" dirty="0" err="1">
              <a:solidFill>
                <a:srgbClr val="787878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38622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6D58A-6B0D-C4BC-B616-9DF6F03F4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/>
              <a:t>Switching frequency: losses, DC-link capacitors, current ripple</a:t>
            </a:r>
            <a:endParaRPr lang="sv-SE" sz="18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17A2A1-FDAD-17D3-BB1F-CB53AB30E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D57532-2442-F98E-421E-35FBFC14D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15</a:t>
            </a:fld>
            <a:endParaRPr lang="sv-S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E637BD8-B748-C24D-81C1-9B3777C04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839" y="952500"/>
            <a:ext cx="7482322" cy="2667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1FBB35-C314-AC18-9284-F4D4B7AAC933}"/>
              </a:ext>
            </a:extLst>
          </p:cNvPr>
          <p:cNvSpPr txBox="1"/>
          <p:nvPr/>
        </p:nvSpPr>
        <p:spPr>
          <a:xfrm>
            <a:off x="238125" y="3638550"/>
            <a:ext cx="866775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en-US" sz="1280">
                <a:solidFill>
                  <a:srgbClr val="1E1E1E"/>
                </a:solidFill>
                <a:latin typeface="Arial" panose="020B0604020202020204" pitchFamily="34" charset="0"/>
              </a:rPr>
              <a:t>(a) n = 4: 99.77 / 99.71 / 99.61 % at 20 / 50 / 100 kHz; (b) the voltage ripple sets the 2220 count (20 per leg at 50 kHz), ripple current needs only 7; (c) winding ripple Δi</a:t>
            </a:r>
            <a:r>
              <a:rPr lang="en-US" sz="1280" baseline="-25000">
                <a:solidFill>
                  <a:srgbClr val="1E1E1E"/>
                </a:solidFill>
                <a:latin typeface="Arial" panose="020B0604020202020204" pitchFamily="34" charset="0"/>
              </a:rPr>
              <a:t>pp</a:t>
            </a:r>
            <a:r>
              <a:rPr lang="en-US" sz="1280">
                <a:solidFill>
                  <a:srgbClr val="1E1E1E"/>
                </a:solidFill>
                <a:latin typeface="Arial" panose="020B0604020202020204" pitchFamily="34" charset="0"/>
              </a:rPr>
              <a:t> = V</a:t>
            </a:r>
            <a:r>
              <a:rPr lang="en-US" sz="1280" baseline="-25000">
                <a:solidFill>
                  <a:srgbClr val="1E1E1E"/>
                </a:solidFill>
                <a:latin typeface="Arial" panose="020B0604020202020204" pitchFamily="34" charset="0"/>
              </a:rPr>
              <a:t>m</a:t>
            </a:r>
            <a:r>
              <a:rPr lang="en-US" sz="1280">
                <a:solidFill>
                  <a:srgbClr val="1E1E1E"/>
                </a:solidFill>
                <a:latin typeface="Arial" panose="020B0604020202020204" pitchFamily="34" charset="0"/>
              </a:rPr>
              <a:t>/(4 L</a:t>
            </a:r>
            <a:r>
              <a:rPr lang="en-US" sz="1280" baseline="-25000">
                <a:solidFill>
                  <a:srgbClr val="1E1E1E"/>
                </a:solidFill>
                <a:latin typeface="Arial" panose="020B0604020202020204" pitchFamily="34" charset="0"/>
              </a:rPr>
              <a:t>σ</a:t>
            </a:r>
            <a:r>
              <a:rPr lang="en-US" sz="1280">
                <a:solidFill>
                  <a:srgbClr val="1E1E1E"/>
                </a:solidFill>
                <a:latin typeface="Arial" panose="020B0604020202020204" pitchFamily="34" charset="0"/>
              </a:rPr>
              <a:t> f</a:t>
            </a:r>
            <a:r>
              <a:rPr lang="en-US" sz="1280" baseline="-25000">
                <a:solidFill>
                  <a:srgbClr val="1E1E1E"/>
                </a:solidFill>
                <a:latin typeface="Arial" panose="020B0604020202020204" pitchFamily="34" charset="0"/>
              </a:rPr>
              <a:t>sw</a:t>
            </a:r>
            <a:r>
              <a:rPr lang="en-US" sz="1280">
                <a:solidFill>
                  <a:srgbClr val="1E1E1E"/>
                </a:solidFill>
                <a:latin typeface="Arial" panose="020B0604020202020204" pitchFamily="34" charset="0"/>
              </a:rPr>
              <a:t>) depends on the machine</a:t>
            </a:r>
            <a:endParaRPr lang="sv-SE" sz="1280" dirty="0" err="1">
              <a:solidFill>
                <a:srgbClr val="1E1E1E"/>
              </a:solidFill>
              <a:latin typeface="Arial" panose="020B0604020202020204" pitchFamily="34" charset="0"/>
            </a:endParaRPr>
          </a:p>
        </p:txBody>
      </p:sp>
      <p:sp>
        <p:nvSpPr>
          <p:cNvPr id="9" name="decision">
            <a:extLst>
              <a:ext uri="{FF2B5EF4-FFF2-40B4-BE49-F238E27FC236}">
                <a16:creationId xmlns:a16="http://schemas.microsoft.com/office/drawing/2014/main" id="{E3EB5F39-2F78-5E3F-94A0-54FD7F12BCF4}"/>
              </a:ext>
            </a:extLst>
          </p:cNvPr>
          <p:cNvSpPr/>
          <p:nvPr/>
        </p:nvSpPr>
        <p:spPr>
          <a:xfrm>
            <a:off x="238125" y="4400550"/>
            <a:ext cx="8667750" cy="381000"/>
          </a:xfrm>
          <a:prstGeom prst="roundRect">
            <a:avLst/>
          </a:prstGeom>
          <a:solidFill>
            <a:srgbClr val="EEF4FB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bIns="25400" rtlCol="0" anchor="ctr">
            <a:noAutofit/>
          </a:bodyPr>
          <a:lstStyle/>
          <a:p>
            <a:r>
              <a:rPr lang="en-US" sz="1380" b="1">
                <a:solidFill>
                  <a:srgbClr val="1E1E1E"/>
                </a:solidFill>
                <a:latin typeface="Arial" panose="020B0604020202020204" pitchFamily="34" charset="0"/>
              </a:rPr>
              <a:t>Decision:</a:t>
            </a:r>
            <a:r>
              <a:rPr lang="en-US" sz="1380">
                <a:solidFill>
                  <a:srgbClr val="1E1E1E"/>
                </a:solidFill>
                <a:latin typeface="Arial" panose="020B0604020202020204" pitchFamily="34" charset="0"/>
              </a:rPr>
              <a:t> f</a:t>
            </a:r>
            <a:r>
              <a:rPr lang="en-US" sz="1380" baseline="-25000">
                <a:solidFill>
                  <a:srgbClr val="1E1E1E"/>
                </a:solidFill>
                <a:latin typeface="Arial" panose="020B0604020202020204" pitchFamily="34" charset="0"/>
              </a:rPr>
              <a:t>sw</a:t>
            </a:r>
            <a:r>
              <a:rPr lang="en-US" sz="1380">
                <a:solidFill>
                  <a:srgbClr val="1E1E1E"/>
                </a:solidFill>
                <a:latin typeface="Arial" panose="020B0604020202020204" pitchFamily="34" charset="0"/>
              </a:rPr>
              <a:t> ≥ 50 kHz (higher allowed by the machine); the DC link is sized for 50 kHz</a:t>
            </a:r>
            <a:endParaRPr lang="sv-SE" sz="1380" dirty="0">
              <a:solidFill>
                <a:srgbClr val="1E1E1E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88047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EE6EC-E5DF-6F0C-0CFF-E506DD83D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100"/>
              <a:t>DC-link sizing for a three-phase level</a:t>
            </a:r>
            <a:endParaRPr lang="sv-SE" sz="21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D7FF97-3398-AD4C-F660-C5839DE68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845276-A621-038B-A42F-1723713BB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16</a:t>
            </a:fld>
            <a:endParaRPr lang="sv-S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F6775F2-5CC1-4E77-EEE5-A968B4AA8F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952500"/>
            <a:ext cx="4953000" cy="3067717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2019316-ADE8-593B-9440-3968D47396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1951499"/>
              </p:ext>
            </p:extLst>
          </p:nvPr>
        </p:nvGraphicFramePr>
        <p:xfrm>
          <a:off x="5381625" y="952500"/>
          <a:ext cx="3524250" cy="1047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9625">
                  <a:extLst>
                    <a:ext uri="{9D8B030D-6E8A-4147-A177-3AD203B41FA5}">
                      <a16:colId xmlns:a16="http://schemas.microsoft.com/office/drawing/2014/main" val="2767050133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917396664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42128756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161220958"/>
                    </a:ext>
                  </a:extLst>
                </a:gridCol>
              </a:tblGrid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28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f</a:t>
                      </a:r>
                      <a:r>
                        <a:rPr lang="sv-SE" sz="1280" b="1" baseline="-2500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sw</a:t>
                      </a:r>
                    </a:p>
                  </a:txBody>
                  <a:tcPr marL="50800" marR="50800" marT="25400" marB="25400">
                    <a:solidFill>
                      <a:srgbClr val="1954A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l-GR" sz="128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Δ</a:t>
                      </a:r>
                      <a:r>
                        <a:rPr lang="sv-SE" sz="128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V</a:t>
                      </a:r>
                      <a:r>
                        <a:rPr lang="sv-SE" sz="1280" b="1" baseline="-2500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pp</a:t>
                      </a:r>
                    </a:p>
                  </a:txBody>
                  <a:tcPr marL="50800" marR="50800" marT="25400" marB="25400">
                    <a:solidFill>
                      <a:srgbClr val="1954A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C</a:t>
                      </a:r>
                      <a:r>
                        <a:rPr lang="sv-SE" sz="1280" b="1" baseline="-2500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eff</a:t>
                      </a:r>
                      <a:r>
                        <a:rPr lang="sv-SE" sz="128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 level</a:t>
                      </a:r>
                    </a:p>
                  </a:txBody>
                  <a:tcPr marL="50800" marR="50800" marT="25400" marB="25400">
                    <a:solidFill>
                      <a:srgbClr val="1954A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per leg</a:t>
                      </a:r>
                    </a:p>
                  </a:txBody>
                  <a:tcPr marL="50800" marR="50800" marT="25400" marB="25400">
                    <a:solidFill>
                      <a:srgbClr val="1954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6918517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50 kHz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2 %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573 µF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191 µF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7957893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50 kHz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 b="1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3 %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 b="1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382 µF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 b="1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127 µF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517457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100 kHz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2 %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287 µF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96 µF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4237533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100 kHz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3 %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191 µF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64 µF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143318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BB715D7-C531-5EC3-941B-870A552683D7}"/>
              </a:ext>
            </a:extLst>
          </p:cNvPr>
          <p:cNvSpPr txBox="1"/>
          <p:nvPr/>
        </p:nvSpPr>
        <p:spPr>
          <a:xfrm>
            <a:off x="5381625" y="2333625"/>
            <a:ext cx="352425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en-US" sz="1280">
                <a:solidFill>
                  <a:srgbClr val="1E1E1E"/>
                </a:solidFill>
                <a:latin typeface="Arial" panose="020B0604020202020204" pitchFamily="34" charset="0"/>
              </a:rPr>
              <a:t>One 75 V level = three legs on one bus (SVPWM, M = 1.15, cos φ = 0.9)</a:t>
            </a:r>
          </a:p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en-US" sz="1280">
                <a:solidFill>
                  <a:srgbClr val="1E1E1E"/>
                </a:solidFill>
                <a:latin typeface="Arial" panose="020B0604020202020204" pitchFamily="34" charset="0"/>
              </a:rPr>
              <a:t>Balanced three-phase: no 2f ripple; capacitor RMS current 85 A per level (≈ 28 A per leg)</a:t>
            </a:r>
          </a:p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en-US" sz="1280">
                <a:solidFill>
                  <a:srgbClr val="1E1E1E"/>
                </a:solidFill>
                <a:latin typeface="Arial" panose="020B0604020202020204" pitchFamily="34" charset="0"/>
              </a:rPr>
              <a:t>Per switching period the bank supplies the difference between the cell current and its average: ΔV</a:t>
            </a:r>
            <a:r>
              <a:rPr lang="en-US" sz="1280" baseline="-25000">
                <a:solidFill>
                  <a:srgbClr val="1E1E1E"/>
                </a:solidFill>
                <a:latin typeface="Arial" panose="020B0604020202020204" pitchFamily="34" charset="0"/>
              </a:rPr>
              <a:t>pp</a:t>
            </a:r>
            <a:r>
              <a:rPr lang="en-US" sz="1280">
                <a:solidFill>
                  <a:srgbClr val="1E1E1E"/>
                </a:solidFill>
                <a:latin typeface="Arial" panose="020B0604020202020204" pitchFamily="34" charset="0"/>
              </a:rPr>
              <a:t> = ΔQ / C</a:t>
            </a:r>
            <a:endParaRPr lang="sv-SE" sz="1280" dirty="0" err="1">
              <a:solidFill>
                <a:srgbClr val="1E1E1E"/>
              </a:solidFill>
              <a:latin typeface="Arial" panose="020B0604020202020204" pitchFamily="34" charset="0"/>
            </a:endParaRPr>
          </a:p>
        </p:txBody>
      </p:sp>
      <p:sp>
        <p:nvSpPr>
          <p:cNvPr id="10" name="decision">
            <a:extLst>
              <a:ext uri="{FF2B5EF4-FFF2-40B4-BE49-F238E27FC236}">
                <a16:creationId xmlns:a16="http://schemas.microsoft.com/office/drawing/2014/main" id="{FCCA6A66-1166-3C35-F1F5-10E45E96B071}"/>
              </a:ext>
            </a:extLst>
          </p:cNvPr>
          <p:cNvSpPr/>
          <p:nvPr/>
        </p:nvSpPr>
        <p:spPr>
          <a:xfrm>
            <a:off x="238125" y="4400550"/>
            <a:ext cx="8667750" cy="381000"/>
          </a:xfrm>
          <a:prstGeom prst="roundRect">
            <a:avLst/>
          </a:prstGeom>
          <a:solidFill>
            <a:srgbClr val="EEF4FB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bIns="25400" rtlCol="0" anchor="ctr">
            <a:noAutofit/>
          </a:bodyPr>
          <a:lstStyle/>
          <a:p>
            <a:r>
              <a:rPr lang="sv-SE" sz="1380" b="1">
                <a:solidFill>
                  <a:srgbClr val="1E1E1E"/>
                </a:solidFill>
                <a:latin typeface="Arial" panose="020B0604020202020204" pitchFamily="34" charset="0"/>
              </a:rPr>
              <a:t>Decision:</a:t>
            </a:r>
            <a:r>
              <a:rPr lang="sv-SE" sz="1380">
                <a:solidFill>
                  <a:srgbClr val="1E1E1E"/>
                </a:solidFill>
                <a:latin typeface="Arial" panose="020B0604020202020204" pitchFamily="34" charset="0"/>
              </a:rPr>
              <a:t> </a:t>
            </a:r>
            <a:r>
              <a:rPr lang="el-GR" sz="1380">
                <a:solidFill>
                  <a:srgbClr val="1E1E1E"/>
                </a:solidFill>
                <a:latin typeface="Arial" panose="020B0604020202020204" pitchFamily="34" charset="0"/>
              </a:rPr>
              <a:t>Δ</a:t>
            </a:r>
            <a:r>
              <a:rPr lang="sv-SE" sz="1380">
                <a:solidFill>
                  <a:srgbClr val="1E1E1E"/>
                </a:solidFill>
                <a:latin typeface="Arial" panose="020B0604020202020204" pitchFamily="34" charset="0"/>
              </a:rPr>
              <a:t>V</a:t>
            </a:r>
            <a:r>
              <a:rPr lang="sv-SE" sz="1380" baseline="-25000">
                <a:solidFill>
                  <a:srgbClr val="1E1E1E"/>
                </a:solidFill>
                <a:latin typeface="Arial" panose="020B0604020202020204" pitchFamily="34" charset="0"/>
              </a:rPr>
              <a:t>pp</a:t>
            </a:r>
            <a:r>
              <a:rPr lang="sv-SE" sz="1380">
                <a:solidFill>
                  <a:srgbClr val="1E1E1E"/>
                </a:solidFill>
                <a:latin typeface="Arial" panose="020B0604020202020204" pitchFamily="34" charset="0"/>
              </a:rPr>
              <a:t> ≤ 3 % (2.25 V) at 50 kHz ⇒ 127 µF </a:t>
            </a:r>
            <a:r>
              <a:rPr lang="sv-SE" sz="1380" b="1">
                <a:solidFill>
                  <a:srgbClr val="1E1E1E"/>
                </a:solidFill>
                <a:latin typeface="Arial" panose="020B0604020202020204" pitchFamily="34" charset="0"/>
              </a:rPr>
              <a:t>effective</a:t>
            </a:r>
            <a:r>
              <a:rPr lang="sv-SE" sz="1380">
                <a:solidFill>
                  <a:srgbClr val="1E1E1E"/>
                </a:solidFill>
                <a:latin typeface="Arial" panose="020B0604020202020204" pitchFamily="34" charset="0"/>
              </a:rPr>
              <a:t> per leg board ⇒ 20 × 22 µF 2220</a:t>
            </a:r>
            <a:endParaRPr lang="sv-SE" sz="1380" dirty="0">
              <a:solidFill>
                <a:srgbClr val="1E1E1E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07804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9C9A5-9EAA-D881-2CA4-EFD0750E3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sz="2100"/>
              <a:t>Capacitor selection: effective capacitance at 75 V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F191D4-0C0A-40BF-A365-A3604700F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92DDEE-1C1A-E6BE-D9C2-7A49C4B20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17</a:t>
            </a:fld>
            <a:endParaRPr lang="sv-SE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9C4FF66-4E55-29F8-E475-86D13ED076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3925347"/>
              </p:ext>
            </p:extLst>
          </p:nvPr>
        </p:nvGraphicFramePr>
        <p:xfrm>
          <a:off x="238125" y="952500"/>
          <a:ext cx="8667750" cy="1466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2250">
                  <a:extLst>
                    <a:ext uri="{9D8B030D-6E8A-4147-A177-3AD203B41FA5}">
                      <a16:colId xmlns:a16="http://schemas.microsoft.com/office/drawing/2014/main" val="4012750889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381758812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373298460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65083418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128588192"/>
                    </a:ext>
                  </a:extLst>
                </a:gridCol>
                <a:gridCol w="1666875">
                  <a:extLst>
                    <a:ext uri="{9D8B030D-6E8A-4147-A177-3AD203B41FA5}">
                      <a16:colId xmlns:a16="http://schemas.microsoft.com/office/drawing/2014/main" val="2500009612"/>
                    </a:ext>
                  </a:extLst>
                </a:gridCol>
              </a:tblGrid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28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Part (100 V X7S)</a:t>
                      </a:r>
                    </a:p>
                  </a:txBody>
                  <a:tcPr marL="50800" marR="50800" marT="25400" marB="25400">
                    <a:solidFill>
                      <a:srgbClr val="1954A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Size</a:t>
                      </a:r>
                    </a:p>
                  </a:txBody>
                  <a:tcPr marL="50800" marR="50800" marT="25400" marB="25400">
                    <a:solidFill>
                      <a:srgbClr val="1954A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nb-NO" sz="128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C</a:t>
                      </a:r>
                      <a:r>
                        <a:rPr lang="nb-NO" sz="1280" b="1" baseline="-2500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nom</a:t>
                      </a:r>
                      <a:r>
                        <a:rPr lang="nb-NO" sz="128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 → C at 75 V</a:t>
                      </a:r>
                      <a:endParaRPr lang="sv-SE" sz="128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1954A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Kept</a:t>
                      </a:r>
                    </a:p>
                  </a:txBody>
                  <a:tcPr marL="50800" marR="50800" marT="25400" marB="25400">
                    <a:solidFill>
                      <a:srgbClr val="1954A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ESR 50 kHz</a:t>
                      </a:r>
                    </a:p>
                  </a:txBody>
                  <a:tcPr marL="50800" marR="50800" marT="25400" marB="25400">
                    <a:solidFill>
                      <a:srgbClr val="1954A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Parts / leg (3 %)</a:t>
                      </a:r>
                    </a:p>
                  </a:txBody>
                  <a:tcPr marL="50800" marR="50800" marT="25400" marB="25400">
                    <a:solidFill>
                      <a:srgbClr val="1954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6349122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Murata GRM32EC72A106KE05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1210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10.0 → 1.50 µF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15 %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–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83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091947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TDK C3225X7S2A475K200AB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1210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4.7 → 0.92 µF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19 %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12.3 m</a:t>
                      </a:r>
                      <a:r>
                        <a:rPr lang="el-GR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Ω</a:t>
                      </a:r>
                      <a:endParaRPr lang="sv-SE" sz="1280">
                        <a:solidFill>
                          <a:srgbClr val="1E1E1E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135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9427367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TDK C4532X7S2A475K230KB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1812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4.7 → 1.10 µF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23 %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13.1 m</a:t>
                      </a:r>
                      <a:r>
                        <a:rPr lang="el-GR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Ω</a:t>
                      </a:r>
                      <a:endParaRPr lang="sv-SE" sz="1280">
                        <a:solidFill>
                          <a:srgbClr val="1E1E1E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112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8848067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TDK C5750X7S2A106K230KB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2220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10.0 → 2.45 µF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24 %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6.4 m</a:t>
                      </a:r>
                      <a:r>
                        <a:rPr lang="el-GR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Ω</a:t>
                      </a:r>
                      <a:endParaRPr lang="sv-SE" sz="1280">
                        <a:solidFill>
                          <a:srgbClr val="1E1E1E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51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6607647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TDK C5750X7S2A156M250KB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2220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15.0 → 3.80 µF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25 %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3.6 m</a:t>
                      </a:r>
                      <a:r>
                        <a:rPr lang="el-GR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Ω</a:t>
                      </a:r>
                      <a:endParaRPr lang="sv-SE" sz="1280">
                        <a:solidFill>
                          <a:srgbClr val="1E1E1E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33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466478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280" b="1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TDK C5750X7S2A226M280KB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2220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22.0 → 6.35 µF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29 %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2.8 m</a:t>
                      </a:r>
                      <a:r>
                        <a:rPr lang="el-GR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Ω</a:t>
                      </a:r>
                      <a:endParaRPr lang="sv-SE" sz="1280">
                        <a:solidFill>
                          <a:srgbClr val="1E1E1E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28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422798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3FD6967-3C69-AB9B-A35A-02DA7B738763}"/>
              </a:ext>
            </a:extLst>
          </p:cNvPr>
          <p:cNvSpPr txBox="1"/>
          <p:nvPr/>
        </p:nvSpPr>
        <p:spPr>
          <a:xfrm>
            <a:off x="238125" y="2857500"/>
            <a:ext cx="866775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en-US" sz="1380">
                <a:solidFill>
                  <a:srgbClr val="1E1E1E"/>
                </a:solidFill>
                <a:latin typeface="Arial" panose="020B0604020202020204" pitchFamily="34" charset="0"/>
              </a:rPr>
              <a:t>DC bias at 75 V from the manufacturers' characteristic data (TDK, Murata): 100 V class-II MLCCs keep only 15–29 %</a:t>
            </a:r>
          </a:p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en-US" sz="1380">
                <a:solidFill>
                  <a:srgbClr val="1E1E1E"/>
                </a:solidFill>
                <a:latin typeface="Arial" panose="020B0604020202020204" pitchFamily="34" charset="0"/>
              </a:rPr>
              <a:t>TDK C5750X7S2A226M280KB (2220, 22 µF): highest C per part and per area (0.22 µF/mm²), 2.8 mΩ, 4.5 A for +10 K</a:t>
            </a:r>
          </a:p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en-US" sz="1380">
                <a:solidFill>
                  <a:srgbClr val="1E1E1E"/>
                </a:solidFill>
                <a:latin typeface="Arial" panose="020B0604020202020204" pitchFamily="34" charset="0"/>
              </a:rPr>
              <a:t>Checks: 2.8 mm height under the heatsink spreader; 2220 flex cracking ⇒ away from the board edge and holes</a:t>
            </a:r>
            <a:endParaRPr lang="sv-SE" sz="1380" dirty="0" err="1">
              <a:solidFill>
                <a:srgbClr val="1E1E1E"/>
              </a:solidFill>
              <a:latin typeface="Arial" panose="020B0604020202020204" pitchFamily="34" charset="0"/>
            </a:endParaRPr>
          </a:p>
        </p:txBody>
      </p:sp>
      <p:sp>
        <p:nvSpPr>
          <p:cNvPr id="8" name="decision">
            <a:extLst>
              <a:ext uri="{FF2B5EF4-FFF2-40B4-BE49-F238E27FC236}">
                <a16:creationId xmlns:a16="http://schemas.microsoft.com/office/drawing/2014/main" id="{563E0EBF-81CF-E17E-2290-78ADA95BF92B}"/>
              </a:ext>
            </a:extLst>
          </p:cNvPr>
          <p:cNvSpPr/>
          <p:nvPr/>
        </p:nvSpPr>
        <p:spPr>
          <a:xfrm>
            <a:off x="238125" y="4400550"/>
            <a:ext cx="8667750" cy="381000"/>
          </a:xfrm>
          <a:prstGeom prst="roundRect">
            <a:avLst/>
          </a:prstGeom>
          <a:solidFill>
            <a:srgbClr val="EEF4FB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bIns="25400" rtlCol="0" anchor="ctr">
            <a:noAutofit/>
          </a:bodyPr>
          <a:lstStyle/>
          <a:p>
            <a:r>
              <a:rPr lang="en-US" sz="1380" b="1">
                <a:solidFill>
                  <a:srgbClr val="1E1E1E"/>
                </a:solidFill>
                <a:latin typeface="Arial" panose="020B0604020202020204" pitchFamily="34" charset="0"/>
              </a:rPr>
              <a:t>Decision:</a:t>
            </a:r>
            <a:r>
              <a:rPr lang="en-US" sz="1380">
                <a:solidFill>
                  <a:srgbClr val="1E1E1E"/>
                </a:solidFill>
                <a:latin typeface="Arial" panose="020B0604020202020204" pitchFamily="34" charset="0"/>
              </a:rPr>
              <a:t> Bank: </a:t>
            </a:r>
            <a:r>
              <a:rPr lang="en-US" sz="1380" b="1">
                <a:solidFill>
                  <a:srgbClr val="1E1E1E"/>
                </a:solidFill>
                <a:latin typeface="Arial" panose="020B0604020202020204" pitchFamily="34" charset="0"/>
              </a:rPr>
              <a:t>20 × TDK C5750X7S2A226M280KB</a:t>
            </a:r>
            <a:r>
              <a:rPr lang="en-US" sz="1380">
                <a:solidFill>
                  <a:srgbClr val="1E1E1E"/>
                </a:solidFill>
                <a:latin typeface="Arial" panose="020B0604020202020204" pitchFamily="34" charset="0"/>
              </a:rPr>
              <a:t> per leg (2 rows), 127 µF effective, 1.4 A ripple per part</a:t>
            </a:r>
            <a:endParaRPr lang="sv-SE" sz="1380" dirty="0">
              <a:solidFill>
                <a:srgbClr val="1E1E1E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2939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508DE-7724-8E4C-1EF7-EE9CB4F26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100"/>
              <a:t>Bypass capacitors: how many and how large</a:t>
            </a:r>
            <a:endParaRPr lang="sv-SE" sz="21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872B7B-ADF9-F006-D87C-64B7D1749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493589-ECDD-2BEC-1585-1BB4BBD0C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18</a:t>
            </a:fld>
            <a:endParaRPr lang="sv-S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9BED90-151B-837C-E2A1-B27352D788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952500"/>
            <a:ext cx="4191000" cy="32131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B872F95-8E73-C051-3E35-6A64E7ED6321}"/>
              </a:ext>
            </a:extLst>
          </p:cNvPr>
          <p:cNvSpPr txBox="1"/>
          <p:nvPr/>
        </p:nvSpPr>
        <p:spPr>
          <a:xfrm>
            <a:off x="4572000" y="952500"/>
            <a:ext cx="4333875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sv-SE" sz="1380" b="1">
                <a:solidFill>
                  <a:srgbClr val="1E1E1E"/>
                </a:solidFill>
                <a:latin typeface="Arial" panose="020B0604020202020204" pitchFamily="34" charset="0"/>
              </a:rPr>
              <a:t>Bypass</a:t>
            </a:r>
            <a:r>
              <a:rPr lang="sv-SE" sz="1380">
                <a:solidFill>
                  <a:srgbClr val="1E1E1E"/>
                </a:solidFill>
                <a:latin typeface="Arial" panose="020B0604020202020204" pitchFamily="34" charset="0"/>
              </a:rPr>
              <a:t> (1 µF 0805 at the drains) supplies the edge, </a:t>
            </a:r>
            <a:r>
              <a:rPr lang="sv-SE" sz="1380" b="1">
                <a:solidFill>
                  <a:srgbClr val="1E1E1E"/>
                </a:solidFill>
                <a:latin typeface="Arial" panose="020B0604020202020204" pitchFamily="34" charset="0"/>
              </a:rPr>
              <a:t>bank</a:t>
            </a:r>
            <a:r>
              <a:rPr lang="sv-SE" sz="1380">
                <a:solidFill>
                  <a:srgbClr val="1E1E1E"/>
                </a:solidFill>
                <a:latin typeface="Arial" panose="020B0604020202020204" pitchFamily="34" charset="0"/>
              </a:rPr>
              <a:t> the f</a:t>
            </a:r>
            <a:r>
              <a:rPr lang="sv-SE" sz="1380" baseline="-25000">
                <a:solidFill>
                  <a:srgbClr val="1E1E1E"/>
                </a:solidFill>
                <a:latin typeface="Arial" panose="020B0604020202020204" pitchFamily="34" charset="0"/>
              </a:rPr>
              <a:t>sw</a:t>
            </a:r>
            <a:r>
              <a:rPr lang="sv-SE" sz="1380">
                <a:solidFill>
                  <a:srgbClr val="1E1E1E"/>
                </a:solidFill>
                <a:latin typeface="Arial" panose="020B0604020202020204" pitchFamily="34" charset="0"/>
              </a:rPr>
              <a:t> ripple; per cell 81 A:</a:t>
            </a:r>
          </a:p>
          <a:p>
            <a:pPr marL="685800" lvl="1" indent="-342900">
              <a:spcAft>
                <a:spcPts val="400"/>
              </a:spcAft>
              <a:buFont typeface="+mj-lt"/>
              <a:buChar char="–"/>
            </a:pPr>
            <a:r>
              <a:rPr lang="sv-SE" sz="1280">
                <a:solidFill>
                  <a:srgbClr val="1E1E1E"/>
                </a:solidFill>
                <a:latin typeface="Arial" panose="020B0604020202020204" pitchFamily="34" charset="0"/>
              </a:rPr>
              <a:t>di/dt → number: L</a:t>
            </a:r>
            <a:r>
              <a:rPr lang="sv-SE" sz="1280" baseline="-25000">
                <a:solidFill>
                  <a:srgbClr val="1E1E1E"/>
                </a:solidFill>
                <a:latin typeface="Arial" panose="020B0604020202020204" pitchFamily="34" charset="0"/>
              </a:rPr>
              <a:t>Cu</a:t>
            </a:r>
            <a:r>
              <a:rPr lang="sv-SE" sz="1280">
                <a:solidFill>
                  <a:srgbClr val="1E1E1E"/>
                </a:solidFill>
                <a:latin typeface="Arial" panose="020B0604020202020204" pitchFamily="34" charset="0"/>
              </a:rPr>
              <a:t> + ESL/n ≈ 0.5 nH ⇒ n ≥ 4</a:t>
            </a:r>
          </a:p>
          <a:p>
            <a:pPr marL="685800" lvl="1" indent="-342900">
              <a:spcAft>
                <a:spcPts val="400"/>
              </a:spcAft>
              <a:buFont typeface="+mj-lt"/>
              <a:buChar char="–"/>
            </a:pPr>
            <a:r>
              <a:rPr lang="sv-SE" sz="1280">
                <a:solidFill>
                  <a:srgbClr val="1E1E1E"/>
                </a:solidFill>
                <a:latin typeface="Arial" panose="020B0604020202020204" pitchFamily="34" charset="0"/>
              </a:rPr>
              <a:t>Hand-over to the bank through L</a:t>
            </a:r>
            <a:r>
              <a:rPr lang="sv-SE" sz="1280" baseline="-25000">
                <a:solidFill>
                  <a:srgbClr val="1E1E1E"/>
                </a:solidFill>
                <a:latin typeface="Arial" panose="020B0604020202020204" pitchFamily="34" charset="0"/>
              </a:rPr>
              <a:t>b</a:t>
            </a:r>
            <a:r>
              <a:rPr lang="sv-SE" sz="1280">
                <a:solidFill>
                  <a:srgbClr val="1E1E1E"/>
                </a:solidFill>
                <a:latin typeface="Arial" panose="020B0604020202020204" pitchFamily="34" charset="0"/>
              </a:rPr>
              <a:t>: C</a:t>
            </a:r>
            <a:r>
              <a:rPr lang="sv-SE" sz="1280" baseline="-25000">
                <a:solidFill>
                  <a:srgbClr val="1E1E1E"/>
                </a:solidFill>
                <a:latin typeface="Arial" panose="020B0604020202020204" pitchFamily="34" charset="0"/>
              </a:rPr>
              <a:t>bp</a:t>
            </a:r>
            <a:r>
              <a:rPr lang="sv-SE" sz="1280">
                <a:solidFill>
                  <a:srgbClr val="1E1E1E"/>
                </a:solidFill>
                <a:latin typeface="Arial" panose="020B0604020202020204" pitchFamily="34" charset="0"/>
              </a:rPr>
              <a:t> ≥ L</a:t>
            </a:r>
            <a:r>
              <a:rPr lang="sv-SE" sz="1280" baseline="-25000">
                <a:solidFill>
                  <a:srgbClr val="1E1E1E"/>
                </a:solidFill>
                <a:latin typeface="Arial" panose="020B0604020202020204" pitchFamily="34" charset="0"/>
              </a:rPr>
              <a:t>b</a:t>
            </a:r>
            <a:r>
              <a:rPr lang="sv-SE" sz="1280">
                <a:solidFill>
                  <a:srgbClr val="1E1E1E"/>
                </a:solidFill>
                <a:latin typeface="Arial" panose="020B0604020202020204" pitchFamily="34" charset="0"/>
              </a:rPr>
              <a:t>(</a:t>
            </a:r>
            <a:r>
              <a:rPr lang="el-GR" sz="1280">
                <a:solidFill>
                  <a:srgbClr val="1E1E1E"/>
                </a:solidFill>
                <a:latin typeface="Arial" panose="020B0604020202020204" pitchFamily="34" charset="0"/>
              </a:rPr>
              <a:t>Δ</a:t>
            </a:r>
            <a:r>
              <a:rPr lang="sv-SE" sz="1280">
                <a:solidFill>
                  <a:srgbClr val="1E1E1E"/>
                </a:solidFill>
                <a:latin typeface="Arial" panose="020B0604020202020204" pitchFamily="34" charset="0"/>
              </a:rPr>
              <a:t>I/</a:t>
            </a:r>
            <a:r>
              <a:rPr lang="el-GR" sz="1280">
                <a:solidFill>
                  <a:srgbClr val="1E1E1E"/>
                </a:solidFill>
                <a:latin typeface="Arial" panose="020B0604020202020204" pitchFamily="34" charset="0"/>
              </a:rPr>
              <a:t>Δ</a:t>
            </a:r>
            <a:r>
              <a:rPr lang="sv-SE" sz="1280">
                <a:solidFill>
                  <a:srgbClr val="1E1E1E"/>
                </a:solidFill>
                <a:latin typeface="Arial" panose="020B0604020202020204" pitchFamily="34" charset="0"/>
              </a:rPr>
              <a:t>V)² </a:t>
            </a:r>
            <a:r>
              <a:rPr lang="sv-SE" sz="1280" b="1">
                <a:solidFill>
                  <a:srgbClr val="C84632"/>
                </a:solidFill>
                <a:latin typeface="Arial" panose="020B0604020202020204" pitchFamily="34" charset="0"/>
              </a:rPr>
              <a:t>sets the value</a:t>
            </a:r>
          </a:p>
          <a:p>
            <a:pPr marL="685800" lvl="1" indent="-342900">
              <a:spcAft>
                <a:spcPts val="400"/>
              </a:spcAft>
              <a:buFont typeface="+mj-lt"/>
              <a:buChar char="–"/>
            </a:pPr>
            <a:r>
              <a:rPr lang="sv-SE" sz="1280">
                <a:solidFill>
                  <a:srgbClr val="1E1E1E"/>
                </a:solidFill>
                <a:latin typeface="Arial" panose="020B0604020202020204" pitchFamily="34" charset="0"/>
              </a:rPr>
              <a:t>L</a:t>
            </a:r>
            <a:r>
              <a:rPr lang="sv-SE" sz="1280" baseline="-25000">
                <a:solidFill>
                  <a:srgbClr val="1E1E1E"/>
                </a:solidFill>
                <a:latin typeface="Arial" panose="020B0604020202020204" pitchFamily="34" charset="0"/>
              </a:rPr>
              <a:t>b</a:t>
            </a:r>
            <a:r>
              <a:rPr lang="sv-SE" sz="1280">
                <a:solidFill>
                  <a:srgbClr val="1E1E1E"/>
                </a:solidFill>
                <a:latin typeface="Arial" panose="020B0604020202020204" pitchFamily="34" charset="0"/>
              </a:rPr>
              <a:t> from Q3D: (pending)</a:t>
            </a:r>
          </a:p>
          <a:p>
            <a:pPr marL="685800" lvl="1" indent="-342900">
              <a:spcAft>
                <a:spcPts val="400"/>
              </a:spcAft>
              <a:buFont typeface="+mj-lt"/>
              <a:buChar char="–"/>
            </a:pPr>
            <a:r>
              <a:rPr lang="sv-SE" sz="1280">
                <a:solidFill>
                  <a:srgbClr val="1E1E1E"/>
                </a:solidFill>
                <a:latin typeface="Arial" panose="020B0604020202020204" pitchFamily="34" charset="0"/>
              </a:rPr>
              <a:t>0805 1 µF 100 V X7S keeps only </a:t>
            </a:r>
            <a:r>
              <a:rPr lang="sv-SE" sz="1280" b="1">
                <a:solidFill>
                  <a:srgbClr val="1E1E1E"/>
                </a:solidFill>
                <a:latin typeface="Arial" panose="020B0604020202020204" pitchFamily="34" charset="0"/>
              </a:rPr>
              <a:t>18 %</a:t>
            </a:r>
            <a:r>
              <a:rPr lang="sv-SE" sz="1280">
                <a:solidFill>
                  <a:srgbClr val="1E1E1E"/>
                </a:solidFill>
                <a:latin typeface="Arial" panose="020B0604020202020204" pitchFamily="34" charset="0"/>
              </a:rPr>
              <a:t> at 75 V (TDK data): 0.18 µF per part</a:t>
            </a:r>
          </a:p>
          <a:p>
            <a:pPr marL="685800" lvl="1" indent="-342900">
              <a:spcAft>
                <a:spcPts val="400"/>
              </a:spcAft>
              <a:buFont typeface="+mj-lt"/>
              <a:buChar char="–"/>
            </a:pPr>
            <a:r>
              <a:rPr lang="sv-SE" sz="1280">
                <a:solidFill>
                  <a:srgbClr val="1E1E1E"/>
                </a:solidFill>
                <a:latin typeface="Arial" panose="020B0604020202020204" pitchFamily="34" charset="0"/>
              </a:rPr>
              <a:t>dip for 6 / 10 per cell: (pending bank model)</a:t>
            </a:r>
            <a:endParaRPr lang="sv-SE" sz="1280" dirty="0" err="1">
              <a:solidFill>
                <a:srgbClr val="1E1E1E"/>
              </a:solidFill>
              <a:latin typeface="Arial" panose="020B0604020202020204" pitchFamily="34" charset="0"/>
            </a:endParaRPr>
          </a:p>
        </p:txBody>
      </p:sp>
      <p:sp>
        <p:nvSpPr>
          <p:cNvPr id="9" name="decision">
            <a:extLst>
              <a:ext uri="{FF2B5EF4-FFF2-40B4-BE49-F238E27FC236}">
                <a16:creationId xmlns:a16="http://schemas.microsoft.com/office/drawing/2014/main" id="{D09C8A09-AD70-5459-65BA-2898FADB1D52}"/>
              </a:ext>
            </a:extLst>
          </p:cNvPr>
          <p:cNvSpPr/>
          <p:nvPr/>
        </p:nvSpPr>
        <p:spPr>
          <a:xfrm>
            <a:off x="238125" y="4400550"/>
            <a:ext cx="8667750" cy="381000"/>
          </a:xfrm>
          <a:prstGeom prst="roundRect">
            <a:avLst/>
          </a:prstGeom>
          <a:solidFill>
            <a:srgbClr val="EEF4FB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bIns="25400" rtlCol="0" anchor="ctr">
            <a:noAutofit/>
          </a:bodyPr>
          <a:lstStyle/>
          <a:p>
            <a:r>
              <a:rPr lang="en-US" sz="1380" b="1">
                <a:solidFill>
                  <a:srgbClr val="1E1E1E"/>
                </a:solidFill>
                <a:latin typeface="Arial" panose="020B0604020202020204" pitchFamily="34" charset="0"/>
              </a:rPr>
              <a:t>Decision:</a:t>
            </a:r>
            <a:r>
              <a:rPr lang="en-US" sz="1380">
                <a:solidFill>
                  <a:srgbClr val="1E1E1E"/>
                </a:solidFill>
                <a:latin typeface="Arial" panose="020B0604020202020204" pitchFamily="34" charset="0"/>
              </a:rPr>
              <a:t> 10 × 1 µF 0805 per cell: 6 on top at the drains + 4 on the bottom, identical in all cells</a:t>
            </a:r>
            <a:endParaRPr lang="sv-SE" sz="1380" dirty="0">
              <a:solidFill>
                <a:srgbClr val="1E1E1E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65450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E1F0D-4D1A-D2B4-DC34-978B0142D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100"/>
              <a:t>DC link of one leg board</a:t>
            </a:r>
            <a:endParaRPr lang="sv-SE" sz="21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A1D3E3-11E3-161A-BCE4-CEB3B74C2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36D6C5-0065-7DAC-BB6D-7DB0184E4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19</a:t>
            </a:fld>
            <a:endParaRPr lang="sv-SE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F41D49E-ACDD-6598-4320-B1D9286400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0399376"/>
              </p:ext>
            </p:extLst>
          </p:nvPr>
        </p:nvGraphicFramePr>
        <p:xfrm>
          <a:off x="238125" y="952500"/>
          <a:ext cx="4953000" cy="838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2625">
                  <a:extLst>
                    <a:ext uri="{9D8B030D-6E8A-4147-A177-3AD203B41FA5}">
                      <a16:colId xmlns:a16="http://schemas.microsoft.com/office/drawing/2014/main" val="1601872105"/>
                    </a:ext>
                  </a:extLst>
                </a:gridCol>
                <a:gridCol w="1381125">
                  <a:extLst>
                    <a:ext uri="{9D8B030D-6E8A-4147-A177-3AD203B41FA5}">
                      <a16:colId xmlns:a16="http://schemas.microsoft.com/office/drawing/2014/main" val="78471852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353749645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969575484"/>
                    </a:ext>
                  </a:extLst>
                </a:gridCol>
              </a:tblGrid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19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Per leg board</a:t>
                      </a:r>
                    </a:p>
                  </a:txBody>
                  <a:tcPr marL="50800" marR="50800" marT="25400" marB="25400">
                    <a:solidFill>
                      <a:srgbClr val="1954A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Parts</a:t>
                      </a:r>
                    </a:p>
                  </a:txBody>
                  <a:tcPr marL="50800" marR="50800" marT="25400" marB="25400">
                    <a:solidFill>
                      <a:srgbClr val="1954A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Nominal</a:t>
                      </a:r>
                    </a:p>
                  </a:txBody>
                  <a:tcPr marL="50800" marR="50800" marT="25400" marB="25400">
                    <a:solidFill>
                      <a:srgbClr val="1954A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At 75 V</a:t>
                      </a:r>
                    </a:p>
                  </a:txBody>
                  <a:tcPr marL="50800" marR="50800" marT="25400" marB="25400">
                    <a:solidFill>
                      <a:srgbClr val="1954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2293568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Bypass, 10 per cell × 4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40 × 1 µF 0805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40 µF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7 µF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1811640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en-US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Bank, rows A (8) + B (12)</a:t>
                      </a:r>
                      <a:endParaRPr lang="sv-SE" sz="1190">
                        <a:solidFill>
                          <a:srgbClr val="1E1E1E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20 × 22 µF 2220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440 µF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127 µF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4466733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190" b="1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Total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 b="1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60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 b="1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480 µF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 b="1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134 µF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340163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63EDF7B-3802-45F8-8959-E55F693B2703}"/>
              </a:ext>
            </a:extLst>
          </p:cNvPr>
          <p:cNvSpPr txBox="1"/>
          <p:nvPr/>
        </p:nvSpPr>
        <p:spPr>
          <a:xfrm>
            <a:off x="238125" y="2381250"/>
            <a:ext cx="4953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en-US" sz="1470">
                <a:solidFill>
                  <a:srgbClr val="1E1E1E"/>
                </a:solidFill>
                <a:latin typeface="Arial" panose="020B0604020202020204" pitchFamily="34" charset="0"/>
              </a:rPr>
              <a:t>Ripple at 50 kHz with the three legs of a level sharing: </a:t>
            </a:r>
            <a:r>
              <a:rPr lang="en-US" sz="1470" b="1">
                <a:solidFill>
                  <a:srgbClr val="1E1E1E"/>
                </a:solidFill>
                <a:latin typeface="Arial" panose="020B0604020202020204" pitchFamily="34" charset="0"/>
              </a:rPr>
              <a:t>2.1 V (2.9 %)</a:t>
            </a:r>
          </a:p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en-US" sz="1470">
                <a:solidFill>
                  <a:srgbClr val="1E1E1E"/>
                </a:solidFill>
                <a:latin typeface="Arial" panose="020B0604020202020204" pitchFamily="34" charset="0"/>
              </a:rPr>
              <a:t>Leg alone (DPT, back-to-back test without the busbar): ≈ 2× higher, acceptable for the lab tests</a:t>
            </a:r>
          </a:p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en-US" sz="1470">
                <a:solidFill>
                  <a:srgbClr val="1E1E1E"/>
                </a:solidFill>
                <a:latin typeface="Arial" panose="020B0604020202020204" pitchFamily="34" charset="0"/>
              </a:rPr>
              <a:t>Bank ≥ 10 × bypass (127 vs 7 µF eff.): fulfilled</a:t>
            </a:r>
          </a:p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en-US" sz="1470">
                <a:solidFill>
                  <a:srgbClr val="1E1E1E"/>
                </a:solidFill>
                <a:latin typeface="Arial" panose="020B0604020202020204" pitchFamily="34" charset="0"/>
              </a:rPr>
              <a:t>Row A leaves the board centre free for the DC terminal pins</a:t>
            </a:r>
            <a:endParaRPr lang="sv-SE" sz="1470" dirty="0" err="1">
              <a:solidFill>
                <a:srgbClr val="1E1E1E"/>
              </a:solidFill>
              <a:latin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6ECC62A-D200-B971-8D6C-C67020FB84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1625" y="952500"/>
            <a:ext cx="3524250" cy="2476688"/>
          </a:xfrm>
          <a:prstGeom prst="rect">
            <a:avLst/>
          </a:prstGeom>
        </p:spPr>
      </p:pic>
      <p:sp>
        <p:nvSpPr>
          <p:cNvPr id="10" name="decision">
            <a:extLst>
              <a:ext uri="{FF2B5EF4-FFF2-40B4-BE49-F238E27FC236}">
                <a16:creationId xmlns:a16="http://schemas.microsoft.com/office/drawing/2014/main" id="{023ED7FE-C7BA-D6BA-C6EC-F8272B411B97}"/>
              </a:ext>
            </a:extLst>
          </p:cNvPr>
          <p:cNvSpPr/>
          <p:nvPr/>
        </p:nvSpPr>
        <p:spPr>
          <a:xfrm>
            <a:off x="238125" y="4400550"/>
            <a:ext cx="8667750" cy="381000"/>
          </a:xfrm>
          <a:prstGeom prst="roundRect">
            <a:avLst/>
          </a:prstGeom>
          <a:solidFill>
            <a:srgbClr val="EEF4FB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bIns="25400" rtlCol="0" anchor="ctr">
            <a:noAutofit/>
          </a:bodyPr>
          <a:lstStyle/>
          <a:p>
            <a:r>
              <a:rPr lang="en-US" sz="1380" b="1">
                <a:solidFill>
                  <a:srgbClr val="1E1E1E"/>
                </a:solidFill>
                <a:latin typeface="Arial" panose="020B0604020202020204" pitchFamily="34" charset="0"/>
              </a:rPr>
              <a:t>Decision:</a:t>
            </a:r>
            <a:r>
              <a:rPr lang="en-US" sz="1380">
                <a:solidFill>
                  <a:srgbClr val="1E1E1E"/>
                </a:solidFill>
                <a:latin typeface="Arial" panose="020B0604020202020204" pitchFamily="34" charset="0"/>
              </a:rPr>
              <a:t> Same DC link on the DPT and load-test boards</a:t>
            </a:r>
            <a:endParaRPr lang="sv-SE" sz="1380" dirty="0">
              <a:solidFill>
                <a:srgbClr val="1E1E1E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31102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4CF9A-3BCA-1878-8AF2-F2F88A5E0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100"/>
              <a:t>Can one driver drive all four?</a:t>
            </a:r>
            <a:endParaRPr lang="sv-SE" sz="21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6EE8EA-E04F-4A72-1A05-D087A6755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F88529-E0EA-40BF-7879-1DFD7899F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20</a:t>
            </a:fld>
            <a:endParaRPr lang="sv-S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D247041-96BF-6B49-EBB7-5AE3DBAE42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425" y="952500"/>
            <a:ext cx="7423150" cy="23336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C74D377-CF69-8BC4-C9FB-5461C71BE0DB}"/>
              </a:ext>
            </a:extLst>
          </p:cNvPr>
          <p:cNvSpPr txBox="1"/>
          <p:nvPr/>
        </p:nvSpPr>
        <p:spPr>
          <a:xfrm>
            <a:off x="238125" y="3333750"/>
            <a:ext cx="866775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en-US" sz="1280">
                <a:solidFill>
                  <a:srgbClr val="1E1E1E"/>
                </a:solidFill>
                <a:latin typeface="Arial" panose="020B0604020202020204" pitchFamily="34" charset="0"/>
              </a:rPr>
              <a:t>Why E</a:t>
            </a:r>
            <a:r>
              <a:rPr lang="en-US" sz="1280" baseline="-25000">
                <a:solidFill>
                  <a:srgbClr val="1E1E1E"/>
                </a:solidFill>
                <a:latin typeface="Arial" panose="020B0604020202020204" pitchFamily="34" charset="0"/>
              </a:rPr>
              <a:t>on</a:t>
            </a:r>
            <a:r>
              <a:rPr lang="en-US" sz="1280">
                <a:solidFill>
                  <a:srgbClr val="1E1E1E"/>
                </a:solidFill>
                <a:latin typeface="Arial" panose="020B0604020202020204" pitchFamily="34" charset="0"/>
              </a:rPr>
              <a:t> per transistor rises with n per channel: the n gate capacitances (n × 3.6 nF C</a:t>
            </a:r>
            <a:r>
              <a:rPr lang="en-US" sz="1280" baseline="-25000">
                <a:solidFill>
                  <a:srgbClr val="1E1E1E"/>
                </a:solidFill>
                <a:latin typeface="Arial" panose="020B0604020202020204" pitchFamily="34" charset="0"/>
              </a:rPr>
              <a:t>iss</a:t>
            </a:r>
            <a:r>
              <a:rPr lang="en-US" sz="1280">
                <a:solidFill>
                  <a:srgbClr val="1E1E1E"/>
                </a:solidFill>
                <a:latin typeface="Arial" panose="020B0604020202020204" pitchFamily="34" charset="0"/>
              </a:rPr>
              <a:t>) charge through one driver output (4 A source, 0.85 Ω) and a longer shared gate trace ⇒ v</a:t>
            </a:r>
            <a:r>
              <a:rPr lang="en-US" sz="1280" baseline="-25000">
                <a:solidFill>
                  <a:srgbClr val="1E1E1E"/>
                </a:solidFill>
                <a:latin typeface="Arial" panose="020B0604020202020204" pitchFamily="34" charset="0"/>
              </a:rPr>
              <a:t>GS</a:t>
            </a:r>
            <a:r>
              <a:rPr lang="en-US" sz="1280">
                <a:solidFill>
                  <a:srgbClr val="1E1E1E"/>
                </a:solidFill>
                <a:latin typeface="Arial" panose="020B0604020202020204" pitchFamily="34" charset="0"/>
              </a:rPr>
              <a:t> rises n× slower ⇒ lower di/dt and dv/dt at turn-on ⇒ longer V–I overlap: </a:t>
            </a:r>
            <a:r>
              <a:rPr lang="en-US" sz="1280" b="1">
                <a:solidFill>
                  <a:srgbClr val="1E1E1E"/>
                </a:solidFill>
                <a:latin typeface="Arial" panose="020B0604020202020204" pitchFamily="34" charset="0"/>
              </a:rPr>
              <a:t>+16 / +31 / +60 %</a:t>
            </a:r>
            <a:r>
              <a:rPr lang="en-US" sz="1280">
                <a:solidFill>
                  <a:srgbClr val="1E1E1E"/>
                </a:solidFill>
                <a:latin typeface="Arial" panose="020B0604020202020204" pitchFamily="34" charset="0"/>
              </a:rPr>
              <a:t> E</a:t>
            </a:r>
            <a:r>
              <a:rPr lang="en-US" sz="1280" baseline="-25000">
                <a:solidFill>
                  <a:srgbClr val="1E1E1E"/>
                </a:solidFill>
                <a:latin typeface="Arial" panose="020B0604020202020204" pitchFamily="34" charset="0"/>
              </a:rPr>
              <a:t>on</a:t>
            </a:r>
            <a:r>
              <a:rPr lang="en-US" sz="1280">
                <a:solidFill>
                  <a:srgbClr val="1E1E1E"/>
                </a:solidFill>
                <a:latin typeface="Arial" panose="020B0604020202020204" pitchFamily="34" charset="0"/>
              </a:rPr>
              <a:t> for 3 / 4 / 6</a:t>
            </a:r>
          </a:p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en-US" sz="1280">
                <a:solidFill>
                  <a:srgbClr val="1E1E1E"/>
                </a:solidFill>
                <a:latin typeface="Arial" panose="020B0604020202020204" pitchFamily="34" charset="0"/>
              </a:rPr>
              <a:t>(b) Extra gate-loop inductance of the longer tree raises the gate bump; (a) peak sink current 12–14 A for 4–6 devices exceeds the 8 A rating</a:t>
            </a:r>
          </a:p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en-US" sz="1280">
                <a:solidFill>
                  <a:srgbClr val="1E1E1E"/>
                </a:solidFill>
                <a:latin typeface="Arial" panose="020B0604020202020204" pitchFamily="34" charset="0"/>
              </a:rPr>
              <a:t>(c) One channel per device is symmetric but needs 4 channels and supplies per switch</a:t>
            </a:r>
            <a:endParaRPr lang="sv-SE" sz="1280" dirty="0" err="1">
              <a:solidFill>
                <a:srgbClr val="1E1E1E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47021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E17EB-0FBF-C337-BB6A-E026A34D0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100"/>
              <a:t>Driver arrangement for 1 … 4 EPC2361 per switch</a:t>
            </a:r>
            <a:endParaRPr lang="sv-SE" sz="21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E757C5-CE59-12EF-2EFD-7106FD6A5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2E0D35-D20F-9C3B-8946-BBE0746A4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21</a:t>
            </a:fld>
            <a:endParaRPr lang="sv-S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74AF29-8DB3-6CF5-56A3-13C8A3C1ED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952500"/>
            <a:ext cx="5334000" cy="293136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69DB688-6668-062B-7921-B50EC92DE88E}"/>
              </a:ext>
            </a:extLst>
          </p:cNvPr>
          <p:cNvSpPr txBox="1"/>
          <p:nvPr/>
        </p:nvSpPr>
        <p:spPr>
          <a:xfrm>
            <a:off x="5715000" y="952500"/>
            <a:ext cx="3190875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en-US" sz="1470">
                <a:solidFill>
                  <a:srgbClr val="1E1E1E"/>
                </a:solidFill>
                <a:latin typeface="Arial" panose="020B0604020202020204" pitchFamily="34" charset="0"/>
              </a:rPr>
              <a:t>One dual-channel driver (HS + LS) between two cells: both gate loops equal and with their own Kelvin return (design value ≈ 1.7 nH; extracted on the routed board: step 11)</a:t>
            </a:r>
          </a:p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en-US" sz="1470">
                <a:solidFill>
                  <a:srgbClr val="1E1E1E"/>
                </a:solidFill>
                <a:latin typeface="Arial" panose="020B0604020202020204" pitchFamily="34" charset="0"/>
              </a:rPr>
              <a:t>n = 3 breaks the symmetry (pair + single)</a:t>
            </a:r>
          </a:p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en-US" sz="1470">
                <a:solidFill>
                  <a:srgbClr val="1E1E1E"/>
                </a:solidFill>
                <a:latin typeface="Arial" panose="020B0604020202020204" pitchFamily="34" charset="0"/>
              </a:rPr>
              <a:t>n = 4: two pairs, two drivers, one star per pair ⇒ the building block of two point-symmetric cells</a:t>
            </a:r>
            <a:endParaRPr lang="sv-SE" sz="1470" dirty="0" err="1">
              <a:solidFill>
                <a:srgbClr val="1E1E1E"/>
              </a:solidFill>
              <a:latin typeface="Arial" panose="020B0604020202020204" pitchFamily="34" charset="0"/>
            </a:endParaRPr>
          </a:p>
        </p:txBody>
      </p:sp>
      <p:sp>
        <p:nvSpPr>
          <p:cNvPr id="9" name="decision">
            <a:extLst>
              <a:ext uri="{FF2B5EF4-FFF2-40B4-BE49-F238E27FC236}">
                <a16:creationId xmlns:a16="http://schemas.microsoft.com/office/drawing/2014/main" id="{9FA0F6C1-A445-CE33-1898-FDBA0A16E17F}"/>
              </a:ext>
            </a:extLst>
          </p:cNvPr>
          <p:cNvSpPr/>
          <p:nvPr/>
        </p:nvSpPr>
        <p:spPr>
          <a:xfrm>
            <a:off x="238125" y="4400550"/>
            <a:ext cx="8667750" cy="381000"/>
          </a:xfrm>
          <a:prstGeom prst="roundRect">
            <a:avLst/>
          </a:prstGeom>
          <a:solidFill>
            <a:srgbClr val="EEF4FB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bIns="25400" rtlCol="0" anchor="ctr">
            <a:noAutofit/>
          </a:bodyPr>
          <a:lstStyle/>
          <a:p>
            <a:r>
              <a:rPr lang="en-US" sz="1380" b="1">
                <a:solidFill>
                  <a:srgbClr val="1E1E1E"/>
                </a:solidFill>
                <a:latin typeface="Arial" panose="020B0604020202020204" pitchFamily="34" charset="0"/>
              </a:rPr>
              <a:t>Decision:</a:t>
            </a:r>
            <a:r>
              <a:rPr lang="en-US" sz="1380">
                <a:solidFill>
                  <a:srgbClr val="1E1E1E"/>
                </a:solidFill>
                <a:latin typeface="Arial" panose="020B0604020202020204" pitchFamily="34" charset="0"/>
              </a:rPr>
              <a:t> 2 × EPC2361 per driver channel; 4 per switch = two pairs = two drivers</a:t>
            </a:r>
            <a:endParaRPr lang="sv-SE" sz="1380" dirty="0">
              <a:solidFill>
                <a:srgbClr val="1E1E1E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69722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A2736-972D-2D2F-A6D7-71B67CFE1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100"/>
              <a:t>Gate driver selection: why the 2EDF7275K</a:t>
            </a:r>
            <a:endParaRPr lang="sv-SE" sz="21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FB169B-9E05-8267-8EA0-93882A8DE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C37B29-E039-64B9-E3C7-21605B61C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22</a:t>
            </a:fld>
            <a:endParaRPr lang="sv-SE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A81C606-EE01-D958-7C12-4199EB7150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2356386"/>
              </p:ext>
            </p:extLst>
          </p:nvPr>
        </p:nvGraphicFramePr>
        <p:xfrm>
          <a:off x="238125" y="952500"/>
          <a:ext cx="8667750" cy="1466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227009927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3101880749"/>
                    </a:ext>
                  </a:extLst>
                </a:gridCol>
                <a:gridCol w="2143125">
                  <a:extLst>
                    <a:ext uri="{9D8B030D-6E8A-4147-A177-3AD203B41FA5}">
                      <a16:colId xmlns:a16="http://schemas.microsoft.com/office/drawing/2014/main" val="3383397285"/>
                    </a:ext>
                  </a:extLst>
                </a:gridCol>
                <a:gridCol w="2143125">
                  <a:extLst>
                    <a:ext uri="{9D8B030D-6E8A-4147-A177-3AD203B41FA5}">
                      <a16:colId xmlns:a16="http://schemas.microsoft.com/office/drawing/2014/main" val="3725960078"/>
                    </a:ext>
                  </a:extLst>
                </a:gridCol>
              </a:tblGrid>
              <a:tr h="165100">
                <a:tc>
                  <a:txBody>
                    <a:bodyPr/>
                    <a:lstStyle/>
                    <a:p>
                      <a:pPr algn="l"/>
                      <a:endParaRPr lang="sv-SE" sz="119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1954A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2EDF7275K (Infineon)</a:t>
                      </a:r>
                    </a:p>
                  </a:txBody>
                  <a:tcPr marL="50800" marR="50800" marT="25400" marB="25400">
                    <a:solidFill>
                      <a:srgbClr val="1954A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1EDF5673K (Infineon)</a:t>
                      </a:r>
                    </a:p>
                  </a:txBody>
                  <a:tcPr marL="50800" marR="50800" marT="25400" marB="25400">
                    <a:solidFill>
                      <a:srgbClr val="1954A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LMG1210 (TI)</a:t>
                      </a:r>
                    </a:p>
                  </a:txBody>
                  <a:tcPr marL="50800" marR="50800" marT="25400" marB="25400">
                    <a:solidFill>
                      <a:srgbClr val="1954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461073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Channels / isolation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2, each output isolated (functional)</a:t>
                      </a:r>
                      <a:endParaRPr lang="sv-SE" sz="1190">
                        <a:solidFill>
                          <a:srgbClr val="1E1E1E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1, isolated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half bridge, bootstrap HS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9956126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Peak source / sink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4 A / 8 A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0.85 Ω / 0.35 Ω output</a:t>
                      </a:r>
                      <a:endParaRPr lang="sv-SE" sz="1190">
                        <a:solidFill>
                          <a:srgbClr val="1E1E1E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1.5 A / 3 A class</a:t>
                      </a:r>
                      <a:endParaRPr lang="sv-SE" sz="1190">
                        <a:solidFill>
                          <a:srgbClr val="1E1E1E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8261583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Prop. delay / mismatch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37 ns / ≤ 3 ns ch-ch</a:t>
                      </a:r>
                      <a:endParaRPr lang="sv-SE" sz="1190">
                        <a:solidFill>
                          <a:srgbClr val="1E1E1E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37 ns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≤ 21 ns / ≤ 3.4 ns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558927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CMTI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150 V/ns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&gt; 200 V/ns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300 V/ns (HS dv/dt)</a:t>
                      </a:r>
                      <a:endParaRPr lang="sv-SE" sz="1190">
                        <a:solidFill>
                          <a:srgbClr val="1E1E1E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9834376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Off-voltage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external (Zener split)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built-in negative (RC)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0 V only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112020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en-US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ICs per switch (4 EPC2361)</a:t>
                      </a:r>
                      <a:endParaRPr lang="sv-SE" sz="1190">
                        <a:solidFill>
                          <a:srgbClr val="1E1E1E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 b="1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2</a:t>
                      </a:r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 (one per pair)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2 (weak for a pair)</a:t>
                      </a:r>
                      <a:endParaRPr lang="sv-SE" sz="1190">
                        <a:solidFill>
                          <a:srgbClr val="1E1E1E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92225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87415A5-C405-2395-2420-3211F69BF988}"/>
              </a:ext>
            </a:extLst>
          </p:cNvPr>
          <p:cNvSpPr txBox="1"/>
          <p:nvPr/>
        </p:nvSpPr>
        <p:spPr>
          <a:xfrm>
            <a:off x="238125" y="3095625"/>
            <a:ext cx="866775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en-US" sz="1380">
                <a:solidFill>
                  <a:srgbClr val="1E1E1E"/>
                </a:solidFill>
                <a:latin typeface="Arial" panose="020B0604020202020204" pitchFamily="34" charset="0"/>
              </a:rPr>
              <a:t>A pair needs ≈ 2 × 3.6 nF: 4 A / 8 A drives it at the single-device speed; the 1.5 A / 3 A half-bridge driver does not</a:t>
            </a:r>
          </a:p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en-US" sz="1380">
                <a:solidFill>
                  <a:srgbClr val="1E1E1E"/>
                </a:solidFill>
                <a:latin typeface="Arial" panose="020B0604020202020204" pitchFamily="34" charset="0"/>
              </a:rPr>
              <a:t>Two isolated outputs in one 5 × 5 mm LGA: HS and LS of the same pair from one IC, ≤ 3 ns channel mismatch</a:t>
            </a:r>
          </a:p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en-US" sz="1380">
                <a:solidFill>
                  <a:srgbClr val="1E1E1E"/>
                </a:solidFill>
                <a:latin typeface="Arial" panose="020B0604020202020204" pitchFamily="34" charset="0"/>
              </a:rPr>
              <a:t>Floating outputs: each output gets its own supply split (5.1 V Zener on, −1.9 V off) for the bump margin (next)</a:t>
            </a:r>
            <a:endParaRPr lang="sv-SE" sz="1380" dirty="0" err="1">
              <a:solidFill>
                <a:srgbClr val="1E1E1E"/>
              </a:solidFill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88998B-204A-3179-50C6-98B4C78D8CDC}"/>
              </a:ext>
            </a:extLst>
          </p:cNvPr>
          <p:cNvSpPr txBox="1"/>
          <p:nvPr/>
        </p:nvSpPr>
        <p:spPr>
          <a:xfrm>
            <a:off x="228600" y="4597400"/>
            <a:ext cx="7874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730">
                <a:solidFill>
                  <a:srgbClr val="787878"/>
                </a:solidFill>
                <a:latin typeface="Arial" panose="020B0604020202020204" pitchFamily="34" charset="0"/>
              </a:rPr>
              <a:t>Data: Infineon / TI product pages and datasheets (2EDF7275K, 1EDF5673K, LMG1210); check the current revision.</a:t>
            </a:r>
            <a:endParaRPr lang="sv-SE" sz="730" dirty="0" err="1">
              <a:solidFill>
                <a:srgbClr val="787878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00214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6E59F-7FE4-92A0-5440-B76398C36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100"/>
              <a:t>Why symmetry: what sets the current sharing</a:t>
            </a:r>
            <a:endParaRPr lang="sv-SE" sz="21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60CA74-9749-DA4C-B4A5-1C00B5403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1A96DE-3F4C-02F0-00C4-0C4C1943B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23</a:t>
            </a:fld>
            <a:endParaRPr lang="sv-S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FDAD8F0-63E2-B1F4-0A9A-90F1088DA4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688" y="952500"/>
            <a:ext cx="6890624" cy="1666875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48DDB0D-3D06-FEFA-90DD-1331456E50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9741271"/>
              </p:ext>
            </p:extLst>
          </p:nvPr>
        </p:nvGraphicFramePr>
        <p:xfrm>
          <a:off x="238125" y="2667000"/>
          <a:ext cx="8667750" cy="1466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>
                  <a:extLst>
                    <a:ext uri="{9D8B030D-6E8A-4147-A177-3AD203B41FA5}">
                      <a16:colId xmlns:a16="http://schemas.microsoft.com/office/drawing/2014/main" val="1581507371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3991539623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3819306385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828896186"/>
                    </a:ext>
                  </a:extLst>
                </a:gridCol>
              </a:tblGrid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Asymmetry (LTspice, two EPC2361 in parallel)</a:t>
                      </a:r>
                      <a:endParaRPr lang="sv-SE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1954A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Case</a:t>
                      </a:r>
                    </a:p>
                  </a:txBody>
                  <a:tcPr marL="50800" marR="50800" marT="25400" marB="25400">
                    <a:solidFill>
                      <a:srgbClr val="1954A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E</a:t>
                      </a:r>
                      <a:r>
                        <a:rPr lang="sv-SE" sz="1100" b="1" baseline="-2500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on</a:t>
                      </a:r>
                      <a:r>
                        <a:rPr lang="sv-SE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+E</a:t>
                      </a:r>
                      <a:r>
                        <a:rPr lang="sv-SE" sz="1100" b="1" baseline="-2500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off</a:t>
                      </a:r>
                      <a:r>
                        <a:rPr lang="sv-SE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 imbalance</a:t>
                      </a:r>
                    </a:p>
                  </a:txBody>
                  <a:tcPr marL="50800" marR="50800" marT="25400" marB="25400">
                    <a:solidFill>
                      <a:srgbClr val="1954A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Layout measure</a:t>
                      </a:r>
                    </a:p>
                  </a:txBody>
                  <a:tcPr marL="50800" marR="50800" marT="25400" marB="25400">
                    <a:solidFill>
                      <a:srgbClr val="1954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363308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Power-loop inductance mismatch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L</a:t>
                      </a:r>
                      <a:r>
                        <a:rPr lang="sv-SE" sz="1100" baseline="-250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D</a:t>
                      </a:r>
                      <a:r>
                        <a:rPr lang="sv-SE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 +0.3 nH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2 %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symmetric cells, identical via sets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7138546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Gate-loop inductance mismatch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L</a:t>
                      </a:r>
                      <a:r>
                        <a:rPr lang="sv-SE" sz="1100" baseline="-250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G</a:t>
                      </a:r>
                      <a:r>
                        <a:rPr lang="sv-SE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 2 vs 8 nH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00" b="1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19 %</a:t>
                      </a:r>
                      <a:r>
                        <a:rPr lang="sv-SE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 (E</a:t>
                      </a:r>
                      <a:r>
                        <a:rPr lang="sv-SE" sz="1100" baseline="-250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on</a:t>
                      </a:r>
                      <a:r>
                        <a:rPr lang="sv-SE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 4 : 1)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star network, equal gate traces</a:t>
                      </a:r>
                      <a:endParaRPr lang="sv-SE" sz="1100">
                        <a:solidFill>
                          <a:srgbClr val="1E1E1E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6527259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Common-source inductance, no Kelvin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symmetric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0 %, both +47 % E</a:t>
                      </a:r>
                      <a:r>
                        <a:rPr lang="sv-SE" sz="1100" baseline="-250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on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Kelvin pad per device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6338718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Common-source mismatch, no Kelvin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L</a:t>
                      </a:r>
                      <a:r>
                        <a:rPr lang="sv-SE" sz="1100" baseline="-250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CS</a:t>
                      </a:r>
                      <a:r>
                        <a:rPr lang="sv-SE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 +0.2 nH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00" b="1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29 %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Kelvin return per device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8025619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Threshold spread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V</a:t>
                      </a:r>
                      <a:r>
                        <a:rPr lang="sv-SE" sz="1100" baseline="-250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th</a:t>
                      </a:r>
                      <a:r>
                        <a:rPr lang="sv-SE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 +0.3 V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7 %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same driver channel per pair</a:t>
                      </a:r>
                      <a:endParaRPr lang="sv-SE" sz="1100">
                        <a:solidFill>
                          <a:srgbClr val="1E1E1E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1042871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Static (conduction): copper / R</a:t>
                      </a:r>
                      <a:r>
                        <a:rPr lang="en-US" sz="1100" baseline="-250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DS(on)</a:t>
                      </a:r>
                      <a:endParaRPr lang="sv-SE" sz="1100" baseline="-25000">
                        <a:solidFill>
                          <a:srgbClr val="1E1E1E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–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self-limiting (positive TC)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symmetric copper (Q3D, step 11)</a:t>
                      </a:r>
                      <a:endParaRPr lang="sv-SE" sz="1100">
                        <a:solidFill>
                          <a:srgbClr val="1E1E1E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15450"/>
                  </a:ext>
                </a:extLst>
              </a:tr>
            </a:tbl>
          </a:graphicData>
        </a:graphic>
      </p:graphicFrame>
      <p:sp>
        <p:nvSpPr>
          <p:cNvPr id="9" name="decision">
            <a:extLst>
              <a:ext uri="{FF2B5EF4-FFF2-40B4-BE49-F238E27FC236}">
                <a16:creationId xmlns:a16="http://schemas.microsoft.com/office/drawing/2014/main" id="{8FD58B32-A87C-CC47-86EF-8C03BF51051A}"/>
              </a:ext>
            </a:extLst>
          </p:cNvPr>
          <p:cNvSpPr/>
          <p:nvPr/>
        </p:nvSpPr>
        <p:spPr>
          <a:xfrm>
            <a:off x="238125" y="4400550"/>
            <a:ext cx="8667750" cy="381000"/>
          </a:xfrm>
          <a:prstGeom prst="roundRect">
            <a:avLst/>
          </a:prstGeom>
          <a:solidFill>
            <a:srgbClr val="EEF4FB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bIns="25400" rtlCol="0" anchor="ctr">
            <a:noAutofit/>
          </a:bodyPr>
          <a:lstStyle/>
          <a:p>
            <a:r>
              <a:rPr lang="en-US" sz="1380" b="1">
                <a:solidFill>
                  <a:srgbClr val="1E1E1E"/>
                </a:solidFill>
                <a:latin typeface="Arial" panose="020B0604020202020204" pitchFamily="34" charset="0"/>
              </a:rPr>
              <a:t>Decision:</a:t>
            </a:r>
            <a:r>
              <a:rPr lang="en-US" sz="1380">
                <a:solidFill>
                  <a:srgbClr val="1E1E1E"/>
                </a:solidFill>
                <a:latin typeface="Arial" panose="020B0604020202020204" pitchFamily="34" charset="0"/>
              </a:rPr>
              <a:t> Star gate network with Kelvin returns, one driver channel per pair, point-symmetric cells</a:t>
            </a:r>
            <a:endParaRPr lang="sv-SE" sz="1380" dirty="0">
              <a:solidFill>
                <a:srgbClr val="1E1E1E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25188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1BF4F-EAEA-ED9E-ED88-CA8535036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100"/>
              <a:t>Gate bump and negative off-voltage</a:t>
            </a:r>
            <a:endParaRPr lang="sv-SE" sz="21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FCDFCA-26EF-5BEC-B625-DEF100A8E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C619A0-8991-AA82-21E7-8931A0931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24</a:t>
            </a:fld>
            <a:endParaRPr lang="sv-S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C05D51D-99D1-E137-3A10-9B51AED529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952500"/>
            <a:ext cx="5334000" cy="13573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E7CDDD5-8180-02FF-DBC8-49AC6980C2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2857500"/>
            <a:ext cx="5334000" cy="183293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EE5778E-E355-38A8-2FF4-3CD9E072FB78}"/>
              </a:ext>
            </a:extLst>
          </p:cNvPr>
          <p:cNvSpPr txBox="1"/>
          <p:nvPr/>
        </p:nvSpPr>
        <p:spPr>
          <a:xfrm>
            <a:off x="5715000" y="952500"/>
            <a:ext cx="3190875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en-US" sz="1190" b="1">
                <a:solidFill>
                  <a:srgbClr val="1E1E1E"/>
                </a:solidFill>
                <a:latin typeface="Arial" panose="020B0604020202020204" pitchFamily="34" charset="0"/>
              </a:rPr>
              <a:t>Bump:</a:t>
            </a:r>
            <a:r>
              <a:rPr lang="en-US" sz="1190">
                <a:solidFill>
                  <a:srgbClr val="1E1E1E"/>
                </a:solidFill>
                <a:latin typeface="Arial" panose="020B0604020202020204" pitchFamily="34" charset="0"/>
              </a:rPr>
              <a:t> when the other device of the leg turns on, the off device sees dv/dt; C</a:t>
            </a:r>
            <a:r>
              <a:rPr lang="en-US" sz="1190" baseline="-25000">
                <a:solidFill>
                  <a:srgbClr val="1E1E1E"/>
                </a:solidFill>
                <a:latin typeface="Arial" panose="020B0604020202020204" pitchFamily="34" charset="0"/>
              </a:rPr>
              <a:t>GD</a:t>
            </a:r>
            <a:r>
              <a:rPr lang="en-US" sz="1190">
                <a:solidFill>
                  <a:srgbClr val="1E1E1E"/>
                </a:solidFill>
                <a:latin typeface="Arial" panose="020B0604020202020204" pitchFamily="34" charset="0"/>
              </a:rPr>
              <a:t>·dv/dt flows through its gate loop and lifts v</a:t>
            </a:r>
            <a:r>
              <a:rPr lang="en-US" sz="1190" baseline="-25000">
                <a:solidFill>
                  <a:srgbClr val="1E1E1E"/>
                </a:solidFill>
                <a:latin typeface="Arial" panose="020B0604020202020204" pitchFamily="34" charset="0"/>
              </a:rPr>
              <a:t>GS</a:t>
            </a:r>
            <a:r>
              <a:rPr lang="en-US" sz="1190">
                <a:solidFill>
                  <a:srgbClr val="1E1E1E"/>
                </a:solidFill>
                <a:latin typeface="Arial" panose="020B0604020202020204" pitchFamily="34" charset="0"/>
              </a:rPr>
              <a:t> by ≈ Q</a:t>
            </a:r>
            <a:r>
              <a:rPr lang="en-US" sz="1190" baseline="-25000">
                <a:solidFill>
                  <a:srgbClr val="1E1E1E"/>
                </a:solidFill>
                <a:latin typeface="Arial" panose="020B0604020202020204" pitchFamily="34" charset="0"/>
              </a:rPr>
              <a:t>GD</a:t>
            </a:r>
            <a:r>
              <a:rPr lang="en-US" sz="1190">
                <a:solidFill>
                  <a:srgbClr val="1E1E1E"/>
                </a:solidFill>
                <a:latin typeface="Arial" panose="020B0604020202020204" pitchFamily="34" charset="0"/>
              </a:rPr>
              <a:t>/C</a:t>
            </a:r>
            <a:r>
              <a:rPr lang="en-US" sz="1190" baseline="-25000">
                <a:solidFill>
                  <a:srgbClr val="1E1E1E"/>
                </a:solidFill>
                <a:latin typeface="Arial" panose="020B0604020202020204" pitchFamily="34" charset="0"/>
              </a:rPr>
              <a:t>GS</a:t>
            </a:r>
            <a:r>
              <a:rPr lang="en-US" sz="1190">
                <a:solidFill>
                  <a:srgbClr val="1E1E1E"/>
                </a:solidFill>
                <a:latin typeface="Arial" panose="020B0604020202020204" pitchFamily="34" charset="0"/>
              </a:rPr>
              <a:t> ≈ 1.06 V</a:t>
            </a:r>
          </a:p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en-US" sz="1190">
                <a:solidFill>
                  <a:srgbClr val="1E1E1E"/>
                </a:solidFill>
                <a:latin typeface="Arial" panose="020B0604020202020204" pitchFamily="34" charset="0"/>
              </a:rPr>
              <a:t>Independent of load current and bus voltage (top b, c); close to the 0.8 V minimum threshold ⇒ shoot-through risk</a:t>
            </a:r>
          </a:p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en-US" sz="1190" b="1">
                <a:solidFill>
                  <a:srgbClr val="1E1E1E"/>
                </a:solidFill>
                <a:latin typeface="Arial" panose="020B0604020202020204" pitchFamily="34" charset="0"/>
              </a:rPr>
              <a:t>Negative off-voltage</a:t>
            </a:r>
            <a:r>
              <a:rPr lang="en-US" sz="1190">
                <a:solidFill>
                  <a:srgbClr val="1E1E1E"/>
                </a:solidFill>
                <a:latin typeface="Arial" panose="020B0604020202020204" pitchFamily="34" charset="0"/>
              </a:rPr>
              <a:t> shifts the whole bump down: −1 V ⇒ peak ≈ 0 V; extra C</a:t>
            </a:r>
            <a:r>
              <a:rPr lang="en-US" sz="1190" baseline="-25000">
                <a:solidFill>
                  <a:srgbClr val="1E1E1E"/>
                </a:solidFill>
                <a:latin typeface="Arial" panose="020B0604020202020204" pitchFamily="34" charset="0"/>
              </a:rPr>
              <a:t>GS</a:t>
            </a:r>
            <a:r>
              <a:rPr lang="en-US" sz="1190">
                <a:solidFill>
                  <a:srgbClr val="1E1E1E"/>
                </a:solidFill>
                <a:latin typeface="Arial" panose="020B0604020202020204" pitchFamily="34" charset="0"/>
              </a:rPr>
              <a:t> divides it further (bottom)</a:t>
            </a:r>
          </a:p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en-US" sz="1190">
                <a:solidFill>
                  <a:srgbClr val="1E1E1E"/>
                </a:solidFill>
                <a:latin typeface="Arial" panose="020B0604020202020204" pitchFamily="34" charset="0"/>
              </a:rPr>
              <a:t>Cost: reverse conduction in the dead time at V</a:t>
            </a:r>
            <a:r>
              <a:rPr lang="en-US" sz="1190" baseline="-25000">
                <a:solidFill>
                  <a:srgbClr val="1E1E1E"/>
                </a:solidFill>
                <a:latin typeface="Arial" panose="020B0604020202020204" pitchFamily="34" charset="0"/>
              </a:rPr>
              <a:t>SD</a:t>
            </a:r>
            <a:r>
              <a:rPr lang="en-US" sz="1190">
                <a:solidFill>
                  <a:srgbClr val="1E1E1E"/>
                </a:solidFill>
                <a:latin typeface="Arial" panose="020B0604020202020204" pitchFamily="34" charset="0"/>
              </a:rPr>
              <a:t> + |V</a:t>
            </a:r>
            <a:r>
              <a:rPr lang="en-US" sz="1190" baseline="-25000">
                <a:solidFill>
                  <a:srgbClr val="1E1E1E"/>
                </a:solidFill>
                <a:latin typeface="Arial" panose="020B0604020202020204" pitchFamily="34" charset="0"/>
              </a:rPr>
              <a:t>off</a:t>
            </a:r>
            <a:r>
              <a:rPr lang="en-US" sz="1190">
                <a:solidFill>
                  <a:srgbClr val="1E1E1E"/>
                </a:solidFill>
                <a:latin typeface="Arial" panose="020B0604020202020204" pitchFamily="34" charset="0"/>
              </a:rPr>
              <a:t>|; off-state ringing must stay above the −4 V limit</a:t>
            </a:r>
          </a:p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en-US" sz="1190">
                <a:solidFill>
                  <a:srgbClr val="1E1E1E"/>
                </a:solidFill>
                <a:latin typeface="Arial" panose="020B0604020202020204" pitchFamily="34" charset="0"/>
              </a:rPr>
              <a:t>Implemented: V</a:t>
            </a:r>
            <a:r>
              <a:rPr lang="en-US" sz="1190" baseline="-25000">
                <a:solidFill>
                  <a:srgbClr val="1E1E1E"/>
                </a:solidFill>
                <a:latin typeface="Arial" panose="020B0604020202020204" pitchFamily="34" charset="0"/>
              </a:rPr>
              <a:t>GS,off</a:t>
            </a:r>
            <a:r>
              <a:rPr lang="en-US" sz="1190">
                <a:solidFill>
                  <a:srgbClr val="1E1E1E"/>
                </a:solidFill>
                <a:latin typeface="Arial" panose="020B0604020202020204" pitchFamily="34" charset="0"/>
              </a:rPr>
              <a:t> = −(V</a:t>
            </a:r>
            <a:r>
              <a:rPr lang="en-US" sz="1190" baseline="-25000">
                <a:solidFill>
                  <a:srgbClr val="1E1E1E"/>
                </a:solidFill>
                <a:latin typeface="Arial" panose="020B0604020202020204" pitchFamily="34" charset="0"/>
              </a:rPr>
              <a:t>ISO</a:t>
            </a:r>
            <a:r>
              <a:rPr lang="en-US" sz="1190">
                <a:solidFill>
                  <a:srgbClr val="1E1E1E"/>
                </a:solidFill>
                <a:latin typeface="Arial" panose="020B0604020202020204" pitchFamily="34" charset="0"/>
              </a:rPr>
              <a:t> − 5.1 V) = </a:t>
            </a:r>
            <a:r>
              <a:rPr lang="en-US" sz="1190" b="1">
                <a:solidFill>
                  <a:srgbClr val="1E1E1E"/>
                </a:solidFill>
                <a:latin typeface="Arial" panose="020B0604020202020204" pitchFamily="34" charset="0"/>
              </a:rPr>
              <a:t>−1.9 V</a:t>
            </a:r>
            <a:r>
              <a:rPr lang="en-US" sz="1190">
                <a:solidFill>
                  <a:srgbClr val="1E1E1E"/>
                </a:solidFill>
                <a:latin typeface="Arial" panose="020B0604020202020204" pitchFamily="34" charset="0"/>
              </a:rPr>
              <a:t> (V</a:t>
            </a:r>
            <a:r>
              <a:rPr lang="en-US" sz="1190" baseline="-25000">
                <a:solidFill>
                  <a:srgbClr val="1E1E1E"/>
                </a:solidFill>
                <a:latin typeface="Arial" panose="020B0604020202020204" pitchFamily="34" charset="0"/>
              </a:rPr>
              <a:t>ISO</a:t>
            </a:r>
            <a:r>
              <a:rPr lang="en-US" sz="1190">
                <a:solidFill>
                  <a:srgbClr val="1E1E1E"/>
                </a:solidFill>
                <a:latin typeface="Arial" panose="020B0604020202020204" pitchFamily="34" charset="0"/>
              </a:rPr>
              <a:t> = 7 V), set with the extracted gate loop (step 11): bump ≤ −0.5 V, ringing ≈ −3.4 V</a:t>
            </a:r>
            <a:endParaRPr lang="sv-SE" sz="1190" dirty="0" err="1">
              <a:solidFill>
                <a:srgbClr val="1E1E1E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99222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9616E-D1BA-FC08-3A96-F85C96527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/>
              <a:t>Building block: two point-symmetric cells, one centre driver</a:t>
            </a:r>
            <a:endParaRPr lang="sv-SE" sz="18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2967E2-89EA-BC0E-45C3-F54A894E2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530B08-1CA6-AF56-4344-2BF84B861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25</a:t>
            </a:fld>
            <a:endParaRPr lang="sv-S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80C79FF-D405-08BD-955C-E4F61A6FE5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952500"/>
            <a:ext cx="5143500" cy="32146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80836E2-2214-02CA-42EC-15E7DA59675D}"/>
              </a:ext>
            </a:extLst>
          </p:cNvPr>
          <p:cNvSpPr txBox="1"/>
          <p:nvPr/>
        </p:nvSpPr>
        <p:spPr>
          <a:xfrm>
            <a:off x="5524500" y="952500"/>
            <a:ext cx="3381375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en-US" sz="1380">
                <a:solidFill>
                  <a:srgbClr val="1E1E1E"/>
                </a:solidFill>
                <a:latin typeface="Arial" panose="020B0604020202020204" pitchFamily="34" charset="0"/>
              </a:rPr>
              <a:t>Q3D model of the final board (cell band): copper per net, vias, FET pads and bypass terminals</a:t>
            </a:r>
          </a:p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en-US" sz="1380">
                <a:solidFill>
                  <a:srgbClr val="1E1E1E"/>
                </a:solidFill>
                <a:latin typeface="Arial" panose="020B0604020202020204" pitchFamily="34" charset="0"/>
              </a:rPr>
              <a:t>Two cells rotated by 180° about the driver (point symmetry): identical gate loops and Kelvin returns</a:t>
            </a:r>
          </a:p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en-US" sz="1380">
                <a:solidFill>
                  <a:srgbClr val="1E1E1E"/>
                </a:solidFill>
                <a:latin typeface="Arial" panose="020B0604020202020204" pitchFamily="34" charset="0"/>
              </a:rPr>
              <a:t>One 2EDF7275K channel drives a </a:t>
            </a:r>
            <a:r>
              <a:rPr lang="en-US" sz="1380" b="1">
                <a:solidFill>
                  <a:srgbClr val="1E1E1E"/>
                </a:solidFill>
                <a:latin typeface="Arial" panose="020B0604020202020204" pitchFamily="34" charset="0"/>
              </a:rPr>
              <a:t>pair</a:t>
            </a:r>
            <a:r>
              <a:rPr lang="en-US" sz="1380">
                <a:solidFill>
                  <a:srgbClr val="1E1E1E"/>
                </a:solidFill>
                <a:latin typeface="Arial" panose="020B0604020202020204" pitchFamily="34" charset="0"/>
              </a:rPr>
              <a:t> (star network, R</a:t>
            </a:r>
            <a:r>
              <a:rPr lang="en-US" sz="1380" baseline="-25000">
                <a:solidFill>
                  <a:srgbClr val="1E1E1E"/>
                </a:solidFill>
                <a:latin typeface="Arial" panose="020B0604020202020204" pitchFamily="34" charset="0"/>
              </a:rPr>
              <a:t>G</a:t>
            </a:r>
            <a:r>
              <a:rPr lang="en-US" sz="1380">
                <a:solidFill>
                  <a:srgbClr val="1E1E1E"/>
                </a:solidFill>
                <a:latin typeface="Arial" panose="020B0604020202020204" pitchFamily="34" charset="0"/>
              </a:rPr>
              <a:t> 0.5 Ω per transistor)</a:t>
            </a:r>
          </a:p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en-US" sz="1380">
                <a:solidFill>
                  <a:srgbClr val="1E1E1E"/>
                </a:solidFill>
                <a:latin typeface="Arial" panose="020B0604020202020204" pitchFamily="34" charset="0"/>
              </a:rPr>
              <a:t>Each cell keeps its own commutation loop (step 11: 0.41 nH load board, 0.65 nH DPT board)</a:t>
            </a:r>
            <a:endParaRPr lang="sv-SE" sz="1380" dirty="0" err="1">
              <a:solidFill>
                <a:srgbClr val="1E1E1E"/>
              </a:solidFill>
              <a:latin typeface="Arial" panose="020B0604020202020204" pitchFamily="34" charset="0"/>
            </a:endParaRPr>
          </a:p>
        </p:txBody>
      </p:sp>
      <p:sp>
        <p:nvSpPr>
          <p:cNvPr id="9" name="decision">
            <a:extLst>
              <a:ext uri="{FF2B5EF4-FFF2-40B4-BE49-F238E27FC236}">
                <a16:creationId xmlns:a16="http://schemas.microsoft.com/office/drawing/2014/main" id="{CE22C20D-79C3-92B4-410C-4596B1BA7C14}"/>
              </a:ext>
            </a:extLst>
          </p:cNvPr>
          <p:cNvSpPr/>
          <p:nvPr/>
        </p:nvSpPr>
        <p:spPr>
          <a:xfrm>
            <a:off x="238125" y="4400550"/>
            <a:ext cx="8667750" cy="381000"/>
          </a:xfrm>
          <a:prstGeom prst="roundRect">
            <a:avLst/>
          </a:prstGeom>
          <a:solidFill>
            <a:srgbClr val="EEF4FB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bIns="25400" rtlCol="0" anchor="ctr">
            <a:noAutofit/>
          </a:bodyPr>
          <a:lstStyle/>
          <a:p>
            <a:r>
              <a:rPr lang="en-US" sz="1380" b="1">
                <a:solidFill>
                  <a:srgbClr val="1E1E1E"/>
                </a:solidFill>
                <a:latin typeface="Arial" panose="020B0604020202020204" pitchFamily="34" charset="0"/>
              </a:rPr>
              <a:t>Decision:</a:t>
            </a:r>
            <a:r>
              <a:rPr lang="en-US" sz="1380">
                <a:solidFill>
                  <a:srgbClr val="1E1E1E"/>
                </a:solidFill>
                <a:latin typeface="Arial" panose="020B0604020202020204" pitchFamily="34" charset="0"/>
              </a:rPr>
              <a:t> 2 × EPC2361 per channel; </a:t>
            </a:r>
            <a:r>
              <a:rPr lang="en-US" sz="1380" b="1">
                <a:solidFill>
                  <a:srgbClr val="1E1E1E"/>
                </a:solidFill>
                <a:latin typeface="Arial" panose="020B0604020202020204" pitchFamily="34" charset="0"/>
              </a:rPr>
              <a:t>4 per switch = two pairs, two drivers, one leg board</a:t>
            </a:r>
            <a:endParaRPr lang="sv-SE" sz="1380" b="1" dirty="0">
              <a:solidFill>
                <a:srgbClr val="1E1E1E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53892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0DCDC-9EFA-0738-E25C-820EBC8B8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100"/>
              <a:t>Rev B: four cells per switch, two drivers, one leg</a:t>
            </a:r>
            <a:endParaRPr lang="sv-SE" sz="21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96D512-7060-101E-468F-CEE804896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89CC20-1C26-6FF1-5344-E083EDBC6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26</a:t>
            </a:fld>
            <a:endParaRPr lang="sv-S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5BDC59-CE3B-F070-77B6-07F50255EEC3}"/>
              </a:ext>
            </a:extLst>
          </p:cNvPr>
          <p:cNvSpPr/>
          <p:nvPr/>
        </p:nvSpPr>
        <p:spPr>
          <a:xfrm>
            <a:off x="333375" y="1143000"/>
            <a:ext cx="4476750" cy="3143250"/>
          </a:xfrm>
          <a:prstGeom prst="rect">
            <a:avLst/>
          </a:prstGeom>
          <a:solidFill>
            <a:srgbClr val="FFFFFF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" rIns="25400" rtlCol="0" anchor="ctr"/>
          <a:lstStyle/>
          <a:p>
            <a:pPr algn="ctr"/>
            <a:endParaRPr lang="sv-SE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07527B-E653-E0A4-ED9E-94DBF9A3A9E6}"/>
              </a:ext>
            </a:extLst>
          </p:cNvPr>
          <p:cNvSpPr txBox="1"/>
          <p:nvPr/>
        </p:nvSpPr>
        <p:spPr>
          <a:xfrm>
            <a:off x="381000" y="1171575"/>
            <a:ext cx="2857500" cy="307777"/>
          </a:xfrm>
          <a:prstGeom prst="rect">
            <a:avLst/>
          </a:prstGeom>
          <a:noFill/>
        </p:spPr>
        <p:txBody>
          <a:bodyPr vert="horz" wrap="square" lIns="25400" tIns="0" rIns="0" bIns="0" rtlCol="0">
            <a:noAutofit/>
          </a:bodyPr>
          <a:lstStyle/>
          <a:p>
            <a:r>
              <a:rPr lang="en-US" sz="1010" b="1">
                <a:solidFill>
                  <a:srgbClr val="787878"/>
                </a:solidFill>
                <a:latin typeface="Arial" panose="020B0604020202020204" pitchFamily="34" charset="0"/>
              </a:rPr>
              <a:t>Rev B leg board, 89.5 × 85.2 mm, 4 layers</a:t>
            </a:r>
            <a:endParaRPr lang="sv-SE" sz="1010" b="1" dirty="0" err="1">
              <a:solidFill>
                <a:srgbClr val="787878"/>
              </a:solidFill>
              <a:latin typeface="Arial" panose="020B06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45ABFEB-FDC5-54B1-4A13-523993403777}"/>
              </a:ext>
            </a:extLst>
          </p:cNvPr>
          <p:cNvSpPr/>
          <p:nvPr/>
        </p:nvSpPr>
        <p:spPr>
          <a:xfrm>
            <a:off x="2095500" y="1352550"/>
            <a:ext cx="428625" cy="209550"/>
          </a:xfrm>
          <a:prstGeom prst="roundRect">
            <a:avLst/>
          </a:prstGeom>
          <a:solidFill>
            <a:srgbClr val="FAE9E6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>
            <a:noAutofit/>
          </a:bodyPr>
          <a:lstStyle/>
          <a:p>
            <a:pPr algn="ctr"/>
            <a:r>
              <a:rPr lang="sv-SE" sz="920" b="1">
                <a:solidFill>
                  <a:srgbClr val="1E1E1E"/>
                </a:solidFill>
                <a:latin typeface="Arial" panose="020B0604020202020204" pitchFamily="34" charset="0"/>
              </a:rPr>
              <a:t>DC+</a:t>
            </a:r>
            <a:endParaRPr lang="sv-SE" sz="920" b="1" dirty="0">
              <a:solidFill>
                <a:srgbClr val="1E1E1E"/>
              </a:solidFill>
              <a:latin typeface="Arial" panose="020B06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76F5F32-1DD0-BF2C-31CC-184E57178CAB}"/>
              </a:ext>
            </a:extLst>
          </p:cNvPr>
          <p:cNvSpPr/>
          <p:nvPr/>
        </p:nvSpPr>
        <p:spPr>
          <a:xfrm>
            <a:off x="2619375" y="1352550"/>
            <a:ext cx="428625" cy="209550"/>
          </a:xfrm>
          <a:prstGeom prst="roundRect">
            <a:avLst/>
          </a:prstGeom>
          <a:solidFill>
            <a:srgbClr val="E8EFF8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>
            <a:noAutofit/>
          </a:bodyPr>
          <a:lstStyle/>
          <a:p>
            <a:pPr algn="ctr"/>
            <a:r>
              <a:rPr lang="sv-SE" sz="920" b="1">
                <a:solidFill>
                  <a:srgbClr val="1E1E1E"/>
                </a:solidFill>
                <a:latin typeface="Arial" panose="020B0604020202020204" pitchFamily="34" charset="0"/>
              </a:rPr>
              <a:t>DC−</a:t>
            </a:r>
            <a:endParaRPr lang="sv-SE" sz="920" b="1" dirty="0">
              <a:solidFill>
                <a:srgbClr val="1E1E1E"/>
              </a:solidFill>
              <a:latin typeface="Arial" panose="020B0604020202020204" pitchFamily="34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58ABA57-2798-E489-10F8-785AC47BB70E}"/>
              </a:ext>
            </a:extLst>
          </p:cNvPr>
          <p:cNvCxnSpPr/>
          <p:nvPr/>
        </p:nvCxnSpPr>
        <p:spPr>
          <a:xfrm>
            <a:off x="523875" y="1638300"/>
            <a:ext cx="4095750" cy="0"/>
          </a:xfrm>
          <a:prstGeom prst="line">
            <a:avLst/>
          </a:prstGeom>
          <a:ln w="50800">
            <a:solidFill>
              <a:srgbClr val="C846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93FC31C-0371-198E-4AD3-92EE5F4A2D6A}"/>
              </a:ext>
            </a:extLst>
          </p:cNvPr>
          <p:cNvCxnSpPr/>
          <p:nvPr/>
        </p:nvCxnSpPr>
        <p:spPr>
          <a:xfrm>
            <a:off x="523875" y="1752600"/>
            <a:ext cx="4095750" cy="0"/>
          </a:xfrm>
          <a:prstGeom prst="line">
            <a:avLst/>
          </a:prstGeom>
          <a:ln w="50800">
            <a:solidFill>
              <a:srgbClr val="3264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DFE1F92-CA8B-9801-D8BD-8E0D7378C9A2}"/>
              </a:ext>
            </a:extLst>
          </p:cNvPr>
          <p:cNvCxnSpPr/>
          <p:nvPr/>
        </p:nvCxnSpPr>
        <p:spPr>
          <a:xfrm>
            <a:off x="2305050" y="1562100"/>
            <a:ext cx="0" cy="76200"/>
          </a:xfrm>
          <a:prstGeom prst="line">
            <a:avLst/>
          </a:prstGeom>
          <a:ln w="38100">
            <a:solidFill>
              <a:srgbClr val="C846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0130D06-0D09-3350-C56A-3DE6712E5366}"/>
              </a:ext>
            </a:extLst>
          </p:cNvPr>
          <p:cNvCxnSpPr/>
          <p:nvPr/>
        </p:nvCxnSpPr>
        <p:spPr>
          <a:xfrm>
            <a:off x="2828925" y="1562100"/>
            <a:ext cx="0" cy="190500"/>
          </a:xfrm>
          <a:prstGeom prst="line">
            <a:avLst/>
          </a:prstGeom>
          <a:ln w="38100">
            <a:solidFill>
              <a:srgbClr val="3264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FC95874-F706-AA2D-3B09-88B89579033B}"/>
              </a:ext>
            </a:extLst>
          </p:cNvPr>
          <p:cNvSpPr txBox="1"/>
          <p:nvPr/>
        </p:nvSpPr>
        <p:spPr>
          <a:xfrm>
            <a:off x="523875" y="1428750"/>
            <a:ext cx="1524000" cy="307777"/>
          </a:xfrm>
          <a:prstGeom prst="rect">
            <a:avLst/>
          </a:prstGeom>
          <a:noFill/>
        </p:spPr>
        <p:txBody>
          <a:bodyPr vert="horz" wrap="square" lIns="25400" tIns="0" rIns="0" bIns="0" rtlCol="0">
            <a:noAutofit/>
          </a:bodyPr>
          <a:lstStyle/>
          <a:p>
            <a:r>
              <a:rPr lang="en-US" sz="830">
                <a:solidFill>
                  <a:srgbClr val="787878"/>
                </a:solidFill>
                <a:latin typeface="Arial" panose="020B0604020202020204" pitchFamily="34" charset="0"/>
              </a:rPr>
              <a:t>laminated terminal row + one bank</a:t>
            </a:r>
            <a:endParaRPr lang="sv-SE" sz="830" dirty="0" err="1">
              <a:solidFill>
                <a:srgbClr val="787878"/>
              </a:solidFill>
              <a:latin typeface="Arial" panose="020B060402020202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C200DCB-D665-DCD5-FE54-DB38E440A6F9}"/>
              </a:ext>
            </a:extLst>
          </p:cNvPr>
          <p:cNvSpPr/>
          <p:nvPr/>
        </p:nvSpPr>
        <p:spPr>
          <a:xfrm>
            <a:off x="619125" y="1952625"/>
            <a:ext cx="857250" cy="619125"/>
          </a:xfrm>
          <a:prstGeom prst="roundRect">
            <a:avLst/>
          </a:prstGeom>
          <a:solidFill>
            <a:srgbClr val="FAE9E6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>
            <a:noAutofit/>
          </a:bodyPr>
          <a:lstStyle/>
          <a:p>
            <a:pPr algn="ctr"/>
            <a:r>
              <a:rPr lang="en-US" sz="920">
                <a:solidFill>
                  <a:srgbClr val="1E1E1E"/>
                </a:solidFill>
                <a:latin typeface="Arial" panose="020B0604020202020204" pitchFamily="34" charset="0"/>
              </a:rPr>
              <a:t>cell 1</a:t>
            </a:r>
          </a:p>
          <a:p>
            <a:pPr algn="ctr"/>
            <a:r>
              <a:rPr lang="en-US" sz="920">
                <a:solidFill>
                  <a:srgbClr val="1E1E1E"/>
                </a:solidFill>
                <a:latin typeface="Arial" panose="020B0604020202020204" pitchFamily="34" charset="0"/>
              </a:rPr>
              <a:t>HS + LS</a:t>
            </a:r>
          </a:p>
          <a:p>
            <a:pPr algn="ctr"/>
            <a:r>
              <a:rPr lang="en-US" sz="920">
                <a:solidFill>
                  <a:srgbClr val="1E1E1E"/>
                </a:solidFill>
                <a:latin typeface="Arial" panose="020B0604020202020204" pitchFamily="34" charset="0"/>
              </a:rPr>
              <a:t>EPC2361</a:t>
            </a:r>
            <a:endParaRPr lang="sv-SE" sz="920" dirty="0">
              <a:solidFill>
                <a:srgbClr val="1E1E1E"/>
              </a:solidFill>
              <a:latin typeface="Arial" panose="020B0604020202020204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555792E-D8B6-232B-1B8C-9045B876BEAB}"/>
              </a:ext>
            </a:extLst>
          </p:cNvPr>
          <p:cNvSpPr/>
          <p:nvPr/>
        </p:nvSpPr>
        <p:spPr>
          <a:xfrm>
            <a:off x="666750" y="2667000"/>
            <a:ext cx="762000" cy="247650"/>
          </a:xfrm>
          <a:prstGeom prst="roundRect">
            <a:avLst/>
          </a:prstGeom>
          <a:solidFill>
            <a:srgbClr val="E2F3E8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>
            <a:noAutofit/>
          </a:bodyPr>
          <a:lstStyle/>
          <a:p>
            <a:pPr algn="ctr"/>
            <a:r>
              <a:rPr lang="sv-SE" sz="730">
                <a:solidFill>
                  <a:srgbClr val="1E1E1E"/>
                </a:solidFill>
                <a:latin typeface="Arial" panose="020B0604020202020204" pitchFamily="34" charset="0"/>
              </a:rPr>
              <a:t>UFCS (DPT only)</a:t>
            </a:r>
            <a:endParaRPr lang="sv-SE" sz="730" dirty="0">
              <a:solidFill>
                <a:srgbClr val="1E1E1E"/>
              </a:solidFill>
              <a:latin typeface="Arial" panose="020B0604020202020204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448946F-402A-AF61-A32F-FE6BF71B6FEF}"/>
              </a:ext>
            </a:extLst>
          </p:cNvPr>
          <p:cNvCxnSpPr/>
          <p:nvPr/>
        </p:nvCxnSpPr>
        <p:spPr>
          <a:xfrm>
            <a:off x="904875" y="1638300"/>
            <a:ext cx="0" cy="314325"/>
          </a:xfrm>
          <a:prstGeom prst="line">
            <a:avLst/>
          </a:prstGeom>
          <a:ln w="25400">
            <a:solidFill>
              <a:srgbClr val="C846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0994B52-D27D-E736-AEDE-F814DD51C24F}"/>
              </a:ext>
            </a:extLst>
          </p:cNvPr>
          <p:cNvCxnSpPr/>
          <p:nvPr/>
        </p:nvCxnSpPr>
        <p:spPr>
          <a:xfrm>
            <a:off x="1190625" y="1752600"/>
            <a:ext cx="0" cy="200025"/>
          </a:xfrm>
          <a:prstGeom prst="line">
            <a:avLst/>
          </a:prstGeom>
          <a:ln w="25400">
            <a:solidFill>
              <a:srgbClr val="3264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1107D08-8273-455A-6C4E-53479A6B0A71}"/>
              </a:ext>
            </a:extLst>
          </p:cNvPr>
          <p:cNvCxnSpPr/>
          <p:nvPr/>
        </p:nvCxnSpPr>
        <p:spPr>
          <a:xfrm>
            <a:off x="1047750" y="2571750"/>
            <a:ext cx="0" cy="95250"/>
          </a:xfrm>
          <a:prstGeom prst="line">
            <a:avLst/>
          </a:prstGeom>
          <a:ln w="19050">
            <a:solidFill>
              <a:srgbClr val="1E1E1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05DBEBE-B446-B6B5-1959-79C3403799ED}"/>
              </a:ext>
            </a:extLst>
          </p:cNvPr>
          <p:cNvCxnSpPr/>
          <p:nvPr/>
        </p:nvCxnSpPr>
        <p:spPr>
          <a:xfrm>
            <a:off x="1047750" y="3286125"/>
            <a:ext cx="0" cy="190500"/>
          </a:xfrm>
          <a:prstGeom prst="line">
            <a:avLst/>
          </a:prstGeom>
          <a:ln w="38100">
            <a:solidFill>
              <a:srgbClr val="1E1E1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F77C62C-453B-E466-8D7F-8FEB6DE73554}"/>
              </a:ext>
            </a:extLst>
          </p:cNvPr>
          <p:cNvSpPr/>
          <p:nvPr/>
        </p:nvSpPr>
        <p:spPr>
          <a:xfrm>
            <a:off x="1666875" y="1952625"/>
            <a:ext cx="857250" cy="619125"/>
          </a:xfrm>
          <a:prstGeom prst="roundRect">
            <a:avLst/>
          </a:prstGeom>
          <a:solidFill>
            <a:srgbClr val="FAE9E6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>
            <a:noAutofit/>
          </a:bodyPr>
          <a:lstStyle/>
          <a:p>
            <a:pPr algn="ctr"/>
            <a:r>
              <a:rPr lang="en-US" sz="920">
                <a:solidFill>
                  <a:srgbClr val="1E1E1E"/>
                </a:solidFill>
                <a:latin typeface="Arial" panose="020B0604020202020204" pitchFamily="34" charset="0"/>
              </a:rPr>
              <a:t>cell 2</a:t>
            </a:r>
          </a:p>
          <a:p>
            <a:pPr algn="ctr"/>
            <a:r>
              <a:rPr lang="en-US" sz="920">
                <a:solidFill>
                  <a:srgbClr val="1E1E1E"/>
                </a:solidFill>
                <a:latin typeface="Arial" panose="020B0604020202020204" pitchFamily="34" charset="0"/>
              </a:rPr>
              <a:t>HS + LS</a:t>
            </a:r>
          </a:p>
          <a:p>
            <a:pPr algn="ctr"/>
            <a:r>
              <a:rPr lang="en-US" sz="920">
                <a:solidFill>
                  <a:srgbClr val="1E1E1E"/>
                </a:solidFill>
                <a:latin typeface="Arial" panose="020B0604020202020204" pitchFamily="34" charset="0"/>
              </a:rPr>
              <a:t>EPC2361</a:t>
            </a:r>
            <a:endParaRPr lang="sv-SE" sz="920" dirty="0">
              <a:solidFill>
                <a:srgbClr val="1E1E1E"/>
              </a:solidFill>
              <a:latin typeface="Arial" panose="020B0604020202020204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BE1F81B-0423-2D28-70F6-FB959F23B0F2}"/>
              </a:ext>
            </a:extLst>
          </p:cNvPr>
          <p:cNvSpPr/>
          <p:nvPr/>
        </p:nvSpPr>
        <p:spPr>
          <a:xfrm>
            <a:off x="1714500" y="2667000"/>
            <a:ext cx="762000" cy="247650"/>
          </a:xfrm>
          <a:prstGeom prst="roundRect">
            <a:avLst/>
          </a:prstGeom>
          <a:solidFill>
            <a:srgbClr val="E2F3E8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>
            <a:noAutofit/>
          </a:bodyPr>
          <a:lstStyle/>
          <a:p>
            <a:pPr algn="ctr"/>
            <a:r>
              <a:rPr lang="sv-SE" sz="730">
                <a:solidFill>
                  <a:srgbClr val="1E1E1E"/>
                </a:solidFill>
                <a:latin typeface="Arial" panose="020B0604020202020204" pitchFamily="34" charset="0"/>
              </a:rPr>
              <a:t>UFCS (DPT only)</a:t>
            </a:r>
            <a:endParaRPr lang="sv-SE" sz="730" dirty="0">
              <a:solidFill>
                <a:srgbClr val="1E1E1E"/>
              </a:solidFill>
              <a:latin typeface="Arial" panose="020B0604020202020204" pitchFamily="34" charset="0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F49CF54-0DA7-5FF2-61E3-FBB085BE1647}"/>
              </a:ext>
            </a:extLst>
          </p:cNvPr>
          <p:cNvCxnSpPr/>
          <p:nvPr/>
        </p:nvCxnSpPr>
        <p:spPr>
          <a:xfrm>
            <a:off x="1952625" y="1638300"/>
            <a:ext cx="0" cy="314325"/>
          </a:xfrm>
          <a:prstGeom prst="line">
            <a:avLst/>
          </a:prstGeom>
          <a:ln w="25400">
            <a:solidFill>
              <a:srgbClr val="C846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A39A770-8C90-6A7F-311E-09916524E1FD}"/>
              </a:ext>
            </a:extLst>
          </p:cNvPr>
          <p:cNvCxnSpPr/>
          <p:nvPr/>
        </p:nvCxnSpPr>
        <p:spPr>
          <a:xfrm>
            <a:off x="2238375" y="1752600"/>
            <a:ext cx="0" cy="200025"/>
          </a:xfrm>
          <a:prstGeom prst="line">
            <a:avLst/>
          </a:prstGeom>
          <a:ln w="25400">
            <a:solidFill>
              <a:srgbClr val="3264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E58D5CC-C52E-96A6-0687-36023B7646AE}"/>
              </a:ext>
            </a:extLst>
          </p:cNvPr>
          <p:cNvCxnSpPr/>
          <p:nvPr/>
        </p:nvCxnSpPr>
        <p:spPr>
          <a:xfrm>
            <a:off x="2095500" y="2571750"/>
            <a:ext cx="0" cy="95250"/>
          </a:xfrm>
          <a:prstGeom prst="line">
            <a:avLst/>
          </a:prstGeom>
          <a:ln w="19050">
            <a:solidFill>
              <a:srgbClr val="1E1E1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E96F588-7EC5-0548-A62F-C017C58E3256}"/>
              </a:ext>
            </a:extLst>
          </p:cNvPr>
          <p:cNvCxnSpPr/>
          <p:nvPr/>
        </p:nvCxnSpPr>
        <p:spPr>
          <a:xfrm>
            <a:off x="2095500" y="3286125"/>
            <a:ext cx="0" cy="190500"/>
          </a:xfrm>
          <a:prstGeom prst="line">
            <a:avLst/>
          </a:prstGeom>
          <a:ln w="38100">
            <a:solidFill>
              <a:srgbClr val="1E1E1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5D7E0B9-8B6B-929D-E4A9-522F33BB6429}"/>
              </a:ext>
            </a:extLst>
          </p:cNvPr>
          <p:cNvSpPr/>
          <p:nvPr/>
        </p:nvSpPr>
        <p:spPr>
          <a:xfrm>
            <a:off x="2714625" y="1952625"/>
            <a:ext cx="857250" cy="619125"/>
          </a:xfrm>
          <a:prstGeom prst="roundRect">
            <a:avLst/>
          </a:prstGeom>
          <a:solidFill>
            <a:srgbClr val="FAE9E6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>
            <a:noAutofit/>
          </a:bodyPr>
          <a:lstStyle/>
          <a:p>
            <a:pPr algn="ctr"/>
            <a:r>
              <a:rPr lang="en-US" sz="920">
                <a:solidFill>
                  <a:srgbClr val="1E1E1E"/>
                </a:solidFill>
                <a:latin typeface="Arial" panose="020B0604020202020204" pitchFamily="34" charset="0"/>
              </a:rPr>
              <a:t>cell 3</a:t>
            </a:r>
          </a:p>
          <a:p>
            <a:pPr algn="ctr"/>
            <a:r>
              <a:rPr lang="en-US" sz="920">
                <a:solidFill>
                  <a:srgbClr val="1E1E1E"/>
                </a:solidFill>
                <a:latin typeface="Arial" panose="020B0604020202020204" pitchFamily="34" charset="0"/>
              </a:rPr>
              <a:t>HS + LS</a:t>
            </a:r>
          </a:p>
          <a:p>
            <a:pPr algn="ctr"/>
            <a:r>
              <a:rPr lang="en-US" sz="920">
                <a:solidFill>
                  <a:srgbClr val="1E1E1E"/>
                </a:solidFill>
                <a:latin typeface="Arial" panose="020B0604020202020204" pitchFamily="34" charset="0"/>
              </a:rPr>
              <a:t>EPC2361</a:t>
            </a:r>
            <a:endParaRPr lang="sv-SE" sz="920" dirty="0">
              <a:solidFill>
                <a:srgbClr val="1E1E1E"/>
              </a:solidFill>
              <a:latin typeface="Arial" panose="020B0604020202020204" pitchFamily="34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F108D21F-8E2F-97DA-001D-80F0952CD5B3}"/>
              </a:ext>
            </a:extLst>
          </p:cNvPr>
          <p:cNvSpPr/>
          <p:nvPr/>
        </p:nvSpPr>
        <p:spPr>
          <a:xfrm>
            <a:off x="2762250" y="2667000"/>
            <a:ext cx="762000" cy="247650"/>
          </a:xfrm>
          <a:prstGeom prst="roundRect">
            <a:avLst/>
          </a:prstGeom>
          <a:solidFill>
            <a:srgbClr val="E2F3E8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>
            <a:noAutofit/>
          </a:bodyPr>
          <a:lstStyle/>
          <a:p>
            <a:pPr algn="ctr"/>
            <a:r>
              <a:rPr lang="sv-SE" sz="730">
                <a:solidFill>
                  <a:srgbClr val="1E1E1E"/>
                </a:solidFill>
                <a:latin typeface="Arial" panose="020B0604020202020204" pitchFamily="34" charset="0"/>
              </a:rPr>
              <a:t>UFCS (DPT only)</a:t>
            </a:r>
            <a:endParaRPr lang="sv-SE" sz="730" dirty="0">
              <a:solidFill>
                <a:srgbClr val="1E1E1E"/>
              </a:solidFill>
              <a:latin typeface="Arial" panose="020B0604020202020204" pitchFamily="34" charset="0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07603D5-55B7-EAF7-2ED4-D1C402F8AAA9}"/>
              </a:ext>
            </a:extLst>
          </p:cNvPr>
          <p:cNvCxnSpPr/>
          <p:nvPr/>
        </p:nvCxnSpPr>
        <p:spPr>
          <a:xfrm>
            <a:off x="3000375" y="1638300"/>
            <a:ext cx="0" cy="314325"/>
          </a:xfrm>
          <a:prstGeom prst="line">
            <a:avLst/>
          </a:prstGeom>
          <a:ln w="25400">
            <a:solidFill>
              <a:srgbClr val="C846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6A12344-8895-D9FB-DB5E-EB89406B9993}"/>
              </a:ext>
            </a:extLst>
          </p:cNvPr>
          <p:cNvCxnSpPr/>
          <p:nvPr/>
        </p:nvCxnSpPr>
        <p:spPr>
          <a:xfrm>
            <a:off x="3286125" y="1752600"/>
            <a:ext cx="0" cy="200025"/>
          </a:xfrm>
          <a:prstGeom prst="line">
            <a:avLst/>
          </a:prstGeom>
          <a:ln w="25400">
            <a:solidFill>
              <a:srgbClr val="3264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B364926-ECBA-72FC-586E-EF9D8F1F3FB3}"/>
              </a:ext>
            </a:extLst>
          </p:cNvPr>
          <p:cNvCxnSpPr/>
          <p:nvPr/>
        </p:nvCxnSpPr>
        <p:spPr>
          <a:xfrm>
            <a:off x="3143250" y="2571750"/>
            <a:ext cx="0" cy="95250"/>
          </a:xfrm>
          <a:prstGeom prst="line">
            <a:avLst/>
          </a:prstGeom>
          <a:ln w="19050">
            <a:solidFill>
              <a:srgbClr val="1E1E1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49154F5-7D78-250B-D0DE-234920DA64C8}"/>
              </a:ext>
            </a:extLst>
          </p:cNvPr>
          <p:cNvCxnSpPr/>
          <p:nvPr/>
        </p:nvCxnSpPr>
        <p:spPr>
          <a:xfrm>
            <a:off x="3143250" y="3286125"/>
            <a:ext cx="0" cy="190500"/>
          </a:xfrm>
          <a:prstGeom prst="line">
            <a:avLst/>
          </a:prstGeom>
          <a:ln w="38100">
            <a:solidFill>
              <a:srgbClr val="1E1E1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A57A2CC-FBDB-E359-6E01-66FF561084FB}"/>
              </a:ext>
            </a:extLst>
          </p:cNvPr>
          <p:cNvSpPr/>
          <p:nvPr/>
        </p:nvSpPr>
        <p:spPr>
          <a:xfrm>
            <a:off x="3762375" y="1952625"/>
            <a:ext cx="857250" cy="619125"/>
          </a:xfrm>
          <a:prstGeom prst="roundRect">
            <a:avLst/>
          </a:prstGeom>
          <a:solidFill>
            <a:srgbClr val="FAE9E6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>
            <a:noAutofit/>
          </a:bodyPr>
          <a:lstStyle/>
          <a:p>
            <a:pPr algn="ctr"/>
            <a:r>
              <a:rPr lang="en-US" sz="920">
                <a:solidFill>
                  <a:srgbClr val="1E1E1E"/>
                </a:solidFill>
                <a:latin typeface="Arial" panose="020B0604020202020204" pitchFamily="34" charset="0"/>
              </a:rPr>
              <a:t>cell 4</a:t>
            </a:r>
          </a:p>
          <a:p>
            <a:pPr algn="ctr"/>
            <a:r>
              <a:rPr lang="en-US" sz="920">
                <a:solidFill>
                  <a:srgbClr val="1E1E1E"/>
                </a:solidFill>
                <a:latin typeface="Arial" panose="020B0604020202020204" pitchFamily="34" charset="0"/>
              </a:rPr>
              <a:t>HS + LS</a:t>
            </a:r>
          </a:p>
          <a:p>
            <a:pPr algn="ctr"/>
            <a:r>
              <a:rPr lang="en-US" sz="920">
                <a:solidFill>
                  <a:srgbClr val="1E1E1E"/>
                </a:solidFill>
                <a:latin typeface="Arial" panose="020B0604020202020204" pitchFamily="34" charset="0"/>
              </a:rPr>
              <a:t>EPC2361</a:t>
            </a:r>
            <a:endParaRPr lang="sv-SE" sz="920" dirty="0">
              <a:solidFill>
                <a:srgbClr val="1E1E1E"/>
              </a:solidFill>
              <a:latin typeface="Arial" panose="020B0604020202020204" pitchFamily="34" charset="0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5EE50289-CD66-79E9-C898-E5A5B40E635B}"/>
              </a:ext>
            </a:extLst>
          </p:cNvPr>
          <p:cNvSpPr/>
          <p:nvPr/>
        </p:nvSpPr>
        <p:spPr>
          <a:xfrm>
            <a:off x="3810000" y="2667000"/>
            <a:ext cx="762000" cy="247650"/>
          </a:xfrm>
          <a:prstGeom prst="roundRect">
            <a:avLst/>
          </a:prstGeom>
          <a:solidFill>
            <a:srgbClr val="E2F3E8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>
            <a:noAutofit/>
          </a:bodyPr>
          <a:lstStyle/>
          <a:p>
            <a:pPr algn="ctr"/>
            <a:r>
              <a:rPr lang="sv-SE" sz="730">
                <a:solidFill>
                  <a:srgbClr val="1E1E1E"/>
                </a:solidFill>
                <a:latin typeface="Arial" panose="020B0604020202020204" pitchFamily="34" charset="0"/>
              </a:rPr>
              <a:t>UFCS (DPT only)</a:t>
            </a:r>
            <a:endParaRPr lang="sv-SE" sz="730" dirty="0">
              <a:solidFill>
                <a:srgbClr val="1E1E1E"/>
              </a:solidFill>
              <a:latin typeface="Arial" panose="020B0604020202020204" pitchFamily="34" charset="0"/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DCE3B72-95EE-09EB-A330-BE782A664F86}"/>
              </a:ext>
            </a:extLst>
          </p:cNvPr>
          <p:cNvCxnSpPr/>
          <p:nvPr/>
        </p:nvCxnSpPr>
        <p:spPr>
          <a:xfrm>
            <a:off x="4048125" y="1638300"/>
            <a:ext cx="0" cy="314325"/>
          </a:xfrm>
          <a:prstGeom prst="line">
            <a:avLst/>
          </a:prstGeom>
          <a:ln w="25400">
            <a:solidFill>
              <a:srgbClr val="C846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D932D89-7331-CF65-B18E-519462C4E8C1}"/>
              </a:ext>
            </a:extLst>
          </p:cNvPr>
          <p:cNvCxnSpPr/>
          <p:nvPr/>
        </p:nvCxnSpPr>
        <p:spPr>
          <a:xfrm>
            <a:off x="4333875" y="1752600"/>
            <a:ext cx="0" cy="200025"/>
          </a:xfrm>
          <a:prstGeom prst="line">
            <a:avLst/>
          </a:prstGeom>
          <a:ln w="25400">
            <a:solidFill>
              <a:srgbClr val="3264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5F9CC0C-0839-21C4-83AA-179F1E46A504}"/>
              </a:ext>
            </a:extLst>
          </p:cNvPr>
          <p:cNvCxnSpPr/>
          <p:nvPr/>
        </p:nvCxnSpPr>
        <p:spPr>
          <a:xfrm>
            <a:off x="4191000" y="2571750"/>
            <a:ext cx="0" cy="95250"/>
          </a:xfrm>
          <a:prstGeom prst="line">
            <a:avLst/>
          </a:prstGeom>
          <a:ln w="19050">
            <a:solidFill>
              <a:srgbClr val="1E1E1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D7E85C7-F451-F8CA-6609-DA8E3022A264}"/>
              </a:ext>
            </a:extLst>
          </p:cNvPr>
          <p:cNvCxnSpPr/>
          <p:nvPr/>
        </p:nvCxnSpPr>
        <p:spPr>
          <a:xfrm>
            <a:off x="4191000" y="3286125"/>
            <a:ext cx="0" cy="190500"/>
          </a:xfrm>
          <a:prstGeom prst="line">
            <a:avLst/>
          </a:prstGeom>
          <a:ln w="38100">
            <a:solidFill>
              <a:srgbClr val="1E1E1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BE272261-49D6-F15F-BE2C-4C5C4A464EA2}"/>
              </a:ext>
            </a:extLst>
          </p:cNvPr>
          <p:cNvSpPr/>
          <p:nvPr/>
        </p:nvSpPr>
        <p:spPr>
          <a:xfrm>
            <a:off x="1000125" y="2981325"/>
            <a:ext cx="1047750" cy="266700"/>
          </a:xfrm>
          <a:prstGeom prst="roundRect">
            <a:avLst/>
          </a:prstGeom>
          <a:solidFill>
            <a:srgbClr val="E6F3E9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>
            <a:noAutofit/>
          </a:bodyPr>
          <a:lstStyle/>
          <a:p>
            <a:pPr algn="ctr"/>
            <a:r>
              <a:rPr lang="nn-NO" sz="830">
                <a:solidFill>
                  <a:srgbClr val="1E1E1E"/>
                </a:solidFill>
                <a:latin typeface="Arial" panose="020B0604020202020204" pitchFamily="34" charset="0"/>
              </a:rPr>
              <a:t>2EDF7275K #1</a:t>
            </a:r>
          </a:p>
          <a:p>
            <a:pPr algn="ctr"/>
            <a:r>
              <a:rPr lang="nn-NO" sz="830">
                <a:solidFill>
                  <a:srgbClr val="1E1E1E"/>
                </a:solidFill>
                <a:latin typeface="Arial" panose="020B0604020202020204" pitchFamily="34" charset="0"/>
              </a:rPr>
              <a:t>HS + LS, star</a:t>
            </a:r>
            <a:endParaRPr lang="sv-SE" sz="830" dirty="0">
              <a:solidFill>
                <a:srgbClr val="1E1E1E"/>
              </a:solidFill>
              <a:latin typeface="Arial" panose="020B0604020202020204" pitchFamily="34" charset="0"/>
            </a:endParaRP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41270FC9-9AC2-BDEC-6F87-6ED688311C95}"/>
              </a:ext>
            </a:extLst>
          </p:cNvPr>
          <p:cNvSpPr/>
          <p:nvPr/>
        </p:nvSpPr>
        <p:spPr>
          <a:xfrm>
            <a:off x="3095625" y="2981325"/>
            <a:ext cx="1047750" cy="266700"/>
          </a:xfrm>
          <a:prstGeom prst="roundRect">
            <a:avLst/>
          </a:prstGeom>
          <a:solidFill>
            <a:srgbClr val="E6F3E9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>
            <a:noAutofit/>
          </a:bodyPr>
          <a:lstStyle/>
          <a:p>
            <a:pPr algn="ctr"/>
            <a:r>
              <a:rPr lang="nn-NO" sz="830">
                <a:solidFill>
                  <a:srgbClr val="1E1E1E"/>
                </a:solidFill>
                <a:latin typeface="Arial" panose="020B0604020202020204" pitchFamily="34" charset="0"/>
              </a:rPr>
              <a:t>2EDF7275K #2</a:t>
            </a:r>
          </a:p>
          <a:p>
            <a:pPr algn="ctr"/>
            <a:r>
              <a:rPr lang="nn-NO" sz="830">
                <a:solidFill>
                  <a:srgbClr val="1E1E1E"/>
                </a:solidFill>
                <a:latin typeface="Arial" panose="020B0604020202020204" pitchFamily="34" charset="0"/>
              </a:rPr>
              <a:t>HS + LS, star</a:t>
            </a:r>
            <a:endParaRPr lang="sv-SE" sz="830" dirty="0">
              <a:solidFill>
                <a:srgbClr val="1E1E1E"/>
              </a:solidFill>
              <a:latin typeface="Arial" panose="020B0604020202020204" pitchFamily="34" charset="0"/>
            </a:endParaRP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3A6ED995-9202-5A16-F4B9-978408552E11}"/>
              </a:ext>
            </a:extLst>
          </p:cNvPr>
          <p:cNvCxnSpPr/>
          <p:nvPr/>
        </p:nvCxnSpPr>
        <p:spPr>
          <a:xfrm>
            <a:off x="809625" y="3476625"/>
            <a:ext cx="3381375" cy="0"/>
          </a:xfrm>
          <a:prstGeom prst="line">
            <a:avLst/>
          </a:prstGeom>
          <a:ln w="63500">
            <a:solidFill>
              <a:srgbClr val="1E1E1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503A8F6C-096C-9FC6-7D31-D2F26344958E}"/>
              </a:ext>
            </a:extLst>
          </p:cNvPr>
          <p:cNvSpPr txBox="1"/>
          <p:nvPr/>
        </p:nvSpPr>
        <p:spPr>
          <a:xfrm>
            <a:off x="714375" y="3524250"/>
            <a:ext cx="1714500" cy="307777"/>
          </a:xfrm>
          <a:prstGeom prst="rect">
            <a:avLst/>
          </a:prstGeom>
          <a:noFill/>
        </p:spPr>
        <p:txBody>
          <a:bodyPr vert="horz" wrap="square" lIns="25400" tIns="0" rIns="0" bIns="0" rtlCol="0">
            <a:noAutofit/>
          </a:bodyPr>
          <a:lstStyle/>
          <a:p>
            <a:r>
              <a:rPr lang="en-US" sz="920" b="1">
                <a:solidFill>
                  <a:srgbClr val="1E1E1E"/>
                </a:solidFill>
                <a:latin typeface="Arial" panose="020B0604020202020204" pitchFamily="34" charset="0"/>
              </a:rPr>
              <a:t>AC joined in copper (all layers)</a:t>
            </a:r>
            <a:endParaRPr lang="sv-SE" sz="920" b="1" dirty="0" err="1">
              <a:solidFill>
                <a:srgbClr val="1E1E1E"/>
              </a:solidFill>
              <a:latin typeface="Arial" panose="020B0604020202020204" pitchFamily="34" charset="0"/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D529AE5-B923-541B-92CB-E1AECF8E4A6D}"/>
              </a:ext>
            </a:extLst>
          </p:cNvPr>
          <p:cNvCxnSpPr/>
          <p:nvPr/>
        </p:nvCxnSpPr>
        <p:spPr>
          <a:xfrm>
            <a:off x="2571750" y="3476625"/>
            <a:ext cx="0" cy="428625"/>
          </a:xfrm>
          <a:prstGeom prst="line">
            <a:avLst/>
          </a:prstGeom>
          <a:ln w="63500">
            <a:solidFill>
              <a:srgbClr val="1E1E1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1677B17F-D2EB-8FAE-FC1B-23ED41706B2C}"/>
              </a:ext>
            </a:extLst>
          </p:cNvPr>
          <p:cNvSpPr txBox="1"/>
          <p:nvPr/>
        </p:nvSpPr>
        <p:spPr>
          <a:xfrm>
            <a:off x="2667000" y="3714750"/>
            <a:ext cx="2095500" cy="307777"/>
          </a:xfrm>
          <a:prstGeom prst="rect">
            <a:avLst/>
          </a:prstGeom>
          <a:noFill/>
        </p:spPr>
        <p:txBody>
          <a:bodyPr vert="horz" wrap="square" lIns="25400" tIns="0" rIns="0" bIns="0" rtlCol="0">
            <a:noAutofit/>
          </a:bodyPr>
          <a:lstStyle/>
          <a:p>
            <a:r>
              <a:rPr lang="en-US" sz="920">
                <a:solidFill>
                  <a:srgbClr val="1E1E1E"/>
                </a:solidFill>
                <a:latin typeface="Arial" panose="020B0604020202020204" pitchFamily="34" charset="0"/>
              </a:rPr>
              <a:t>ONE M6 AC bolt pad → Cu bar</a:t>
            </a:r>
          </a:p>
          <a:p>
            <a:r>
              <a:rPr lang="en-US" sz="920">
                <a:solidFill>
                  <a:srgbClr val="1E1E1E"/>
                </a:solidFill>
                <a:latin typeface="Arial" panose="020B0604020202020204" pitchFamily="34" charset="0"/>
              </a:rPr>
              <a:t>→ LEM HO 250-S → load</a:t>
            </a:r>
            <a:endParaRPr lang="sv-SE" sz="920" dirty="0" err="1">
              <a:solidFill>
                <a:srgbClr val="1E1E1E"/>
              </a:solidFill>
              <a:latin typeface="Arial" panose="020B06040202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6098329-2123-A50D-2458-4F9EA88892B6}"/>
              </a:ext>
            </a:extLst>
          </p:cNvPr>
          <p:cNvSpPr txBox="1"/>
          <p:nvPr/>
        </p:nvSpPr>
        <p:spPr>
          <a:xfrm>
            <a:off x="5000625" y="952500"/>
            <a:ext cx="3810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en-US" sz="1380">
                <a:solidFill>
                  <a:srgbClr val="1E1E1E"/>
                </a:solidFill>
                <a:latin typeface="Arial" panose="020B0604020202020204" pitchFamily="34" charset="0"/>
              </a:rPr>
              <a:t>One leg: 4 EPC2361 per switch, </a:t>
            </a:r>
            <a:r>
              <a:rPr lang="en-US" sz="1380" b="1">
                <a:solidFill>
                  <a:srgbClr val="1E1E1E"/>
                </a:solidFill>
                <a:latin typeface="Arial" panose="020B0604020202020204" pitchFamily="34" charset="0"/>
              </a:rPr>
              <a:t>two 2EDF7275K</a:t>
            </a:r>
            <a:r>
              <a:rPr lang="en-US" sz="1380">
                <a:solidFill>
                  <a:srgbClr val="1E1E1E"/>
                </a:solidFill>
                <a:latin typeface="Arial" panose="020B0604020202020204" pitchFamily="34" charset="0"/>
              </a:rPr>
              <a:t>, each drives one pair (HS + LS channel) through a star</a:t>
            </a:r>
          </a:p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en-US" sz="1380">
                <a:solidFill>
                  <a:srgbClr val="1E1E1E"/>
                </a:solidFill>
                <a:latin typeface="Arial" panose="020B0604020202020204" pitchFamily="34" charset="0"/>
              </a:rPr>
              <a:t>Why one driver per pair: the driver sits between its two cells ⇒ short, identical gate loops; one HS + one LS isolated supply, split per driver</a:t>
            </a:r>
          </a:p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en-US" sz="1380" b="1">
                <a:solidFill>
                  <a:srgbClr val="1E1E1E"/>
                </a:solidFill>
                <a:latin typeface="Arial" panose="020B0604020202020204" pitchFamily="34" charset="0"/>
              </a:rPr>
              <a:t>One DC+ / DC− pair</a:t>
            </a:r>
            <a:r>
              <a:rPr lang="en-US" sz="1380">
                <a:solidFill>
                  <a:srgbClr val="1E1E1E"/>
                </a:solidFill>
                <a:latin typeface="Arial" panose="020B0604020202020204" pitchFamily="34" charset="0"/>
              </a:rPr>
              <a:t> at the centre: laminated terminal row (L1/L3 +, L2/L4 −) feeds one continuous bank</a:t>
            </a:r>
          </a:p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en-US" sz="1380" b="1">
                <a:solidFill>
                  <a:srgbClr val="1E1E1E"/>
                </a:solidFill>
                <a:latin typeface="Arial" panose="020B0604020202020204" pitchFamily="34" charset="0"/>
              </a:rPr>
              <a:t>One AC output</a:t>
            </a:r>
            <a:r>
              <a:rPr lang="en-US" sz="1380">
                <a:solidFill>
                  <a:srgbClr val="1E1E1E"/>
                </a:solidFill>
                <a:latin typeface="Arial" panose="020B0604020202020204" pitchFamily="34" charset="0"/>
              </a:rPr>
              <a:t>: all four switch nodes joined, one M6 bolt pad, Cu bar through the HO 250-S</a:t>
            </a:r>
          </a:p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en-US" sz="1380">
                <a:solidFill>
                  <a:srgbClr val="1E1E1E"/>
                </a:solidFill>
                <a:latin typeface="Arial" panose="020B0604020202020204" pitchFamily="34" charset="0"/>
              </a:rPr>
              <a:t>Built as </a:t>
            </a:r>
            <a:r>
              <a:rPr lang="en-US" sz="1380" b="1">
                <a:solidFill>
                  <a:srgbClr val="1E1E1E"/>
                </a:solidFill>
                <a:latin typeface="Arial" panose="020B0604020202020204" pitchFamily="34" charset="0"/>
              </a:rPr>
              <a:t>two boards</a:t>
            </a:r>
            <a:r>
              <a:rPr lang="en-US" sz="1380">
                <a:solidFill>
                  <a:srgbClr val="1E1E1E"/>
                </a:solidFill>
                <a:latin typeface="Arial" panose="020B0604020202020204" pitchFamily="34" charset="0"/>
              </a:rPr>
              <a:t> from the same generator: DPT (UFCS shunt per cell) and load test (no shunt)</a:t>
            </a:r>
            <a:endParaRPr lang="sv-SE" sz="1380" dirty="0" err="1">
              <a:solidFill>
                <a:srgbClr val="1E1E1E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84687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1CDC7-1048-F623-D590-B41FA1DD2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/>
              <a:t>Two boards from one design: double-pulse test and load test</a:t>
            </a:r>
            <a:endParaRPr lang="sv-SE" sz="18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3F767-28B3-7EF7-FFEC-FFCA29E4D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95F97C-67CD-957A-E7B9-603D0A94A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27</a:t>
            </a:fld>
            <a:endParaRPr lang="sv-SE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E135F4D-A502-F63B-49EC-71AC365ED6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3619895"/>
              </p:ext>
            </p:extLst>
          </p:nvPr>
        </p:nvGraphicFramePr>
        <p:xfrm>
          <a:off x="238125" y="952500"/>
          <a:ext cx="8667750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9250">
                  <a:extLst>
                    <a:ext uri="{9D8B030D-6E8A-4147-A177-3AD203B41FA5}">
                      <a16:colId xmlns:a16="http://schemas.microsoft.com/office/drawing/2014/main" val="868781312"/>
                    </a:ext>
                  </a:extLst>
                </a:gridCol>
                <a:gridCol w="3476625">
                  <a:extLst>
                    <a:ext uri="{9D8B030D-6E8A-4147-A177-3AD203B41FA5}">
                      <a16:colId xmlns:a16="http://schemas.microsoft.com/office/drawing/2014/main" val="1459982486"/>
                    </a:ext>
                  </a:extLst>
                </a:gridCol>
                <a:gridCol w="3476625">
                  <a:extLst>
                    <a:ext uri="{9D8B030D-6E8A-4147-A177-3AD203B41FA5}">
                      <a16:colId xmlns:a16="http://schemas.microsoft.com/office/drawing/2014/main" val="3604936212"/>
                    </a:ext>
                  </a:extLst>
                </a:gridCol>
              </a:tblGrid>
              <a:tr h="165100">
                <a:tc>
                  <a:txBody>
                    <a:bodyPr/>
                    <a:lstStyle/>
                    <a:p>
                      <a:pPr algn="l"/>
                      <a:endParaRPr lang="sv-SE" sz="119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1954A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DPT board (spb-bb-revb-dpt)</a:t>
                      </a:r>
                    </a:p>
                  </a:txBody>
                  <a:tcPr marL="50800" marR="50800" marT="25400" marB="25400">
                    <a:solidFill>
                      <a:srgbClr val="1954A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Load-test board (spb-bb-revb-load)</a:t>
                      </a:r>
                    </a:p>
                  </a:txBody>
                  <a:tcPr marL="50800" marR="50800" marT="25400" marB="25400">
                    <a:solidFill>
                      <a:srgbClr val="1954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0195997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Purpose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switching energies, per-cell current, overshoot</a:t>
                      </a:r>
                      <a:endParaRPr lang="sv-SE" sz="1190">
                        <a:solidFill>
                          <a:srgbClr val="1E1E1E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back-to-back / three-phase load test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88682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LS source path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PMK UFCS-R001 per cell (1 mΩ, 120 pH)</a:t>
                      </a:r>
                      <a:endParaRPr lang="sv-SE" sz="1190">
                        <a:solidFill>
                          <a:srgbClr val="1E1E1E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source stripes via-in-pad (blind L1–L2) to DC−</a:t>
                      </a:r>
                      <a:endParaRPr lang="sv-SE" sz="1190">
                        <a:solidFill>
                          <a:srgbClr val="1E1E1E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5892053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UFCS land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IN land shortened to 1.2 mm: blade 1.45 mm from the source</a:t>
                      </a:r>
                      <a:endParaRPr lang="sv-SE" sz="1190">
                        <a:solidFill>
                          <a:srgbClr val="1E1E1E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–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1472979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Cooling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none (pulsed test)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Fischer LAM 4 K 50 12 on an Al spreader</a:t>
                      </a:r>
                      <a:endParaRPr lang="sv-SE" sz="1190">
                        <a:solidFill>
                          <a:srgbClr val="1E1E1E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2342134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Loop per cell (Q3D)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0.65 nH (mean)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0.41 nH (mean)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3174463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v̂</a:t>
                      </a:r>
                      <a:r>
                        <a:rPr lang="sv-SE" sz="1190" baseline="-250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DS</a:t>
                      </a:r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 at 30 A/ns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94 V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87 V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5104311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Parts / DRC / schematic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200 footprints, DRC 0 / 0 / 0, schematic = PCB</a:t>
                      </a:r>
                      <a:endParaRPr lang="sv-SE" sz="1190">
                        <a:solidFill>
                          <a:srgbClr val="1E1E1E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200 footprints, DRC 0 / 0 / 0, schematic = PCB</a:t>
                      </a:r>
                      <a:endParaRPr lang="sv-SE" sz="1190">
                        <a:solidFill>
                          <a:srgbClr val="1E1E1E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8150529"/>
                  </a:ext>
                </a:extLst>
              </a:tr>
            </a:tbl>
          </a:graphicData>
        </a:graphic>
      </p:graphicFrame>
      <p:sp>
        <p:nvSpPr>
          <p:cNvPr id="7" name="decision">
            <a:extLst>
              <a:ext uri="{FF2B5EF4-FFF2-40B4-BE49-F238E27FC236}">
                <a16:creationId xmlns:a16="http://schemas.microsoft.com/office/drawing/2014/main" id="{05FD35D2-73C2-D559-3352-F7AF1824E155}"/>
              </a:ext>
            </a:extLst>
          </p:cNvPr>
          <p:cNvSpPr/>
          <p:nvPr/>
        </p:nvSpPr>
        <p:spPr>
          <a:xfrm>
            <a:off x="238125" y="4400550"/>
            <a:ext cx="8667750" cy="381000"/>
          </a:xfrm>
          <a:prstGeom prst="roundRect">
            <a:avLst/>
          </a:prstGeom>
          <a:solidFill>
            <a:srgbClr val="EEF4FB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bIns="25400" rtlCol="0" anchor="ctr">
            <a:noAutofit/>
          </a:bodyPr>
          <a:lstStyle/>
          <a:p>
            <a:r>
              <a:rPr lang="en-US" sz="1380" b="1">
                <a:solidFill>
                  <a:srgbClr val="1E1E1E"/>
                </a:solidFill>
                <a:latin typeface="Arial" panose="020B0604020202020204" pitchFamily="34" charset="0"/>
              </a:rPr>
              <a:t>Decision:</a:t>
            </a:r>
            <a:r>
              <a:rPr lang="en-US" sz="1380">
                <a:solidFill>
                  <a:srgbClr val="1E1E1E"/>
                </a:solidFill>
                <a:latin typeface="Arial" panose="020B0604020202020204" pitchFamily="34" charset="0"/>
              </a:rPr>
              <a:t> Same copper, drivers, bank and terminals; only the LS source path and the cooling differ</a:t>
            </a:r>
            <a:endParaRPr lang="sv-SE" sz="1380" dirty="0">
              <a:solidFill>
                <a:srgbClr val="1E1E1E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15871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7FD23-26B3-2BD3-8577-33B91E6AA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100"/>
              <a:t>DPT board layout (UFCS shunts, no heatsink)</a:t>
            </a:r>
            <a:endParaRPr lang="sv-SE" sz="21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DA8E24-9621-F81D-F2E4-DA1963711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DB4464-BE9E-6AF0-8EDF-5D6F3529B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28</a:t>
            </a:fld>
            <a:endParaRPr lang="sv-S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269D97E-010C-32C1-E4D4-954133CE9E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386" y="952500"/>
            <a:ext cx="3896478" cy="37147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A862734-4257-75C5-4707-0E3E7D1490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4375" y="952500"/>
            <a:ext cx="2190750" cy="209144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049CC04-4EE5-CB41-B176-666F117A5D29}"/>
              </a:ext>
            </a:extLst>
          </p:cNvPr>
          <p:cNvSpPr txBox="1"/>
          <p:nvPr/>
        </p:nvSpPr>
        <p:spPr>
          <a:xfrm>
            <a:off x="6810375" y="952500"/>
            <a:ext cx="200025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en-US" sz="1280">
                <a:solidFill>
                  <a:srgbClr val="1E1E1E"/>
                </a:solidFill>
                <a:latin typeface="Arial" panose="020B0604020202020204" pitchFamily="34" charset="0"/>
              </a:rPr>
              <a:t>89.5 × 85.2 mm, 4 layers</a:t>
            </a:r>
          </a:p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en-US" sz="1280">
                <a:solidFill>
                  <a:srgbClr val="1E1E1E"/>
                </a:solidFill>
                <a:latin typeface="Arial" panose="020B0604020202020204" pitchFamily="34" charset="0"/>
              </a:rPr>
              <a:t>UFCS-R001 per cell, IN land 1.2 mm (blade at the source edge), return vias in the SHLD pad</a:t>
            </a:r>
          </a:p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en-US" sz="1280">
                <a:solidFill>
                  <a:srgbClr val="1E1E1E"/>
                </a:solidFill>
                <a:latin typeface="Arial" panose="020B0604020202020204" pitchFamily="34" charset="0"/>
              </a:rPr>
              <a:t>No heatsink, no spreader holes</a:t>
            </a:r>
          </a:p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en-US" sz="1280">
                <a:solidFill>
                  <a:srgbClr val="1E1E1E"/>
                </a:solidFill>
                <a:latin typeface="Arial" panose="020B0604020202020204" pitchFamily="34" charset="0"/>
              </a:rPr>
              <a:t>DRC 0 / 0 / 0, schematic = PCB</a:t>
            </a:r>
            <a:endParaRPr lang="sv-SE" sz="1280" dirty="0" err="1">
              <a:solidFill>
                <a:srgbClr val="1E1E1E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6358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0C798-C0B9-59B6-28FE-FF00BCA23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100"/>
              <a:t>Load-test board layout (no shunt, heatsink)</a:t>
            </a:r>
            <a:endParaRPr lang="sv-SE" sz="21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3A7D6F-A2E4-7EB3-B52B-D4B9BF76B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7F1CE1-452A-A497-6DDE-359DFFE07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29</a:t>
            </a:fld>
            <a:endParaRPr lang="sv-S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112A82F-6FFB-C913-ED09-DEEC61841B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386" y="952500"/>
            <a:ext cx="3896478" cy="37147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66C2A4A-4D13-79E6-4461-A342B74282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4375" y="952500"/>
            <a:ext cx="2190750" cy="209144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23B0803-57F1-556C-A089-FEBA3F23B003}"/>
              </a:ext>
            </a:extLst>
          </p:cNvPr>
          <p:cNvSpPr txBox="1"/>
          <p:nvPr/>
        </p:nvSpPr>
        <p:spPr>
          <a:xfrm>
            <a:off x="6810375" y="952500"/>
            <a:ext cx="200025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en-US" sz="1280">
                <a:solidFill>
                  <a:srgbClr val="1E1E1E"/>
                </a:solidFill>
                <a:latin typeface="Arial" panose="020B0604020202020204" pitchFamily="34" charset="0"/>
              </a:rPr>
              <a:t>89.5 × 85.2 mm, 4 layers</a:t>
            </a:r>
          </a:p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en-US" sz="1280">
                <a:solidFill>
                  <a:srgbClr val="1E1E1E"/>
                </a:solidFill>
                <a:latin typeface="Arial" panose="020B0604020202020204" pitchFamily="34" charset="0"/>
              </a:rPr>
              <a:t>LS source stripes: 3 blind L1–L2 vias each (filled, capped) into the DC− plane</a:t>
            </a:r>
          </a:p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en-US" sz="1280">
                <a:solidFill>
                  <a:srgbClr val="1E1E1E"/>
                </a:solidFill>
                <a:latin typeface="Arial" panose="020B0604020202020204" pitchFamily="34" charset="0"/>
              </a:rPr>
              <a:t>LAM 4 K 50 12 over the cells, 3 spreader holes (H5–H7)</a:t>
            </a:r>
          </a:p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en-US" sz="1280">
                <a:solidFill>
                  <a:srgbClr val="1E1E1E"/>
                </a:solidFill>
                <a:latin typeface="Arial" panose="020B0604020202020204" pitchFamily="34" charset="0"/>
              </a:rPr>
              <a:t>DRC 0 / 0 / 0, schematic = PCB</a:t>
            </a:r>
            <a:endParaRPr lang="sv-SE" sz="1280" dirty="0" err="1">
              <a:solidFill>
                <a:srgbClr val="1E1E1E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77955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054E6-38C5-405F-1327-46A12849B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100"/>
              <a:t>The two boards in 3D (KiCad models)</a:t>
            </a:r>
            <a:endParaRPr lang="sv-SE" sz="21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EF190A-88FB-C32C-AE9A-833556D24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9B72FC-FB2E-87B9-A62F-59C08A6B9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30</a:t>
            </a:fld>
            <a:endParaRPr lang="sv-S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E03E2E-763B-A347-2F21-2ACE990469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371" y="952500"/>
            <a:ext cx="4066134" cy="28575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B730DB7-3B6C-9DDE-D537-0ACC9E2792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7048" y="952500"/>
            <a:ext cx="2968528" cy="28575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91372C1-B0B8-E4D2-CF9D-3F43F2708F6E}"/>
              </a:ext>
            </a:extLst>
          </p:cNvPr>
          <p:cNvSpPr txBox="1"/>
          <p:nvPr/>
        </p:nvSpPr>
        <p:spPr>
          <a:xfrm>
            <a:off x="238125" y="3810000"/>
            <a:ext cx="4238625" cy="307777"/>
          </a:xfrm>
          <a:prstGeom prst="rect">
            <a:avLst/>
          </a:prstGeom>
          <a:noFill/>
        </p:spPr>
        <p:txBody>
          <a:bodyPr vert="horz" wrap="square" lIns="25400" tIns="0" rIns="0" bIns="0" rtlCol="0">
            <a:noAutofit/>
          </a:bodyPr>
          <a:lstStyle/>
          <a:p>
            <a:pPr algn="ctr"/>
            <a:r>
              <a:rPr lang="en-US" sz="1010">
                <a:solidFill>
                  <a:srgbClr val="787878"/>
                </a:solidFill>
                <a:latin typeface="Arial" panose="020B0604020202020204" pitchFamily="34" charset="0"/>
              </a:rPr>
              <a:t>DPT board: UFCS shunts over the LS FETs, M6 AC bolt + Cu bar</a:t>
            </a:r>
            <a:endParaRPr lang="sv-SE" sz="1010" dirty="0" err="1">
              <a:solidFill>
                <a:srgbClr val="787878"/>
              </a:solidFill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7389B8-6F45-802F-CDF4-FC7BC1E43407}"/>
              </a:ext>
            </a:extLst>
          </p:cNvPr>
          <p:cNvSpPr txBox="1"/>
          <p:nvPr/>
        </p:nvSpPr>
        <p:spPr>
          <a:xfrm>
            <a:off x="4572000" y="3810000"/>
            <a:ext cx="4238625" cy="307777"/>
          </a:xfrm>
          <a:prstGeom prst="rect">
            <a:avLst/>
          </a:prstGeom>
          <a:noFill/>
        </p:spPr>
        <p:txBody>
          <a:bodyPr vert="horz" wrap="square" lIns="25400" tIns="0" rIns="0" bIns="0" rtlCol="0">
            <a:noAutofit/>
          </a:bodyPr>
          <a:lstStyle/>
          <a:p>
            <a:pPr algn="ctr"/>
            <a:r>
              <a:rPr lang="en-US" sz="1010">
                <a:solidFill>
                  <a:srgbClr val="787878"/>
                </a:solidFill>
                <a:latin typeface="Arial" panose="020B0604020202020204" pitchFamily="34" charset="0"/>
              </a:rPr>
              <a:t>Load-test board: LAM 4 K 50 12 + Al spreader</a:t>
            </a:r>
            <a:endParaRPr lang="sv-SE" sz="1010" dirty="0" err="1">
              <a:solidFill>
                <a:srgbClr val="787878"/>
              </a:solidFill>
              <a:latin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DE6A1D6-453E-6992-1685-DF0333A4116B}"/>
              </a:ext>
            </a:extLst>
          </p:cNvPr>
          <p:cNvSpPr txBox="1"/>
          <p:nvPr/>
        </p:nvSpPr>
        <p:spPr>
          <a:xfrm>
            <a:off x="238125" y="4048125"/>
            <a:ext cx="866775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sv-SE" sz="1280">
                <a:solidFill>
                  <a:srgbClr val="1E1E1E"/>
                </a:solidFill>
                <a:latin typeface="Arial" panose="020B0604020202020204" pitchFamily="34" charset="0"/>
              </a:rPr>
              <a:t>Every footprint has a 3D model (KiCad library + box models: EPC2361, 2EDF7275K, UFCS, TDK 2220, WE-CNSW, M6 bolt + bar, heatsink); board STEPs in hardware/spb-bb-revb-*/fab; rendered with pyvista (scripts/render_3d.py)</a:t>
            </a:r>
            <a:endParaRPr lang="sv-SE" sz="1280" dirty="0" err="1">
              <a:solidFill>
                <a:srgbClr val="1E1E1E"/>
              </a:solidFill>
              <a:latin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E7383D-1353-86E1-8A02-2532BAED8AB1}"/>
              </a:ext>
            </a:extLst>
          </p:cNvPr>
          <p:cNvSpPr txBox="1"/>
          <p:nvPr/>
        </p:nvSpPr>
        <p:spPr>
          <a:xfrm>
            <a:off x="228600" y="4597400"/>
            <a:ext cx="7874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730">
                <a:solidFill>
                  <a:srgbClr val="787878"/>
                </a:solidFill>
                <a:latin typeface="Arial" panose="020B0604020202020204" pitchFamily="34" charset="0"/>
              </a:rPr>
              <a:t>Box models are dimensioned envelopes, not manufacturer CAD (UFCS SMA jack position approximate).</a:t>
            </a:r>
            <a:endParaRPr lang="sv-SE" sz="730" dirty="0" err="1">
              <a:solidFill>
                <a:srgbClr val="787878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2383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FE7-56D7-715C-25F3-CA5BC8446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100"/>
              <a:t>Top view with the silkscreen: DPT and load-test boards</a:t>
            </a:r>
            <a:endParaRPr lang="sv-SE" sz="21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41476A-31FB-77A5-B37E-93030ACC2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281CA6-83ED-4C2A-5D2A-8EAB61A08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31</a:t>
            </a:fld>
            <a:endParaRPr lang="sv-S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5711B90-8740-4CFA-ADD0-A74DF099B8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467" y="952500"/>
            <a:ext cx="3499566" cy="3429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299A104-5773-51A2-D1AF-EC2D5D0287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9214" y="952500"/>
            <a:ext cx="3327071" cy="3429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6D5471B-7658-AD6A-CCB7-34664FC65647}"/>
              </a:ext>
            </a:extLst>
          </p:cNvPr>
          <p:cNvSpPr txBox="1"/>
          <p:nvPr/>
        </p:nvSpPr>
        <p:spPr>
          <a:xfrm>
            <a:off x="238125" y="4429125"/>
            <a:ext cx="4286250" cy="307777"/>
          </a:xfrm>
          <a:prstGeom prst="rect">
            <a:avLst/>
          </a:prstGeom>
          <a:noFill/>
        </p:spPr>
        <p:txBody>
          <a:bodyPr vert="horz" wrap="square" lIns="25400" tIns="0" rIns="0" bIns="0" rtlCol="0">
            <a:noAutofit/>
          </a:bodyPr>
          <a:lstStyle/>
          <a:p>
            <a:pPr algn="ctr"/>
            <a:r>
              <a:rPr lang="en-US" sz="1190">
                <a:solidFill>
                  <a:srgbClr val="787878"/>
                </a:solidFill>
                <a:latin typeface="Arial" panose="020B0604020202020204" pitchFamily="34" charset="0"/>
              </a:rPr>
              <a:t>DPT board (UFCS shunts over the LS FETs)</a:t>
            </a:r>
            <a:endParaRPr lang="sv-SE" sz="1190" dirty="0" err="1">
              <a:solidFill>
                <a:srgbClr val="787878"/>
              </a:solidFill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85ECD3-F684-652B-959E-BAEE0665F735}"/>
              </a:ext>
            </a:extLst>
          </p:cNvPr>
          <p:cNvSpPr txBox="1"/>
          <p:nvPr/>
        </p:nvSpPr>
        <p:spPr>
          <a:xfrm>
            <a:off x="4619625" y="4429125"/>
            <a:ext cx="4286250" cy="307777"/>
          </a:xfrm>
          <a:prstGeom prst="rect">
            <a:avLst/>
          </a:prstGeom>
          <a:noFill/>
        </p:spPr>
        <p:txBody>
          <a:bodyPr vert="horz" wrap="square" lIns="25400" tIns="0" rIns="0" bIns="0" rtlCol="0">
            <a:noAutofit/>
          </a:bodyPr>
          <a:lstStyle/>
          <a:p>
            <a:pPr algn="ctr"/>
            <a:r>
              <a:rPr lang="en-US" sz="1190">
                <a:solidFill>
                  <a:srgbClr val="787878"/>
                </a:solidFill>
                <a:latin typeface="Arial" panose="020B0604020202020204" pitchFamily="34" charset="0"/>
              </a:rPr>
              <a:t>load-test board (heatsink removed for the view)</a:t>
            </a:r>
            <a:endParaRPr lang="sv-SE" sz="1190" dirty="0" err="1">
              <a:solidFill>
                <a:srgbClr val="787878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44936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D6DB0-761D-0A96-6081-259726324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100"/>
              <a:t>DPT board: the eight EPC2361 from above</a:t>
            </a:r>
            <a:endParaRPr lang="sv-SE" sz="21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18AD53-3C35-64D5-E4AB-FED787692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206C37-3C80-1FD5-5F42-B0AB2EE90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32</a:t>
            </a:fld>
            <a:endParaRPr lang="sv-S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28E4CF-6841-8112-7C48-7669DAEA35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823" y="952500"/>
            <a:ext cx="8164354" cy="23336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0A6DD5F-7D22-5895-7EC5-5B4DA06424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3381375"/>
            <a:ext cx="2524125" cy="138826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D1CF343-CE11-40E8-8808-9CEAB747404E}"/>
              </a:ext>
            </a:extLst>
          </p:cNvPr>
          <p:cNvSpPr txBox="1"/>
          <p:nvPr/>
        </p:nvSpPr>
        <p:spPr>
          <a:xfrm>
            <a:off x="2905125" y="3381375"/>
            <a:ext cx="600075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en-US" sz="1190">
                <a:solidFill>
                  <a:srgbClr val="1E1E1E"/>
                </a:solidFill>
                <a:latin typeface="Arial" panose="020B0604020202020204" pitchFamily="34" charset="0"/>
              </a:rPr>
              <a:t>Heatsink and UFCS shunt bodies hidden; straight top view (parallel projection)</a:t>
            </a:r>
          </a:p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en-US" sz="1190">
                <a:solidFill>
                  <a:srgbClr val="1E1E1E"/>
                </a:solidFill>
                <a:latin typeface="Arial" panose="020B0604020202020204" pitchFamily="34" charset="0"/>
              </a:rPr>
              <a:t>Land pattern = EPC2361 recommended copper drawing (datasheet p. 12): copper 0.3 mm beyond the 3.0 × 5.0 mm body on the long sides, 0.4 mm at the ends, solder-mask defined; pin-1 circle at the gate pad</a:t>
            </a:r>
          </a:p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en-US" sz="1190">
                <a:solidFill>
                  <a:srgbClr val="1E1E1E"/>
                </a:solidFill>
                <a:latin typeface="Arial" panose="020B0604020202020204" pitchFamily="34" charset="0"/>
              </a:rPr>
              <a:t>Cells of a driver block face each other with R</a:t>
            </a:r>
            <a:r>
              <a:rPr lang="en-US" sz="1190" baseline="-25000">
                <a:solidFill>
                  <a:srgbClr val="1E1E1E"/>
                </a:solidFill>
                <a:latin typeface="Arial" panose="020B0604020202020204" pitchFamily="34" charset="0"/>
              </a:rPr>
              <a:t>G</a:t>
            </a:r>
            <a:r>
              <a:rPr lang="en-US" sz="1190">
                <a:solidFill>
                  <a:srgbClr val="1E1E1E"/>
                </a:solidFill>
                <a:latin typeface="Arial" panose="020B0604020202020204" pitchFamily="34" charset="0"/>
              </a:rPr>
              <a:t> between them (left: block 1, Q1–Q4)</a:t>
            </a:r>
            <a:endParaRPr lang="sv-SE" sz="1190" dirty="0" err="1">
              <a:solidFill>
                <a:srgbClr val="1E1E1E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9936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07B32-4016-4D6A-D0DF-FE6AACD45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100"/>
              <a:t>Bottom side and the load board without heatsink</a:t>
            </a:r>
            <a:endParaRPr lang="sv-SE" sz="21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264871-F6AD-7C4B-4A3D-792B8274B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0D6B9B-0BCA-5177-9441-C26B3BA16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33</a:t>
            </a:fld>
            <a:endParaRPr lang="sv-S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281382-7A2C-9E69-019D-95C5AA6AD4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759" y="952500"/>
            <a:ext cx="3855357" cy="28575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FD42F1A-29F0-A3F0-8EA2-A858789AA1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8246" y="952500"/>
            <a:ext cx="4066134" cy="28575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AB99EA5-5228-B0FF-52C1-8B1615FF1DED}"/>
              </a:ext>
            </a:extLst>
          </p:cNvPr>
          <p:cNvSpPr txBox="1"/>
          <p:nvPr/>
        </p:nvSpPr>
        <p:spPr>
          <a:xfrm>
            <a:off x="238125" y="3905250"/>
            <a:ext cx="866775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en-US" sz="1280">
                <a:solidFill>
                  <a:srgbClr val="1E1E1E"/>
                </a:solidFill>
                <a:latin typeface="Arial" panose="020B0604020202020204" pitchFamily="34" charset="0"/>
              </a:rPr>
              <a:t>Bottom: REDCUBE M4 DC terminals (the leg stands on the busbar), 4 bypass 0805 per cell, U.FL V</a:t>
            </a:r>
            <a:r>
              <a:rPr lang="en-US" sz="1280" baseline="-25000">
                <a:solidFill>
                  <a:srgbClr val="1E1E1E"/>
                </a:solidFill>
                <a:latin typeface="Arial" panose="020B0604020202020204" pitchFamily="34" charset="0"/>
              </a:rPr>
              <a:t>GS</a:t>
            </a:r>
            <a:r>
              <a:rPr lang="en-US" sz="1280">
                <a:solidFill>
                  <a:srgbClr val="1E1E1E"/>
                </a:solidFill>
                <a:latin typeface="Arial" panose="020B0604020202020204" pitchFamily="34" charset="0"/>
              </a:rPr>
              <a:t> and MMCX V</a:t>
            </a:r>
            <a:r>
              <a:rPr lang="en-US" sz="1280" baseline="-25000">
                <a:solidFill>
                  <a:srgbClr val="1E1E1E"/>
                </a:solidFill>
                <a:latin typeface="Arial" panose="020B0604020202020204" pitchFamily="34" charset="0"/>
              </a:rPr>
              <a:t>DS</a:t>
            </a:r>
            <a:r>
              <a:rPr lang="en-US" sz="1280">
                <a:solidFill>
                  <a:srgbClr val="1E1E1E"/>
                </a:solidFill>
                <a:latin typeface="Arial" panose="020B0604020202020204" pitchFamily="34" charset="0"/>
              </a:rPr>
              <a:t> ports, M6 AC nut</a:t>
            </a:r>
          </a:p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en-US" sz="1280">
                <a:solidFill>
                  <a:srgbClr val="1E1E1E"/>
                </a:solidFill>
                <a:latin typeface="Arial" panose="020B0604020202020204" pitchFamily="34" charset="0"/>
              </a:rPr>
              <a:t>Top without heatsink: 20 × 2220 bank in two rows, 8 EPC2361 under the spreader pedestals, 2 drivers</a:t>
            </a:r>
            <a:endParaRPr lang="sv-SE" sz="1280" dirty="0" err="1">
              <a:solidFill>
                <a:srgbClr val="1E1E1E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12453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3EC95-6322-9DE1-F42F-B11AD4509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100"/>
              <a:t>Two driver pairs on one switch node: driver skew</a:t>
            </a:r>
            <a:endParaRPr lang="sv-SE" sz="21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E20303-6822-D7B8-45AC-6817C4F82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474E97-DC38-B1C3-DB3A-89F2103A4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34</a:t>
            </a:fld>
            <a:endParaRPr lang="sv-S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3BFD68-ECE5-D089-BE08-151F3B5510C7}"/>
              </a:ext>
            </a:extLst>
          </p:cNvPr>
          <p:cNvSpPr txBox="1"/>
          <p:nvPr/>
        </p:nvSpPr>
        <p:spPr>
          <a:xfrm>
            <a:off x="238125" y="952500"/>
            <a:ext cx="4953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en-US" sz="1280">
                <a:solidFill>
                  <a:srgbClr val="1E1E1E"/>
                </a:solidFill>
                <a:latin typeface="Arial" panose="020B0604020202020204" pitchFamily="34" charset="0"/>
              </a:rPr>
              <a:t>The four switch nodes are joined in copper; L</a:t>
            </a:r>
            <a:r>
              <a:rPr lang="en-US" sz="1280" baseline="-25000">
                <a:solidFill>
                  <a:srgbClr val="1E1E1E"/>
                </a:solidFill>
                <a:latin typeface="Arial" panose="020B0604020202020204" pitchFamily="34" charset="0"/>
              </a:rPr>
              <a:t>x</a:t>
            </a:r>
            <a:r>
              <a:rPr lang="en-US" sz="1280">
                <a:solidFill>
                  <a:srgbClr val="1E1E1E"/>
                </a:solidFill>
                <a:latin typeface="Arial" panose="020B0604020202020204" pitchFamily="34" charset="0"/>
              </a:rPr>
              <a:t> = inductance between the switch nodes of the two driver pairs</a:t>
            </a:r>
          </a:p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en-US" sz="1280">
                <a:solidFill>
                  <a:srgbClr val="1E1E1E"/>
                </a:solidFill>
                <a:latin typeface="Arial" panose="020B0604020202020204" pitchFamily="34" charset="0"/>
              </a:rPr>
              <a:t>If driver 2 switches Δt later, pair 1 takes ΔI ≈ V</a:t>
            </a:r>
            <a:r>
              <a:rPr lang="en-US" sz="1280" baseline="-25000">
                <a:solidFill>
                  <a:srgbClr val="1E1E1E"/>
                </a:solidFill>
                <a:latin typeface="Arial" panose="020B0604020202020204" pitchFamily="34" charset="0"/>
              </a:rPr>
              <a:t>m</a:t>
            </a:r>
            <a:r>
              <a:rPr lang="en-US" sz="1280">
                <a:solidFill>
                  <a:srgbClr val="1E1E1E"/>
                </a:solidFill>
                <a:latin typeface="Arial" panose="020B0604020202020204" pitchFamily="34" charset="0"/>
              </a:rPr>
              <a:t>·Δt / L</a:t>
            </a:r>
            <a:r>
              <a:rPr lang="en-US" sz="1280" baseline="-25000">
                <a:solidFill>
                  <a:srgbClr val="1E1E1E"/>
                </a:solidFill>
                <a:latin typeface="Arial" panose="020B0604020202020204" pitchFamily="34" charset="0"/>
              </a:rPr>
              <a:t>x</a:t>
            </a:r>
            <a:r>
              <a:rPr lang="en-US" sz="1280">
                <a:solidFill>
                  <a:srgbClr val="1E1E1E"/>
                </a:solidFill>
                <a:latin typeface="Arial" panose="020B0604020202020204" pitchFamily="34" charset="0"/>
              </a:rPr>
              <a:t> until pair 2 follows</a:t>
            </a:r>
          </a:p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en-US" sz="1280">
                <a:solidFill>
                  <a:srgbClr val="1E1E1E"/>
                </a:solidFill>
                <a:latin typeface="Arial" panose="020B0604020202020204" pitchFamily="34" charset="0"/>
              </a:rPr>
              <a:t>Q3D (fast lx model, final boards): L</a:t>
            </a:r>
            <a:r>
              <a:rPr lang="en-US" sz="1280" baseline="-25000">
                <a:solidFill>
                  <a:srgbClr val="1E1E1E"/>
                </a:solidFill>
                <a:latin typeface="Arial" panose="020B0604020202020204" pitchFamily="34" charset="0"/>
              </a:rPr>
              <a:t>x</a:t>
            </a:r>
            <a:r>
              <a:rPr lang="en-US" sz="1280">
                <a:solidFill>
                  <a:srgbClr val="1E1E1E"/>
                </a:solidFill>
                <a:latin typeface="Arial" panose="020B0604020202020204" pitchFamily="34" charset="0"/>
              </a:rPr>
              <a:t> = </a:t>
            </a:r>
            <a:r>
              <a:rPr lang="en-US" sz="1280" b="1">
                <a:solidFill>
                  <a:srgbClr val="1E1E1E"/>
                </a:solidFill>
                <a:latin typeface="Arial" panose="020B0604020202020204" pitchFamily="34" charset="0"/>
              </a:rPr>
              <a:t>6.77 nH</a:t>
            </a:r>
            <a:r>
              <a:rPr lang="en-US" sz="1280">
                <a:solidFill>
                  <a:srgbClr val="1E1E1E"/>
                </a:solidFill>
                <a:latin typeface="Arial" panose="020B0604020202020204" pitchFamily="34" charset="0"/>
              </a:rPr>
              <a:t> (HS on) / </a:t>
            </a:r>
            <a:r>
              <a:rPr lang="en-US" sz="1280" b="1">
                <a:solidFill>
                  <a:srgbClr val="1E1E1E"/>
                </a:solidFill>
                <a:latin typeface="Arial" panose="020B0604020202020204" pitchFamily="34" charset="0"/>
              </a:rPr>
              <a:t>5.44 nH</a:t>
            </a:r>
            <a:r>
              <a:rPr lang="en-US" sz="1280">
                <a:solidFill>
                  <a:srgbClr val="1E1E1E"/>
                </a:solidFill>
                <a:latin typeface="Arial" panose="020B0604020202020204" pitchFamily="34" charset="0"/>
              </a:rPr>
              <a:t> (LS on) on the load board, 4.91 / 2.68 nH on the DPT board</a:t>
            </a:r>
          </a:p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en-US" sz="1280">
                <a:solidFill>
                  <a:srgbClr val="1E1E1E"/>
                </a:solidFill>
                <a:latin typeface="Arial" panose="020B0604020202020204" pitchFamily="34" charset="0"/>
              </a:rPr>
              <a:t>⇒ </a:t>
            </a:r>
            <a:r>
              <a:rPr lang="en-US" sz="1280" b="1">
                <a:solidFill>
                  <a:srgbClr val="1E1E1E"/>
                </a:solidFill>
                <a:latin typeface="Arial" panose="020B0604020202020204" pitchFamily="34" charset="0"/>
              </a:rPr>
              <a:t>≈ 14 A per ns of skew</a:t>
            </a:r>
            <a:r>
              <a:rPr lang="en-US" sz="1280">
                <a:solidFill>
                  <a:srgbClr val="1E1E1E"/>
                </a:solidFill>
                <a:latin typeface="Arial" panose="020B0604020202020204" pitchFamily="34" charset="0"/>
              </a:rPr>
              <a:t> (load board)</a:t>
            </a:r>
            <a:endParaRPr lang="sv-SE" sz="1280" dirty="0" err="1">
              <a:solidFill>
                <a:srgbClr val="1E1E1E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F46AD43-993F-CC09-2D83-A9E3D9DECD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9654113"/>
              </p:ext>
            </p:extLst>
          </p:nvPr>
        </p:nvGraphicFramePr>
        <p:xfrm>
          <a:off x="5429251" y="1047750"/>
          <a:ext cx="3381375" cy="1047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8250">
                  <a:extLst>
                    <a:ext uri="{9D8B030D-6E8A-4147-A177-3AD203B41FA5}">
                      <a16:colId xmlns:a16="http://schemas.microsoft.com/office/drawing/2014/main" val="2922320769"/>
                    </a:ext>
                  </a:extLst>
                </a:gridCol>
                <a:gridCol w="2143125">
                  <a:extLst>
                    <a:ext uri="{9D8B030D-6E8A-4147-A177-3AD203B41FA5}">
                      <a16:colId xmlns:a16="http://schemas.microsoft.com/office/drawing/2014/main" val="2923405723"/>
                    </a:ext>
                  </a:extLst>
                </a:gridCol>
              </a:tblGrid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19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Measure</a:t>
                      </a:r>
                    </a:p>
                  </a:txBody>
                  <a:tcPr marL="50800" marR="50800" marT="25400" marB="25400">
                    <a:solidFill>
                      <a:srgbClr val="1954A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Rev B</a:t>
                      </a:r>
                    </a:p>
                  </a:txBody>
                  <a:tcPr marL="50800" marR="50800" marT="25400" marB="25400">
                    <a:solidFill>
                      <a:srgbClr val="1954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6808837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One PWM source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C2000 drives both headers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5301492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Matched traces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same PCB, same CMC per block</a:t>
                      </a:r>
                      <a:endParaRPr lang="sv-SE" sz="1190">
                        <a:solidFill>
                          <a:srgbClr val="1E1E1E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7165847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Driver skew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2EDF7275K part-to-part: check datasheet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9844266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Verify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U.FL V</a:t>
                      </a:r>
                      <a:r>
                        <a:rPr lang="en-US" sz="1190" baseline="-250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GS</a:t>
                      </a:r>
                      <a:r>
                        <a:rPr lang="en-US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 of both blocks, UFCS per cell (DPT)</a:t>
                      </a:r>
                      <a:endParaRPr lang="sv-SE" sz="1190">
                        <a:solidFill>
                          <a:srgbClr val="1E1E1E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0614238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F2CC9447-41D7-9B2B-0CDF-A020E14E04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9250" y="2905125"/>
            <a:ext cx="3476625" cy="2172891"/>
          </a:xfrm>
          <a:prstGeom prst="rect">
            <a:avLst/>
          </a:prstGeom>
        </p:spPr>
      </p:pic>
      <p:sp>
        <p:nvSpPr>
          <p:cNvPr id="10" name="decision">
            <a:extLst>
              <a:ext uri="{FF2B5EF4-FFF2-40B4-BE49-F238E27FC236}">
                <a16:creationId xmlns:a16="http://schemas.microsoft.com/office/drawing/2014/main" id="{4374E902-AC0E-8D46-CB6A-62D3A328F8C8}"/>
              </a:ext>
            </a:extLst>
          </p:cNvPr>
          <p:cNvSpPr/>
          <p:nvPr/>
        </p:nvSpPr>
        <p:spPr>
          <a:xfrm>
            <a:off x="238125" y="4400550"/>
            <a:ext cx="5048250" cy="381000"/>
          </a:xfrm>
          <a:prstGeom prst="roundRect">
            <a:avLst/>
          </a:prstGeom>
          <a:solidFill>
            <a:srgbClr val="EEF4FB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bIns="25400" rtlCol="0" anchor="ctr">
            <a:noAutofit/>
          </a:bodyPr>
          <a:lstStyle/>
          <a:p>
            <a:r>
              <a:rPr lang="en-US" sz="1380" b="1">
                <a:solidFill>
                  <a:srgbClr val="1E1E1E"/>
                </a:solidFill>
                <a:latin typeface="Arial" panose="020B0604020202020204" pitchFamily="34" charset="0"/>
              </a:rPr>
              <a:t>Decision:</a:t>
            </a:r>
            <a:r>
              <a:rPr lang="en-US" sz="1380">
                <a:solidFill>
                  <a:srgbClr val="1E1E1E"/>
                </a:solidFill>
                <a:latin typeface="Arial" panose="020B0604020202020204" pitchFamily="34" charset="0"/>
              </a:rPr>
              <a:t> Measure the per-cell current (UFCS) with both drivers switching; delay trim in the C2000 if needed</a:t>
            </a:r>
            <a:endParaRPr lang="sv-SE" sz="1380" dirty="0">
              <a:solidFill>
                <a:srgbClr val="1E1E1E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11725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1A972-DC42-BED5-D56C-A4C51870A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100"/>
              <a:t>Gate supplies: two isolated supplies, Zener split</a:t>
            </a:r>
            <a:endParaRPr lang="sv-SE" sz="21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A8B345-C712-19F1-230A-9BD403A62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586C7C-60A4-1BD8-8B66-52EE358AD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35</a:t>
            </a:fld>
            <a:endParaRPr lang="sv-S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24CE100-87BE-463F-417F-43ECBEF08E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952500"/>
            <a:ext cx="5334000" cy="157615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EC404C9-61DC-0EFD-B18C-091FBEDFD5B6}"/>
              </a:ext>
            </a:extLst>
          </p:cNvPr>
          <p:cNvSpPr txBox="1"/>
          <p:nvPr/>
        </p:nvSpPr>
        <p:spPr>
          <a:xfrm>
            <a:off x="5381625" y="952500"/>
            <a:ext cx="3429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sv-SE" sz="1380">
                <a:solidFill>
                  <a:srgbClr val="1E1E1E"/>
                </a:solidFill>
                <a:latin typeface="Arial" panose="020B0604020202020204" pitchFamily="34" charset="0"/>
              </a:rPr>
              <a:t>One external isolated supply for all HS drivers and one for all LS drivers; each splits per driver through a WE-CNSW common-mode choke</a:t>
            </a:r>
          </a:p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sv-SE" sz="1380">
                <a:solidFill>
                  <a:srgbClr val="1E1E1E"/>
                </a:solidFill>
                <a:latin typeface="Arial" panose="020B0604020202020204" pitchFamily="34" charset="0"/>
              </a:rPr>
              <a:t>5.1 V Zener VDD–S and 150 </a:t>
            </a:r>
            <a:r>
              <a:rPr lang="el-GR" sz="1380">
                <a:solidFill>
                  <a:srgbClr val="1E1E1E"/>
                </a:solidFill>
                <a:latin typeface="Arial" panose="020B0604020202020204" pitchFamily="34" charset="0"/>
              </a:rPr>
              <a:t>Ω </a:t>
            </a:r>
            <a:r>
              <a:rPr lang="sv-SE" sz="1380">
                <a:solidFill>
                  <a:srgbClr val="1E1E1E"/>
                </a:solidFill>
                <a:latin typeface="Arial" panose="020B0604020202020204" pitchFamily="34" charset="0"/>
              </a:rPr>
              <a:t>bias resistor S–VEE (Karakaya, METU 2020, Fig. 4.1): V</a:t>
            </a:r>
            <a:r>
              <a:rPr lang="sv-SE" sz="1380" baseline="-25000">
                <a:solidFill>
                  <a:srgbClr val="1E1E1E"/>
                </a:solidFill>
                <a:latin typeface="Arial" panose="020B0604020202020204" pitchFamily="34" charset="0"/>
              </a:rPr>
              <a:t>GS,on</a:t>
            </a:r>
            <a:r>
              <a:rPr lang="sv-SE" sz="1380">
                <a:solidFill>
                  <a:srgbClr val="1E1E1E"/>
                </a:solidFill>
                <a:latin typeface="Arial" panose="020B0604020202020204" pitchFamily="34" charset="0"/>
              </a:rPr>
              <a:t> = +5.1 V, V</a:t>
            </a:r>
            <a:r>
              <a:rPr lang="sv-SE" sz="1380" baseline="-25000">
                <a:solidFill>
                  <a:srgbClr val="1E1E1E"/>
                </a:solidFill>
                <a:latin typeface="Arial" panose="020B0604020202020204" pitchFamily="34" charset="0"/>
              </a:rPr>
              <a:t>GS,off</a:t>
            </a:r>
            <a:r>
              <a:rPr lang="sv-SE" sz="1380">
                <a:solidFill>
                  <a:srgbClr val="1E1E1E"/>
                </a:solidFill>
                <a:latin typeface="Arial" panose="020B0604020202020204" pitchFamily="34" charset="0"/>
              </a:rPr>
              <a:t> = −(V</a:t>
            </a:r>
            <a:r>
              <a:rPr lang="sv-SE" sz="1380" baseline="-25000">
                <a:solidFill>
                  <a:srgbClr val="1E1E1E"/>
                </a:solidFill>
                <a:latin typeface="Arial" panose="020B0604020202020204" pitchFamily="34" charset="0"/>
              </a:rPr>
              <a:t>ISO</a:t>
            </a:r>
            <a:r>
              <a:rPr lang="sv-SE" sz="1380">
                <a:solidFill>
                  <a:srgbClr val="1E1E1E"/>
                </a:solidFill>
                <a:latin typeface="Arial" panose="020B0604020202020204" pitchFamily="34" charset="0"/>
              </a:rPr>
              <a:t> − 5.1 V)</a:t>
            </a:r>
          </a:p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sv-SE" sz="1380">
                <a:solidFill>
                  <a:srgbClr val="1E1E1E"/>
                </a:solidFill>
                <a:latin typeface="Arial" panose="020B0604020202020204" pitchFamily="34" charset="0"/>
              </a:rPr>
              <a:t>V</a:t>
            </a:r>
            <a:r>
              <a:rPr lang="sv-SE" sz="1380" baseline="-25000">
                <a:solidFill>
                  <a:srgbClr val="1E1E1E"/>
                </a:solidFill>
                <a:latin typeface="Arial" panose="020B0604020202020204" pitchFamily="34" charset="0"/>
              </a:rPr>
              <a:t>ISO</a:t>
            </a:r>
            <a:r>
              <a:rPr lang="sv-SE" sz="1380">
                <a:solidFill>
                  <a:srgbClr val="1E1E1E"/>
                </a:solidFill>
                <a:latin typeface="Arial" panose="020B0604020202020204" pitchFamily="34" charset="0"/>
              </a:rPr>
              <a:t> = 7.0 V ⇒ −1.9 V off (bump mitigation, inside the −4 V limit); island decoupling 1 µF + 4.7 µF per rail</a:t>
            </a:r>
            <a:endParaRPr lang="sv-SE" sz="1380" dirty="0" err="1">
              <a:solidFill>
                <a:srgbClr val="1E1E1E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46641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3EAA9-D40F-297A-D031-02FF6AEB8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/>
              <a:t>Driver block: input filters, turn-on / turn-off paths, star</a:t>
            </a:r>
            <a:endParaRPr lang="sv-SE" sz="18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768536-EDCA-7989-F512-87C8FEA24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646694-FD5E-8E4E-E052-58B4EF9F0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36</a:t>
            </a:fld>
            <a:endParaRPr lang="sv-S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8FE680-B8D7-16F4-9C4A-269199D136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105" y="952500"/>
            <a:ext cx="7531789" cy="24765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6DC7AB8-E646-8CE7-06C7-92F58129A913}"/>
              </a:ext>
            </a:extLst>
          </p:cNvPr>
          <p:cNvSpPr txBox="1"/>
          <p:nvPr/>
        </p:nvSpPr>
        <p:spPr>
          <a:xfrm>
            <a:off x="238125" y="3524250"/>
            <a:ext cx="866775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sv-SE" sz="1380">
                <a:solidFill>
                  <a:srgbClr val="1E1E1E"/>
                </a:solidFill>
                <a:latin typeface="Arial" panose="020B0604020202020204" pitchFamily="34" charset="0"/>
              </a:rPr>
              <a:t>Per block a 2×5 control header (each signal next to its return); common-mode chokes on 12 V, DIS and NTC, none on PWM_H / PWM_L (no extra delay or LC ringing with the 100 pF input filter; removed after the PWM review)</a:t>
            </a:r>
          </a:p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sv-SE" sz="1380">
                <a:solidFill>
                  <a:srgbClr val="1E1E1E"/>
                </a:solidFill>
                <a:latin typeface="Arial" panose="020B0604020202020204" pitchFamily="34" charset="0"/>
              </a:rPr>
              <a:t>47 </a:t>
            </a:r>
            <a:r>
              <a:rPr lang="el-GR" sz="1380">
                <a:solidFill>
                  <a:srgbClr val="1E1E1E"/>
                </a:solidFill>
                <a:latin typeface="Arial" panose="020B0604020202020204" pitchFamily="34" charset="0"/>
              </a:rPr>
              <a:t>Ω / 100 </a:t>
            </a:r>
            <a:r>
              <a:rPr lang="sv-SE" sz="1380">
                <a:solidFill>
                  <a:srgbClr val="1E1E1E"/>
                </a:solidFill>
                <a:latin typeface="Arial" panose="020B0604020202020204" pitchFamily="34" charset="0"/>
              </a:rPr>
              <a:t>pF input filters, 10 k pull-downs, R</a:t>
            </a:r>
            <a:r>
              <a:rPr lang="sv-SE" sz="1380" baseline="-25000">
                <a:solidFill>
                  <a:srgbClr val="1E1E1E"/>
                </a:solidFill>
                <a:latin typeface="Arial" panose="020B0604020202020204" pitchFamily="34" charset="0"/>
              </a:rPr>
              <a:t>ON</a:t>
            </a:r>
            <a:r>
              <a:rPr lang="sv-SE" sz="1380">
                <a:solidFill>
                  <a:srgbClr val="1E1E1E"/>
                </a:solidFill>
                <a:latin typeface="Arial" panose="020B0604020202020204" pitchFamily="34" charset="0"/>
              </a:rPr>
              <a:t> 1.5 </a:t>
            </a:r>
            <a:r>
              <a:rPr lang="el-GR" sz="1380">
                <a:solidFill>
                  <a:srgbClr val="1E1E1E"/>
                </a:solidFill>
                <a:latin typeface="Arial" panose="020B0604020202020204" pitchFamily="34" charset="0"/>
              </a:rPr>
              <a:t>Ω (</a:t>
            </a:r>
            <a:r>
              <a:rPr lang="sv-SE" sz="1380">
                <a:solidFill>
                  <a:srgbClr val="1E1E1E"/>
                </a:solidFill>
                <a:latin typeface="Arial" panose="020B0604020202020204" pitchFamily="34" charset="0"/>
              </a:rPr>
              <a:t>shared by the pair), R</a:t>
            </a:r>
            <a:r>
              <a:rPr lang="sv-SE" sz="1380" baseline="-25000">
                <a:solidFill>
                  <a:srgbClr val="1E1E1E"/>
                </a:solidFill>
                <a:latin typeface="Arial" panose="020B0604020202020204" pitchFamily="34" charset="0"/>
              </a:rPr>
              <a:t>OFF</a:t>
            </a:r>
            <a:r>
              <a:rPr lang="sv-SE" sz="1380">
                <a:solidFill>
                  <a:srgbClr val="1E1E1E"/>
                </a:solidFill>
                <a:latin typeface="Arial" panose="020B0604020202020204" pitchFamily="34" charset="0"/>
              </a:rPr>
              <a:t> 0 </a:t>
            </a:r>
            <a:r>
              <a:rPr lang="el-GR" sz="1380">
                <a:solidFill>
                  <a:srgbClr val="1E1E1E"/>
                </a:solidFill>
                <a:latin typeface="Arial" panose="020B0604020202020204" pitchFamily="34" charset="0"/>
              </a:rPr>
              <a:t>Ω + </a:t>
            </a:r>
            <a:r>
              <a:rPr lang="sv-SE" sz="1380">
                <a:solidFill>
                  <a:srgbClr val="1E1E1E"/>
                </a:solidFill>
                <a:latin typeface="Arial" panose="020B0604020202020204" pitchFamily="34" charset="0"/>
              </a:rPr>
              <a:t>Schottky, R</a:t>
            </a:r>
            <a:r>
              <a:rPr lang="sv-SE" sz="1380" baseline="-25000">
                <a:solidFill>
                  <a:srgbClr val="1E1E1E"/>
                </a:solidFill>
                <a:latin typeface="Arial" panose="020B0604020202020204" pitchFamily="34" charset="0"/>
              </a:rPr>
              <a:t>G</a:t>
            </a:r>
            <a:r>
              <a:rPr lang="sv-SE" sz="1380">
                <a:solidFill>
                  <a:srgbClr val="1E1E1E"/>
                </a:solidFill>
                <a:latin typeface="Arial" panose="020B0604020202020204" pitchFamily="34" charset="0"/>
              </a:rPr>
              <a:t> 0.5 </a:t>
            </a:r>
            <a:r>
              <a:rPr lang="el-GR" sz="1380">
                <a:solidFill>
                  <a:srgbClr val="1E1E1E"/>
                </a:solidFill>
                <a:latin typeface="Arial" panose="020B0604020202020204" pitchFamily="34" charset="0"/>
              </a:rPr>
              <a:t>Ω </a:t>
            </a:r>
            <a:r>
              <a:rPr lang="sv-SE" sz="1380">
                <a:solidFill>
                  <a:srgbClr val="1E1E1E"/>
                </a:solidFill>
                <a:latin typeface="Arial" panose="020B0604020202020204" pitchFamily="34" charset="0"/>
              </a:rPr>
              <a:t>per transistor ⇒ R</a:t>
            </a:r>
            <a:r>
              <a:rPr lang="sv-SE" sz="1380" baseline="-25000">
                <a:solidFill>
                  <a:srgbClr val="1E1E1E"/>
                </a:solidFill>
                <a:latin typeface="Arial" panose="020B0604020202020204" pitchFamily="34" charset="0"/>
              </a:rPr>
              <a:t>g,on</a:t>
            </a:r>
            <a:r>
              <a:rPr lang="sv-SE" sz="1380">
                <a:solidFill>
                  <a:srgbClr val="1E1E1E"/>
                </a:solidFill>
                <a:latin typeface="Arial" panose="020B0604020202020204" pitchFamily="34" charset="0"/>
              </a:rPr>
              <a:t> = 3.5 </a:t>
            </a:r>
            <a:r>
              <a:rPr lang="el-GR" sz="1380">
                <a:solidFill>
                  <a:srgbClr val="1E1E1E"/>
                </a:solidFill>
                <a:latin typeface="Arial" panose="020B0604020202020204" pitchFamily="34" charset="0"/>
              </a:rPr>
              <a:t>Ω </a:t>
            </a:r>
            <a:r>
              <a:rPr lang="sv-SE" sz="1380">
                <a:solidFill>
                  <a:srgbClr val="1E1E1E"/>
                </a:solidFill>
                <a:latin typeface="Arial" panose="020B0604020202020204" pitchFamily="34" charset="0"/>
              </a:rPr>
              <a:t>per device</a:t>
            </a:r>
            <a:endParaRPr lang="sv-SE" sz="1380" dirty="0" err="1">
              <a:solidFill>
                <a:srgbClr val="1E1E1E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77572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55420-A9A8-8C9B-3E03-0CCC80AE5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sz="2100"/>
              <a:t>Measurement and control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B5CAD8-2E9E-35FC-1D23-D2968B638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19AA52-43B6-230B-3081-ADAA53FEB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37</a:t>
            </a:fld>
            <a:endParaRPr lang="sv-SE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B789743-6EDA-1B57-3D13-1B76912059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6447674"/>
              </p:ext>
            </p:extLst>
          </p:nvPr>
        </p:nvGraphicFramePr>
        <p:xfrm>
          <a:off x="238125" y="952500"/>
          <a:ext cx="4953000" cy="1466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8750">
                  <a:extLst>
                    <a:ext uri="{9D8B030D-6E8A-4147-A177-3AD203B41FA5}">
                      <a16:colId xmlns:a16="http://schemas.microsoft.com/office/drawing/2014/main" val="422754578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3447411715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3777976518"/>
                    </a:ext>
                  </a:extLst>
                </a:gridCol>
              </a:tblGrid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19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Quantity</a:t>
                      </a:r>
                    </a:p>
                  </a:txBody>
                  <a:tcPr marL="50800" marR="50800" marT="25400" marB="25400">
                    <a:solidFill>
                      <a:srgbClr val="1954A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How</a:t>
                      </a:r>
                    </a:p>
                  </a:txBody>
                  <a:tcPr marL="50800" marR="50800" marT="25400" marB="25400">
                    <a:solidFill>
                      <a:srgbClr val="1954A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Where</a:t>
                      </a:r>
                    </a:p>
                  </a:txBody>
                  <a:tcPr marL="50800" marR="50800" marT="25400" marB="25400">
                    <a:solidFill>
                      <a:srgbClr val="1954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5720493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Cell current (DPT)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PMK UFCS-R001, 1 mΩ, 120 pH</a:t>
                      </a:r>
                      <a:endParaRPr lang="sv-SE" sz="1190">
                        <a:solidFill>
                          <a:srgbClr val="1E1E1E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LS source of each cell, DPT board</a:t>
                      </a:r>
                      <a:endParaRPr lang="sv-SE" sz="1190">
                        <a:solidFill>
                          <a:srgbClr val="1E1E1E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3566707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Phase current (control)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LEM HO 250-S, ±625 A, 3.2 mV/A</a:t>
                      </a:r>
                      <a:endParaRPr lang="sv-SE" sz="1190">
                        <a:solidFill>
                          <a:srgbClr val="1E1E1E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Cu bar on the M6 AC pad</a:t>
                      </a:r>
                      <a:endParaRPr lang="sv-SE" sz="1190">
                        <a:solidFill>
                          <a:srgbClr val="1E1E1E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0463569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V</a:t>
                      </a:r>
                      <a:r>
                        <a:rPr lang="sv-SE" sz="1190" baseline="-250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GS</a:t>
                      </a:r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 HS / LS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U.FL, 0 </a:t>
                      </a:r>
                      <a:r>
                        <a:rPr lang="el-GR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Ω, </a:t>
                      </a:r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shield = Kelvin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bottom, at each cell (both boards)</a:t>
                      </a:r>
                      <a:endParaRPr lang="sv-SE" sz="1190">
                        <a:solidFill>
                          <a:srgbClr val="1E1E1E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9320036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V</a:t>
                      </a:r>
                      <a:r>
                        <a:rPr lang="sv-SE" sz="1190" baseline="-250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DS</a:t>
                      </a:r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 LS (DPT)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MMCX (WR-MMCX, 170 V rms): SW / LSRC, rated isolated probe (e.g. IsoVu TIVPMX50X)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bottom, next to each LS FET</a:t>
                      </a:r>
                      <a:endParaRPr lang="sv-SE" sz="1190">
                        <a:solidFill>
                          <a:srgbClr val="1E1E1E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6577311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Bring-up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test points + spring-tip pads (V</a:t>
                      </a:r>
                      <a:r>
                        <a:rPr lang="en-US" sz="1190" baseline="-250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GS</a:t>
                      </a:r>
                      <a:r>
                        <a:rPr lang="en-US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, V</a:t>
                      </a:r>
                      <a:r>
                        <a:rPr lang="en-US" sz="1190" baseline="-250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DS</a:t>
                      </a:r>
                      <a:r>
                        <a:rPr lang="en-US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), list in fab/testpoints.csv</a:t>
                      </a:r>
                      <a:endParaRPr lang="sv-SE" sz="1190">
                        <a:solidFill>
                          <a:srgbClr val="1E1E1E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both sides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0139926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Board temperature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NTC 10 k at the driver</a:t>
                      </a:r>
                      <a:endParaRPr lang="sv-SE" sz="1190">
                        <a:solidFill>
                          <a:srgbClr val="1E1E1E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control side (GNDI)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771118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348FFB2F-22B5-D95C-8C8B-D58748B75B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3667125"/>
            <a:ext cx="5143500" cy="70084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F0FE71A-28CD-B428-E8B0-E956E93D85A5}"/>
              </a:ext>
            </a:extLst>
          </p:cNvPr>
          <p:cNvSpPr txBox="1"/>
          <p:nvPr/>
        </p:nvSpPr>
        <p:spPr>
          <a:xfrm>
            <a:off x="5429250" y="2381250"/>
            <a:ext cx="3381375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en-US" sz="1380">
                <a:solidFill>
                  <a:srgbClr val="1E1E1E"/>
                </a:solidFill>
                <a:latin typeface="Arial" panose="020B0604020202020204" pitchFamily="34" charset="0"/>
              </a:rPr>
              <a:t>Back-to-back load test, closed loop on a TI TMS320F28379D</a:t>
            </a:r>
          </a:p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en-US" sz="1380">
                <a:solidFill>
                  <a:srgbClr val="1E1E1E"/>
                </a:solidFill>
                <a:latin typeface="Arial" panose="020B0604020202020204" pitchFamily="34" charset="0"/>
              </a:rPr>
              <a:t>Load board: no shunt ⇒ phase current from the HO 250-S, cell sharing from the DPT board</a:t>
            </a:r>
          </a:p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en-US" sz="1380">
                <a:solidFill>
                  <a:srgbClr val="1E1E1E"/>
                </a:solidFill>
                <a:latin typeface="Arial" panose="020B0604020202020204" pitchFamily="34" charset="0"/>
              </a:rPr>
              <a:t>No short-circuit protection on the boards</a:t>
            </a:r>
            <a:endParaRPr lang="sv-SE" sz="1380" dirty="0" err="1">
              <a:solidFill>
                <a:srgbClr val="1E1E1E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3907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3328F-07FC-F8CC-F256-3D4B71297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100"/>
              <a:t>Power stage schematics (generated, identical to the PCBs)</a:t>
            </a:r>
            <a:endParaRPr lang="sv-SE" sz="21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1D30F1-A999-4829-76B5-608C3562D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D208B9-1DAC-B2AE-CA22-3CD51F49D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38</a:t>
            </a:fld>
            <a:endParaRPr lang="sv-S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EE24F48-561C-11C3-63FD-746709B177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8477" y="952500"/>
            <a:ext cx="4507046" cy="16668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8D2622C-0F6C-3286-883A-5B02DE7894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8477" y="2714625"/>
            <a:ext cx="4507046" cy="166687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44FD8E4-C9E0-5A25-1669-C4A7453BD0B9}"/>
              </a:ext>
            </a:extLst>
          </p:cNvPr>
          <p:cNvSpPr txBox="1"/>
          <p:nvPr/>
        </p:nvSpPr>
        <p:spPr>
          <a:xfrm>
            <a:off x="228600" y="4597400"/>
            <a:ext cx="7874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730">
                <a:solidFill>
                  <a:srgbClr val="787878"/>
                </a:solidFill>
                <a:latin typeface="Arial" panose="020B0604020202020204" pitchFamily="34" charset="0"/>
              </a:rPr>
              <a:t>Top: DPT board (UFCS in each LS source). Bottom: load-test board (LS source to DC−). make_kicad_sch_revb.py; check_sch_vs_pcb.py: 0 problems on both</a:t>
            </a:r>
            <a:endParaRPr lang="sv-SE" sz="730" dirty="0" err="1">
              <a:solidFill>
                <a:srgbClr val="787878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533896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FE79E-E2C2-F528-06E5-E524B803A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100"/>
              <a:t>Three legs on one 75 V bus: what the bus must do</a:t>
            </a:r>
            <a:endParaRPr lang="sv-SE" sz="21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D3AB1F-68B0-6709-F8D1-6C0B8F75A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226058-0EDE-377C-A920-F6DFA1AAA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39</a:t>
            </a:fld>
            <a:endParaRPr lang="sv-S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F566E5-573B-A32E-953D-BCB397A56A40}"/>
              </a:ext>
            </a:extLst>
          </p:cNvPr>
          <p:cNvSpPr txBox="1"/>
          <p:nvPr/>
        </p:nvSpPr>
        <p:spPr>
          <a:xfrm>
            <a:off x="238125" y="952500"/>
            <a:ext cx="4953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sv-SE" sz="1280">
                <a:solidFill>
                  <a:srgbClr val="1E1E1E"/>
                </a:solidFill>
                <a:latin typeface="Arial" panose="020B0604020202020204" pitchFamily="34" charset="0"/>
              </a:rPr>
              <a:t>The switching edge closes on each board (bypass + bank); the bus only carries the f</a:t>
            </a:r>
            <a:r>
              <a:rPr lang="sv-SE" sz="1280" baseline="-25000">
                <a:solidFill>
                  <a:srgbClr val="1E1E1E"/>
                </a:solidFill>
                <a:latin typeface="Arial" panose="020B0604020202020204" pitchFamily="34" charset="0"/>
              </a:rPr>
              <a:t>sw</a:t>
            </a:r>
            <a:r>
              <a:rPr lang="sv-SE" sz="1280">
                <a:solidFill>
                  <a:srgbClr val="1E1E1E"/>
                </a:solidFill>
                <a:latin typeface="Arial" panose="020B0604020202020204" pitchFamily="34" charset="0"/>
              </a:rPr>
              <a:t> ripple between the leg banks</a:t>
            </a:r>
          </a:p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sv-SE" sz="1280">
                <a:solidFill>
                  <a:srgbClr val="1E1E1E"/>
                </a:solidFill>
                <a:latin typeface="Arial" panose="020B0604020202020204" pitchFamily="34" charset="0"/>
              </a:rPr>
              <a:t>Sharing needs </a:t>
            </a:r>
            <a:r>
              <a:rPr lang="el-GR" sz="1280">
                <a:solidFill>
                  <a:srgbClr val="1E1E1E"/>
                </a:solidFill>
                <a:latin typeface="Arial" panose="020B0604020202020204" pitchFamily="34" charset="0"/>
              </a:rPr>
              <a:t>ω</a:t>
            </a:r>
            <a:r>
              <a:rPr lang="sv-SE" sz="1280">
                <a:solidFill>
                  <a:srgbClr val="1E1E1E"/>
                </a:solidFill>
                <a:latin typeface="Arial" panose="020B0604020202020204" pitchFamily="34" charset="0"/>
              </a:rPr>
              <a:t>L</a:t>
            </a:r>
            <a:r>
              <a:rPr lang="sv-SE" sz="1280" baseline="-25000">
                <a:solidFill>
                  <a:srgbClr val="1E1E1E"/>
                </a:solidFill>
                <a:latin typeface="Arial" panose="020B0604020202020204" pitchFamily="34" charset="0"/>
              </a:rPr>
              <a:t>bus</a:t>
            </a:r>
            <a:r>
              <a:rPr lang="sv-SE" sz="1280">
                <a:solidFill>
                  <a:srgbClr val="1E1E1E"/>
                </a:solidFill>
                <a:latin typeface="Arial" panose="020B0604020202020204" pitchFamily="34" charset="0"/>
              </a:rPr>
              <a:t> ≪ 1/(</a:t>
            </a:r>
            <a:r>
              <a:rPr lang="el-GR" sz="1280">
                <a:solidFill>
                  <a:srgbClr val="1E1E1E"/>
                </a:solidFill>
                <a:latin typeface="Arial" panose="020B0604020202020204" pitchFamily="34" charset="0"/>
              </a:rPr>
              <a:t>ω</a:t>
            </a:r>
            <a:r>
              <a:rPr lang="sv-SE" sz="1280">
                <a:solidFill>
                  <a:srgbClr val="1E1E1E"/>
                </a:solidFill>
                <a:latin typeface="Arial" panose="020B0604020202020204" pitchFamily="34" charset="0"/>
              </a:rPr>
              <a:t>C): at 50 kHz and ≈ 127 µF eff. per leg L ≪ 80 nH ⇒ </a:t>
            </a:r>
            <a:r>
              <a:rPr lang="sv-SE" sz="1280" b="1">
                <a:solidFill>
                  <a:srgbClr val="1E1E1E"/>
                </a:solidFill>
                <a:latin typeface="Arial" panose="020B0604020202020204" pitchFamily="34" charset="0"/>
              </a:rPr>
              <a:t>target ≤ 5 nH leg to leg</a:t>
            </a:r>
          </a:p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sv-SE" sz="1280">
                <a:solidFill>
                  <a:srgbClr val="1E1E1E"/>
                </a:solidFill>
                <a:latin typeface="Arial" panose="020B0604020202020204" pitchFamily="34" charset="0"/>
              </a:rPr>
              <a:t>DC: 250 A stack current enters the level, 83 A per leg</a:t>
            </a:r>
          </a:p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sv-SE" sz="1280">
                <a:solidFill>
                  <a:srgbClr val="1E1E1E"/>
                </a:solidFill>
                <a:latin typeface="Arial" panose="020B0604020202020204" pitchFamily="34" charset="0"/>
              </a:rPr>
              <a:t>All-MLCC banks joined by nH copper form a high-Q resonator ⇒ damping footprints</a:t>
            </a:r>
            <a:endParaRPr lang="sv-SE" sz="1280" dirty="0" err="1">
              <a:solidFill>
                <a:srgbClr val="1E1E1E"/>
              </a:solidFill>
              <a:latin typeface="Arial" panose="020B06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2D2DEEF-D5FE-E037-0CA9-8315EBE40750}"/>
              </a:ext>
            </a:extLst>
          </p:cNvPr>
          <p:cNvSpPr/>
          <p:nvPr/>
        </p:nvSpPr>
        <p:spPr>
          <a:xfrm>
            <a:off x="5429250" y="1143000"/>
            <a:ext cx="1000125" cy="857250"/>
          </a:xfrm>
          <a:prstGeom prst="roundRect">
            <a:avLst/>
          </a:prstGeom>
          <a:solidFill>
            <a:srgbClr val="E8EFF8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>
            <a:noAutofit/>
          </a:bodyPr>
          <a:lstStyle/>
          <a:p>
            <a:pPr algn="ctr"/>
            <a:r>
              <a:rPr lang="en-US" sz="920">
                <a:solidFill>
                  <a:srgbClr val="1E1E1E"/>
                </a:solidFill>
                <a:latin typeface="Arial" panose="020B0604020202020204" pitchFamily="34" charset="0"/>
              </a:rPr>
              <a:t>leg a</a:t>
            </a:r>
          </a:p>
          <a:p>
            <a:pPr algn="ctr"/>
            <a:r>
              <a:rPr lang="en-US" sz="920">
                <a:solidFill>
                  <a:srgbClr val="1E1E1E"/>
                </a:solidFill>
                <a:latin typeface="Arial" panose="020B0604020202020204" pitchFamily="34" charset="0"/>
              </a:rPr>
              <a:t>(phase a)</a:t>
            </a:r>
          </a:p>
          <a:p>
            <a:pPr algn="ctr"/>
            <a:r>
              <a:rPr lang="en-US" sz="920">
                <a:solidFill>
                  <a:srgbClr val="1E1E1E"/>
                </a:solidFill>
                <a:latin typeface="Arial" panose="020B0604020202020204" pitchFamily="34" charset="0"/>
              </a:rPr>
              <a:t>load board</a:t>
            </a:r>
            <a:endParaRPr lang="sv-SE" sz="920" dirty="0">
              <a:solidFill>
                <a:srgbClr val="1E1E1E"/>
              </a:solidFill>
              <a:latin typeface="Arial" panose="020B06040202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CC40D0F-F2C1-29B6-842E-3988C57DCAB7}"/>
              </a:ext>
            </a:extLst>
          </p:cNvPr>
          <p:cNvCxnSpPr/>
          <p:nvPr/>
        </p:nvCxnSpPr>
        <p:spPr>
          <a:xfrm>
            <a:off x="5715000" y="2000250"/>
            <a:ext cx="0" cy="381000"/>
          </a:xfrm>
          <a:prstGeom prst="line">
            <a:avLst/>
          </a:prstGeom>
          <a:ln w="38100">
            <a:solidFill>
              <a:srgbClr val="C846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712A825-46B7-1A3D-A470-EBC6D5BC2794}"/>
              </a:ext>
            </a:extLst>
          </p:cNvPr>
          <p:cNvCxnSpPr/>
          <p:nvPr/>
        </p:nvCxnSpPr>
        <p:spPr>
          <a:xfrm>
            <a:off x="6143625" y="2000250"/>
            <a:ext cx="0" cy="476250"/>
          </a:xfrm>
          <a:prstGeom prst="line">
            <a:avLst/>
          </a:prstGeom>
          <a:ln w="38100">
            <a:solidFill>
              <a:srgbClr val="3264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6F3B32F-FE0A-6CCF-0335-3735CD41059A}"/>
              </a:ext>
            </a:extLst>
          </p:cNvPr>
          <p:cNvSpPr/>
          <p:nvPr/>
        </p:nvSpPr>
        <p:spPr>
          <a:xfrm>
            <a:off x="6572250" y="1143000"/>
            <a:ext cx="1000125" cy="857250"/>
          </a:xfrm>
          <a:prstGeom prst="roundRect">
            <a:avLst/>
          </a:prstGeom>
          <a:solidFill>
            <a:srgbClr val="E8EFF8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>
            <a:noAutofit/>
          </a:bodyPr>
          <a:lstStyle/>
          <a:p>
            <a:pPr algn="ctr"/>
            <a:r>
              <a:rPr lang="en-US" sz="920">
                <a:solidFill>
                  <a:srgbClr val="1E1E1E"/>
                </a:solidFill>
                <a:latin typeface="Arial" panose="020B0604020202020204" pitchFamily="34" charset="0"/>
              </a:rPr>
              <a:t>leg b</a:t>
            </a:r>
          </a:p>
          <a:p>
            <a:pPr algn="ctr"/>
            <a:r>
              <a:rPr lang="en-US" sz="920">
                <a:solidFill>
                  <a:srgbClr val="1E1E1E"/>
                </a:solidFill>
                <a:latin typeface="Arial" panose="020B0604020202020204" pitchFamily="34" charset="0"/>
              </a:rPr>
              <a:t>(phase b)</a:t>
            </a:r>
          </a:p>
          <a:p>
            <a:pPr algn="ctr"/>
            <a:r>
              <a:rPr lang="en-US" sz="920">
                <a:solidFill>
                  <a:srgbClr val="1E1E1E"/>
                </a:solidFill>
                <a:latin typeface="Arial" panose="020B0604020202020204" pitchFamily="34" charset="0"/>
              </a:rPr>
              <a:t>load board</a:t>
            </a:r>
            <a:endParaRPr lang="sv-SE" sz="920" dirty="0">
              <a:solidFill>
                <a:srgbClr val="1E1E1E"/>
              </a:solidFill>
              <a:latin typeface="Arial" panose="020B0604020202020204" pitchFamily="34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8052090-7D84-91AC-9856-06B271702183}"/>
              </a:ext>
            </a:extLst>
          </p:cNvPr>
          <p:cNvCxnSpPr/>
          <p:nvPr/>
        </p:nvCxnSpPr>
        <p:spPr>
          <a:xfrm>
            <a:off x="6858000" y="2000250"/>
            <a:ext cx="0" cy="381000"/>
          </a:xfrm>
          <a:prstGeom prst="line">
            <a:avLst/>
          </a:prstGeom>
          <a:ln w="38100">
            <a:solidFill>
              <a:srgbClr val="C846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B7F8F62-A4A7-22D0-5E5D-06A9D1C74AEE}"/>
              </a:ext>
            </a:extLst>
          </p:cNvPr>
          <p:cNvCxnSpPr/>
          <p:nvPr/>
        </p:nvCxnSpPr>
        <p:spPr>
          <a:xfrm>
            <a:off x="7286625" y="2000250"/>
            <a:ext cx="0" cy="476250"/>
          </a:xfrm>
          <a:prstGeom prst="line">
            <a:avLst/>
          </a:prstGeom>
          <a:ln w="38100">
            <a:solidFill>
              <a:srgbClr val="3264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B56EFD3-7362-9B15-D7AC-0C7F27665136}"/>
              </a:ext>
            </a:extLst>
          </p:cNvPr>
          <p:cNvSpPr/>
          <p:nvPr/>
        </p:nvSpPr>
        <p:spPr>
          <a:xfrm>
            <a:off x="7715250" y="1143000"/>
            <a:ext cx="1000125" cy="857250"/>
          </a:xfrm>
          <a:prstGeom prst="roundRect">
            <a:avLst/>
          </a:prstGeom>
          <a:solidFill>
            <a:srgbClr val="E8EFF8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>
            <a:noAutofit/>
          </a:bodyPr>
          <a:lstStyle/>
          <a:p>
            <a:pPr algn="ctr"/>
            <a:r>
              <a:rPr lang="en-US" sz="920">
                <a:solidFill>
                  <a:srgbClr val="1E1E1E"/>
                </a:solidFill>
                <a:latin typeface="Arial" panose="020B0604020202020204" pitchFamily="34" charset="0"/>
              </a:rPr>
              <a:t>leg c</a:t>
            </a:r>
          </a:p>
          <a:p>
            <a:pPr algn="ctr"/>
            <a:r>
              <a:rPr lang="en-US" sz="920">
                <a:solidFill>
                  <a:srgbClr val="1E1E1E"/>
                </a:solidFill>
                <a:latin typeface="Arial" panose="020B0604020202020204" pitchFamily="34" charset="0"/>
              </a:rPr>
              <a:t>(phase c)</a:t>
            </a:r>
          </a:p>
          <a:p>
            <a:pPr algn="ctr"/>
            <a:r>
              <a:rPr lang="en-US" sz="920">
                <a:solidFill>
                  <a:srgbClr val="1E1E1E"/>
                </a:solidFill>
                <a:latin typeface="Arial" panose="020B0604020202020204" pitchFamily="34" charset="0"/>
              </a:rPr>
              <a:t>load board</a:t>
            </a:r>
            <a:endParaRPr lang="sv-SE" sz="920" dirty="0">
              <a:solidFill>
                <a:srgbClr val="1E1E1E"/>
              </a:solidFill>
              <a:latin typeface="Arial" panose="020B0604020202020204" pitchFamily="34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905137A-471E-1D8B-2308-310C885E4B45}"/>
              </a:ext>
            </a:extLst>
          </p:cNvPr>
          <p:cNvCxnSpPr/>
          <p:nvPr/>
        </p:nvCxnSpPr>
        <p:spPr>
          <a:xfrm>
            <a:off x="8001000" y="2000250"/>
            <a:ext cx="0" cy="381000"/>
          </a:xfrm>
          <a:prstGeom prst="line">
            <a:avLst/>
          </a:prstGeom>
          <a:ln w="38100">
            <a:solidFill>
              <a:srgbClr val="C846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7B4838E-14FA-BE37-4EC3-45049A63B8F2}"/>
              </a:ext>
            </a:extLst>
          </p:cNvPr>
          <p:cNvCxnSpPr/>
          <p:nvPr/>
        </p:nvCxnSpPr>
        <p:spPr>
          <a:xfrm>
            <a:off x="8429625" y="2000250"/>
            <a:ext cx="0" cy="476250"/>
          </a:xfrm>
          <a:prstGeom prst="line">
            <a:avLst/>
          </a:prstGeom>
          <a:ln w="38100">
            <a:solidFill>
              <a:srgbClr val="3264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EA48947-4E8D-5F0B-FECF-D71F7B30B4FD}"/>
              </a:ext>
            </a:extLst>
          </p:cNvPr>
          <p:cNvCxnSpPr/>
          <p:nvPr/>
        </p:nvCxnSpPr>
        <p:spPr>
          <a:xfrm>
            <a:off x="5381625" y="2381250"/>
            <a:ext cx="3381375" cy="0"/>
          </a:xfrm>
          <a:prstGeom prst="line">
            <a:avLst/>
          </a:prstGeom>
          <a:ln w="63500">
            <a:solidFill>
              <a:srgbClr val="C846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AFCF58A-EF1E-7717-1067-F9B8BDF59159}"/>
              </a:ext>
            </a:extLst>
          </p:cNvPr>
          <p:cNvCxnSpPr/>
          <p:nvPr/>
        </p:nvCxnSpPr>
        <p:spPr>
          <a:xfrm>
            <a:off x="5381625" y="2476500"/>
            <a:ext cx="3381375" cy="0"/>
          </a:xfrm>
          <a:prstGeom prst="line">
            <a:avLst/>
          </a:prstGeom>
          <a:ln w="63500">
            <a:solidFill>
              <a:srgbClr val="3264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AE85A45-0A59-23F0-AB65-B0508BA13B71}"/>
              </a:ext>
            </a:extLst>
          </p:cNvPr>
          <p:cNvSpPr txBox="1"/>
          <p:nvPr/>
        </p:nvSpPr>
        <p:spPr>
          <a:xfrm>
            <a:off x="5429250" y="2552700"/>
            <a:ext cx="3333750" cy="307777"/>
          </a:xfrm>
          <a:prstGeom prst="rect">
            <a:avLst/>
          </a:prstGeom>
          <a:noFill/>
        </p:spPr>
        <p:txBody>
          <a:bodyPr vert="horz" wrap="square" lIns="25400" tIns="0" rIns="0" bIns="0" rtlCol="0">
            <a:noAutofit/>
          </a:bodyPr>
          <a:lstStyle/>
          <a:p>
            <a:pPr algn="ctr"/>
            <a:r>
              <a:rPr lang="en-US" sz="920" b="1">
                <a:solidFill>
                  <a:srgbClr val="1E1E1E"/>
                </a:solidFill>
                <a:latin typeface="Arial" panose="020B0604020202020204" pitchFamily="34" charset="0"/>
              </a:rPr>
              <a:t>laminated PCB busbar (L1 + / L2 − / L3 + / L4 −)</a:t>
            </a:r>
            <a:endParaRPr lang="sv-SE" sz="920" b="1" dirty="0" err="1">
              <a:solidFill>
                <a:srgbClr val="1E1E1E"/>
              </a:solidFill>
              <a:latin typeface="Arial" panose="020B0604020202020204" pitchFamily="34" charset="0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55CCC56-9849-9DB7-1C19-BD4D09BD4897}"/>
              </a:ext>
            </a:extLst>
          </p:cNvPr>
          <p:cNvCxnSpPr/>
          <p:nvPr/>
        </p:nvCxnSpPr>
        <p:spPr>
          <a:xfrm>
            <a:off x="6953250" y="2476500"/>
            <a:ext cx="0" cy="571500"/>
          </a:xfrm>
          <a:prstGeom prst="line">
            <a:avLst/>
          </a:prstGeom>
          <a:ln w="38100">
            <a:solidFill>
              <a:srgbClr val="1E1E1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BC0AC3A-CAA3-E620-846C-7F21D71756FE}"/>
              </a:ext>
            </a:extLst>
          </p:cNvPr>
          <p:cNvSpPr txBox="1"/>
          <p:nvPr/>
        </p:nvSpPr>
        <p:spPr>
          <a:xfrm>
            <a:off x="6000750" y="3095625"/>
            <a:ext cx="2095500" cy="307777"/>
          </a:xfrm>
          <a:prstGeom prst="rect">
            <a:avLst/>
          </a:prstGeom>
          <a:noFill/>
        </p:spPr>
        <p:txBody>
          <a:bodyPr vert="horz" wrap="square" lIns="25400" tIns="0" rIns="0" bIns="0" rtlCol="0">
            <a:noAutofit/>
          </a:bodyPr>
          <a:lstStyle/>
          <a:p>
            <a:pPr algn="ctr"/>
            <a:r>
              <a:rPr lang="en-US" sz="920">
                <a:solidFill>
                  <a:srgbClr val="787878"/>
                </a:solidFill>
                <a:latin typeface="Arial" panose="020B0604020202020204" pitchFamily="34" charset="0"/>
              </a:rPr>
              <a:t>stack lugs at the centre leg</a:t>
            </a:r>
          </a:p>
          <a:p>
            <a:pPr algn="ctr"/>
            <a:r>
              <a:rPr lang="en-US" sz="920">
                <a:solidFill>
                  <a:srgbClr val="787878"/>
                </a:solidFill>
                <a:latin typeface="Arial" panose="020B0604020202020204" pitchFamily="34" charset="0"/>
              </a:rPr>
              <a:t>to the levels above / below</a:t>
            </a:r>
            <a:endParaRPr lang="sv-SE" sz="920" dirty="0" err="1">
              <a:solidFill>
                <a:srgbClr val="787878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505275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ECA84-AA2A-BF5A-7213-73C2B1FD4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100"/>
              <a:t>PCB busbar: easy to manufacture</a:t>
            </a:r>
            <a:endParaRPr lang="sv-SE" sz="21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8DDDB5-45FA-3952-122F-D1536AB16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7F8095-F413-BBF9-989B-28B892AFA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40</a:t>
            </a:fld>
            <a:endParaRPr lang="sv-S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1421C5-D341-EC76-01CB-E3989B669F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3697" y="952500"/>
            <a:ext cx="3716606" cy="1333500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F651DCE-AF05-D570-CAF2-E4CBBF6B22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5080605"/>
              </p:ext>
            </p:extLst>
          </p:nvPr>
        </p:nvGraphicFramePr>
        <p:xfrm>
          <a:off x="238125" y="2428875"/>
          <a:ext cx="4095750" cy="1466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7750">
                  <a:extLst>
                    <a:ext uri="{9D8B030D-6E8A-4147-A177-3AD203B41FA5}">
                      <a16:colId xmlns:a16="http://schemas.microsoft.com/office/drawing/2014/main" val="1859746075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173025984"/>
                    </a:ext>
                  </a:extLst>
                </a:gridCol>
              </a:tblGrid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Item</a:t>
                      </a:r>
                    </a:p>
                  </a:txBody>
                  <a:tcPr marL="50800" marR="50800" marT="25400" marB="25400">
                    <a:solidFill>
                      <a:srgbClr val="1954A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Value</a:t>
                      </a:r>
                    </a:p>
                  </a:txBody>
                  <a:tcPr marL="50800" marR="50800" marT="25400" marB="25400">
                    <a:solidFill>
                      <a:srgbClr val="1954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0918100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Size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298.5 × 45 mm, 1.6 mm, 4 layers</a:t>
                      </a:r>
                      <a:endParaRPr lang="sv-SE" sz="1100">
                        <a:solidFill>
                          <a:srgbClr val="1E1E1E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4941043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Copper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2 oz all layers (JLCPCB JLC3313); 3–4 oz option</a:t>
                      </a:r>
                      <a:endParaRPr lang="sv-SE" sz="1100">
                        <a:solidFill>
                          <a:srgbClr val="1E1E1E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1245247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Stack-up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L1 DC+ / ≤ 0.2 mm / L2 DC− / core / L3 DC+ / ≤ 0.2 mm / L4 DC−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859106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Leg contact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6 × M4: one DC pair per leg (REDCUBE, 6.5 mm)</a:t>
                      </a:r>
                      <a:endParaRPr lang="sv-SE" sz="1100">
                        <a:solidFill>
                          <a:srgbClr val="1E1E1E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3829286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Stack contact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2 × M6 lug pads at the centre leg</a:t>
                      </a:r>
                      <a:endParaRPr lang="sv-SE" sz="1100">
                        <a:solidFill>
                          <a:srgbClr val="1E1E1E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3038463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Insulation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frame holes with 8 mm Cu keep-out (1200 V)</a:t>
                      </a:r>
                      <a:endParaRPr lang="sv-SE" sz="1100">
                        <a:solidFill>
                          <a:srgbClr val="1E1E1E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443293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870B2E2-EBF2-93C1-6876-FFBE16B4A01F}"/>
              </a:ext>
            </a:extLst>
          </p:cNvPr>
          <p:cNvSpPr txBox="1"/>
          <p:nvPr/>
        </p:nvSpPr>
        <p:spPr>
          <a:xfrm>
            <a:off x="4572000" y="2428875"/>
            <a:ext cx="4238625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sv-SE" sz="1380">
                <a:solidFill>
                  <a:srgbClr val="1E1E1E"/>
                </a:solidFill>
                <a:latin typeface="Arial" panose="020B0604020202020204" pitchFamily="34" charset="0"/>
              </a:rPr>
              <a:t>Q3D (step 11): leg-to-leg loop </a:t>
            </a:r>
            <a:r>
              <a:rPr lang="sv-SE" sz="1380" b="1">
                <a:solidFill>
                  <a:srgbClr val="1E1E1E"/>
                </a:solidFill>
                <a:latin typeface="Arial" panose="020B0604020202020204" pitchFamily="34" charset="0"/>
              </a:rPr>
              <a:t>1.46 nH</a:t>
            </a:r>
            <a:r>
              <a:rPr lang="sv-SE" sz="1380">
                <a:solidFill>
                  <a:srgbClr val="1E1E1E"/>
                </a:solidFill>
                <a:latin typeface="Arial" panose="020B0604020202020204" pitchFamily="34" charset="0"/>
              </a:rPr>
              <a:t> at 1 MHz (a–b), DC busbar loss </a:t>
            </a:r>
            <a:r>
              <a:rPr lang="sv-SE" sz="1380" b="1">
                <a:solidFill>
                  <a:srgbClr val="1E1E1E"/>
                </a:solidFill>
                <a:latin typeface="Arial" panose="020B0604020202020204" pitchFamily="34" charset="0"/>
              </a:rPr>
              <a:t>(pending) W</a:t>
            </a:r>
          </a:p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sv-SE" sz="1380">
                <a:solidFill>
                  <a:srgbClr val="1E1E1E"/>
                </a:solidFill>
                <a:latin typeface="Arial" panose="020B0604020202020204" pitchFamily="34" charset="0"/>
              </a:rPr>
              <a:t>Damping caps (100 V hybrid polymer) as DNP footprints; nylon standoffs at the leg corner holes</a:t>
            </a:r>
          </a:p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sv-SE" sz="1380">
                <a:solidFill>
                  <a:srgbClr val="1E1E1E"/>
                </a:solidFill>
                <a:latin typeface="Arial" panose="020B0604020202020204" pitchFamily="34" charset="0"/>
              </a:rPr>
              <a:t>Generated: scripts/make_kicad_busbar.py, DRC clean; fab files in hardware/spb-busbar/fab</a:t>
            </a:r>
            <a:endParaRPr lang="sv-SE" sz="1380" dirty="0" err="1">
              <a:solidFill>
                <a:srgbClr val="1E1E1E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332403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73382-239E-B8D1-2E52-E1360DB7F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100"/>
              <a:t>One 75 V level in 3D: busbar + three load-test legs</a:t>
            </a:r>
            <a:endParaRPr lang="sv-SE" sz="21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877ACB-95AE-C8D4-63EC-6E6315D0D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61B6C7-CEDF-91CA-3A07-31EA59A77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41</a:t>
            </a:fld>
            <a:endParaRPr lang="sv-S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E503288-0864-2D57-08ED-FAFF1204B2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0453" y="952500"/>
            <a:ext cx="5643093" cy="31432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A9C34BB-2031-616E-0A6F-3EF897BE8616}"/>
              </a:ext>
            </a:extLst>
          </p:cNvPr>
          <p:cNvSpPr txBox="1"/>
          <p:nvPr/>
        </p:nvSpPr>
        <p:spPr>
          <a:xfrm>
            <a:off x="238125" y="4143375"/>
            <a:ext cx="866775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en-US" sz="1280">
                <a:solidFill>
                  <a:srgbClr val="1E1E1E"/>
                </a:solidFill>
                <a:latin typeface="Arial" panose="020B0604020202020204" pitchFamily="34" charset="0"/>
              </a:rPr>
              <a:t>Legs a, b, c (pitch 94.5 mm, 5 mm gaps) stand on their REDCUBE DC terminals (6.5 mm) on the PCB busbar; M4 × 8 screws from below; AC bar of each leg through its LEM HO 250-S; heatsinks stay inside each board outline</a:t>
            </a:r>
            <a:endParaRPr lang="sv-SE" sz="1280" dirty="0" err="1">
              <a:solidFill>
                <a:srgbClr val="1E1E1E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441962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4897E-BDE4-0298-17DF-3D44932FC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100"/>
              <a:t>Level assembly: busbar side and DC connection</a:t>
            </a:r>
            <a:endParaRPr lang="sv-SE" sz="21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25DBB9-762C-5610-2945-1FD9D9796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4BC2F7-DBDE-1B81-499C-518F47F63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42</a:t>
            </a:fld>
            <a:endParaRPr lang="sv-S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61652B-8BF4-827F-0786-A1840D1FD0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952500"/>
            <a:ext cx="4238625" cy="17293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14F4062-3055-5E52-95D2-B92F793BAB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952500"/>
            <a:ext cx="4238625" cy="18084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CAB3A50-6F03-3BC0-6A72-8F3F64DD57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438" y="3429000"/>
            <a:ext cx="3048000" cy="123825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EC144CB-5C06-02C2-9452-E2FFF9B20617}"/>
              </a:ext>
            </a:extLst>
          </p:cNvPr>
          <p:cNvSpPr txBox="1"/>
          <p:nvPr/>
        </p:nvSpPr>
        <p:spPr>
          <a:xfrm>
            <a:off x="4572000" y="3429000"/>
            <a:ext cx="4238625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sv-SE" sz="1280">
                <a:solidFill>
                  <a:srgbClr val="1E1E1E"/>
                </a:solidFill>
                <a:latin typeface="Arial" panose="020B0604020202020204" pitchFamily="34" charset="0"/>
              </a:rPr>
              <a:t>Right: middle leg on the bus: REDCUBE + M4, nylon standoffs, M6 stack lugs, DNP damping caps, level header</a:t>
            </a:r>
          </a:p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sv-SE" sz="1280">
                <a:solidFill>
                  <a:srgbClr val="1E1E1E"/>
                </a:solidFill>
                <a:latin typeface="Arial" panose="020B0604020202020204" pitchFamily="34" charset="0"/>
              </a:rPr>
              <a:t>Left bottom: side view (z stack): busbar top z = 0, leg bottom 6.5 mm, heatsink top 52.8 mm</a:t>
            </a:r>
            <a:endParaRPr lang="sv-SE" sz="1280" dirty="0" err="1">
              <a:solidFill>
                <a:srgbClr val="1E1E1E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360288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8CDAF-D2AD-FE1E-B714-D2CD31826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100"/>
              <a:t>Mechanics: heatsink length fixed by the leg pitch</a:t>
            </a:r>
            <a:endParaRPr lang="sv-SE" sz="21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2CBAE4-602E-7E3F-16CB-E4B098101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21B353-4F9B-EB14-9203-CA46F66C2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43</a:t>
            </a:fld>
            <a:endParaRPr lang="sv-S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F819E9-900D-F30D-9642-74F1C3C1B3B1}"/>
              </a:ext>
            </a:extLst>
          </p:cNvPr>
          <p:cNvSpPr txBox="1"/>
          <p:nvPr/>
        </p:nvSpPr>
        <p:spPr>
          <a:xfrm>
            <a:off x="238125" y="952500"/>
            <a:ext cx="4953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en-US" sz="1380">
                <a:solidFill>
                  <a:srgbClr val="1E1E1E"/>
                </a:solidFill>
                <a:latin typeface="Arial" panose="020B0604020202020204" pitchFamily="34" charset="0"/>
              </a:rPr>
              <a:t>LAM 4 (100 mm) + fan = 110 mm: wider than the 89.5 mm board ⇒ with 5 mm gaps the heatsinks of neighbouring legs would overlap by ≈ 15 mm</a:t>
            </a:r>
          </a:p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en-US" sz="1380" b="1">
                <a:solidFill>
                  <a:srgbClr val="1E1E1E"/>
                </a:solidFill>
                <a:latin typeface="Arial" panose="020B0604020202020204" pitchFamily="34" charset="0"/>
              </a:rPr>
              <a:t>LAM 4 K 50 12</a:t>
            </a:r>
            <a:r>
              <a:rPr lang="en-US" sz="1380">
                <a:solidFill>
                  <a:srgbClr val="1E1E1E"/>
                </a:solidFill>
                <a:latin typeface="Arial" panose="020B0604020202020204" pitchFamily="34" charset="0"/>
              </a:rPr>
              <a:t> (Farnell 4708974, 0.65 K/W): 50 mm tube + fan centred over the cells (x −35 … 25 mm), inside the board outline</a:t>
            </a:r>
          </a:p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en-US" sz="1380">
                <a:solidFill>
                  <a:srgbClr val="1E1E1E"/>
                </a:solidFill>
                <a:latin typeface="Arial" panose="020B0604020202020204" pitchFamily="34" charset="0"/>
              </a:rPr>
              <a:t>Al spreader 89.5 × 12.8 × 3 mm carries the outer cells (x ±33 mm) to the tube; ≈ 18 W FET loss per leg ⇒ ≈ 12 K heatsink rise</a:t>
            </a:r>
          </a:p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en-US" sz="1380">
                <a:solidFill>
                  <a:srgbClr val="1E1E1E"/>
                </a:solidFill>
                <a:latin typeface="Arial" panose="020B0604020202020204" pitchFamily="34" charset="0"/>
              </a:rPr>
              <a:t>Spreader underside 1.68 mm, top 4.68 mm: clears the 2.8 mm bank and all bypass parts</a:t>
            </a:r>
            <a:endParaRPr lang="sv-SE" sz="1380" dirty="0" err="1">
              <a:solidFill>
                <a:srgbClr val="1E1E1E"/>
              </a:solidFill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F84A0AB-1809-487C-D448-C2449DC6EE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9763" y="952500"/>
            <a:ext cx="2572724" cy="2476500"/>
          </a:xfrm>
          <a:prstGeom prst="rect">
            <a:avLst/>
          </a:prstGeom>
        </p:spPr>
      </p:pic>
      <p:sp>
        <p:nvSpPr>
          <p:cNvPr id="9" name="decision">
            <a:extLst>
              <a:ext uri="{FF2B5EF4-FFF2-40B4-BE49-F238E27FC236}">
                <a16:creationId xmlns:a16="http://schemas.microsoft.com/office/drawing/2014/main" id="{D3DA77CA-9441-E75A-6498-F2CC1832CFBB}"/>
              </a:ext>
            </a:extLst>
          </p:cNvPr>
          <p:cNvSpPr/>
          <p:nvPr/>
        </p:nvSpPr>
        <p:spPr>
          <a:xfrm>
            <a:off x="238125" y="4400550"/>
            <a:ext cx="8667750" cy="381000"/>
          </a:xfrm>
          <a:prstGeom prst="roundRect">
            <a:avLst/>
          </a:prstGeom>
          <a:solidFill>
            <a:srgbClr val="EEF4FB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bIns="25400" rtlCol="0" anchor="ctr">
            <a:noAutofit/>
          </a:bodyPr>
          <a:lstStyle/>
          <a:p>
            <a:r>
              <a:rPr lang="en-US" sz="1380" b="1">
                <a:solidFill>
                  <a:srgbClr val="1E1E1E"/>
                </a:solidFill>
                <a:latin typeface="Arial" panose="020B0604020202020204" pitchFamily="34" charset="0"/>
              </a:rPr>
              <a:t>Decision:</a:t>
            </a:r>
            <a:r>
              <a:rPr lang="en-US" sz="1380">
                <a:solidFill>
                  <a:srgbClr val="1E1E1E"/>
                </a:solidFill>
                <a:latin typeface="Arial" panose="020B0604020202020204" pitchFamily="34" charset="0"/>
              </a:rPr>
              <a:t> Load board heatsink: LAM 4 K 50 12, centred; leg pitch stays 94.5 mm (busbar unchanged)</a:t>
            </a:r>
            <a:endParaRPr lang="sv-SE" sz="1380" dirty="0">
              <a:solidFill>
                <a:srgbClr val="1E1E1E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063892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EE1D5-C3E2-B586-6369-9022AB4A5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100"/>
              <a:t>Full inverter: 16 levels on one 1200 V stack</a:t>
            </a:r>
            <a:endParaRPr lang="sv-SE" sz="21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7A4CDC-79B1-0A80-CA6D-300334EF5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5FDBC8-EC5C-61B6-75BE-DA9D95156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44</a:t>
            </a:fld>
            <a:endParaRPr lang="sv-S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D3FF1E-B29D-16AE-369E-2C824A7667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236" y="952500"/>
            <a:ext cx="1091278" cy="381000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B39174D-475C-B2C3-EFE2-CE466C2F91D8}"/>
              </a:ext>
            </a:extLst>
          </p:cNvPr>
          <p:cNvSpPr txBox="1"/>
          <p:nvPr/>
        </p:nvSpPr>
        <p:spPr>
          <a:xfrm>
            <a:off x="3286125" y="952500"/>
            <a:ext cx="55245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en-US" sz="1380">
                <a:solidFill>
                  <a:srgbClr val="1E1E1E"/>
                </a:solidFill>
                <a:latin typeface="Arial" panose="020B0604020202020204" pitchFamily="34" charset="0"/>
              </a:rPr>
              <a:t>16 identical levels (75 V each) stacked in z, pitch 72 mm ⇒ ≈ 1.15 m</a:t>
            </a:r>
          </a:p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en-US" sz="1380">
                <a:solidFill>
                  <a:srgbClr val="1E1E1E"/>
                </a:solidFill>
                <a:latin typeface="Arial" panose="020B0604020202020204" pitchFamily="34" charset="0"/>
              </a:rPr>
              <a:t>DC+ lug of level k ↔ DC− lug of level k + 1 by a Cu braid (8 × 1.5 mm in the model); stack ends = 1200 V DC+ / DC−</a:t>
            </a:r>
          </a:p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en-US" sz="1380">
                <a:solidFill>
                  <a:srgbClr val="1E1E1E"/>
                </a:solidFill>
                <a:latin typeface="Arial" panose="020B0604020202020204" pitchFamily="34" charset="0"/>
              </a:rPr>
              <a:t>Each level: 3 legs = one three-phase winding set; AC bars + HO 250-S per leg</a:t>
            </a:r>
          </a:p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en-US" sz="1380">
                <a:solidFill>
                  <a:srgbClr val="1E1E1E"/>
                </a:solidFill>
                <a:latin typeface="Arial" panose="020B0604020202020204" pitchFamily="34" charset="0"/>
              </a:rPr>
              <a:t>Every level floats up to 1200 V above the frame: insulating standoffs with 8 mm Cu keep-out on the busbar</a:t>
            </a:r>
          </a:p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en-US" sz="1380">
                <a:solidFill>
                  <a:srgbClr val="1E1E1E"/>
                </a:solidFill>
                <a:latin typeface="Arial" panose="020B0604020202020204" pitchFamily="34" charset="0"/>
              </a:rPr>
              <a:t>Assembly STEP: hardware/assembly/spb-level-assembly.step (1 level), spb-stack-assembly.step (16 levels), scripts/make_assembly_step.py (OpenCascade)</a:t>
            </a:r>
            <a:endParaRPr lang="sv-SE" sz="1380" dirty="0" err="1">
              <a:solidFill>
                <a:srgbClr val="1E1E1E"/>
              </a:solidFill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5195BA-29F3-9E70-A863-703B41207E73}"/>
              </a:ext>
            </a:extLst>
          </p:cNvPr>
          <p:cNvSpPr txBox="1"/>
          <p:nvPr/>
        </p:nvSpPr>
        <p:spPr>
          <a:xfrm>
            <a:off x="228600" y="4597400"/>
            <a:ext cx="7874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730">
                <a:solidFill>
                  <a:srgbClr val="787878"/>
                </a:solidFill>
                <a:latin typeface="Arial" panose="020B0604020202020204" pitchFamily="34" charset="0"/>
              </a:rPr>
              <a:t>Stack direction and frame are illustrative: the machine-side layout (winding terminals) sets the final arrangement.</a:t>
            </a:r>
            <a:endParaRPr lang="sv-SE" sz="730" dirty="0" err="1">
              <a:solidFill>
                <a:srgbClr val="787878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533112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10544-A671-CF43-410E-B661AFF8C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100"/>
              <a:t>Fast Q3D set on the final boards</a:t>
            </a:r>
            <a:endParaRPr lang="sv-SE" sz="21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C90D03-237E-801F-FC84-EBC044574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7D31CB-8893-84BD-042E-D2380C74A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45</a:t>
            </a:fld>
            <a:endParaRPr lang="sv-SE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F0F44D4-F061-ED48-3EFD-61A4B33351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9697121"/>
              </p:ext>
            </p:extLst>
          </p:nvPr>
        </p:nvGraphicFramePr>
        <p:xfrm>
          <a:off x="238125" y="952500"/>
          <a:ext cx="8667750" cy="1466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4268933890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106705598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171713373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1581012597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974466242"/>
                    </a:ext>
                  </a:extLst>
                </a:gridCol>
              </a:tblGrid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Model</a:t>
                      </a:r>
                    </a:p>
                  </a:txBody>
                  <a:tcPr marL="50800" marR="50800" marT="25400" marB="25400">
                    <a:solidFill>
                      <a:srgbClr val="1954A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Region</a:t>
                      </a:r>
                    </a:p>
                  </a:txBody>
                  <a:tcPr marL="50800" marR="50800" marT="25400" marB="25400">
                    <a:solidFill>
                      <a:srgbClr val="1954A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Solve</a:t>
                      </a:r>
                    </a:p>
                  </a:txBody>
                  <a:tcPr marL="50800" marR="50800" marT="25400" marB="25400">
                    <a:solidFill>
                      <a:srgbClr val="1954A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Gives</a:t>
                      </a:r>
                    </a:p>
                  </a:txBody>
                  <a:tcPr marL="50800" marR="50800" marT="25400" marB="25400">
                    <a:solidFill>
                      <a:srgbClr val="1954A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Run time</a:t>
                      </a:r>
                    </a:p>
                  </a:txBody>
                  <a:tcPr marL="50800" marR="50800" marT="25400" marB="25400">
                    <a:solidFill>
                      <a:srgbClr val="1954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4082965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loop (per board)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cell band y −4.6 … 20.6 mm, AC split per cell</a:t>
                      </a:r>
                      <a:endParaRPr lang="sv-SE" sz="1100">
                        <a:solidFill>
                          <a:srgbClr val="1E1E1E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AC 100 MHz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commutation loop per cell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787 / 30 min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8885566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full board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whole board, all terminals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DC R only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current sharing, copper loss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26 / 22 min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7567557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bank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DC terminals + bank + bypass (y −25 … 4.3 mm)</a:t>
                      </a:r>
                      <a:endParaRPr lang="sv-SE" sz="1100">
                        <a:solidFill>
                          <a:srgbClr val="1E1E1E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AC 1 MHz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leg DC-link port, L</a:t>
                      </a:r>
                      <a:r>
                        <a:rPr lang="sv-SE" sz="1100" baseline="-250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b</a:t>
                      </a:r>
                      <a:r>
                        <a:rPr lang="sv-SE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 bypass → bank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6 min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339767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lx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cells + AC columns + AC bus, no bank / terminals</a:t>
                      </a:r>
                      <a:endParaRPr lang="sv-SE" sz="1100">
                        <a:solidFill>
                          <a:srgbClr val="1E1E1E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AC 100 MHz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L</a:t>
                      </a:r>
                      <a:r>
                        <a:rPr lang="en-US" sz="1100" baseline="-250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x</a:t>
                      </a:r>
                      <a:r>
                        <a:rPr lang="en-US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 between the driver pairs</a:t>
                      </a:r>
                      <a:endParaRPr lang="sv-SE" sz="1100">
                        <a:solidFill>
                          <a:srgbClr val="1E1E1E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138 / 113 min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2138071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busbar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PCB busbar, stitching vias every 2nd</a:t>
                      </a:r>
                      <a:endParaRPr lang="sv-SE" sz="1100">
                        <a:solidFill>
                          <a:srgbClr val="1E1E1E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DC + AC 1 MHz, 2 %</a:t>
                      </a:r>
                      <a:endParaRPr lang="sv-SE" sz="1100">
                        <a:solidFill>
                          <a:srgbClr val="1E1E1E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leg-to-leg loop, DC distribution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43 min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4974862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three-phase level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3 × bank model + busbar matrices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network (MNA)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ripple sharing, |Z|, terminal currents</a:t>
                      </a:r>
                      <a:endParaRPr lang="sv-SE" sz="1100">
                        <a:solidFill>
                          <a:srgbClr val="1E1E1E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seconds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89519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F1753EC-A903-8EFC-52A8-B9395A0171D3}"/>
              </a:ext>
            </a:extLst>
          </p:cNvPr>
          <p:cNvSpPr txBox="1"/>
          <p:nvPr/>
        </p:nvSpPr>
        <p:spPr>
          <a:xfrm>
            <a:off x="238125" y="3714750"/>
            <a:ext cx="866775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en-US" sz="1280">
                <a:solidFill>
                  <a:srgbClr val="1E1E1E"/>
                </a:solidFill>
                <a:latin typeface="Arial" panose="020B0604020202020204" pitchFamily="34" charset="0"/>
              </a:rPr>
              <a:t>Instead of one large model (&gt; 3 h, not converged): small models, each solved only for what it is used for; DC is solved for R only (the DC-inductance solve alone ran &gt; 19 h on the first attempt)</a:t>
            </a:r>
          </a:p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en-US" sz="1280">
                <a:solidFill>
                  <a:srgbClr val="1E1E1E"/>
                </a:solidFill>
                <a:latin typeface="Arial" panose="020B0604020202020204" pitchFamily="34" charset="0"/>
              </a:rPr>
              <a:t>Run: simulation/bb_q3d/run_bb_q3d_final.cmd (KTH licence) → final_post.py → reports/slides/data/final_numbers.json</a:t>
            </a:r>
          </a:p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en-US" sz="1280">
                <a:solidFill>
                  <a:srgbClr val="1E1E1E"/>
                </a:solidFill>
                <a:latin typeface="Arial" panose="020B0604020202020204" pitchFamily="34" charset="0"/>
              </a:rPr>
              <a:t>Run times: DPT / load board</a:t>
            </a:r>
            <a:endParaRPr lang="sv-SE" sz="1280" dirty="0" err="1">
              <a:solidFill>
                <a:srgbClr val="1E1E1E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648480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B7639-2D95-A5FE-A54D-C6EC56B6F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100"/>
              <a:t>Q3D: commutation loop per cell, final boards</a:t>
            </a:r>
            <a:endParaRPr lang="sv-SE" sz="21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7FB607-2FEB-2C21-91DC-731A2B397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014230-BD45-DBA7-7291-22821B97D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46</a:t>
            </a:fld>
            <a:endParaRPr lang="sv-S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70E3343-C653-3BEF-8486-B62D6D3AB7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987" y="952500"/>
            <a:ext cx="5135777" cy="2714625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1E2A412-BB2B-56E3-51F7-1ED484E60B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4357481"/>
              </p:ext>
            </p:extLst>
          </p:nvPr>
        </p:nvGraphicFramePr>
        <p:xfrm>
          <a:off x="5524501" y="952500"/>
          <a:ext cx="3286125" cy="1047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5875">
                  <a:extLst>
                    <a:ext uri="{9D8B030D-6E8A-4147-A177-3AD203B41FA5}">
                      <a16:colId xmlns:a16="http://schemas.microsoft.com/office/drawing/2014/main" val="475586375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1806254300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1084182520"/>
                    </a:ext>
                  </a:extLst>
                </a:gridCol>
              </a:tblGrid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19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Loop per cell (nH)</a:t>
                      </a:r>
                    </a:p>
                  </a:txBody>
                  <a:tcPr marL="50800" marR="50800" marT="25400" marB="25400">
                    <a:solidFill>
                      <a:srgbClr val="1954A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DPT</a:t>
                      </a:r>
                    </a:p>
                  </a:txBody>
                  <a:tcPr marL="50800" marR="50800" marT="25400" marB="25400">
                    <a:solidFill>
                      <a:srgbClr val="1954A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load test</a:t>
                      </a:r>
                    </a:p>
                  </a:txBody>
                  <a:tcPr marL="50800" marR="50800" marT="25400" marB="25400">
                    <a:solidFill>
                      <a:srgbClr val="1954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4070513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cell 1 / 2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0.652 / 0.652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0.408 / 0.408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7089124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cell 3 / 4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0.647 / 0.653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0.406 / 0.412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4450109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190" b="1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mean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 b="1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0.65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 b="1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0.41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0867850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v̂</a:t>
                      </a:r>
                      <a:r>
                        <a:rPr lang="sv-SE" sz="1190" baseline="-250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DS</a:t>
                      </a:r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 at 30 A/ns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 b="1">
                          <a:solidFill>
                            <a:srgbClr val="C84632"/>
                          </a:solidFill>
                          <a:latin typeface="Arial" panose="020B0604020202020204" pitchFamily="34" charset="0"/>
                        </a:rPr>
                        <a:t>94 V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87 V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739972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A795229-6FEA-F8ED-3B57-3F8B6ADCF2F7}"/>
              </a:ext>
            </a:extLst>
          </p:cNvPr>
          <p:cNvSpPr txBox="1"/>
          <p:nvPr/>
        </p:nvSpPr>
        <p:spPr>
          <a:xfrm>
            <a:off x="5524500" y="2667000"/>
            <a:ext cx="3286125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en-US" sz="1280">
                <a:solidFill>
                  <a:srgbClr val="1E1E1E"/>
                </a:solidFill>
                <a:latin typeface="Arial" panose="020B0604020202020204" pitchFamily="34" charset="0"/>
              </a:rPr>
              <a:t>All four LS switching together; HS shorted, bypass as its ESL, UFCS 120 pH</a:t>
            </a:r>
          </a:p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en-US" sz="1280">
                <a:solidFill>
                  <a:srgbClr val="1E1E1E"/>
                </a:solidFill>
                <a:latin typeface="Arial" panose="020B0604020202020204" pitchFamily="34" charset="0"/>
              </a:rPr>
              <a:t>Cells within 1 % (DPT) and 2 % (load): left/right symmetric by layout (power vias pruned in mirror pairs)</a:t>
            </a:r>
          </a:p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en-US" sz="1280">
                <a:solidFill>
                  <a:srgbClr val="1E1E1E"/>
                </a:solidFill>
                <a:latin typeface="Arial" panose="020B0604020202020204" pitchFamily="34" charset="0"/>
              </a:rPr>
              <a:t>DPT ≤ 90 V: turn-on ≤ </a:t>
            </a:r>
            <a:r>
              <a:rPr lang="en-US" sz="1280" b="1">
                <a:solidFill>
                  <a:srgbClr val="1E1E1E"/>
                </a:solidFill>
                <a:latin typeface="Arial" panose="020B0604020202020204" pitchFamily="34" charset="0"/>
              </a:rPr>
              <a:t>23 A/ns</a:t>
            </a:r>
            <a:endParaRPr lang="sv-SE" sz="1280" b="1" dirty="0" err="1">
              <a:solidFill>
                <a:srgbClr val="1E1E1E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387417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33DD7-936F-B7F6-221F-DA4F6F0BB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/>
              <a:t>Q3D: coupling between the cells and the gate loops (DPT board)</a:t>
            </a:r>
            <a:endParaRPr lang="sv-SE" sz="18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EFD6F9-7F62-1ABC-570E-735FCAD29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0AC8B1-47CA-D544-06D0-74C6F46E0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47</a:t>
            </a:fld>
            <a:endParaRPr lang="sv-SE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AA02EDA-6A51-E6B0-801F-A3E31D1E04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5557691"/>
              </p:ext>
            </p:extLst>
          </p:nvPr>
        </p:nvGraphicFramePr>
        <p:xfrm>
          <a:off x="238125" y="952500"/>
          <a:ext cx="3810000" cy="838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9625">
                  <a:extLst>
                    <a:ext uri="{9D8B030D-6E8A-4147-A177-3AD203B41FA5}">
                      <a16:colId xmlns:a16="http://schemas.microsoft.com/office/drawing/2014/main" val="3028692810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708926793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433011265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1769965610"/>
                    </a:ext>
                  </a:extLst>
                </a:gridCol>
              </a:tblGrid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M (pH), k</a:t>
                      </a:r>
                    </a:p>
                  </a:txBody>
                  <a:tcPr marL="50800" marR="50800" marT="25400" marB="25400">
                    <a:solidFill>
                      <a:srgbClr val="1954A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cell 2</a:t>
                      </a:r>
                    </a:p>
                  </a:txBody>
                  <a:tcPr marL="50800" marR="50800" marT="25400" marB="25400">
                    <a:solidFill>
                      <a:srgbClr val="1954A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cell 3</a:t>
                      </a:r>
                    </a:p>
                  </a:txBody>
                  <a:tcPr marL="50800" marR="50800" marT="25400" marB="25400">
                    <a:solidFill>
                      <a:srgbClr val="1954A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cell 4</a:t>
                      </a:r>
                    </a:p>
                  </a:txBody>
                  <a:tcPr marL="50800" marR="50800" marT="25400" marB="25400">
                    <a:solidFill>
                      <a:srgbClr val="1954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2711814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cell 1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7, 0.011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1, 0.002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0, 0.001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8950669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cell 2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sv-SE" sz="1100">
                        <a:solidFill>
                          <a:srgbClr val="1E1E1E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21, 0.034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1, 0.002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8893067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cell 3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sv-SE" sz="1100">
                        <a:solidFill>
                          <a:srgbClr val="1E1E1E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sv-SE" sz="1100">
                        <a:solidFill>
                          <a:srgbClr val="1E1E1E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7, 0.011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2151113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22189C1-591A-75AF-C956-C5DC6DE17E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7016306"/>
              </p:ext>
            </p:extLst>
          </p:nvPr>
        </p:nvGraphicFramePr>
        <p:xfrm>
          <a:off x="238125" y="2381250"/>
          <a:ext cx="3810000" cy="1047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9250">
                  <a:extLst>
                    <a:ext uri="{9D8B030D-6E8A-4147-A177-3AD203B41FA5}">
                      <a16:colId xmlns:a16="http://schemas.microsoft.com/office/drawing/2014/main" val="4004257895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3745461221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186507119"/>
                    </a:ext>
                  </a:extLst>
                </a:gridCol>
              </a:tblGrid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Gate loop (nH, copper)</a:t>
                      </a:r>
                    </a:p>
                  </a:txBody>
                  <a:tcPr marL="50800" marR="50800" marT="25400" marB="25400">
                    <a:solidFill>
                      <a:srgbClr val="1954A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HS Q1 / Q2</a:t>
                      </a:r>
                    </a:p>
                  </a:txBody>
                  <a:tcPr marL="50800" marR="50800" marT="25400" marB="25400">
                    <a:solidFill>
                      <a:srgbClr val="1954A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LS Q3 / Q4</a:t>
                      </a:r>
                    </a:p>
                  </a:txBody>
                  <a:tcPr marL="50800" marR="50800" marT="25400" marB="25400">
                    <a:solidFill>
                      <a:srgbClr val="1954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3617039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one device driven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12.53 / 12.56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7.61 / 7.62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661769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pair driven (operation)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20.6 / 20.6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12.3 / 12.3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628232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branch / shared star-driver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4.5 / 8.0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2.9 / 4.7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2544065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gate-power coupling, both cells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max 9 pH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max 0.26 V at 30 A/ns</a:t>
                      </a:r>
                      <a:endParaRPr lang="sv-SE" sz="1100">
                        <a:solidFill>
                          <a:srgbClr val="1E1E1E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666074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1D620360-7F47-2ACC-A960-88BDF966AA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6125" y="952500"/>
            <a:ext cx="3937000" cy="29527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DBA2710-8F6E-BB19-0675-3BB3B10A1335}"/>
              </a:ext>
            </a:extLst>
          </p:cNvPr>
          <p:cNvSpPr txBox="1"/>
          <p:nvPr/>
        </p:nvSpPr>
        <p:spPr>
          <a:xfrm>
            <a:off x="238125" y="3905250"/>
            <a:ext cx="866775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en-US" sz="1190">
                <a:solidFill>
                  <a:srgbClr val="1E1E1E"/>
                </a:solidFill>
                <a:latin typeface="Arial" panose="020B0604020202020204" pitchFamily="34" charset="0"/>
              </a:rPr>
              <a:t>Cells: at most 21 pH between neighbours (k ≤ 0.034) ⇒ each cell commutates through its own loop</a:t>
            </a:r>
          </a:p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en-US" sz="1190">
                <a:solidFill>
                  <a:srgbClr val="1E1E1E"/>
                </a:solidFill>
                <a:latin typeface="Arial" panose="020B0604020202020204" pitchFamily="34" charset="0"/>
              </a:rPr>
              <a:t>Gate: Kelvin return on the adjacent layer from every gate pad to the driver caps; Q1 = Q2, Q3 = Q4 within 0.3 %, block 2 an identical copy ⇒ all four paralleled devices equal; but ≈ 10× the 1.7 nH design value (driver behind the barrier)</a:t>
            </a:r>
            <a:endParaRPr lang="sv-SE" sz="1190" dirty="0" err="1">
              <a:solidFill>
                <a:srgbClr val="1E1E1E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258062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AA1EC-A8AC-5B49-3BD2-56E9B3744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/>
              <a:t>Gate drive from the extracted gate network (SPICE, DPT board, 75 V, 322 A)</a:t>
            </a:r>
            <a:endParaRPr lang="sv-SE" sz="18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C278F5-1B9A-7880-D010-81FDE5378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3CC753-CEC0-E717-AD35-A6C0C1B36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48</a:t>
            </a:fld>
            <a:endParaRPr lang="sv-SE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617725A-801E-42E4-EB51-0272D1BD83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9154241"/>
              </p:ext>
            </p:extLst>
          </p:nvPr>
        </p:nvGraphicFramePr>
        <p:xfrm>
          <a:off x="238125" y="952500"/>
          <a:ext cx="8667750" cy="838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1250">
                  <a:extLst>
                    <a:ext uri="{9D8B030D-6E8A-4147-A177-3AD203B41FA5}">
                      <a16:colId xmlns:a16="http://schemas.microsoft.com/office/drawing/2014/main" val="117870758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871154671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23488313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61235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644332295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318992198"/>
                    </a:ext>
                  </a:extLst>
                </a:gridCol>
                <a:gridCol w="1666875">
                  <a:extLst>
                    <a:ext uri="{9D8B030D-6E8A-4147-A177-3AD203B41FA5}">
                      <a16:colId xmlns:a16="http://schemas.microsoft.com/office/drawing/2014/main" val="1657225727"/>
                    </a:ext>
                  </a:extLst>
                </a:gridCol>
              </a:tblGrid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Case</a:t>
                      </a:r>
                    </a:p>
                  </a:txBody>
                  <a:tcPr marL="50800" marR="50800" marT="25400" marB="25400">
                    <a:solidFill>
                      <a:srgbClr val="1954A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R</a:t>
                      </a:r>
                      <a:r>
                        <a:rPr lang="sv-SE" sz="1100" b="1" baseline="-2500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g,on</a:t>
                      </a:r>
                    </a:p>
                  </a:txBody>
                  <a:tcPr marL="50800" marR="50800" marT="25400" marB="25400">
                    <a:solidFill>
                      <a:srgbClr val="1954A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off</a:t>
                      </a:r>
                    </a:p>
                  </a:txBody>
                  <a:tcPr marL="50800" marR="50800" marT="25400" marB="25400">
                    <a:solidFill>
                      <a:srgbClr val="1954A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v̂</a:t>
                      </a:r>
                      <a:r>
                        <a:rPr lang="sv-SE" sz="1100" b="1" baseline="-2500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DS</a:t>
                      </a:r>
                      <a:r>
                        <a:rPr lang="sv-SE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 HS</a:t>
                      </a:r>
                    </a:p>
                  </a:txBody>
                  <a:tcPr marL="50800" marR="50800" marT="25400" marB="25400">
                    <a:solidFill>
                      <a:srgbClr val="1954A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E</a:t>
                      </a:r>
                      <a:r>
                        <a:rPr lang="sv-SE" sz="1100" b="1" baseline="-2500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on</a:t>
                      </a:r>
                      <a:r>
                        <a:rPr lang="sv-SE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 / E</a:t>
                      </a:r>
                      <a:r>
                        <a:rPr lang="sv-SE" sz="1100" b="1" baseline="-2500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off</a:t>
                      </a:r>
                      <a:r>
                        <a:rPr lang="sv-SE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 (4 cells)</a:t>
                      </a:r>
                    </a:p>
                  </a:txBody>
                  <a:tcPr marL="50800" marR="50800" marT="25400" marB="25400">
                    <a:solidFill>
                      <a:srgbClr val="1954A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di/dt on</a:t>
                      </a:r>
                    </a:p>
                  </a:txBody>
                  <a:tcPr marL="50800" marR="50800" marT="25400" marB="25400">
                    <a:solidFill>
                      <a:srgbClr val="1954A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bump, held-off gate</a:t>
                      </a:r>
                    </a:p>
                  </a:txBody>
                  <a:tcPr marL="50800" marR="50800" marT="25400" marB="25400">
                    <a:solidFill>
                      <a:srgbClr val="1954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5194325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lumped 1.7 nH gate, R</a:t>
                      </a:r>
                      <a:r>
                        <a:rPr lang="en-US" sz="1100" baseline="-250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ON</a:t>
                      </a:r>
                      <a:r>
                        <a:rPr lang="en-US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 1.5 Ω</a:t>
                      </a:r>
                      <a:endParaRPr lang="sv-SE" sz="1100">
                        <a:solidFill>
                          <a:srgbClr val="1E1E1E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l-GR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3.5 Ω</a:t>
                      </a:r>
                      <a:endParaRPr lang="sv-SE" sz="1100">
                        <a:solidFill>
                          <a:srgbClr val="1E1E1E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−1.9 V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89.8 V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136 / 17 µJ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31 A/ns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-1.04 … -1.00 V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9506384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extracted, R</a:t>
                      </a:r>
                      <a:r>
                        <a:rPr lang="sv-SE" sz="1100" baseline="-250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ON</a:t>
                      </a:r>
                      <a:r>
                        <a:rPr lang="sv-SE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 1.0 </a:t>
                      </a:r>
                      <a:r>
                        <a:rPr lang="el-GR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Ω</a:t>
                      </a:r>
                      <a:endParaRPr lang="sv-SE" sz="1100">
                        <a:solidFill>
                          <a:srgbClr val="1E1E1E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l-GR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2.5 Ω</a:t>
                      </a:r>
                      <a:endParaRPr lang="sv-SE" sz="1100">
                        <a:solidFill>
                          <a:srgbClr val="1E1E1E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−1.9 V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105.3 V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97 / 20 µJ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49 A/ns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-0.72 … -0.46 V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9251969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extracted, RON 1.5 Ω (board)</a:t>
                      </a:r>
                      <a:endParaRPr lang="sv-SE" sz="1100" b="1">
                        <a:solidFill>
                          <a:srgbClr val="1E1E1E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l-GR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3.5 Ω</a:t>
                      </a:r>
                      <a:endParaRPr lang="sv-SE" sz="1100">
                        <a:solidFill>
                          <a:srgbClr val="1E1E1E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−1.9 V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92.9 V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125 / 20 µJ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36 A/ns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-0.76 … -0.50 V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30095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CBCB2A4-732D-C1CD-B6DC-993AD53516D8}"/>
              </a:ext>
            </a:extLst>
          </p:cNvPr>
          <p:cNvSpPr txBox="1"/>
          <p:nvPr/>
        </p:nvSpPr>
        <p:spPr>
          <a:xfrm>
            <a:off x="238125" y="2428875"/>
            <a:ext cx="866775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en-US" sz="1280">
                <a:solidFill>
                  <a:srgbClr val="1E1E1E"/>
                </a:solidFill>
                <a:latin typeface="Arial" panose="020B0604020202020204" pitchFamily="34" charset="0"/>
              </a:rPr>
              <a:t>Extracted gate network: Q3D copper + 0.4 nH per 0603 resistor body + 1 nH D</a:t>
            </a:r>
            <a:r>
              <a:rPr lang="en-US" sz="1280" baseline="-25000">
                <a:solidFill>
                  <a:srgbClr val="1E1E1E"/>
                </a:solidFill>
                <a:latin typeface="Arial" panose="020B0604020202020204" pitchFamily="34" charset="0"/>
              </a:rPr>
              <a:t>OFF</a:t>
            </a:r>
            <a:r>
              <a:rPr lang="en-US" sz="1280">
                <a:solidFill>
                  <a:srgbClr val="1E1E1E"/>
                </a:solidFill>
                <a:latin typeface="Arial" panose="020B0604020202020204" pitchFamily="34" charset="0"/>
              </a:rPr>
              <a:t>; UFCS 120 pH as its own inductor</a:t>
            </a:r>
          </a:p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en-US" sz="1280">
                <a:solidFill>
                  <a:srgbClr val="1E1E1E"/>
                </a:solidFill>
                <a:latin typeface="Arial" panose="020B0604020202020204" pitchFamily="34" charset="0"/>
              </a:rPr>
              <a:t>The larger gate loop </a:t>
            </a:r>
            <a:r>
              <a:rPr lang="en-US" sz="1280" b="1">
                <a:solidFill>
                  <a:srgbClr val="1E1E1E"/>
                </a:solidFill>
                <a:latin typeface="Arial" panose="020B0604020202020204" pitchFamily="34" charset="0"/>
              </a:rPr>
              <a:t>speeds up</a:t>
            </a:r>
            <a:r>
              <a:rPr lang="en-US" sz="1280">
                <a:solidFill>
                  <a:srgbClr val="1E1E1E"/>
                </a:solidFill>
                <a:latin typeface="Arial" panose="020B0604020202020204" pitchFamily="34" charset="0"/>
              </a:rPr>
              <a:t> the turn-on ⇒ HS overshoot ≈ 75 V + 0.65 nH × di/dt: R</a:t>
            </a:r>
            <a:r>
              <a:rPr lang="en-US" sz="1280" baseline="-25000">
                <a:solidFill>
                  <a:srgbClr val="1E1E1E"/>
                </a:solidFill>
                <a:latin typeface="Arial" panose="020B0604020202020204" pitchFamily="34" charset="0"/>
              </a:rPr>
              <a:t>ON</a:t>
            </a:r>
            <a:r>
              <a:rPr lang="en-US" sz="1280">
                <a:solidFill>
                  <a:srgbClr val="1E1E1E"/>
                </a:solidFill>
                <a:latin typeface="Arial" panose="020B0604020202020204" pitchFamily="34" charset="0"/>
              </a:rPr>
              <a:t> 1.0 Ω gives 105 V</a:t>
            </a:r>
          </a:p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en-US" sz="1280">
                <a:solidFill>
                  <a:srgbClr val="1E1E1E"/>
                </a:solidFill>
                <a:latin typeface="Arial" panose="020B0604020202020204" pitchFamily="34" charset="0"/>
              </a:rPr>
              <a:t>−1.9 V off: bump of the held-off gate ≤ −0.5 V (≥ 1.3 V below V</a:t>
            </a:r>
            <a:r>
              <a:rPr lang="en-US" sz="1280" baseline="-25000">
                <a:solidFill>
                  <a:srgbClr val="1E1E1E"/>
                </a:solidFill>
                <a:latin typeface="Arial" panose="020B0604020202020204" pitchFamily="34" charset="0"/>
              </a:rPr>
              <a:t>th,min</a:t>
            </a:r>
            <a:r>
              <a:rPr lang="en-US" sz="1280">
                <a:solidFill>
                  <a:srgbClr val="1E1E1E"/>
                </a:solidFill>
                <a:latin typeface="Arial" panose="020B0604020202020204" pitchFamily="34" charset="0"/>
              </a:rPr>
              <a:t> 0.8 V); with 0 V off it was +1.2 … +1.4 V</a:t>
            </a:r>
          </a:p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en-US" sz="1280">
                <a:solidFill>
                  <a:srgbClr val="1E1E1E"/>
                </a:solidFill>
                <a:latin typeface="Arial" panose="020B0604020202020204" pitchFamily="34" charset="0"/>
              </a:rPr>
              <a:t>Off-state ringing ≈ −3.4 V against the −4 V limit (EPC2361) ⇒ no larger negative bias</a:t>
            </a:r>
          </a:p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en-US" sz="1280">
                <a:solidFill>
                  <a:srgbClr val="1E1E1E"/>
                </a:solidFill>
                <a:latin typeface="Arial" panose="020B0604020202020204" pitchFamily="34" charset="0"/>
              </a:rPr>
              <a:t>Turn-on of the four cells within 0.2 %; turn-off current inner vs outer cells ±1.5 % (power side)</a:t>
            </a:r>
            <a:endParaRPr lang="sv-SE" sz="1280" dirty="0" err="1">
              <a:solidFill>
                <a:srgbClr val="1E1E1E"/>
              </a:solidFill>
              <a:latin typeface="Arial" panose="020B0604020202020204" pitchFamily="34" charset="0"/>
            </a:endParaRPr>
          </a:p>
        </p:txBody>
      </p:sp>
      <p:sp>
        <p:nvSpPr>
          <p:cNvPr id="8" name="decision">
            <a:extLst>
              <a:ext uri="{FF2B5EF4-FFF2-40B4-BE49-F238E27FC236}">
                <a16:creationId xmlns:a16="http://schemas.microsoft.com/office/drawing/2014/main" id="{0B3A7030-4C00-BEE4-621D-84A3C61229BE}"/>
              </a:ext>
            </a:extLst>
          </p:cNvPr>
          <p:cNvSpPr/>
          <p:nvPr/>
        </p:nvSpPr>
        <p:spPr>
          <a:xfrm>
            <a:off x="238125" y="4400550"/>
            <a:ext cx="8667750" cy="381000"/>
          </a:xfrm>
          <a:prstGeom prst="roundRect">
            <a:avLst/>
          </a:prstGeom>
          <a:solidFill>
            <a:srgbClr val="EEF4FB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bIns="25400" rtlCol="0" anchor="ctr">
            <a:noAutofit/>
          </a:bodyPr>
          <a:lstStyle/>
          <a:p>
            <a:r>
              <a:rPr lang="en-US" sz="1380" b="1">
                <a:solidFill>
                  <a:srgbClr val="1E1E1E"/>
                </a:solidFill>
                <a:latin typeface="Arial" panose="020B0604020202020204" pitchFamily="34" charset="0"/>
              </a:rPr>
              <a:t>Decision:</a:t>
            </a:r>
            <a:r>
              <a:rPr lang="en-US" sz="1380">
                <a:solidFill>
                  <a:srgbClr val="1E1E1E"/>
                </a:solidFill>
                <a:latin typeface="Arial" panose="020B0604020202020204" pitchFamily="34" charset="0"/>
              </a:rPr>
              <a:t> DPT: R</a:t>
            </a:r>
            <a:r>
              <a:rPr lang="en-US" sz="1380" baseline="-25000">
                <a:solidFill>
                  <a:srgbClr val="1E1E1E"/>
                </a:solidFill>
                <a:latin typeface="Arial" panose="020B0604020202020204" pitchFamily="34" charset="0"/>
              </a:rPr>
              <a:t>ON</a:t>
            </a:r>
            <a:r>
              <a:rPr lang="en-US" sz="1380">
                <a:solidFill>
                  <a:srgbClr val="1E1E1E"/>
                </a:solidFill>
                <a:latin typeface="Arial" panose="020B0604020202020204" pitchFamily="34" charset="0"/>
              </a:rPr>
              <a:t> 1.5 Ω (R</a:t>
            </a:r>
            <a:r>
              <a:rPr lang="en-US" sz="1380" baseline="-25000">
                <a:solidFill>
                  <a:srgbClr val="1E1E1E"/>
                </a:solidFill>
                <a:latin typeface="Arial" panose="020B0604020202020204" pitchFamily="34" charset="0"/>
              </a:rPr>
              <a:t>g,on</a:t>
            </a:r>
            <a:r>
              <a:rPr lang="en-US" sz="1380">
                <a:solidFill>
                  <a:srgbClr val="1E1E1E"/>
                </a:solidFill>
                <a:latin typeface="Arial" panose="020B0604020202020204" pitchFamily="34" charset="0"/>
              </a:rPr>
              <a:t> 3.5 Ω), V</a:t>
            </a:r>
            <a:r>
              <a:rPr lang="en-US" sz="1380" baseline="-25000">
                <a:solidFill>
                  <a:srgbClr val="1E1E1E"/>
                </a:solidFill>
                <a:latin typeface="Arial" panose="020B0604020202020204" pitchFamily="34" charset="0"/>
              </a:rPr>
              <a:t>ISO</a:t>
            </a:r>
            <a:r>
              <a:rPr lang="en-US" sz="1380">
                <a:solidFill>
                  <a:srgbClr val="1E1E1E"/>
                </a:solidFill>
                <a:latin typeface="Arial" panose="020B0604020202020204" pitchFamily="34" charset="0"/>
              </a:rPr>
              <a:t> 7 V (−1.9 / +5.1 V); next revision: driver stage next to each pair</a:t>
            </a:r>
            <a:endParaRPr lang="sv-SE" sz="1380" dirty="0">
              <a:solidFill>
                <a:srgbClr val="1E1E1E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947132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5C725-38D5-0D48-354F-81469A2C8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100"/>
              <a:t>Q3D model of the cell band (fast loop model)</a:t>
            </a:r>
            <a:endParaRPr lang="sv-SE" sz="21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EBD0F7-7A75-34F6-68BD-BF92A84C9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230DC4-B3AF-8C9E-EE77-B05DFA504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49</a:t>
            </a:fld>
            <a:endParaRPr lang="sv-S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672ED0-E87E-D0FF-2178-EF17EC9F19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952500"/>
            <a:ext cx="4286250" cy="26789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4105902-AABB-932A-EF0C-8BF738DA45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9625" y="952500"/>
            <a:ext cx="4286250" cy="267890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89728E2-0FAB-594B-2F3C-D075E542872E}"/>
              </a:ext>
            </a:extLst>
          </p:cNvPr>
          <p:cNvSpPr txBox="1"/>
          <p:nvPr/>
        </p:nvSpPr>
        <p:spPr>
          <a:xfrm>
            <a:off x="238125" y="3810000"/>
            <a:ext cx="4286250" cy="307777"/>
          </a:xfrm>
          <a:prstGeom prst="rect">
            <a:avLst/>
          </a:prstGeom>
          <a:noFill/>
        </p:spPr>
        <p:txBody>
          <a:bodyPr vert="horz" wrap="square" lIns="25400" tIns="0" rIns="0" bIns="0" rtlCol="0">
            <a:noAutofit/>
          </a:bodyPr>
          <a:lstStyle/>
          <a:p>
            <a:pPr algn="ctr"/>
            <a:r>
              <a:rPr lang="en-US" sz="1190">
                <a:solidFill>
                  <a:srgbClr val="787878"/>
                </a:solidFill>
                <a:latin typeface="Arial" panose="020B0604020202020204" pitchFamily="34" charset="0"/>
              </a:rPr>
              <a:t>DPT board: LS source (green) to the UFCS land</a:t>
            </a:r>
            <a:endParaRPr lang="sv-SE" sz="1190" dirty="0" err="1">
              <a:solidFill>
                <a:srgbClr val="787878"/>
              </a:solidFill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60973A-1006-2973-CD56-F94D0644AB69}"/>
              </a:ext>
            </a:extLst>
          </p:cNvPr>
          <p:cNvSpPr txBox="1"/>
          <p:nvPr/>
        </p:nvSpPr>
        <p:spPr>
          <a:xfrm>
            <a:off x="4619625" y="3810000"/>
            <a:ext cx="4286250" cy="307777"/>
          </a:xfrm>
          <a:prstGeom prst="rect">
            <a:avLst/>
          </a:prstGeom>
          <a:noFill/>
        </p:spPr>
        <p:txBody>
          <a:bodyPr vert="horz" wrap="square" lIns="25400" tIns="0" rIns="0" bIns="0" rtlCol="0">
            <a:noAutofit/>
          </a:bodyPr>
          <a:lstStyle/>
          <a:p>
            <a:pPr algn="ctr"/>
            <a:r>
              <a:rPr lang="en-US" sz="1190">
                <a:solidFill>
                  <a:srgbClr val="787878"/>
                </a:solidFill>
                <a:latin typeface="Arial" panose="020B0604020202020204" pitchFamily="34" charset="0"/>
              </a:rPr>
              <a:t>load-test board: LS source straight to DC−</a:t>
            </a:r>
            <a:endParaRPr lang="sv-SE" sz="1190" dirty="0" err="1">
              <a:solidFill>
                <a:srgbClr val="787878"/>
              </a:solidFill>
              <a:latin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F511231-7C46-5E23-9AB1-6865434CBD12}"/>
              </a:ext>
            </a:extLst>
          </p:cNvPr>
          <p:cNvSpPr txBox="1"/>
          <p:nvPr/>
        </p:nvSpPr>
        <p:spPr>
          <a:xfrm>
            <a:off x="238125" y="4095750"/>
            <a:ext cx="866775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en-US" sz="1280">
                <a:solidFill>
                  <a:srgbClr val="1E1E1E"/>
                </a:solidFill>
                <a:latin typeface="Arial" panose="020B0604020202020204" pitchFamily="34" charset="0"/>
              </a:rPr>
              <a:t>Geometry exported from the routed KiCad boards (revb_export.py): copper per net and layer with clearance holes, vias with their layer span (blind L1–L2 on the load board), FET and bypass terminal pads; z stretched 4×</a:t>
            </a:r>
            <a:endParaRPr lang="sv-SE" sz="1280" dirty="0" err="1">
              <a:solidFill>
                <a:srgbClr val="1E1E1E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803022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01167-407A-C8E8-534A-75D7F9669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100"/>
              <a:t>Q3D: static current sharing and copper loss</a:t>
            </a:r>
            <a:endParaRPr lang="sv-SE" sz="21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367F80-65C5-6064-BBF5-88B784603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F89C9D-BC78-A287-EA08-91AA8DA92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50</a:t>
            </a:fld>
            <a:endParaRPr lang="sv-SE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3F95AB9-BCB4-E3EE-3D66-1AE99FF62A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3817392"/>
              </p:ext>
            </p:extLst>
          </p:nvPr>
        </p:nvGraphicFramePr>
        <p:xfrm>
          <a:off x="238125" y="952500"/>
          <a:ext cx="8667750" cy="1047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6500">
                  <a:extLst>
                    <a:ext uri="{9D8B030D-6E8A-4147-A177-3AD203B41FA5}">
                      <a16:colId xmlns:a16="http://schemas.microsoft.com/office/drawing/2014/main" val="675365200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853901228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583982651"/>
                    </a:ext>
                  </a:extLst>
                </a:gridCol>
                <a:gridCol w="2762250">
                  <a:extLst>
                    <a:ext uri="{9D8B030D-6E8A-4147-A177-3AD203B41FA5}">
                      <a16:colId xmlns:a16="http://schemas.microsoft.com/office/drawing/2014/main" val="692367377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510217114"/>
                    </a:ext>
                  </a:extLst>
                </a:gridCol>
              </a:tblGrid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19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Board, path (DC)</a:t>
                      </a:r>
                    </a:p>
                  </a:txBody>
                  <a:tcPr marL="50800" marR="50800" marT="25400" marB="25400">
                    <a:solidFill>
                      <a:srgbClr val="1954A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R total (m</a:t>
                      </a:r>
                      <a:r>
                        <a:rPr lang="el-GR" sz="119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Ω)</a:t>
                      </a:r>
                      <a:endParaRPr lang="sv-SE" sz="119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1954A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R copper (m</a:t>
                      </a:r>
                      <a:r>
                        <a:rPr lang="el-GR" sz="119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Ω)</a:t>
                      </a:r>
                      <a:endParaRPr lang="sv-SE" sz="119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1954A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9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share cell 1 / 2 / 3 / 4</a:t>
                      </a:r>
                      <a:endParaRPr lang="sv-SE" sz="119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1954A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max/min</a:t>
                      </a:r>
                    </a:p>
                  </a:txBody>
                  <a:tcPr marL="50800" marR="50800" marT="25400" marB="25400">
                    <a:solidFill>
                      <a:srgbClr val="1954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0995236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DPT: DC+ → HS FETs → AC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–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–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–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–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9401466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DPT: AC → LS FETs → shunts → DC−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–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–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–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–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4725833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en-US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load: DC+ → HS FETs → AC</a:t>
                      </a:r>
                      <a:endParaRPr lang="sv-SE" sz="1190">
                        <a:solidFill>
                          <a:srgbClr val="1E1E1E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–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–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–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–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8099146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en-US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load: AC → LS FETs → DC−</a:t>
                      </a:r>
                      <a:endParaRPr lang="sv-SE" sz="1190">
                        <a:solidFill>
                          <a:srgbClr val="1E1E1E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–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–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–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–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426535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5292E6F-9CB9-0FDB-F19D-8F283E656532}"/>
              </a:ext>
            </a:extLst>
          </p:cNvPr>
          <p:cNvSpPr txBox="1"/>
          <p:nvPr/>
        </p:nvSpPr>
        <p:spPr>
          <a:xfrm>
            <a:off x="238125" y="2524125"/>
            <a:ext cx="866775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en-US" sz="1380" b="1">
                <a:solidFill>
                  <a:srgbClr val="1E1E1E"/>
                </a:solidFill>
                <a:latin typeface="Arial" panose="020B0604020202020204" pitchFamily="34" charset="0"/>
              </a:rPr>
              <a:t>Static sharing</a:t>
            </a:r>
            <a:r>
              <a:rPr lang="en-US" sz="1380">
                <a:solidFill>
                  <a:srgbClr val="1E1E1E"/>
                </a:solidFill>
                <a:latin typeface="Arial" panose="020B0604020202020204" pitchFamily="34" charset="0"/>
              </a:rPr>
              <a:t> = how the conduction (DC) current splits between the four parallel cells: set by each cell's copper path (DC terminals → cell → AC pad) plus R</a:t>
            </a:r>
            <a:r>
              <a:rPr lang="en-US" sz="1380" baseline="-25000">
                <a:solidFill>
                  <a:srgbClr val="1E1E1E"/>
                </a:solidFill>
                <a:latin typeface="Arial" panose="020B0604020202020204" pitchFamily="34" charset="0"/>
              </a:rPr>
              <a:t>DS(on)</a:t>
            </a:r>
            <a:r>
              <a:rPr lang="en-US" sz="1380">
                <a:solidFill>
                  <a:srgbClr val="1E1E1E"/>
                </a:solidFill>
                <a:latin typeface="Arial" panose="020B0604020202020204" pitchFamily="34" charset="0"/>
              </a:rPr>
              <a:t>; dynamic sharing during the edges is set by the gate loops (step 7)</a:t>
            </a:r>
          </a:p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en-US" sz="1380">
                <a:solidFill>
                  <a:srgbClr val="1E1E1E"/>
                </a:solidFill>
                <a:latin typeface="Arial" panose="020B0604020202020204" pitchFamily="34" charset="0"/>
              </a:rPr>
              <a:t>Full-board DC model; FET 0.75 mΩ × 1.49 (100 °C), UFCS 1 mΩ; DC terminals as one pair, AC at the M6 bolt pad</a:t>
            </a:r>
          </a:p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en-US" sz="1380">
                <a:solidFill>
                  <a:srgbClr val="1E1E1E"/>
                </a:solidFill>
                <a:latin typeface="Arial" panose="020B0604020202020204" pitchFamily="34" charset="0"/>
              </a:rPr>
              <a:t>Board copper loss at 228 A</a:t>
            </a:r>
            <a:r>
              <a:rPr lang="en-US" sz="1380" baseline="-25000">
                <a:solidFill>
                  <a:srgbClr val="1E1E1E"/>
                </a:solidFill>
                <a:latin typeface="Arial" panose="020B0604020202020204" pitchFamily="34" charset="0"/>
              </a:rPr>
              <a:t>rms</a:t>
            </a:r>
            <a:r>
              <a:rPr lang="en-US" sz="1380">
                <a:solidFill>
                  <a:srgbClr val="1E1E1E"/>
                </a:solidFill>
                <a:latin typeface="Arial" panose="020B0604020202020204" pitchFamily="34" charset="0"/>
              </a:rPr>
              <a:t>: </a:t>
            </a:r>
            <a:r>
              <a:rPr lang="en-US" sz="1380" b="1">
                <a:solidFill>
                  <a:srgbClr val="1E1E1E"/>
                </a:solidFill>
                <a:latin typeface="Arial" panose="020B0604020202020204" pitchFamily="34" charset="0"/>
              </a:rPr>
              <a:t>(pending) W</a:t>
            </a:r>
            <a:r>
              <a:rPr lang="en-US" sz="1380">
                <a:solidFill>
                  <a:srgbClr val="1E1E1E"/>
                </a:solidFill>
                <a:latin typeface="Arial" panose="020B0604020202020204" pitchFamily="34" charset="0"/>
              </a:rPr>
              <a:t> (DPT, + (pending) W in the shunts) / </a:t>
            </a:r>
            <a:r>
              <a:rPr lang="en-US" sz="1380" b="1">
                <a:solidFill>
                  <a:srgbClr val="1E1E1E"/>
                </a:solidFill>
                <a:latin typeface="Arial" panose="020B0604020202020204" pitchFamily="34" charset="0"/>
              </a:rPr>
              <a:t>(pending) W</a:t>
            </a:r>
            <a:r>
              <a:rPr lang="en-US" sz="1380">
                <a:solidFill>
                  <a:srgbClr val="1E1E1E"/>
                </a:solidFill>
                <a:latin typeface="Arial" panose="020B0604020202020204" pitchFamily="34" charset="0"/>
              </a:rPr>
              <a:t> (load board)</a:t>
            </a:r>
          </a:p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en-US" sz="1380">
                <a:solidFill>
                  <a:srgbClr val="1E1E1E"/>
                </a:solidFill>
                <a:latin typeface="Arial" panose="020B0604020202020204" pitchFamily="34" charset="0"/>
              </a:rPr>
              <a:t>Hand-over inductance bypass → bank L</a:t>
            </a:r>
            <a:r>
              <a:rPr lang="en-US" sz="1380" baseline="-25000">
                <a:solidFill>
                  <a:srgbClr val="1E1E1E"/>
                </a:solidFill>
                <a:latin typeface="Arial" panose="020B0604020202020204" pitchFamily="34" charset="0"/>
              </a:rPr>
              <a:t>b</a:t>
            </a:r>
            <a:r>
              <a:rPr lang="en-US" sz="1380">
                <a:solidFill>
                  <a:srgbClr val="1E1E1E"/>
                </a:solidFill>
                <a:latin typeface="Arial" panose="020B0604020202020204" pitchFamily="34" charset="0"/>
              </a:rPr>
              <a:t> = (pending) (bank model, 1 MHz) ⇒ used for the bypass sizing (step 6)</a:t>
            </a:r>
            <a:endParaRPr lang="sv-SE" sz="1380" dirty="0" err="1">
              <a:solidFill>
                <a:srgbClr val="1E1E1E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002995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23575-22E1-AB4E-1B2C-63516D719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100"/>
              <a:t>Q3D: three load-test legs on the PCB busbar</a:t>
            </a:r>
            <a:endParaRPr lang="sv-SE" sz="21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838096-0545-A3E1-DC2B-434058E06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683FC-4BF9-FE50-0E0A-AAAF796CB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51</a:t>
            </a:fld>
            <a:endParaRPr lang="sv-SE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6F3750B-95BC-3A55-6A3E-BE4614E505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4676962"/>
              </p:ext>
            </p:extLst>
          </p:nvPr>
        </p:nvGraphicFramePr>
        <p:xfrm>
          <a:off x="238125" y="952500"/>
          <a:ext cx="4476750" cy="1257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>
                  <a:extLst>
                    <a:ext uri="{9D8B030D-6E8A-4147-A177-3AD203B41FA5}">
                      <a16:colId xmlns:a16="http://schemas.microsoft.com/office/drawing/2014/main" val="3467606318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3229150841"/>
                    </a:ext>
                  </a:extLst>
                </a:gridCol>
              </a:tblGrid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19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Quantity</a:t>
                      </a:r>
                    </a:p>
                  </a:txBody>
                  <a:tcPr marL="50800" marR="50800" marT="25400" marB="25400">
                    <a:solidFill>
                      <a:srgbClr val="1954A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Value</a:t>
                      </a:r>
                    </a:p>
                  </a:txBody>
                  <a:tcPr marL="50800" marR="50800" marT="25400" marB="25400">
                    <a:solidFill>
                      <a:srgbClr val="1954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6119278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en-US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Leg-to-leg loop a–b / a–c, 1 MHz</a:t>
                      </a:r>
                      <a:endParaRPr lang="sv-SE" sz="1190">
                        <a:solidFill>
                          <a:srgbClr val="1E1E1E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1.46 / 1.98 nH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6506979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en-US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Leg-to-leg loop a–b / a–c, DC</a:t>
                      </a:r>
                      <a:endParaRPr lang="sv-SE" sz="1190">
                        <a:solidFill>
                          <a:srgbClr val="1E1E1E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7.41 / 10.01 nH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7952433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en-US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Ripple of leg a at 50 kHz from banks a / b / c</a:t>
                      </a:r>
                      <a:endParaRPr lang="sv-SE" sz="1190">
                        <a:solidFill>
                          <a:srgbClr val="1E1E1E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(pending)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3910869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en-US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Busbar DC loss (250 A in, 3 × 83 A)</a:t>
                      </a:r>
                      <a:endParaRPr lang="sv-SE" sz="1190">
                        <a:solidFill>
                          <a:srgbClr val="1E1E1E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(pending) W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786321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Highest REDCUBE terminal current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(pending) A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732887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80038BB-678B-CE35-3227-7DD95DE1D08D}"/>
              </a:ext>
            </a:extLst>
          </p:cNvPr>
          <p:cNvSpPr txBox="1"/>
          <p:nvPr/>
        </p:nvSpPr>
        <p:spPr>
          <a:xfrm>
            <a:off x="238125" y="3381375"/>
            <a:ext cx="866775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sv-SE" sz="1380">
                <a:solidFill>
                  <a:srgbClr val="1E1E1E"/>
                </a:solidFill>
                <a:latin typeface="Arial" panose="020B0604020202020204" pitchFamily="34" charset="0"/>
              </a:rPr>
              <a:t>Network: Q3D bank-model matrices of three load-test legs (cells draw at their bypass; MLCCs with ESR/ESL, C at 75 V) + busbar (DC below 1 MHz, AC above); peaks in |Z| = inter-leg resonance</a:t>
            </a:r>
          </a:p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sv-SE" sz="1380">
                <a:solidFill>
                  <a:srgbClr val="1E1E1E"/>
                </a:solidFill>
                <a:latin typeface="Arial" panose="020B0604020202020204" pitchFamily="34" charset="0"/>
              </a:rPr>
              <a:t>Target ≤ 5 nH leg to leg (step 10)</a:t>
            </a:r>
            <a:endParaRPr lang="sv-SE" sz="1380" dirty="0" err="1">
              <a:solidFill>
                <a:srgbClr val="1E1E1E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440984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6E0A7-555E-4E13-C264-4BFE6CC4D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100"/>
              <a:t>Main findings on the final boards</a:t>
            </a:r>
            <a:endParaRPr lang="sv-SE" sz="21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CBAD79-CDE7-59D7-E9A9-499288DF4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11BDED-6D8A-8153-FC9A-96BD03301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52</a:t>
            </a:fld>
            <a:endParaRPr lang="sv-SE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52173D4-12A7-236E-056F-F0023961B1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1597512"/>
              </p:ext>
            </p:extLst>
          </p:nvPr>
        </p:nvGraphicFramePr>
        <p:xfrm>
          <a:off x="238125" y="952500"/>
          <a:ext cx="8667750" cy="1257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0750">
                  <a:extLst>
                    <a:ext uri="{9D8B030D-6E8A-4147-A177-3AD203B41FA5}">
                      <a16:colId xmlns:a16="http://schemas.microsoft.com/office/drawing/2014/main" val="62945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3101323945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674269891"/>
                    </a:ext>
                  </a:extLst>
                </a:gridCol>
                <a:gridCol w="2952750">
                  <a:extLst>
                    <a:ext uri="{9D8B030D-6E8A-4147-A177-3AD203B41FA5}">
                      <a16:colId xmlns:a16="http://schemas.microsoft.com/office/drawing/2014/main" val="677475571"/>
                    </a:ext>
                  </a:extLst>
                </a:gridCol>
              </a:tblGrid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19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Quantity</a:t>
                      </a:r>
                    </a:p>
                  </a:txBody>
                  <a:tcPr marL="50800" marR="50800" marT="25400" marB="25400">
                    <a:solidFill>
                      <a:srgbClr val="1954A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DPT board</a:t>
                      </a:r>
                    </a:p>
                  </a:txBody>
                  <a:tcPr marL="50800" marR="50800" marT="25400" marB="25400">
                    <a:solidFill>
                      <a:srgbClr val="1954A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Load-test board</a:t>
                      </a:r>
                    </a:p>
                  </a:txBody>
                  <a:tcPr marL="50800" marR="50800" marT="25400" marB="25400">
                    <a:solidFill>
                      <a:srgbClr val="1954A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Consequence</a:t>
                      </a:r>
                    </a:p>
                  </a:txBody>
                  <a:tcPr marL="50800" marR="50800" marT="25400" marB="25400">
                    <a:solidFill>
                      <a:srgbClr val="1954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7206274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Loop per cell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0.65 nH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0.41 nH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DPT: limit di/dt; load: 30 A/ns ok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0729649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en-US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Static sharing, max/min (HS / LS)</a:t>
                      </a:r>
                      <a:endParaRPr lang="sv-SE" sz="1190">
                        <a:solidFill>
                          <a:srgbClr val="1E1E1E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(pending) / (pending)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(pending) / (pending)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verify with the UFCS per cell</a:t>
                      </a:r>
                      <a:endParaRPr lang="sv-SE" sz="1190">
                        <a:solidFill>
                          <a:srgbClr val="1E1E1E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9114778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en-US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Board copper loss at 228 A</a:t>
                      </a:r>
                      <a:r>
                        <a:rPr lang="en-US" sz="1190" baseline="-250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rms</a:t>
                      </a:r>
                      <a:endParaRPr lang="sv-SE" sz="1190" baseline="-25000">
                        <a:solidFill>
                          <a:srgbClr val="1E1E1E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(pending) W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(pending) W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heats the board, not the FETs</a:t>
                      </a:r>
                      <a:endParaRPr lang="sv-SE" sz="1190">
                        <a:solidFill>
                          <a:srgbClr val="1E1E1E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2576440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en-US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L</a:t>
                      </a:r>
                      <a:r>
                        <a:rPr lang="en-US" sz="1190" baseline="-250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x</a:t>
                      </a:r>
                      <a:r>
                        <a:rPr lang="en-US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 between driver pairs (HS / LS)</a:t>
                      </a:r>
                      <a:endParaRPr lang="sv-SE" sz="1190">
                        <a:solidFill>
                          <a:srgbClr val="1E1E1E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4.91 / 2.68 nH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6.77 / 5.44 nH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skew → </a:t>
                      </a:r>
                      <a:r>
                        <a:rPr lang="el-GR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Δ</a:t>
                      </a:r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I = V</a:t>
                      </a:r>
                      <a:r>
                        <a:rPr lang="sv-SE" sz="1190" baseline="-250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m</a:t>
                      </a:r>
                      <a:r>
                        <a:rPr lang="el-GR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Δ</a:t>
                      </a:r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t / L</a:t>
                      </a:r>
                      <a:r>
                        <a:rPr lang="sv-SE" sz="1190" baseline="-250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x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2029810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Bus leg-to-leg loop (1 MHz)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–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1.46 nH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target ≤ 5 nH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7957045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D0B20E33-F657-34C4-B1F4-63DA8E8C2E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2905125"/>
            <a:ext cx="3810000" cy="23812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F0584BB-507D-235D-2CCA-FDEA4EF7C967}"/>
              </a:ext>
            </a:extLst>
          </p:cNvPr>
          <p:cNvSpPr txBox="1"/>
          <p:nvPr/>
        </p:nvSpPr>
        <p:spPr>
          <a:xfrm>
            <a:off x="228600" y="4597400"/>
            <a:ext cx="7874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730">
                <a:solidFill>
                  <a:srgbClr val="787878"/>
                </a:solidFill>
                <a:latin typeface="Arial" panose="020B0604020202020204" pitchFamily="34" charset="0"/>
              </a:rPr>
              <a:t>All values from the fast Q3D set on the final layouts (run_bb_q3d_final.cmd, final_post.py).</a:t>
            </a:r>
            <a:endParaRPr lang="sv-SE" sz="730" dirty="0" err="1">
              <a:solidFill>
                <a:srgbClr val="787878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680207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B9F37-1F10-1704-553A-203CA1F0C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sz="2100"/>
              <a:t>Fabrication files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668AD3-DB86-5FA2-808D-ED6390F52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28F8A2-C423-4D2E-FD04-8980E4537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53</a:t>
            </a:fld>
            <a:endParaRPr lang="sv-SE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0D78336-D725-0926-0A96-6BD1B4BEA0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5193919"/>
              </p:ext>
            </p:extLst>
          </p:nvPr>
        </p:nvGraphicFramePr>
        <p:xfrm>
          <a:off x="238125" y="952500"/>
          <a:ext cx="8667750" cy="1047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3944739764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410080081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3958052096"/>
                    </a:ext>
                  </a:extLst>
                </a:gridCol>
              </a:tblGrid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19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Board</a:t>
                      </a:r>
                    </a:p>
                  </a:txBody>
                  <a:tcPr marL="50800" marR="50800" marT="25400" marB="25400">
                    <a:solidFill>
                      <a:srgbClr val="1954A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9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Fab set (hardware/&lt;board&gt;/fab)</a:t>
                      </a:r>
                      <a:endParaRPr lang="sv-SE" sz="119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1954A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9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Notes for the fab house</a:t>
                      </a:r>
                      <a:endParaRPr lang="sv-SE" sz="119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1954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8604007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spb-bb-revb-dpt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Gerber zip, drill, pos, BOM, STEP, assembly + schematic PDF</a:t>
                      </a:r>
                      <a:endParaRPr lang="sv-SE" sz="1190">
                        <a:solidFill>
                          <a:srgbClr val="1E1E1E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2 oz all layers, 0.1 mm prepreg, via-in-pad filled + capped</a:t>
                      </a:r>
                      <a:endParaRPr lang="sv-SE" sz="1190">
                        <a:solidFill>
                          <a:srgbClr val="1E1E1E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9363180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spb-bb-revb-load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same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+ blind vias L1–L2 (0.25 mm) filled + capped</a:t>
                      </a:r>
                      <a:endParaRPr lang="sv-SE" sz="1190">
                        <a:solidFill>
                          <a:srgbClr val="1E1E1E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4114232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spb-busbar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Gerber zip, drill, pos, BOM, STEP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2 oz all layers (JLC3313), bolt pads without mask</a:t>
                      </a:r>
                      <a:endParaRPr lang="sv-SE" sz="1190">
                        <a:solidFill>
                          <a:srgbClr val="1E1E1E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0440484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assembly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spb-level-assembly.step, spb-stack-assembly.step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mechanics / frame design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318113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B336421-BA3D-36D2-2A5D-F2BE71324875}"/>
              </a:ext>
            </a:extLst>
          </p:cNvPr>
          <p:cNvSpPr txBox="1"/>
          <p:nvPr/>
        </p:nvSpPr>
        <p:spPr>
          <a:xfrm>
            <a:off x="238125" y="2286000"/>
            <a:ext cx="866775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sv-SE" sz="1280">
                <a:solidFill>
                  <a:srgbClr val="1E1E1E"/>
                </a:solidFill>
                <a:latin typeface="Arial" panose="020B0604020202020204" pitchFamily="34" charset="0"/>
              </a:rPr>
              <a:t>Generated: make_kicad_bb_revb.py (BOARD=dpt | load), make_kicad_sch_revb.py, make_kicad_busbar.py, make_3d_models_revb.py, make_fab_outputs_revb.py, make_assembly_step.py, render_3d.py</a:t>
            </a:r>
          </a:p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sv-SE" sz="1280">
                <a:solidFill>
                  <a:srgbClr val="1E1E1E"/>
                </a:solidFill>
                <a:latin typeface="Arial" panose="020B0604020202020204" pitchFamily="34" charset="0"/>
              </a:rPr>
              <a:t>Mechanical items (screws, spreader, gap pads, heatsink, lugs) are listed at the end of each BOM</a:t>
            </a:r>
            <a:endParaRPr lang="sv-SE" sz="1280" dirty="0" err="1">
              <a:solidFill>
                <a:srgbClr val="1E1E1E"/>
              </a:solidFill>
              <a:latin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E76AFA5-98E0-2C79-AB5B-8034430B8A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733" y="3000375"/>
            <a:ext cx="1898285" cy="180975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1667E87-384B-811A-81D2-EB73DCB6F9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7483" y="3000375"/>
            <a:ext cx="1898285" cy="180975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7BBF039-E593-069E-F84E-301D0F9BB5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9625" y="3000375"/>
            <a:ext cx="4286250" cy="1537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43974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0FFD4-2285-F268-FB03-A352F8FB3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sz="2100"/>
              <a:t>Status and next steps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ECCFD8-75C7-50C5-3462-4AF80290C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CE1352-597D-E044-A25B-A693650B9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54</a:t>
            </a:fld>
            <a:endParaRPr lang="sv-SE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4B817F1-EED7-1193-ABFC-51D1BC3AE6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6599722"/>
              </p:ext>
            </p:extLst>
          </p:nvPr>
        </p:nvGraphicFramePr>
        <p:xfrm>
          <a:off x="238125" y="952500"/>
          <a:ext cx="4953000" cy="1885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>
                  <a:extLst>
                    <a:ext uri="{9D8B030D-6E8A-4147-A177-3AD203B41FA5}">
                      <a16:colId xmlns:a16="http://schemas.microsoft.com/office/drawing/2014/main" val="14428611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24489848"/>
                    </a:ext>
                  </a:extLst>
                </a:gridCol>
              </a:tblGrid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19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Item</a:t>
                      </a:r>
                    </a:p>
                  </a:txBody>
                  <a:tcPr marL="50800" marR="50800" marT="25400" marB="25400">
                    <a:solidFill>
                      <a:srgbClr val="1954A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Status</a:t>
                      </a:r>
                    </a:p>
                  </a:txBody>
                  <a:tcPr marL="50800" marR="50800" marT="25400" marB="25400">
                    <a:solidFill>
                      <a:srgbClr val="1954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4729103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en-US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DC link: 20 × 22 µF 2220 + 10 × 1 µF per cell</a:t>
                      </a:r>
                      <a:endParaRPr lang="sv-SE" sz="1190">
                        <a:solidFill>
                          <a:srgbClr val="1E1E1E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in both layouts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1426412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en-US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DPT board (UFCS, no heatsink)</a:t>
                      </a:r>
                      <a:endParaRPr lang="sv-SE" sz="1190">
                        <a:solidFill>
                          <a:srgbClr val="1E1E1E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DRC 0 / 0 / 0, schematic = PCB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5518753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en-US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Load-test board (no shunt, LAM 4 K 50)</a:t>
                      </a:r>
                      <a:endParaRPr lang="sv-SE" sz="1190">
                        <a:solidFill>
                          <a:srgbClr val="1E1E1E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DRC 0 / 0 / 0, schematic = PCB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4821414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PCB busbar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DRC clean, fab files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1408458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Fast Q3D: loop, DC, L</a:t>
                      </a:r>
                      <a:r>
                        <a:rPr lang="sv-SE" sz="1190" baseline="-250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x</a:t>
                      </a:r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, busbar, level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done (this deck)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6491849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en-US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3D models, board + assembly STEP</a:t>
                      </a:r>
                      <a:endParaRPr lang="sv-SE" sz="1190">
                        <a:solidFill>
                          <a:srgbClr val="1E1E1E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done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7991501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Fab outputs + BOMs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done</a:t>
                      </a:r>
                    </a:p>
                  </a:txBody>
                  <a:tcPr marL="50800" marR="50800" marT="25400" marB="25400"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9517657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en-US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DPT and three-phase load test</a:t>
                      </a:r>
                      <a:endParaRPr lang="sv-SE" sz="1190">
                        <a:solidFill>
                          <a:srgbClr val="1E1E1E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sz="119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after assembly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93183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E791A11-DB7C-787B-A509-30C32FAF94C8}"/>
              </a:ext>
            </a:extLst>
          </p:cNvPr>
          <p:cNvSpPr txBox="1"/>
          <p:nvPr/>
        </p:nvSpPr>
        <p:spPr>
          <a:xfrm>
            <a:off x="5429250" y="952500"/>
            <a:ext cx="3381375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sv-SE" sz="1380">
                <a:solidFill>
                  <a:srgbClr val="1E1E1E"/>
                </a:solidFill>
                <a:latin typeface="Arial" panose="020B0604020202020204" pitchFamily="34" charset="0"/>
              </a:rPr>
              <a:t>Order: DPT board first (switching energies, per-cell current, overshoot vs di/dt), then 3 load boards + busbar</a:t>
            </a:r>
          </a:p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sv-SE" sz="1380">
                <a:solidFill>
                  <a:srgbClr val="1E1E1E"/>
                </a:solidFill>
                <a:latin typeface="Arial" panose="020B0604020202020204" pitchFamily="34" charset="0"/>
              </a:rPr>
              <a:t>Mechanics: spreader drawing, frame and stack insulation from the assembly STEP</a:t>
            </a:r>
          </a:p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sv-SE" sz="1380">
                <a:solidFill>
                  <a:srgbClr val="1E1E1E"/>
                </a:solidFill>
                <a:latin typeface="Arial" panose="020B0604020202020204" pitchFamily="34" charset="0"/>
              </a:rPr>
              <a:t>Decide after measurement: bank depopulation, damping caps, busbar copper weight</a:t>
            </a:r>
          </a:p>
          <a:p>
            <a:pPr marL="406400" indent="-177800">
              <a:spcAft>
                <a:spcPts val="400"/>
              </a:spcAft>
              <a:buFont typeface="+mj-lt"/>
              <a:buChar char="•"/>
            </a:pPr>
            <a:r>
              <a:rPr lang="sv-SE" sz="1380">
                <a:solidFill>
                  <a:srgbClr val="1E1E1E"/>
                </a:solidFill>
                <a:latin typeface="Arial" panose="020B0604020202020204" pitchFamily="34" charset="0"/>
              </a:rPr>
              <a:t>Machine: L</a:t>
            </a:r>
            <a:r>
              <a:rPr lang="el-GR" sz="1380" baseline="-25000">
                <a:solidFill>
                  <a:srgbClr val="1E1E1E"/>
                </a:solidFill>
                <a:latin typeface="Arial" panose="020B0604020202020204" pitchFamily="34" charset="0"/>
              </a:rPr>
              <a:t>σ</a:t>
            </a:r>
            <a:r>
              <a:rPr lang="el-GR" sz="1380">
                <a:solidFill>
                  <a:srgbClr val="1E1E1E"/>
                </a:solidFill>
                <a:latin typeface="Arial" panose="020B0604020202020204" pitchFamily="34" charset="0"/>
              </a:rPr>
              <a:t>, </a:t>
            </a:r>
            <a:r>
              <a:rPr lang="sv-SE" sz="1380">
                <a:solidFill>
                  <a:srgbClr val="1E1E1E"/>
                </a:solidFill>
                <a:latin typeface="Arial" panose="020B0604020202020204" pitchFamily="34" charset="0"/>
              </a:rPr>
              <a:t>cos </a:t>
            </a:r>
            <a:r>
              <a:rPr lang="el-GR" sz="1380">
                <a:solidFill>
                  <a:srgbClr val="1E1E1E"/>
                </a:solidFill>
                <a:latin typeface="Arial" panose="020B0604020202020204" pitchFamily="34" charset="0"/>
              </a:rPr>
              <a:t>φ </a:t>
            </a:r>
            <a:r>
              <a:rPr lang="sv-SE" sz="1380">
                <a:solidFill>
                  <a:srgbClr val="1E1E1E"/>
                </a:solidFill>
                <a:latin typeface="Arial" panose="020B0604020202020204" pitchFamily="34" charset="0"/>
              </a:rPr>
              <a:t>and the final f</a:t>
            </a:r>
            <a:r>
              <a:rPr lang="sv-SE" sz="1380" baseline="-25000">
                <a:solidFill>
                  <a:srgbClr val="1E1E1E"/>
                </a:solidFill>
                <a:latin typeface="Arial" panose="020B0604020202020204" pitchFamily="34" charset="0"/>
              </a:rPr>
              <a:t>sw</a:t>
            </a:r>
            <a:endParaRPr lang="sv-SE" sz="1380" baseline="-25000" dirty="0" err="1">
              <a:solidFill>
                <a:srgbClr val="1E1E1E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824594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FC0DA-A877-F66D-19DC-82A4151EDC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v-SE"/>
              <a:t>Thank you - questions?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A1E58C-71AA-92EE-1520-F728F19F87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Enes Ayaz, KTH Royal Institute of Technology</a:t>
            </a:r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831691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KTH">
      <a:dk1>
        <a:srgbClr val="000000"/>
      </a:dk1>
      <a:lt1>
        <a:srgbClr val="FFFFFF"/>
      </a:lt1>
      <a:dk2>
        <a:srgbClr val="65656C"/>
      </a:dk2>
      <a:lt2>
        <a:srgbClr val="838389"/>
      </a:lt2>
      <a:accent1>
        <a:srgbClr val="1954A6"/>
      </a:accent1>
      <a:accent2>
        <a:srgbClr val="5E87C0"/>
      </a:accent2>
      <a:accent3>
        <a:srgbClr val="2091C3"/>
      </a:accent3>
      <a:accent4>
        <a:srgbClr val="D02F80"/>
      </a:accent4>
      <a:accent5>
        <a:srgbClr val="D95999"/>
      </a:accent5>
      <a:accent6>
        <a:srgbClr val="61922E"/>
      </a:accent6>
      <a:hlink>
        <a:srgbClr val="65656C"/>
      </a:hlink>
      <a:folHlink>
        <a:srgbClr val="83838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3"/>
        </a:solidFill>
        <a:ln>
          <a:noFill/>
        </a:ln>
      </a:spPr>
      <a:bodyPr rtlCol="0" anchor="ctr"/>
      <a:lstStyle>
        <a:defPPr algn="ctr">
          <a:defRPr sz="2000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97121384-D8C6-FA41-9A6B-F4615C0099B0}" vid="{DF4435B0-2EFE-BF49-8755-0024FDD40B6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KTH_16_9</Template>
  <TotalTime>2</TotalTime>
  <Words>7526</Words>
  <Application>Microsoft Office PowerPoint</Application>
  <PresentationFormat>On-screen Show (16:9)</PresentationFormat>
  <Paragraphs>901</Paragraphs>
  <Slides>55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8" baseType="lpstr">
      <vt:lpstr>Arial</vt:lpstr>
      <vt:lpstr>Calibri</vt:lpstr>
      <vt:lpstr>Office-tema</vt:lpstr>
      <vt:lpstr>SPB Leg Building Block: Design Flow</vt:lpstr>
      <vt:lpstr>Design flow</vt:lpstr>
      <vt:lpstr>Design inputs</vt:lpstr>
      <vt:lpstr>Phase current follows from the inputs</vt:lpstr>
      <vt:lpstr>Voltage class: why 100 V GaN</vt:lpstr>
      <vt:lpstr>EPC2361: key data and the Kelvin source</vt:lpstr>
      <vt:lpstr>Submodule voltage from L·di/dt</vt:lpstr>
      <vt:lpstr>Why not lower: every submodule costs parts and loss</vt:lpstr>
      <vt:lpstr>Power loop of one cell: copper, bypass ESL and shunt</vt:lpstr>
      <vt:lpstr>One EPC2361 per switch: how fast and how much overshoot</vt:lpstr>
      <vt:lpstr>Thermal path per device: load-test board</vt:lpstr>
      <vt:lpstr>n identical cells per switch (one device and one driver each)</vt:lpstr>
      <vt:lpstr>Where the loss comes from: line period and junction temperature</vt:lpstr>
      <vt:lpstr>Losses vs number in parallel</vt:lpstr>
      <vt:lpstr>Switching frequency: losses, DC-link capacitors, current ripple</vt:lpstr>
      <vt:lpstr>DC-link sizing for a three-phase level</vt:lpstr>
      <vt:lpstr>Capacitor selection: effective capacitance at 75 V</vt:lpstr>
      <vt:lpstr>Bypass capacitors: how many and how large</vt:lpstr>
      <vt:lpstr>DC link of one leg board</vt:lpstr>
      <vt:lpstr>Can one driver drive all four?</vt:lpstr>
      <vt:lpstr>Driver arrangement for 1 … 4 EPC2361 per switch</vt:lpstr>
      <vt:lpstr>Gate driver selection: why the 2EDF7275K</vt:lpstr>
      <vt:lpstr>Why symmetry: what sets the current sharing</vt:lpstr>
      <vt:lpstr>Gate bump and negative off-voltage</vt:lpstr>
      <vt:lpstr>Building block: two point-symmetric cells, one centre driver</vt:lpstr>
      <vt:lpstr>Rev B: four cells per switch, two drivers, one leg</vt:lpstr>
      <vt:lpstr>Two boards from one design: double-pulse test and load test</vt:lpstr>
      <vt:lpstr>DPT board layout (UFCS shunts, no heatsink)</vt:lpstr>
      <vt:lpstr>Load-test board layout (no shunt, heatsink)</vt:lpstr>
      <vt:lpstr>The two boards in 3D (KiCad models)</vt:lpstr>
      <vt:lpstr>Top view with the silkscreen: DPT and load-test boards</vt:lpstr>
      <vt:lpstr>DPT board: the eight EPC2361 from above</vt:lpstr>
      <vt:lpstr>Bottom side and the load board without heatsink</vt:lpstr>
      <vt:lpstr>Two driver pairs on one switch node: driver skew</vt:lpstr>
      <vt:lpstr>Gate supplies: two isolated supplies, Zener split</vt:lpstr>
      <vt:lpstr>Driver block: input filters, turn-on / turn-off paths, star</vt:lpstr>
      <vt:lpstr>Measurement and control</vt:lpstr>
      <vt:lpstr>Power stage schematics (generated, identical to the PCBs)</vt:lpstr>
      <vt:lpstr>Three legs on one 75 V bus: what the bus must do</vt:lpstr>
      <vt:lpstr>PCB busbar: easy to manufacture</vt:lpstr>
      <vt:lpstr>One 75 V level in 3D: busbar + three load-test legs</vt:lpstr>
      <vt:lpstr>Level assembly: busbar side and DC connection</vt:lpstr>
      <vt:lpstr>Mechanics: heatsink length fixed by the leg pitch</vt:lpstr>
      <vt:lpstr>Full inverter: 16 levels on one 1200 V stack</vt:lpstr>
      <vt:lpstr>Fast Q3D set on the final boards</vt:lpstr>
      <vt:lpstr>Q3D: commutation loop per cell, final boards</vt:lpstr>
      <vt:lpstr>Q3D: coupling between the cells and the gate loops (DPT board)</vt:lpstr>
      <vt:lpstr>Gate drive from the extracted gate network (SPICE, DPT board, 75 V, 322 A)</vt:lpstr>
      <vt:lpstr>Q3D model of the cell band (fast loop model)</vt:lpstr>
      <vt:lpstr>Q3D: static current sharing and copper loss</vt:lpstr>
      <vt:lpstr>Q3D: three load-test legs on the PCB busbar</vt:lpstr>
      <vt:lpstr>Main findings on the final boards</vt:lpstr>
      <vt:lpstr>Fabrication files</vt:lpstr>
      <vt:lpstr>Status and next steps</vt:lpstr>
      <vt:lpstr>Thank you - questions?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Malin Modig</dc:creator>
  <cp:lastModifiedBy>Enes Ayaz</cp:lastModifiedBy>
  <cp:revision>2</cp:revision>
  <dcterms:created xsi:type="dcterms:W3CDTF">2019-12-10T08:55:59Z</dcterms:created>
  <dcterms:modified xsi:type="dcterms:W3CDTF">2026-10-26T15:53:04Z</dcterms:modified>
</cp:coreProperties>
</file>