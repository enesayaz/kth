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 varScale="1">
        <p:scale>
          <a:sx n="91" d="100"/>
          <a:sy n="91" d="100"/>
        </p:scale>
        <p:origin x="6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2026-10-26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2026-10-26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2026-10-26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2026-10-26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2026-10-26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B999F-C6BD-BDD5-2150-DF2DBAEE63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SPB Leg Building Block: Design Flow</a:t>
            </a:r>
            <a:endParaRPr lang="sv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7D9E89-785A-307C-102E-02865FB4C0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969637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50E4-8BDA-CC4E-8378-D57301ED1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53D935-9E77-C33E-6C71-354CFC879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32D265-202A-200D-6AE0-326281A61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2BEF5CE-2C0F-959B-DBDF-E75071A7B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829587"/>
              </p:ext>
            </p:extLst>
          </p:nvPr>
        </p:nvGraphicFramePr>
        <p:xfrm>
          <a:off x="238125" y="952500"/>
          <a:ext cx="866775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923952653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425517689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408019032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26836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31099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4402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9322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device, one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97740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9197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17920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7001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2399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MMCX V</a:t>
                      </a:r>
                      <a:r>
                        <a:rPr lang="en-US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5467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483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79873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571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99AD4-8E85-580F-D0EB-41F73B1D3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89117E-ED27-D36F-CBE7-B6C709C03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CB1ED2-E9B0-3673-43FF-403B21372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FF0536-25DD-56DE-9E91-7C33BCF26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C960AFE-9E4A-33C5-AE73-8A1ACD7ECC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793040"/>
              </p:ext>
            </p:extLst>
          </p:nvPr>
        </p:nvGraphicFramePr>
        <p:xfrm>
          <a:off x="238125" y="30480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1148346234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402252591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77538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5605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875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1455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29084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0829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9612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236846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E95722A-CC04-4835-F498-97DC8AB6CE23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8353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FF0DA-8E66-91BD-F767-6F1B35F50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6B8889-13AD-7DD1-4318-C54446CAB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365EF0-4D3E-3D04-5027-A1E539B86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33A587-CC0C-0654-7361-0784D95B1B5C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9C29531-0156-4FE8-2385-95ACE9622B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227390"/>
              </p:ext>
            </p:extLst>
          </p:nvPr>
        </p:nvGraphicFramePr>
        <p:xfrm>
          <a:off x="5667375" y="952500"/>
          <a:ext cx="32385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054170863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95512888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34500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1568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21150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525642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44414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0495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E45C9-A4FB-0B18-5F0E-8EABEE056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72C475-287A-A617-E983-513D45D7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608CFD-77B1-C005-AB29-4D8031A3A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F21D81-BE89-2C99-C021-D2A3A5610B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1A73EC-543B-954F-3E75-E9576DF8D599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8054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29B4D-C481-22A7-D89D-D921366DE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3DF70F-6BC3-67DA-462F-94D357A0E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D9B8FE-107C-FD40-6393-56187B2E7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AC1466-925F-A051-A458-886C6C2BF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BB088DC-5203-1F62-32E4-6B17FAB59F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737128"/>
              </p:ext>
            </p:extLst>
          </p:nvPr>
        </p:nvGraphicFramePr>
        <p:xfrm>
          <a:off x="238125" y="344805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2793983878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19706481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42296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4168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9585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1145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1198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9605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A21A87C-407E-51DD-8F2C-598B9F00BFFC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2793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C540D-ADAC-BA61-F51E-4E7551B9C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2419F9-D3F4-9246-2773-1F7E74DF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90D155-225E-9B02-E1B0-FBC0085D2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5F22DC-D348-5ADF-F7EE-45EAD99DD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4CCEB1-94A0-EB34-A138-F4B7EF4BCCDB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CB38067-8810-2600-5907-45C2AF2DBA7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6215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FB8FE-C65D-5C06-0F4C-6C3CC632B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A50651-9E7C-4E1C-AE03-55391DC8B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01698-D873-05B1-B2CC-5BFB8155B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52B726-C637-99DA-1073-3C94A13B61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E6B1C6-D3AE-B32C-E40B-2D6CE227C07D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5373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DB943-DE70-A8C8-0B96-F64F0266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BE08F4-638B-33CC-B717-8829AA617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977B3F-421D-E338-021E-5CD5F7C9A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3BDF65-FB05-D10C-585A-268791D6F7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0DB124-DA29-F10E-A6CC-5B86994DCD4F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0.35 nH (load) / 0.47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C8628D18-F7D5-1B7A-6C79-BBC5C80ED80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924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2DF1B-4177-2584-9BA8-A51C6E21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A097C9-5B62-4149-AE27-54406A26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43DCA-63D3-EFBE-D1A9-B99DDFA2D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1B850D-A53E-B96A-6C31-7D4E99CF13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8C94F5-4DAD-E534-AC64-4A6797410038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LTspice half bridge at 75 V, lumped loop 0.5 / 1 nH, 1.7 nH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nH), 83 / 93 / 137 V (1 nH)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(the loop takes L·di/dt of the voltage while the current rises) but raises E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2800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A1A58-659F-DD63-B8D8-AB3EF1B2B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0221B-8D13-C43A-B444-D55A7FC4A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F5E318-F7FB-CF21-C635-F87FE03A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0706C4-6C16-1191-4319-81FE6A0DE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618901"/>
              </p:ext>
            </p:extLst>
          </p:nvPr>
        </p:nvGraphicFramePr>
        <p:xfrm>
          <a:off x="238125" y="952500"/>
          <a:ext cx="5619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2810114108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42760547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98906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4830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63337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3545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2106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1972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2748B45-9350-0D12-8FC9-5D35B3A7A81C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A70A67-4947-F26A-46B8-EA9CA395F2B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9ACA8-57EC-A273-04E1-268FEBB30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95B2C9-29ED-FC81-D528-C08709EC8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7B6D6-F961-499D-F73A-09E8DCFE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DE38CF-38A5-5C2B-4713-AB92423E92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5AD01D-959B-55FA-A559-54EE12E740B4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35228EBD-DE4D-2D48-B32A-1C156A712CA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21221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5D7B-787C-AEB0-26B1-51F4846B4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585D43-BFF8-7D78-3FF0-23DDDCA4F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5A0527-90C4-CEBE-7F7E-8C3B3C305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657D60-46AE-04DD-B471-2FE582B986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14E44-FA45-7B3F-BD48-12279780800B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1864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9DAB8-BA63-1C73-6EF8-6A762646A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9E26F5-0D96-76DA-87C6-F0BB2607D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31527-D4DA-E0F8-734F-73B068126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1974B7D-8D8E-C1C7-A439-E9E1BFE7B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375074"/>
              </p:ext>
            </p:extLst>
          </p:nvPr>
        </p:nvGraphicFramePr>
        <p:xfrm>
          <a:off x="238125" y="952500"/>
          <a:ext cx="866775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76041816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66548748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44979582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35121286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1371568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5332116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31338548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72255787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424424330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5551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6868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421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1710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40261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1869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3424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13065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30457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1094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8CA7FB-BE4A-BB67-2E76-76B71E36E2B2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834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F4312-B0BF-5C43-741F-4DAAFA56E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CE4C81-CFF9-497D-973D-982150CB5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92167-8693-9AE0-9CE3-F7DD1073B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F6A2F0-E449-DF13-7078-64E49A3C38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4519C7-64B2-AFBD-042B-9F5D54FD8B54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C1508634-AE84-BB29-FE2E-DD568ACC0B4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35959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D2E51-93A1-EC07-13BE-E19444449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460A0A-57F4-C653-C5D3-7A851634C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71A8DD-68A7-9BF2-4C42-E29E98F7B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1CDB8E-E068-6DF8-B4A1-1F6A249DA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23C94CD-CDBA-1BD4-0D58-012BA824A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442252"/>
              </p:ext>
            </p:extLst>
          </p:nvPr>
        </p:nvGraphicFramePr>
        <p:xfrm>
          <a:off x="5381625" y="952500"/>
          <a:ext cx="35242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392268944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069522032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538199332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157542830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00854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6223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9470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259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77866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07BE765-1432-C3F3-7281-B724FA7C7B11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9F7F4C5E-4521-749D-079C-051ECD37829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726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9034B-04E0-946A-9D95-77910BE2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34D5F9-DCB6-0260-4B22-6FA08CB5D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BC7971-A472-F4B1-07BF-E8A4A1B42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A1BA9D9-0064-5B1D-C02D-02B11EB48C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175935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32542768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188339074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613362582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51526440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556019299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45753543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3664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2178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2375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2620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635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076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36197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A32F641-4365-5847-C6D3-B1A8E7891F92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B61FDC22-B1F2-B4AD-BBC0-B9A39AA63BFC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72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8A866-2E26-2E74-8653-373E317C5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5D19FB-CBB0-714E-95CD-A26C915AB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13747F-DAFC-EDB5-4C6F-53FCCC079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484C90-3FE8-4A34-3D5C-B47FCCE60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B2FDEB-E0D5-3936-BB73-EA0C58C8D567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A91B12BA-46F7-0168-DCBA-AA9BF1A05C4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460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E24C2-BBC8-1C5E-4371-81289968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9004F5-4251-DC5B-F577-20959B6AE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AD8565-E6A0-149E-A41B-2A8D37A02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D892708-E7E4-18C8-DFC9-996C9ED9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250201"/>
              </p:ext>
            </p:extLst>
          </p:nvPr>
        </p:nvGraphicFramePr>
        <p:xfrm>
          <a:off x="238125" y="952500"/>
          <a:ext cx="4953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3987240609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243415084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890686969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177050542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362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46561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14520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2517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822AF8-5930-45D6-0928-8701F8A2C687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3881BC0-AF39-6623-4310-06586DFDC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76688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BD02D773-AB08-26CE-D483-A15FAF9F14A9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33217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95072-A8AF-6592-33B9-672DFCF2A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BF9D62-7CA1-25CA-84A2-8F515CAB9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5E466C-DE48-BDBF-A206-966F4AE86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137E3A-B05D-7755-FFEE-634EB1184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241CB7-629F-5EA8-9350-76E18748AD09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5791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F48A3-FB0D-967D-720B-325E5023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40B8C3-8748-E43A-1DF4-9A6B796FC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29B1C8-04AC-9932-CE68-0ABABE6C5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79943B-F14D-35FB-A1BA-152233F95C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3E3B3A-F756-0D73-77C5-77A9C027A808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 and with their own Kelvin return (design value ≈ 1.7 nH; extracted on the routed board: step 11)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point-symmetric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96D8B246-CCB9-8655-E8CA-BFB5B95A11A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68497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36DC7-8612-C78B-DBC4-693FC130E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1ABC89-0F64-0A40-48F5-9FA32C75F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0F974-BA2F-8D20-6C0D-E42B863E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07650F9-7DE4-0910-52EB-BB00C400D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1530324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3057804789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40489425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246119319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37715566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42995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2503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79435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30582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03664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72548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648840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4E2B00A-E54B-4C80-4CC1-B78C8C8585E4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−1.9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E9241E-A4FA-D6C8-BE92-E607D1B36B7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29454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81979-1F4E-03FF-60C3-5A9A61A04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DD5A08-721A-15FA-AABF-39BE64B5C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B60391-4397-C970-2D0E-2D1F91276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22279B-0FB2-CFAF-E4F0-F17016F47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1A09650-E976-CF57-34F8-89A5CCE6B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3841240"/>
              </p:ext>
            </p:extLst>
          </p:nvPr>
        </p:nvGraphicFramePr>
        <p:xfrm>
          <a:off x="238125" y="26670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1936710047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4216605487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178002146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376458552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82099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29619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79616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2532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6691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8979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243721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938E03C1-AB70-5F7E-6BDD-5189B880697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point-symmetric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21491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3DFD9-DB05-CB90-4BC9-987B577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DC4C47-6EB4-98FC-22EA-960FC076E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9F291F-262D-0D02-0674-259856E9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414AB6-FB8D-A93A-1455-B0472930E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EF6AB1-5A33-CCED-5DC0-3AA6BCABF5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35EED82-41D9-396A-A657-92DEA2A855CA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|; off-state ringing must stay above the −4 V limit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=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−1.9 V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7 V), set with the extracted gate loop (step 11): bump ≤ −0.5 V, ringing ≈ −3.4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2951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BA1D8-3A13-CD42-6741-C4277E9B4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Building block: two point-symmetric cells, one centre driver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D8F9E-2A06-2D3B-0AD9-6FC6D8BE7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2882E5-4016-68E0-9FB7-B1E32DAD6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5B11F4-A90F-6D15-D181-62B310010D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8A05075-0755-45FD-4D7C-F14E017F18D7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rotated by 180° about the driver (point symmetry):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8B5B88E-2BF9-712C-C702-2044B0433C7A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29918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E6AF1-018D-785B-4638-06EDACE9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3A3F4E-45EB-5EA3-B915-7BF75FC54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B207F2-5339-412C-F8D8-76780447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76527B-131F-D98E-E7CB-BDB576FE9DB1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8433AB-C36C-D3C1-B8EA-DD923BB8F3CD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85.2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15A4165-3872-3DC3-C12F-E5843BB3D7A1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D8DADA8-81B8-09B1-955B-DEC293CD1978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7468EE-C8ED-E04C-C56E-CA2F75616B39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234D200-81A7-D490-4C11-213A2F14B3DC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CAAFA6-BA0B-0CA6-ADE6-7DF1C6916DD6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8344CC-2133-193F-28FB-B4C411A1DFB5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8B1FC5B-915B-F7B2-62DC-FB1727C7AF19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AAC618D-6F79-A641-8D4A-9137E4DB17C9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5A3DE04-1A7D-73AC-A1C2-FC88E5F57608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5EEE3C4-F9B6-BDA0-D40C-B34332B1A1D3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923CDD-0B5D-1618-5F4D-E321A0B81A6A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DD2CE18-591A-037E-6413-3FFFC1025A14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0AFBAAC-3581-4890-DF8A-9B10D847573B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B634481-C2DE-9A7F-DE26-BD892F9C0D97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57AD8CB-6B27-DEA6-3FDC-C6BD7B40C470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4A120C9-465A-9301-E1F5-B2A2992D7D2B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CC01F4C-78BD-C90B-EB80-76D73193F791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65D9A2-C8F3-1AB9-DAE4-EE4357B51DDB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48F9668-4655-04A2-6DC8-15CD88458096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009A780-A371-1270-3F8E-4BAF6FE57BE8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1B5C97C-3493-D92B-4AF3-BAB9A327F92C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95B6702-CD2D-804A-AF30-A58C4B83CE82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1990459-4D57-5965-3369-373934E60511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E8F7896-3148-5690-D2A9-AB2590BCF4C5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E8748A2-9551-5DEC-B0DB-B44D923CDA19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64F05229-3A3F-0ED4-6141-5F3DBFFD7DF5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521531B-79BA-68F5-D9AD-02C3472FBD90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1B83146-BBFA-0736-104C-C29DFCBDBBF5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A348545-8699-D860-4490-99A2B48B5EDF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590BC4D-33E3-1DED-DEA5-FBEB669486C5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6F6EC5A-8AA0-9415-19D2-A1281EA797EC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5FD7E699-AD5E-E8A5-A424-9D37348DE5C1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BFABCFBD-5CAA-933B-B7D6-4CA5B3656641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5A0311C-E160-4B9D-D2E6-F7C93442EB4C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116C2E8-E90D-125B-54D7-EA0393B9F4BF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FD3B2-49EE-3805-1BB9-BA3471264B54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E72AB26E-A957-E2CD-0708-87046FD4DA8B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FCB48D4-CD54-BF21-C88C-2521FCEB6C90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88537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B4ADD-6D42-23B0-560F-4B9B97A0E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945436-0A11-3114-4DAC-4100B5C29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AD252-C643-A974-E7C9-EBE9C2FB0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E53707F-606E-5D54-7540-F8C73C768F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152189"/>
              </p:ext>
            </p:extLst>
          </p:nvPr>
        </p:nvGraphicFramePr>
        <p:xfrm>
          <a:off x="238125" y="952500"/>
          <a:ext cx="866775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310764751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920362028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367967251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4210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4056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585513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5727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15157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69906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8460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2201159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14CA850F-99E4-AB45-20DC-1F6C7D193C4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63947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E7B6B-9CF8-C711-CC26-EFAF7CBC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DE46C-8EFD-6355-52C4-E6EBC2629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9131E-6183-DB1F-0B0D-03F86514C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54D78C-9355-A7AE-B19E-AC71C06C01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ACD313-6C15-8A35-4FAD-B8EAC6F9C1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1E47B7D-A406-053B-B60D-A44BC3E357F4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701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703E4-F6C9-A82C-1E91-3F60A6271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0801CC-781B-B96E-CE68-80F15824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4A87D-5E0C-4F61-8617-42AFB99F6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FEF763-3F68-EC9B-872A-612E67FAC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86" y="952500"/>
            <a:ext cx="3896478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38F65F-6D7B-A331-65ED-64C78D4A3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20914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35B869-1A7A-14C0-777F-3364E9779B91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85.2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61743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816C8-34A7-4F19-5DDC-C4302911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4FDC85-B551-ECCF-E3C2-3F1082887E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1F916A-8044-8515-C598-2158501A1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C03D1B-C8EA-49F0-6551-9C3D3102DF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371" y="952500"/>
            <a:ext cx="4066134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13ECD9-8FC1-26C0-1A3E-E965572ECD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048" y="952500"/>
            <a:ext cx="2968528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1EC334-EC1A-6BC1-4552-2D7EAB369AD4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60DD3-5E31-A84A-B069-89B1B215D449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F9FF01-3FDB-5B82-6A1A-DCBDBE47FDE6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A250DE-DA86-57DA-933F-014940D86F0B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25083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78810-EB5E-98A3-FCE8-0D5C80277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463786-5AA6-9F73-C7AD-689C01B01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752BA-43E4-8B67-B46F-B15EF19A1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4689175-835C-F57D-934C-0F81EEBBDA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938773-12B2-AFF7-BE83-F397EC1EF7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308F811-811B-4CB2-BDC6-CDA4A78A6E8F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59CD33-6822-4DFC-BDBA-22772349B261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406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B3168-9639-6768-17F3-3350F13D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board: the eight EPC2361 from above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09755E-7E37-B661-A820-6D9CDE50A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7E3F45-519C-D586-90DC-18EE742D8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2C9D4D-F451-3CDD-DA6F-056635D374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823" y="952500"/>
            <a:ext cx="8164354" cy="23336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96366D-1207-7B7B-4432-DF75210869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381375"/>
            <a:ext cx="2524125" cy="13882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B36232-EFC1-E292-DE03-D08B542D0F53}"/>
              </a:ext>
            </a:extLst>
          </p:cNvPr>
          <p:cNvSpPr txBox="1"/>
          <p:nvPr/>
        </p:nvSpPr>
        <p:spPr>
          <a:xfrm>
            <a:off x="2905125" y="3381375"/>
            <a:ext cx="6000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Heatsink and UFCS shunt bodies hidden; straight top view (parallel projection)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Land pattern = EPC2361 recommended copper drawing (datasheet p. 12): copper 0.3 mm beyond the 3.0 × 5.0 mm body on the long sides, 0.4 mm at the ends, solder-mask defined; pin-1 circle at the gate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Cells of a driver block face each other with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between them (left: block 1, Q1–Q4)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02797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FCF58-BB0C-1B14-18D1-DA110E2CF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6960D0-20E7-BF88-0AB3-BF538CB22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0EBB1D-0E11-5DE3-9824-E2427DDC3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A4E399-EB79-E82E-A2EF-9D33D34EE6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759" y="952500"/>
            <a:ext cx="3855357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631D32-3C66-B098-DA60-075436FC04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246" y="952500"/>
            <a:ext cx="4066134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1757485-CB3A-7E42-2DE6-26FE1D5E8F0D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MMCX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ports,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7830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30994-5C8F-DD4D-17D3-5ED9C2BE5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A42D1B-E66B-4D84-AAE2-EE3586366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CF9B26-55C8-E646-24C0-438C5C487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B01BEB-4DE9-98AF-2427-30BA167FC3BC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6.77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5.44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4.91 / 2.68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14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E1EA949-72D2-B298-B35F-2AFCCDB66D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3947160"/>
              </p:ext>
            </p:extLst>
          </p:nvPr>
        </p:nvGraphicFramePr>
        <p:xfrm>
          <a:off x="5429251" y="1047750"/>
          <a:ext cx="338137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2168622247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88804808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84797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60662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62214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61102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61166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0A05C2E-2231-E553-F615-872B8F5D0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68D85101-BE20-0ED0-2F27-EDA31BDF4F97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44131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E0C96-868C-5D6E-CCBD-92CACBA8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FBA8B6-A6E0-C1D6-CD47-ADFAE1E66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154F8C-F67A-E1DB-F23C-D67B4CCBD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4A6E62-155B-BE15-A906-CEDBF1596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43D84B6-0419-559A-8B11-1EF3A1159A54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7.0 V ⇒ −1.9 V off (bump mitigation, inside the −4 V limit);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839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00C0A-3A81-C119-0969-998400B96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8F58EF-DB99-C765-B50B-A90F9CEC3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C02692-4BF5-3E33-DEEA-50442ACB2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F9A416-72D6-877B-6F57-ED0960E464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F25A3AF-D1D6-479F-36DC-09C13F01C61B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2×5 control header (each signal next to its return); common-mode chokes on 12 V, DIS and NTC, none on PWM_H / PWM_L (no extra delay or LC ringing with the 100 pF input filter; removed after the PWM review)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1.5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(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shared by the pair),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 ⇒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3.5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device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3164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F7032-539D-F190-9188-DC6F8635F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1864B7-2C97-1C17-4717-A2057AC4B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F7E23-AB7F-92DC-D95D-4F02F7ECD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196156F-EF02-BDFB-0994-1B4CCA1516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81541"/>
              </p:ext>
            </p:extLst>
          </p:nvPr>
        </p:nvGraphicFramePr>
        <p:xfrm>
          <a:off x="238125" y="952500"/>
          <a:ext cx="495300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>
                  <a:extLst>
                    <a:ext uri="{9D8B030D-6E8A-4147-A177-3AD203B41FA5}">
                      <a16:colId xmlns:a16="http://schemas.microsoft.com/office/drawing/2014/main" val="107362943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512931306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55306193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948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483021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8738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(all 8)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spring-tip pads; U.FL links DNP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FET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9319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 (DPT)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MMCX SW / LSRC, isolated probe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LS FET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0357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spring-tip pads DC+ / SW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top, at each HS FET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0574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Bring-up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 loop test points + SMD pads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fab/testpoints.csv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8629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temperature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 at the driver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control side (GNDI)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061336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0D04CDD1-297B-1ABF-E033-ABFF1F1FD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4DB3DF-3618-7C5C-CEBE-B1C6ABCD1617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82553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8881E-DE37-C162-DF5E-D947EEEC0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E94E53-B944-581D-2016-E8998612E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4E5349-F3E6-298B-4FB3-094F1446B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77B546-0C1B-934F-EDBA-B173C661A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FE35CA-CB26-AF0B-BA9D-7FC5AE073B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271C9A-73FE-47A5-18AD-6C6DAD667CB5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3817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238E3-B7F8-0206-EF7C-7F321E46C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A69D1-DE1A-860B-B89B-608F892AB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CBE22E-64F4-96EE-79CB-EB7F79935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489DDB-70C1-4C3C-B190-14507B967FAC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0B11D6-4CBB-695A-3FAA-536C7D64B3EE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C3A0611-768E-CA95-2553-B6D1CA171CF5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E391022-F9DF-AB5F-F0AF-041362DD2C2C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AB6CD31-B380-4622-8C23-392A572C13DF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045DF4-67E2-4A30-954A-F932A7E31BD6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3BD7CF-07B4-06AE-A20D-5BBEA23176AD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2612796-BD6F-352A-3744-6A0C8F790E9E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E0C8BE-FC7E-B4F9-17F1-4500293624BD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AED41DE-35FC-333E-B989-EB2F612C134C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2EA0CAB-C59A-E626-F054-F118FF41AE33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D2CD354-99CF-A7B2-4245-E5DD44F9BF34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EF9703D-5F71-492A-258D-ACCE658291AB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7BBB87D-5F3C-9F87-4209-B897EC90183D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0E5E402-6511-1E65-9622-6B20CB542AF0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88475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2B6B1-1DD7-399A-F76D-95A97E156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B36436-A4F4-EEE9-F8AD-8C85BE1A1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82D013-44E6-DBF2-3B33-499491502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C0E928-A314-7145-C3B7-FD17720D26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58DD243-186E-7F4A-184A-31BABA81D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669084"/>
              </p:ext>
            </p:extLst>
          </p:nvPr>
        </p:nvGraphicFramePr>
        <p:xfrm>
          <a:off x="238125" y="2428875"/>
          <a:ext cx="4095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232524426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59093387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6055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91967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862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24435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4612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028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57567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707472F-EC7C-EBB6-401C-5E4D8581735D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1.46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71833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49536-1A19-E624-69EA-141255981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43F246-661D-E30E-1CFB-46BCC0401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B384E5-543A-B8F6-A6CB-6B2CB1043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BA8F45-8CE2-4471-544B-2FC12E9DEF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453" y="952500"/>
            <a:ext cx="564309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F16506-04E9-BA04-AD92-48529AD8D261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90032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D651-A162-5102-A789-300E367C4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D4E070-9AF1-3257-19FC-39A6B6D68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D65DB-1AC5-ADCF-10E7-959D8AC09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FCB6A7-785D-419A-ED48-F30350851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93C28D-D579-2D2E-BF15-5642CE4BD0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F1AB06-2D4F-BE47-0FD6-0ECFDA82CA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438" y="3429000"/>
            <a:ext cx="3048000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DB74DF-2AC8-9FBE-63F9-07D973987B36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9303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9E25-64F0-2810-E84E-97FACACEF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5B3870-158D-6626-821D-AF2C3FDE0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52EBAF-E012-0F32-2C1C-500247066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D057AB-152E-E6E1-5B07-05EE47335511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9A7AD7-E3A5-3199-7493-492FA139D6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9763" y="952500"/>
            <a:ext cx="2572724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584DB6E7-F3FE-BCEA-3826-526A1CF834CE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24347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ABA52-4B22-F3AE-56B8-F53F2709B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3D35B9-11D8-1F47-B0A1-BD2F0B35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6CF1A-68B6-C556-4313-D4D0EA94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171B66-970D-F4DE-FC26-27F7471D6B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236" y="952500"/>
            <a:ext cx="1091278" cy="38100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929B00-C807-03D9-C867-57F1B59354BA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ADE40D-F23C-AAFF-DC26-474C9E61A96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03600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A68E-75C5-7CB3-4C46-4C8A39BBC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290BC1-12A0-3762-EABF-28909CD29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D023D9-5608-54F7-1721-22D269924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2C8AB6B-CEFF-1946-F3B4-0D7945DA1F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775940"/>
              </p:ext>
            </p:extLst>
          </p:nvPr>
        </p:nvGraphicFramePr>
        <p:xfrm>
          <a:off x="238125" y="952500"/>
          <a:ext cx="8667750" cy="1466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1962195898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55722143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1486808472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422571038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28523421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7240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787 / 30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0692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14778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32229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138 / 113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5528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43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95430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3701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4300F4E-6CC5-57D8-E0CB-3439DC46D4B3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80541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3F648-90F8-A848-4C0A-192E92299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5264C1-3F54-1249-9A83-5641A035D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FBB91F-78C7-5B44-D555-C344B2C7C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7DC110-412E-DAB3-EB32-460C48D73D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A2F244C-3579-79CC-3C06-3A5326F8AB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064817"/>
              </p:ext>
            </p:extLst>
          </p:nvPr>
        </p:nvGraphicFramePr>
        <p:xfrm>
          <a:off x="5524501" y="952500"/>
          <a:ext cx="3286125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2598387403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4294949050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77490212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6382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0.652 / 0.652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0.408 / 0.408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3752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0.647 / 0.653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0.406 / 0.412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9307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3944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2968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44FB2F2-C4BE-60A6-BE9E-E8E66438BA56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1 % (DPT) and 2 %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5451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C7DAC-0A1D-AAE3-DA96-F513B0A79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Q3D: coupling between the cells and the gate loops (DPT board)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818F69-2F6E-50D4-ADA1-17F12A614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B9176E-81E3-C9FD-5629-F9699863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9E3593-0FBA-6A3F-E959-269C7CF2E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256749"/>
              </p:ext>
            </p:extLst>
          </p:nvPr>
        </p:nvGraphicFramePr>
        <p:xfrm>
          <a:off x="238125" y="952500"/>
          <a:ext cx="381000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1928478947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260078666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427560419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200970314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 (pH), k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cell 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96256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0, 0.001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2666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21, 0.034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1, 0.002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61157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7, 0.011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756895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913E803-C615-9718-4D7E-A243C3721A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598047"/>
              </p:ext>
            </p:extLst>
          </p:nvPr>
        </p:nvGraphicFramePr>
        <p:xfrm>
          <a:off x="238125" y="2381250"/>
          <a:ext cx="381000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38491324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628905626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24179461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Gate loop (nH, copper)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HS Q1 / Q2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LS Q3 / Q4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640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device driven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12.53 / 12.56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7.61 / 7.62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36787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pair driven (operation)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20.6 / 20.6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/ 12.3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1327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branch / shared star-driver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4.5 / 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2.9 / 4.7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035822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gate-power coupling, both cells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9 pH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max 0.26 V at 30 A/ns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42855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50A2A04A-6D31-D163-B1A4-9B4694ACCF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6125" y="952500"/>
            <a:ext cx="3937000" cy="29527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D74B7E2-9943-DC69-D3EE-D6F56F080121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Cells: at most 21 pH between neighbours (k ≤ 0.034) ⇒ each cell commutates through its own loop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Gate: Kelvin return on the adjacent layer from every gate pad to the driver caps; Q1 = Q2, Q3 = Q4 within 0.3 %, block 2 an identical copy ⇒ all four paralleled devices equal; but ≈ 10× the 1.7 nH design value (driver behind the barrier)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07112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FA1D3-7778-65CC-FB4A-DEC9AA43A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Gate drive from the extracted gate network (SPICE, DPT board, 75 V, 322 A)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08994-A887-5CED-4662-CF14E8341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A07878-7A23-2F19-22C4-DE8086F9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2F3B32-F690-C664-E8F8-A01C99925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4847112"/>
              </p:ext>
            </p:extLst>
          </p:nvPr>
        </p:nvGraphicFramePr>
        <p:xfrm>
          <a:off x="238125" y="952500"/>
          <a:ext cx="8667750" cy="83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1250">
                  <a:extLst>
                    <a:ext uri="{9D8B030D-6E8A-4147-A177-3AD203B41FA5}">
                      <a16:colId xmlns:a16="http://schemas.microsoft.com/office/drawing/2014/main" val="324314481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08903671"/>
                    </a:ext>
                  </a:extLst>
                </a:gridCol>
                <a:gridCol w="571500">
                  <a:extLst>
                    <a:ext uri="{9D8B030D-6E8A-4147-A177-3AD203B41FA5}">
                      <a16:colId xmlns:a16="http://schemas.microsoft.com/office/drawing/2014/main" val="1552886743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213669259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469290636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544845048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250545320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g,on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HS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/ 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(4 cells)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di/dt 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bump, held-off gate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71395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lumped 1.7 nH gate,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89.8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136 / 17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31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-1.04 … -1.00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09122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1.0 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105.3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97 / 20 µJ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49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-0.72 … -0.46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573728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extracted, RON 1.5 Ω (board)</a:t>
                      </a:r>
                      <a:endParaRPr lang="sv-SE" sz="1100" b="1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3.5 Ω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−1.9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92.9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125 / 20 µJ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36 A/ns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-0.76 … -0.50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6101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58D7573-BEFF-0261-FBBA-C6432A469B87}"/>
              </a:ext>
            </a:extLst>
          </p:cNvPr>
          <p:cNvSpPr txBox="1"/>
          <p:nvPr/>
        </p:nvSpPr>
        <p:spPr>
          <a:xfrm>
            <a:off x="238125" y="24288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Extracted gate network: Q3D copper + 0.4 nH per 0603 resistor body + 1 nH D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; UFCS 120 pH as its own inductor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larger gate loop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speeds up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the turn-on ⇒ HS overshoot ≈ 75 V + 0.65 nH × di/dt: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1.0 Ω gives 105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−1.9 V off: bump of the held-off gate ≤ −0.5 V (≥ 1.3 V below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th,min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0.8 V); with 0 V off it was +1.2 … +1.4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Off-state ringing ≈ −3.4 V against the −4 V limit (EPC2361) ⇒ no larger negative bias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Turn-on of the four cells within 0.2 %; turn-off current inner vs outer cells ±1.5 % (power side)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2D6268FC-059E-3B1B-6248-07CE6F713D76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DPT: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1.5 Ω (R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3.5 Ω),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7 V (−1.9 / +5.1 V); next revision: driver stage next to each pair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2074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DF955-995E-DB34-7B12-80651398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A888D0-1658-42D2-A0B6-7C1C9AD70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94D0A-3F1F-84DB-940A-A1B92E02B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48B48D-C079-B3FF-C629-1CDD70A0D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9F8764-13CE-764D-9B51-657D6F26B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5B1D32-C57B-7C90-1D7C-F0FA585EC80E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8BCE31-D7DD-49C2-C992-8B01A52E72E3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06EAB1-8C8E-83CA-292E-92EDC4009CE7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957545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1DF27-F409-E139-BABC-DA6CF4AAC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875F3-0F6A-72E0-99B0-A2D7D323A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DF70C-9239-0EF7-94B8-1261021F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ADC3946-3D91-889C-2F5F-E41603788A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9252392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189808831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57383809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3431698787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35694776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63421909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814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718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1697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157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807763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B0EFB88-8555-5DC4-EAAA-81559846DE12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42651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1BF2A-990A-1BE2-ADE8-DBC3D86F3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AFF482-32B9-205A-6B9E-DE29A81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AC9E19-083F-327D-A4E4-935285032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61C1778-BB98-3B07-9D46-430F61CBF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40390"/>
              </p:ext>
            </p:extLst>
          </p:nvPr>
        </p:nvGraphicFramePr>
        <p:xfrm>
          <a:off x="238125" y="952500"/>
          <a:ext cx="4476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981461192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426140688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4899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/ 1.98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728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7.41 / 10.01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8446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2053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28829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35787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6C06E83-8290-B24E-0AFA-F280E32DBBBB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54009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4A955-6951-D0AC-3224-D9D625AB3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Main findings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1841AE-7B3B-9E8B-16E6-E6ABA6278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9B16BE-495F-82DC-C134-8CB0CE5A8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A4DC5B4-02EC-7659-CC5E-5C889F614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351166"/>
              </p:ext>
            </p:extLst>
          </p:nvPr>
        </p:nvGraphicFramePr>
        <p:xfrm>
          <a:off x="238125" y="952500"/>
          <a:ext cx="8667750" cy="125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2977066993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603591374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1496662852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319148787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5076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0441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6082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0314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4.91 / 2.68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6.77 / 5.44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96010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1.46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572184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CB3BFD3-92BF-6CD1-A058-7023258552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2905125"/>
            <a:ext cx="3810000" cy="2381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24C18E-D19F-B466-8A13-01F6A5144FFE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7020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1A859-ADFD-0F5B-4FD9-2849AFEF2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D22BB-16A8-2B81-459E-3E492F638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BA664D-9FFA-0BBA-05C2-7BD8A4E2A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53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9F7338-EB6C-E652-4DE8-B11AC317DE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132120"/>
              </p:ext>
            </p:extLst>
          </p:nvPr>
        </p:nvGraphicFramePr>
        <p:xfrm>
          <a:off x="238125" y="952500"/>
          <a:ext cx="8667750" cy="1047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1385561555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625809854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347065117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6880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PDFs; JLC BOM + CPL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JLC PCB + PCBA (170 parts), vias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69164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 hold until the DPT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66379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 hold until the DPT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3987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093359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BCAE2E8-1752-8A6A-A8AD-B4EA25782919}"/>
              </a:ext>
            </a:extLst>
          </p:cNvPr>
          <p:cNvSpPr txBox="1"/>
          <p:nvPr/>
        </p:nvSpPr>
        <p:spPr>
          <a:xfrm>
            <a:off x="238125" y="2381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9F6089B-3CF6-7EF7-8D50-7B6995692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538" y="3124200"/>
            <a:ext cx="1798375" cy="1714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0D78705-7FED-CF92-D929-86D77212F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5988" y="3124200"/>
            <a:ext cx="1798375" cy="1714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1A694CC-F632-2515-7BA3-CFFBD138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025" y="3124200"/>
            <a:ext cx="4057650" cy="145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5800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3F535-4ED0-3B68-4345-ABD0D7693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3967CA-9754-F5E1-8437-9A3A08630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C58FB6-E62A-2F75-DF89-F01C6F609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2CA85D6-9BF4-4D0E-F17F-6C4284167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534293"/>
              </p:ext>
            </p:extLst>
          </p:nvPr>
        </p:nvGraphicFramePr>
        <p:xfrm>
          <a:off x="238125" y="952500"/>
          <a:ext cx="4953000" cy="1885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93273313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319452819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7528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585061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final review passed, ready to order (JLC)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467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42440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241183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 (this deck)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697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3973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final; load + busbar on hold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04436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38551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D1F5EE7-785C-5C12-E488-FA682A7A5E99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now (JLC PCB + PCBA; UFCS shunts and loop test points fitted in the lab); load boards + busbar only after the DPT test (switching energies, per-cell current, overshoot vs di/dt)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75488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F4AC8-E801-D010-D5AE-9F054A7FB9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90B9B-BACA-ABA1-2395-0298871F2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95078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1</TotalTime>
  <Words>7535</Words>
  <Application>Microsoft Office PowerPoint</Application>
  <PresentationFormat>On-screen Show (16:9)</PresentationFormat>
  <Paragraphs>904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point-symmetric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DPT board: the eight EPC2361 from above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Q3D: coupling between the cells and the gate loops (DPT board)</vt:lpstr>
      <vt:lpstr>Gate drive from the extracted gate network (SPICE, DPT board, 75 V, 322 A)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2</cp:revision>
  <dcterms:created xsi:type="dcterms:W3CDTF">2019-12-10T08:55:59Z</dcterms:created>
  <dcterms:modified xsi:type="dcterms:W3CDTF">2026-10-26T16:15:56Z</dcterms:modified>
</cp:coreProperties>
</file>