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sv-S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44" autoAdjust="0"/>
    <p:restoredTop sz="94660"/>
  </p:normalViewPr>
  <p:slideViewPr>
    <p:cSldViewPr>
      <p:cViewPr varScale="1">
        <p:scale>
          <a:sx n="91" d="100"/>
          <a:sy n="91" d="100"/>
        </p:scale>
        <p:origin x="6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92" d="100"/>
          <a:sy n="92" d="100"/>
        </p:scale>
        <p:origin x="279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8641E886-6D8F-4DA2-898A-00B1EAE1AC5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EDFE6A-05C8-4F6B-BA8A-F497180174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C3AE95-3DFC-4DDB-A7BB-B9BF94A0342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AAE70C2B-4AA1-47BF-94B9-F7DF59FCFC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ED3EF666-D1D2-478D-9969-E1DE1FE2D0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96AD15-F18B-494F-8904-C45D7BCBE60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675942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8539D3-FAF3-FC43-8825-CC8C9D4686B2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3B8005-7BF2-4B40-A831-B1EE96BFE5D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8434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B926A-213D-3B48-BB0C-19ADA28B3F4D}" type="datetime1">
              <a:rPr lang="sv-SE" smtClean="0"/>
              <a:t>2026-10-15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sp>
        <p:nvSpPr>
          <p:cNvPr id="24" name="Rubrik 1">
            <a:extLst>
              <a:ext uri="{FF2B5EF4-FFF2-40B4-BE49-F238E27FC236}">
                <a16:creationId xmlns:a16="http://schemas.microsoft.com/office/drawing/2014/main" id="{2973C368-F8A4-41B1-9D52-4D79988138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25" name="Underrubrik 2">
            <a:extLst>
              <a:ext uri="{FF2B5EF4-FFF2-40B4-BE49-F238E27FC236}">
                <a16:creationId xmlns:a16="http://schemas.microsoft.com/office/drawing/2014/main" id="{040AB90C-B2A7-4284-98E0-80DAE0A2CD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83F7B48-BB86-D74E-A1EB-2C3CDBAC7F2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912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18E66E3-BED5-4C6D-B465-40B84B88D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FF22D944-0354-4DCD-8334-3FC7C9FFC9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F508-B04A-E34A-80DD-59A12C5D1039}" type="datetime1">
              <a:rPr lang="sv-SE" smtClean="0"/>
              <a:t>2026-10-15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pic>
        <p:nvPicPr>
          <p:cNvPr id="9" name="Bildobjekt 19">
            <a:extLst>
              <a:ext uri="{FF2B5EF4-FFF2-40B4-BE49-F238E27FC236}">
                <a16:creationId xmlns:a16="http://schemas.microsoft.com/office/drawing/2014/main" id="{D08EEA80-13E5-4697-A9DA-21277742FA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26476" y="333641"/>
            <a:ext cx="1287722" cy="2057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E50A1F01-262A-6542-96F8-9345B6213D9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47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EB0B6BB-AC5F-485A-85BA-F56E433C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9A48BD2-8B5B-44E1-8F6C-9B0D41A6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3F4D8-4BE6-D743-AE27-D14757A6F270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1B72178-9B2F-45A7-A31E-7710591B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3155F99B-B767-4EF4-BDED-E7E361EB3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FA474A84-82A6-4747-B64B-83217A0CB5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31888" y="1194198"/>
            <a:ext cx="7765653" cy="3540919"/>
          </a:xfrm>
        </p:spPr>
        <p:txBody>
          <a:bodyPr>
            <a:normAutofit/>
          </a:bodyPr>
          <a:lstStyle>
            <a:lvl1pPr>
              <a:defRPr sz="1500"/>
            </a:lvl1pPr>
            <a:lvl2pPr marL="514350" indent="-171450">
              <a:buFont typeface="Arial" panose="020B0604020202020204" pitchFamily="34" charset="0"/>
              <a:buChar char="‒"/>
              <a:defRPr sz="1350"/>
            </a:lvl2pPr>
            <a:lvl3pPr marL="857250" indent="-171450">
              <a:buFont typeface="Arial" panose="020B0604020202020204" pitchFamily="34" charset="0"/>
              <a:buChar char="˃"/>
              <a:defRPr sz="1200"/>
            </a:lvl3pPr>
            <a:lvl4pPr>
              <a:defRPr sz="1050"/>
            </a:lvl4pPr>
            <a:lvl5pPr marL="1543050" indent="-171450">
              <a:buFont typeface="Arial" panose="020B0604020202020204" pitchFamily="34" charset="0"/>
              <a:buChar char="‒"/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727327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63559-229D-724F-BBD5-623E582CF5C1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innehåll 6">
            <a:extLst>
              <a:ext uri="{FF2B5EF4-FFF2-40B4-BE49-F238E27FC236}">
                <a16:creationId xmlns:a16="http://schemas.microsoft.com/office/drawing/2014/main" id="{C23E0C61-4086-4E9E-9765-C96613FBE58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193800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innehåll 6">
            <a:extLst>
              <a:ext uri="{FF2B5EF4-FFF2-40B4-BE49-F238E27FC236}">
                <a16:creationId xmlns:a16="http://schemas.microsoft.com/office/drawing/2014/main" id="{F4B1B781-8A23-4309-9884-DD6E3CE0EF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1888" y="1194594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6" name="Rubrik 5">
            <a:extLst>
              <a:ext uri="{FF2B5EF4-FFF2-40B4-BE49-F238E27FC236}">
                <a16:creationId xmlns:a16="http://schemas.microsoft.com/office/drawing/2014/main" id="{41903042-6CE8-4286-847C-7E810AF5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158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underrubriker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945529D-785A-43B8-8CB0-BF49CF7D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F60D0-FE42-A248-8A54-F26FEA948759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8" name="Platshållare för innehåll 6">
            <a:extLst>
              <a:ext uri="{FF2B5EF4-FFF2-40B4-BE49-F238E27FC236}">
                <a16:creationId xmlns:a16="http://schemas.microsoft.com/office/drawing/2014/main" id="{6304BE55-467D-4CE2-9B8D-EC038C989AF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664494"/>
            <a:ext cx="3794297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text 10">
            <a:extLst>
              <a:ext uri="{FF2B5EF4-FFF2-40B4-BE49-F238E27FC236}">
                <a16:creationId xmlns:a16="http://schemas.microsoft.com/office/drawing/2014/main" id="{4D066E04-C797-4C85-AD05-F6EFD42AE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03244" y="1194197"/>
            <a:ext cx="3794297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Platshållare för innehåll 6">
            <a:extLst>
              <a:ext uri="{FF2B5EF4-FFF2-40B4-BE49-F238E27FC236}">
                <a16:creationId xmlns:a16="http://schemas.microsoft.com/office/drawing/2014/main" id="{20A69851-5F12-40D3-A417-2DCD7530A5F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6220" y="1664494"/>
            <a:ext cx="3792153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0">
            <a:extLst>
              <a:ext uri="{FF2B5EF4-FFF2-40B4-BE49-F238E27FC236}">
                <a16:creationId xmlns:a16="http://schemas.microsoft.com/office/drawing/2014/main" id="{9472B11D-1B06-4AB9-A788-CEFECBDC8E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6220" y="1194197"/>
            <a:ext cx="3792153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045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A7D9E-CD1D-F144-88A8-27D2C4D672B1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198"/>
            <a:ext cx="8651081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339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585DF-A6DF-A54D-9960-BE991B45200F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594"/>
            <a:ext cx="4237209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  <p:sp>
        <p:nvSpPr>
          <p:cNvPr id="9" name="Platshållare för bild 6">
            <a:extLst>
              <a:ext uri="{FF2B5EF4-FFF2-40B4-BE49-F238E27FC236}">
                <a16:creationId xmlns:a16="http://schemas.microsoft.com/office/drawing/2014/main" id="{3747F699-0360-4395-8415-6E5114D6C6C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60332" y="1194198"/>
            <a:ext cx="4237210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87958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F4B5727-3AF8-4023-B42B-839E8695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92B391E-9C84-4E0D-898B-8454343B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91D87-1285-6843-BFFA-E098C31F828A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32D627AA-4087-4599-9513-63987E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DE0A226-9A3A-4E94-A386-D753C79EA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96585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EB551155-ADB6-4713-AD48-92A8C535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680" y="250032"/>
            <a:ext cx="7763861" cy="6477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CEFDED03-B73B-4057-9667-7B69EF4D7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1887" y="1194197"/>
            <a:ext cx="7765653" cy="34385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80C11F1C-711C-4AD7-A25F-D2B3F451BB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152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E8303-AD2F-DB4D-B8E2-7368B5FD02EE}" type="datetime1">
              <a:rPr lang="sv-SE" smtClean="0"/>
              <a:t>2026-10-15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C9465249-3F3D-4589-A44C-3AA1952E4C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902599"/>
            <a:ext cx="3086100" cy="2325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9DBF7EF-8E59-4075-A8F0-EF49E121C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508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2A9A3-8636-4A04-BD48-3153280FB086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3C4B2EE-2B48-4379-BBD1-4FA250447FE8}"/>
              </a:ext>
            </a:extLst>
          </p:cNvPr>
          <p:cNvPicPr>
            <a:picLocks noChangeArrowheads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6551" y="250120"/>
            <a:ext cx="644150" cy="65239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" name="Rektangel 53">
            <a:extLst>
              <a:ext uri="{FF2B5EF4-FFF2-40B4-BE49-F238E27FC236}">
                <a16:creationId xmlns:a16="http://schemas.microsoft.com/office/drawing/2014/main" id="{D263F704-88D1-4479-BA22-2920B7F38621}"/>
              </a:ext>
            </a:extLst>
          </p:cNvPr>
          <p:cNvSpPr/>
          <p:nvPr userDrawn="1"/>
        </p:nvSpPr>
        <p:spPr>
          <a:xfrm>
            <a:off x="250750" y="4889099"/>
            <a:ext cx="8646791" cy="1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013"/>
          </a:p>
        </p:txBody>
      </p:sp>
    </p:spTree>
    <p:extLst>
      <p:ext uri="{BB962C8B-B14F-4D97-AF65-F5344CB8AC3E}">
        <p14:creationId xmlns:p14="http://schemas.microsoft.com/office/powerpoint/2010/main" val="2765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3" r:id="rId3"/>
    <p:sldLayoutId id="2147483654" r:id="rId4"/>
    <p:sldLayoutId id="2147483655" r:id="rId5"/>
    <p:sldLayoutId id="2147483651" r:id="rId6"/>
    <p:sldLayoutId id="2147483652" r:id="rId7"/>
    <p:sldLayoutId id="2147483650" r:id="rId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&gt;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713" userDrawn="1">
          <p15:clr>
            <a:srgbClr val="F26B43"/>
          </p15:clr>
        </p15:guide>
        <p15:guide id="4" pos="5454" userDrawn="1">
          <p15:clr>
            <a:srgbClr val="F26B43"/>
          </p15:clr>
        </p15:guide>
        <p15:guide id="6" pos="358" userDrawn="1">
          <p15:clr>
            <a:srgbClr val="F26B43"/>
          </p15:clr>
        </p15:guide>
        <p15:guide id="7" orient="horz" pos="158" userDrawn="1">
          <p15:clr>
            <a:srgbClr val="F26B43"/>
          </p15:clr>
        </p15:guide>
        <p15:guide id="8" orient="horz" pos="3084" userDrawn="1">
          <p15:clr>
            <a:srgbClr val="F26B43"/>
          </p15:clr>
        </p15:guide>
        <p15:guide id="9" pos="5605" userDrawn="1">
          <p15:clr>
            <a:srgbClr val="F26B43"/>
          </p15:clr>
        </p15:guide>
        <p15:guide id="10" pos="155" userDrawn="1">
          <p15:clr>
            <a:srgbClr val="F26B43"/>
          </p15:clr>
        </p15:guide>
        <p15:guide id="11" pos="560" userDrawn="1">
          <p15:clr>
            <a:srgbClr val="F26B43"/>
          </p15:clr>
        </p15:guide>
        <p15:guide id="12" orient="horz" pos="566" userDrawn="1">
          <p15:clr>
            <a:srgbClr val="F26B43"/>
          </p15:clr>
        </p15:guide>
        <p15:guide id="13" orient="horz" pos="752" userDrawn="1">
          <p15:clr>
            <a:srgbClr val="F26B43"/>
          </p15:clr>
        </p15:guide>
        <p15:guide id="14" orient="horz" pos="298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8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B5B34-19F5-92C3-90A2-2E84DD9B13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SPB Leg Building Block: Design Flow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4FF384-6197-D86F-C518-543D87A779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Four EPC2361 per switch: DPT and load-test boards, 1200 V / 300 kW SPB inverter</a:t>
            </a:r>
          </a:p>
          <a:p>
            <a:r>
              <a:rPr lang="en-US"/>
              <a:t>Enes Ayaz, KTH Royal Institute of Technology, October 2026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39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4C723-0FD4-EBC3-4312-9FE3A447D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F4E615-E044-94EB-768D-DE4841FE3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A1A3A8-B917-ED4A-FA60-80D36C980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2346425-DC55-0E86-181B-8A418611C0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2214855"/>
              </p:ext>
            </p:extLst>
          </p:nvPr>
        </p:nvGraphicFramePr>
        <p:xfrm>
          <a:off x="238125" y="952500"/>
          <a:ext cx="866775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870511917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1968972967"/>
                    </a:ext>
                  </a:extLst>
                </a:gridCol>
                <a:gridCol w="5905500">
                  <a:extLst>
                    <a:ext uri="{9D8B030D-6E8A-4147-A177-3AD203B41FA5}">
                      <a16:colId xmlns:a16="http://schemas.microsoft.com/office/drawing/2014/main" val="266060042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Step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Question → decision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266001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Design inputs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V, 300 kW, M ≤ 1.15, PMSM cos </a:t>
                      </a:r>
                      <a:r>
                        <a:rPr lang="el-G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= 0.9 → 228 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37795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100–650 V GaN survey, absolute and per volt → 100 V GaN, EPC2361 (Kelvin pad)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77583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Submodule 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pt-B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 L·di/dt ≤ 90 V for 0.5 / 1 nH, even N → 75 V, N = 16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0479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device, one driver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of one cell + LTspice at 0.5 / 1 nH → ≤ 80 A per device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98844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 in parallel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loss, T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vs n → 4 EPC2361 per switch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504695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DC link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kHz; 3 % ripple → 20 × 22 µF 2220 + 10 × 1 µF bypass per cell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0285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 drive → block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2EDF7275K per pair (star, Kelvin) → building block of two cells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66886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Four on one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pairs, one DC pair, one AC output → DPT board and load-test board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770776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Supplies, measurement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isolated supplies + Zener bias, UFCS per cell (DPT), U.FL, HO 250-S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70158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DC bus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legs share the 75 V bus → laminated PCB busbar; 3D level and 16-level stack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054020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11–12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Verification, boards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 set on the final boards and the busbar; fab files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9845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9743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43F85-21B7-2B22-BDDF-5684B5C4A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inputs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770B39-338C-07FB-3C3F-51574D3CB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0F157-B28C-3285-A14B-DD41346B5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714BCB-28FD-3767-8DAD-BA36ECB2B6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773" y="952500"/>
            <a:ext cx="7346453" cy="2047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511C5C6-2418-5750-3078-5CBE7E4E59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733091"/>
              </p:ext>
            </p:extLst>
          </p:nvPr>
        </p:nvGraphicFramePr>
        <p:xfrm>
          <a:off x="238125" y="3048000"/>
          <a:ext cx="4953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187937397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177955263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45586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bus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 nominal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2682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Output power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kW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83802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Modulation index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 ≤ 1.15 (SVM)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01747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Machine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PMSM, cos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assumed 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5010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frequency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 (step 6)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35511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 / T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 test: air 25–40 °C / ≤ 125 °C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61489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 stress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≤ 90 V at nominal bus (100 V part)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99526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00D2640-D911-973D-B3F7-FEE2BBAF3722}"/>
              </a:ext>
            </a:extLst>
          </p:cNvPr>
          <p:cNvSpPr txBox="1"/>
          <p:nvPr/>
        </p:nvSpPr>
        <p:spPr>
          <a:xfrm>
            <a:off x="5429250" y="3095625"/>
            <a:ext cx="3476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SPB: N three-phase submodules in series on the DC side, each feeding one winding set of the machine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en-US" sz="147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 = 1200 V / N per submodule; each submodule = 3 legs on one DC link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0753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B6416-AEAE-3093-6B9B-69E93906F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Phase current follows from the inputs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9C8A2-4150-8B45-9923-E0969EB95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62DD86-2488-7724-DF33-A9C6AD607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F92F6-9358-CDB0-CD59-58EDDC2144BD}"/>
              </a:ext>
            </a:extLst>
          </p:cNvPr>
          <p:cNvSpPr txBox="1"/>
          <p:nvPr/>
        </p:nvSpPr>
        <p:spPr>
          <a:xfrm>
            <a:off x="238125" y="952500"/>
            <a:ext cx="5143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Each of the 3N legs delivers P/3N at 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/(2√2):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I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P / (3 ·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 ·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N·V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: the phase current does </a:t>
            </a:r>
            <a:r>
              <a:rPr lang="sv-SE" sz="1460" b="1">
                <a:solidFill>
                  <a:srgbClr val="C84632"/>
                </a:solidFill>
                <a:latin typeface="Arial" panose="020B0604020202020204" pitchFamily="34" charset="0"/>
              </a:rPr>
              <a:t>not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depend on N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1.15 · 75 V / 2√2 = 30.5 V; 6.25 kW per leg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 b="1">
                <a:solidFill>
                  <a:srgbClr val="1E1E1E"/>
                </a:solidFill>
                <a:latin typeface="Arial" panose="020B0604020202020204" pitchFamily="34" charset="0"/>
              </a:rPr>
              <a:t>228 Arms per leg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, 322 A peak (cos </a:t>
            </a:r>
            <a:r>
              <a:rPr lang="el-GR" sz="1460">
                <a:solidFill>
                  <a:srgbClr val="1E1E1E"/>
                </a:solidFill>
                <a:latin typeface="Arial" panose="020B0604020202020204" pitchFamily="34" charset="0"/>
              </a:rPr>
              <a:t>φ = 0.9)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DC current per leg 83 A; series DC chain 250 A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Losses in this deck are for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 = 0.9; 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the PMSM operating point is confirmed with the machine design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2B39AEA-5590-517B-1076-C127026C45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516534"/>
              </p:ext>
            </p:extLst>
          </p:nvPr>
        </p:nvGraphicFramePr>
        <p:xfrm>
          <a:off x="5667375" y="952500"/>
          <a:ext cx="32385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18501438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77030524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cos </a:t>
                      </a:r>
                      <a:r>
                        <a:rPr lang="el-GR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φ</a:t>
                      </a:r>
                      <a:endParaRPr lang="sv-SE" sz="156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</a:t>
                      </a:r>
                      <a:r>
                        <a:rPr lang="sv-SE" sz="156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89892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205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977504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216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78707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228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522475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241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41034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5124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5470E-B9AC-D375-AC64-7C28903C8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Voltage class: why 100 V GaN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9D511B-D733-9E81-D893-F8CCC742B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81B52F-C997-019E-ED6C-676C9AD9C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641C21-DDC1-F27F-915C-147C6FA296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910" y="952500"/>
            <a:ext cx="7284181" cy="2571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49BC30-07B6-25AA-C0D3-474E3E3E6684}"/>
              </a:ext>
            </a:extLst>
          </p:cNvPr>
          <p:cNvSpPr txBox="1"/>
          <p:nvPr/>
        </p:nvSpPr>
        <p:spPr>
          <a:xfrm>
            <a:off x="238125" y="3543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At fixed bus voltage and phase current the minimum semiconductor loss scales with √(R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oss,tr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): the 100 V GaN parts have the lowest product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(b) Per volt of blocking capability: 100 V GaN has the lowest 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DS,max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(EPC2361 7.5 µΩ/V, 3–30× below 200–650 V) at a higher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/V; conduction dominates here (12.4 W vs 4–5 W switching per leg, step 5)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(c) Best device per class: 100 V needs more submodules but the fewest devices per switch and the smallest voltage step 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, 100 V, 0.75 mΩ typ, 3 × 5 mm, top-side cooling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5139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93731-6396-8524-C30F-FEB200D1E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EPC2361: key data and the Kelvin source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AEC4D1-8637-316E-183A-A2C7AA69C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A6437F-12AE-64B1-3E3B-498505FE9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A6928B-A4B2-DB4D-6C2D-50145127A2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070" y="952500"/>
            <a:ext cx="6749859" cy="2428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C3C14E3-8EE3-986B-685B-DC85612830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426861"/>
              </p:ext>
            </p:extLst>
          </p:nvPr>
        </p:nvGraphicFramePr>
        <p:xfrm>
          <a:off x="238125" y="344805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1210936727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1873614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Parameter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2715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transient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/ 120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5371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0.75 m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 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typ (1.0 max)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97442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range / 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GS(th)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−4 … +6 V / 0.8 – 2.5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6375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3599 / 1019 / 13 pF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065382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 / 3.8 / 90 nC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28898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9BBE422-A085-0DB7-93FB-62CFC6D3DAF5}"/>
              </a:ext>
            </a:extLst>
          </p:cNvPr>
          <p:cNvSpPr txBox="1"/>
          <p:nvPr/>
        </p:nvSpPr>
        <p:spPr>
          <a:xfrm>
            <a:off x="4857750" y="3448050"/>
            <a:ext cx="4048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Kelvin pad 2 next to the gate: the gate loop returns at the die, the source stripes and vias (L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 stay in the power loop only ⇒ no 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·di/dt feedback into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Low threshold and −4 V limit: gate bump and negative bias need care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Top of the package at </a:t>
            </a:r>
            <a:r>
              <a:rPr lang="en-US" sz="1190" b="1">
                <a:solidFill>
                  <a:srgbClr val="C84632"/>
                </a:solidFill>
                <a:latin typeface="Arial" panose="020B0604020202020204" pitchFamily="34" charset="0"/>
              </a:rPr>
              <a:t>source potential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: the thermal interface must insulate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4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71FE2-59F5-DAC4-5801-1162025DB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Submodule voltage from L·di/dt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720C3D-ED7D-BFE1-8613-4A10895E9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6523F0-4238-7314-38CC-0B25BE025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B093DD-2D0B-FB84-2770-FB0B4A8F1D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322" y="952500"/>
            <a:ext cx="6269356" cy="2552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09506D-6BBC-3F8A-677C-318CB82A9CC1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Peak stress v̂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·di/dt ≤ 90 V; turn-on di/dt (gate-charge model, R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2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Ω): 25 / 33 / 50 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A/ns at 60 / 80 / 120 A per 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At 80 A per device: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≤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73 V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with 0.5 nH, only 57 V with 1 nH ⇒ the loop must stay near 0.5 nH (or the turn-on is slowed); N even (symmetric winding sets): 16 → 75 V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D8AE62CE-2D11-8BC6-FCDC-06DA65FCF460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75 V, N = 16; layout target 0.5 nH per cell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832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14A2-B09E-C185-08A9-F850FFF8B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not lower: every submodule costs parts and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D07B32-3030-1BC3-A9D4-D7E4FF27D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929A23-3E1F-5F80-C345-2AE0967E0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AC2B52-8C22-7A2A-0C8D-B116C91D4D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29895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1F1051-FF12-8565-59FA-D9F305979F4D}"/>
              </a:ext>
            </a:extLst>
          </p:cNvPr>
          <p:cNvSpPr txBox="1"/>
          <p:nvPr/>
        </p:nvSpPr>
        <p:spPr>
          <a:xfrm>
            <a:off x="5381625" y="952500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Phase current is fixed by P, V</a:t>
            </a:r>
            <a:r>
              <a:rPr lang="en-US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, M, cos φ, not by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Each submodule carries the full phase current ⇒ conduction loss, transistors, drivers and supplies scale with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60 V (N = 20): +25 % parts and conduction loss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Overshoot margin rechecked on the final boards (Q3D, step 11)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672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9D916-D2D4-F005-B3B7-0A52DFEBD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loop of one cell: copper, bypass ESL and shunt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E7C8DC-1A2B-4811-A6F4-74DFB322E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A46FC-431B-9838-85B6-2792847BC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AACE88-BD50-C67F-10D4-D67D73F94E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093" y="952500"/>
            <a:ext cx="6821813" cy="24955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F322FB-97CE-7EA1-128C-C2693B8B5512}"/>
              </a:ext>
            </a:extLst>
          </p:cNvPr>
          <p:cNvSpPr txBox="1"/>
          <p:nvPr/>
        </p:nvSpPr>
        <p:spPr>
          <a:xfrm>
            <a:off x="238125" y="3476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of the final boards (cell band): loop = copper of the vertical loop over 0.1 mm (vias, pads) + bypass ESL/n (+ UFCS 120 pH on the DPT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Copper alone: 0.34 nH (load) / 0.46 nH (DPT, shunt path); with 6 + 4 bypass 0805 per cell: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0.41 / 0.65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Beyond ≈ 4 bypass parts per cell the number hardly matters; part: 1 µF 100 V X7S 0805 next to the drains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D587A0E6-72D0-8820-CB31-7679EBA98553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Design value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0.5 nH per cell; 1 nH as the pessimistic bound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3588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A4476-1354-3D4A-82C3-2191FF9E0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EPC2361 per switch: how fast and how much overshoot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331DEB-D991-FA6B-7DD1-A33FB6FF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E91B7B-1FF4-B05C-6D3A-FCE2ACD2C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3213D4-C199-0D18-7209-5F23053925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069" y="952500"/>
            <a:ext cx="7395862" cy="2428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7F5385-93BF-E075-7019-884E370ED4C8}"/>
              </a:ext>
            </a:extLst>
          </p:cNvPr>
          <p:cNvSpPr txBox="1"/>
          <p:nvPr/>
        </p:nvSpPr>
        <p:spPr>
          <a:xfrm>
            <a:off x="238125" y="34099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LTspice half bridge at 75 V, lumped loop 0.5 / 1 nH, 1.7 nH gate loop, 2 Ω on / 0 Ω off, 4 A / 8 A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Peak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at 60 / 80 / 120 A: 87 / 83 / 102 V (0.5 nH), 83 / 93 / 137 V (1 nH)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(b, c) A larger loop lowers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(the loop takes L·di/dt of the voltage while the current rises) but raises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and the overshoot; turn-on di/dt is set by the driver (≈ 45 A/ns)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(d) Conduction per device at 100 °C: 4.0 / 7.2 / 16.1 W at 60 / 80 / 120 A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; one device would carry 322 A peak 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current per device ≤ 80 A</a:t>
            </a:r>
            <a:endParaRPr lang="sv-SE" sz="119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0334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C3A97-A2E8-8DDB-2213-3E63C538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Thermal path per device: load-test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5AB010-3F13-50CD-669A-DF99ECB7B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5139E8-77EC-ADAA-CD3D-97A204788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F797B68-0B1E-9AA3-6DDB-E88A960BE8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6067443"/>
              </p:ext>
            </p:extLst>
          </p:nvPr>
        </p:nvGraphicFramePr>
        <p:xfrm>
          <a:off x="238125" y="952500"/>
          <a:ext cx="5619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2500">
                  <a:extLst>
                    <a:ext uri="{9D8B030D-6E8A-4147-A177-3AD203B41FA5}">
                      <a16:colId xmlns:a16="http://schemas.microsoft.com/office/drawing/2014/main" val="3861881714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134800882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Path (LAM 4 K 50 12 in air, per device)</a:t>
                      </a:r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K/W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07302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el-G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θ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JC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(top),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57712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gap pad 0.4 mm, 5 W/mK, over the 15 mm² package top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0614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Al spreader, outer cell → tube (8 mm in 12.8 × 3 mm, 2 devices)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2709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Junction → heatsink,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47864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Heatsink → air, whole leg (Fischer LAM 4 K 50 12)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98267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FCD41AD-346B-CF03-2512-A5B15540E048}"/>
              </a:ext>
            </a:extLst>
          </p:cNvPr>
          <p:cNvSpPr txBox="1"/>
          <p:nvPr/>
        </p:nvSpPr>
        <p:spPr>
          <a:xfrm>
            <a:off x="6048375" y="952500"/>
            <a:ext cx="2857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amb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+ 0.65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leg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+ 7.6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The gap pad dominates (insulation is needed: the package top is at source potential)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 at full load: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69 °C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(40 °C ambient), 52 °C (25 °C), 78 °C with a 3 W/mK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): ×1.49 at 100 °C, ×1.80 at 150 °C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75264D-2A15-9389-27E7-6F2546ED05D7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Spreader and pad values are hand estimates from the dimensions; for n ≠ 4 the same per-device path is assumed.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8448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EB991-29D3-2071-EB15-E12C5ECC5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n identical cells per switch (one device and one driver each)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B2C8AB-252B-B8B7-FAC3-35AEBDF40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23E77-CE37-402F-F053-C9F014566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5579BC-17A9-F0EF-62D5-435C35CBB3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52" y="952500"/>
            <a:ext cx="7371896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E635CD-0EA8-86AB-4DA6-8C001E5723D5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228 A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leg, 50 kHz,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solved together (load-test board in air, previous slide); LTspice energies at 0.5 nH (left bars) and 1 nH (hatched)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 = 4: 18.0 W (0.5 nH) / 17.0 W (1 nH) per leg,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69 °C; peak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at 80 A: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83 V (0.5 nH), 93 V (1 nH)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69664D13-B6D4-054D-242C-616124153A71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EPC2361 per switch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&lt; 80 °C in all three cases; ≤ 90 V needs ≈ 0.5 nH; two equal pairs)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89589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BFFB3-DF3A-B33B-AA6C-1FF4F0FB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Where the loss comes from: line period and junction temperature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4F9D80-C3A6-5C97-EC07-57256B5C8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20D93E-93D9-ED74-0C86-19AFE9A70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3E0A3F-346B-436B-8E31-319906318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36" y="952500"/>
            <a:ext cx="7651128" cy="2952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4C0A90-A902-1833-ED34-250DC989DE64}"/>
              </a:ext>
            </a:extLst>
          </p:cNvPr>
          <p:cNvSpPr txBox="1"/>
          <p:nvPr/>
        </p:nvSpPr>
        <p:spPr>
          <a:xfrm>
            <a:off x="238125" y="3924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4, 50 kHz: switching loss follows |i| (plus a constant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part), conduction loss follows i²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Conduction 12.5 W per leg (at the load-test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); switching 5.0 W at 0.5 nH, 4.1 W at 1 nH (lower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higher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and overshoot)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64349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DC3AC-671E-029C-DF90-F9E39A50D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Losses vs number in parallel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702A9E-4DD0-E955-33C5-48986F66F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C7ACAE-087D-D5C7-26F2-EC4DDFE64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2D7520C-6AC0-5002-96DB-82DE78598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8068449"/>
              </p:ext>
            </p:extLst>
          </p:nvPr>
        </p:nvGraphicFramePr>
        <p:xfrm>
          <a:off x="238125" y="952500"/>
          <a:ext cx="866775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1750">
                  <a:extLst>
                    <a:ext uri="{9D8B030D-6E8A-4147-A177-3AD203B41FA5}">
                      <a16:colId xmlns:a16="http://schemas.microsoft.com/office/drawing/2014/main" val="222051943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79220425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19174796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89112866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264583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052021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70514729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14437650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52130650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 per switch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3873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0.5 nH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39.5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63670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1 nH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38.4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32565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conduction at 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79445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switching 0.5 / 1 nH (W)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4.6 / 3.8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5.6 / 4.6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/ 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7.3 / 6.1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8.2 / 6.9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3300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Efficiency, 0.5 nH (%)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99.37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99.63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377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device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1944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(°C)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923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V</a:t>
                      </a:r>
                      <a:r>
                        <a:rPr lang="en-US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0.5 / 1 nH (V)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195 / 292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131 / 180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/ 123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93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 / 86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87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48914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channels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22152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DA7B624-3199-EA28-EF46-E569AF1F9472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Semiconductor losses only; leg loss / (2 n) = loss per device; T_j on the load-test board at 40 °C ambient, 50 kHz; efficiency relative to 6.25 kW per leg.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231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EC4AB-30EB-E123-E045-3DEB67FCF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Switching frequency: losses, DC-link capacitors, current ripple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10F38A-A4B2-2100-554F-8B231A0CF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55EBD5-E468-B205-565C-C6D3E223C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6EEBCF-6402-9F4D-5B5F-CF661D42B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39" y="952500"/>
            <a:ext cx="7482322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A12AF1-8BD5-4324-BEC2-E5CB20B1C797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(a) n = 4: 99.77 / 99.71 / 99.61 % at 20 / 50 / 100 kHz; (b) the voltage ripple sets the 2220 count (20 per leg at 50 kHz), ripple current needs only 7; (c) winding ripple Δi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/(4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depends on the machine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6C6F01C4-EB96-4C47-516B-301E193145BD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≥ 50 kHz (higher allowed by the machine); the DC link is sized for 50 kHz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4562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9FF1F-2852-8172-9A4B-C66B5427A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DC-link sizing for a three-phase level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8C346-512D-A25C-6BC1-1F4C12090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41D178-65DA-2EBE-8059-677BD2C09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C44F21-A036-52A2-7C24-84816C97E7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3067717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306079-84DF-84B8-0CE0-D3EBC7ECC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956341"/>
              </p:ext>
            </p:extLst>
          </p:nvPr>
        </p:nvGraphicFramePr>
        <p:xfrm>
          <a:off x="5381625" y="952500"/>
          <a:ext cx="35242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3410084212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2021371287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3089453330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68528247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eff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level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06526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573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06183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5883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36236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64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87909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F1E3E78-485D-E2A3-DCAA-BF904826EFED}"/>
              </a:ext>
            </a:extLst>
          </p:cNvPr>
          <p:cNvSpPr txBox="1"/>
          <p:nvPr/>
        </p:nvSpPr>
        <p:spPr>
          <a:xfrm>
            <a:off x="5381625" y="2333625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One 75 V level = three legs on one bus (SVPWM, M = 1.15, cos φ = 0.9)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Balanced three-phase: no 2f ripple; capacitor RMS current 85 A per level (≈ 28 A per leg)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Per switching period the bank supplies the difference between the cell current and its average: ΔV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ΔQ / C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0" name="decision">
            <a:extLst>
              <a:ext uri="{FF2B5EF4-FFF2-40B4-BE49-F238E27FC236}">
                <a16:creationId xmlns:a16="http://schemas.microsoft.com/office/drawing/2014/main" id="{7EA44303-ABF0-E6DF-C019-CF50638D69A8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≤ 3 % (2.25 V) at 50 kHz ⇒ 127 µF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effective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per leg board ⇒ 20 × 22 µF 2220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3767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91830-269A-181A-D2DF-2B914B021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Capacitor selection: effective capacitance at 75 V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8CB03-76D8-BC54-8A50-1E6E99120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FE99AF-3693-D2FA-94FC-A81C67A84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C8F88BD-8167-BE44-8429-272BA2F3BD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50232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>
                  <a:extLst>
                    <a:ext uri="{9D8B030D-6E8A-4147-A177-3AD203B41FA5}">
                      <a16:colId xmlns:a16="http://schemas.microsoft.com/office/drawing/2014/main" val="1510961579"/>
                    </a:ext>
                  </a:extLst>
                </a:gridCol>
                <a:gridCol w="666750">
                  <a:extLst>
                    <a:ext uri="{9D8B030D-6E8A-4147-A177-3AD203B41FA5}">
                      <a16:colId xmlns:a16="http://schemas.microsoft.com/office/drawing/2014/main" val="428257334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035280728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38420043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980550091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11982636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 (100 V X7S)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nb-NO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</a:t>
                      </a:r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→ C at 75 V</a:t>
                      </a:r>
                      <a:endParaRPr lang="sv-SE" sz="12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Kept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ESR 50 kHz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 / leg (3 %)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99548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Murata GRM32EC72A106KE05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1.50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96880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C3225X7S2A475K200AB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0.92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24557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C4532X7S2A475K230KB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1.10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13.1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4891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C5750X7S2A106K230KB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2.45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4700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C5750X7S2A156M250KB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15.0 → 3.80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3.6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982579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C5750X7S2A226M280KB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22.0 → 6.35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2.8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55272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CDF8A34-F200-0093-2FBF-5F85E58AB20F}"/>
              </a:ext>
            </a:extLst>
          </p:cNvPr>
          <p:cNvSpPr txBox="1"/>
          <p:nvPr/>
        </p:nvSpPr>
        <p:spPr>
          <a:xfrm>
            <a:off x="238125" y="28575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 bias at 75 V from the manufacturers' characteristic data (TDK, Murata): 100 V class-II MLCCs keep only 15–29 %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TDK C5750X7S2A226M280KB (2220, 22 µF): highest C per part and per area (0.22 µF/mm²), 2.8 mΩ, 4.5 A for +10 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Checks: 2.8 mm height under the heatsink spreader; 2220 flex cracking ⇒ away from the board edge and holes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7A5A0DEE-75A3-3AFB-16CC-E1D45D3E418B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Bank: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20 × TDK C5750X7S2A226M280KB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per leg (2 rows), 127 µF effective, 1.4 A ripple per part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2806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3B74-4602-F0F3-1F26-6F7A5DFB6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Bypass capacitors: how many and how large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81F19-AFFE-4330-0B5B-6E12DBAE4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EC0575-CAE9-8779-D09A-9F81BF74B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5028DC-6C63-5854-C3E2-DF9EDE621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191000" cy="3213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F432B2-9F82-7F38-0DD4-5FCBB2E57F63}"/>
              </a:ext>
            </a:extLst>
          </p:cNvPr>
          <p:cNvSpPr txBox="1"/>
          <p:nvPr/>
        </p:nvSpPr>
        <p:spPr>
          <a:xfrm>
            <a:off x="4572000" y="952500"/>
            <a:ext cx="4333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Bypass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(1 µF 0805 at the drains) supplies the edge,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bank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the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ripple; per cell 81 A: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di/dt → number: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Cu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ESL/n ≈ 0.5 nH ⇒ n ≥ 4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Hand-over to the bank through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: C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≥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I/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V)² </a:t>
            </a:r>
            <a:r>
              <a:rPr lang="sv-SE" sz="1280" b="1">
                <a:solidFill>
                  <a:srgbClr val="C84632"/>
                </a:solidFill>
                <a:latin typeface="Arial" panose="020B0604020202020204" pitchFamily="34" charset="0"/>
              </a:rPr>
              <a:t>sets the value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from Q3D: (pending)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0805 1 µF 100 V X7S keeps only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18 %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at 75 V (TDK data): 0.18 µF per part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dip for 6 / 10 per cell: (pending bank model)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0A9772AE-7D0D-4D3F-91A3-D71D6C70F295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10 × 1 µF 0805 per cell: 6 on top at the drains + 4 on the bottom, identical in all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7616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A78B6-9CAA-A2E4-57D6-5B1FC63CC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 link of one leg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93C194-14B6-EF8A-7E2D-7D2122EF0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7E8A31-C14A-0022-6C1F-1F838CBFF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082ABD-F790-100E-B0EB-9BDD78FAE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049075"/>
              </p:ext>
            </p:extLst>
          </p:nvPr>
        </p:nvGraphicFramePr>
        <p:xfrm>
          <a:off x="238125" y="952500"/>
          <a:ext cx="4953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625">
                  <a:extLst>
                    <a:ext uri="{9D8B030D-6E8A-4147-A177-3AD203B41FA5}">
                      <a16:colId xmlns:a16="http://schemas.microsoft.com/office/drawing/2014/main" val="1680069700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329768377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026883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347975677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Nominal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At 75 V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777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Bypass, 10 per cell × 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× 1 µF 0805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95354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Bank, rows A (8) + B (12)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 × 22 µF 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440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700572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Total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134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532875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CCC501-191B-D25D-51D3-133D2DCBD9D3}"/>
              </a:ext>
            </a:extLst>
          </p:cNvPr>
          <p:cNvSpPr txBox="1"/>
          <p:nvPr/>
        </p:nvSpPr>
        <p:spPr>
          <a:xfrm>
            <a:off x="238125" y="238125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Ripple at 50 kHz with the three legs of a level sharing: </a:t>
            </a:r>
            <a:r>
              <a:rPr lang="en-US" sz="1470" b="1">
                <a:solidFill>
                  <a:srgbClr val="1E1E1E"/>
                </a:solidFill>
                <a:latin typeface="Arial" panose="020B0604020202020204" pitchFamily="34" charset="0"/>
              </a:rPr>
              <a:t>2.1 V (2.9 %)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Leg alone (DPT, back-to-back test without the busbar): ≈ 2× higher, acceptable for the lab tests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Bank ≥ 10 × bypass (127 vs 7 µF eff.): fulfilled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Row A leaves the board centre free for the DC terminal pins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DD25FE4-C956-19FE-F233-2D3EA10491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25" y="952500"/>
            <a:ext cx="3524250" cy="2417106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1ABA1389-2A19-4200-CF3D-B3EB92223208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DC link on the DPT and load-test boards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331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06EAC-323F-3DCE-7083-E9E8397FD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Can one driver drive all four?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671684-364A-F441-B29B-B41645F30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B452F9-F176-2036-B9FC-FB1A0F88A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7662E7-AF8F-E218-3C94-2545360596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25" y="952500"/>
            <a:ext cx="7423150" cy="233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6294EC7-A9E4-0B92-211F-75BF2263AC01}"/>
              </a:ext>
            </a:extLst>
          </p:cNvPr>
          <p:cNvSpPr txBox="1"/>
          <p:nvPr/>
        </p:nvSpPr>
        <p:spPr>
          <a:xfrm>
            <a:off x="238125" y="3333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Why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transistor rises with n per channel: the n gate capacitances (n × 3.6 nF C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iss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charge through one driver output (4 A source, 0.85 Ω) and a longer shared gate trace ⇒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rises n× slower ⇒ lower di/dt and dv/dt at turn-on ⇒ longer V–I overlap: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+16 / +31 / +60 %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for 3 / 4 / 6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(b) Extra gate-loop inductance of the longer tree raises the gate bump; (a) peak sink current 12–14 A for 4–6 devices exceeds the 8 A rating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(c) One channel per device is symmetric but needs 4 channels and supplies per switch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25319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54E32-BD86-409B-B105-399BBE67C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Driver arrangement for 1 … 4 EPC2361 per switch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5C406B-D6A9-13EA-1B97-C5A88985F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0A8F72-F9D8-9736-2CB1-21FC13092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8D1EA-CF48-708A-64EE-2055380550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29313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98A1A9-3ADA-E86F-A019-76757C441582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One dual-channel driver (HS + LS) between two cells: both gate loops equal, short (≈ 1.7 nH) and with their own Kelvin return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3 breaks the symmetry (pair + single)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4: two pairs, two drivers, one star per pair ⇒ the building block of two mirrored cells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98F8F668-96DE-FB7A-CE52-9DBD401C9C7E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driver channel; 4 per switch = two pairs = two drivers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7404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C0D65-2D70-D28B-A2E3-8B1E42B1F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driver selection: why the 2EDF7275K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549DC1-B2E5-39F9-4438-541908395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2F7D2-EC04-EBF3-F4C7-CEA361BC9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3A88408-A71A-A0E0-D4E4-C10B0B19E5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2701357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187446554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490608735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377801910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63141279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2EDF7275K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1EDF5673K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LMG1210 (TI)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30514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Channels / isolation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2, each output isolated (functional)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isolated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half bridge, bootstrap HS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006870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source / sink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 A / 8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 Ω / 0.35 Ω output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1.5 A / 3 A class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3949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Prop. delay /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 / ≤ 3 ns ch-ch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≤ 21 ns / ≤ 3.4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500389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CMTI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&gt; 200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V/ns (HS dv/dt)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53318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Off-voltage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external (Zener split)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built-in negative (RC)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V only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80515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ICs per switch (4 EPC2361)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(one per pair)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(weak for a pair)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037205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1753788-9485-038A-F4A5-4A32B7AC8D3E}"/>
              </a:ext>
            </a:extLst>
          </p:cNvPr>
          <p:cNvSpPr txBox="1"/>
          <p:nvPr/>
        </p:nvSpPr>
        <p:spPr>
          <a:xfrm>
            <a:off x="238125" y="3095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 pair needs ≈ 2 × 3.6 nF: 4 A / 8 A drives it at the single-device speed; the 1.5 A / 3 A half-bridge driver does not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isolated outputs in one 5 × 5 mm LGA: HS and LS of the same pair from one IC, ≤ 3 ns channel mismatch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Floating outputs: each output gets its own supply split (5.1 V Zener on, −1.2 V off) for the bump margin (next)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B97C30-382A-68E7-A756-815A338AC8B1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Data: Infineon / TI product pages and datasheets (2EDF7275K, 1EDF5673K, LMG1210); check the current revision.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5207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14678-4C89-7D08-88CB-305DA3055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symmetry: what sets the current sharing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99D4A6-2AC4-8A9E-B0CD-AD1E499C2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1BBA5D-B0DF-A194-28FC-DC75C965E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C61D8D-E1F2-5E33-396C-89D167666C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88" y="952500"/>
            <a:ext cx="6890624" cy="1666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FB20753-C0B2-6BFF-B2B8-B0141A3B52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5676670"/>
              </p:ext>
            </p:extLst>
          </p:nvPr>
        </p:nvGraphicFramePr>
        <p:xfrm>
          <a:off x="238125" y="26670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3269046357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2118908225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3281020801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178752423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Asymmetry (LTspice, two EPC2361 in parallel)</a:t>
                      </a:r>
                      <a:endParaRPr lang="sv-SE" sz="110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+E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imbalance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Layout 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3775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Power-loop inductance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mirrored cells, identical via sets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3831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Gate-loop inductance mismatch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2 vs 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4 : 1)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star network, equal gate traces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59955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inductance, no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0 %, both +47 % 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pad per device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6146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mismatch, no Kelvin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+0.2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return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0953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Threshold spread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driver channel per pair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09149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(conduction): copper /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  <a:endParaRPr lang="sv-SE" sz="110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self-limiting (positive TC)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copper (Q3D, step 11)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6837676"/>
                  </a:ext>
                </a:extLst>
              </a:tr>
            </a:tbl>
          </a:graphicData>
        </a:graphic>
      </p:graphicFrame>
      <p:sp>
        <p:nvSpPr>
          <p:cNvPr id="9" name="decision">
            <a:extLst>
              <a:ext uri="{FF2B5EF4-FFF2-40B4-BE49-F238E27FC236}">
                <a16:creationId xmlns:a16="http://schemas.microsoft.com/office/drawing/2014/main" id="{DD0F3086-4F0B-9C36-FF25-CC68E23490CF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Star gate network with Kelvin returns, one driver channel per pair, mirrored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90251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B5083-254B-F526-DC5E-02A2C777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bump and negative off-voltage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A90AE6-5CF5-F427-F915-EA49357D6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597E9F-AC78-F05F-AB4C-14E3903F5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883738-E255-5A9D-2C3F-BD1DC5831A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35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1400A4C-E0EA-B506-6242-72530A9D6F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2857500"/>
            <a:ext cx="5334000" cy="18329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834592-ECD0-833B-EDAF-324622EE91A1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Bump: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when the other device of the leg turns on, the off device sees dv/dt;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·dv/dt flows through its gate loop and lifts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by ≈ Q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≈ 1.06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Independent of load current and bus voltage (top b, c); close to the 0.8 V minimum threshold ⇒ shoot-through risk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Negative off-voltage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shifts the whole bump down: −1 V ⇒ peak ≈ 0 V; extra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divides it further (bottom)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Cost: reverse conduction in the dead time at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+ |V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| ⇒ +0.1 W per leg; undershoot −2.3 V (limit −4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Implemented: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− 5.1 V) ≈ −1.2 V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3933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61291-2F54-2ED8-4BF3-BCCB7772A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Building block: two mirrored cells, one centre driver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99CE82-AAFC-CD45-0025-067C00847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D8D328-F423-F84A-62DD-F4E90D6B9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39FAD6-53F1-178B-34FC-68EB382A34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143500" cy="32146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A25CB21-CBB7-60E1-7D1C-2C4B7CF3C979}"/>
              </a:ext>
            </a:extLst>
          </p:cNvPr>
          <p:cNvSpPr txBox="1"/>
          <p:nvPr/>
        </p:nvSpPr>
        <p:spPr>
          <a:xfrm>
            <a:off x="552450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Q3D model of the final board (cell band): copper per net, vias, FET pads and bypass terminals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cells mirrored about the driver: identical gate loops and Kelvin returns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2EDF7275K channel drives a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(star network,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0.5 Ω per transistor)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cell keeps its own commutation loop (step 11: 0.41 nH load board, 0.65 nH DPT board)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9625C73B-D320-8FB3-0432-EB26455A1996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channel;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per switch = two pairs, two drivers, one leg board</a:t>
            </a:r>
            <a:endParaRPr lang="sv-SE" sz="138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36927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BDF7E-B9B0-D168-970D-ECD4F5C7A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Rev B: four cells per switch, two drivers, one leg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37EA9E-0B37-307A-1890-AE9B4A7EE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E9F2F8-7DF9-E7D3-0F84-4E7CD1AEF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26</a:t>
            </a:fld>
            <a:endParaRPr lang="sv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FDA3FA-AD28-0456-D7A0-C37DEE040EEE}"/>
              </a:ext>
            </a:extLst>
          </p:cNvPr>
          <p:cNvSpPr/>
          <p:nvPr/>
        </p:nvSpPr>
        <p:spPr>
          <a:xfrm>
            <a:off x="333375" y="1143000"/>
            <a:ext cx="4476750" cy="3143250"/>
          </a:xfrm>
          <a:prstGeom prst="rect">
            <a:avLst/>
          </a:prstGeom>
          <a:solidFill>
            <a:srgbClr val="FFFFFF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rIns="25400" rtlCol="0" anchor="ctr"/>
          <a:lstStyle/>
          <a:p>
            <a:pPr algn="ctr"/>
            <a:endParaRPr lang="sv-SE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AB3061-8B24-37B7-4FBD-A2AA9AC4FF4B}"/>
              </a:ext>
            </a:extLst>
          </p:cNvPr>
          <p:cNvSpPr txBox="1"/>
          <p:nvPr/>
        </p:nvSpPr>
        <p:spPr>
          <a:xfrm>
            <a:off x="381000" y="1171575"/>
            <a:ext cx="2857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1010" b="1">
                <a:solidFill>
                  <a:srgbClr val="787878"/>
                </a:solidFill>
                <a:latin typeface="Arial" panose="020B0604020202020204" pitchFamily="34" charset="0"/>
              </a:rPr>
              <a:t>Rev B leg board, 89.5 × 80 mm, 4 layers</a:t>
            </a:r>
            <a:endParaRPr lang="sv-SE" sz="1010" b="1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8F8C3CF-893C-0851-2CBD-85F5E6925F17}"/>
              </a:ext>
            </a:extLst>
          </p:cNvPr>
          <p:cNvSpPr/>
          <p:nvPr/>
        </p:nvSpPr>
        <p:spPr>
          <a:xfrm>
            <a:off x="2095500" y="1352550"/>
            <a:ext cx="428625" cy="209550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DC+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EF58CB-8377-BCD7-47B4-06EE11F4A962}"/>
              </a:ext>
            </a:extLst>
          </p:cNvPr>
          <p:cNvSpPr/>
          <p:nvPr/>
        </p:nvSpPr>
        <p:spPr>
          <a:xfrm>
            <a:off x="2619375" y="1352550"/>
            <a:ext cx="428625" cy="2095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DC−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F8F80D-1E5F-5AC4-C765-5946F66AF97F}"/>
              </a:ext>
            </a:extLst>
          </p:cNvPr>
          <p:cNvCxnSpPr/>
          <p:nvPr/>
        </p:nvCxnSpPr>
        <p:spPr>
          <a:xfrm>
            <a:off x="523875" y="1638300"/>
            <a:ext cx="4095750" cy="0"/>
          </a:xfrm>
          <a:prstGeom prst="line">
            <a:avLst/>
          </a:prstGeom>
          <a:ln w="508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913E0D1-18DA-2BFE-CAB9-C11ABE077DC9}"/>
              </a:ext>
            </a:extLst>
          </p:cNvPr>
          <p:cNvCxnSpPr/>
          <p:nvPr/>
        </p:nvCxnSpPr>
        <p:spPr>
          <a:xfrm>
            <a:off x="523875" y="1752600"/>
            <a:ext cx="4095750" cy="0"/>
          </a:xfrm>
          <a:prstGeom prst="line">
            <a:avLst/>
          </a:prstGeom>
          <a:ln w="508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B1F55A-27F6-9DD7-9C0D-42CA64DD93B7}"/>
              </a:ext>
            </a:extLst>
          </p:cNvPr>
          <p:cNvCxnSpPr/>
          <p:nvPr/>
        </p:nvCxnSpPr>
        <p:spPr>
          <a:xfrm>
            <a:off x="2305050" y="1562100"/>
            <a:ext cx="0" cy="762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0CA8683-AC5F-F11C-F8ED-5C62D549AD06}"/>
              </a:ext>
            </a:extLst>
          </p:cNvPr>
          <p:cNvCxnSpPr/>
          <p:nvPr/>
        </p:nvCxnSpPr>
        <p:spPr>
          <a:xfrm>
            <a:off x="2828925" y="1562100"/>
            <a:ext cx="0" cy="1905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5B71507-E9B2-B5BA-FF10-A9A80A22E01F}"/>
              </a:ext>
            </a:extLst>
          </p:cNvPr>
          <p:cNvSpPr txBox="1"/>
          <p:nvPr/>
        </p:nvSpPr>
        <p:spPr>
          <a:xfrm>
            <a:off x="523875" y="1428750"/>
            <a:ext cx="15240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830">
                <a:solidFill>
                  <a:srgbClr val="787878"/>
                </a:solidFill>
                <a:latin typeface="Arial" panose="020B0604020202020204" pitchFamily="34" charset="0"/>
              </a:rPr>
              <a:t>laminated terminal row + one bank</a:t>
            </a:r>
            <a:endParaRPr lang="sv-SE" sz="8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859B87F-D820-4088-041B-4CDD042DFB65}"/>
              </a:ext>
            </a:extLst>
          </p:cNvPr>
          <p:cNvSpPr/>
          <p:nvPr/>
        </p:nvSpPr>
        <p:spPr>
          <a:xfrm>
            <a:off x="6191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1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13A1284-9D1E-3BE0-244F-3AA57CE4C3A8}"/>
              </a:ext>
            </a:extLst>
          </p:cNvPr>
          <p:cNvSpPr/>
          <p:nvPr/>
        </p:nvSpPr>
        <p:spPr>
          <a:xfrm>
            <a:off x="6667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CF1DC4E-D622-14B9-1DBC-FE9E315DE2EB}"/>
              </a:ext>
            </a:extLst>
          </p:cNvPr>
          <p:cNvCxnSpPr/>
          <p:nvPr/>
        </p:nvCxnSpPr>
        <p:spPr>
          <a:xfrm>
            <a:off x="9048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B2E0109-9D56-2DCA-BC8A-FE7FCBAD987C}"/>
              </a:ext>
            </a:extLst>
          </p:cNvPr>
          <p:cNvCxnSpPr/>
          <p:nvPr/>
        </p:nvCxnSpPr>
        <p:spPr>
          <a:xfrm>
            <a:off x="11906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6F5268-2ED6-70D9-D926-1B7C4A550572}"/>
              </a:ext>
            </a:extLst>
          </p:cNvPr>
          <p:cNvCxnSpPr/>
          <p:nvPr/>
        </p:nvCxnSpPr>
        <p:spPr>
          <a:xfrm>
            <a:off x="10477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9799D3-DEC7-DE0F-DA81-E406E2CE8014}"/>
              </a:ext>
            </a:extLst>
          </p:cNvPr>
          <p:cNvCxnSpPr/>
          <p:nvPr/>
        </p:nvCxnSpPr>
        <p:spPr>
          <a:xfrm>
            <a:off x="10477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4EAE056-BB2E-524C-F10F-87AC4AE03668}"/>
              </a:ext>
            </a:extLst>
          </p:cNvPr>
          <p:cNvSpPr/>
          <p:nvPr/>
        </p:nvSpPr>
        <p:spPr>
          <a:xfrm>
            <a:off x="16668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2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8C044FC-D1C1-65C7-B338-DD8952446F64}"/>
              </a:ext>
            </a:extLst>
          </p:cNvPr>
          <p:cNvSpPr/>
          <p:nvPr/>
        </p:nvSpPr>
        <p:spPr>
          <a:xfrm>
            <a:off x="17145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2B7CCD7-4A5A-6FDE-567A-FABA7EF71781}"/>
              </a:ext>
            </a:extLst>
          </p:cNvPr>
          <p:cNvCxnSpPr/>
          <p:nvPr/>
        </p:nvCxnSpPr>
        <p:spPr>
          <a:xfrm>
            <a:off x="19526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35BE9D5-AD8F-654B-3355-EFB3F7E8A954}"/>
              </a:ext>
            </a:extLst>
          </p:cNvPr>
          <p:cNvCxnSpPr/>
          <p:nvPr/>
        </p:nvCxnSpPr>
        <p:spPr>
          <a:xfrm>
            <a:off x="22383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B8F72AD-67CD-94BC-0501-831B87601E10}"/>
              </a:ext>
            </a:extLst>
          </p:cNvPr>
          <p:cNvCxnSpPr/>
          <p:nvPr/>
        </p:nvCxnSpPr>
        <p:spPr>
          <a:xfrm>
            <a:off x="20955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8344269-27FF-2B4A-17CF-E69816C377D7}"/>
              </a:ext>
            </a:extLst>
          </p:cNvPr>
          <p:cNvCxnSpPr/>
          <p:nvPr/>
        </p:nvCxnSpPr>
        <p:spPr>
          <a:xfrm>
            <a:off x="20955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F844451-C50A-257F-5AA8-251AB42F027B}"/>
              </a:ext>
            </a:extLst>
          </p:cNvPr>
          <p:cNvSpPr/>
          <p:nvPr/>
        </p:nvSpPr>
        <p:spPr>
          <a:xfrm>
            <a:off x="27146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3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675F9AD-0531-8427-D712-9F3BCB952446}"/>
              </a:ext>
            </a:extLst>
          </p:cNvPr>
          <p:cNvSpPr/>
          <p:nvPr/>
        </p:nvSpPr>
        <p:spPr>
          <a:xfrm>
            <a:off x="27622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E26A564-37CB-DF95-707C-F3F180588060}"/>
              </a:ext>
            </a:extLst>
          </p:cNvPr>
          <p:cNvCxnSpPr/>
          <p:nvPr/>
        </p:nvCxnSpPr>
        <p:spPr>
          <a:xfrm>
            <a:off x="30003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4D3D697-75D3-424F-2FF3-60174484C7FD}"/>
              </a:ext>
            </a:extLst>
          </p:cNvPr>
          <p:cNvCxnSpPr/>
          <p:nvPr/>
        </p:nvCxnSpPr>
        <p:spPr>
          <a:xfrm>
            <a:off x="32861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A04C345-AC21-9DC7-DA61-0D7DE32DF5F5}"/>
              </a:ext>
            </a:extLst>
          </p:cNvPr>
          <p:cNvCxnSpPr/>
          <p:nvPr/>
        </p:nvCxnSpPr>
        <p:spPr>
          <a:xfrm>
            <a:off x="31432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700129D-7FFE-DBBB-F57D-666163915E33}"/>
              </a:ext>
            </a:extLst>
          </p:cNvPr>
          <p:cNvCxnSpPr/>
          <p:nvPr/>
        </p:nvCxnSpPr>
        <p:spPr>
          <a:xfrm>
            <a:off x="31432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487EB5F2-0BF2-7321-93B6-2D1476583C53}"/>
              </a:ext>
            </a:extLst>
          </p:cNvPr>
          <p:cNvSpPr/>
          <p:nvPr/>
        </p:nvSpPr>
        <p:spPr>
          <a:xfrm>
            <a:off x="37623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4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84BE185-4CEC-1A6C-E93A-3960BC76E48B}"/>
              </a:ext>
            </a:extLst>
          </p:cNvPr>
          <p:cNvSpPr/>
          <p:nvPr/>
        </p:nvSpPr>
        <p:spPr>
          <a:xfrm>
            <a:off x="38100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DCD4051-9ED0-3959-0030-00A577CD585F}"/>
              </a:ext>
            </a:extLst>
          </p:cNvPr>
          <p:cNvCxnSpPr/>
          <p:nvPr/>
        </p:nvCxnSpPr>
        <p:spPr>
          <a:xfrm>
            <a:off x="40481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C0F33BB-4BB9-CE25-F207-7E35306B9CEE}"/>
              </a:ext>
            </a:extLst>
          </p:cNvPr>
          <p:cNvCxnSpPr/>
          <p:nvPr/>
        </p:nvCxnSpPr>
        <p:spPr>
          <a:xfrm>
            <a:off x="43338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A665B24-02DE-422F-7493-6585C9F0AEC3}"/>
              </a:ext>
            </a:extLst>
          </p:cNvPr>
          <p:cNvCxnSpPr/>
          <p:nvPr/>
        </p:nvCxnSpPr>
        <p:spPr>
          <a:xfrm>
            <a:off x="41910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6B63C27-9E77-4FAB-CAC6-9AD70EA37E8F}"/>
              </a:ext>
            </a:extLst>
          </p:cNvPr>
          <p:cNvCxnSpPr/>
          <p:nvPr/>
        </p:nvCxnSpPr>
        <p:spPr>
          <a:xfrm>
            <a:off x="41910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BFB422E-1FC3-B27B-2129-FE0BD55114B8}"/>
              </a:ext>
            </a:extLst>
          </p:cNvPr>
          <p:cNvSpPr/>
          <p:nvPr/>
        </p:nvSpPr>
        <p:spPr>
          <a:xfrm>
            <a:off x="10001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#1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2A2B8B8F-B91C-50B0-3BF2-B9565140EF46}"/>
              </a:ext>
            </a:extLst>
          </p:cNvPr>
          <p:cNvSpPr/>
          <p:nvPr/>
        </p:nvSpPr>
        <p:spPr>
          <a:xfrm>
            <a:off x="30956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#2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8ABC5C2-D212-FBE4-7E5A-6066A20A85F1}"/>
              </a:ext>
            </a:extLst>
          </p:cNvPr>
          <p:cNvCxnSpPr/>
          <p:nvPr/>
        </p:nvCxnSpPr>
        <p:spPr>
          <a:xfrm>
            <a:off x="809625" y="3476625"/>
            <a:ext cx="3381375" cy="0"/>
          </a:xfrm>
          <a:prstGeom prst="line">
            <a:avLst/>
          </a:prstGeom>
          <a:ln w="635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DCCEBA8-1CCC-FE7B-B52A-FDCBCF3C318C}"/>
              </a:ext>
            </a:extLst>
          </p:cNvPr>
          <p:cNvSpPr txBox="1"/>
          <p:nvPr/>
        </p:nvSpPr>
        <p:spPr>
          <a:xfrm>
            <a:off x="714375" y="3524250"/>
            <a:ext cx="1714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AC joined in copper (all layers)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69AB9B7-FE34-E772-43FF-DBB63CF86FC5}"/>
              </a:ext>
            </a:extLst>
          </p:cNvPr>
          <p:cNvCxnSpPr/>
          <p:nvPr/>
        </p:nvCxnSpPr>
        <p:spPr>
          <a:xfrm>
            <a:off x="2571750" y="3476625"/>
            <a:ext cx="0" cy="428625"/>
          </a:xfrm>
          <a:prstGeom prst="line">
            <a:avLst/>
          </a:prstGeom>
          <a:ln w="635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0526F4C5-955A-5CC0-86F1-C6457582EB4F}"/>
              </a:ext>
            </a:extLst>
          </p:cNvPr>
          <p:cNvSpPr txBox="1"/>
          <p:nvPr/>
        </p:nvSpPr>
        <p:spPr>
          <a:xfrm>
            <a:off x="2667000" y="3714750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ONE M6 AC bolt pad → Cu bar</a:t>
            </a:r>
          </a:p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→ LEM HO 250-S → load</a:t>
            </a:r>
            <a:endParaRPr lang="sv-SE" sz="92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337F6F-9DC4-55B1-689F-0344F24592A0}"/>
              </a:ext>
            </a:extLst>
          </p:cNvPr>
          <p:cNvSpPr txBox="1"/>
          <p:nvPr/>
        </p:nvSpPr>
        <p:spPr>
          <a:xfrm>
            <a:off x="5000625" y="952500"/>
            <a:ext cx="381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leg: 4 EPC2361 per switch,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2EDF7275K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each drives one pair (HS + LS channel) through a star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Why one driver per pair: the driver sits between its two cells ⇒ short, identical gate loops; one HS + one LS isolated supply, split per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DC+ / DC− 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at the centre: laminated terminal row (L1/L3 +, L2/L4 −) feeds one continuous bank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AC output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all four switch nodes joined, one M6 bolt pad, Cu bar through the HO 250-S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Built as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boards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from the same generator: DPT (UFCS shunt per cell) and load test (no shunt)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09787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336FC-CB3F-0D33-66B1-BC742D1EE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Two boards from one design: double-pulse test and load test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9EF685-F400-9DC6-A346-8515B9CB3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0E9CD4-44C9-1343-7FA7-B42F8FC20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A8ACC7B-9024-F6EC-8C4E-4903DE3B20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373294"/>
              </p:ext>
            </p:extLst>
          </p:nvPr>
        </p:nvGraphicFramePr>
        <p:xfrm>
          <a:off x="238125" y="952500"/>
          <a:ext cx="866775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3356420371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807650318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329993919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 (spb-bb-revb-dpt)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 (spb-bb-revb-load)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33092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Purpose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energies, per-cell current, overshoot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back-to-back / three-phase load test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57033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path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 per cell (1 mΩ, 120 pH)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source stripes via-in-pad (blind L1–L2) to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070272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UFCS land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land shortened to 1.2 mm: blade 1.45 mm from the source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07482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none (pulsed test)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Fischer LAM 4 K 50 12 on an Al spreader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3224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 (Q3D)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1369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874411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Parts / DRC / schematic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803072"/>
                  </a:ext>
                </a:extLst>
              </a:tr>
            </a:tbl>
          </a:graphicData>
        </a:graphic>
      </p:graphicFrame>
      <p:sp>
        <p:nvSpPr>
          <p:cNvPr id="7" name="decision">
            <a:extLst>
              <a:ext uri="{FF2B5EF4-FFF2-40B4-BE49-F238E27FC236}">
                <a16:creationId xmlns:a16="http://schemas.microsoft.com/office/drawing/2014/main" id="{B814D9FE-37B3-CF8E-75F3-4F31E84A04F2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copper, drivers, bank and terminals; only the LS source path and the cooling differ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76173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54E-D157-DA1A-3AEC-5C8B5B277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DPT board layout (UFCS shunts, no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C6AA91-F3FB-0E8A-BDB9-5477DB2A5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98CD85-8751-6407-BD98-F04F2871C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8633AE-1206-DE0C-E61D-41E92C288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248" y="952500"/>
            <a:ext cx="4140753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9B54019-EF59-B3B4-F1C9-5C5C02557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19680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4652552-A16A-B49F-2CBE-FCAA1B6686FA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80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UFCS-R001 per cell, IN land 1.2 mm (blade at the source edge), return vias in the SHLD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No heatsink, no spreader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48442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F8EF3-7C79-620F-077F-5E8A223EC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Load-test board layout (no shunt,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DD839F-C155-8F8A-FC40-26D6D92B5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725C9-EFD3-659D-BABA-54CADB154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137CCD-1B22-E140-CA3F-3C50F847A3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248" y="952500"/>
            <a:ext cx="4140753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53B7A2-F847-17C4-CC92-EF3D0AE159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19680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67EB97-0192-44BB-B579-E16BB27DD744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80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LS source stripes: 3 blind L1–L2 vias each (filled, capped) into the DC− plane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LAM 4 K 50 12 over the cells, 3 spreader holes (H5–H7)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50451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DD354-6355-29B8-6D2D-979B52B90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 two boards in 3D (KiCad models)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E46724-F980-B188-94E0-7B3BC4BD7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1BBC27-68E2-D9B6-2BE6-2631043D7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CC2AB0-B4AD-1B1E-FDC5-221E99B536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255" y="952500"/>
            <a:ext cx="4166365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DF432B9-D3B5-BF7B-03E8-D0319E6DA8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3609" y="952500"/>
            <a:ext cx="2995406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7C890FC-5710-4EBF-63A8-F1C37D5623F5}"/>
              </a:ext>
            </a:extLst>
          </p:cNvPr>
          <p:cNvSpPr txBox="1"/>
          <p:nvPr/>
        </p:nvSpPr>
        <p:spPr>
          <a:xfrm>
            <a:off x="238125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DPT board: UFCS shunts over the LS FETs, M6 AC bolt + Cu bar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F3FF52-C89E-7B93-706F-F3D1C528AAED}"/>
              </a:ext>
            </a:extLst>
          </p:cNvPr>
          <p:cNvSpPr txBox="1"/>
          <p:nvPr/>
        </p:nvSpPr>
        <p:spPr>
          <a:xfrm>
            <a:off x="4572000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Load-test board: LAM 4 K 50 12 + Al spreader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364545-37F0-2E18-379C-4EAF0837D823}"/>
              </a:ext>
            </a:extLst>
          </p:cNvPr>
          <p:cNvSpPr txBox="1"/>
          <p:nvPr/>
        </p:nvSpPr>
        <p:spPr>
          <a:xfrm>
            <a:off x="238125" y="4048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Every footprint has a 3D model (KiCad library + box models: EPC2361, 2EDF7275K, UFCS, TDK 2220, WE-CNSW, M6 bolt + bar, heatsink); board STEPs in hardware/spb-bb-revb-*/fab; rendered with pyvista (scripts/render_3d.py)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3606EB-AEC5-33F2-4022-840936C25FC6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Box models are dimensioned envelopes, not manufacturer CAD (UFCS SMA jack position approximate).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3155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81018-6765-5DE4-4039-695E7AC76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Top view with the silkscreen: DPT and load-test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D0B486-DA30-A063-A909-1BF1A6D57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EBD72E-D05F-AD07-2D89-DAA2B06BA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9D5A3E-F958-EDFA-F5E9-E10777E62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7" y="952500"/>
            <a:ext cx="3499566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B9DB72-155F-87F7-B684-020D11027E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9214" y="952500"/>
            <a:ext cx="3327071" cy="3429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36DBB1E-A293-BF1F-72BF-791987206722}"/>
              </a:ext>
            </a:extLst>
          </p:cNvPr>
          <p:cNvSpPr txBox="1"/>
          <p:nvPr/>
        </p:nvSpPr>
        <p:spPr>
          <a:xfrm>
            <a:off x="2381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 (UFCS shunts over the LS FETs)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399FE3-9222-BD8F-238E-434363D0ECE9}"/>
              </a:ext>
            </a:extLst>
          </p:cNvPr>
          <p:cNvSpPr txBox="1"/>
          <p:nvPr/>
        </p:nvSpPr>
        <p:spPr>
          <a:xfrm>
            <a:off x="46196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 (heatsink removed for the view)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8795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44322-8436-9B3E-6178-7C2623EFA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Bottom side and the load board without heatsink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AC68A4-2C8E-FE83-D134-C15D57EDE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DD86A6-2202-EEC4-6805-E0D59D953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52AD52-77E0-BD0D-AE40-E56123BAE9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855" y="952500"/>
            <a:ext cx="3803166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CE0525-ABCD-9999-227A-A57D6AB07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130" y="952500"/>
            <a:ext cx="4166365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795A53C-D0B3-8B85-C88A-6783B8128E6E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Bottom: REDCUBE M4 DC terminals (the leg stands on the busbar), 4 bypass 0805 per cell, U.FL probes, M6 AC nut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Top without heatsink: 20 × 2220 bank in two rows, 8 EPC2361 under the spreader pedestals, 2 drivers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68140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21134-B52E-B652-7C07-F0A208EF1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Two driver pairs on one switch node: driver skew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F7A7A8-DB10-5810-F399-30D34CC08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EDC29-104D-AA00-8F62-A68FDB15B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33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78116F-222B-FCAE-44AF-960E6336055A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four switch nodes are joined in copper;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inductance between the switch nodes of the two driver pairs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If driver 2 switches Δt later, pair 1 takes ΔI ≈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·Δt /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until pair 2 follows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(fast lx model, final boards):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(pending)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(HS on) /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(pending)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(LS on) on the load board, (pending) / (pending) nH on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⇒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≈ (pending) A per ns of skew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DE3B706-197F-4E3F-394F-F4FBB4617A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9912064"/>
              </p:ext>
            </p:extLst>
          </p:nvPr>
        </p:nvGraphicFramePr>
        <p:xfrm>
          <a:off x="5429251" y="1047750"/>
          <a:ext cx="338137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0">
                  <a:extLst>
                    <a:ext uri="{9D8B030D-6E8A-4147-A177-3AD203B41FA5}">
                      <a16:colId xmlns:a16="http://schemas.microsoft.com/office/drawing/2014/main" val="270116520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416654577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Rev B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651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PWM source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C2000 drives both headers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39902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Matched traces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PCB, same CMC per block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3771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skew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2EDF7275K part-to-part: check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429968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of both blocks, UFCS per cell (DPT)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187294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589278B7-12ED-E0F9-CFA6-1F959BBC12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250" y="2905125"/>
            <a:ext cx="3476625" cy="2172891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99E3549E-4937-4381-6C53-8E3D018A55CF}"/>
              </a:ext>
            </a:extLst>
          </p:cNvPr>
          <p:cNvSpPr/>
          <p:nvPr/>
        </p:nvSpPr>
        <p:spPr>
          <a:xfrm>
            <a:off x="238125" y="4400550"/>
            <a:ext cx="50482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Measure the per-cell current (UFCS) with both drivers switching; delay trim in the C2000 if needed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197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0733E-1A17-29C1-F504-E9EB7B2FA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supplies: two isolated supplies, Zener split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6D9890-FA91-ACE2-7CB5-C5AE5E4E9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4F4CC0-DE72-B588-6077-0287AA49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CD6788-3153-FD6E-AFEF-8B5531F0D9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5761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A6E902C-D237-D709-F1F1-4DF303902C02}"/>
              </a:ext>
            </a:extLst>
          </p:cNvPr>
          <p:cNvSpPr txBox="1"/>
          <p:nvPr/>
        </p:nvSpPr>
        <p:spPr>
          <a:xfrm>
            <a:off x="5381625" y="952500"/>
            <a:ext cx="3429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One external isolated supply for all HS drivers and one for all LS drivers; each splits per driver through a WE-CNSW common-mode choke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5.1 V Zener VDD–S and 150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bias resistor S–VEE (Karakaya, METU 2020, Fig. 4.1):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+5.1 V,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− 5.1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e.g.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6.3 V ⇒ −1.2 V off (bump mitigation); island decoupling 1 µF + 4.7 µF per rail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6905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10463-31B5-4784-2C61-15C18EFD5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Driver block: input filters, turn-on / turn-off paths, star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87F604-49D5-F505-D161-0240BFCF1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E52441-3AB4-87BC-8E8D-2AA97312B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914667-F295-FD7D-5109-662DB6307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05" y="952500"/>
            <a:ext cx="7531789" cy="2476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2F3EE2-2550-5B97-BA89-1A36157ECC15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block a 2×3 control header (12 V, GND, PWM_H, PWM_L, DIS) with common-mode chokes on each pair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47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/ 100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pF input filters, 10 k pull-downs,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0.75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+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Schottky,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transistor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2083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BB2FF-4698-6121-5B93-51833E0BC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Measurement and control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EAEF42-7AA3-7B2D-5DBF-32926FEB8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F398CD-77F1-0B87-C2A7-958C73DE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36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4FD7BE-09E8-1A72-5CCA-1F1F211B3D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293138"/>
              </p:ext>
            </p:extLst>
          </p:nvPr>
        </p:nvGraphicFramePr>
        <p:xfrm>
          <a:off x="238125" y="952500"/>
          <a:ext cx="495300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>
                  <a:extLst>
                    <a:ext uri="{9D8B030D-6E8A-4147-A177-3AD203B41FA5}">
                      <a16:colId xmlns:a16="http://schemas.microsoft.com/office/drawing/2014/main" val="705595269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510749993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75383292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Where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750663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current (DPT)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UFCS-R001, 1 mΩ, 120 pH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of each cell, DPT board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01809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Phase current (control)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LEM HO 250-S, ±625 A, 3.2 mV/A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 bar on the M6 AC pad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308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HS / LS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U.FL, 0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Ω,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shield =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cell (both boards)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60342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U.FL, 953 Ω (20:1 into 50 Ω)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cell (both boards)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93650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Heatsink temperature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NTC 10 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DC− domain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107233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DDF95D3F-A151-DC4C-F917-E40B3BEC5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3667125"/>
            <a:ext cx="5143500" cy="7008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D1F7D9-87BC-C088-80BE-D6744E0D8D49}"/>
              </a:ext>
            </a:extLst>
          </p:cNvPr>
          <p:cNvSpPr txBox="1"/>
          <p:nvPr/>
        </p:nvSpPr>
        <p:spPr>
          <a:xfrm>
            <a:off x="5429250" y="238125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Back-to-back load test, closed loop on a TI TMS320F28379D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Load board: no shunt ⇒ phase current from the HO 250-S, cell sharing from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No short-circuit protection on the boards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2624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40D0E-9A9E-4C90-700A-35F1D471E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stage schematics (generated, identical to the PCBs)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03F2A-80E4-8BE6-E274-D7FE73F67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82BCAF-87A3-D734-27B0-54B6B6883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7E5A6D-02C5-4016-CADE-349D3C60AC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952500"/>
            <a:ext cx="4507046" cy="1666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B4F30F-B2F7-6779-F540-600F9F36DF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2714625"/>
            <a:ext cx="4507046" cy="1666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DCA7B8-FACE-2B3C-E462-71E1904952A6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Top: DPT board (UFCS in each LS source). Bottom: load-test board (LS source to DC−). make_kicad_sch_revb.py; check_sch_vs_pcb.py: 0 problems on both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36231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4FA8B-9425-78A9-583A-18360D29A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Three legs on one 75 V bus: what the bus must do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E0311B-4F57-635D-F03D-627D7247E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17D24A-5E28-851F-406D-E0C07D8F1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38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97BE66-A936-8348-1683-483158EB36C6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The switching edge closes on each board (bypass + bank); the bus only carries the f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ripple between the leg banks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Sharing needs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≪ 1/(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C): at 50 kHz and ≈ 127 µF eff. per leg L ≪ 80 nH ⇒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target ≤ 5 nH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DC: 250 A stack current enters the level, 83 A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All-MLCC banks joined by nH copper form a high-Q resonator ⇒ damping footprints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7D3BC79-DA6F-066B-8A88-05173FA13ED6}"/>
              </a:ext>
            </a:extLst>
          </p:cNvPr>
          <p:cNvSpPr/>
          <p:nvPr/>
        </p:nvSpPr>
        <p:spPr>
          <a:xfrm>
            <a:off x="5429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a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a)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4005D34-6BAB-1D5F-67A7-348E75B91E24}"/>
              </a:ext>
            </a:extLst>
          </p:cNvPr>
          <p:cNvCxnSpPr/>
          <p:nvPr/>
        </p:nvCxnSpPr>
        <p:spPr>
          <a:xfrm>
            <a:off x="5715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4A6DC9-5EA7-50AB-8C9B-68A606CB412C}"/>
              </a:ext>
            </a:extLst>
          </p:cNvPr>
          <p:cNvCxnSpPr/>
          <p:nvPr/>
        </p:nvCxnSpPr>
        <p:spPr>
          <a:xfrm>
            <a:off x="6143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7D03EC1-67C6-CC62-4E6F-7F9F5E92255B}"/>
              </a:ext>
            </a:extLst>
          </p:cNvPr>
          <p:cNvSpPr/>
          <p:nvPr/>
        </p:nvSpPr>
        <p:spPr>
          <a:xfrm>
            <a:off x="6572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b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b)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A8FB7E1-1E48-7B8F-9735-A9D1B161C9EC}"/>
              </a:ext>
            </a:extLst>
          </p:cNvPr>
          <p:cNvCxnSpPr/>
          <p:nvPr/>
        </p:nvCxnSpPr>
        <p:spPr>
          <a:xfrm>
            <a:off x="6858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869C42-6761-379E-C203-EB5A86D62046}"/>
              </a:ext>
            </a:extLst>
          </p:cNvPr>
          <p:cNvCxnSpPr/>
          <p:nvPr/>
        </p:nvCxnSpPr>
        <p:spPr>
          <a:xfrm>
            <a:off x="7286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644BD1B-34B6-CC4F-0B41-21718384E13E}"/>
              </a:ext>
            </a:extLst>
          </p:cNvPr>
          <p:cNvSpPr/>
          <p:nvPr/>
        </p:nvSpPr>
        <p:spPr>
          <a:xfrm>
            <a:off x="7715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c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c)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9897351-4B98-9EC2-DABF-EE83EF8B6AC6}"/>
              </a:ext>
            </a:extLst>
          </p:cNvPr>
          <p:cNvCxnSpPr/>
          <p:nvPr/>
        </p:nvCxnSpPr>
        <p:spPr>
          <a:xfrm>
            <a:off x="8001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EBB1DC6-2F04-2432-DCF8-BCB5030CAAEF}"/>
              </a:ext>
            </a:extLst>
          </p:cNvPr>
          <p:cNvCxnSpPr/>
          <p:nvPr/>
        </p:nvCxnSpPr>
        <p:spPr>
          <a:xfrm>
            <a:off x="8429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E7893AD-B1FC-2FF2-78F5-2383507B8E9E}"/>
              </a:ext>
            </a:extLst>
          </p:cNvPr>
          <p:cNvCxnSpPr/>
          <p:nvPr/>
        </p:nvCxnSpPr>
        <p:spPr>
          <a:xfrm>
            <a:off x="5381625" y="2381250"/>
            <a:ext cx="3381375" cy="0"/>
          </a:xfrm>
          <a:prstGeom prst="line">
            <a:avLst/>
          </a:prstGeom>
          <a:ln w="635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702CCD-98CF-97C8-7E52-65779F8EC2EA}"/>
              </a:ext>
            </a:extLst>
          </p:cNvPr>
          <p:cNvCxnSpPr/>
          <p:nvPr/>
        </p:nvCxnSpPr>
        <p:spPr>
          <a:xfrm>
            <a:off x="5381625" y="2476500"/>
            <a:ext cx="3381375" cy="0"/>
          </a:xfrm>
          <a:prstGeom prst="line">
            <a:avLst/>
          </a:prstGeom>
          <a:ln w="635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4D7C152-0697-593B-7926-19596D50A818}"/>
              </a:ext>
            </a:extLst>
          </p:cNvPr>
          <p:cNvSpPr txBox="1"/>
          <p:nvPr/>
        </p:nvSpPr>
        <p:spPr>
          <a:xfrm>
            <a:off x="5429250" y="2552700"/>
            <a:ext cx="33337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laminated PCB busbar (L1 + / L2 − / L3 + / L4 −)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B85663C-0413-C225-7E78-467C1EB1F97C}"/>
              </a:ext>
            </a:extLst>
          </p:cNvPr>
          <p:cNvCxnSpPr/>
          <p:nvPr/>
        </p:nvCxnSpPr>
        <p:spPr>
          <a:xfrm>
            <a:off x="6953250" y="2476500"/>
            <a:ext cx="0" cy="571500"/>
          </a:xfrm>
          <a:prstGeom prst="line">
            <a:avLst/>
          </a:prstGeom>
          <a:ln w="381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6396C31-228B-6653-06B3-2E2C89F1105B}"/>
              </a:ext>
            </a:extLst>
          </p:cNvPr>
          <p:cNvSpPr txBox="1"/>
          <p:nvPr/>
        </p:nvSpPr>
        <p:spPr>
          <a:xfrm>
            <a:off x="6000750" y="3095625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stack lugs at the centre leg</a:t>
            </a:r>
          </a:p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to the levels above / below</a:t>
            </a:r>
            <a:endParaRPr lang="sv-SE" sz="92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76504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A5ED7-6FF5-5E9C-0E2B-27B944B15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PCB busbar: easy to manufacture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A21B0F-D8E1-6D71-86DD-CFAAF607C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71AB5E-8A17-38FF-FDE5-58F6B6387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202E13-8317-80BC-81FB-7CCC3E093C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697" y="952500"/>
            <a:ext cx="3716606" cy="13335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B037209-98A3-626A-5952-77A80636B4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988678"/>
              </p:ext>
            </p:extLst>
          </p:nvPr>
        </p:nvGraphicFramePr>
        <p:xfrm>
          <a:off x="238125" y="2428875"/>
          <a:ext cx="4095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2479466135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8009139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0210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298.5 × 45 mm, 1.6 mm, 4 layers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00436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Copper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(JLCPCB JLC3313); 3–4 oz option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01069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L1 DC+ / ≤ 0.2 mm / L2 DC− / core / L3 DC+ / ≤ 0.2 mm / L4 DC−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27101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contact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× M4: one DC pair per leg (REDCUBE, 6.5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2101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 contact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× M6 lug pads at the centre leg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03580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Insulation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frame holes with 8 mm Cu keep-out (1200 V)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352518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FFFDF03-2C50-22EC-DE20-D4F133508AF5}"/>
              </a:ext>
            </a:extLst>
          </p:cNvPr>
          <p:cNvSpPr txBox="1"/>
          <p:nvPr/>
        </p:nvSpPr>
        <p:spPr>
          <a:xfrm>
            <a:off x="4572000" y="2428875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Q3D (step 11): leg-to-leg loop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(pending) nH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at 1 MHz (a–b), DC busbar loss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Damping caps (100 V hybrid polymer) as DNP footprints; nylon standoffs at the leg corner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Generated: scripts/make_kicad_busbar.py, DRC clean; fab files in hardware/spb-busbar/fab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2773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0931A-D018-4D0B-74DA-831220F5E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75 V level in 3D: busbar + three load-test legs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362307-D77F-235D-F622-9B9EAA9AC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59F847-F17E-4FA4-A4EC-4265725F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07B9E4-643F-7DD2-B3C0-FF2823039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44" y="952500"/>
            <a:ext cx="5581113" cy="3143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37DD5F-EABD-B6DA-90B1-8E7F22CF5A98}"/>
              </a:ext>
            </a:extLst>
          </p:cNvPr>
          <p:cNvSpPr txBox="1"/>
          <p:nvPr/>
        </p:nvSpPr>
        <p:spPr>
          <a:xfrm>
            <a:off x="238125" y="4143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Legs a, b, c (pitch 94.5 mm, 5 mm gaps) stand on their REDCUBE DC terminals (6.5 mm) on the PCB busbar; M4 × 8 screws from below; AC bar of each leg through its LEM HO 250-S; heatsinks stay inside each board outline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23325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E64D6-98BC-6F96-EC89-2FEB5CADE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Level assembly: busbar side and DC connection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1B1464-21D7-31D5-48E6-9FCA15915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182FB7-D3F0-73D2-A61D-8F3A0B2C3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737BD4-ABBD-190C-65E3-E72302A8EB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38625" cy="1729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C059BC6-9CF8-C9C9-A140-31E5C30FF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52500"/>
            <a:ext cx="4238625" cy="18084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FC415F-E786-CF99-1CAF-3760861D5D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204" y="3429000"/>
            <a:ext cx="2944468" cy="12382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F16F847-F9B7-47A7-AE9E-A32AA8374054}"/>
              </a:ext>
            </a:extLst>
          </p:cNvPr>
          <p:cNvSpPr txBox="1"/>
          <p:nvPr/>
        </p:nvSpPr>
        <p:spPr>
          <a:xfrm>
            <a:off x="4572000" y="3429000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Right: middle leg on the bus: REDCUBE + M4, nylon standoffs, M6 stack lugs, DNP damping caps, level header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Left bottom: side view (z stack): busbar top z = 0, leg bottom 6.5 mm, heatsink top 52.8 mm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8025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98839-ADC7-E70D-BCF6-0C19440E4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Mechanics: heatsink length fixed by the leg pitch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073A54-539F-BD05-26EC-379D61B6F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185269-89F3-75B6-0751-5AF0566D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42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83A8D2-E4DA-AFCD-1246-52D0A64123A7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LAM 4 (100 mm) + fan = 110 mm: wider than the 89.5 mm board ⇒ with 5 mm gaps the heatsinks of neighbouring legs would overlap by ≈ 15 mm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LAM 4 K 50 12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(Farnell 4708974, 0.65 K/W): 50 mm tube + fan centred over the cells (x −35 … 25 mm), inside the board outline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Al spreader 89.5 × 12.8 × 3 mm carries the outer cells (x ±33 mm) to the tube; ≈ 18 W FET loss per leg ⇒ ≈ 12 K heatsink rise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Spreader underside 1.68 mm, top 4.68 mm: clears the 2.8 mm bank and all bypass parts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0CBE77-2FC1-0614-3CBA-D38E603DF1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8115" y="952500"/>
            <a:ext cx="2596019" cy="2476500"/>
          </a:xfrm>
          <a:prstGeom prst="rect">
            <a:avLst/>
          </a:prstGeom>
        </p:spPr>
      </p:pic>
      <p:sp>
        <p:nvSpPr>
          <p:cNvPr id="9" name="decision">
            <a:extLst>
              <a:ext uri="{FF2B5EF4-FFF2-40B4-BE49-F238E27FC236}">
                <a16:creationId xmlns:a16="http://schemas.microsoft.com/office/drawing/2014/main" id="{08F52A8F-2B3C-346C-D42F-384042642E61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Load board heatsink: LAM 4 K 50 12, centred; leg pitch stays 94.5 mm (busbar unchanged)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6071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C044-46F7-AF12-B9B7-B0056AA26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Full inverter: 16 levels on one 1200 V stack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BAEB8-81EE-4DB0-3F08-2FC13CA69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77A6BC-2506-AA65-4FFE-48B3B4CC6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26D148-1496-C3CC-D556-1D172188C9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973" y="952500"/>
            <a:ext cx="1081805" cy="38099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715BFEE-3E2E-13FD-B1EB-976B0F71C383}"/>
              </a:ext>
            </a:extLst>
          </p:cNvPr>
          <p:cNvSpPr txBox="1"/>
          <p:nvPr/>
        </p:nvSpPr>
        <p:spPr>
          <a:xfrm>
            <a:off x="3286125" y="952500"/>
            <a:ext cx="5524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16 identical levels (75 V each) stacked in z, pitch 72 mm ⇒ ≈ 1.15 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DC+ lug of level k ↔ DC− lug of level k + 1 by a Cu braid (8 × 1.5 mm in the model); stack ends = 1200 V DC+ / DC−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level: 3 legs = one three-phase winding set; AC bars + HO 250-S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Every level floats up to 1200 V above the frame: insulating standoffs with 8 mm Cu keep-out on the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Assembly STEP: hardware/assembly/spb-level-assembly.step (1 level), spb-stack-assembly.step (16 levels), scripts/make_assembly_step.py (OpenCascade)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C2C6C8-8601-3934-FC4E-A859ED2BA9B1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Stack direction and frame are illustrative: the machine-side layout (winding terminals) sets the final arrangement.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03700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441E5-D5A0-EB74-5DBB-65235F7DF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Fast Q3D set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485E05-6181-7F98-2914-DC7DC1315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D685B2-494B-7D6D-2A01-2130C1883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A76F837-E64A-8DAC-6073-4FACAFC935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7049455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916962295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103877885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575341237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192972346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425846024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Region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Solve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Gives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Run time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2945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(per board)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band y −4.6 … 20.6 mm, AC split per cell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commutation 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44 / 28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7356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full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whole board, all terminals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R only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current sharing, copper loss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26 / 22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353483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terminals + bank + bypass (y −25 … 4.3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DC-link port, 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bypass → 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216775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cells + AC columns + AC bus, no bank / terminals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the driver pairs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634003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busbar, stitching vias every 2nd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+ AC 1 MHz, 2 %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loop, DC distribution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81229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level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× bank model + busbar matrices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network (MNA)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sharing, |Z|, terminal currents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seconds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831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3138D88-7BF6-B83B-43B1-5C9733D8DF47}"/>
              </a:ext>
            </a:extLst>
          </p:cNvPr>
          <p:cNvSpPr txBox="1"/>
          <p:nvPr/>
        </p:nvSpPr>
        <p:spPr>
          <a:xfrm>
            <a:off x="238125" y="3714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Instead of one large model (&gt; 3 h, not converged): small models, each solved only for what it is used for; DC is solved for R only (the DC-inductance solve alone ran &gt; 19 h on the first attempt)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Run: simulation/bb_q3d/run_bb_q3d_final.cmd (KTH licence) → final_post.py → reports/slides/data/final_numbers.json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 times: DPT / load board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21416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25542-B2B2-7A31-2F21-D14E5C9BE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commutation loop per cell,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947D82-9332-0CB6-B6D7-48F49AA06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BFDB13-131C-A2FD-3C20-44077B112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632BD6-314F-C6A8-A905-780459214D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87" y="952500"/>
            <a:ext cx="5135777" cy="271462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50C8645-FA04-B418-6D36-AED07E379D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0301314"/>
              </p:ext>
            </p:extLst>
          </p:nvPr>
        </p:nvGraphicFramePr>
        <p:xfrm>
          <a:off x="5524501" y="952500"/>
          <a:ext cx="328612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875">
                  <a:extLst>
                    <a:ext uri="{9D8B030D-6E8A-4147-A177-3AD203B41FA5}">
                      <a16:colId xmlns:a16="http://schemas.microsoft.com/office/drawing/2014/main" val="1310908835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1493308358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427560174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Loop per cell (nH)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 test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698711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 / 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0.644 / 0.646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0.405 / 0.406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0696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 / 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0.642 / 0.654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0.407 / 0.410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072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mean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92821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C84632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173208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2B2D3D2-DCCC-C912-9AC9-FAC2221FDE32}"/>
              </a:ext>
            </a:extLst>
          </p:cNvPr>
          <p:cNvSpPr txBox="1"/>
          <p:nvPr/>
        </p:nvSpPr>
        <p:spPr>
          <a:xfrm>
            <a:off x="5524500" y="2667000"/>
            <a:ext cx="3286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All four LS switching together; HS shorted, bypass as its ESL, UFCS 120 pH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Cells within 2 % (DPT) and 1 % (load): left/right symmetric by layout (power vias pruned in mirror pairs)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DPT ≤ 90 V: turn-on ≤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23 A/ns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7314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D6F20-1AC6-A7A4-DE45-0BB7B497D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 model of the cell band (fast loop model)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074506-EF59-7692-395D-5C09A7336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DE196-88C6-F352-A249-1B315084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88C692-82E5-8D6B-F7BE-8F199257D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86250" cy="2678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249551-9991-98CE-8E8C-314C96F4AD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952500"/>
            <a:ext cx="4286250" cy="26789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1C20AF-E5E7-7EA5-0C5E-CDC7EDB8AFE1}"/>
              </a:ext>
            </a:extLst>
          </p:cNvPr>
          <p:cNvSpPr txBox="1"/>
          <p:nvPr/>
        </p:nvSpPr>
        <p:spPr>
          <a:xfrm>
            <a:off x="2381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board: LS source (green) to the UFCS land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4AB2EA-5809-8191-DD5C-5BEF18712DA7}"/>
              </a:ext>
            </a:extLst>
          </p:cNvPr>
          <p:cNvSpPr txBox="1"/>
          <p:nvPr/>
        </p:nvSpPr>
        <p:spPr>
          <a:xfrm>
            <a:off x="46196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board: LS source straight to DC−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AD7F24-942C-0596-45C1-8893241C4435}"/>
              </a:ext>
            </a:extLst>
          </p:cNvPr>
          <p:cNvSpPr txBox="1"/>
          <p:nvPr/>
        </p:nvSpPr>
        <p:spPr>
          <a:xfrm>
            <a:off x="238125" y="4095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Geometry exported from the routed KiCad boards (revb_export.py): copper per net and layer with clearance holes, vias with their layer span (blind L1–L2 on the load board), FET and bypass terminal pads; z stretched 4×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5904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2A164-0F98-56DF-8779-F1B2DFAAE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static current sharing and copper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F9232C-E674-6CCA-08BF-B5B3029C5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7443BD-09BA-1D0C-520C-CACBA9044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525859D-1803-A102-D381-CB7AB60D4B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72163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138959000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1324646489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572399835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385660742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77526455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Board, path (DC)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total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copper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share cell 1 / 2 / 3 / 4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max/min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62110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DC+ → HS FETs → AC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9366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AC → LS FETs → shunts → DC−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59025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DC+ → HS FETs → AC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1803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AC → LS FETs →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471052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E647771-06B1-8184-CB35-D0EF227B3F19}"/>
              </a:ext>
            </a:extLst>
          </p:cNvPr>
          <p:cNvSpPr txBox="1"/>
          <p:nvPr/>
        </p:nvSpPr>
        <p:spPr>
          <a:xfrm>
            <a:off x="238125" y="2524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Static sharing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how the conduction (DC) current splits between the four parallel cells: set by each cell's copper path (DC terminals → cell → AC pad) plus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; dynamic sharing during the edges is set by the gate loops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Full-board DC model; FET 0.75 mΩ × 1.49 (100 °C), UFCS 1 mΩ; DC terminals as one pair, AC at the M6 bolt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Board copper loss at 228 A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(DPT, + (pending) W in the shunts) /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Hand-over inductance bypass → bank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(pending) (bank model, 1 MHz) ⇒ used for the bypass sizing (step 6)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0753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BA020-1A1E-061E-1DD2-2A951CDA2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three load-test legs on the PCB busbar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13C589-A8F8-1954-38B9-7FD007727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10EAB-38B2-335B-42E5-8E743B0E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48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1DCDB26-4885-1377-A96C-C6A113FB3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082731"/>
              </p:ext>
            </p:extLst>
          </p:nvPr>
        </p:nvGraphicFramePr>
        <p:xfrm>
          <a:off x="238125" y="95250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4245741569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184292023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9598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1 MHz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368469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DC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2494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of leg a at 50 kHz from banks a / b / 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142348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 DC loss (250 A in, 3 × 83 A)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6530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Highest REDCUBE terminal current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81625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7FA13C-4352-3574-D8DC-6AA96DDE6C6D}"/>
              </a:ext>
            </a:extLst>
          </p:cNvPr>
          <p:cNvSpPr txBox="1"/>
          <p:nvPr/>
        </p:nvSpPr>
        <p:spPr>
          <a:xfrm>
            <a:off x="238125" y="3381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Network: Q3D bank-model matrices of three load-test legs (cells draw at their bypass; MLCCs with ESR/ESL, C at 75 V) + busbar (DC below 1 MHz, AC above); peaks in |Z| = inter-leg resonance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Target ≤ 5 nH leg to leg (step 10)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687685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CB90-CD20-91B8-D033-43E470BF1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Main findings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654C4D-F622-1C63-3BE5-183DF3A10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665969-0193-95B1-06D7-85F3FBC4E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4A1B4B9-C42B-BB63-B20F-E1AF8F1015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822520"/>
              </p:ext>
            </p:extLst>
          </p:nvPr>
        </p:nvGraphicFramePr>
        <p:xfrm>
          <a:off x="238125" y="952500"/>
          <a:ext cx="8667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3968668045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2135627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4083072625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94453071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Consequence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846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limit di/dt; load: 30 A/ns ok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38894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sharing, max/min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 with the UFCS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15141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copper loss at 228 A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endParaRPr lang="sv-SE" sz="119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 the board, not the FETs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144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driver pairs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skew →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 = 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 /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95740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 leg-to-leg loop (1 MHz)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target ≤ 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0936251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60CF6940-44BD-5F91-F958-7D75929EAD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2905125"/>
            <a:ext cx="3810000" cy="23812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DD57992-24B9-93B2-B70D-622FE18DF9C4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All values from the fast Q3D set on the final layouts (run_bb_q3d_final.cmd, final_post.py).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15884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7D8D8-2E48-7B33-54BD-86D0FA848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Fabrication files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FC5B55-421F-BEDD-3084-CF2E630A3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7F451C-9BE0-FD17-8D29-3D4FEB750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50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0DDC6B1-1677-3DDC-9DCF-8DEFB3E8C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4401515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79712882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334911036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131648279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Fab set (hardware/&lt;board&gt;/fab)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Notes for the fab house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8599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spb-bb-revb-dpt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STEP, assembly + schematic PDF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layers, 0.1 mm prepreg, via-in-pad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874012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spb-bb-revb-load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+ blind vias L1–L2 (0.25 mm)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7849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(JLC3313), bolt pads without mask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62913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spb-level-assembly.step, spb-stack-assembly.step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mechanics / frame design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477623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1BBBC3E-26AC-AD76-3BBF-4D2546376102}"/>
              </a:ext>
            </a:extLst>
          </p:cNvPr>
          <p:cNvSpPr txBox="1"/>
          <p:nvPr/>
        </p:nvSpPr>
        <p:spPr>
          <a:xfrm>
            <a:off x="238125" y="22860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Generated: make_kicad_bb_revb.py (BOARD=dpt | load), make_kicad_sch_revb.py, make_kicad_busbar.py, make_3d_models_revb.py, make_fab_outputs_revb.py, make_assembly_step.py, render_3d.py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Mechanical items (screws, spreader, gap pads, heatsink, lugs) are listed at the end of each BOM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314C53-0E67-EE53-FD25-2B58EF6B36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30" y="3000375"/>
            <a:ext cx="2017290" cy="18097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C10B9F-8FED-23D4-87E2-6FA1316980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980" y="3000375"/>
            <a:ext cx="2017290" cy="18097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255673F-74A2-F363-570E-0A88AAEF0B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3000375"/>
            <a:ext cx="4286250" cy="1537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4032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8BF38-7E87-2C5C-D742-74F11752C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Status and next steps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1A4476-6719-A9D1-A0CB-2750C2762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2FA43F-6238-E3E1-0091-56F07F4D7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03C6158-2E97-E3FF-6BBC-7087799AE1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8900908"/>
              </p:ext>
            </p:extLst>
          </p:nvPr>
        </p:nvGraphicFramePr>
        <p:xfrm>
          <a:off x="238125" y="952500"/>
          <a:ext cx="4953000" cy="1885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62282086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395073776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Status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75083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link: 20 × 22 µF 2220 + 10 × 1 µF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both layouts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9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board (UFCS, no heatsink)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738299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Load-test board (no shunt, LAM 4 K 50)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6200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clean, fab files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06844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Q3D: loop, DC,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busbar, level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running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35916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3D models, board + assembly STEP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42314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Fab outputs + BOMs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177166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and three-phase load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after 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689455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A6880E6-5486-FCE3-F2B9-A457C40EF43E}"/>
              </a:ext>
            </a:extLst>
          </p:cNvPr>
          <p:cNvSpPr txBox="1"/>
          <p:nvPr/>
        </p:nvSpPr>
        <p:spPr>
          <a:xfrm>
            <a:off x="542925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Order: DPT board first (switching energies, per-cell current, overshoot vs di/dt), then 3 load boards +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Mechanics: spreader drawing, frame and stack insulation from the assembly STEP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Decide after measurement: bank depopulation, damping caps, busbar copper weight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Machine: L</a:t>
            </a:r>
            <a:r>
              <a:rPr lang="el-GR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cos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φ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and the final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endParaRPr lang="sv-SE" sz="1380" baseline="-2500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72695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EF365-D0A4-4249-0FDD-7AE6366AF9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Thank you -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3B911-A9D5-8A30-F185-45D9A52E97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Enes Ayaz, KTH Royal Institute of Technology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68086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KTH">
      <a:dk1>
        <a:srgbClr val="000000"/>
      </a:dk1>
      <a:lt1>
        <a:srgbClr val="FFFFFF"/>
      </a:lt1>
      <a:dk2>
        <a:srgbClr val="65656C"/>
      </a:dk2>
      <a:lt2>
        <a:srgbClr val="838389"/>
      </a:lt2>
      <a:accent1>
        <a:srgbClr val="1954A6"/>
      </a:accent1>
      <a:accent2>
        <a:srgbClr val="5E87C0"/>
      </a:accent2>
      <a:accent3>
        <a:srgbClr val="2091C3"/>
      </a:accent3>
      <a:accent4>
        <a:srgbClr val="D02F80"/>
      </a:accent4>
      <a:accent5>
        <a:srgbClr val="D95999"/>
      </a:accent5>
      <a:accent6>
        <a:srgbClr val="61922E"/>
      </a:accent6>
      <a:hlink>
        <a:srgbClr val="65656C"/>
      </a:hlink>
      <a:folHlink>
        <a:srgbClr val="83838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7121384-D8C6-FA41-9A6B-F4615C0099B0}" vid="{DF4435B0-2EFE-BF49-8755-0024FDD40B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KTH_16_9</Template>
  <TotalTime>2</TotalTime>
  <Words>6869</Words>
  <Application>Microsoft Office PowerPoint</Application>
  <PresentationFormat>On-screen Show (16:9)</PresentationFormat>
  <Paragraphs>825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Office-tema</vt:lpstr>
      <vt:lpstr>SPB Leg Building Block: Design Flow</vt:lpstr>
      <vt:lpstr>Design flow</vt:lpstr>
      <vt:lpstr>Design inputs</vt:lpstr>
      <vt:lpstr>Phase current follows from the inputs</vt:lpstr>
      <vt:lpstr>Voltage class: why 100 V GaN</vt:lpstr>
      <vt:lpstr>EPC2361: key data and the Kelvin source</vt:lpstr>
      <vt:lpstr>Submodule voltage from L·di/dt</vt:lpstr>
      <vt:lpstr>Why not lower: every submodule costs parts and loss</vt:lpstr>
      <vt:lpstr>Power loop of one cell: copper, bypass ESL and shunt</vt:lpstr>
      <vt:lpstr>One EPC2361 per switch: how fast and how much overshoot</vt:lpstr>
      <vt:lpstr>Thermal path per device: load-test board</vt:lpstr>
      <vt:lpstr>n identical cells per switch (one device and one driver each)</vt:lpstr>
      <vt:lpstr>Where the loss comes from: line period and junction temperature</vt:lpstr>
      <vt:lpstr>Losses vs number in parallel</vt:lpstr>
      <vt:lpstr>Switching frequency: losses, DC-link capacitors, current ripple</vt:lpstr>
      <vt:lpstr>DC-link sizing for a three-phase level</vt:lpstr>
      <vt:lpstr>Capacitor selection: effective capacitance at 75 V</vt:lpstr>
      <vt:lpstr>Bypass capacitors: how many and how large</vt:lpstr>
      <vt:lpstr>DC link of one leg board</vt:lpstr>
      <vt:lpstr>Can one driver drive all four?</vt:lpstr>
      <vt:lpstr>Driver arrangement for 1 … 4 EPC2361 per switch</vt:lpstr>
      <vt:lpstr>Gate driver selection: why the 2EDF7275K</vt:lpstr>
      <vt:lpstr>Why symmetry: what sets the current sharing</vt:lpstr>
      <vt:lpstr>Gate bump and negative off-voltage</vt:lpstr>
      <vt:lpstr>Building block: two mirrored cells, one centre driver</vt:lpstr>
      <vt:lpstr>Rev B: four cells per switch, two drivers, one leg</vt:lpstr>
      <vt:lpstr>Two boards from one design: double-pulse test and load test</vt:lpstr>
      <vt:lpstr>DPT board layout (UFCS shunts, no heatsink)</vt:lpstr>
      <vt:lpstr>Load-test board layout (no shunt, heatsink)</vt:lpstr>
      <vt:lpstr>The two boards in 3D (KiCad models)</vt:lpstr>
      <vt:lpstr>Top view with the silkscreen: DPT and load-test boards</vt:lpstr>
      <vt:lpstr>Bottom side and the load board without heatsink</vt:lpstr>
      <vt:lpstr>Two driver pairs on one switch node: driver skew</vt:lpstr>
      <vt:lpstr>Gate supplies: two isolated supplies, Zener split</vt:lpstr>
      <vt:lpstr>Driver block: input filters, turn-on / turn-off paths, star</vt:lpstr>
      <vt:lpstr>Measurement and control</vt:lpstr>
      <vt:lpstr>Power stage schematics (generated, identical to the PCBs)</vt:lpstr>
      <vt:lpstr>Three legs on one 75 V bus: what the bus must do</vt:lpstr>
      <vt:lpstr>PCB busbar: easy to manufacture</vt:lpstr>
      <vt:lpstr>One 75 V level in 3D: busbar + three load-test legs</vt:lpstr>
      <vt:lpstr>Level assembly: busbar side and DC connection</vt:lpstr>
      <vt:lpstr>Mechanics: heatsink length fixed by the leg pitch</vt:lpstr>
      <vt:lpstr>Full inverter: 16 levels on one 1200 V stack</vt:lpstr>
      <vt:lpstr>Fast Q3D set on the final boards</vt:lpstr>
      <vt:lpstr>Q3D: commutation loop per cell, final boards</vt:lpstr>
      <vt:lpstr>Q3D model of the cell band (fast loop model)</vt:lpstr>
      <vt:lpstr>Q3D: static current sharing and copper loss</vt:lpstr>
      <vt:lpstr>Q3D: three load-test legs on the PCB busbar</vt:lpstr>
      <vt:lpstr>Main findings on the final boards</vt:lpstr>
      <vt:lpstr>Fabrication files</vt:lpstr>
      <vt:lpstr>Status and next steps</vt:lpstr>
      <vt:lpstr>Thank you - questions?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Malin Modig</dc:creator>
  <cp:lastModifiedBy>Enes Ayaz</cp:lastModifiedBy>
  <cp:revision>2</cp:revision>
  <dcterms:created xsi:type="dcterms:W3CDTF">2019-12-10T08:55:59Z</dcterms:created>
  <dcterms:modified xsi:type="dcterms:W3CDTF">2026-10-15T12:03:01Z</dcterms:modified>
</cp:coreProperties>
</file>