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4"/>
  </p:notesMasterIdLst>
  <p:handoutMasterIdLst>
    <p:handoutMasterId r:id="rId55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sldSz cx="9144000" cy="5143500" type="screen16x9"/>
  <p:notesSz cx="6858000" cy="9144000"/>
  <p:defaultTextStyle>
    <a:defPPr>
      <a:defRPr lang="sv-SE"/>
    </a:defPPr>
    <a:lvl1pPr marL="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044" autoAdjust="0"/>
    <p:restoredTop sz="94660"/>
  </p:normalViewPr>
  <p:slideViewPr>
    <p:cSldViewPr>
      <p:cViewPr varScale="1">
        <p:scale>
          <a:sx n="91" d="100"/>
          <a:sy n="91" d="100"/>
        </p:scale>
        <p:origin x="62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howGuides="1">
      <p:cViewPr varScale="1">
        <p:scale>
          <a:sx n="92" d="100"/>
          <a:sy n="92" d="100"/>
        </p:scale>
        <p:origin x="2796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sidhuvud 1">
            <a:extLst>
              <a:ext uri="{FF2B5EF4-FFF2-40B4-BE49-F238E27FC236}">
                <a16:creationId xmlns:a16="http://schemas.microsoft.com/office/drawing/2014/main" id="{8641E886-6D8F-4DA2-898A-00B1EAE1AC5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C9EDFE6A-05C8-4F6B-BA8A-F497180174A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4C3AE95-3DFC-4DDB-A7BB-B9BF94A03429}" type="datetimeFigureOut">
              <a:rPr lang="sv-SE" smtClean="0"/>
              <a:t>2026-10-15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AAE70C2B-4AA1-47BF-94B9-F7DF59FCFC3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ED3EF666-D1D2-478D-9969-E1DE1FE2D06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96AD15-F18B-494F-8904-C45D7BCBE60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06759420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8539D3-FAF3-FC43-8825-CC8C9D4686B2}" type="datetimeFigureOut">
              <a:rPr lang="sv-SE" smtClean="0"/>
              <a:t>2026-10-15</a:t>
            </a:fld>
            <a:endParaRPr lang="sv-S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sv-S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3B8005-7BF2-4B40-A831-B1EE96BFE5D5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984349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D42CF517-9DD4-421C-AE14-6B4A4453B0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1B926A-213D-3B48-BB0C-19ADA28B3F4D}" type="datetime1">
              <a:rPr lang="sv-SE" smtClean="0"/>
              <a:t>2026-10-15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9E3CD4D9-900F-4086-81FD-AB6606D8B7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528E8603-97F6-448F-AF1B-7D33D8C756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t>‹#›</a:t>
            </a:fld>
            <a:endParaRPr lang="sv-SE"/>
          </a:p>
        </p:txBody>
      </p:sp>
      <p:sp>
        <p:nvSpPr>
          <p:cNvPr id="24" name="Rubrik 1">
            <a:extLst>
              <a:ext uri="{FF2B5EF4-FFF2-40B4-BE49-F238E27FC236}">
                <a16:creationId xmlns:a16="http://schemas.microsoft.com/office/drawing/2014/main" id="{2973C368-F8A4-41B1-9D52-4D79988138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7928" y="1390867"/>
            <a:ext cx="8090297" cy="566641"/>
          </a:xfrm>
        </p:spPr>
        <p:txBody>
          <a:bodyPr anchor="t"/>
          <a:lstStyle>
            <a:lvl1pPr algn="l">
              <a:defRPr sz="2700"/>
            </a:lvl1pPr>
          </a:lstStyle>
          <a:p>
            <a:r>
              <a:rPr lang="en-US"/>
              <a:t>Click to edit Master title style</a:t>
            </a:r>
            <a:endParaRPr lang="sv-SE" dirty="0"/>
          </a:p>
        </p:txBody>
      </p:sp>
      <p:sp>
        <p:nvSpPr>
          <p:cNvPr id="25" name="Underrubrik 2">
            <a:extLst>
              <a:ext uri="{FF2B5EF4-FFF2-40B4-BE49-F238E27FC236}">
                <a16:creationId xmlns:a16="http://schemas.microsoft.com/office/drawing/2014/main" id="{040AB90C-B2A7-4284-98E0-80DAE0A2CD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67928" y="1974952"/>
            <a:ext cx="8090297" cy="596798"/>
          </a:xfrm>
        </p:spPr>
        <p:txBody>
          <a:bodyPr/>
          <a:lstStyle>
            <a:lvl1pPr marL="0" indent="0" algn="l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sv-SE" dirty="0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383F7B48-BB86-D74E-A1EB-2C3CDBAC7F27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r="700"/>
          <a:stretch/>
        </p:blipFill>
        <p:spPr>
          <a:xfrm>
            <a:off x="246063" y="2559025"/>
            <a:ext cx="8650292" cy="2443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89128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_e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918E66E3-BED5-4C6D-B465-40B84B88DB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7928" y="1390867"/>
            <a:ext cx="8090297" cy="566641"/>
          </a:xfrm>
        </p:spPr>
        <p:txBody>
          <a:bodyPr anchor="t"/>
          <a:lstStyle>
            <a:lvl1pPr algn="l">
              <a:defRPr sz="2700"/>
            </a:lvl1pPr>
          </a:lstStyle>
          <a:p>
            <a:r>
              <a:rPr lang="en-US"/>
              <a:t>Click to edit Master title style</a:t>
            </a:r>
            <a:endParaRPr lang="sv-SE" dirty="0"/>
          </a:p>
        </p:txBody>
      </p:sp>
      <p:sp>
        <p:nvSpPr>
          <p:cNvPr id="3" name="Underrubrik 2">
            <a:extLst>
              <a:ext uri="{FF2B5EF4-FFF2-40B4-BE49-F238E27FC236}">
                <a16:creationId xmlns:a16="http://schemas.microsoft.com/office/drawing/2014/main" id="{FF22D944-0354-4DCD-8334-3FC7C9FFC90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67928" y="1974952"/>
            <a:ext cx="8090297" cy="596798"/>
          </a:xfrm>
        </p:spPr>
        <p:txBody>
          <a:bodyPr/>
          <a:lstStyle>
            <a:lvl1pPr marL="0" indent="0" algn="l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sv-SE" dirty="0"/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D42CF517-9DD4-421C-AE14-6B4A4453B0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EF508-B04A-E34A-80DD-59A12C5D1039}" type="datetime1">
              <a:rPr lang="sv-SE" smtClean="0"/>
              <a:t>2026-10-15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9E3CD4D9-900F-4086-81FD-AB6606D8B7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528E8603-97F6-448F-AF1B-7D33D8C756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t>‹#›</a:t>
            </a:fld>
            <a:endParaRPr lang="sv-SE"/>
          </a:p>
        </p:txBody>
      </p:sp>
      <p:pic>
        <p:nvPicPr>
          <p:cNvPr id="9" name="Bildobjekt 19">
            <a:extLst>
              <a:ext uri="{FF2B5EF4-FFF2-40B4-BE49-F238E27FC236}">
                <a16:creationId xmlns:a16="http://schemas.microsoft.com/office/drawing/2014/main" id="{D08EEA80-13E5-4697-A9DA-21277742FA7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526476" y="333641"/>
            <a:ext cx="1287722" cy="20574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E50A1F01-262A-6542-96F8-9345B6213D97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r="700"/>
          <a:stretch/>
        </p:blipFill>
        <p:spPr>
          <a:xfrm>
            <a:off x="246063" y="2559025"/>
            <a:ext cx="8650292" cy="2443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80474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ubrik och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4EB0B6BB-AC5F-485A-85BA-F56E433C7D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69A48BD2-8B5B-44E1-8F6C-9B0D41A68E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D3F4D8-4BE6-D743-AE27-D14757A6F270}" type="datetime1">
              <a:rPr lang="sv-SE" smtClean="0"/>
              <a:t>2026-10-15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21B72178-9B2F-45A7-A31E-7710591B0F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  <a:endParaRPr lang="sv-SE" dirty="0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3155F99B-B767-4EF4-BDED-E7E361EB3F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‹#›</a:t>
            </a:fld>
            <a:endParaRPr lang="sv-SE"/>
          </a:p>
        </p:txBody>
      </p:sp>
      <p:sp>
        <p:nvSpPr>
          <p:cNvPr id="7" name="Platshållare för innehåll 6">
            <a:extLst>
              <a:ext uri="{FF2B5EF4-FFF2-40B4-BE49-F238E27FC236}">
                <a16:creationId xmlns:a16="http://schemas.microsoft.com/office/drawing/2014/main" id="{FA474A84-82A6-4747-B64B-83217A0CB54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131888" y="1194198"/>
            <a:ext cx="7765653" cy="3540919"/>
          </a:xfrm>
        </p:spPr>
        <p:txBody>
          <a:bodyPr>
            <a:normAutofit/>
          </a:bodyPr>
          <a:lstStyle>
            <a:lvl1pPr>
              <a:defRPr sz="1500"/>
            </a:lvl1pPr>
            <a:lvl2pPr marL="514350" indent="-171450">
              <a:buFont typeface="Arial" panose="020B0604020202020204" pitchFamily="34" charset="0"/>
              <a:buChar char="‒"/>
              <a:defRPr sz="1350"/>
            </a:lvl2pPr>
            <a:lvl3pPr marL="857250" indent="-171450">
              <a:buFont typeface="Arial" panose="020B0604020202020204" pitchFamily="34" charset="0"/>
              <a:buChar char="˃"/>
              <a:defRPr sz="1200"/>
            </a:lvl3pPr>
            <a:lvl4pPr>
              <a:defRPr sz="1050"/>
            </a:lvl4pPr>
            <a:lvl5pPr marL="1543050" indent="-171450">
              <a:buFont typeface="Arial" panose="020B0604020202020204" pitchFamily="34" charset="0"/>
              <a:buChar char="‒"/>
              <a:defRPr sz="105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27273272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ubrik och två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8C966D54-57EE-458D-979F-B857F3483E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63559-229D-724F-BBD5-623E582CF5C1}" type="datetime1">
              <a:rPr lang="sv-SE" smtClean="0"/>
              <a:t>2026-10-15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5C0D5306-1C16-4D96-8016-0B45E724AE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  <a:endParaRPr lang="sv-SE" dirty="0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2579ABBA-285A-4BDD-A8DE-D7E232663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‹#›</a:t>
            </a:fld>
            <a:endParaRPr lang="sv-SE"/>
          </a:p>
        </p:txBody>
      </p:sp>
      <p:sp>
        <p:nvSpPr>
          <p:cNvPr id="11" name="Platshållare för innehåll 6">
            <a:extLst>
              <a:ext uri="{FF2B5EF4-FFF2-40B4-BE49-F238E27FC236}">
                <a16:creationId xmlns:a16="http://schemas.microsoft.com/office/drawing/2014/main" id="{C23E0C61-4086-4E9E-9765-C96613FBE58E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03244" y="1193800"/>
            <a:ext cx="3794694" cy="3540919"/>
          </a:xfrm>
        </p:spPr>
        <p:txBody>
          <a:bodyPr>
            <a:normAutofit/>
          </a:bodyPr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 dirty="0"/>
          </a:p>
        </p:txBody>
      </p:sp>
      <p:sp>
        <p:nvSpPr>
          <p:cNvPr id="12" name="Platshållare för innehåll 6">
            <a:extLst>
              <a:ext uri="{FF2B5EF4-FFF2-40B4-BE49-F238E27FC236}">
                <a16:creationId xmlns:a16="http://schemas.microsoft.com/office/drawing/2014/main" id="{F4B1B781-8A23-4309-9884-DD6E3CE0EF2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1131888" y="1194594"/>
            <a:ext cx="3794694" cy="3540919"/>
          </a:xfrm>
        </p:spPr>
        <p:txBody>
          <a:bodyPr>
            <a:normAutofit/>
          </a:bodyPr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 dirty="0"/>
          </a:p>
        </p:txBody>
      </p:sp>
      <p:sp>
        <p:nvSpPr>
          <p:cNvPr id="6" name="Rubrik 5">
            <a:extLst>
              <a:ext uri="{FF2B5EF4-FFF2-40B4-BE49-F238E27FC236}">
                <a16:creationId xmlns:a16="http://schemas.microsoft.com/office/drawing/2014/main" id="{41903042-6CE8-4286-847C-7E810AF584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841581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ubrik, underrubriker och två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6945529D-785A-43B8-8CB0-BF49CF7DD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8C966D54-57EE-458D-979F-B857F3483E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F60D0-FE42-A248-8A54-F26FEA948759}" type="datetime1">
              <a:rPr lang="sv-SE" smtClean="0"/>
              <a:t>2026-10-15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5C0D5306-1C16-4D96-8016-0B45E724AE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  <a:endParaRPr lang="sv-SE" dirty="0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2579ABBA-285A-4BDD-A8DE-D7E232663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‹#›</a:t>
            </a:fld>
            <a:endParaRPr lang="sv-SE"/>
          </a:p>
        </p:txBody>
      </p:sp>
      <p:sp>
        <p:nvSpPr>
          <p:cNvPr id="8" name="Platshållare för innehåll 6">
            <a:extLst>
              <a:ext uri="{FF2B5EF4-FFF2-40B4-BE49-F238E27FC236}">
                <a16:creationId xmlns:a16="http://schemas.microsoft.com/office/drawing/2014/main" id="{6304BE55-467D-4CE2-9B8D-EC038C989AF6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03244" y="1664494"/>
            <a:ext cx="3794297" cy="3070622"/>
          </a:xfrm>
        </p:spPr>
        <p:txBody>
          <a:bodyPr>
            <a:normAutofit/>
          </a:bodyPr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 dirty="0"/>
          </a:p>
        </p:txBody>
      </p:sp>
      <p:sp>
        <p:nvSpPr>
          <p:cNvPr id="12" name="Platshållare för text 10">
            <a:extLst>
              <a:ext uri="{FF2B5EF4-FFF2-40B4-BE49-F238E27FC236}">
                <a16:creationId xmlns:a16="http://schemas.microsoft.com/office/drawing/2014/main" id="{4D066E04-C797-4C85-AD05-F6EFD42AED3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103244" y="1194197"/>
            <a:ext cx="3794297" cy="398859"/>
          </a:xfrm>
        </p:spPr>
        <p:txBody>
          <a:bodyPr>
            <a:noAutofit/>
          </a:bodyPr>
          <a:lstStyle>
            <a:lvl1pPr marL="0" indent="0">
              <a:buNone/>
              <a:defRPr sz="1500"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3" name="Platshållare för innehåll 6">
            <a:extLst>
              <a:ext uri="{FF2B5EF4-FFF2-40B4-BE49-F238E27FC236}">
                <a16:creationId xmlns:a16="http://schemas.microsoft.com/office/drawing/2014/main" id="{20A69851-5F12-40D3-A417-2DCD7530A5F4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1136220" y="1664494"/>
            <a:ext cx="3792153" cy="3070622"/>
          </a:xfrm>
        </p:spPr>
        <p:txBody>
          <a:bodyPr>
            <a:normAutofit/>
          </a:bodyPr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 dirty="0"/>
          </a:p>
        </p:txBody>
      </p:sp>
      <p:sp>
        <p:nvSpPr>
          <p:cNvPr id="14" name="Platshållare för text 10">
            <a:extLst>
              <a:ext uri="{FF2B5EF4-FFF2-40B4-BE49-F238E27FC236}">
                <a16:creationId xmlns:a16="http://schemas.microsoft.com/office/drawing/2014/main" id="{9472B11D-1B06-4AB9-A788-CEFECBDC8E16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36220" y="1194197"/>
            <a:ext cx="3792153" cy="398859"/>
          </a:xfrm>
        </p:spPr>
        <p:txBody>
          <a:bodyPr>
            <a:noAutofit/>
          </a:bodyPr>
          <a:lstStyle>
            <a:lvl1pPr marL="0" indent="0">
              <a:buNone/>
              <a:defRPr sz="1500"/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1804528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ubrik och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08A04EEF-7713-4918-A58B-127EED1C37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C91421C8-A909-4498-9C65-2C4F1875E5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A7D9E-CD1D-F144-88A8-27D2C4D672B1}" type="datetime1">
              <a:rPr lang="sv-SE" smtClean="0"/>
              <a:t>2026-10-15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698402AB-3C0D-47F3-B526-AEE8B976CD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  <a:endParaRPr lang="sv-SE" dirty="0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89E1C101-21B3-4DE8-ACC8-96D836B902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‹#›</a:t>
            </a:fld>
            <a:endParaRPr lang="sv-SE"/>
          </a:p>
        </p:txBody>
      </p:sp>
      <p:sp>
        <p:nvSpPr>
          <p:cNvPr id="7" name="Platshållare för bild 6">
            <a:extLst>
              <a:ext uri="{FF2B5EF4-FFF2-40B4-BE49-F238E27FC236}">
                <a16:creationId xmlns:a16="http://schemas.microsoft.com/office/drawing/2014/main" id="{FECDBECF-4709-417A-8783-E9CAB0603AC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46460" y="1194198"/>
            <a:ext cx="8651081" cy="3540919"/>
          </a:xfrm>
        </p:spPr>
        <p:txBody>
          <a:bodyPr/>
          <a:lstStyle/>
          <a:p>
            <a:r>
              <a:rPr lang="en-US"/>
              <a:t>Click icon to add picture</a:t>
            </a:r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953397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ubrik och två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08A04EEF-7713-4918-A58B-127EED1C37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C91421C8-A909-4498-9C65-2C4F1875E5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1585DF-A6DF-A54D-9960-BE991B45200F}" type="datetime1">
              <a:rPr lang="sv-SE" smtClean="0"/>
              <a:t>2026-10-15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698402AB-3C0D-47F3-B526-AEE8B976CD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  <a:endParaRPr lang="sv-SE" dirty="0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89E1C101-21B3-4DE8-ACC8-96D836B902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‹#›</a:t>
            </a:fld>
            <a:endParaRPr lang="sv-SE"/>
          </a:p>
        </p:txBody>
      </p:sp>
      <p:sp>
        <p:nvSpPr>
          <p:cNvPr id="7" name="Platshållare för bild 6">
            <a:extLst>
              <a:ext uri="{FF2B5EF4-FFF2-40B4-BE49-F238E27FC236}">
                <a16:creationId xmlns:a16="http://schemas.microsoft.com/office/drawing/2014/main" id="{FECDBECF-4709-417A-8783-E9CAB0603AC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46460" y="1194594"/>
            <a:ext cx="4237209" cy="3540919"/>
          </a:xfrm>
        </p:spPr>
        <p:txBody>
          <a:bodyPr/>
          <a:lstStyle/>
          <a:p>
            <a:r>
              <a:rPr lang="en-US"/>
              <a:t>Click icon to add picture</a:t>
            </a:r>
            <a:endParaRPr lang="sv-SE"/>
          </a:p>
        </p:txBody>
      </p:sp>
      <p:sp>
        <p:nvSpPr>
          <p:cNvPr id="9" name="Platshållare för bild 6">
            <a:extLst>
              <a:ext uri="{FF2B5EF4-FFF2-40B4-BE49-F238E27FC236}">
                <a16:creationId xmlns:a16="http://schemas.microsoft.com/office/drawing/2014/main" id="{3747F699-0360-4395-8415-6E5114D6C6C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660332" y="1194198"/>
            <a:ext cx="4237210" cy="3540919"/>
          </a:xfrm>
        </p:spPr>
        <p:txBody>
          <a:bodyPr/>
          <a:lstStyle/>
          <a:p>
            <a:r>
              <a:rPr lang="en-US"/>
              <a:t>Click icon to add picture</a:t>
            </a:r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1879584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ast 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2F4B5727-3AF8-4023-B42B-839E8695AB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892B391E-9C84-4E0D-898B-8454343BE6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91D87-1285-6843-BFFA-E098C31F828A}" type="datetime1">
              <a:rPr lang="sv-SE" smtClean="0"/>
              <a:t>2026-10-15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32D627AA-4087-4599-9513-63987ED834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  <a:endParaRPr lang="sv-SE" dirty="0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BDE0A226-9A3A-4E94-A386-D753C79EAE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1965859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rubrik 1">
            <a:extLst>
              <a:ext uri="{FF2B5EF4-FFF2-40B4-BE49-F238E27FC236}">
                <a16:creationId xmlns:a16="http://schemas.microsoft.com/office/drawing/2014/main" id="{EB551155-ADB6-4713-AD48-92A8C535A2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3680" y="250032"/>
            <a:ext cx="7763861" cy="6477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/>
          <a:p>
            <a:r>
              <a:rPr lang="sv-SE" dirty="0"/>
              <a:t>Klicka här för att ändra mall för rubrikformat</a:t>
            </a:r>
          </a:p>
        </p:txBody>
      </p:sp>
      <p:sp>
        <p:nvSpPr>
          <p:cNvPr id="3" name="Platshållare för text 2">
            <a:extLst>
              <a:ext uri="{FF2B5EF4-FFF2-40B4-BE49-F238E27FC236}">
                <a16:creationId xmlns:a16="http://schemas.microsoft.com/office/drawing/2014/main" id="{CEFDED03-B73B-4057-9667-7B69EF4D71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31887" y="1194197"/>
            <a:ext cx="7765653" cy="34385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sv-SE" dirty="0"/>
              <a:t>Klicka här för att ändra format på bakgrundstexten</a:t>
            </a:r>
          </a:p>
          <a:p>
            <a:pPr lvl="1"/>
            <a:r>
              <a:rPr lang="sv-SE" dirty="0"/>
              <a:t>Nivå två</a:t>
            </a:r>
          </a:p>
          <a:p>
            <a:pPr lvl="2"/>
            <a:r>
              <a:rPr lang="sv-SE" dirty="0"/>
              <a:t>Nivå tre</a:t>
            </a:r>
          </a:p>
          <a:p>
            <a:pPr lvl="3"/>
            <a:r>
              <a:rPr lang="sv-SE" dirty="0"/>
              <a:t>Nivå fyra</a:t>
            </a:r>
          </a:p>
          <a:p>
            <a:pPr lvl="4"/>
            <a:r>
              <a:rPr lang="sv-SE" dirty="0"/>
              <a:t>Nivå fem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80C11F1C-711C-4AD7-A25F-D2B3F451BB0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51520" y="4902599"/>
            <a:ext cx="2057400" cy="23257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BE8303-AD2F-DB4D-B8E2-7368B5FD02EE}" type="datetime1">
              <a:rPr lang="sv-SE" smtClean="0"/>
              <a:t>2026-10-15</a:t>
            </a:fld>
            <a:endParaRPr lang="sv-SE" dirty="0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C9465249-3F3D-4589-A44C-3AA1952E4C6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902599"/>
            <a:ext cx="3086100" cy="23257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sv-SE"/>
              <a:t>Footer</a:t>
            </a:r>
            <a:endParaRPr lang="sv-SE" dirty="0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F9DBF7EF-8E59-4075-A8F0-EF49E121CA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835080" y="4902599"/>
            <a:ext cx="2057400" cy="23257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422A9A3-8636-4A04-BD48-3153280FB086}" type="slidenum">
              <a:rPr lang="sv-SE" smtClean="0"/>
              <a:pPr/>
              <a:t>‹#›</a:t>
            </a:fld>
            <a:endParaRPr lang="sv-SE" dirty="0"/>
          </a:p>
        </p:txBody>
      </p:sp>
      <p:pic>
        <p:nvPicPr>
          <p:cNvPr id="8" name="Picture 2">
            <a:extLst>
              <a:ext uri="{FF2B5EF4-FFF2-40B4-BE49-F238E27FC236}">
                <a16:creationId xmlns:a16="http://schemas.microsoft.com/office/drawing/2014/main" id="{63C4B2EE-2B48-4379-BBD1-4FA250447FE8}"/>
              </a:ext>
            </a:extLst>
          </p:cNvPr>
          <p:cNvPicPr>
            <a:picLocks noChangeArrowheads="1"/>
          </p:cNvPicPr>
          <p:nvPr userDrawn="1"/>
        </p:nvPicPr>
        <p:blipFill>
          <a:blip r:embed="rId10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246551" y="250120"/>
            <a:ext cx="644150" cy="652399"/>
          </a:xfrm>
          <a:prstGeom prst="rect">
            <a:avLst/>
          </a:prstGeom>
          <a:noFill/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4" name="Rektangel 53">
            <a:extLst>
              <a:ext uri="{FF2B5EF4-FFF2-40B4-BE49-F238E27FC236}">
                <a16:creationId xmlns:a16="http://schemas.microsoft.com/office/drawing/2014/main" id="{D263F704-88D1-4479-BA22-2920B7F38621}"/>
              </a:ext>
            </a:extLst>
          </p:cNvPr>
          <p:cNvSpPr/>
          <p:nvPr userDrawn="1"/>
        </p:nvSpPr>
        <p:spPr>
          <a:xfrm>
            <a:off x="250750" y="4889099"/>
            <a:ext cx="8646791" cy="1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 sz="1013"/>
          </a:p>
        </p:txBody>
      </p:sp>
    </p:spTree>
    <p:extLst>
      <p:ext uri="{BB962C8B-B14F-4D97-AF65-F5344CB8AC3E}">
        <p14:creationId xmlns:p14="http://schemas.microsoft.com/office/powerpoint/2010/main" val="2765861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6" r:id="rId2"/>
    <p:sldLayoutId id="2147483653" r:id="rId3"/>
    <p:sldLayoutId id="2147483654" r:id="rId4"/>
    <p:sldLayoutId id="2147483655" r:id="rId5"/>
    <p:sldLayoutId id="2147483651" r:id="rId6"/>
    <p:sldLayoutId id="2147483652" r:id="rId7"/>
    <p:sldLayoutId id="2147483650" r:id="rId8"/>
  </p:sldLayoutIdLst>
  <p:hf hdr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7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‒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&gt;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‒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  <p15:guide id="3" pos="713" userDrawn="1">
          <p15:clr>
            <a:srgbClr val="F26B43"/>
          </p15:clr>
        </p15:guide>
        <p15:guide id="4" pos="5454" userDrawn="1">
          <p15:clr>
            <a:srgbClr val="F26B43"/>
          </p15:clr>
        </p15:guide>
        <p15:guide id="6" pos="358" userDrawn="1">
          <p15:clr>
            <a:srgbClr val="F26B43"/>
          </p15:clr>
        </p15:guide>
        <p15:guide id="7" orient="horz" pos="158" userDrawn="1">
          <p15:clr>
            <a:srgbClr val="F26B43"/>
          </p15:clr>
        </p15:guide>
        <p15:guide id="8" orient="horz" pos="3084" userDrawn="1">
          <p15:clr>
            <a:srgbClr val="F26B43"/>
          </p15:clr>
        </p15:guide>
        <p15:guide id="9" pos="5605" userDrawn="1">
          <p15:clr>
            <a:srgbClr val="F26B43"/>
          </p15:clr>
        </p15:guide>
        <p15:guide id="10" pos="155" userDrawn="1">
          <p15:clr>
            <a:srgbClr val="F26B43"/>
          </p15:clr>
        </p15:guide>
        <p15:guide id="11" pos="560" userDrawn="1">
          <p15:clr>
            <a:srgbClr val="F26B43"/>
          </p15:clr>
        </p15:guide>
        <p15:guide id="12" orient="horz" pos="566" userDrawn="1">
          <p15:clr>
            <a:srgbClr val="F26B43"/>
          </p15:clr>
        </p15:guide>
        <p15:guide id="13" orient="horz" pos="752" userDrawn="1">
          <p15:clr>
            <a:srgbClr val="F26B43"/>
          </p15:clr>
        </p15:guide>
        <p15:guide id="14" orient="horz" pos="2983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8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8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8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8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8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8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8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8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8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2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8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8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8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8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8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8.png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CAED79-87E8-0813-3980-13351B3AFCC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SPB Leg Building Block: Design Flow</a:t>
            </a:r>
            <a:endParaRPr lang="sv-S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31A1AA-FA68-CABA-368E-C489A3117BF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Four EPC2361 per switch: DPT and load-test boards, 1200 V / 300 kW SPB inverter</a:t>
            </a:r>
          </a:p>
          <a:p>
            <a:r>
              <a:rPr lang="en-US"/>
              <a:t>Enes Ayaz, KTH Royal Institute of Technology, October 2026</a:t>
            </a:r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6526135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146C9F-84C0-87BA-7AB4-8C2BD8A319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z="2100"/>
              <a:t>Design flow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A6A904-4A40-D0E7-8B1C-7BF9BE62C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8A33714-F9C3-0ABC-25CE-96277E4F69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CE3A63B-36AA-B03B-7F50-86D0BDCC7C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214176"/>
              </p:ext>
            </p:extLst>
          </p:nvPr>
        </p:nvGraphicFramePr>
        <p:xfrm>
          <a:off x="238125" y="952500"/>
          <a:ext cx="866775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1500">
                  <a:extLst>
                    <a:ext uri="{9D8B030D-6E8A-4147-A177-3AD203B41FA5}">
                      <a16:colId xmlns:a16="http://schemas.microsoft.com/office/drawing/2014/main" val="2681562165"/>
                    </a:ext>
                  </a:extLst>
                </a:gridCol>
                <a:gridCol w="2190750">
                  <a:extLst>
                    <a:ext uri="{9D8B030D-6E8A-4147-A177-3AD203B41FA5}">
                      <a16:colId xmlns:a16="http://schemas.microsoft.com/office/drawing/2014/main" val="975376476"/>
                    </a:ext>
                  </a:extLst>
                </a:gridCol>
                <a:gridCol w="5905500">
                  <a:extLst>
                    <a:ext uri="{9D8B030D-6E8A-4147-A177-3AD203B41FA5}">
                      <a16:colId xmlns:a16="http://schemas.microsoft.com/office/drawing/2014/main" val="769774303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endParaRPr lang="sv-SE" sz="138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Step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Question → decision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720969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Design inputs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1200 V, 300 kW, M ≤ 1.15, PMSM cos </a:t>
                      </a:r>
                      <a:r>
                        <a:rPr lang="el-GR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φ = 0.9 → 228 </a:t>
                      </a:r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A</a:t>
                      </a:r>
                      <a:r>
                        <a:rPr lang="sv-SE" sz="13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rms</a:t>
                      </a:r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per leg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171864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Device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100–650 V GaN survey, absolute and per volt → 100 V GaN, EPC2361 (Kelvin pad)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045644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Submodule voltage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</a:t>
                      </a:r>
                      <a:r>
                        <a:rPr lang="pt-BR" sz="13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</a:t>
                      </a:r>
                      <a:r>
                        <a:rPr lang="pt-BR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+ L·di/dt ≤ 90 V for 0.5 / 1 nH, even N → 75 V, N = 16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237707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One device, one driver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loop of one cell + LTspice at 0.5 / 1 nH → ≤ 80 A per device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895337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n in parallel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loss, T</a:t>
                      </a:r>
                      <a:r>
                        <a:rPr lang="sv-SE" sz="13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j</a:t>
                      </a:r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, V</a:t>
                      </a:r>
                      <a:r>
                        <a:rPr lang="sv-SE" sz="13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</a:t>
                      </a:r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vs n → 4 EPC2361 per switch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355085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f</a:t>
                      </a:r>
                      <a:r>
                        <a:rPr lang="sv-SE" sz="13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sw</a:t>
                      </a:r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, DC link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≥ 50 kHz; 3 % ripple → 20 × 22 µF 2220 + 10 × 1 µF bypass per cell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9744797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7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Gate drive → block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one 2EDF7275K per pair (star, Kelvin) → building block of two cells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7075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Four on one board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two pairs, one DC pair, one AC output → DPT board and load-test board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559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Supplies, measurement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two isolated supplies + Zener bias, UFCS per cell (DPT), U.FL, HO 250-S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8168148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Three-phase DC bus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legs share the 75 V bus → laminated PCB busbar; 3D level and 16-level stack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171963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11–12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Verification, boards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fast Q3D set on the final boards and the busbar; fab files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29648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5938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7A604E-8999-E4B4-4022-D67B88F3EC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z="2100"/>
              <a:t>Design inputs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8174A0B-2C7E-65CA-45C1-B58387374F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8AB434C-D839-64A2-B1F8-7E1975BD7C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DE8D140-1A7D-1124-CE0B-D424BFBCA3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8773" y="952500"/>
            <a:ext cx="7346453" cy="2047875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3437AEC5-9165-EDAB-AD87-DB2FD00355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2008425"/>
              </p:ext>
            </p:extLst>
          </p:nvPr>
        </p:nvGraphicFramePr>
        <p:xfrm>
          <a:off x="238125" y="3048000"/>
          <a:ext cx="4953000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9750">
                  <a:extLst>
                    <a:ext uri="{9D8B030D-6E8A-4147-A177-3AD203B41FA5}">
                      <a16:colId xmlns:a16="http://schemas.microsoft.com/office/drawing/2014/main" val="3672155359"/>
                    </a:ext>
                  </a:extLst>
                </a:gridCol>
                <a:gridCol w="3143250">
                  <a:extLst>
                    <a:ext uri="{9D8B030D-6E8A-4147-A177-3AD203B41FA5}">
                      <a16:colId xmlns:a16="http://schemas.microsoft.com/office/drawing/2014/main" val="168633862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Quantity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Value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6780556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DC bus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1200 V nominal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180060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Output power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300 kW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123282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Modulation index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 ≤ 1.15 (SVM)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387684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Machine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PMSM, cos </a:t>
                      </a:r>
                      <a:r>
                        <a:rPr lang="el-GR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φ </a:t>
                      </a:r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assumed 0.9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818685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Switching frequency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≥ 50 kHz (step 6)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7906196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Coolant / T</a:t>
                      </a:r>
                      <a:r>
                        <a:rPr lang="sv-SE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j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60 °C / ≤ 125 °C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448579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Device stress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</a:t>
                      </a:r>
                      <a:r>
                        <a:rPr lang="en-US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</a:t>
                      </a:r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≤ 90 V at nominal bus (100 V part)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1461569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CB16B937-03BF-899A-81B2-09BB3B132D4F}"/>
              </a:ext>
            </a:extLst>
          </p:cNvPr>
          <p:cNvSpPr txBox="1"/>
          <p:nvPr/>
        </p:nvSpPr>
        <p:spPr>
          <a:xfrm>
            <a:off x="5429250" y="3095625"/>
            <a:ext cx="347662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SPB: N three-phase submodules in series on the DC side, each feeding one winding set of the machine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V</a:t>
            </a:r>
            <a:r>
              <a:rPr lang="en-US" sz="1470" baseline="-25000">
                <a:solidFill>
                  <a:srgbClr val="1E1E1E"/>
                </a:solidFill>
                <a:latin typeface="Arial" panose="020B0604020202020204" pitchFamily="34" charset="0"/>
              </a:rPr>
              <a:t>m</a:t>
            </a: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 = 1200 V / N per submodule; each submodule = 3 legs on one DC link</a:t>
            </a:r>
            <a:endParaRPr lang="sv-SE" sz="147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55075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F6B1EE-7CC2-EB62-051F-DBDC787CA3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Phase current follows from the inputs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A46F5B-3C8C-6E2F-09CF-7ED9277106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D9470F-1442-04C6-AD84-1F0737456F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</a:t>
            </a:fld>
            <a:endParaRPr lang="sv-S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9E4DAC-67E6-BD44-F42F-39150895ACCB}"/>
              </a:ext>
            </a:extLst>
          </p:cNvPr>
          <p:cNvSpPr txBox="1"/>
          <p:nvPr/>
        </p:nvSpPr>
        <p:spPr>
          <a:xfrm>
            <a:off x="238125" y="952500"/>
            <a:ext cx="51435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560">
                <a:solidFill>
                  <a:srgbClr val="1E1E1E"/>
                </a:solidFill>
                <a:latin typeface="Arial" panose="020B0604020202020204" pitchFamily="34" charset="0"/>
              </a:rPr>
              <a:t>Each of the 3N legs delivers P/3N at V</a:t>
            </a:r>
            <a:r>
              <a:rPr lang="sv-SE" sz="1560" baseline="-25000">
                <a:solidFill>
                  <a:srgbClr val="1E1E1E"/>
                </a:solidFill>
                <a:latin typeface="Arial" panose="020B0604020202020204" pitchFamily="34" charset="0"/>
              </a:rPr>
              <a:t>ph</a:t>
            </a:r>
            <a:r>
              <a:rPr lang="sv-SE" sz="1560">
                <a:solidFill>
                  <a:srgbClr val="1E1E1E"/>
                </a:solidFill>
                <a:latin typeface="Arial" panose="020B0604020202020204" pitchFamily="34" charset="0"/>
              </a:rPr>
              <a:t> = M·V</a:t>
            </a:r>
            <a:r>
              <a:rPr lang="sv-SE" sz="1560" baseline="-25000">
                <a:solidFill>
                  <a:srgbClr val="1E1E1E"/>
                </a:solidFill>
                <a:latin typeface="Arial" panose="020B0604020202020204" pitchFamily="34" charset="0"/>
              </a:rPr>
              <a:t>m</a:t>
            </a:r>
            <a:r>
              <a:rPr lang="sv-SE" sz="1560">
                <a:solidFill>
                  <a:srgbClr val="1E1E1E"/>
                </a:solidFill>
                <a:latin typeface="Arial" panose="020B0604020202020204" pitchFamily="34" charset="0"/>
              </a:rPr>
              <a:t>/(2√2):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560">
                <a:solidFill>
                  <a:srgbClr val="1E1E1E"/>
                </a:solidFill>
                <a:latin typeface="Arial" panose="020B0604020202020204" pitchFamily="34" charset="0"/>
              </a:rPr>
              <a:t>I</a:t>
            </a:r>
            <a:r>
              <a:rPr lang="sv-SE" sz="1560" baseline="-25000">
                <a:solidFill>
                  <a:srgbClr val="1E1E1E"/>
                </a:solidFill>
                <a:latin typeface="Arial" panose="020B0604020202020204" pitchFamily="34" charset="0"/>
              </a:rPr>
              <a:t>rms</a:t>
            </a:r>
            <a:r>
              <a:rPr lang="sv-SE" sz="1560">
                <a:solidFill>
                  <a:srgbClr val="1E1E1E"/>
                </a:solidFill>
                <a:latin typeface="Arial" panose="020B0604020202020204" pitchFamily="34" charset="0"/>
              </a:rPr>
              <a:t> = P / (3 · M·V</a:t>
            </a:r>
            <a:r>
              <a:rPr lang="sv-SE" sz="1560" baseline="-25000">
                <a:solidFill>
                  <a:srgbClr val="1E1E1E"/>
                </a:solidFill>
                <a:latin typeface="Arial" panose="020B0604020202020204" pitchFamily="34" charset="0"/>
              </a:rPr>
              <a:t>bus</a:t>
            </a:r>
            <a:r>
              <a:rPr lang="sv-SE" sz="1560">
                <a:solidFill>
                  <a:srgbClr val="1E1E1E"/>
                </a:solidFill>
                <a:latin typeface="Arial" panose="020B0604020202020204" pitchFamily="34" charset="0"/>
              </a:rPr>
              <a:t>/(2√2) · cos </a:t>
            </a:r>
            <a:r>
              <a:rPr lang="el-GR" sz="1560">
                <a:solidFill>
                  <a:srgbClr val="1E1E1E"/>
                </a:solidFill>
                <a:latin typeface="Arial" panose="020B0604020202020204" pitchFamily="34" charset="0"/>
              </a:rPr>
              <a:t>φ)</a:t>
            </a:r>
          </a:p>
          <a:p>
            <a:pPr marL="685800" lvl="1" indent="-342900">
              <a:spcAft>
                <a:spcPts val="400"/>
              </a:spcAft>
              <a:buFont typeface="+mj-lt"/>
              <a:buChar char="–"/>
            </a:pPr>
            <a:r>
              <a:rPr lang="sv-SE" sz="1460">
                <a:solidFill>
                  <a:srgbClr val="1E1E1E"/>
                </a:solidFill>
                <a:latin typeface="Arial" panose="020B0604020202020204" pitchFamily="34" charset="0"/>
              </a:rPr>
              <a:t>N·V</a:t>
            </a:r>
            <a:r>
              <a:rPr lang="sv-SE" sz="1460" baseline="-25000">
                <a:solidFill>
                  <a:srgbClr val="1E1E1E"/>
                </a:solidFill>
                <a:latin typeface="Arial" panose="020B0604020202020204" pitchFamily="34" charset="0"/>
              </a:rPr>
              <a:t>m</a:t>
            </a:r>
            <a:r>
              <a:rPr lang="sv-SE" sz="1460">
                <a:solidFill>
                  <a:srgbClr val="1E1E1E"/>
                </a:solidFill>
                <a:latin typeface="Arial" panose="020B0604020202020204" pitchFamily="34" charset="0"/>
              </a:rPr>
              <a:t> = V</a:t>
            </a:r>
            <a:r>
              <a:rPr lang="sv-SE" sz="1460" baseline="-25000">
                <a:solidFill>
                  <a:srgbClr val="1E1E1E"/>
                </a:solidFill>
                <a:latin typeface="Arial" panose="020B0604020202020204" pitchFamily="34" charset="0"/>
              </a:rPr>
              <a:t>bus</a:t>
            </a:r>
            <a:r>
              <a:rPr lang="sv-SE" sz="1460">
                <a:solidFill>
                  <a:srgbClr val="1E1E1E"/>
                </a:solidFill>
                <a:latin typeface="Arial" panose="020B0604020202020204" pitchFamily="34" charset="0"/>
              </a:rPr>
              <a:t>: the phase current does </a:t>
            </a:r>
            <a:r>
              <a:rPr lang="sv-SE" sz="1460" b="1">
                <a:solidFill>
                  <a:srgbClr val="C84632"/>
                </a:solidFill>
                <a:latin typeface="Arial" panose="020B0604020202020204" pitchFamily="34" charset="0"/>
              </a:rPr>
              <a:t>not</a:t>
            </a:r>
            <a:r>
              <a:rPr lang="sv-SE" sz="1460">
                <a:solidFill>
                  <a:srgbClr val="1E1E1E"/>
                </a:solidFill>
                <a:latin typeface="Arial" panose="020B0604020202020204" pitchFamily="34" charset="0"/>
              </a:rPr>
              <a:t> depend on N</a:t>
            </a:r>
          </a:p>
          <a:p>
            <a:pPr marL="685800" lvl="1" indent="-342900">
              <a:spcAft>
                <a:spcPts val="400"/>
              </a:spcAft>
              <a:buFont typeface="+mj-lt"/>
              <a:buChar char="–"/>
            </a:pPr>
            <a:r>
              <a:rPr lang="sv-SE" sz="1460">
                <a:solidFill>
                  <a:srgbClr val="1E1E1E"/>
                </a:solidFill>
                <a:latin typeface="Arial" panose="020B0604020202020204" pitchFamily="34" charset="0"/>
              </a:rPr>
              <a:t>V</a:t>
            </a:r>
            <a:r>
              <a:rPr lang="sv-SE" sz="1460" baseline="-25000">
                <a:solidFill>
                  <a:srgbClr val="1E1E1E"/>
                </a:solidFill>
                <a:latin typeface="Arial" panose="020B0604020202020204" pitchFamily="34" charset="0"/>
              </a:rPr>
              <a:t>ph</a:t>
            </a:r>
            <a:r>
              <a:rPr lang="sv-SE" sz="1460">
                <a:solidFill>
                  <a:srgbClr val="1E1E1E"/>
                </a:solidFill>
                <a:latin typeface="Arial" panose="020B0604020202020204" pitchFamily="34" charset="0"/>
              </a:rPr>
              <a:t> = 1.15 · 75 V / 2√2 = 30.5 V; 6.25 kW per leg</a:t>
            </a:r>
          </a:p>
          <a:p>
            <a:pPr marL="685800" lvl="1" indent="-342900">
              <a:spcAft>
                <a:spcPts val="400"/>
              </a:spcAft>
              <a:buFont typeface="+mj-lt"/>
              <a:buChar char="–"/>
            </a:pPr>
            <a:r>
              <a:rPr lang="sv-SE" sz="1460" b="1">
                <a:solidFill>
                  <a:srgbClr val="1E1E1E"/>
                </a:solidFill>
                <a:latin typeface="Arial" panose="020B0604020202020204" pitchFamily="34" charset="0"/>
              </a:rPr>
              <a:t>228 Arms per leg</a:t>
            </a:r>
            <a:r>
              <a:rPr lang="sv-SE" sz="1460">
                <a:solidFill>
                  <a:srgbClr val="1E1E1E"/>
                </a:solidFill>
                <a:latin typeface="Arial" panose="020B0604020202020204" pitchFamily="34" charset="0"/>
              </a:rPr>
              <a:t>, 322 A peak (cos </a:t>
            </a:r>
            <a:r>
              <a:rPr lang="el-GR" sz="1460">
                <a:solidFill>
                  <a:srgbClr val="1E1E1E"/>
                </a:solidFill>
                <a:latin typeface="Arial" panose="020B0604020202020204" pitchFamily="34" charset="0"/>
              </a:rPr>
              <a:t>φ = 0.9)</a:t>
            </a:r>
          </a:p>
          <a:p>
            <a:pPr marL="685800" lvl="1" indent="-342900">
              <a:spcAft>
                <a:spcPts val="400"/>
              </a:spcAft>
              <a:buFont typeface="+mj-lt"/>
              <a:buChar char="–"/>
            </a:pPr>
            <a:r>
              <a:rPr lang="sv-SE" sz="1460">
                <a:solidFill>
                  <a:srgbClr val="1E1E1E"/>
                </a:solidFill>
                <a:latin typeface="Arial" panose="020B0604020202020204" pitchFamily="34" charset="0"/>
              </a:rPr>
              <a:t>DC current per leg 83 A; series DC chain 250 A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560">
                <a:solidFill>
                  <a:srgbClr val="1E1E1E"/>
                </a:solidFill>
                <a:latin typeface="Arial" panose="020B0604020202020204" pitchFamily="34" charset="0"/>
              </a:rPr>
              <a:t>Losses in this deck are for cos </a:t>
            </a:r>
            <a:r>
              <a:rPr lang="el-GR" sz="1560">
                <a:solidFill>
                  <a:srgbClr val="1E1E1E"/>
                </a:solidFill>
                <a:latin typeface="Arial" panose="020B0604020202020204" pitchFamily="34" charset="0"/>
              </a:rPr>
              <a:t>φ = 0.9; </a:t>
            </a:r>
            <a:r>
              <a:rPr lang="sv-SE" sz="1560">
                <a:solidFill>
                  <a:srgbClr val="1E1E1E"/>
                </a:solidFill>
                <a:latin typeface="Arial" panose="020B0604020202020204" pitchFamily="34" charset="0"/>
              </a:rPr>
              <a:t>the PMSM operating point is confirmed with the machine design</a:t>
            </a:r>
            <a:endParaRPr lang="sv-SE" sz="156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C3BA57E6-CF57-1EEF-0075-75711B3748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1016800"/>
              </p:ext>
            </p:extLst>
          </p:nvPr>
        </p:nvGraphicFramePr>
        <p:xfrm>
          <a:off x="5667375" y="952500"/>
          <a:ext cx="3238500" cy="1047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9250">
                  <a:extLst>
                    <a:ext uri="{9D8B030D-6E8A-4147-A177-3AD203B41FA5}">
                      <a16:colId xmlns:a16="http://schemas.microsoft.com/office/drawing/2014/main" val="1768025871"/>
                    </a:ext>
                  </a:extLst>
                </a:gridCol>
                <a:gridCol w="1619250">
                  <a:extLst>
                    <a:ext uri="{9D8B030D-6E8A-4147-A177-3AD203B41FA5}">
                      <a16:colId xmlns:a16="http://schemas.microsoft.com/office/drawing/2014/main" val="1419094206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56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cos </a:t>
                      </a:r>
                      <a:r>
                        <a:rPr lang="el-GR" sz="156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φ</a:t>
                      </a:r>
                      <a:endParaRPr lang="sv-SE" sz="156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56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I</a:t>
                      </a:r>
                      <a:r>
                        <a:rPr lang="sv-SE" sz="1560" b="1" baseline="-2500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rms</a:t>
                      </a:r>
                      <a:r>
                        <a:rPr lang="sv-SE" sz="156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 per leg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733147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56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1.0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56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205 A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978008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56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0.95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56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216 A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333777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56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0.9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56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228 A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406824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56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0.85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56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241 A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05897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26637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4AC5E2-B30F-F3D9-2C98-071C6FC554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Voltage class: why 100 V GaN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F001724-5B63-69D9-9639-2B4418276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2F7E7D-5277-8D90-1ED6-11B5349505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5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C4115ED-AABF-067A-E75F-07FC316E97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910" y="952500"/>
            <a:ext cx="7284181" cy="25717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4FDA856-5669-8DFB-33D8-AE5AB363C9D5}"/>
              </a:ext>
            </a:extLst>
          </p:cNvPr>
          <p:cNvSpPr txBox="1"/>
          <p:nvPr/>
        </p:nvSpPr>
        <p:spPr>
          <a:xfrm>
            <a:off x="238125" y="354330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(a) At fixed bus voltage and phase current the minimum semiconductor loss scales with √(R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DS(on)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·C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oss,tr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): the 100 V GaN parts have the lowest product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(b) Per volt of blocking capability: 100 V GaN has the lowest R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DS(on)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/V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DS,max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(EPC2361 7.5 µΩ/V, 3–30× below 200–650 V) at a higher C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oss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/V; conduction dominates here (12.4 W vs 4–5 W switching per leg, step 5)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(c) Best device per class: 100 V needs more submodules but the fewest devices per switch and the smallest voltage step → </a:t>
            </a:r>
            <a:r>
              <a:rPr lang="en-US" sz="1190" b="1">
                <a:solidFill>
                  <a:srgbClr val="1E1E1E"/>
                </a:solidFill>
                <a:latin typeface="Arial" panose="020B0604020202020204" pitchFamily="34" charset="0"/>
              </a:rPr>
              <a:t>EPC2361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, 100 V, 0.75 mΩ typ, 3 × 5 mm, top-side cooling</a:t>
            </a:r>
            <a:endParaRPr lang="sv-SE" sz="119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121823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84177-5029-F677-4FCC-48C850DC06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EPC2361: key data and the Kelvin source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B84CB78-A3A0-965C-9BD6-514C037CE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2D1F31-8FA7-DE08-F39B-D995B8F54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6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CDD43C3-8901-43C4-0928-C8B789758F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7070" y="952500"/>
            <a:ext cx="6749859" cy="2428875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4E58A65F-6059-BBB0-28AB-0B72CA09F1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9937188"/>
              </p:ext>
            </p:extLst>
          </p:nvPr>
        </p:nvGraphicFramePr>
        <p:xfrm>
          <a:off x="238125" y="3448050"/>
          <a:ext cx="4476750" cy="125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5500">
                  <a:extLst>
                    <a:ext uri="{9D8B030D-6E8A-4147-A177-3AD203B41FA5}">
                      <a16:colId xmlns:a16="http://schemas.microsoft.com/office/drawing/2014/main" val="2879929065"/>
                    </a:ext>
                  </a:extLst>
                </a:gridCol>
                <a:gridCol w="2381250">
                  <a:extLst>
                    <a:ext uri="{9D8B030D-6E8A-4147-A177-3AD203B41FA5}">
                      <a16:colId xmlns:a16="http://schemas.microsoft.com/office/drawing/2014/main" val="1836740410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Parameter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Value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486926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/ transient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100 / 120 V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565851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DS(on)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0.75 m</a:t>
                      </a:r>
                      <a:r>
                        <a:rPr lang="el-GR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Ω 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typ (1.0 max)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880287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GS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range / V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GS(th)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−4 … +6 V / 0.8 – 2.5 V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884091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iss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/ C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oss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/ C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rss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3599 / 1019 / 13 pF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060170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Q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/ Q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GD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/ Q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OSS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28 / 3.8 / 90 nC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9617424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29060352-A8AE-F947-885A-30414FEF1E27}"/>
              </a:ext>
            </a:extLst>
          </p:cNvPr>
          <p:cNvSpPr txBox="1"/>
          <p:nvPr/>
        </p:nvSpPr>
        <p:spPr>
          <a:xfrm>
            <a:off x="4857750" y="3448050"/>
            <a:ext cx="404812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Kelvin pad 2 next to the gate: the gate loop returns at the die, the source stripes and vias (L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S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) stay in the power loop only ⇒ no L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S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·di/dt feedback into v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GS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Low threshold and −4 V limit: gate bump and negative bias need care (step 7)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Top of the package at </a:t>
            </a:r>
            <a:r>
              <a:rPr lang="en-US" sz="1190" b="1">
                <a:solidFill>
                  <a:srgbClr val="C84632"/>
                </a:solidFill>
                <a:latin typeface="Arial" panose="020B0604020202020204" pitchFamily="34" charset="0"/>
              </a:rPr>
              <a:t>source potential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: the thermal interface must insulate</a:t>
            </a:r>
            <a:endParaRPr lang="sv-SE" sz="119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38030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EBC86-F4B2-57CB-DC88-F0822EC965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z="2100"/>
              <a:t>Submodule voltage from L·di/dt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611B30-CAFE-E3B3-7479-458209E34E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A3CB1AC-F09F-7343-45D1-C8D2E49E52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7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2CB2B82-B5CB-9F1A-7029-ABD20FE5D3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7322" y="952500"/>
            <a:ext cx="6269356" cy="25527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27E869B-9B15-F1BC-CE3C-B79EDA549C05}"/>
              </a:ext>
            </a:extLst>
          </p:cNvPr>
          <p:cNvSpPr txBox="1"/>
          <p:nvPr/>
        </p:nvSpPr>
        <p:spPr>
          <a:xfrm>
            <a:off x="238125" y="35242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Peak stress v̂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DS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= V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m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+ L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loop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·di/dt ≤ 90 V; turn-on di/dt (gate-charge model, R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g,on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2 </a:t>
            </a:r>
            <a:r>
              <a:rPr lang="el-GR" sz="1280">
                <a:solidFill>
                  <a:srgbClr val="1E1E1E"/>
                </a:solidFill>
                <a:latin typeface="Arial" panose="020B0604020202020204" pitchFamily="34" charset="0"/>
              </a:rPr>
              <a:t>Ω): 25 / 33 / 50 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A/ns at 60 / 80 / 120 A per device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At 80 A per device: V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m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≤ </a:t>
            </a:r>
            <a:r>
              <a:rPr lang="sv-SE" sz="1280" b="1">
                <a:solidFill>
                  <a:srgbClr val="1E1E1E"/>
                </a:solidFill>
                <a:latin typeface="Arial" panose="020B0604020202020204" pitchFamily="34" charset="0"/>
              </a:rPr>
              <a:t>73 V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with 0.5 nH, only 57 V with 1 nH ⇒ the loop must stay near 0.5 nH (or the turn-on is slowed); N even (symmetric winding sets): 16 → 75 V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9" name="decision">
            <a:extLst>
              <a:ext uri="{FF2B5EF4-FFF2-40B4-BE49-F238E27FC236}">
                <a16:creationId xmlns:a16="http://schemas.microsoft.com/office/drawing/2014/main" id="{8ECC9D44-A008-C31D-FEAB-B9F379D9B322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V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m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= 75 V, N = 16; layout target 0.5 nH per cell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30773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C93FB-4817-05DE-79C2-401648E427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Why not lower: every submodule costs parts and loss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D44F6D-3E55-12CF-B366-864DB56D30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B4642DF-1E10-F83A-D08C-1B1436DC23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8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19A82C2-28D0-3AEF-D74C-F3C80C6098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952500"/>
            <a:ext cx="4953000" cy="298958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F9B6E2A-1680-7BED-88CC-D955B05FA490}"/>
              </a:ext>
            </a:extLst>
          </p:cNvPr>
          <p:cNvSpPr txBox="1"/>
          <p:nvPr/>
        </p:nvSpPr>
        <p:spPr>
          <a:xfrm>
            <a:off x="5381625" y="952500"/>
            <a:ext cx="35242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560">
                <a:solidFill>
                  <a:srgbClr val="1E1E1E"/>
                </a:solidFill>
                <a:latin typeface="Arial" panose="020B0604020202020204" pitchFamily="34" charset="0"/>
              </a:rPr>
              <a:t>Phase current is fixed by P, V</a:t>
            </a:r>
            <a:r>
              <a:rPr lang="en-US" sz="1560" baseline="-25000">
                <a:solidFill>
                  <a:srgbClr val="1E1E1E"/>
                </a:solidFill>
                <a:latin typeface="Arial" panose="020B0604020202020204" pitchFamily="34" charset="0"/>
              </a:rPr>
              <a:t>bus</a:t>
            </a:r>
            <a:r>
              <a:rPr lang="en-US" sz="1560">
                <a:solidFill>
                  <a:srgbClr val="1E1E1E"/>
                </a:solidFill>
                <a:latin typeface="Arial" panose="020B0604020202020204" pitchFamily="34" charset="0"/>
              </a:rPr>
              <a:t>, M, cos φ, not by N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560">
                <a:solidFill>
                  <a:srgbClr val="1E1E1E"/>
                </a:solidFill>
                <a:latin typeface="Arial" panose="020B0604020202020204" pitchFamily="34" charset="0"/>
              </a:rPr>
              <a:t>Each submodule carries the full phase current ⇒ conduction loss, transistors, drivers and supplies scale with N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560">
                <a:solidFill>
                  <a:srgbClr val="1E1E1E"/>
                </a:solidFill>
                <a:latin typeface="Arial" panose="020B0604020202020204" pitchFamily="34" charset="0"/>
              </a:rPr>
              <a:t>60 V (N = 20): +25 % parts and conduction loss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560">
                <a:solidFill>
                  <a:srgbClr val="1E1E1E"/>
                </a:solidFill>
                <a:latin typeface="Arial" panose="020B0604020202020204" pitchFamily="34" charset="0"/>
              </a:rPr>
              <a:t>Overshoot margin rechecked on the final boards (Q3D, step 11)</a:t>
            </a:r>
            <a:endParaRPr lang="sv-SE" sz="156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641639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43A6F-9084-1D9C-768C-7A2002B44C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Power loop of one cell: copper, bypass ESL and shunt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DFEAFD8-190C-2447-4DA3-BB2ACC9DE9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2B1C2C2-DF77-768D-DF5C-AA194EB798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9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1546668-D143-AA4F-7A44-C27B5ECEBF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1093" y="952500"/>
            <a:ext cx="6821813" cy="24955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DF49BF4-232B-B8C9-E7E9-31BD6847285F}"/>
              </a:ext>
            </a:extLst>
          </p:cNvPr>
          <p:cNvSpPr txBox="1"/>
          <p:nvPr/>
        </p:nvSpPr>
        <p:spPr>
          <a:xfrm>
            <a:off x="238125" y="3476625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Q3D of the final boards (cell band): loop = copper of the vertical loop over 0.1 mm (vias, pads) + bypass ESL/n (+ UFCS 120 pH on the DPT board)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Copper alone: 0.34 nH (load) / 0.46 nH (DPT, shunt path); with 6 + 4 bypass 0805 per cell: </a:t>
            </a:r>
            <a:r>
              <a:rPr lang="en-US" sz="1280" b="1">
                <a:solidFill>
                  <a:srgbClr val="1E1E1E"/>
                </a:solidFill>
                <a:latin typeface="Arial" panose="020B0604020202020204" pitchFamily="34" charset="0"/>
              </a:rPr>
              <a:t>0.41 / 0.65 nH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Beyond ≈ 4 bypass parts per cell the number hardly matters; part: 1 µF 100 V X7S 0805 next to the drains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9" name="decision">
            <a:extLst>
              <a:ext uri="{FF2B5EF4-FFF2-40B4-BE49-F238E27FC236}">
                <a16:creationId xmlns:a16="http://schemas.microsoft.com/office/drawing/2014/main" id="{59731FC2-E0BD-9A52-7483-ECDF456AA56A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Design value L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loop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= 0.5 nH per cell; 1 nH as the pessimistic bound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855382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F08B86-177E-C2D0-A42C-3A6278076C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One EPC2361 per switch: how fast and how much overshoot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FEC0B14-F10F-FA88-4C5A-796CD7CA25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C0AF625-81E5-F743-56CF-97AF785F3E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10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BFA7286-FF86-D8A0-74DA-4AEA5CFDE6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4069" y="952500"/>
            <a:ext cx="7395862" cy="242887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0A294CB-5BEF-7C67-857A-3C23C3514E42}"/>
              </a:ext>
            </a:extLst>
          </p:cNvPr>
          <p:cNvSpPr txBox="1"/>
          <p:nvPr/>
        </p:nvSpPr>
        <p:spPr>
          <a:xfrm>
            <a:off x="238125" y="34099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LTspice half bridge at 75 V, lumped loop 0.5 / 1 nH, 1.7 nH gate loop, 2 Ω on / 0 Ω off, 4 A / 8 A driver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(a) Peak V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DS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at 60 / 80 / 120 A: 87 / 83 / 102 V (0.5 nH), 83 / 93 / 137 V (1 nH)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(b, c) A larger loop lowers E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on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(the loop takes L·di/dt of the voltage while the current rises) but raises E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off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and the overshoot; turn-on di/dt is set by the driver (≈ 45 A/ns)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(d) Conduction per device at 100 °C: 4.0 / 7.2 / 16.1 W at 60 / 80 / 120 A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rms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; one device would carry 322 A peak ⇒ </a:t>
            </a:r>
            <a:r>
              <a:rPr lang="en-US" sz="1190" b="1">
                <a:solidFill>
                  <a:srgbClr val="1E1E1E"/>
                </a:solidFill>
                <a:latin typeface="Arial" panose="020B0604020202020204" pitchFamily="34" charset="0"/>
              </a:rPr>
              <a:t>current per device ≤ 80 A</a:t>
            </a:r>
            <a:endParaRPr lang="sv-SE" sz="1190" b="1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42438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13C865-3313-2975-14FC-75ADAF7CB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z="2100"/>
              <a:t>Thermal path per device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16A9DA-6392-9206-6659-5F5013528F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2772BD-9719-959A-75C4-835BBD2826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11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B9F7569-2875-F847-854D-403A73B2E0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8770633"/>
              </p:ext>
            </p:extLst>
          </p:nvPr>
        </p:nvGraphicFramePr>
        <p:xfrm>
          <a:off x="238125" y="952500"/>
          <a:ext cx="5334000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1500">
                  <a:extLst>
                    <a:ext uri="{9D8B030D-6E8A-4147-A177-3AD203B41FA5}">
                      <a16:colId xmlns:a16="http://schemas.microsoft.com/office/drawing/2014/main" val="162455948"/>
                    </a:ext>
                  </a:extLst>
                </a:gridCol>
                <a:gridCol w="952500">
                  <a:extLst>
                    <a:ext uri="{9D8B030D-6E8A-4147-A177-3AD203B41FA5}">
                      <a16:colId xmlns:a16="http://schemas.microsoft.com/office/drawing/2014/main" val="97140775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47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Layer (top-side cooling, per device)</a:t>
                      </a:r>
                      <a:endParaRPr lang="sv-SE" sz="147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47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K/W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729483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47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</a:t>
                      </a:r>
                      <a:r>
                        <a:rPr lang="el-GR" sz="147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θ</a:t>
                      </a:r>
                      <a:r>
                        <a:rPr lang="sv-SE" sz="147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JC</a:t>
                      </a:r>
                      <a:r>
                        <a:rPr lang="sv-SE" sz="147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(top), datasheet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47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0.20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754012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pl-PL" sz="147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TIM 1, 50 µm, 3 W/mK, 15 mm²</a:t>
                      </a:r>
                      <a:endParaRPr lang="sv-SE" sz="147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47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1.11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148948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pl-PL" sz="147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AlN 0.635 mm, 170 W/mK, 25 mm²</a:t>
                      </a:r>
                      <a:endParaRPr lang="sv-SE" sz="147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47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0.15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102063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pl-PL" sz="147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TIM 2, 50 µm, 3 W/mK, 50 mm²</a:t>
                      </a:r>
                      <a:endParaRPr lang="sv-SE" sz="147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47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0.33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313186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47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cold plate, h = 10 kW/m²K, 100 mm²</a:t>
                      </a:r>
                      <a:endParaRPr lang="sv-SE" sz="147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47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1.00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986649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47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coupling to neighbours, coolant rise (+20 %)</a:t>
                      </a:r>
                      <a:endParaRPr lang="sv-SE" sz="147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47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0.56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359463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47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Junction–coolant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47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3.4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1685323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81160723-3CAE-4FC7-2B06-B8ADFEAC0B66}"/>
              </a:ext>
            </a:extLst>
          </p:cNvPr>
          <p:cNvSpPr txBox="1"/>
          <p:nvPr/>
        </p:nvSpPr>
        <p:spPr>
          <a:xfrm>
            <a:off x="5762625" y="952500"/>
            <a:ext cx="31432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Two TIM layers and the cold plate dominate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Used for the decisions: </a:t>
            </a:r>
            <a:r>
              <a:rPr lang="en-US" sz="1470" b="1">
                <a:solidFill>
                  <a:srgbClr val="1E1E1E"/>
                </a:solidFill>
                <a:latin typeface="Arial" panose="020B0604020202020204" pitchFamily="34" charset="0"/>
              </a:rPr>
              <a:t>3.4 K/W</a:t>
            </a: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, coolant 60 °C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Bounds: 2.1 K/W (sintered stack), 8 K/W (gap pad)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R</a:t>
            </a:r>
            <a:r>
              <a:rPr lang="en-US" sz="1470" baseline="-25000">
                <a:solidFill>
                  <a:srgbClr val="1E1E1E"/>
                </a:solidFill>
                <a:latin typeface="Arial" panose="020B0604020202020204" pitchFamily="34" charset="0"/>
              </a:rPr>
              <a:t>DS(on)</a:t>
            </a: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(T</a:t>
            </a:r>
            <a:r>
              <a:rPr lang="en-US" sz="1470" baseline="-25000">
                <a:solidFill>
                  <a:srgbClr val="1E1E1E"/>
                </a:solidFill>
                <a:latin typeface="Arial" panose="020B0604020202020204" pitchFamily="34" charset="0"/>
              </a:rPr>
              <a:t>j</a:t>
            </a: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) from the datasheet: ×1.49 at 100 °C, ×1.80 at 150 °C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Load-test board: LAM 4 K 50 12 (0.65 K/W) on an Al spreader (step 10)</a:t>
            </a:r>
            <a:endParaRPr lang="sv-SE" sz="147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626736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A052E-4FD1-C384-1986-221FE42B70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800"/>
              <a:t>n identical cells per switch (one device and one driver each)</a:t>
            </a:r>
            <a:endParaRPr lang="sv-SE" sz="18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7189F12-4AB2-6316-C82E-105BAD4B7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B762702-89E5-24C4-A7A8-7A3E78ED52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12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C865E7D-C226-7C1D-7FD8-6E77558038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052" y="952500"/>
            <a:ext cx="7371896" cy="2667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6673529-0076-71D6-8100-ECD32ADCD133}"/>
              </a:ext>
            </a:extLst>
          </p:cNvPr>
          <p:cNvSpPr txBox="1"/>
          <p:nvPr/>
        </p:nvSpPr>
        <p:spPr>
          <a:xfrm>
            <a:off x="238125" y="36385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228 A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rms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per leg, 50 kHz, T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j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and R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DS(on)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solved together; LTspice energies at 0.5 nH (left bars) and 1 nH (hatched)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n = 4: 17.9 W (0.5 nH) / 17.0 W (1 nH) per leg, T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j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68 °C; peak V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DS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at 80 A: </a:t>
            </a:r>
            <a:r>
              <a:rPr lang="sv-SE" sz="1280" b="1">
                <a:solidFill>
                  <a:srgbClr val="1E1E1E"/>
                </a:solidFill>
                <a:latin typeface="Arial" panose="020B0604020202020204" pitchFamily="34" charset="0"/>
              </a:rPr>
              <a:t>83 V (0.5 nH), 93 V (1 nH)</a:t>
            </a:r>
            <a:endParaRPr lang="sv-SE" sz="1280" b="1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9" name="decision">
            <a:extLst>
              <a:ext uri="{FF2B5EF4-FFF2-40B4-BE49-F238E27FC236}">
                <a16:creationId xmlns:a16="http://schemas.microsoft.com/office/drawing/2014/main" id="{BFEA7A1C-495F-0228-5088-93A5640E6844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</a:t>
            </a: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4 EPC2361 per switch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(T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j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for all three R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th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; ≤ 90 V needs ≈ 0.5 nH; 4 splits into two equal pairs)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8717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0D570A-28B7-D0FC-32BE-CAA3563CC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800"/>
              <a:t>Where the loss comes from: line period and junction temperature</a:t>
            </a:r>
            <a:endParaRPr lang="sv-SE" sz="18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721BCC9-9AB1-FC73-9C82-F3DA2E657F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C9E4935-9B54-46DA-05F0-65BF15772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13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2DB1F2B-A804-21D5-3607-155171B2AE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436" y="952500"/>
            <a:ext cx="7651128" cy="29527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9E31239-FCC1-B835-5A21-88D75063CDCF}"/>
              </a:ext>
            </a:extLst>
          </p:cNvPr>
          <p:cNvSpPr txBox="1"/>
          <p:nvPr/>
        </p:nvSpPr>
        <p:spPr>
          <a:xfrm>
            <a:off x="238125" y="392430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n = 4, 50 kHz: switching loss follows |i| (plus a constant E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oss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part), conduction loss follows i²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Conduction 12.4 W per leg (28 % above its 25 °C value); switching 5.0 W at 0.5 nH, 4.1 W at 1 nH (lower E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on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, higher E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off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and overshoot)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21317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510AF4-F64A-6D31-A779-39F1C89A33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z="2100"/>
              <a:t>Losses vs number in parallel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7CAD65-41BC-4C07-15F9-3F9EC4E818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65EAF1-ADA7-AC81-57AF-55C6D16B07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14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7AD8957-F2C2-7728-B0BC-5DE14CC3C5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4156665"/>
              </p:ext>
            </p:extLst>
          </p:nvPr>
        </p:nvGraphicFramePr>
        <p:xfrm>
          <a:off x="238125" y="952500"/>
          <a:ext cx="866775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1750">
                  <a:extLst>
                    <a:ext uri="{9D8B030D-6E8A-4147-A177-3AD203B41FA5}">
                      <a16:colId xmlns:a16="http://schemas.microsoft.com/office/drawing/2014/main" val="2418974606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1847092691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520080696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603448269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348756403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1268222633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3867393493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3994997200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3228823984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n per switch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1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2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3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4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5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6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7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8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38350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Loss per leg, 0.5 nH (W)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79.1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33.1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22.2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17.9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16.0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15.1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14.8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14.8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725471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Loss per leg, 1 nH (W)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78.2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32.2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21.3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17.0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15.0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14.0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13.6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13.6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054690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 conduction at T</a:t>
                      </a:r>
                      <a:r>
                        <a:rPr lang="sv-SE" sz="12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j</a:t>
                      </a:r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(W)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70.0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27.5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17.0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12.4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9.8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8.1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7.0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6.1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191253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 switching 0.5 / 1 nH (W)</a:t>
                      </a:r>
                      <a:endParaRPr lang="sv-SE" sz="12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8.4 / 7.5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5.0 / 4.2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4.6 / 3.8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5.0 / 4.1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5.6 / 4.6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6.4 / 5.3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7.3 / 6.1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8.2 / 6.9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738655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Efficiency, 0.5 nH (%)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98.73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99.47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99.64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99.71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99.74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99.76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99.76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99.76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524279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Loss per device (W)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39.5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8.3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3.7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2.2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1.6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1.2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1.0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0.9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617846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</a:t>
                      </a:r>
                      <a:r>
                        <a:rPr lang="sv-SE" sz="12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j</a:t>
                      </a:r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(°C)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194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88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73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68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64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64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63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045491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Peak V</a:t>
                      </a:r>
                      <a:r>
                        <a:rPr lang="en-US" sz="12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</a:t>
                      </a:r>
                      <a:r>
                        <a:rPr lang="en-US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0.5 / 1 nH (V)</a:t>
                      </a:r>
                      <a:endParaRPr lang="sv-SE" sz="12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195 / 292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131 / 180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96 / 123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83 / 93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86 / 85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86 / 84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84 / 86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83 / 87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555752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Driver channels per leg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14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16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681612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7CCD9CD7-2971-275E-8384-D85BAEA87C84}"/>
              </a:ext>
            </a:extLst>
          </p:cNvPr>
          <p:cNvSpPr txBox="1"/>
          <p:nvPr/>
        </p:nvSpPr>
        <p:spPr>
          <a:xfrm>
            <a:off x="228600" y="4597400"/>
            <a:ext cx="7874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30">
                <a:solidFill>
                  <a:srgbClr val="787878"/>
                </a:solidFill>
                <a:latin typeface="Arial" panose="020B0604020202020204" pitchFamily="34" charset="0"/>
              </a:rPr>
              <a:t>Semiconductor losses only, 3.4 K/W, 60 °C coolant, 50 kHz; efficiency relative to 6.25 kW per leg.</a:t>
            </a:r>
            <a:endParaRPr lang="sv-SE" sz="73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95540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1D400C-1691-EF02-F539-CB6695B48E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800"/>
              <a:t>Switching frequency: losses, DC-link capacitors, current ripple</a:t>
            </a:r>
            <a:endParaRPr lang="sv-SE" sz="18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8B833CB-F59C-C65B-E142-8BA7C3EDF8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1904476-3068-41FB-613F-906C5228FE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15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B5C28D3-E722-71F6-CE18-FEFBD6993D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839" y="952500"/>
            <a:ext cx="7482322" cy="2667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CF05D17-E60B-DB9B-8827-FFAC1B4A4B5C}"/>
              </a:ext>
            </a:extLst>
          </p:cNvPr>
          <p:cNvSpPr txBox="1"/>
          <p:nvPr/>
        </p:nvSpPr>
        <p:spPr>
          <a:xfrm>
            <a:off x="238125" y="36385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(a) n = 4: 99.77 / 99.71 / 99.62 % at 20 / 50 / 100 kHz; (b) the voltage ripple sets the 2220 count (20 per leg at 50 kHz), ripple current needs only 7; (c) winding ripple Δi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pp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= V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m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/(4 L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σ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f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sw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) depends on the machine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9" name="decision">
            <a:extLst>
              <a:ext uri="{FF2B5EF4-FFF2-40B4-BE49-F238E27FC236}">
                <a16:creationId xmlns:a16="http://schemas.microsoft.com/office/drawing/2014/main" id="{E4903532-ADB7-12EB-80DB-3DCF5C090A21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f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sw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≥ 50 kHz (higher allowed by the machine); the DC link is sized for 50 kHz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058181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41E3EC-2418-EF4A-CECB-7B3E148A0F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DC-link sizing for a three-phase level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90FA400-A770-66C6-F871-161E10D91D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66A860D-BDA3-36FF-33FA-D69AE8EFE6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16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14195E0-1E92-9E4C-0CE9-870ABD2C743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952500"/>
            <a:ext cx="4953000" cy="3067717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F9E82750-4D3E-06B9-7440-243E828BD2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6910555"/>
              </p:ext>
            </p:extLst>
          </p:nvPr>
        </p:nvGraphicFramePr>
        <p:xfrm>
          <a:off x="5381625" y="952500"/>
          <a:ext cx="3524250" cy="1047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9625">
                  <a:extLst>
                    <a:ext uri="{9D8B030D-6E8A-4147-A177-3AD203B41FA5}">
                      <a16:colId xmlns:a16="http://schemas.microsoft.com/office/drawing/2014/main" val="317000575"/>
                    </a:ext>
                  </a:extLst>
                </a:gridCol>
                <a:gridCol w="714375">
                  <a:extLst>
                    <a:ext uri="{9D8B030D-6E8A-4147-A177-3AD203B41FA5}">
                      <a16:colId xmlns:a16="http://schemas.microsoft.com/office/drawing/2014/main" val="3633726765"/>
                    </a:ext>
                  </a:extLst>
                </a:gridCol>
                <a:gridCol w="1095375">
                  <a:extLst>
                    <a:ext uri="{9D8B030D-6E8A-4147-A177-3AD203B41FA5}">
                      <a16:colId xmlns:a16="http://schemas.microsoft.com/office/drawing/2014/main" val="4213497140"/>
                    </a:ext>
                  </a:extLst>
                </a:gridCol>
                <a:gridCol w="904875">
                  <a:extLst>
                    <a:ext uri="{9D8B030D-6E8A-4147-A177-3AD203B41FA5}">
                      <a16:colId xmlns:a16="http://schemas.microsoft.com/office/drawing/2014/main" val="2778868134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f</a:t>
                      </a:r>
                      <a:r>
                        <a:rPr lang="sv-SE" sz="1280" b="1" baseline="-2500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sw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l-GR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Δ</a:t>
                      </a:r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V</a:t>
                      </a:r>
                      <a:r>
                        <a:rPr lang="sv-SE" sz="1280" b="1" baseline="-2500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pp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C</a:t>
                      </a:r>
                      <a:r>
                        <a:rPr lang="sv-SE" sz="1280" b="1" baseline="-2500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eff</a:t>
                      </a:r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 level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per leg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41044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50 kHz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2 %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573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191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313193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50 kHz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3 %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382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127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790036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100 kHz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2 %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287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96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994937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100 kHz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3 %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191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64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1177799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6B979E21-CEED-25B5-8908-9746920526A2}"/>
              </a:ext>
            </a:extLst>
          </p:cNvPr>
          <p:cNvSpPr txBox="1"/>
          <p:nvPr/>
        </p:nvSpPr>
        <p:spPr>
          <a:xfrm>
            <a:off x="5381625" y="2333625"/>
            <a:ext cx="35242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One 75 V level = three legs on one bus (SVPWM, M = 1.15, cos φ = 0.9)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Balanced three-phase: no 2f ripple; capacitor RMS current 85 A per level (≈ 28 A per leg)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Per switching period the bank supplies the difference between the cell current and its average: ΔV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pp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= ΔQ / C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10" name="decision">
            <a:extLst>
              <a:ext uri="{FF2B5EF4-FFF2-40B4-BE49-F238E27FC236}">
                <a16:creationId xmlns:a16="http://schemas.microsoft.com/office/drawing/2014/main" id="{181BA09B-CEA4-23C2-2E19-A9DA13839E72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sv-SE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</a:t>
            </a:r>
            <a:r>
              <a:rPr lang="el-GR" sz="1380">
                <a:solidFill>
                  <a:srgbClr val="1E1E1E"/>
                </a:solidFill>
                <a:latin typeface="Arial" panose="020B0604020202020204" pitchFamily="34" charset="0"/>
              </a:rPr>
              <a:t>Δ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V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pp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≤ 3 % (2.25 V) at 50 kHz ⇒ 127 µF </a:t>
            </a:r>
            <a:r>
              <a:rPr lang="sv-SE" sz="1380" b="1">
                <a:solidFill>
                  <a:srgbClr val="1E1E1E"/>
                </a:solidFill>
                <a:latin typeface="Arial" panose="020B0604020202020204" pitchFamily="34" charset="0"/>
              </a:rPr>
              <a:t>effective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per leg board ⇒ 20 × 22 µF 2220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05489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DD8299-399B-5EC4-AE8E-19ED4524E9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z="2100"/>
              <a:t>Capacitor selection: effective capacitance at 75 V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D4FB2B-F681-52BD-0C73-B7F929C5B8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C66B837-9ED6-3E85-C622-ED2A11CB66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17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888C10C-CD7E-1FA9-1728-DB3A0A060B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3298777"/>
              </p:ext>
            </p:extLst>
          </p:nvPr>
        </p:nvGraphicFramePr>
        <p:xfrm>
          <a:off x="238125" y="952500"/>
          <a:ext cx="8667750" cy="14668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2250">
                  <a:extLst>
                    <a:ext uri="{9D8B030D-6E8A-4147-A177-3AD203B41FA5}">
                      <a16:colId xmlns:a16="http://schemas.microsoft.com/office/drawing/2014/main" val="307683398"/>
                    </a:ext>
                  </a:extLst>
                </a:gridCol>
                <a:gridCol w="666750">
                  <a:extLst>
                    <a:ext uri="{9D8B030D-6E8A-4147-A177-3AD203B41FA5}">
                      <a16:colId xmlns:a16="http://schemas.microsoft.com/office/drawing/2014/main" val="1878687702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1250279587"/>
                    </a:ext>
                  </a:extLst>
                </a:gridCol>
                <a:gridCol w="714375">
                  <a:extLst>
                    <a:ext uri="{9D8B030D-6E8A-4147-A177-3AD203B41FA5}">
                      <a16:colId xmlns:a16="http://schemas.microsoft.com/office/drawing/2014/main" val="38639912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3761570465"/>
                    </a:ext>
                  </a:extLst>
                </a:gridCol>
                <a:gridCol w="1666875">
                  <a:extLst>
                    <a:ext uri="{9D8B030D-6E8A-4147-A177-3AD203B41FA5}">
                      <a16:colId xmlns:a16="http://schemas.microsoft.com/office/drawing/2014/main" val="2539665887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Part (100 V X7S)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Size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b-NO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C</a:t>
                      </a:r>
                      <a:r>
                        <a:rPr lang="nb-NO" sz="1280" b="1" baseline="-2500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nom</a:t>
                      </a:r>
                      <a:r>
                        <a:rPr lang="nb-NO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 → C at 75 V</a:t>
                      </a:r>
                      <a:endParaRPr lang="sv-SE" sz="128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Kept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ESR 50 kHz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Parts / leg (3 %)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693143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Murata GRM32EC72A106KE05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1210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10.0 → 1.50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15 %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83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196118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TDK C3225X7S2A475K200AB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1210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4.7 → 0.92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19 %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12.3 m</a:t>
                      </a:r>
                      <a:r>
                        <a:rPr lang="el-GR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Ω</a:t>
                      </a:r>
                      <a:endParaRPr lang="sv-SE" sz="12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135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316359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TDK C4532X7S2A475K230KB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1812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4.7 → 1.10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23 %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13.1 m</a:t>
                      </a:r>
                      <a:r>
                        <a:rPr lang="el-GR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Ω</a:t>
                      </a:r>
                      <a:endParaRPr lang="sv-SE" sz="12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112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712455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TDK C5750X7S2A106K230KB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2220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10.0 → 2.45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24 %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6.4 m</a:t>
                      </a:r>
                      <a:r>
                        <a:rPr lang="el-GR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Ω</a:t>
                      </a:r>
                      <a:endParaRPr lang="sv-SE" sz="12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51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798614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TDK C5750X7S2A156M250KB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2220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15.0 → 3.80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25 %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3.6 m</a:t>
                      </a:r>
                      <a:r>
                        <a:rPr lang="el-GR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Ω</a:t>
                      </a:r>
                      <a:endParaRPr lang="sv-SE" sz="12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33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13777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TDK C5750X7S2A226M280KB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2220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22.0 → 6.35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29 %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2.8 m</a:t>
                      </a:r>
                      <a:r>
                        <a:rPr lang="el-GR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Ω</a:t>
                      </a:r>
                      <a:endParaRPr lang="sv-SE" sz="12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7880366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E9F68C98-73B0-749B-D2B1-2C37380D61C2}"/>
              </a:ext>
            </a:extLst>
          </p:cNvPr>
          <p:cNvSpPr txBox="1"/>
          <p:nvPr/>
        </p:nvSpPr>
        <p:spPr>
          <a:xfrm>
            <a:off x="238125" y="285750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DC bias at 75 V from the manufacturers' characteristic data (TDK, Murata): 100 V class-II MLCCs keep only 15–29 %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TDK C5750X7S2A226M280KB (2220, 22 µF): highest C per part and per area (0.22 µF/mm²), 2.8 mΩ, 4.5 A for +10 K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Checks: 2.8 mm height under the heatsink spreader; 2220 flex cracking ⇒ away from the board edge and holes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8" name="decision">
            <a:extLst>
              <a:ext uri="{FF2B5EF4-FFF2-40B4-BE49-F238E27FC236}">
                <a16:creationId xmlns:a16="http://schemas.microsoft.com/office/drawing/2014/main" id="{CDF39CAC-2B10-46A3-8383-10C1D46E860E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Bank: </a:t>
            </a: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20 × TDK C5750X7S2A226M280KB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per leg (2 rows), 127 µF effective, 1.4 A ripple per part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22897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8B6913-C39D-6D73-BBC0-8D966039AD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Bypass capacitors: how many and how large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6E13720-18ED-21E2-CE7E-3372994576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B9F5DB9-B337-59BD-7845-9CCDA32E5A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18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C22F332-1AA3-F890-83DC-F710BBCAFE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952500"/>
            <a:ext cx="4191000" cy="32131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B188272-AC58-4686-0DC2-22BC55DD1682}"/>
              </a:ext>
            </a:extLst>
          </p:cNvPr>
          <p:cNvSpPr txBox="1"/>
          <p:nvPr/>
        </p:nvSpPr>
        <p:spPr>
          <a:xfrm>
            <a:off x="4572000" y="952500"/>
            <a:ext cx="433387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 b="1">
                <a:solidFill>
                  <a:srgbClr val="1E1E1E"/>
                </a:solidFill>
                <a:latin typeface="Arial" panose="020B0604020202020204" pitchFamily="34" charset="0"/>
              </a:rPr>
              <a:t>Bypass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(1 µF 0805 at the drains) supplies the edge, </a:t>
            </a:r>
            <a:r>
              <a:rPr lang="sv-SE" sz="1380" b="1">
                <a:solidFill>
                  <a:srgbClr val="1E1E1E"/>
                </a:solidFill>
                <a:latin typeface="Arial" panose="020B0604020202020204" pitchFamily="34" charset="0"/>
              </a:rPr>
              <a:t>bank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the f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sw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ripple; per cell 81 A:</a:t>
            </a:r>
          </a:p>
          <a:p>
            <a:pPr marL="685800" lvl="1" indent="-342900">
              <a:spcAft>
                <a:spcPts val="400"/>
              </a:spcAft>
              <a:buFont typeface="+mj-lt"/>
              <a:buChar char="–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di/dt → number: L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Cu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+ ESL/n ≈ 0.5 nH ⇒ n ≥ 4</a:t>
            </a:r>
          </a:p>
          <a:p>
            <a:pPr marL="685800" lvl="1" indent="-342900">
              <a:spcAft>
                <a:spcPts val="400"/>
              </a:spcAft>
              <a:buFont typeface="+mj-lt"/>
              <a:buChar char="–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Hand-over to the bank through L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b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: C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bp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≥ L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b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(</a:t>
            </a:r>
            <a:r>
              <a:rPr lang="el-GR" sz="1280">
                <a:solidFill>
                  <a:srgbClr val="1E1E1E"/>
                </a:solidFill>
                <a:latin typeface="Arial" panose="020B0604020202020204" pitchFamily="34" charset="0"/>
              </a:rPr>
              <a:t>Δ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I/</a:t>
            </a:r>
            <a:r>
              <a:rPr lang="el-GR" sz="1280">
                <a:solidFill>
                  <a:srgbClr val="1E1E1E"/>
                </a:solidFill>
                <a:latin typeface="Arial" panose="020B0604020202020204" pitchFamily="34" charset="0"/>
              </a:rPr>
              <a:t>Δ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V)² </a:t>
            </a:r>
            <a:r>
              <a:rPr lang="sv-SE" sz="1280" b="1">
                <a:solidFill>
                  <a:srgbClr val="C84632"/>
                </a:solidFill>
                <a:latin typeface="Arial" panose="020B0604020202020204" pitchFamily="34" charset="0"/>
              </a:rPr>
              <a:t>sets the value</a:t>
            </a:r>
          </a:p>
          <a:p>
            <a:pPr marL="685800" lvl="1" indent="-342900">
              <a:spcAft>
                <a:spcPts val="400"/>
              </a:spcAft>
              <a:buFont typeface="+mj-lt"/>
              <a:buChar char="–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L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b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from Q3D: (pending)</a:t>
            </a:r>
          </a:p>
          <a:p>
            <a:pPr marL="685800" lvl="1" indent="-342900">
              <a:spcAft>
                <a:spcPts val="400"/>
              </a:spcAft>
              <a:buFont typeface="+mj-lt"/>
              <a:buChar char="–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0805 1 µF 100 V X7S keeps only </a:t>
            </a:r>
            <a:r>
              <a:rPr lang="sv-SE" sz="1280" b="1">
                <a:solidFill>
                  <a:srgbClr val="1E1E1E"/>
                </a:solidFill>
                <a:latin typeface="Arial" panose="020B0604020202020204" pitchFamily="34" charset="0"/>
              </a:rPr>
              <a:t>18 %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at 75 V (TDK data): 0.18 µF per part</a:t>
            </a:r>
          </a:p>
          <a:p>
            <a:pPr marL="685800" lvl="1" indent="-342900">
              <a:spcAft>
                <a:spcPts val="400"/>
              </a:spcAft>
              <a:buFont typeface="+mj-lt"/>
              <a:buChar char="–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dip for 6 / 10 per cell: (pending bank model)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9" name="decision">
            <a:extLst>
              <a:ext uri="{FF2B5EF4-FFF2-40B4-BE49-F238E27FC236}">
                <a16:creationId xmlns:a16="http://schemas.microsoft.com/office/drawing/2014/main" id="{EB0848A3-1901-93F2-03B8-BCE79EDFB9E2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10 × 1 µF 0805 per cell: 6 on top at the drains + 4 on the bottom, identical in all cells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586728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9480FD-1755-99A9-3089-CDF60D207F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DC link of one leg board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E00B56A-94D8-FB06-CADB-E6B8970F28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8FE7ED-2A7C-28B9-DBA9-3892DA3EA4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19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9F16D9E-9385-E2B2-4C55-E2E65738CD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5300928"/>
              </p:ext>
            </p:extLst>
          </p:nvPr>
        </p:nvGraphicFramePr>
        <p:xfrm>
          <a:off x="238125" y="952500"/>
          <a:ext cx="4953000" cy="838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2625">
                  <a:extLst>
                    <a:ext uri="{9D8B030D-6E8A-4147-A177-3AD203B41FA5}">
                      <a16:colId xmlns:a16="http://schemas.microsoft.com/office/drawing/2014/main" val="790566986"/>
                    </a:ext>
                  </a:extLst>
                </a:gridCol>
                <a:gridCol w="1381125">
                  <a:extLst>
                    <a:ext uri="{9D8B030D-6E8A-4147-A177-3AD203B41FA5}">
                      <a16:colId xmlns:a16="http://schemas.microsoft.com/office/drawing/2014/main" val="3397476642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266010513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132428455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Per leg board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Parts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Nominal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At 75 V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342367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Bypass, 10 per cell × 4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40 × 1 µF 0805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40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7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854308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Bank, rows A (8) + B (12)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20 × 22 µF 2220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440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127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131210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Total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480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134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8489186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F77C4430-EC29-DF69-B02B-8BA29D1F1F30}"/>
              </a:ext>
            </a:extLst>
          </p:cNvPr>
          <p:cNvSpPr txBox="1"/>
          <p:nvPr/>
        </p:nvSpPr>
        <p:spPr>
          <a:xfrm>
            <a:off x="238125" y="2381250"/>
            <a:ext cx="4953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Ripple at 50 kHz with the three legs of a level sharing: </a:t>
            </a:r>
            <a:r>
              <a:rPr lang="en-US" sz="1470" b="1">
                <a:solidFill>
                  <a:srgbClr val="1E1E1E"/>
                </a:solidFill>
                <a:latin typeface="Arial" panose="020B0604020202020204" pitchFamily="34" charset="0"/>
              </a:rPr>
              <a:t>2.1 V (2.9 %)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Leg alone (DPT, back-to-back test without the busbar): ≈ 2× higher, acceptable for the lab tests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Bank ≥ 10 × bypass (127 vs 7 µF eff.): fulfilled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Row A leaves the board centre free for the DC terminal pins</a:t>
            </a:r>
            <a:endParaRPr lang="sv-SE" sz="147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E02EDB2-F479-8F7F-EA66-67FB0BBEE85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81625" y="952500"/>
            <a:ext cx="3524250" cy="2417106"/>
          </a:xfrm>
          <a:prstGeom prst="rect">
            <a:avLst/>
          </a:prstGeom>
        </p:spPr>
      </p:pic>
      <p:sp>
        <p:nvSpPr>
          <p:cNvPr id="10" name="decision">
            <a:extLst>
              <a:ext uri="{FF2B5EF4-FFF2-40B4-BE49-F238E27FC236}">
                <a16:creationId xmlns:a16="http://schemas.microsoft.com/office/drawing/2014/main" id="{3E2316FA-FA52-3779-8A69-D29AF7896055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Same DC link on the DPT and load-test boards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913220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40677-6C99-A246-8C93-B160F3F42B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Can one driver drive all four?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7E67FAF-112C-132C-B856-D469F08AF8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9073D8-EFA6-6967-7726-3A2AFACE5A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20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324EC43-BAD1-4681-D6FD-CE10DEC297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0425" y="952500"/>
            <a:ext cx="7423150" cy="233362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D1FBB55-7529-53B0-BCF2-B0B63436039D}"/>
              </a:ext>
            </a:extLst>
          </p:cNvPr>
          <p:cNvSpPr txBox="1"/>
          <p:nvPr/>
        </p:nvSpPr>
        <p:spPr>
          <a:xfrm>
            <a:off x="238125" y="33337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Why E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on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per transistor rises with n per channel: the n gate capacitances (n × 3.6 nF C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iss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) charge through one driver output (4 A source, 0.85 Ω) and a longer shared gate trace ⇒ v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GS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rises n× slower ⇒ lower di/dt and dv/dt at turn-on ⇒ longer V–I overlap: </a:t>
            </a:r>
            <a:r>
              <a:rPr lang="en-US" sz="1280" b="1">
                <a:solidFill>
                  <a:srgbClr val="1E1E1E"/>
                </a:solidFill>
                <a:latin typeface="Arial" panose="020B0604020202020204" pitchFamily="34" charset="0"/>
              </a:rPr>
              <a:t>+16 / +31 / +60 %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E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on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for 3 / 4 / 6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(b) Extra gate-loop inductance of the longer tree raises the gate bump; (a) peak sink current 12–14 A for 4–6 devices exceeds the 8 A rating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(c) One channel per device is symmetric but needs 4 channels and supplies per switch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656452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28CEBA-1C99-93C2-B6FA-88DB047866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Driver arrangement for 1 … 4 EPC2361 per switch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EA1296-1B3F-BCCA-1D5A-4262CFC2D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EC19DE9-C904-9EE9-8FF1-E24BD1D6B5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21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B5E31C9-874C-5075-5B00-E47CF8BA92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952500"/>
            <a:ext cx="5334000" cy="293136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9212606-E0DD-70B1-D919-766019AEECD1}"/>
              </a:ext>
            </a:extLst>
          </p:cNvPr>
          <p:cNvSpPr txBox="1"/>
          <p:nvPr/>
        </p:nvSpPr>
        <p:spPr>
          <a:xfrm>
            <a:off x="5715000" y="952500"/>
            <a:ext cx="319087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One dual-channel driver (HS + LS) between two cells: both gate loops equal, short (≈ 1.7 nH) and with their own Kelvin return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n = 3 breaks the symmetry (pair + single)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n = 4: two pairs, two drivers, one star per pair ⇒ the building block of two mirrored cells</a:t>
            </a:r>
            <a:endParaRPr lang="sv-SE" sz="147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9" name="decision">
            <a:extLst>
              <a:ext uri="{FF2B5EF4-FFF2-40B4-BE49-F238E27FC236}">
                <a16:creationId xmlns:a16="http://schemas.microsoft.com/office/drawing/2014/main" id="{69F68659-F901-6A48-2358-14E54A904178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2 × EPC2361 per driver channel; 4 per switch = two pairs = two drivers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9255032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7CB1B-42A3-E73A-166D-16838E0074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Gate driver selection: why the 2EDF7275K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C3053B8-8FB8-7586-3F76-F3ABC2EC3E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FD4C6B-F082-E45C-186F-A2C08C8C6A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22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40FA662-07E9-D304-6E82-FB237E9A08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7850838"/>
              </p:ext>
            </p:extLst>
          </p:nvPr>
        </p:nvGraphicFramePr>
        <p:xfrm>
          <a:off x="238125" y="952500"/>
          <a:ext cx="8667750" cy="14668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5500">
                  <a:extLst>
                    <a:ext uri="{9D8B030D-6E8A-4147-A177-3AD203B41FA5}">
                      <a16:colId xmlns:a16="http://schemas.microsoft.com/office/drawing/2014/main" val="799410026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3220763803"/>
                    </a:ext>
                  </a:extLst>
                </a:gridCol>
                <a:gridCol w="2143125">
                  <a:extLst>
                    <a:ext uri="{9D8B030D-6E8A-4147-A177-3AD203B41FA5}">
                      <a16:colId xmlns:a16="http://schemas.microsoft.com/office/drawing/2014/main" val="41803123"/>
                    </a:ext>
                  </a:extLst>
                </a:gridCol>
                <a:gridCol w="2143125">
                  <a:extLst>
                    <a:ext uri="{9D8B030D-6E8A-4147-A177-3AD203B41FA5}">
                      <a16:colId xmlns:a16="http://schemas.microsoft.com/office/drawing/2014/main" val="1378078003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endParaRPr lang="sv-SE" sz="119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2EDF7275K (Infineon)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1EDF5673K (Infineon)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LMG1210 (TI)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928864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Channels / isolation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2, each output isolated (functional)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1, isolated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half bridge, bootstrap HS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718392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Peak source / sink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 A / 8 A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0.85 Ω / 0.35 Ω output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1.5 A / 3 A class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126173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Prop. delay / mismatch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37 ns / ≤ 3 ns ch-ch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37 ns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≤ 21 ns / ≤ 3.4 ns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868648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CMTI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150 V/ns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&gt; 200 V/ns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de-D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300 V/ns (HS dv/dt)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967570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Off-voltage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external (Zener split)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built-in negative (RC)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 V only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064557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ICs per switch (4 EPC2361)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</a:t>
                      </a:r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(one per pair)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 (weak for a pair)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157102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43386AED-99E3-C34D-4137-DD64367D2F87}"/>
              </a:ext>
            </a:extLst>
          </p:cNvPr>
          <p:cNvSpPr txBox="1"/>
          <p:nvPr/>
        </p:nvSpPr>
        <p:spPr>
          <a:xfrm>
            <a:off x="238125" y="3095625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A pair needs ≈ 2 × 3.6 nF: 4 A / 8 A drives it at the single-device speed; the 1.5 A / 3 A half-bridge driver does not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Two isolated outputs in one 5 × 5 mm LGA: HS and LS of the same pair from one IC, ≤ 3 ns channel mismatch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Floating outputs: each output gets its own supply split (5.1 V Zener on, −1.2 V off) for the bump margin (next)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C82F32B-90D7-854B-4D25-8F89B86415BD}"/>
              </a:ext>
            </a:extLst>
          </p:cNvPr>
          <p:cNvSpPr txBox="1"/>
          <p:nvPr/>
        </p:nvSpPr>
        <p:spPr>
          <a:xfrm>
            <a:off x="228600" y="4597400"/>
            <a:ext cx="7874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30">
                <a:solidFill>
                  <a:srgbClr val="787878"/>
                </a:solidFill>
                <a:latin typeface="Arial" panose="020B0604020202020204" pitchFamily="34" charset="0"/>
              </a:rPr>
              <a:t>Data: Infineon / TI product pages and datasheets (2EDF7275K, 1EDF5673K, LMG1210); check the current revision.</a:t>
            </a:r>
            <a:endParaRPr lang="sv-SE" sz="73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040266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42686E-FB38-25D0-F578-DE9AE26945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Why symmetry: what sets the current sharing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891022A-EE8C-8CAE-73D6-5B24DC1F8F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0C10057-3D35-0517-3847-43A485FE6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23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F7A1D01-AED9-20F9-7E63-8B37CA96FC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6688" y="952500"/>
            <a:ext cx="6890624" cy="1666875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69076D43-06AE-12C7-3AF3-BD377B3569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0619965"/>
              </p:ext>
            </p:extLst>
          </p:nvPr>
        </p:nvGraphicFramePr>
        <p:xfrm>
          <a:off x="238125" y="2667000"/>
          <a:ext cx="8667750" cy="14668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>
                  <a:extLst>
                    <a:ext uri="{9D8B030D-6E8A-4147-A177-3AD203B41FA5}">
                      <a16:colId xmlns:a16="http://schemas.microsoft.com/office/drawing/2014/main" val="163497081"/>
                    </a:ext>
                  </a:extLst>
                </a:gridCol>
                <a:gridCol w="1238250">
                  <a:extLst>
                    <a:ext uri="{9D8B030D-6E8A-4147-A177-3AD203B41FA5}">
                      <a16:colId xmlns:a16="http://schemas.microsoft.com/office/drawing/2014/main" val="1171234554"/>
                    </a:ext>
                  </a:extLst>
                </a:gridCol>
                <a:gridCol w="2000250">
                  <a:extLst>
                    <a:ext uri="{9D8B030D-6E8A-4147-A177-3AD203B41FA5}">
                      <a16:colId xmlns:a16="http://schemas.microsoft.com/office/drawing/2014/main" val="2063605888"/>
                    </a:ext>
                  </a:extLst>
                </a:gridCol>
                <a:gridCol w="2571750">
                  <a:extLst>
                    <a:ext uri="{9D8B030D-6E8A-4147-A177-3AD203B41FA5}">
                      <a16:colId xmlns:a16="http://schemas.microsoft.com/office/drawing/2014/main" val="2492369245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Asymmetry (LTspice, two EPC2361 in parallel)</a:t>
                      </a:r>
                      <a:endParaRPr lang="sv-SE" sz="110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Case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E</a:t>
                      </a:r>
                      <a:r>
                        <a:rPr lang="sv-SE" sz="1100" b="1" baseline="-2500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on</a:t>
                      </a:r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+E</a:t>
                      </a:r>
                      <a:r>
                        <a:rPr lang="sv-SE" sz="1100" b="1" baseline="-2500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off</a:t>
                      </a:r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 imbalance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Layout measure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162101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Power-loop inductance mismatch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+0.3 nH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2 %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mirrored cells, identical via sets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224867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Gate-loop inductance mismatch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2 vs 8 nH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19 %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(E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on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4 : 1)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star network, equal gate traces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754462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Common-source inductance, no Kelvin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symmetric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0 %, both +47 % E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Kelvin pad per device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510122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Common-source mismatch, no Kelvin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CS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+0.2 nH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29 %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Kelvin return per device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181588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Threshold spread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th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+0.3 V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7 %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same driver channel per pair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822078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Static (conduction): copper / R</a:t>
                      </a:r>
                      <a:r>
                        <a:rPr lang="en-US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DS(on)</a:t>
                      </a:r>
                      <a:endParaRPr lang="sv-SE" sz="1100" baseline="-250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self-limiting (positive TC)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symmetric copper (Q3D, step 11)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2839377"/>
                  </a:ext>
                </a:extLst>
              </a:tr>
            </a:tbl>
          </a:graphicData>
        </a:graphic>
      </p:graphicFrame>
      <p:sp>
        <p:nvSpPr>
          <p:cNvPr id="9" name="decision">
            <a:extLst>
              <a:ext uri="{FF2B5EF4-FFF2-40B4-BE49-F238E27FC236}">
                <a16:creationId xmlns:a16="http://schemas.microsoft.com/office/drawing/2014/main" id="{6AB907BC-E4A0-1250-AC07-19F1F302FBCA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Star gate network with Kelvin returns, one driver channel per pair, mirrored cells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7266606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85B7E0-6448-0295-4922-0FFAB51D12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Gate bump and negative off-voltage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19F844-C14A-70FF-4A92-0A99C5BF47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ECB9E7A-CD11-3E67-22FA-FC504471B9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24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42CAA61-D67C-B1D8-C465-F31FD9DEE3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952500"/>
            <a:ext cx="5334000" cy="135731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74940F4-080C-9740-32AF-AB4E9F06B1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2857500"/>
            <a:ext cx="5334000" cy="183293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DFB0F02-7126-6A01-388D-F5AC0ECDB50B}"/>
              </a:ext>
            </a:extLst>
          </p:cNvPr>
          <p:cNvSpPr txBox="1"/>
          <p:nvPr/>
        </p:nvSpPr>
        <p:spPr>
          <a:xfrm>
            <a:off x="5715000" y="952500"/>
            <a:ext cx="319087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 b="1">
                <a:solidFill>
                  <a:srgbClr val="1E1E1E"/>
                </a:solidFill>
                <a:latin typeface="Arial" panose="020B0604020202020204" pitchFamily="34" charset="0"/>
              </a:rPr>
              <a:t>Bump: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when the other device of the leg turns on, the off device sees dv/dt; C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GD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·dv/dt flows through its gate loop and lifts v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GS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by ≈ Q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GD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/C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GS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≈ 1.06 V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Independent of load current and bus voltage (top b, c); close to the 0.8 V minimum threshold ⇒ shoot-through risk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 b="1">
                <a:solidFill>
                  <a:srgbClr val="1E1E1E"/>
                </a:solidFill>
                <a:latin typeface="Arial" panose="020B0604020202020204" pitchFamily="34" charset="0"/>
              </a:rPr>
              <a:t>Negative off-voltage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shifts the whole bump down: −1 V ⇒ peak ≈ 0 V; extra C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GS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divides it further (bottom)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Cost: reverse conduction in the dead time at V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SD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+ |V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off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| ⇒ +0.1 W per leg; undershoot −2.3 V (limit −4 V)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Implemented: V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GS,off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= −(V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ISO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− 5.1 V) ≈ −1.2 V</a:t>
            </a:r>
            <a:endParaRPr lang="sv-SE" sz="119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0625922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9F9F34-B4C6-7C03-FAF5-C5EE9FF4BA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Building block: two mirrored cells, one centre driver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1FB9B0D-2FA6-18A0-BDAF-5FA65F5D02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DCE5EB0-3A5F-7DB8-E964-F124466EC6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25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30D41F3-7E28-95BB-FCB2-55F7294F4B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952500"/>
            <a:ext cx="5143500" cy="321468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E0B0773-2F62-5722-69FF-E22A76142B48}"/>
              </a:ext>
            </a:extLst>
          </p:cNvPr>
          <p:cNvSpPr txBox="1"/>
          <p:nvPr/>
        </p:nvSpPr>
        <p:spPr>
          <a:xfrm>
            <a:off x="5524500" y="952500"/>
            <a:ext cx="338137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Q3D model of the final board (cell band): copper per net, vias, FET pads and bypass terminals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Two cells mirrored about the driver: identical gate loops and Kelvin returns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One 2EDF7275K channel drives a </a:t>
            </a: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pair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(star network, R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G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0.5 Ω per transistor)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Each cell keeps its own commutation loop (step 11: 0.41 nH load board, 0.65 nH DPT board)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9" name="decision">
            <a:extLst>
              <a:ext uri="{FF2B5EF4-FFF2-40B4-BE49-F238E27FC236}">
                <a16:creationId xmlns:a16="http://schemas.microsoft.com/office/drawing/2014/main" id="{F413FED1-6EC9-9FB5-F5B6-2094D1E80178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2 × EPC2361 per channel; </a:t>
            </a: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4 per switch = two pairs, two drivers, one leg board</a:t>
            </a:r>
            <a:endParaRPr lang="sv-SE" sz="1380" b="1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5662194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A2A7D6-BEFB-C704-EDA9-FCCE7765D5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Rev B: four cells per switch, two drivers, one leg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9BA7A0-158F-425A-C9EA-29CB3AB0A7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9941DB-FFC6-85DD-F53E-4B409A4CA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26</a:t>
            </a:fld>
            <a:endParaRPr lang="sv-SE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B9E5A08-7A2B-C54D-5B7A-8087E6B7C781}"/>
              </a:ext>
            </a:extLst>
          </p:cNvPr>
          <p:cNvSpPr/>
          <p:nvPr/>
        </p:nvSpPr>
        <p:spPr>
          <a:xfrm>
            <a:off x="333375" y="1143000"/>
            <a:ext cx="4476750" cy="3143250"/>
          </a:xfrm>
          <a:prstGeom prst="rect">
            <a:avLst/>
          </a:prstGeom>
          <a:solidFill>
            <a:srgbClr val="FFFFFF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5400" rIns="25400" rtlCol="0" anchor="ctr"/>
          <a:lstStyle/>
          <a:p>
            <a:pPr algn="ctr"/>
            <a:endParaRPr lang="sv-SE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162DFE8-53DF-EED6-255C-1D9B8B82B64E}"/>
              </a:ext>
            </a:extLst>
          </p:cNvPr>
          <p:cNvSpPr txBox="1"/>
          <p:nvPr/>
        </p:nvSpPr>
        <p:spPr>
          <a:xfrm>
            <a:off x="381000" y="1171575"/>
            <a:ext cx="285750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r>
              <a:rPr lang="en-US" sz="1010" b="1">
                <a:solidFill>
                  <a:srgbClr val="787878"/>
                </a:solidFill>
                <a:latin typeface="Arial" panose="020B0604020202020204" pitchFamily="34" charset="0"/>
              </a:rPr>
              <a:t>Rev B leg board, 89.5 × 80 mm, 4 layers</a:t>
            </a:r>
            <a:endParaRPr lang="sv-SE" sz="1010" b="1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6F5AB6A-917C-52AA-FEC7-D1C5AE8DB071}"/>
              </a:ext>
            </a:extLst>
          </p:cNvPr>
          <p:cNvSpPr/>
          <p:nvPr/>
        </p:nvSpPr>
        <p:spPr>
          <a:xfrm>
            <a:off x="2095500" y="1352550"/>
            <a:ext cx="428625" cy="209550"/>
          </a:xfrm>
          <a:prstGeom prst="roundRect">
            <a:avLst/>
          </a:prstGeom>
          <a:solidFill>
            <a:srgbClr val="FAE9E6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sv-SE" sz="920" b="1">
                <a:solidFill>
                  <a:srgbClr val="1E1E1E"/>
                </a:solidFill>
                <a:latin typeface="Arial" panose="020B0604020202020204" pitchFamily="34" charset="0"/>
              </a:rPr>
              <a:t>DC+</a:t>
            </a:r>
            <a:endParaRPr lang="sv-SE" sz="920" b="1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D934300-8568-17E8-FBFD-C35C2A3893C3}"/>
              </a:ext>
            </a:extLst>
          </p:cNvPr>
          <p:cNvSpPr/>
          <p:nvPr/>
        </p:nvSpPr>
        <p:spPr>
          <a:xfrm>
            <a:off x="2619375" y="1352550"/>
            <a:ext cx="428625" cy="209550"/>
          </a:xfrm>
          <a:prstGeom prst="roundRect">
            <a:avLst/>
          </a:prstGeom>
          <a:solidFill>
            <a:srgbClr val="E8EFF8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sv-SE" sz="920" b="1">
                <a:solidFill>
                  <a:srgbClr val="1E1E1E"/>
                </a:solidFill>
                <a:latin typeface="Arial" panose="020B0604020202020204" pitchFamily="34" charset="0"/>
              </a:rPr>
              <a:t>DC−</a:t>
            </a:r>
            <a:endParaRPr lang="sv-SE" sz="920" b="1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79E2032-88E9-31FC-ACA7-1363467A7C74}"/>
              </a:ext>
            </a:extLst>
          </p:cNvPr>
          <p:cNvCxnSpPr/>
          <p:nvPr/>
        </p:nvCxnSpPr>
        <p:spPr>
          <a:xfrm>
            <a:off x="523875" y="1638300"/>
            <a:ext cx="4095750" cy="0"/>
          </a:xfrm>
          <a:prstGeom prst="line">
            <a:avLst/>
          </a:prstGeom>
          <a:ln w="508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B64BA3F-74A9-DD93-ACFE-4A280EAD9DA8}"/>
              </a:ext>
            </a:extLst>
          </p:cNvPr>
          <p:cNvCxnSpPr/>
          <p:nvPr/>
        </p:nvCxnSpPr>
        <p:spPr>
          <a:xfrm>
            <a:off x="523875" y="1752600"/>
            <a:ext cx="4095750" cy="0"/>
          </a:xfrm>
          <a:prstGeom prst="line">
            <a:avLst/>
          </a:prstGeom>
          <a:ln w="508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DC46523-4D02-6905-D4E0-D8F1EA895CC6}"/>
              </a:ext>
            </a:extLst>
          </p:cNvPr>
          <p:cNvCxnSpPr/>
          <p:nvPr/>
        </p:nvCxnSpPr>
        <p:spPr>
          <a:xfrm>
            <a:off x="2305050" y="1562100"/>
            <a:ext cx="0" cy="76200"/>
          </a:xfrm>
          <a:prstGeom prst="line">
            <a:avLst/>
          </a:prstGeom>
          <a:ln w="381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DACAFC8-7214-0763-9606-617D90463C8B}"/>
              </a:ext>
            </a:extLst>
          </p:cNvPr>
          <p:cNvCxnSpPr/>
          <p:nvPr/>
        </p:nvCxnSpPr>
        <p:spPr>
          <a:xfrm>
            <a:off x="2828925" y="1562100"/>
            <a:ext cx="0" cy="190500"/>
          </a:xfrm>
          <a:prstGeom prst="line">
            <a:avLst/>
          </a:prstGeom>
          <a:ln w="381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23F4F5C1-9293-B2D4-46F5-62DF7FCF1EB5}"/>
              </a:ext>
            </a:extLst>
          </p:cNvPr>
          <p:cNvSpPr txBox="1"/>
          <p:nvPr/>
        </p:nvSpPr>
        <p:spPr>
          <a:xfrm>
            <a:off x="523875" y="1428750"/>
            <a:ext cx="152400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r>
              <a:rPr lang="en-US" sz="830">
                <a:solidFill>
                  <a:srgbClr val="787878"/>
                </a:solidFill>
                <a:latin typeface="Arial" panose="020B0604020202020204" pitchFamily="34" charset="0"/>
              </a:rPr>
              <a:t>laminated terminal row + one bank</a:t>
            </a:r>
            <a:endParaRPr lang="sv-SE" sz="83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CA920A4-6D0B-BEE8-92BB-CCD94DE785A0}"/>
              </a:ext>
            </a:extLst>
          </p:cNvPr>
          <p:cNvSpPr/>
          <p:nvPr/>
        </p:nvSpPr>
        <p:spPr>
          <a:xfrm>
            <a:off x="619125" y="1952625"/>
            <a:ext cx="857250" cy="619125"/>
          </a:xfrm>
          <a:prstGeom prst="roundRect">
            <a:avLst/>
          </a:prstGeom>
          <a:solidFill>
            <a:srgbClr val="FAE9E6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cell 1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HS + LS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EPC2361</a:t>
            </a:r>
            <a:endParaRPr lang="sv-SE" sz="92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98EA96A1-CACE-5906-CE1A-91CDBF0654EB}"/>
              </a:ext>
            </a:extLst>
          </p:cNvPr>
          <p:cNvSpPr/>
          <p:nvPr/>
        </p:nvSpPr>
        <p:spPr>
          <a:xfrm>
            <a:off x="666750" y="2667000"/>
            <a:ext cx="762000" cy="247650"/>
          </a:xfrm>
          <a:prstGeom prst="roundRect">
            <a:avLst/>
          </a:prstGeom>
          <a:solidFill>
            <a:srgbClr val="E2F3E8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sv-SE" sz="730">
                <a:solidFill>
                  <a:srgbClr val="1E1E1E"/>
                </a:solidFill>
                <a:latin typeface="Arial" panose="020B0604020202020204" pitchFamily="34" charset="0"/>
              </a:rPr>
              <a:t>UFCS (DPT only)</a:t>
            </a:r>
            <a:endParaRPr lang="sv-SE" sz="73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5CC23EB-58A7-26D4-BC4E-17F9B161998F}"/>
              </a:ext>
            </a:extLst>
          </p:cNvPr>
          <p:cNvCxnSpPr/>
          <p:nvPr/>
        </p:nvCxnSpPr>
        <p:spPr>
          <a:xfrm>
            <a:off x="904875" y="1638300"/>
            <a:ext cx="0" cy="314325"/>
          </a:xfrm>
          <a:prstGeom prst="line">
            <a:avLst/>
          </a:prstGeom>
          <a:ln w="254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729AB0C9-E050-6BBD-D284-64F09828B37D}"/>
              </a:ext>
            </a:extLst>
          </p:cNvPr>
          <p:cNvCxnSpPr/>
          <p:nvPr/>
        </p:nvCxnSpPr>
        <p:spPr>
          <a:xfrm>
            <a:off x="1190625" y="1752600"/>
            <a:ext cx="0" cy="200025"/>
          </a:xfrm>
          <a:prstGeom prst="line">
            <a:avLst/>
          </a:prstGeom>
          <a:ln w="254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96954E8-73A2-59EB-CCD8-97B43FCEFB4E}"/>
              </a:ext>
            </a:extLst>
          </p:cNvPr>
          <p:cNvCxnSpPr/>
          <p:nvPr/>
        </p:nvCxnSpPr>
        <p:spPr>
          <a:xfrm>
            <a:off x="1047750" y="2571750"/>
            <a:ext cx="0" cy="95250"/>
          </a:xfrm>
          <a:prstGeom prst="line">
            <a:avLst/>
          </a:prstGeom>
          <a:ln w="19050">
            <a:solidFill>
              <a:srgbClr val="1E1E1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3C8C5EF0-3C6E-9B6D-D4A6-C3EC90F29A93}"/>
              </a:ext>
            </a:extLst>
          </p:cNvPr>
          <p:cNvCxnSpPr/>
          <p:nvPr/>
        </p:nvCxnSpPr>
        <p:spPr>
          <a:xfrm>
            <a:off x="1047750" y="3286125"/>
            <a:ext cx="0" cy="190500"/>
          </a:xfrm>
          <a:prstGeom prst="line">
            <a:avLst/>
          </a:prstGeom>
          <a:ln w="38100">
            <a:solidFill>
              <a:srgbClr val="1E1E1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5ED0A0C7-FD32-094F-494F-7E41F9CC9141}"/>
              </a:ext>
            </a:extLst>
          </p:cNvPr>
          <p:cNvSpPr/>
          <p:nvPr/>
        </p:nvSpPr>
        <p:spPr>
          <a:xfrm>
            <a:off x="1666875" y="1952625"/>
            <a:ext cx="857250" cy="619125"/>
          </a:xfrm>
          <a:prstGeom prst="roundRect">
            <a:avLst/>
          </a:prstGeom>
          <a:solidFill>
            <a:srgbClr val="FAE9E6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cell 2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HS + LS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EPC2361</a:t>
            </a:r>
            <a:endParaRPr lang="sv-SE" sz="92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58BCE5F6-0BA1-2B6D-8FFF-9D1E76EF21F2}"/>
              </a:ext>
            </a:extLst>
          </p:cNvPr>
          <p:cNvSpPr/>
          <p:nvPr/>
        </p:nvSpPr>
        <p:spPr>
          <a:xfrm>
            <a:off x="1714500" y="2667000"/>
            <a:ext cx="762000" cy="247650"/>
          </a:xfrm>
          <a:prstGeom prst="roundRect">
            <a:avLst/>
          </a:prstGeom>
          <a:solidFill>
            <a:srgbClr val="E2F3E8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sv-SE" sz="730">
                <a:solidFill>
                  <a:srgbClr val="1E1E1E"/>
                </a:solidFill>
                <a:latin typeface="Arial" panose="020B0604020202020204" pitchFamily="34" charset="0"/>
              </a:rPr>
              <a:t>UFCS (DPT only)</a:t>
            </a:r>
            <a:endParaRPr lang="sv-SE" sz="73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9728F3C2-7E7A-BA14-AFB3-222939B4BA25}"/>
              </a:ext>
            </a:extLst>
          </p:cNvPr>
          <p:cNvCxnSpPr/>
          <p:nvPr/>
        </p:nvCxnSpPr>
        <p:spPr>
          <a:xfrm>
            <a:off x="1952625" y="1638300"/>
            <a:ext cx="0" cy="314325"/>
          </a:xfrm>
          <a:prstGeom prst="line">
            <a:avLst/>
          </a:prstGeom>
          <a:ln w="254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5E5030A0-A8D1-83B3-7466-80A2C441810B}"/>
              </a:ext>
            </a:extLst>
          </p:cNvPr>
          <p:cNvCxnSpPr/>
          <p:nvPr/>
        </p:nvCxnSpPr>
        <p:spPr>
          <a:xfrm>
            <a:off x="2238375" y="1752600"/>
            <a:ext cx="0" cy="200025"/>
          </a:xfrm>
          <a:prstGeom prst="line">
            <a:avLst/>
          </a:prstGeom>
          <a:ln w="254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3513EC4-B0A3-4534-7D9B-4E34FE0D183F}"/>
              </a:ext>
            </a:extLst>
          </p:cNvPr>
          <p:cNvCxnSpPr/>
          <p:nvPr/>
        </p:nvCxnSpPr>
        <p:spPr>
          <a:xfrm>
            <a:off x="2095500" y="2571750"/>
            <a:ext cx="0" cy="95250"/>
          </a:xfrm>
          <a:prstGeom prst="line">
            <a:avLst/>
          </a:prstGeom>
          <a:ln w="19050">
            <a:solidFill>
              <a:srgbClr val="1E1E1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4D0121C8-20D1-3CFF-7994-D6AB3DDBEF19}"/>
              </a:ext>
            </a:extLst>
          </p:cNvPr>
          <p:cNvCxnSpPr/>
          <p:nvPr/>
        </p:nvCxnSpPr>
        <p:spPr>
          <a:xfrm>
            <a:off x="2095500" y="3286125"/>
            <a:ext cx="0" cy="190500"/>
          </a:xfrm>
          <a:prstGeom prst="line">
            <a:avLst/>
          </a:prstGeom>
          <a:ln w="38100">
            <a:solidFill>
              <a:srgbClr val="1E1E1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287AA5A3-450C-4C2F-B4AB-BD2EC352309D}"/>
              </a:ext>
            </a:extLst>
          </p:cNvPr>
          <p:cNvSpPr/>
          <p:nvPr/>
        </p:nvSpPr>
        <p:spPr>
          <a:xfrm>
            <a:off x="2714625" y="1952625"/>
            <a:ext cx="857250" cy="619125"/>
          </a:xfrm>
          <a:prstGeom prst="roundRect">
            <a:avLst/>
          </a:prstGeom>
          <a:solidFill>
            <a:srgbClr val="FAE9E6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cell 3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HS + LS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EPC2361</a:t>
            </a:r>
            <a:endParaRPr lang="sv-SE" sz="92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2B5EB51C-8317-EFF1-D9D1-4C2E85D8B9D0}"/>
              </a:ext>
            </a:extLst>
          </p:cNvPr>
          <p:cNvSpPr/>
          <p:nvPr/>
        </p:nvSpPr>
        <p:spPr>
          <a:xfrm>
            <a:off x="2762250" y="2667000"/>
            <a:ext cx="762000" cy="247650"/>
          </a:xfrm>
          <a:prstGeom prst="roundRect">
            <a:avLst/>
          </a:prstGeom>
          <a:solidFill>
            <a:srgbClr val="E2F3E8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sv-SE" sz="730">
                <a:solidFill>
                  <a:srgbClr val="1E1E1E"/>
                </a:solidFill>
                <a:latin typeface="Arial" panose="020B0604020202020204" pitchFamily="34" charset="0"/>
              </a:rPr>
              <a:t>UFCS (DPT only)</a:t>
            </a:r>
            <a:endParaRPr lang="sv-SE" sz="73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49E6EAD7-C8E0-D4B3-4748-E62437FC98FB}"/>
              </a:ext>
            </a:extLst>
          </p:cNvPr>
          <p:cNvCxnSpPr/>
          <p:nvPr/>
        </p:nvCxnSpPr>
        <p:spPr>
          <a:xfrm>
            <a:off x="3000375" y="1638300"/>
            <a:ext cx="0" cy="314325"/>
          </a:xfrm>
          <a:prstGeom prst="line">
            <a:avLst/>
          </a:prstGeom>
          <a:ln w="254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AE4F2E42-1162-FFAE-5A05-2F8D87C602AF}"/>
              </a:ext>
            </a:extLst>
          </p:cNvPr>
          <p:cNvCxnSpPr/>
          <p:nvPr/>
        </p:nvCxnSpPr>
        <p:spPr>
          <a:xfrm>
            <a:off x="3286125" y="1752600"/>
            <a:ext cx="0" cy="200025"/>
          </a:xfrm>
          <a:prstGeom prst="line">
            <a:avLst/>
          </a:prstGeom>
          <a:ln w="254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869D41DB-7BC6-F2F4-3293-BBB25F7366BE}"/>
              </a:ext>
            </a:extLst>
          </p:cNvPr>
          <p:cNvCxnSpPr/>
          <p:nvPr/>
        </p:nvCxnSpPr>
        <p:spPr>
          <a:xfrm>
            <a:off x="3143250" y="2571750"/>
            <a:ext cx="0" cy="95250"/>
          </a:xfrm>
          <a:prstGeom prst="line">
            <a:avLst/>
          </a:prstGeom>
          <a:ln w="19050">
            <a:solidFill>
              <a:srgbClr val="1E1E1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B8E98FB8-8AAF-D92E-060C-8E4BA033C586}"/>
              </a:ext>
            </a:extLst>
          </p:cNvPr>
          <p:cNvCxnSpPr/>
          <p:nvPr/>
        </p:nvCxnSpPr>
        <p:spPr>
          <a:xfrm>
            <a:off x="3143250" y="3286125"/>
            <a:ext cx="0" cy="190500"/>
          </a:xfrm>
          <a:prstGeom prst="line">
            <a:avLst/>
          </a:prstGeom>
          <a:ln w="38100">
            <a:solidFill>
              <a:srgbClr val="1E1E1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E594A61C-ACF9-615A-51DF-2E1AA34EBF89}"/>
              </a:ext>
            </a:extLst>
          </p:cNvPr>
          <p:cNvSpPr/>
          <p:nvPr/>
        </p:nvSpPr>
        <p:spPr>
          <a:xfrm>
            <a:off x="3762375" y="1952625"/>
            <a:ext cx="857250" cy="619125"/>
          </a:xfrm>
          <a:prstGeom prst="roundRect">
            <a:avLst/>
          </a:prstGeom>
          <a:solidFill>
            <a:srgbClr val="FAE9E6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cell 4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HS + LS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EPC2361</a:t>
            </a:r>
            <a:endParaRPr lang="sv-SE" sz="92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252864AD-EA41-9962-B5FB-F91E8C26B10E}"/>
              </a:ext>
            </a:extLst>
          </p:cNvPr>
          <p:cNvSpPr/>
          <p:nvPr/>
        </p:nvSpPr>
        <p:spPr>
          <a:xfrm>
            <a:off x="3810000" y="2667000"/>
            <a:ext cx="762000" cy="247650"/>
          </a:xfrm>
          <a:prstGeom prst="roundRect">
            <a:avLst/>
          </a:prstGeom>
          <a:solidFill>
            <a:srgbClr val="E2F3E8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sv-SE" sz="730">
                <a:solidFill>
                  <a:srgbClr val="1E1E1E"/>
                </a:solidFill>
                <a:latin typeface="Arial" panose="020B0604020202020204" pitchFamily="34" charset="0"/>
              </a:rPr>
              <a:t>UFCS (DPT only)</a:t>
            </a:r>
            <a:endParaRPr lang="sv-SE" sz="73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C29AF68-D8FF-B871-E819-BB286C42E1C6}"/>
              </a:ext>
            </a:extLst>
          </p:cNvPr>
          <p:cNvCxnSpPr/>
          <p:nvPr/>
        </p:nvCxnSpPr>
        <p:spPr>
          <a:xfrm>
            <a:off x="4048125" y="1638300"/>
            <a:ext cx="0" cy="314325"/>
          </a:xfrm>
          <a:prstGeom prst="line">
            <a:avLst/>
          </a:prstGeom>
          <a:ln w="254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F300CC7F-0511-E77F-B2B3-B24B61057252}"/>
              </a:ext>
            </a:extLst>
          </p:cNvPr>
          <p:cNvCxnSpPr/>
          <p:nvPr/>
        </p:nvCxnSpPr>
        <p:spPr>
          <a:xfrm>
            <a:off x="4333875" y="1752600"/>
            <a:ext cx="0" cy="200025"/>
          </a:xfrm>
          <a:prstGeom prst="line">
            <a:avLst/>
          </a:prstGeom>
          <a:ln w="254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786F4191-AA20-5D35-118E-B0887A16C2D7}"/>
              </a:ext>
            </a:extLst>
          </p:cNvPr>
          <p:cNvCxnSpPr/>
          <p:nvPr/>
        </p:nvCxnSpPr>
        <p:spPr>
          <a:xfrm>
            <a:off x="4191000" y="2571750"/>
            <a:ext cx="0" cy="95250"/>
          </a:xfrm>
          <a:prstGeom prst="line">
            <a:avLst/>
          </a:prstGeom>
          <a:ln w="19050">
            <a:solidFill>
              <a:srgbClr val="1E1E1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8DCD4CC7-358B-CD86-20FC-45CBFE77EBD5}"/>
              </a:ext>
            </a:extLst>
          </p:cNvPr>
          <p:cNvCxnSpPr/>
          <p:nvPr/>
        </p:nvCxnSpPr>
        <p:spPr>
          <a:xfrm>
            <a:off x="4191000" y="3286125"/>
            <a:ext cx="0" cy="190500"/>
          </a:xfrm>
          <a:prstGeom prst="line">
            <a:avLst/>
          </a:prstGeom>
          <a:ln w="38100">
            <a:solidFill>
              <a:srgbClr val="1E1E1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701BDB95-B8AD-2872-BDA1-EDE4C55D99E6}"/>
              </a:ext>
            </a:extLst>
          </p:cNvPr>
          <p:cNvSpPr/>
          <p:nvPr/>
        </p:nvSpPr>
        <p:spPr>
          <a:xfrm>
            <a:off x="1000125" y="2981325"/>
            <a:ext cx="1047750" cy="266700"/>
          </a:xfrm>
          <a:prstGeom prst="roundRect">
            <a:avLst/>
          </a:prstGeom>
          <a:solidFill>
            <a:srgbClr val="E6F3E9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nn-NO" sz="830">
                <a:solidFill>
                  <a:srgbClr val="1E1E1E"/>
                </a:solidFill>
                <a:latin typeface="Arial" panose="020B0604020202020204" pitchFamily="34" charset="0"/>
              </a:rPr>
              <a:t>2EDF7275K #1</a:t>
            </a:r>
          </a:p>
          <a:p>
            <a:pPr algn="ctr"/>
            <a:r>
              <a:rPr lang="nn-NO" sz="830">
                <a:solidFill>
                  <a:srgbClr val="1E1E1E"/>
                </a:solidFill>
                <a:latin typeface="Arial" panose="020B0604020202020204" pitchFamily="34" charset="0"/>
              </a:rPr>
              <a:t>HS + LS, star</a:t>
            </a:r>
            <a:endParaRPr lang="sv-SE" sz="83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0F97D7F6-872F-E054-7E8C-68A6D6F2DFF2}"/>
              </a:ext>
            </a:extLst>
          </p:cNvPr>
          <p:cNvSpPr/>
          <p:nvPr/>
        </p:nvSpPr>
        <p:spPr>
          <a:xfrm>
            <a:off x="3095625" y="2981325"/>
            <a:ext cx="1047750" cy="266700"/>
          </a:xfrm>
          <a:prstGeom prst="roundRect">
            <a:avLst/>
          </a:prstGeom>
          <a:solidFill>
            <a:srgbClr val="E6F3E9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nn-NO" sz="830">
                <a:solidFill>
                  <a:srgbClr val="1E1E1E"/>
                </a:solidFill>
                <a:latin typeface="Arial" panose="020B0604020202020204" pitchFamily="34" charset="0"/>
              </a:rPr>
              <a:t>2EDF7275K #2</a:t>
            </a:r>
          </a:p>
          <a:p>
            <a:pPr algn="ctr"/>
            <a:r>
              <a:rPr lang="nn-NO" sz="830">
                <a:solidFill>
                  <a:srgbClr val="1E1E1E"/>
                </a:solidFill>
                <a:latin typeface="Arial" panose="020B0604020202020204" pitchFamily="34" charset="0"/>
              </a:rPr>
              <a:t>HS + LS, star</a:t>
            </a:r>
            <a:endParaRPr lang="sv-SE" sz="83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21E0041-4DD0-31DD-DA60-0C998F16114F}"/>
              </a:ext>
            </a:extLst>
          </p:cNvPr>
          <p:cNvCxnSpPr/>
          <p:nvPr/>
        </p:nvCxnSpPr>
        <p:spPr>
          <a:xfrm>
            <a:off x="809625" y="3476625"/>
            <a:ext cx="3381375" cy="0"/>
          </a:xfrm>
          <a:prstGeom prst="line">
            <a:avLst/>
          </a:prstGeom>
          <a:ln w="63500">
            <a:solidFill>
              <a:srgbClr val="1E1E1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87E43248-A650-A36D-7293-CDA2C97AE4F8}"/>
              </a:ext>
            </a:extLst>
          </p:cNvPr>
          <p:cNvSpPr txBox="1"/>
          <p:nvPr/>
        </p:nvSpPr>
        <p:spPr>
          <a:xfrm>
            <a:off x="714375" y="3524250"/>
            <a:ext cx="171450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r>
              <a:rPr lang="en-US" sz="920" b="1">
                <a:solidFill>
                  <a:srgbClr val="1E1E1E"/>
                </a:solidFill>
                <a:latin typeface="Arial" panose="020B0604020202020204" pitchFamily="34" charset="0"/>
              </a:rPr>
              <a:t>AC joined in copper (all layers)</a:t>
            </a:r>
            <a:endParaRPr lang="sv-SE" sz="920" b="1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DE54CAFE-DA9C-48AC-16B2-B31570950974}"/>
              </a:ext>
            </a:extLst>
          </p:cNvPr>
          <p:cNvCxnSpPr/>
          <p:nvPr/>
        </p:nvCxnSpPr>
        <p:spPr>
          <a:xfrm>
            <a:off x="2571750" y="3476625"/>
            <a:ext cx="0" cy="428625"/>
          </a:xfrm>
          <a:prstGeom prst="line">
            <a:avLst/>
          </a:prstGeom>
          <a:ln w="63500">
            <a:solidFill>
              <a:srgbClr val="1E1E1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67AB79AD-6691-6D1B-9AB8-3974B627ED6C}"/>
              </a:ext>
            </a:extLst>
          </p:cNvPr>
          <p:cNvSpPr txBox="1"/>
          <p:nvPr/>
        </p:nvSpPr>
        <p:spPr>
          <a:xfrm>
            <a:off x="2667000" y="3714750"/>
            <a:ext cx="209550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ONE M6 AC bolt pad → Cu bar</a:t>
            </a:r>
          </a:p>
          <a:p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→ LEM HO 250-S → load</a:t>
            </a:r>
            <a:endParaRPr lang="sv-SE" sz="92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63B6D9C-A76B-9000-C39F-47266367EA91}"/>
              </a:ext>
            </a:extLst>
          </p:cNvPr>
          <p:cNvSpPr txBox="1"/>
          <p:nvPr/>
        </p:nvSpPr>
        <p:spPr>
          <a:xfrm>
            <a:off x="5000625" y="952500"/>
            <a:ext cx="3810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One leg: 4 EPC2361 per switch, </a:t>
            </a: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two 2EDF7275K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, each drives one pair (HS + LS channel) through a star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Why one driver per pair: the driver sits between its two cells ⇒ short, identical gate loops; one HS + one LS isolated supply, split per driver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One DC+ / DC− pair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at the centre: laminated terminal row (L1/L3 +, L2/L4 −) feeds one continuous bank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One AC output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: all four switch nodes joined, one M6 bolt pad, Cu bar through the HO 250-S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Built as </a:t>
            </a: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two boards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from the same generator: DPT (UFCS shunt per cell) and load test (no shunt)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300799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44359-7327-1ED1-CD6B-E913740583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800"/>
              <a:t>Two boards from one design: double-pulse test and load test</a:t>
            </a:r>
            <a:endParaRPr lang="sv-SE" sz="18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6CD7584-1B0B-5AF7-29A0-3A5A6F1539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F846F73-D319-D97D-608C-8DABE4E7E0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27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FEDB750-EA9A-2209-81DC-882AF25FAD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7441658"/>
              </p:ext>
            </p:extLst>
          </p:nvPr>
        </p:nvGraphicFramePr>
        <p:xfrm>
          <a:off x="238125" y="952500"/>
          <a:ext cx="8667750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9250">
                  <a:extLst>
                    <a:ext uri="{9D8B030D-6E8A-4147-A177-3AD203B41FA5}">
                      <a16:colId xmlns:a16="http://schemas.microsoft.com/office/drawing/2014/main" val="2156584628"/>
                    </a:ext>
                  </a:extLst>
                </a:gridCol>
                <a:gridCol w="3476625">
                  <a:extLst>
                    <a:ext uri="{9D8B030D-6E8A-4147-A177-3AD203B41FA5}">
                      <a16:colId xmlns:a16="http://schemas.microsoft.com/office/drawing/2014/main" val="1235921623"/>
                    </a:ext>
                  </a:extLst>
                </a:gridCol>
                <a:gridCol w="3476625">
                  <a:extLst>
                    <a:ext uri="{9D8B030D-6E8A-4147-A177-3AD203B41FA5}">
                      <a16:colId xmlns:a16="http://schemas.microsoft.com/office/drawing/2014/main" val="2114274766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endParaRPr lang="sv-SE" sz="119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DPT board (spb-bb-revb-dpt)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Load-test board (spb-bb-revb-load)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873635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Purpose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switching energies, per-cell current, overshoot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back-to-back / three-phase load test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537627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LS source path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PMK UFCS-R001 per cell (1 mΩ, 120 pH)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source stripes via-in-pad (blind L1–L2) to DC−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469609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UFCS land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IN land shortened to 1.2 mm: blade 1.45 mm from the source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2253948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Cooling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none (pulsed test)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Fischer LAM 4 K 50 12 on an Al spreader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380564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Loop per cell (Q3D)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0.65 nH (mean)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0.41 nH (mean)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812744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v̂</a:t>
                      </a:r>
                      <a:r>
                        <a:rPr lang="sv-SE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</a:t>
                      </a:r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at 30 A/ns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94 V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87 V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216779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Parts / DRC / schematic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200 footprints, DRC 0 / 0 / 0, schematic = PCB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200 footprints, DRC 0 / 0 / 0, schematic = PCB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8802355"/>
                  </a:ext>
                </a:extLst>
              </a:tr>
            </a:tbl>
          </a:graphicData>
        </a:graphic>
      </p:graphicFrame>
      <p:sp>
        <p:nvSpPr>
          <p:cNvPr id="7" name="decision">
            <a:extLst>
              <a:ext uri="{FF2B5EF4-FFF2-40B4-BE49-F238E27FC236}">
                <a16:creationId xmlns:a16="http://schemas.microsoft.com/office/drawing/2014/main" id="{D8F2242E-E0F7-C6B5-5F25-1AD3E01F3433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Same copper, drivers, bank and terminals; only the LS source path and the cooling differ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451397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62A418-0D6B-5339-BF03-3EB85BEE3F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DPT board layout (UFCS shunts, no heatsink)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66DF7C-AABD-B72A-F9C2-86A806B892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E5667FA-DBC9-1E91-64A7-5DDBA32F4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28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F268055-A3A9-5502-3B19-3BE60563AD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248" y="952500"/>
            <a:ext cx="4140753" cy="37147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0E9AAC6-6042-933F-CA1D-1AC69D86800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4375" y="952500"/>
            <a:ext cx="2190750" cy="196806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C2006B0-B1E7-B98D-B2D6-55C4511AF8B9}"/>
              </a:ext>
            </a:extLst>
          </p:cNvPr>
          <p:cNvSpPr txBox="1"/>
          <p:nvPr/>
        </p:nvSpPr>
        <p:spPr>
          <a:xfrm>
            <a:off x="6810375" y="952500"/>
            <a:ext cx="20002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89.5 × 80 mm, 4 layers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UFCS-R001 per cell, IN land 1.2 mm (blade at the source edge), return vias in the SHLD pad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No heatsink, no spreader holes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DRC 0 / 0 / 0, schematic = PCB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965063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4BF845-DF29-B45E-4830-3EC3D35B9C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Load-test board layout (no shunt, heatsink)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71DD1A-E5AC-88EE-C7C9-9F7A78C3D1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83703E7-3949-5583-1D93-729C029FC6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29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B89C5E6-0474-D027-8EA3-3FA462CAFA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248" y="952500"/>
            <a:ext cx="4140753" cy="37147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155877B-C747-69C2-890F-662FE357453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4375" y="952500"/>
            <a:ext cx="2190750" cy="196806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CD003E5-0B44-9344-22B4-26529521D968}"/>
              </a:ext>
            </a:extLst>
          </p:cNvPr>
          <p:cNvSpPr txBox="1"/>
          <p:nvPr/>
        </p:nvSpPr>
        <p:spPr>
          <a:xfrm>
            <a:off x="6810375" y="952500"/>
            <a:ext cx="20002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89.5 × 80 mm, 4 layers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LS source stripes: 3 blind L1–L2 vias each (filled, capped) into the DC− plane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LAM 4 K 50 12 over the cells, 3 spreader holes (H5–H7)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DRC 0 / 0 / 0, schematic = PCB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3752698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FCF45F-B613-120B-6436-5B7C8707B3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The two boards in 3D (KiCad models)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25EABBF-8A52-F88B-A18F-86CAA247C4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30E0E4-43A5-72FC-2B86-8B9E684A2B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30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89AD3ED-231F-620D-034E-422F184693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255" y="952500"/>
            <a:ext cx="4166365" cy="28575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48B52BE-C73E-C73B-BAAD-E4BEF9E8CE5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3609" y="952500"/>
            <a:ext cx="2995406" cy="28575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A830B48-D45A-F94E-787F-2CDB83822CDF}"/>
              </a:ext>
            </a:extLst>
          </p:cNvPr>
          <p:cNvSpPr txBox="1"/>
          <p:nvPr/>
        </p:nvSpPr>
        <p:spPr>
          <a:xfrm>
            <a:off x="238125" y="3810000"/>
            <a:ext cx="4238625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pPr algn="ctr"/>
            <a:r>
              <a:rPr lang="en-US" sz="1010">
                <a:solidFill>
                  <a:srgbClr val="787878"/>
                </a:solidFill>
                <a:latin typeface="Arial" panose="020B0604020202020204" pitchFamily="34" charset="0"/>
              </a:rPr>
              <a:t>DPT board: UFCS shunts over the LS FETs, M6 AC bolt + Cu bar</a:t>
            </a:r>
            <a:endParaRPr lang="sv-SE" sz="101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D675F78-8B05-2C80-10B3-0E38710A0710}"/>
              </a:ext>
            </a:extLst>
          </p:cNvPr>
          <p:cNvSpPr txBox="1"/>
          <p:nvPr/>
        </p:nvSpPr>
        <p:spPr>
          <a:xfrm>
            <a:off x="4572000" y="3810000"/>
            <a:ext cx="4238625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pPr algn="ctr"/>
            <a:r>
              <a:rPr lang="en-US" sz="1010">
                <a:solidFill>
                  <a:srgbClr val="787878"/>
                </a:solidFill>
                <a:latin typeface="Arial" panose="020B0604020202020204" pitchFamily="34" charset="0"/>
              </a:rPr>
              <a:t>Load-test board: LAM 4 K 50 12 + Al spreader</a:t>
            </a:r>
            <a:endParaRPr lang="sv-SE" sz="101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52AFE8F-47A0-8C31-8C7D-BA05F88EAA23}"/>
              </a:ext>
            </a:extLst>
          </p:cNvPr>
          <p:cNvSpPr txBox="1"/>
          <p:nvPr/>
        </p:nvSpPr>
        <p:spPr>
          <a:xfrm>
            <a:off x="238125" y="4048125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Every footprint has a 3D model (KiCad library + box models: EPC2361, 2EDF7275K, UFCS, TDK 2220, WE-CNSW, M6 bolt + bar, heatsink); board STEPs in hardware/spb-bb-revb-*/fab; rendered with pyvista (scripts/render_3d.py)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65FD7F8-FA4C-FF27-E200-7AF2754F51EE}"/>
              </a:ext>
            </a:extLst>
          </p:cNvPr>
          <p:cNvSpPr txBox="1"/>
          <p:nvPr/>
        </p:nvSpPr>
        <p:spPr>
          <a:xfrm>
            <a:off x="228600" y="4597400"/>
            <a:ext cx="7874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30">
                <a:solidFill>
                  <a:srgbClr val="787878"/>
                </a:solidFill>
                <a:latin typeface="Arial" panose="020B0604020202020204" pitchFamily="34" charset="0"/>
              </a:rPr>
              <a:t>Box models are dimensioned envelopes, not manufacturer CAD (UFCS SMA jack position approximate).</a:t>
            </a:r>
            <a:endParaRPr lang="sv-SE" sz="73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7187045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7F03F5-16EF-5100-2087-33C6674EA9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Top view with the silkscreen: DPT and load-test boards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184137-3C73-795E-25DF-800694F541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982CCDB-D7A6-9D7C-2612-14AC4B185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31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DEB0E35-6F2B-4813-51CE-E4783E6FB5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467" y="952500"/>
            <a:ext cx="3499566" cy="3429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3585AB4-067C-FAF9-6FE6-4F42F300EE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99214" y="952500"/>
            <a:ext cx="3327071" cy="34290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ED1A938-1B5D-12AF-4BA7-6768B9FA40A8}"/>
              </a:ext>
            </a:extLst>
          </p:cNvPr>
          <p:cNvSpPr txBox="1"/>
          <p:nvPr/>
        </p:nvSpPr>
        <p:spPr>
          <a:xfrm>
            <a:off x="238125" y="4429125"/>
            <a:ext cx="428625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pPr algn="ctr"/>
            <a:r>
              <a:rPr lang="en-US" sz="1190">
                <a:solidFill>
                  <a:srgbClr val="787878"/>
                </a:solidFill>
                <a:latin typeface="Arial" panose="020B0604020202020204" pitchFamily="34" charset="0"/>
              </a:rPr>
              <a:t>DPT board (UFCS shunts over the LS FETs)</a:t>
            </a:r>
            <a:endParaRPr lang="sv-SE" sz="119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7FFBC6A-A212-9250-E25D-10B911DBED0B}"/>
              </a:ext>
            </a:extLst>
          </p:cNvPr>
          <p:cNvSpPr txBox="1"/>
          <p:nvPr/>
        </p:nvSpPr>
        <p:spPr>
          <a:xfrm>
            <a:off x="4619625" y="4429125"/>
            <a:ext cx="428625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pPr algn="ctr"/>
            <a:r>
              <a:rPr lang="en-US" sz="1190">
                <a:solidFill>
                  <a:srgbClr val="787878"/>
                </a:solidFill>
                <a:latin typeface="Arial" panose="020B0604020202020204" pitchFamily="34" charset="0"/>
              </a:rPr>
              <a:t>load-test board (heatsink removed for the view)</a:t>
            </a:r>
            <a:endParaRPr lang="sv-SE" sz="119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760419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6D173D-29DF-526D-513B-3668EB4642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Bottom side and the load board without heatsink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4AF5632-87E3-3AE2-716E-E5421636E1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24C948-78D1-78E2-A326-870EEE603C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32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E624989-11FF-1B82-1A5E-F489CB38DA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855" y="952500"/>
            <a:ext cx="3803166" cy="28575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6E6BE79-21F7-17DD-0B79-1474AF3FF25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08130" y="952500"/>
            <a:ext cx="4166365" cy="28575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E94DFA2-ADFF-A02A-5F57-15E7A3B16D5F}"/>
              </a:ext>
            </a:extLst>
          </p:cNvPr>
          <p:cNvSpPr txBox="1"/>
          <p:nvPr/>
        </p:nvSpPr>
        <p:spPr>
          <a:xfrm>
            <a:off x="238125" y="39052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Bottom: REDCUBE M4 DC terminals (the leg stands on the busbar), 4 bypass 0805 per cell, U.FL probes, M6 AC nut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Top without heatsink: 20 × 2220 bank in two rows, 8 EPC2361 under the spreader pedestals, 2 drivers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6520774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F952DB-137D-75C2-4125-34AB25991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Two driver pairs on one switch node: driver skew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0893357-0EE4-E2FD-18B9-1C5EAB7FEE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BD952E-3292-2393-7066-9647B8F7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33</a:t>
            </a:fld>
            <a:endParaRPr lang="sv-S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1BBDE3-9B7F-BEA1-98AD-F512AA41CB5B}"/>
              </a:ext>
            </a:extLst>
          </p:cNvPr>
          <p:cNvSpPr txBox="1"/>
          <p:nvPr/>
        </p:nvSpPr>
        <p:spPr>
          <a:xfrm>
            <a:off x="238125" y="952500"/>
            <a:ext cx="4953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The four switch nodes are joined in copper; L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x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= inductance between the switch nodes of the two driver pairs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If driver 2 switches Δt later, pair 1 takes ΔI ≈ V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m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·Δt / L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x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until pair 2 follows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Q3D (fast lx model, final boards): L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x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= </a:t>
            </a:r>
            <a:r>
              <a:rPr lang="en-US" sz="1280" b="1">
                <a:solidFill>
                  <a:srgbClr val="1E1E1E"/>
                </a:solidFill>
                <a:latin typeface="Arial" panose="020B0604020202020204" pitchFamily="34" charset="0"/>
              </a:rPr>
              <a:t>(pending) nH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(HS on) / </a:t>
            </a:r>
            <a:r>
              <a:rPr lang="en-US" sz="1280" b="1">
                <a:solidFill>
                  <a:srgbClr val="1E1E1E"/>
                </a:solidFill>
                <a:latin typeface="Arial" panose="020B0604020202020204" pitchFamily="34" charset="0"/>
              </a:rPr>
              <a:t>(pending) nH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(LS on) on the load board, (pending) / (pending) nH on the DPT board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⇒ </a:t>
            </a:r>
            <a:r>
              <a:rPr lang="en-US" sz="1280" b="1">
                <a:solidFill>
                  <a:srgbClr val="1E1E1E"/>
                </a:solidFill>
                <a:latin typeface="Arial" panose="020B0604020202020204" pitchFamily="34" charset="0"/>
              </a:rPr>
              <a:t>≈ (pending) A per ns of skew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(load board)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5E71B8D1-A7B5-6DBC-65E7-A46C88B9FA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8144451"/>
              </p:ext>
            </p:extLst>
          </p:nvPr>
        </p:nvGraphicFramePr>
        <p:xfrm>
          <a:off x="5429251" y="1047750"/>
          <a:ext cx="3381375" cy="1047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8250">
                  <a:extLst>
                    <a:ext uri="{9D8B030D-6E8A-4147-A177-3AD203B41FA5}">
                      <a16:colId xmlns:a16="http://schemas.microsoft.com/office/drawing/2014/main" val="2745077155"/>
                    </a:ext>
                  </a:extLst>
                </a:gridCol>
                <a:gridCol w="2143125">
                  <a:extLst>
                    <a:ext uri="{9D8B030D-6E8A-4147-A177-3AD203B41FA5}">
                      <a16:colId xmlns:a16="http://schemas.microsoft.com/office/drawing/2014/main" val="3618826288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Measure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Rev B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8049575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One PWM source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C2000 drives both headers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182855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Matched traces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same PCB, same CMC per block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281379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Driver skew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2EDF7275K part-to-part: check datasheet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474980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Verify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U.FL V</a:t>
                      </a:r>
                      <a:r>
                        <a:rPr lang="en-US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GS</a:t>
                      </a:r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of both blocks, UFCS per cell (DPT)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5978192"/>
                  </a:ext>
                </a:extLst>
              </a:tr>
            </a:tbl>
          </a:graphicData>
        </a:graphic>
      </p:graphicFrame>
      <p:pic>
        <p:nvPicPr>
          <p:cNvPr id="9" name="Picture 8">
            <a:extLst>
              <a:ext uri="{FF2B5EF4-FFF2-40B4-BE49-F238E27FC236}">
                <a16:creationId xmlns:a16="http://schemas.microsoft.com/office/drawing/2014/main" id="{948019A9-57BD-82FD-7F60-478EDBAB63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9250" y="2905125"/>
            <a:ext cx="3476625" cy="2172891"/>
          </a:xfrm>
          <a:prstGeom prst="rect">
            <a:avLst/>
          </a:prstGeom>
        </p:spPr>
      </p:pic>
      <p:sp>
        <p:nvSpPr>
          <p:cNvPr id="10" name="decision">
            <a:extLst>
              <a:ext uri="{FF2B5EF4-FFF2-40B4-BE49-F238E27FC236}">
                <a16:creationId xmlns:a16="http://schemas.microsoft.com/office/drawing/2014/main" id="{579FC3C3-C761-9C88-035E-34926E5E6EDF}"/>
              </a:ext>
            </a:extLst>
          </p:cNvPr>
          <p:cNvSpPr/>
          <p:nvPr/>
        </p:nvSpPr>
        <p:spPr>
          <a:xfrm>
            <a:off x="238125" y="4400550"/>
            <a:ext cx="50482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Measure the per-cell current (UFCS) with both drivers switching; delay trim in the C2000 if needed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8834513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BFC9F3-367D-5A26-EC89-2CDD9207D2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Gate supplies: two isolated supplies, Zener split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5A74227-BD0C-5DD1-F5B2-86A2D0427F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1F4E86A-5FC8-E805-D8F6-5B5F91D46C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34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5074BAB-9794-4BD3-56C9-2EA559CD49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952500"/>
            <a:ext cx="5334000" cy="157615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4B4268A-A19C-755E-CAB0-67717A20B3FF}"/>
              </a:ext>
            </a:extLst>
          </p:cNvPr>
          <p:cNvSpPr txBox="1"/>
          <p:nvPr/>
        </p:nvSpPr>
        <p:spPr>
          <a:xfrm>
            <a:off x="5381625" y="952500"/>
            <a:ext cx="3429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One external isolated supply for all HS drivers and one for all LS drivers; each splits per driver through a WE-CNSW common-mode choke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5.1 V Zener VDD–S and 150 </a:t>
            </a:r>
            <a:r>
              <a:rPr lang="el-GR" sz="1380">
                <a:solidFill>
                  <a:srgbClr val="1E1E1E"/>
                </a:solidFill>
                <a:latin typeface="Arial" panose="020B0604020202020204" pitchFamily="34" charset="0"/>
              </a:rPr>
              <a:t>Ω 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bias resistor S–VEE (Karakaya, METU 2020, Fig. 4.1): V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GS,on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= +5.1 V, V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GS,off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= −(V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ISO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− 5.1 V)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e.g. V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ISO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= 6.3 V ⇒ −1.2 V off (bump mitigation); island decoupling 1 µF + 4.7 µF per rail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398519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34B7E6-95F4-3A6F-68C4-D56F0572E7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800"/>
              <a:t>Driver block: input filters, turn-on / turn-off paths, star</a:t>
            </a:r>
            <a:endParaRPr lang="sv-SE" sz="18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CA350DC-F4C6-4A9A-CB87-F1FADDE4E1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77EF2CE-03D9-49C1-FB17-456FBA8F70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35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DDCA267-64FC-EC57-F214-25BD16047C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6105" y="952500"/>
            <a:ext cx="7531789" cy="24765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9E5F8BD-944B-CAC0-C6F8-68056D60593A}"/>
              </a:ext>
            </a:extLst>
          </p:cNvPr>
          <p:cNvSpPr txBox="1"/>
          <p:nvPr/>
        </p:nvSpPr>
        <p:spPr>
          <a:xfrm>
            <a:off x="238125" y="35242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Per block a 2×3 control header (12 V, GND, PWM_H, PWM_L, DIS) with common-mode chokes on each pair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47 </a:t>
            </a:r>
            <a:r>
              <a:rPr lang="el-GR" sz="1380">
                <a:solidFill>
                  <a:srgbClr val="1E1E1E"/>
                </a:solidFill>
                <a:latin typeface="Arial" panose="020B0604020202020204" pitchFamily="34" charset="0"/>
              </a:rPr>
              <a:t>Ω / 100 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pF input filters, 10 k pull-downs, R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ON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0.75 </a:t>
            </a:r>
            <a:r>
              <a:rPr lang="el-GR" sz="1380">
                <a:solidFill>
                  <a:srgbClr val="1E1E1E"/>
                </a:solidFill>
                <a:latin typeface="Arial" panose="020B0604020202020204" pitchFamily="34" charset="0"/>
              </a:rPr>
              <a:t>Ω, 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R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OFF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0 </a:t>
            </a:r>
            <a:r>
              <a:rPr lang="el-GR" sz="1380">
                <a:solidFill>
                  <a:srgbClr val="1E1E1E"/>
                </a:solidFill>
                <a:latin typeface="Arial" panose="020B0604020202020204" pitchFamily="34" charset="0"/>
              </a:rPr>
              <a:t>Ω + 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Schottky, R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G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0.5 </a:t>
            </a:r>
            <a:r>
              <a:rPr lang="el-GR" sz="1380">
                <a:solidFill>
                  <a:srgbClr val="1E1E1E"/>
                </a:solidFill>
                <a:latin typeface="Arial" panose="020B0604020202020204" pitchFamily="34" charset="0"/>
              </a:rPr>
              <a:t>Ω 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per transistor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3233615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C299E0-1B79-79F1-36A0-A643B814B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z="2100"/>
              <a:t>Measurement and control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665B774-22FE-7099-C17F-416559E833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034B05-1DB1-41DC-4F9E-6E2016E78C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36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BEA933D9-8645-5DAD-545B-9340DBDBB8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4880998"/>
              </p:ext>
            </p:extLst>
          </p:nvPr>
        </p:nvGraphicFramePr>
        <p:xfrm>
          <a:off x="238125" y="952500"/>
          <a:ext cx="4953000" cy="125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8750">
                  <a:extLst>
                    <a:ext uri="{9D8B030D-6E8A-4147-A177-3AD203B41FA5}">
                      <a16:colId xmlns:a16="http://schemas.microsoft.com/office/drawing/2014/main" val="150687227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52555127"/>
                    </a:ext>
                  </a:extLst>
                </a:gridCol>
                <a:gridCol w="1619250">
                  <a:extLst>
                    <a:ext uri="{9D8B030D-6E8A-4147-A177-3AD203B41FA5}">
                      <a16:colId xmlns:a16="http://schemas.microsoft.com/office/drawing/2014/main" val="543465847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Quantity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How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Where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334097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Cell current (DPT)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PMK UFCS-R001, 1 mΩ, 120 pH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LS source of each cell, DPT board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016458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Phase current (control)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LEM HO 250-S, ±625 A, 3.2 mV/A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Cu bar on the M6 AC pad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545991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</a:t>
                      </a:r>
                      <a:r>
                        <a:rPr lang="sv-SE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GS</a:t>
                      </a:r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HS / LS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U.FL, 0 </a:t>
                      </a:r>
                      <a:r>
                        <a:rPr lang="el-GR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Ω, </a:t>
                      </a:r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shield = Kelvin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bottom, at each cell (both boards)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973795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</a:t>
                      </a:r>
                      <a:r>
                        <a:rPr lang="sv-SE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</a:t>
                      </a:r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LS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U.FL, 953 Ω (20:1 into 50 Ω)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bottom, at each cell (both boards)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542738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Heatsink temperature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NTC 10 k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DC− domain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8804290"/>
                  </a:ext>
                </a:extLst>
              </a:tr>
            </a:tbl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5BF85137-FD24-EA86-8A07-A3D37737E5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3667125"/>
            <a:ext cx="5143500" cy="70084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1A2CFD3-49A5-C138-4014-A490BC62A9B5}"/>
              </a:ext>
            </a:extLst>
          </p:cNvPr>
          <p:cNvSpPr txBox="1"/>
          <p:nvPr/>
        </p:nvSpPr>
        <p:spPr>
          <a:xfrm>
            <a:off x="5429250" y="2381250"/>
            <a:ext cx="338137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Back-to-back load test, closed loop on a TI TMS320F28379D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Load board: no shunt ⇒ phase current from the HO 250-S, cell sharing from the DPT board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No short-circuit protection on the boards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92534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91A1C-9331-D509-08C4-ED5E6C515B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Power stage schematics (generated, identical to the PCBs)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D34AF00-3187-959B-FA05-B852C10F93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02C1FE-0D58-261A-E5FF-642C9A732D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37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65A0C7E-F79F-E231-B04D-C2E4490054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8477" y="952500"/>
            <a:ext cx="4507046" cy="166687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8F332F8-B532-5CFD-3B84-8E06CBAFD5E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8477" y="2714625"/>
            <a:ext cx="4507046" cy="166687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B9ACFEB-7A41-992D-A79A-F83B63F211E4}"/>
              </a:ext>
            </a:extLst>
          </p:cNvPr>
          <p:cNvSpPr txBox="1"/>
          <p:nvPr/>
        </p:nvSpPr>
        <p:spPr>
          <a:xfrm>
            <a:off x="228600" y="4597400"/>
            <a:ext cx="7874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30">
                <a:solidFill>
                  <a:srgbClr val="787878"/>
                </a:solidFill>
                <a:latin typeface="Arial" panose="020B0604020202020204" pitchFamily="34" charset="0"/>
              </a:rPr>
              <a:t>Top: DPT board (UFCS in each LS source). Bottom: load-test board (LS source to DC−). make_kicad_sch_revb.py; check_sch_vs_pcb.py: 0 problems on both</a:t>
            </a:r>
            <a:endParaRPr lang="sv-SE" sz="73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996954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2012A2-E867-A9CD-4FED-AA32A5A66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Three legs on one 75 V bus: what the bus must do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AB2BE1-E078-9DC2-D5B6-467FC5558A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EF8FE92-28E4-277C-C08C-1C48EDCE8C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38</a:t>
            </a:fld>
            <a:endParaRPr lang="sv-S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930F059-09A5-92B5-3C77-2F00D48DDA26}"/>
              </a:ext>
            </a:extLst>
          </p:cNvPr>
          <p:cNvSpPr txBox="1"/>
          <p:nvPr/>
        </p:nvSpPr>
        <p:spPr>
          <a:xfrm>
            <a:off x="238125" y="952500"/>
            <a:ext cx="4953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The switching edge closes on each board (bypass + bank); the bus only carries the f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sw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ripple between the leg banks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Sharing needs </a:t>
            </a:r>
            <a:r>
              <a:rPr lang="el-GR" sz="1280">
                <a:solidFill>
                  <a:srgbClr val="1E1E1E"/>
                </a:solidFill>
                <a:latin typeface="Arial" panose="020B0604020202020204" pitchFamily="34" charset="0"/>
              </a:rPr>
              <a:t>ω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L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bus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≪ 1/(</a:t>
            </a:r>
            <a:r>
              <a:rPr lang="el-GR" sz="1280">
                <a:solidFill>
                  <a:srgbClr val="1E1E1E"/>
                </a:solidFill>
                <a:latin typeface="Arial" panose="020B0604020202020204" pitchFamily="34" charset="0"/>
              </a:rPr>
              <a:t>ω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C): at 50 kHz and ≈ 127 µF eff. per leg L ≪ 80 nH ⇒ </a:t>
            </a:r>
            <a:r>
              <a:rPr lang="sv-SE" sz="1280" b="1">
                <a:solidFill>
                  <a:srgbClr val="1E1E1E"/>
                </a:solidFill>
                <a:latin typeface="Arial" panose="020B0604020202020204" pitchFamily="34" charset="0"/>
              </a:rPr>
              <a:t>target ≤ 5 nH leg to leg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DC: 250 A stack current enters the level, 83 A per leg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All-MLCC banks joined by nH copper form a high-Q resonator ⇒ damping footprints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D8C0583-E0EB-0EC6-AB55-5A61A6A26534}"/>
              </a:ext>
            </a:extLst>
          </p:cNvPr>
          <p:cNvSpPr/>
          <p:nvPr/>
        </p:nvSpPr>
        <p:spPr>
          <a:xfrm>
            <a:off x="5429250" y="1143000"/>
            <a:ext cx="1000125" cy="857250"/>
          </a:xfrm>
          <a:prstGeom prst="roundRect">
            <a:avLst/>
          </a:prstGeom>
          <a:solidFill>
            <a:srgbClr val="E8EFF8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leg a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(phase a)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load board</a:t>
            </a:r>
            <a:endParaRPr lang="sv-SE" sz="92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D95C399-3259-5723-4FC3-4A38616EDC12}"/>
              </a:ext>
            </a:extLst>
          </p:cNvPr>
          <p:cNvCxnSpPr/>
          <p:nvPr/>
        </p:nvCxnSpPr>
        <p:spPr>
          <a:xfrm>
            <a:off x="5715000" y="2000250"/>
            <a:ext cx="0" cy="381000"/>
          </a:xfrm>
          <a:prstGeom prst="line">
            <a:avLst/>
          </a:prstGeom>
          <a:ln w="381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204ECA0-CA9B-75B4-3E7F-F1975CC08C27}"/>
              </a:ext>
            </a:extLst>
          </p:cNvPr>
          <p:cNvCxnSpPr/>
          <p:nvPr/>
        </p:nvCxnSpPr>
        <p:spPr>
          <a:xfrm>
            <a:off x="6143625" y="2000250"/>
            <a:ext cx="0" cy="476250"/>
          </a:xfrm>
          <a:prstGeom prst="line">
            <a:avLst/>
          </a:prstGeom>
          <a:ln w="381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90DF1C18-DEDF-1C70-36A4-CD3259AE633E}"/>
              </a:ext>
            </a:extLst>
          </p:cNvPr>
          <p:cNvSpPr/>
          <p:nvPr/>
        </p:nvSpPr>
        <p:spPr>
          <a:xfrm>
            <a:off x="6572250" y="1143000"/>
            <a:ext cx="1000125" cy="857250"/>
          </a:xfrm>
          <a:prstGeom prst="roundRect">
            <a:avLst/>
          </a:prstGeom>
          <a:solidFill>
            <a:srgbClr val="E8EFF8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leg b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(phase b)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load board</a:t>
            </a:r>
            <a:endParaRPr lang="sv-SE" sz="92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23E639C-B43E-74D6-695E-3D7F2300B1A3}"/>
              </a:ext>
            </a:extLst>
          </p:cNvPr>
          <p:cNvCxnSpPr/>
          <p:nvPr/>
        </p:nvCxnSpPr>
        <p:spPr>
          <a:xfrm>
            <a:off x="6858000" y="2000250"/>
            <a:ext cx="0" cy="381000"/>
          </a:xfrm>
          <a:prstGeom prst="line">
            <a:avLst/>
          </a:prstGeom>
          <a:ln w="381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A56FF64-5669-6220-2498-A9C1D691B0D4}"/>
              </a:ext>
            </a:extLst>
          </p:cNvPr>
          <p:cNvCxnSpPr/>
          <p:nvPr/>
        </p:nvCxnSpPr>
        <p:spPr>
          <a:xfrm>
            <a:off x="7286625" y="2000250"/>
            <a:ext cx="0" cy="476250"/>
          </a:xfrm>
          <a:prstGeom prst="line">
            <a:avLst/>
          </a:prstGeom>
          <a:ln w="381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3CA34277-859F-A2E6-B0BE-0C75E19C581D}"/>
              </a:ext>
            </a:extLst>
          </p:cNvPr>
          <p:cNvSpPr/>
          <p:nvPr/>
        </p:nvSpPr>
        <p:spPr>
          <a:xfrm>
            <a:off x="7715250" y="1143000"/>
            <a:ext cx="1000125" cy="857250"/>
          </a:xfrm>
          <a:prstGeom prst="roundRect">
            <a:avLst/>
          </a:prstGeom>
          <a:solidFill>
            <a:srgbClr val="E8EFF8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leg c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(phase c)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load board</a:t>
            </a:r>
            <a:endParaRPr lang="sv-SE" sz="92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E0B6F7F-0EDD-DD54-ED7E-8ACE99BB821A}"/>
              </a:ext>
            </a:extLst>
          </p:cNvPr>
          <p:cNvCxnSpPr/>
          <p:nvPr/>
        </p:nvCxnSpPr>
        <p:spPr>
          <a:xfrm>
            <a:off x="8001000" y="2000250"/>
            <a:ext cx="0" cy="381000"/>
          </a:xfrm>
          <a:prstGeom prst="line">
            <a:avLst/>
          </a:prstGeom>
          <a:ln w="381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4122D4D-D840-0D6D-D969-A02785D6BBF8}"/>
              </a:ext>
            </a:extLst>
          </p:cNvPr>
          <p:cNvCxnSpPr/>
          <p:nvPr/>
        </p:nvCxnSpPr>
        <p:spPr>
          <a:xfrm>
            <a:off x="8429625" y="2000250"/>
            <a:ext cx="0" cy="476250"/>
          </a:xfrm>
          <a:prstGeom prst="line">
            <a:avLst/>
          </a:prstGeom>
          <a:ln w="381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B0A789D-E462-62C8-1165-E8F10F863F04}"/>
              </a:ext>
            </a:extLst>
          </p:cNvPr>
          <p:cNvCxnSpPr/>
          <p:nvPr/>
        </p:nvCxnSpPr>
        <p:spPr>
          <a:xfrm>
            <a:off x="5381625" y="2381250"/>
            <a:ext cx="3381375" cy="0"/>
          </a:xfrm>
          <a:prstGeom prst="line">
            <a:avLst/>
          </a:prstGeom>
          <a:ln w="635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7E43FE4-5111-476E-FBC8-9371152F3F07}"/>
              </a:ext>
            </a:extLst>
          </p:cNvPr>
          <p:cNvCxnSpPr/>
          <p:nvPr/>
        </p:nvCxnSpPr>
        <p:spPr>
          <a:xfrm>
            <a:off x="5381625" y="2476500"/>
            <a:ext cx="3381375" cy="0"/>
          </a:xfrm>
          <a:prstGeom prst="line">
            <a:avLst/>
          </a:prstGeom>
          <a:ln w="635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51CF4E39-2384-9666-283B-24C638427BAC}"/>
              </a:ext>
            </a:extLst>
          </p:cNvPr>
          <p:cNvSpPr txBox="1"/>
          <p:nvPr/>
        </p:nvSpPr>
        <p:spPr>
          <a:xfrm>
            <a:off x="5429250" y="2552700"/>
            <a:ext cx="333375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pPr algn="ctr"/>
            <a:r>
              <a:rPr lang="en-US" sz="920" b="1">
                <a:solidFill>
                  <a:srgbClr val="1E1E1E"/>
                </a:solidFill>
                <a:latin typeface="Arial" panose="020B0604020202020204" pitchFamily="34" charset="0"/>
              </a:rPr>
              <a:t>laminated PCB busbar (L1 + / L2 − / L3 + / L4 −)</a:t>
            </a:r>
            <a:endParaRPr lang="sv-SE" sz="920" b="1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A20BA50-0AE7-6925-DBDE-D49A2A142127}"/>
              </a:ext>
            </a:extLst>
          </p:cNvPr>
          <p:cNvCxnSpPr/>
          <p:nvPr/>
        </p:nvCxnSpPr>
        <p:spPr>
          <a:xfrm>
            <a:off x="6953250" y="2476500"/>
            <a:ext cx="0" cy="571500"/>
          </a:xfrm>
          <a:prstGeom prst="line">
            <a:avLst/>
          </a:prstGeom>
          <a:ln w="38100">
            <a:solidFill>
              <a:srgbClr val="1E1E1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328D8174-FBC6-AD31-D5CB-BFDF97CB1D23}"/>
              </a:ext>
            </a:extLst>
          </p:cNvPr>
          <p:cNvSpPr txBox="1"/>
          <p:nvPr/>
        </p:nvSpPr>
        <p:spPr>
          <a:xfrm>
            <a:off x="6000750" y="3095625"/>
            <a:ext cx="209550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pPr algn="ctr"/>
            <a:r>
              <a:rPr lang="en-US" sz="920">
                <a:solidFill>
                  <a:srgbClr val="787878"/>
                </a:solidFill>
                <a:latin typeface="Arial" panose="020B0604020202020204" pitchFamily="34" charset="0"/>
              </a:rPr>
              <a:t>stack lugs at the centre leg</a:t>
            </a:r>
          </a:p>
          <a:p>
            <a:pPr algn="ctr"/>
            <a:r>
              <a:rPr lang="en-US" sz="920">
                <a:solidFill>
                  <a:srgbClr val="787878"/>
                </a:solidFill>
                <a:latin typeface="Arial" panose="020B0604020202020204" pitchFamily="34" charset="0"/>
              </a:rPr>
              <a:t>to the levels above / below</a:t>
            </a:r>
            <a:endParaRPr lang="sv-SE" sz="92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218127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A1B999-E2EA-4B52-D196-E3B98381B6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PCB busbar: easy to manufacture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05E778D-0D5F-2DB6-F98F-0A36B71ECC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F9F099C-BFF4-5898-76DC-F08219248C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39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AE0CB8F-D754-CEA0-3E1A-DB4C787CAD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13697" y="952500"/>
            <a:ext cx="3716606" cy="1333500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C4D8C7E2-D1D9-C5A5-C12F-63AEC88803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66383302"/>
              </p:ext>
            </p:extLst>
          </p:nvPr>
        </p:nvGraphicFramePr>
        <p:xfrm>
          <a:off x="238125" y="2428875"/>
          <a:ext cx="4095750" cy="14668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7750">
                  <a:extLst>
                    <a:ext uri="{9D8B030D-6E8A-4147-A177-3AD203B41FA5}">
                      <a16:colId xmlns:a16="http://schemas.microsoft.com/office/drawing/2014/main" val="1807156287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173370881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Item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Value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641122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Size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298.5 × 45 mm, 1.6 mm, 4 layers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748989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Copper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 oz all layers (JLCPCB JLC3313); 3–4 oz option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832698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Stack-up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L1 DC+ / ≤ 0.2 mm / L2 DC− / core / L3 DC+ / ≤ 0.2 mm / L4 DC−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938244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Leg contact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 × M4: one DC pair per leg (REDCUBE, 6.5 mm)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223106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Stack contact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 × M6 lug pads at the centre leg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9500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Insulation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frame holes with 8 mm Cu keep-out (1200 V)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3795890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5A33FA58-934B-C523-E7BB-5CB5122CCC10}"/>
              </a:ext>
            </a:extLst>
          </p:cNvPr>
          <p:cNvSpPr txBox="1"/>
          <p:nvPr/>
        </p:nvSpPr>
        <p:spPr>
          <a:xfrm>
            <a:off x="4572000" y="2428875"/>
            <a:ext cx="423862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Q3D (step 11): leg-to-leg loop </a:t>
            </a:r>
            <a:r>
              <a:rPr lang="sv-SE" sz="1380" b="1">
                <a:solidFill>
                  <a:srgbClr val="1E1E1E"/>
                </a:solidFill>
                <a:latin typeface="Arial" panose="020B0604020202020204" pitchFamily="34" charset="0"/>
              </a:rPr>
              <a:t>(pending) nH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at 1 MHz (a–b), DC busbar loss </a:t>
            </a:r>
            <a:r>
              <a:rPr lang="sv-SE" sz="1380" b="1">
                <a:solidFill>
                  <a:srgbClr val="1E1E1E"/>
                </a:solidFill>
                <a:latin typeface="Arial" panose="020B0604020202020204" pitchFamily="34" charset="0"/>
              </a:rPr>
              <a:t>(pending) W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Damping caps (100 V hybrid polymer) as DNP footprints; nylon standoffs at the leg corner holes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Generated: scripts/make_kicad_busbar.py, DRC clean; fab files in hardware/spb-busbar/fab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4495890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1A348-3407-6A80-B511-47A8C98634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One 75 V level in 3D: busbar + three load-test legs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6BA208B-0831-2EC2-B171-AF51CB0AE9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1CC03A-DC5E-7E2D-E010-6247CA4C9B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40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760E0E9-924C-B59E-E8EA-691873D097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1444" y="952500"/>
            <a:ext cx="5581113" cy="31432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7E7F1F2-A6AA-5444-DB2E-62ADC8E98997}"/>
              </a:ext>
            </a:extLst>
          </p:cNvPr>
          <p:cNvSpPr txBox="1"/>
          <p:nvPr/>
        </p:nvSpPr>
        <p:spPr>
          <a:xfrm>
            <a:off x="238125" y="4143375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Legs a, b, c (pitch 94.5 mm, 5 mm gaps) stand on their REDCUBE DC terminals (6.5 mm) on the PCB busbar; M4 × 8 screws from below; AC bar of each leg through its LEM HO 250-S; heatsinks stay inside each board outline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7401892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907FB3-07A3-A676-3FF4-6063D92B1D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Level assembly: busbar side and DC connection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3F48CA6-D643-A927-3D60-E97E4BA739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80870B-CC8F-8723-4596-20408DC216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41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9F9C830-8951-628F-32BD-EA546E5C03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952500"/>
            <a:ext cx="4238625" cy="172935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0AD62C0-7331-A177-0C3A-6A56E3EFF71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952500"/>
            <a:ext cx="4238625" cy="180848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1B9AD87-7DB3-4A39-7317-179F892ACB7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5204" y="3429000"/>
            <a:ext cx="2944468" cy="123825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4158838F-581A-3B80-8DB1-84930553DE1E}"/>
              </a:ext>
            </a:extLst>
          </p:cNvPr>
          <p:cNvSpPr txBox="1"/>
          <p:nvPr/>
        </p:nvSpPr>
        <p:spPr>
          <a:xfrm>
            <a:off x="4572000" y="3429000"/>
            <a:ext cx="423862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Right: middle leg on the bus: REDCUBE + M4, nylon standoffs, M6 stack lugs, DNP damping caps, level header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Left bottom: side view (z stack): busbar top z = 0, leg bottom 6.5 mm, heatsink top 52.8 mm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214132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680B44-0F18-E727-3830-9CD9D8EC47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Mechanics: heatsink length fixed by the leg pitch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A815270-4480-3FD8-6880-13A3DDBE43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48FF35-4B03-0857-EE25-302E386232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42</a:t>
            </a:fld>
            <a:endParaRPr lang="sv-S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5DE714-1DD2-C1D4-D9CC-BC06CE410C3C}"/>
              </a:ext>
            </a:extLst>
          </p:cNvPr>
          <p:cNvSpPr txBox="1"/>
          <p:nvPr/>
        </p:nvSpPr>
        <p:spPr>
          <a:xfrm>
            <a:off x="238125" y="952500"/>
            <a:ext cx="4953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LAM 4 (100 mm) + fan = 110 mm: wider than the 89.5 mm board ⇒ with 5 mm gaps the heatsinks of neighbouring legs would overlap by ≈ 15 mm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LAM 4 K 50 12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(Farnell 4708974, 0.65 K/W): 50 mm tube + fan centred over the cells (x −35 … 25 mm), inside the board outline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Al spreader 89.5 × 12.8 × 3 mm carries the outer cells (x ±33 mm) to the tube; ≈ 18 W FET loss per leg ⇒ ≈ 12 K heatsink rise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Spreader underside 1.68 mm, top 4.68 mm: clears the 2.8 mm bank and all bypass parts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B41A2FF-1167-E1C7-A879-76ECF642A5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98115" y="952500"/>
            <a:ext cx="2596019" cy="2476500"/>
          </a:xfrm>
          <a:prstGeom prst="rect">
            <a:avLst/>
          </a:prstGeom>
        </p:spPr>
      </p:pic>
      <p:sp>
        <p:nvSpPr>
          <p:cNvPr id="9" name="decision">
            <a:extLst>
              <a:ext uri="{FF2B5EF4-FFF2-40B4-BE49-F238E27FC236}">
                <a16:creationId xmlns:a16="http://schemas.microsoft.com/office/drawing/2014/main" id="{5CC85F3E-5124-7372-3B93-AEA4C9A78C21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Load board heatsink: LAM 4 K 50 12, centred; leg pitch stays 94.5 mm (busbar unchanged)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293370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40019B-EE72-41D3-2BA4-563D093CB1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Full inverter: 16 levels on one 1200 V stack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90B43BB-868D-855B-8763-4E46AC5D28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342E0D-F88F-E697-B3C8-CA5A64A4D8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43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C9433B4-B949-8D12-0446-3B0954C44C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973" y="952500"/>
            <a:ext cx="1081805" cy="380999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0D47270-CE11-64F8-384F-FC87E0D7E8AD}"/>
              </a:ext>
            </a:extLst>
          </p:cNvPr>
          <p:cNvSpPr txBox="1"/>
          <p:nvPr/>
        </p:nvSpPr>
        <p:spPr>
          <a:xfrm>
            <a:off x="3286125" y="952500"/>
            <a:ext cx="55245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16 identical levels (75 V each) stacked in z, pitch 72 mm ⇒ ≈ 1.15 m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DC+ lug of level k ↔ DC− lug of level k + 1 by a Cu braid (8 × 1.5 mm in the model); stack ends = 1200 V DC+ / DC−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Each level: 3 legs = one three-phase winding set; AC bars + HO 250-S per leg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Every level floats up to 1200 V above the frame: insulating standoffs with 8 mm Cu keep-out on the busbar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Assembly STEP: hardware/assembly/spb-level-assembly.step (1 level), spb-stack-assembly.step (16 levels), scripts/make_assembly_step.py (OpenCascade)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AAE0F11-0FCB-02BE-256A-F03CC9ADAFAE}"/>
              </a:ext>
            </a:extLst>
          </p:cNvPr>
          <p:cNvSpPr txBox="1"/>
          <p:nvPr/>
        </p:nvSpPr>
        <p:spPr>
          <a:xfrm>
            <a:off x="228600" y="4597400"/>
            <a:ext cx="7874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30">
                <a:solidFill>
                  <a:srgbClr val="787878"/>
                </a:solidFill>
                <a:latin typeface="Arial" panose="020B0604020202020204" pitchFamily="34" charset="0"/>
              </a:rPr>
              <a:t>Stack direction and frame are illustrative: the machine-side layout (winding terminals) sets the final arrangement.</a:t>
            </a:r>
            <a:endParaRPr lang="sv-SE" sz="73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603198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A2A96C-1593-3E64-242B-2066244D24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Fast Q3D set on the final boards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C415FD2-C1A7-88A4-B5F5-3BC96781B4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DD56E8B-2A28-A380-8A7C-0885803931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44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E50E0C0-A62C-3307-BCFD-9D4FA0341E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0969462"/>
              </p:ext>
            </p:extLst>
          </p:nvPr>
        </p:nvGraphicFramePr>
        <p:xfrm>
          <a:off x="238125" y="952500"/>
          <a:ext cx="8667750" cy="14668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195963920"/>
                    </a:ext>
                  </a:extLst>
                </a:gridCol>
                <a:gridCol w="2571750">
                  <a:extLst>
                    <a:ext uri="{9D8B030D-6E8A-4147-A177-3AD203B41FA5}">
                      <a16:colId xmlns:a16="http://schemas.microsoft.com/office/drawing/2014/main" val="304391674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751277310"/>
                    </a:ext>
                  </a:extLst>
                </a:gridCol>
                <a:gridCol w="2571750">
                  <a:extLst>
                    <a:ext uri="{9D8B030D-6E8A-4147-A177-3AD203B41FA5}">
                      <a16:colId xmlns:a16="http://schemas.microsoft.com/office/drawing/2014/main" val="3302875819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1109381538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Model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Region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Solve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Gives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Run time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300825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loop (per board)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cell band y −4.6 … 20.6 mm, AC split per cell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AC 100 MHz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commutation loop per cell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44 / 28 min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90208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full board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whole board, all terminals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DC R only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current sharing, copper loss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(pending) / (pending) min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979236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bank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DC terminals + bank + bypass (y −25 … 4.3 mm)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AC 1 MHz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leg DC-link port, L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bypass → bank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(pending) min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804643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lx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cells + AC columns + AC bus, no bank / terminals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AC 100 MHz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</a:t>
                      </a:r>
                      <a:r>
                        <a:rPr lang="en-US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x</a:t>
                      </a:r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between the driver pairs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(pending) / (pending) min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159459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busbar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PCB busbar, stitching vias every 2nd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DC + AC 1 MHz, 2 %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leg-to-leg loop, DC distribution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(pending) min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22975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three-phase level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 × bank model + busbar matrices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network (MNA)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ripple sharing, |Z|, terminal currents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seconds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0635140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123C3CDB-AC3A-B105-B0C1-9364BE8D7C4E}"/>
              </a:ext>
            </a:extLst>
          </p:cNvPr>
          <p:cNvSpPr txBox="1"/>
          <p:nvPr/>
        </p:nvSpPr>
        <p:spPr>
          <a:xfrm>
            <a:off x="238125" y="37147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Instead of one large model (&gt; 3 h, not converged): small models, each solved only for what it is used for; DC is solved for R only (the DC-inductance solve alone ran &gt; 19 h on the first attempt)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Run: simulation/bb_q3d/run_bb_q3d_final.cmd (KTH licence) → final_post.py → reports/slides/data/final_numbers.json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Run times: DPT / load board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850622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B5B04C-E0EB-2E96-4FB8-0B5142EAF1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Q3D: commutation loop per cell, final boards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8C81D35-2942-E04F-6681-853136C588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EDAC78-62DF-E9CC-904F-7D385F806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45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11561CF-C58D-52FA-4B34-6FEC342D04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987" y="952500"/>
            <a:ext cx="5135777" cy="2714625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45955AEC-B1B1-0F3E-4726-9DE9CEDA5A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8861415"/>
              </p:ext>
            </p:extLst>
          </p:nvPr>
        </p:nvGraphicFramePr>
        <p:xfrm>
          <a:off x="5524501" y="952500"/>
          <a:ext cx="3286125" cy="1047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5875">
                  <a:extLst>
                    <a:ext uri="{9D8B030D-6E8A-4147-A177-3AD203B41FA5}">
                      <a16:colId xmlns:a16="http://schemas.microsoft.com/office/drawing/2014/main" val="674554751"/>
                    </a:ext>
                  </a:extLst>
                </a:gridCol>
                <a:gridCol w="1000125">
                  <a:extLst>
                    <a:ext uri="{9D8B030D-6E8A-4147-A177-3AD203B41FA5}">
                      <a16:colId xmlns:a16="http://schemas.microsoft.com/office/drawing/2014/main" val="2449505652"/>
                    </a:ext>
                  </a:extLst>
                </a:gridCol>
                <a:gridCol w="1000125">
                  <a:extLst>
                    <a:ext uri="{9D8B030D-6E8A-4147-A177-3AD203B41FA5}">
                      <a16:colId xmlns:a16="http://schemas.microsoft.com/office/drawing/2014/main" val="2033591204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Loop per cell (nH)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DPT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load test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796744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cell 1 / 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0.644 / 0.646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0.405 / 0.406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247887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cell 3 / 4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0.642 / 0.654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0.407 / 0.410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182720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mean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0.65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0.41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284068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v̂</a:t>
                      </a:r>
                      <a:r>
                        <a:rPr lang="sv-SE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</a:t>
                      </a:r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at 30 A/ns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C84632"/>
                          </a:solidFill>
                          <a:latin typeface="Arial" panose="020B0604020202020204" pitchFamily="34" charset="0"/>
                        </a:rPr>
                        <a:t>94 V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87 V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111459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61D2D57A-509F-6DFB-BC5D-2766E03A5EA1}"/>
              </a:ext>
            </a:extLst>
          </p:cNvPr>
          <p:cNvSpPr txBox="1"/>
          <p:nvPr/>
        </p:nvSpPr>
        <p:spPr>
          <a:xfrm>
            <a:off x="5524500" y="2667000"/>
            <a:ext cx="328612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All four LS switching together; HS shorted, bypass as its ESL, UFCS 120 pH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Cells within 2 % (DPT) and 1 % (load): left/right symmetric by layout (power vias pruned in mirror pairs)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DPT ≤ 90 V: turn-on ≤ </a:t>
            </a:r>
            <a:r>
              <a:rPr lang="en-US" sz="1280" b="1">
                <a:solidFill>
                  <a:srgbClr val="1E1E1E"/>
                </a:solidFill>
                <a:latin typeface="Arial" panose="020B0604020202020204" pitchFamily="34" charset="0"/>
              </a:rPr>
              <a:t>23 A/ns</a:t>
            </a:r>
            <a:endParaRPr lang="sv-SE" sz="1280" b="1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995712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FD5A8F-B3B4-FB57-49E7-24507CF17D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Q3D model of the cell band (fast loop model)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0D07CD3-3E33-E7D5-BBD2-46BF77AB69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114E51-0909-2CA6-203B-A26230E1D6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46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CB15FC8-522C-1063-7EA1-4CF2B2F2D5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952500"/>
            <a:ext cx="4286250" cy="267890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DB767F3-EB37-4F33-2FA9-B12E88D282B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9625" y="952500"/>
            <a:ext cx="4286250" cy="267890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AAF00E0-9A46-D110-8334-909405FAE333}"/>
              </a:ext>
            </a:extLst>
          </p:cNvPr>
          <p:cNvSpPr txBox="1"/>
          <p:nvPr/>
        </p:nvSpPr>
        <p:spPr>
          <a:xfrm>
            <a:off x="238125" y="3810000"/>
            <a:ext cx="428625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pPr algn="ctr"/>
            <a:r>
              <a:rPr lang="en-US" sz="1190">
                <a:solidFill>
                  <a:srgbClr val="787878"/>
                </a:solidFill>
                <a:latin typeface="Arial" panose="020B0604020202020204" pitchFamily="34" charset="0"/>
              </a:rPr>
              <a:t>DPT board: LS source (green) to the UFCS land</a:t>
            </a:r>
            <a:endParaRPr lang="sv-SE" sz="119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66C51EE-2A4D-36A0-4121-520AAC047671}"/>
              </a:ext>
            </a:extLst>
          </p:cNvPr>
          <p:cNvSpPr txBox="1"/>
          <p:nvPr/>
        </p:nvSpPr>
        <p:spPr>
          <a:xfrm>
            <a:off x="4619625" y="3810000"/>
            <a:ext cx="428625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pPr algn="ctr"/>
            <a:r>
              <a:rPr lang="en-US" sz="1190">
                <a:solidFill>
                  <a:srgbClr val="787878"/>
                </a:solidFill>
                <a:latin typeface="Arial" panose="020B0604020202020204" pitchFamily="34" charset="0"/>
              </a:rPr>
              <a:t>load-test board: LS source straight to DC−</a:t>
            </a:r>
            <a:endParaRPr lang="sv-SE" sz="119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1FB7AC1-5823-22B2-13FC-1891AA57B653}"/>
              </a:ext>
            </a:extLst>
          </p:cNvPr>
          <p:cNvSpPr txBox="1"/>
          <p:nvPr/>
        </p:nvSpPr>
        <p:spPr>
          <a:xfrm>
            <a:off x="238125" y="40957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Geometry exported from the routed KiCad boards (revb_export.py): copper per net and layer with clearance holes, vias with their layer span (blind L1–L2 on the load board), FET and bypass terminal pads; z stretched 4×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8888643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E5C9A-B499-D406-32A0-5EBF2BF3E9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Q3D: static current sharing and copper loss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3B2807C-DA1E-B273-DF78-CD314915CA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2B4729-4987-AF92-23D8-48C9A198B6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47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1BD1FDA-4C4C-F165-DBDB-9AB54E91E4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9896292"/>
              </p:ext>
            </p:extLst>
          </p:nvPr>
        </p:nvGraphicFramePr>
        <p:xfrm>
          <a:off x="238125" y="952500"/>
          <a:ext cx="8667750" cy="1047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6500">
                  <a:extLst>
                    <a:ext uri="{9D8B030D-6E8A-4147-A177-3AD203B41FA5}">
                      <a16:colId xmlns:a16="http://schemas.microsoft.com/office/drawing/2014/main" val="325983708"/>
                    </a:ext>
                  </a:extLst>
                </a:gridCol>
                <a:gridCol w="1047750">
                  <a:extLst>
                    <a:ext uri="{9D8B030D-6E8A-4147-A177-3AD203B41FA5}">
                      <a16:colId xmlns:a16="http://schemas.microsoft.com/office/drawing/2014/main" val="328934947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4169383855"/>
                    </a:ext>
                  </a:extLst>
                </a:gridCol>
                <a:gridCol w="2762250">
                  <a:extLst>
                    <a:ext uri="{9D8B030D-6E8A-4147-A177-3AD203B41FA5}">
                      <a16:colId xmlns:a16="http://schemas.microsoft.com/office/drawing/2014/main" val="383683985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1580277901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Board, path (DC)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R total (m</a:t>
                      </a:r>
                      <a:r>
                        <a:rPr lang="el-GR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Ω)</a:t>
                      </a:r>
                      <a:endParaRPr lang="sv-SE" sz="119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R copper (m</a:t>
                      </a:r>
                      <a:r>
                        <a:rPr lang="el-GR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Ω)</a:t>
                      </a:r>
                      <a:endParaRPr lang="sv-SE" sz="119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share cell 1 / 2 / 3 / 4</a:t>
                      </a:r>
                      <a:endParaRPr lang="sv-SE" sz="119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max/min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010010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DPT: DC+ → HS FETs → AC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775094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DPT: AC → LS FETs → shunts → DC−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076037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load: DC+ → HS FETs → AC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153102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load: AC → LS FETs → DC−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8793181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74094637-C312-B9E2-FAC9-6AB94559D0C3}"/>
              </a:ext>
            </a:extLst>
          </p:cNvPr>
          <p:cNvSpPr txBox="1"/>
          <p:nvPr/>
        </p:nvSpPr>
        <p:spPr>
          <a:xfrm>
            <a:off x="238125" y="2524125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Static sharing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= how the conduction (DC) current splits between the four parallel cells: set by each cell's copper path (DC terminals → cell → AC pad) plus R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DS(on)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; dynamic sharing during the edges is set by the gate loops (step 7)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Full-board DC model; FET 0.75 mΩ × 1.49 (100 °C), UFCS 1 mΩ; DC terminals as one pair, AC at the M6 bolt pad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Board copper loss at 228 A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rms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: </a:t>
            </a: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(pending) W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(DPT, + (pending) W in the shunts) / </a:t>
            </a: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(pending) W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(load board)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Hand-over inductance bypass → bank L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b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= (pending) (bank model, 1 MHz) ⇒ used for the bypass sizing (step 6)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2210938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F65F9D-90C7-7D4E-0ACF-68C87230CF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Q3D: three load-test legs on the PCB busbar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2098CA-7A83-5B4F-1FB2-6D69A9E10E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8DCF110-C420-4B22-68F8-193731CB00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48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E9ED7B8-70D8-64FE-5CC1-16EB38BC3A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64229143"/>
              </p:ext>
            </p:extLst>
          </p:nvPr>
        </p:nvGraphicFramePr>
        <p:xfrm>
          <a:off x="238125" y="952500"/>
          <a:ext cx="4476750" cy="125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>
                  <a:extLst>
                    <a:ext uri="{9D8B030D-6E8A-4147-A177-3AD203B41FA5}">
                      <a16:colId xmlns:a16="http://schemas.microsoft.com/office/drawing/2014/main" val="401004824"/>
                    </a:ext>
                  </a:extLst>
                </a:gridCol>
                <a:gridCol w="1619250">
                  <a:extLst>
                    <a:ext uri="{9D8B030D-6E8A-4147-A177-3AD203B41FA5}">
                      <a16:colId xmlns:a16="http://schemas.microsoft.com/office/drawing/2014/main" val="688501522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Quantity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Value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108479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Leg-to-leg loop a–b / a–c, 1 MHz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(pending) / (pending) nH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088699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Leg-to-leg loop a–b / a–c, DC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(pending) / (pending) nH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514241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Ripple of leg a at 50 kHz from banks a / b / c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(pending)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155184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Busbar DC loss (250 A in, 3 × 83 A)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(pending) W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690552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Highest REDCUBE terminal current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(pending) A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1229931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297BB519-95CA-2058-09F5-8AE1BB85E8A8}"/>
              </a:ext>
            </a:extLst>
          </p:cNvPr>
          <p:cNvSpPr txBox="1"/>
          <p:nvPr/>
        </p:nvSpPr>
        <p:spPr>
          <a:xfrm>
            <a:off x="238125" y="3381375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Network: Q3D bank-model matrices of three load-test legs (cells draw at their bypass; MLCCs with ESR/ESL, C at 75 V) + busbar (DC below 1 MHz, AC above); peaks in |Z| = inter-leg resonance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Target ≤ 5 nH leg to leg (step 10)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2586295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FC22EC-F587-11D3-3B9C-9CD6DC5A1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Main findings on the final boards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38565E9-D607-27B4-A9B7-2DB8E02DE7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0F9BA9-AE6C-7C77-0492-3F8DA3A6F8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49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B334F3A-88CD-A5F0-40B2-745BAF1612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0861679"/>
              </p:ext>
            </p:extLst>
          </p:nvPr>
        </p:nvGraphicFramePr>
        <p:xfrm>
          <a:off x="238125" y="952500"/>
          <a:ext cx="8667750" cy="125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0750">
                  <a:extLst>
                    <a:ext uri="{9D8B030D-6E8A-4147-A177-3AD203B41FA5}">
                      <a16:colId xmlns:a16="http://schemas.microsoft.com/office/drawing/2014/main" val="2669047756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4059447477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1503223195"/>
                    </a:ext>
                  </a:extLst>
                </a:gridCol>
                <a:gridCol w="2952750">
                  <a:extLst>
                    <a:ext uri="{9D8B030D-6E8A-4147-A177-3AD203B41FA5}">
                      <a16:colId xmlns:a16="http://schemas.microsoft.com/office/drawing/2014/main" val="2296160310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Quantity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DPT board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Load-test board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Consequence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089653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Loop per cell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0.65 nH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0.41 nH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DPT: limit di/dt; load: 30 A/ns ok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52114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Static sharing, max/min (HS / LS)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(pending) / (pending)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(pending) / (pending)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verify with the UFCS per cell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4365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Board copper loss at 228 A</a:t>
                      </a:r>
                      <a:r>
                        <a:rPr lang="en-US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rms</a:t>
                      </a:r>
                      <a:endParaRPr lang="sv-SE" sz="1190" baseline="-250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(pending) W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(pending) W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heats the board, not the FETs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61125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</a:t>
                      </a:r>
                      <a:r>
                        <a:rPr lang="en-US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x</a:t>
                      </a:r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between driver pairs (HS / LS)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(pending) / (pending) nH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(pending) / (pending) nH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skew → </a:t>
                      </a:r>
                      <a:r>
                        <a:rPr lang="el-GR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Δ</a:t>
                      </a:r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I = V</a:t>
                      </a:r>
                      <a:r>
                        <a:rPr lang="sv-SE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</a:t>
                      </a:r>
                      <a:r>
                        <a:rPr lang="el-GR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Δ</a:t>
                      </a:r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 / L</a:t>
                      </a:r>
                      <a:r>
                        <a:rPr lang="sv-SE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x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874368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Bus leg-to-leg loop (1 MHz)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(pending) nH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target ≤ 5 nH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1802973"/>
                  </a:ext>
                </a:extLst>
              </a:tr>
            </a:tbl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429DAD41-80B2-C306-0A23-0C772A9C26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7000" y="2905125"/>
            <a:ext cx="3810000" cy="238125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6A634C6-8F4C-91D5-0EC1-271103FE7A8C}"/>
              </a:ext>
            </a:extLst>
          </p:cNvPr>
          <p:cNvSpPr txBox="1"/>
          <p:nvPr/>
        </p:nvSpPr>
        <p:spPr>
          <a:xfrm>
            <a:off x="228600" y="4597400"/>
            <a:ext cx="7874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30">
                <a:solidFill>
                  <a:srgbClr val="787878"/>
                </a:solidFill>
                <a:latin typeface="Arial" panose="020B0604020202020204" pitchFamily="34" charset="0"/>
              </a:rPr>
              <a:t>All values from the fast Q3D set on the final layouts (run_bb_q3d_final.cmd, final_post.py).</a:t>
            </a:r>
            <a:endParaRPr lang="sv-SE" sz="73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026430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F55475-1660-9FC8-6EE9-46BF3381DC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z="2100"/>
              <a:t>Fabrication files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CD51E30-425B-A6E1-BC3A-C487A7D2D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4AD2D29-6115-94EC-1650-5DCFE45139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50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C39B4DA-A0CB-7F1E-C0EE-4E4244DA4E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81255260"/>
              </p:ext>
            </p:extLst>
          </p:nvPr>
        </p:nvGraphicFramePr>
        <p:xfrm>
          <a:off x="238125" y="952500"/>
          <a:ext cx="8667750" cy="1047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110534516"/>
                    </a:ext>
                  </a:extLst>
                </a:gridCol>
                <a:gridCol w="3619500">
                  <a:extLst>
                    <a:ext uri="{9D8B030D-6E8A-4147-A177-3AD203B41FA5}">
                      <a16:colId xmlns:a16="http://schemas.microsoft.com/office/drawing/2014/main" val="2553912944"/>
                    </a:ext>
                  </a:extLst>
                </a:gridCol>
                <a:gridCol w="3429000">
                  <a:extLst>
                    <a:ext uri="{9D8B030D-6E8A-4147-A177-3AD203B41FA5}">
                      <a16:colId xmlns:a16="http://schemas.microsoft.com/office/drawing/2014/main" val="3621798827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Board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Fab set (hardware/&lt;board&gt;/fab)</a:t>
                      </a:r>
                      <a:endParaRPr lang="sv-SE" sz="119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Notes for the fab house</a:t>
                      </a:r>
                      <a:endParaRPr lang="sv-SE" sz="119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840706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spb-bb-revb-dpt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Gerber zip, drill, pos, BOM, STEP, assembly + schematic PDF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 oz all layers, 0.1 mm prepreg, via-in-pad filled + capped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72567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spb-bb-revb-load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same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+ blind vias L1–L2 (0.25 mm) filled + capped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833528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spb-busbar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Gerber zip, drill, pos, BOM, STEP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 oz all layers (JLC3313), bolt pads without mask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180201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assembly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spb-level-assembly.step, spb-stack-assembly.step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mechanics / frame design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4697980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6BEFDDA8-8D8F-BFCD-6B2A-03BF27966AB3}"/>
              </a:ext>
            </a:extLst>
          </p:cNvPr>
          <p:cNvSpPr txBox="1"/>
          <p:nvPr/>
        </p:nvSpPr>
        <p:spPr>
          <a:xfrm>
            <a:off x="238125" y="228600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Generated: make_kicad_bb_revb.py (BOARD=dpt | load), make_kicad_sch_revb.py, make_kicad_busbar.py, make_3d_models_revb.py, make_fab_outputs_revb.py, make_assembly_step.py, render_3d.py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Mechanical items (screws, spreader, gap pads, heatsink, lugs) are listed at the end of each BOM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1718F85-93C3-BA43-BCC1-09FB195804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230" y="3000375"/>
            <a:ext cx="2017290" cy="180975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29615D5-578A-AF3E-C0BA-6395284DFBD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7980" y="3000375"/>
            <a:ext cx="2017290" cy="180975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29B717E-4E97-DE72-CFCB-0DC4BDB68F9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9625" y="3000375"/>
            <a:ext cx="4286250" cy="15378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631894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6ED4EE-B84A-FEEC-202A-74B1A7F880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z="2100"/>
              <a:t>Status and next steps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54A2522-7DD8-3EF9-7CEF-974ED12C5E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191440-0D00-0D75-C025-483CB6A937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51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472418B-67D7-DAEE-6345-04391F3ECC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7112335"/>
              </p:ext>
            </p:extLst>
          </p:nvPr>
        </p:nvGraphicFramePr>
        <p:xfrm>
          <a:off x="238125" y="952500"/>
          <a:ext cx="4953000" cy="1885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>
                  <a:extLst>
                    <a:ext uri="{9D8B030D-6E8A-4147-A177-3AD203B41FA5}">
                      <a16:colId xmlns:a16="http://schemas.microsoft.com/office/drawing/2014/main" val="17951232"/>
                    </a:ext>
                  </a:extLst>
                </a:gridCol>
                <a:gridCol w="2095500">
                  <a:extLst>
                    <a:ext uri="{9D8B030D-6E8A-4147-A177-3AD203B41FA5}">
                      <a16:colId xmlns:a16="http://schemas.microsoft.com/office/drawing/2014/main" val="950414847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Item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Status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37887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DC link: 20 × 22 µF 2220 + 10 × 1 µF per cell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in both layouts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292738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DPT board (UFCS, no heatsink)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DRC 0 / 0 / 0, schematic = PCB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029174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Load-test board (no shunt, LAM 4 K 50)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DRC 0 / 0 / 0, schematic = PCB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259991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PCB busbar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DRC clean, fab files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495088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Fast Q3D: loop, DC, L</a:t>
                      </a:r>
                      <a:r>
                        <a:rPr lang="sv-SE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x</a:t>
                      </a:r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, busbar, level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running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640217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3D models, board + assembly STEP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done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521454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Fab outputs + BOMs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done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567513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DPT and three-phase load test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after assembly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9561612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0BF02F1D-A18E-228F-D8F4-7EC05A88332B}"/>
              </a:ext>
            </a:extLst>
          </p:cNvPr>
          <p:cNvSpPr txBox="1"/>
          <p:nvPr/>
        </p:nvSpPr>
        <p:spPr>
          <a:xfrm>
            <a:off x="5429250" y="952500"/>
            <a:ext cx="338137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Order: DPT board first (switching energies, per-cell current, overshoot vs di/dt), then 3 load boards + busbar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Mechanics: spreader drawing, frame and stack insulation from the assembly STEP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Decide after measurement: bank depopulation, damping caps, busbar copper weight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Machine: L</a:t>
            </a:r>
            <a:r>
              <a:rPr lang="el-GR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σ</a:t>
            </a:r>
            <a:r>
              <a:rPr lang="el-GR" sz="1380">
                <a:solidFill>
                  <a:srgbClr val="1E1E1E"/>
                </a:solidFill>
                <a:latin typeface="Arial" panose="020B0604020202020204" pitchFamily="34" charset="0"/>
              </a:rPr>
              <a:t>, 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cos </a:t>
            </a:r>
            <a:r>
              <a:rPr lang="el-GR" sz="1380">
                <a:solidFill>
                  <a:srgbClr val="1E1E1E"/>
                </a:solidFill>
                <a:latin typeface="Arial" panose="020B0604020202020204" pitchFamily="34" charset="0"/>
              </a:rPr>
              <a:t>φ 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and the final f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sw</a:t>
            </a:r>
            <a:endParaRPr lang="sv-SE" sz="1380" baseline="-2500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7975077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3619EC-2758-923D-A936-2FC523E5ED1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sv-SE"/>
              <a:t>Thank you - questions?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D23905E-CC53-9C9B-05A3-C62C1A2B721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Enes Ayaz, KTH Royal Institute of Technology</a:t>
            </a:r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1576600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KTH">
      <a:dk1>
        <a:srgbClr val="000000"/>
      </a:dk1>
      <a:lt1>
        <a:srgbClr val="FFFFFF"/>
      </a:lt1>
      <a:dk2>
        <a:srgbClr val="65656C"/>
      </a:dk2>
      <a:lt2>
        <a:srgbClr val="838389"/>
      </a:lt2>
      <a:accent1>
        <a:srgbClr val="1954A6"/>
      </a:accent1>
      <a:accent2>
        <a:srgbClr val="5E87C0"/>
      </a:accent2>
      <a:accent3>
        <a:srgbClr val="2091C3"/>
      </a:accent3>
      <a:accent4>
        <a:srgbClr val="D02F80"/>
      </a:accent4>
      <a:accent5>
        <a:srgbClr val="D95999"/>
      </a:accent5>
      <a:accent6>
        <a:srgbClr val="61922E"/>
      </a:accent6>
      <a:hlink>
        <a:srgbClr val="65656C"/>
      </a:hlink>
      <a:folHlink>
        <a:srgbClr val="838389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3"/>
        </a:solidFill>
        <a:ln>
          <a:noFill/>
        </a:ln>
      </a:spPr>
      <a:bodyPr rtlCol="0" anchor="ctr"/>
      <a:lstStyle>
        <a:defPPr algn="ctr">
          <a:defRPr sz="2000" dirty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sz="2000" dirty="0" err="1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97121384-D8C6-FA41-9A6B-F4615C0099B0}" vid="{DF4435B0-2EFE-BF49-8755-0024FDD40B6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KTH_16_9</Template>
  <TotalTime>1</TotalTime>
  <Words>6829</Words>
  <Application>Microsoft Office PowerPoint</Application>
  <PresentationFormat>On-screen Show (16:9)</PresentationFormat>
  <Paragraphs>829</Paragraphs>
  <Slides>52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55" baseType="lpstr">
      <vt:lpstr>Arial</vt:lpstr>
      <vt:lpstr>Calibri</vt:lpstr>
      <vt:lpstr>Office-tema</vt:lpstr>
      <vt:lpstr>SPB Leg Building Block: Design Flow</vt:lpstr>
      <vt:lpstr>Design flow</vt:lpstr>
      <vt:lpstr>Design inputs</vt:lpstr>
      <vt:lpstr>Phase current follows from the inputs</vt:lpstr>
      <vt:lpstr>Voltage class: why 100 V GaN</vt:lpstr>
      <vt:lpstr>EPC2361: key data and the Kelvin source</vt:lpstr>
      <vt:lpstr>Submodule voltage from L·di/dt</vt:lpstr>
      <vt:lpstr>Why not lower: every submodule costs parts and loss</vt:lpstr>
      <vt:lpstr>Power loop of one cell: copper, bypass ESL and shunt</vt:lpstr>
      <vt:lpstr>One EPC2361 per switch: how fast and how much overshoot</vt:lpstr>
      <vt:lpstr>Thermal path per device</vt:lpstr>
      <vt:lpstr>n identical cells per switch (one device and one driver each)</vt:lpstr>
      <vt:lpstr>Where the loss comes from: line period and junction temperature</vt:lpstr>
      <vt:lpstr>Losses vs number in parallel</vt:lpstr>
      <vt:lpstr>Switching frequency: losses, DC-link capacitors, current ripple</vt:lpstr>
      <vt:lpstr>DC-link sizing for a three-phase level</vt:lpstr>
      <vt:lpstr>Capacitor selection: effective capacitance at 75 V</vt:lpstr>
      <vt:lpstr>Bypass capacitors: how many and how large</vt:lpstr>
      <vt:lpstr>DC link of one leg board</vt:lpstr>
      <vt:lpstr>Can one driver drive all four?</vt:lpstr>
      <vt:lpstr>Driver arrangement for 1 … 4 EPC2361 per switch</vt:lpstr>
      <vt:lpstr>Gate driver selection: why the 2EDF7275K</vt:lpstr>
      <vt:lpstr>Why symmetry: what sets the current sharing</vt:lpstr>
      <vt:lpstr>Gate bump and negative off-voltage</vt:lpstr>
      <vt:lpstr>Building block: two mirrored cells, one centre driver</vt:lpstr>
      <vt:lpstr>Rev B: four cells per switch, two drivers, one leg</vt:lpstr>
      <vt:lpstr>Two boards from one design: double-pulse test and load test</vt:lpstr>
      <vt:lpstr>DPT board layout (UFCS shunts, no heatsink)</vt:lpstr>
      <vt:lpstr>Load-test board layout (no shunt, heatsink)</vt:lpstr>
      <vt:lpstr>The two boards in 3D (KiCad models)</vt:lpstr>
      <vt:lpstr>Top view with the silkscreen: DPT and load-test boards</vt:lpstr>
      <vt:lpstr>Bottom side and the load board without heatsink</vt:lpstr>
      <vt:lpstr>Two driver pairs on one switch node: driver skew</vt:lpstr>
      <vt:lpstr>Gate supplies: two isolated supplies, Zener split</vt:lpstr>
      <vt:lpstr>Driver block: input filters, turn-on / turn-off paths, star</vt:lpstr>
      <vt:lpstr>Measurement and control</vt:lpstr>
      <vt:lpstr>Power stage schematics (generated, identical to the PCBs)</vt:lpstr>
      <vt:lpstr>Three legs on one 75 V bus: what the bus must do</vt:lpstr>
      <vt:lpstr>PCB busbar: easy to manufacture</vt:lpstr>
      <vt:lpstr>One 75 V level in 3D: busbar + three load-test legs</vt:lpstr>
      <vt:lpstr>Level assembly: busbar side and DC connection</vt:lpstr>
      <vt:lpstr>Mechanics: heatsink length fixed by the leg pitch</vt:lpstr>
      <vt:lpstr>Full inverter: 16 levels on one 1200 V stack</vt:lpstr>
      <vt:lpstr>Fast Q3D set on the final boards</vt:lpstr>
      <vt:lpstr>Q3D: commutation loop per cell, final boards</vt:lpstr>
      <vt:lpstr>Q3D model of the cell band (fast loop model)</vt:lpstr>
      <vt:lpstr>Q3D: static current sharing and copper loss</vt:lpstr>
      <vt:lpstr>Q3D: three load-test legs on the PCB busbar</vt:lpstr>
      <vt:lpstr>Main findings on the final boards</vt:lpstr>
      <vt:lpstr>Fabrication files</vt:lpstr>
      <vt:lpstr>Status and next steps</vt:lpstr>
      <vt:lpstr>Thank you - questions?</vt:lpstr>
    </vt:vector>
  </TitlesOfParts>
  <Company>KTH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Malin Modig</dc:creator>
  <cp:lastModifiedBy>Enes Ayaz</cp:lastModifiedBy>
  <cp:revision>2</cp:revision>
  <dcterms:created xsi:type="dcterms:W3CDTF">2019-12-10T08:55:59Z</dcterms:created>
  <dcterms:modified xsi:type="dcterms:W3CDTF">2026-10-15T10:49:55Z</dcterms:modified>
</cp:coreProperties>
</file>