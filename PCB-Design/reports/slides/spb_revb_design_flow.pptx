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7"/>
  </p:notesMasterIdLst>
  <p:handoutMasterIdLst>
    <p:handoutMasterId r:id="rId58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</p:sldIdLst>
  <p:sldSz cx="9144000" cy="5143500" type="screen16x9"/>
  <p:notesSz cx="6858000" cy="9144000"/>
  <p:defaultTextStyle>
    <a:defPPr>
      <a:defRPr lang="sv-SE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044" autoAdjust="0"/>
    <p:restoredTop sz="94660"/>
  </p:normalViewPr>
  <p:slideViewPr>
    <p:cSldViewPr>
      <p:cViewPr varScale="1">
        <p:scale>
          <a:sx n="197" d="100"/>
          <a:sy n="197" d="100"/>
        </p:scale>
        <p:origin x="774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92" d="100"/>
          <a:sy n="92" d="100"/>
        </p:scale>
        <p:origin x="2796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>
            <a:extLst>
              <a:ext uri="{FF2B5EF4-FFF2-40B4-BE49-F238E27FC236}">
                <a16:creationId xmlns:a16="http://schemas.microsoft.com/office/drawing/2014/main" id="{8641E886-6D8F-4DA2-898A-00B1EAE1AC5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C9EDFE6A-05C8-4F6B-BA8A-F497180174A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C3AE95-3DFC-4DDB-A7BB-B9BF94A03429}" type="datetimeFigureOut">
              <a:rPr lang="sv-SE" smtClean="0"/>
              <a:t>2026-10-28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AAE70C2B-4AA1-47BF-94B9-F7DF59FCFC3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ED3EF666-D1D2-478D-9969-E1DE1FE2D06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96AD15-F18B-494F-8904-C45D7BCBE60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06759420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8539D3-FAF3-FC43-8825-CC8C9D4686B2}" type="datetimeFigureOut">
              <a:rPr lang="sv-SE" smtClean="0"/>
              <a:t>2026-10-27</a:t>
            </a:fld>
            <a:endParaRPr lang="sv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3B8005-7BF2-4B40-A831-B1EE96BFE5D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98434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D42CF517-9DD4-421C-AE14-6B4A4453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B926A-213D-3B48-BB0C-19ADA28B3F4D}" type="datetime1">
              <a:rPr lang="sv-SE" smtClean="0"/>
              <a:t>2026-10-27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9E3CD4D9-900F-4086-81FD-AB6606D8B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528E8603-97F6-448F-AF1B-7D33D8C75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t>‹#›</a:t>
            </a:fld>
            <a:endParaRPr lang="sv-SE"/>
          </a:p>
        </p:txBody>
      </p:sp>
      <p:sp>
        <p:nvSpPr>
          <p:cNvPr id="24" name="Rubrik 1">
            <a:extLst>
              <a:ext uri="{FF2B5EF4-FFF2-40B4-BE49-F238E27FC236}">
                <a16:creationId xmlns:a16="http://schemas.microsoft.com/office/drawing/2014/main" id="{2973C368-F8A4-41B1-9D52-4D79988138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7928" y="1390867"/>
            <a:ext cx="8090297" cy="566641"/>
          </a:xfrm>
        </p:spPr>
        <p:txBody>
          <a:bodyPr anchor="t"/>
          <a:lstStyle>
            <a:lvl1pPr algn="l">
              <a:defRPr sz="2700"/>
            </a:lvl1pPr>
          </a:lstStyle>
          <a:p>
            <a:r>
              <a:rPr lang="en-US"/>
              <a:t>Click to edit Master title style</a:t>
            </a:r>
            <a:endParaRPr lang="sv-SE" dirty="0"/>
          </a:p>
        </p:txBody>
      </p:sp>
      <p:sp>
        <p:nvSpPr>
          <p:cNvPr id="25" name="Underrubrik 2">
            <a:extLst>
              <a:ext uri="{FF2B5EF4-FFF2-40B4-BE49-F238E27FC236}">
                <a16:creationId xmlns:a16="http://schemas.microsoft.com/office/drawing/2014/main" id="{040AB90C-B2A7-4284-98E0-80DAE0A2CD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7928" y="1974952"/>
            <a:ext cx="8090297" cy="596798"/>
          </a:xfrm>
        </p:spPr>
        <p:txBody>
          <a:bodyPr/>
          <a:lstStyle>
            <a:lvl1pPr marL="0" indent="0" algn="l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sv-SE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383F7B48-BB86-D74E-A1EB-2C3CDBAC7F27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r="700"/>
          <a:stretch/>
        </p:blipFill>
        <p:spPr>
          <a:xfrm>
            <a:off x="246063" y="2559025"/>
            <a:ext cx="8650292" cy="2443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9128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_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918E66E3-BED5-4C6D-B465-40B84B88DB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7928" y="1390867"/>
            <a:ext cx="8090297" cy="566641"/>
          </a:xfrm>
        </p:spPr>
        <p:txBody>
          <a:bodyPr anchor="t"/>
          <a:lstStyle>
            <a:lvl1pPr algn="l">
              <a:defRPr sz="2700"/>
            </a:lvl1pPr>
          </a:lstStyle>
          <a:p>
            <a:r>
              <a:rPr lang="en-US"/>
              <a:t>Click to edit Master title style</a:t>
            </a:r>
            <a:endParaRPr lang="sv-SE" dirty="0"/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FF22D944-0354-4DCD-8334-3FC7C9FFC9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7928" y="1974952"/>
            <a:ext cx="8090297" cy="596798"/>
          </a:xfrm>
        </p:spPr>
        <p:txBody>
          <a:bodyPr/>
          <a:lstStyle>
            <a:lvl1pPr marL="0" indent="0" algn="l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sv-SE" dirty="0"/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D42CF517-9DD4-421C-AE14-6B4A4453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EF508-B04A-E34A-80DD-59A12C5D1039}" type="datetime1">
              <a:rPr lang="sv-SE" smtClean="0"/>
              <a:t>2026-10-27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9E3CD4D9-900F-4086-81FD-AB6606D8B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528E8603-97F6-448F-AF1B-7D33D8C75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t>‹#›</a:t>
            </a:fld>
            <a:endParaRPr lang="sv-SE"/>
          </a:p>
        </p:txBody>
      </p:sp>
      <p:pic>
        <p:nvPicPr>
          <p:cNvPr id="9" name="Bildobjekt 19">
            <a:extLst>
              <a:ext uri="{FF2B5EF4-FFF2-40B4-BE49-F238E27FC236}">
                <a16:creationId xmlns:a16="http://schemas.microsoft.com/office/drawing/2014/main" id="{D08EEA80-13E5-4697-A9DA-21277742FA7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526476" y="333641"/>
            <a:ext cx="1287722" cy="2057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E50A1F01-262A-6542-96F8-9345B6213D97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700"/>
          <a:stretch/>
        </p:blipFill>
        <p:spPr>
          <a:xfrm>
            <a:off x="246063" y="2559025"/>
            <a:ext cx="8650292" cy="2443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0474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4EB0B6BB-AC5F-485A-85BA-F56E433C7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69A48BD2-8B5B-44E1-8F6C-9B0D41A68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3F4D8-4BE6-D743-AE27-D14757A6F270}" type="datetime1">
              <a:rPr lang="sv-SE" smtClean="0"/>
              <a:t>2026-10-27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21B72178-9B2F-45A7-A31E-7710591B0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3155F99B-B767-4EF4-BDED-E7E361EB3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7" name="Platshållare för innehåll 6">
            <a:extLst>
              <a:ext uri="{FF2B5EF4-FFF2-40B4-BE49-F238E27FC236}">
                <a16:creationId xmlns:a16="http://schemas.microsoft.com/office/drawing/2014/main" id="{FA474A84-82A6-4747-B64B-83217A0CB54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131888" y="1194198"/>
            <a:ext cx="7765653" cy="3540919"/>
          </a:xfrm>
        </p:spPr>
        <p:txBody>
          <a:bodyPr>
            <a:normAutofit/>
          </a:bodyPr>
          <a:lstStyle>
            <a:lvl1pPr>
              <a:defRPr sz="1500"/>
            </a:lvl1pPr>
            <a:lvl2pPr marL="514350" indent="-171450">
              <a:buFont typeface="Arial" panose="020B0604020202020204" pitchFamily="34" charset="0"/>
              <a:buChar char="‒"/>
              <a:defRPr sz="1350"/>
            </a:lvl2pPr>
            <a:lvl3pPr marL="857250" indent="-171450">
              <a:buFont typeface="Arial" panose="020B0604020202020204" pitchFamily="34" charset="0"/>
              <a:buChar char="˃"/>
              <a:defRPr sz="1200"/>
            </a:lvl3pPr>
            <a:lvl4pPr>
              <a:defRPr sz="1050"/>
            </a:lvl4pPr>
            <a:lvl5pPr marL="1543050" indent="-171450">
              <a:buFont typeface="Arial" panose="020B0604020202020204" pitchFamily="34" charset="0"/>
              <a:buChar char="‒"/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727327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två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C966D54-57EE-458D-979F-B857F3483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63559-229D-724F-BBD5-623E582CF5C1}" type="datetime1">
              <a:rPr lang="sv-SE" smtClean="0"/>
              <a:t>2026-10-27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5C0D5306-1C16-4D96-8016-0B45E724A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579ABBA-285A-4BDD-A8DE-D7E232663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11" name="Platshållare för innehåll 6">
            <a:extLst>
              <a:ext uri="{FF2B5EF4-FFF2-40B4-BE49-F238E27FC236}">
                <a16:creationId xmlns:a16="http://schemas.microsoft.com/office/drawing/2014/main" id="{C23E0C61-4086-4E9E-9765-C96613FBE58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3244" y="1193800"/>
            <a:ext cx="3794694" cy="3540919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2" name="Platshållare för innehåll 6">
            <a:extLst>
              <a:ext uri="{FF2B5EF4-FFF2-40B4-BE49-F238E27FC236}">
                <a16:creationId xmlns:a16="http://schemas.microsoft.com/office/drawing/2014/main" id="{F4B1B781-8A23-4309-9884-DD6E3CE0EF2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131888" y="1194594"/>
            <a:ext cx="3794694" cy="3540919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6" name="Rubrik 5">
            <a:extLst>
              <a:ext uri="{FF2B5EF4-FFF2-40B4-BE49-F238E27FC236}">
                <a16:creationId xmlns:a16="http://schemas.microsoft.com/office/drawing/2014/main" id="{41903042-6CE8-4286-847C-7E810AF58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41581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, underrubriker och två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6945529D-785A-43B8-8CB0-BF49CF7DD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C966D54-57EE-458D-979F-B857F3483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F60D0-FE42-A248-8A54-F26FEA948759}" type="datetime1">
              <a:rPr lang="sv-SE" smtClean="0"/>
              <a:t>2026-10-27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5C0D5306-1C16-4D96-8016-0B45E724A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579ABBA-285A-4BDD-A8DE-D7E232663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8" name="Platshållare för innehåll 6">
            <a:extLst>
              <a:ext uri="{FF2B5EF4-FFF2-40B4-BE49-F238E27FC236}">
                <a16:creationId xmlns:a16="http://schemas.microsoft.com/office/drawing/2014/main" id="{6304BE55-467D-4CE2-9B8D-EC038C989AF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3244" y="1664494"/>
            <a:ext cx="3794297" cy="3070622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2" name="Platshållare för text 10">
            <a:extLst>
              <a:ext uri="{FF2B5EF4-FFF2-40B4-BE49-F238E27FC236}">
                <a16:creationId xmlns:a16="http://schemas.microsoft.com/office/drawing/2014/main" id="{4D066E04-C797-4C85-AD05-F6EFD42AED3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103244" y="1194197"/>
            <a:ext cx="3794297" cy="398859"/>
          </a:xfrm>
        </p:spPr>
        <p:txBody>
          <a:bodyPr>
            <a:noAutofit/>
          </a:bodyPr>
          <a:lstStyle>
            <a:lvl1pPr marL="0" indent="0">
              <a:buNone/>
              <a:defRPr sz="15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" name="Platshållare för innehåll 6">
            <a:extLst>
              <a:ext uri="{FF2B5EF4-FFF2-40B4-BE49-F238E27FC236}">
                <a16:creationId xmlns:a16="http://schemas.microsoft.com/office/drawing/2014/main" id="{20A69851-5F12-40D3-A417-2DCD7530A5F4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136220" y="1664494"/>
            <a:ext cx="3792153" cy="3070622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4" name="Platshållare för text 10">
            <a:extLst>
              <a:ext uri="{FF2B5EF4-FFF2-40B4-BE49-F238E27FC236}">
                <a16:creationId xmlns:a16="http://schemas.microsoft.com/office/drawing/2014/main" id="{9472B11D-1B06-4AB9-A788-CEFECBDC8E1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36220" y="1194197"/>
            <a:ext cx="3792153" cy="398859"/>
          </a:xfrm>
        </p:spPr>
        <p:txBody>
          <a:bodyPr>
            <a:noAutofit/>
          </a:bodyPr>
          <a:lstStyle>
            <a:lvl1pPr marL="0" indent="0">
              <a:buNone/>
              <a:defRPr sz="1500"/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80452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08A04EEF-7713-4918-A58B-127EED1C3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C91421C8-A909-4498-9C65-2C4F1875E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A7D9E-CD1D-F144-88A8-27D2C4D672B1}" type="datetime1">
              <a:rPr lang="sv-SE" smtClean="0"/>
              <a:t>2026-10-27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698402AB-3C0D-47F3-B526-AEE8B976C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89E1C101-21B3-4DE8-ACC8-96D836B90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7" name="Platshållare för bild 6">
            <a:extLst>
              <a:ext uri="{FF2B5EF4-FFF2-40B4-BE49-F238E27FC236}">
                <a16:creationId xmlns:a16="http://schemas.microsoft.com/office/drawing/2014/main" id="{FECDBECF-4709-417A-8783-E9CAB0603A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46460" y="1194198"/>
            <a:ext cx="8651081" cy="354091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53397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två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08A04EEF-7713-4918-A58B-127EED1C3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C91421C8-A909-4498-9C65-2C4F1875E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1585DF-A6DF-A54D-9960-BE991B45200F}" type="datetime1">
              <a:rPr lang="sv-SE" smtClean="0"/>
              <a:t>2026-10-27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698402AB-3C0D-47F3-B526-AEE8B976C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89E1C101-21B3-4DE8-ACC8-96D836B90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7" name="Platshållare för bild 6">
            <a:extLst>
              <a:ext uri="{FF2B5EF4-FFF2-40B4-BE49-F238E27FC236}">
                <a16:creationId xmlns:a16="http://schemas.microsoft.com/office/drawing/2014/main" id="{FECDBECF-4709-417A-8783-E9CAB0603A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46460" y="1194594"/>
            <a:ext cx="4237209" cy="354091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sv-SE"/>
          </a:p>
        </p:txBody>
      </p:sp>
      <p:sp>
        <p:nvSpPr>
          <p:cNvPr id="9" name="Platshållare för bild 6">
            <a:extLst>
              <a:ext uri="{FF2B5EF4-FFF2-40B4-BE49-F238E27FC236}">
                <a16:creationId xmlns:a16="http://schemas.microsoft.com/office/drawing/2014/main" id="{3747F699-0360-4395-8415-6E5114D6C6C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660332" y="1194198"/>
            <a:ext cx="4237210" cy="354091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879584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2F4B5727-3AF8-4023-B42B-839E8695A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92B391E-9C84-4E0D-898B-8454343BE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91D87-1285-6843-BFFA-E098C31F828A}" type="datetime1">
              <a:rPr lang="sv-SE" smtClean="0"/>
              <a:t>2026-10-27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32D627AA-4087-4599-9513-63987ED8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BDE0A226-9A3A-4E94-A386-D753C79EA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965859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EB551155-ADB6-4713-AD48-92A8C535A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3680" y="250032"/>
            <a:ext cx="7763861" cy="6477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CEFDED03-B73B-4057-9667-7B69EF4D7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31887" y="1194197"/>
            <a:ext cx="7765653" cy="34385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80C11F1C-711C-4AD7-A25F-D2B3F451BB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1520" y="4902599"/>
            <a:ext cx="2057400" cy="23257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BE8303-AD2F-DB4D-B8E2-7368B5FD02EE}" type="datetime1">
              <a:rPr lang="sv-SE" smtClean="0"/>
              <a:t>2026-10-27</a:t>
            </a:fld>
            <a:endParaRPr lang="sv-SE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C9465249-3F3D-4589-A44C-3AA1952E4C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902599"/>
            <a:ext cx="3086100" cy="2325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F9DBF7EF-8E59-4075-A8F0-EF49E121CA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835080" y="4902599"/>
            <a:ext cx="2057400" cy="23257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22A9A3-8636-4A04-BD48-3153280FB086}" type="slidenum">
              <a:rPr lang="sv-SE" smtClean="0"/>
              <a:pPr/>
              <a:t>‹#›</a:t>
            </a:fld>
            <a:endParaRPr lang="sv-SE" dirty="0"/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63C4B2EE-2B48-4379-BBD1-4FA250447FE8}"/>
              </a:ext>
            </a:extLst>
          </p:cNvPr>
          <p:cNvPicPr>
            <a:picLocks noChangeArrowheads="1"/>
          </p:cNvPicPr>
          <p:nvPr userDrawn="1"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46551" y="250120"/>
            <a:ext cx="644150" cy="65239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4" name="Rektangel 53">
            <a:extLst>
              <a:ext uri="{FF2B5EF4-FFF2-40B4-BE49-F238E27FC236}">
                <a16:creationId xmlns:a16="http://schemas.microsoft.com/office/drawing/2014/main" id="{D263F704-88D1-4479-BA22-2920B7F38621}"/>
              </a:ext>
            </a:extLst>
          </p:cNvPr>
          <p:cNvSpPr/>
          <p:nvPr userDrawn="1"/>
        </p:nvSpPr>
        <p:spPr>
          <a:xfrm>
            <a:off x="250750" y="4889099"/>
            <a:ext cx="8646791" cy="1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013"/>
          </a:p>
        </p:txBody>
      </p:sp>
    </p:spTree>
    <p:extLst>
      <p:ext uri="{BB962C8B-B14F-4D97-AF65-F5344CB8AC3E}">
        <p14:creationId xmlns:p14="http://schemas.microsoft.com/office/powerpoint/2010/main" val="276586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6" r:id="rId2"/>
    <p:sldLayoutId id="2147483653" r:id="rId3"/>
    <p:sldLayoutId id="2147483654" r:id="rId4"/>
    <p:sldLayoutId id="2147483655" r:id="rId5"/>
    <p:sldLayoutId id="2147483651" r:id="rId6"/>
    <p:sldLayoutId id="2147483652" r:id="rId7"/>
    <p:sldLayoutId id="2147483650" r:id="rId8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‒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&gt;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‒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pos="713" userDrawn="1">
          <p15:clr>
            <a:srgbClr val="F26B43"/>
          </p15:clr>
        </p15:guide>
        <p15:guide id="4" pos="5454" userDrawn="1">
          <p15:clr>
            <a:srgbClr val="F26B43"/>
          </p15:clr>
        </p15:guide>
        <p15:guide id="6" pos="358" userDrawn="1">
          <p15:clr>
            <a:srgbClr val="F26B43"/>
          </p15:clr>
        </p15:guide>
        <p15:guide id="7" orient="horz" pos="158" userDrawn="1">
          <p15:clr>
            <a:srgbClr val="F26B43"/>
          </p15:clr>
        </p15:guide>
        <p15:guide id="8" orient="horz" pos="3084" userDrawn="1">
          <p15:clr>
            <a:srgbClr val="F26B43"/>
          </p15:clr>
        </p15:guide>
        <p15:guide id="9" pos="5605" userDrawn="1">
          <p15:clr>
            <a:srgbClr val="F26B43"/>
          </p15:clr>
        </p15:guide>
        <p15:guide id="10" pos="155" userDrawn="1">
          <p15:clr>
            <a:srgbClr val="F26B43"/>
          </p15:clr>
        </p15:guide>
        <p15:guide id="11" pos="560" userDrawn="1">
          <p15:clr>
            <a:srgbClr val="F26B43"/>
          </p15:clr>
        </p15:guide>
        <p15:guide id="12" orient="horz" pos="566" userDrawn="1">
          <p15:clr>
            <a:srgbClr val="F26B43"/>
          </p15:clr>
        </p15:guide>
        <p15:guide id="13" orient="horz" pos="752" userDrawn="1">
          <p15:clr>
            <a:srgbClr val="F26B43"/>
          </p15:clr>
        </p15:guide>
        <p15:guide id="14" orient="horz" pos="298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4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8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8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8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0.png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B999F-C6BD-BDD5-2150-DF2DBAEE63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SPB Leg Building Block: Design Flow</a:t>
            </a:r>
            <a:endParaRPr lang="sv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7D9E89-785A-307C-102E-02865FB4C0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Four EPC2361 per switch: DPT and load-test boards, 1200 V / 300 kW SPB inverter</a:t>
            </a:r>
          </a:p>
          <a:p>
            <a:r>
              <a:rPr lang="en-US"/>
              <a:t>Enes Ayaz, KTH Royal Institute of Technology, October 2026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9696373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050E4-8BDA-CC4E-8378-D57301ED1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Design flow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53D935-9E77-C33E-6C71-354CFC879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32D265-202A-200D-6AE0-326281A61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2BEF5CE-2C0F-959B-DBDF-E75071A7BC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4829587"/>
              </p:ext>
            </p:extLst>
          </p:nvPr>
        </p:nvGraphicFramePr>
        <p:xfrm>
          <a:off x="238125" y="952500"/>
          <a:ext cx="8667750" cy="3974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">
                  <a:extLst>
                    <a:ext uri="{9D8B030D-6E8A-4147-A177-3AD203B41FA5}">
                      <a16:colId xmlns:a16="http://schemas.microsoft.com/office/drawing/2014/main" val="3923952653"/>
                    </a:ext>
                  </a:extLst>
                </a:gridCol>
                <a:gridCol w="2190750">
                  <a:extLst>
                    <a:ext uri="{9D8B030D-6E8A-4147-A177-3AD203B41FA5}">
                      <a16:colId xmlns:a16="http://schemas.microsoft.com/office/drawing/2014/main" val="425517689"/>
                    </a:ext>
                  </a:extLst>
                </a:gridCol>
                <a:gridCol w="5905500">
                  <a:extLst>
                    <a:ext uri="{9D8B030D-6E8A-4147-A177-3AD203B41FA5}">
                      <a16:colId xmlns:a16="http://schemas.microsoft.com/office/drawing/2014/main" val="4080190324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endParaRPr lang="sv-SE" sz="138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Step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Question → decision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268366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Design inputs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dirty="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1200 V, 300 kW, M ≤ 1.15, PMSM cos </a:t>
                      </a:r>
                      <a:r>
                        <a:rPr lang="el-GR" sz="1380" dirty="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φ = 0.9 → 228 </a:t>
                      </a:r>
                      <a:r>
                        <a:rPr lang="sv-SE" sz="1380" dirty="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</a:t>
                      </a:r>
                      <a:r>
                        <a:rPr lang="sv-SE" sz="1380" baseline="-25000" dirty="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rms</a:t>
                      </a:r>
                      <a:r>
                        <a:rPr lang="sv-SE" sz="1380" dirty="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per leg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310991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Device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100–650 V GaN survey, absolute and per volt → 100 V GaN, EPC2361 (Kelvin pad)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44022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Submodule voltage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pt-BR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</a:t>
                      </a:r>
                      <a:r>
                        <a:rPr lang="pt-BR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 L·di/dt ≤ 90 V for 0.5 / 1 nH, even N → 75 V, N = 16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193220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 device, one driver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of one cell + LTspice at 0.5 / 1 nH → ≤ 80 A per device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977401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 in parallel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loss, T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V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vs n → 4 EPC2361 per switch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591972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sw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DC link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≥ 50 kHz; 3 % ripple → 20 × 22 µF 2220 + 10 × 1 µF bypass per cell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179202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Gate drive → block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 2EDF7275K per pair (star, Kelvin) → building block of two cells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70014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Four on one board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two pairs, one DC pair, one AC output → DPT board and load-test board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023990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Supplies, measurement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two isolated supplies + Zener bias, UFCS per cell (DPT), U.FL V</a:t>
                      </a:r>
                      <a:r>
                        <a:rPr lang="en-US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MMCX V</a:t>
                      </a:r>
                      <a:r>
                        <a:rPr lang="en-US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HO 250-S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654670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Three-phase DC bus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legs share the 75 V bus → laminated PCB busbar; 3D level and 16-level stack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84833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11–12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Verification, boards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 dirty="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fast Q3D set on the final boards and the busbar; fab files</a:t>
                      </a:r>
                      <a:endParaRPr lang="sv-SE" sz="1380" dirty="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79873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3571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F99AD4-8E85-580F-D0EB-41F73B1D3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Design inputs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89117E-ED27-D36F-CBE7-B6C709C03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CB1ED2-E9B0-3673-43FF-403B21372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BFF0536-25DD-56DE-9E91-7C33BCF262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773" y="952500"/>
            <a:ext cx="7346453" cy="204787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2C960AFE-9E4A-33C5-AE73-8A1ACD7ECC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0793040"/>
              </p:ext>
            </p:extLst>
          </p:nvPr>
        </p:nvGraphicFramePr>
        <p:xfrm>
          <a:off x="238125" y="3048000"/>
          <a:ext cx="4953000" cy="185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>
                  <a:extLst>
                    <a:ext uri="{9D8B030D-6E8A-4147-A177-3AD203B41FA5}">
                      <a16:colId xmlns:a16="http://schemas.microsoft.com/office/drawing/2014/main" val="1148346234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4022525916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775382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bus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dirty="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1200 V nominal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56059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Output power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300 kW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18757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Modulation index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 ≤ 1.15 (SVM)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614553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Machine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PMSM, cos 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φ 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assumed 0.9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290846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Switching frequency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≥ 50 kHz (step 6)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108299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Cooling / T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 test: air 25–40 °C / ≤ 125 °C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96121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Device stress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 dirty="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en-US" sz="1190" baseline="-25000" dirty="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en-US" sz="1190" dirty="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≤ 90 V at nominal bus (100 V part)</a:t>
                      </a:r>
                      <a:endParaRPr lang="sv-SE" sz="1190" dirty="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236846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E95722A-CC04-4835-F498-97DC8AB6CE23}"/>
              </a:ext>
            </a:extLst>
          </p:cNvPr>
          <p:cNvSpPr txBox="1"/>
          <p:nvPr/>
        </p:nvSpPr>
        <p:spPr>
          <a:xfrm>
            <a:off x="5429250" y="3095625"/>
            <a:ext cx="34766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 dirty="0">
                <a:solidFill>
                  <a:srgbClr val="1E1E1E"/>
                </a:solidFill>
                <a:latin typeface="Arial" panose="020B0604020202020204" pitchFamily="34" charset="0"/>
              </a:rPr>
              <a:t>SPB: N three-phase submodules in series on the DC side, each feeding one winding set of the machine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 dirty="0" err="1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en-US" sz="1470" baseline="-25000" dirty="0" err="1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470" dirty="0">
                <a:solidFill>
                  <a:srgbClr val="1E1E1E"/>
                </a:solidFill>
                <a:latin typeface="Arial" panose="020B0604020202020204" pitchFamily="34" charset="0"/>
              </a:rPr>
              <a:t> = 1200 V / N per submodule; each submodule = 3 legs on one DC link</a:t>
            </a:r>
            <a:endParaRPr lang="sv-SE" sz="147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8353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FF0DA-8E66-91BD-F767-6F1B35F50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Phase current follows from the inputs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6B8889-13AD-7DD1-4318-C54446CAB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365EF0-4D3E-3D04-5027-A1E539B86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33A587-CC0C-0654-7361-0784D95B1B5C}"/>
              </a:ext>
            </a:extLst>
          </p:cNvPr>
          <p:cNvSpPr txBox="1"/>
          <p:nvPr/>
        </p:nvSpPr>
        <p:spPr>
          <a:xfrm>
            <a:off x="238125" y="952500"/>
            <a:ext cx="51435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Each of the 3N legs delivers P/3N at V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ph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 = M·V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/(2√2):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I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 = P / (3 · M·V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/(2√2) · cos </a:t>
            </a:r>
            <a:r>
              <a:rPr lang="el-GR" sz="1560">
                <a:solidFill>
                  <a:srgbClr val="1E1E1E"/>
                </a:solidFill>
                <a:latin typeface="Arial" panose="020B0604020202020204" pitchFamily="34" charset="0"/>
              </a:rPr>
              <a:t>φ)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N·V</a:t>
            </a:r>
            <a:r>
              <a:rPr lang="sv-SE" sz="146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 = V</a:t>
            </a:r>
            <a:r>
              <a:rPr lang="sv-SE" sz="146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: the phase current does </a:t>
            </a:r>
            <a:r>
              <a:rPr lang="sv-SE" sz="1460" b="1">
                <a:solidFill>
                  <a:srgbClr val="C84632"/>
                </a:solidFill>
                <a:latin typeface="Arial" panose="020B0604020202020204" pitchFamily="34" charset="0"/>
              </a:rPr>
              <a:t>not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 depend on N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sv-SE" sz="1460" baseline="-25000">
                <a:solidFill>
                  <a:srgbClr val="1E1E1E"/>
                </a:solidFill>
                <a:latin typeface="Arial" panose="020B0604020202020204" pitchFamily="34" charset="0"/>
              </a:rPr>
              <a:t>ph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 = 1.15 · 75 V / 2√2 = 30.5 V; 6.25 kW per leg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 b="1">
                <a:solidFill>
                  <a:srgbClr val="1E1E1E"/>
                </a:solidFill>
                <a:latin typeface="Arial" panose="020B0604020202020204" pitchFamily="34" charset="0"/>
              </a:rPr>
              <a:t>228 Arms per leg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, 322 A peak (cos </a:t>
            </a:r>
            <a:r>
              <a:rPr lang="el-GR" sz="1460">
                <a:solidFill>
                  <a:srgbClr val="1E1E1E"/>
                </a:solidFill>
                <a:latin typeface="Arial" panose="020B0604020202020204" pitchFamily="34" charset="0"/>
              </a:rPr>
              <a:t>φ = 0.9)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DC current per leg 83 A; series DC chain 250 A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Losses in this deck are for cos </a:t>
            </a:r>
            <a:r>
              <a:rPr lang="el-GR" sz="1560">
                <a:solidFill>
                  <a:srgbClr val="1E1E1E"/>
                </a:solidFill>
                <a:latin typeface="Arial" panose="020B0604020202020204" pitchFamily="34" charset="0"/>
              </a:rPr>
              <a:t>φ = 0.9; 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the PMSM operating point is confirmed with the machine design</a:t>
            </a:r>
            <a:endParaRPr lang="sv-SE" sz="156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9C29531-0156-4FE8-2385-95ACE9622B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7227390"/>
              </p:ext>
            </p:extLst>
          </p:nvPr>
        </p:nvGraphicFramePr>
        <p:xfrm>
          <a:off x="5667375" y="952500"/>
          <a:ext cx="3238500" cy="1442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250">
                  <a:extLst>
                    <a:ext uri="{9D8B030D-6E8A-4147-A177-3AD203B41FA5}">
                      <a16:colId xmlns:a16="http://schemas.microsoft.com/office/drawing/2014/main" val="3054170863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955128885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cos </a:t>
                      </a:r>
                      <a:r>
                        <a:rPr lang="el-GR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φ</a:t>
                      </a:r>
                      <a:endParaRPr lang="sv-SE" sz="156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I</a:t>
                      </a:r>
                      <a:r>
                        <a:rPr lang="sv-SE" sz="156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rms</a:t>
                      </a:r>
                      <a:r>
                        <a:rPr lang="sv-SE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per leg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345002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205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415684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0.95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216 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211507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228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525642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0.85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241 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44414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04956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E45C9-A4FB-0B18-5F0E-8EABEE056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Voltage class: why 100 V GaN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72C475-287A-A617-E983-513D45D7A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608CFD-77B1-C005-AB29-4D8031A3A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F21D81-BE89-2C99-C021-D2A3A5610B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910" y="952500"/>
            <a:ext cx="7284181" cy="2571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91A73EC-543B-954F-3E75-E9576DF8D599}"/>
              </a:ext>
            </a:extLst>
          </p:cNvPr>
          <p:cNvSpPr txBox="1"/>
          <p:nvPr/>
        </p:nvSpPr>
        <p:spPr>
          <a:xfrm>
            <a:off x="238125" y="35433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 dirty="0">
                <a:solidFill>
                  <a:srgbClr val="1E1E1E"/>
                </a:solidFill>
                <a:latin typeface="Arial" panose="020B0604020202020204" pitchFamily="34" charset="0"/>
              </a:rPr>
              <a:t>(a) At fixed bus voltage and phase current the minimum semiconductor loss scales with √(R</a:t>
            </a:r>
            <a:r>
              <a:rPr lang="en-US" sz="1190" baseline="-25000" dirty="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190" dirty="0">
                <a:solidFill>
                  <a:srgbClr val="1E1E1E"/>
                </a:solidFill>
                <a:latin typeface="Arial" panose="020B0604020202020204" pitchFamily="34" charset="0"/>
              </a:rPr>
              <a:t>·</a:t>
            </a:r>
            <a:r>
              <a:rPr lang="en-US" sz="1190" dirty="0" err="1">
                <a:solidFill>
                  <a:srgbClr val="1E1E1E"/>
                </a:solidFill>
                <a:latin typeface="Arial" panose="020B0604020202020204" pitchFamily="34" charset="0"/>
              </a:rPr>
              <a:t>C</a:t>
            </a:r>
            <a:r>
              <a:rPr lang="en-US" sz="1190" baseline="-25000" dirty="0" err="1">
                <a:solidFill>
                  <a:srgbClr val="1E1E1E"/>
                </a:solidFill>
                <a:latin typeface="Arial" panose="020B0604020202020204" pitchFamily="34" charset="0"/>
              </a:rPr>
              <a:t>oss,tr</a:t>
            </a:r>
            <a:r>
              <a:rPr lang="en-US" sz="1190" dirty="0">
                <a:solidFill>
                  <a:srgbClr val="1E1E1E"/>
                </a:solidFill>
                <a:latin typeface="Arial" panose="020B0604020202020204" pitchFamily="34" charset="0"/>
              </a:rPr>
              <a:t>): the 100 V </a:t>
            </a:r>
            <a:r>
              <a:rPr lang="en-US" sz="1190" dirty="0" err="1">
                <a:solidFill>
                  <a:srgbClr val="1E1E1E"/>
                </a:solidFill>
                <a:latin typeface="Arial" panose="020B0604020202020204" pitchFamily="34" charset="0"/>
              </a:rPr>
              <a:t>GaN</a:t>
            </a:r>
            <a:r>
              <a:rPr lang="en-US" sz="1190" dirty="0">
                <a:solidFill>
                  <a:srgbClr val="1E1E1E"/>
                </a:solidFill>
                <a:latin typeface="Arial" panose="020B0604020202020204" pitchFamily="34" charset="0"/>
              </a:rPr>
              <a:t> parts have the lowest product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 dirty="0">
                <a:solidFill>
                  <a:srgbClr val="1E1E1E"/>
                </a:solidFill>
                <a:latin typeface="Arial" panose="020B0604020202020204" pitchFamily="34" charset="0"/>
              </a:rPr>
              <a:t>(b) Per volt of blocking capability: 100 V </a:t>
            </a:r>
            <a:r>
              <a:rPr lang="en-US" sz="1190" dirty="0" err="1">
                <a:solidFill>
                  <a:srgbClr val="1E1E1E"/>
                </a:solidFill>
                <a:latin typeface="Arial" panose="020B0604020202020204" pitchFamily="34" charset="0"/>
              </a:rPr>
              <a:t>GaN</a:t>
            </a:r>
            <a:r>
              <a:rPr lang="en-US" sz="1190" dirty="0">
                <a:solidFill>
                  <a:srgbClr val="1E1E1E"/>
                </a:solidFill>
                <a:latin typeface="Arial" panose="020B0604020202020204" pitchFamily="34" charset="0"/>
              </a:rPr>
              <a:t> has the lowest R</a:t>
            </a:r>
            <a:r>
              <a:rPr lang="en-US" sz="1190" baseline="-25000" dirty="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190" dirty="0">
                <a:solidFill>
                  <a:srgbClr val="1E1E1E"/>
                </a:solidFill>
                <a:latin typeface="Arial" panose="020B0604020202020204" pitchFamily="34" charset="0"/>
              </a:rPr>
              <a:t>/</a:t>
            </a:r>
            <a:r>
              <a:rPr lang="en-US" sz="1190" dirty="0" err="1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en-US" sz="1190" baseline="-25000" dirty="0" err="1">
                <a:solidFill>
                  <a:srgbClr val="1E1E1E"/>
                </a:solidFill>
                <a:latin typeface="Arial" panose="020B0604020202020204" pitchFamily="34" charset="0"/>
              </a:rPr>
              <a:t>DS,max</a:t>
            </a:r>
            <a:r>
              <a:rPr lang="en-US" sz="1190" dirty="0">
                <a:solidFill>
                  <a:srgbClr val="1E1E1E"/>
                </a:solidFill>
                <a:latin typeface="Arial" panose="020B0604020202020204" pitchFamily="34" charset="0"/>
              </a:rPr>
              <a:t> (EPC2361 7.5 µΩ/V, 3–30× below 200–650 V) at a higher C</a:t>
            </a:r>
            <a:r>
              <a:rPr lang="en-US" sz="1190" baseline="-25000" dirty="0">
                <a:solidFill>
                  <a:srgbClr val="1E1E1E"/>
                </a:solidFill>
                <a:latin typeface="Arial" panose="020B0604020202020204" pitchFamily="34" charset="0"/>
              </a:rPr>
              <a:t>oss</a:t>
            </a:r>
            <a:r>
              <a:rPr lang="en-US" sz="1190" dirty="0">
                <a:solidFill>
                  <a:srgbClr val="1E1E1E"/>
                </a:solidFill>
                <a:latin typeface="Arial" panose="020B0604020202020204" pitchFamily="34" charset="0"/>
              </a:rPr>
              <a:t>/V; conduction dominates here (12.4 W vs 4–5 W switching per leg, step 5)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 dirty="0">
                <a:solidFill>
                  <a:srgbClr val="1E1E1E"/>
                </a:solidFill>
                <a:latin typeface="Arial" panose="020B0604020202020204" pitchFamily="34" charset="0"/>
              </a:rPr>
              <a:t>(c) Best device per class: 100 V needs more submodules but the fewest devices per switch and the smallest voltage step → </a:t>
            </a:r>
            <a:r>
              <a:rPr lang="en-US" sz="1190" b="1" dirty="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r>
              <a:rPr lang="en-US" sz="1190" dirty="0">
                <a:solidFill>
                  <a:srgbClr val="1E1E1E"/>
                </a:solidFill>
                <a:latin typeface="Arial" panose="020B0604020202020204" pitchFamily="34" charset="0"/>
              </a:rPr>
              <a:t>, 100 V, 0.75 </a:t>
            </a:r>
            <a:r>
              <a:rPr lang="en-US" sz="1190" dirty="0" err="1">
                <a:solidFill>
                  <a:srgbClr val="1E1E1E"/>
                </a:solidFill>
                <a:latin typeface="Arial" panose="020B0604020202020204" pitchFamily="34" charset="0"/>
              </a:rPr>
              <a:t>mΩ</a:t>
            </a:r>
            <a:r>
              <a:rPr lang="en-US" sz="1190" dirty="0">
                <a:solidFill>
                  <a:srgbClr val="1E1E1E"/>
                </a:solidFill>
                <a:latin typeface="Arial" panose="020B0604020202020204" pitchFamily="34" charset="0"/>
              </a:rPr>
              <a:t> </a:t>
            </a:r>
            <a:r>
              <a:rPr lang="en-US" sz="1190" dirty="0" err="1">
                <a:solidFill>
                  <a:srgbClr val="1E1E1E"/>
                </a:solidFill>
                <a:latin typeface="Arial" panose="020B0604020202020204" pitchFamily="34" charset="0"/>
              </a:rPr>
              <a:t>typ</a:t>
            </a:r>
            <a:r>
              <a:rPr lang="en-US" sz="1190" dirty="0">
                <a:solidFill>
                  <a:srgbClr val="1E1E1E"/>
                </a:solidFill>
                <a:latin typeface="Arial" panose="020B0604020202020204" pitchFamily="34" charset="0"/>
              </a:rPr>
              <a:t>, 3 × 5 mm, top-side cooling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80542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29B4D-C481-22A7-D89D-D921366DE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EPC2361: key data and the Kelvin source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3DF70F-6BC3-67DA-462F-94D357A0E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D9B8FE-107C-FD40-6393-56187B2E7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6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DAC1466-925F-A051-A458-886C6C2BF1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7070" y="952500"/>
            <a:ext cx="6749859" cy="242887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BB088DC-5203-1F62-32E4-6B17FAB59F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7737128"/>
              </p:ext>
            </p:extLst>
          </p:nvPr>
        </p:nvGraphicFramePr>
        <p:xfrm>
          <a:off x="238125" y="3448050"/>
          <a:ext cx="4476750" cy="131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>
                  <a:extLst>
                    <a:ext uri="{9D8B030D-6E8A-4147-A177-3AD203B41FA5}">
                      <a16:colId xmlns:a16="http://schemas.microsoft.com/office/drawing/2014/main" val="2793983878"/>
                    </a:ext>
                  </a:extLst>
                </a:gridCol>
                <a:gridCol w="2381250">
                  <a:extLst>
                    <a:ext uri="{9D8B030D-6E8A-4147-A177-3AD203B41FA5}">
                      <a16:colId xmlns:a16="http://schemas.microsoft.com/office/drawing/2014/main" val="2197064819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Parameter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422964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transient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 / 120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041686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DS(on)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0.75 m</a:t>
                      </a:r>
                      <a:r>
                        <a:rPr lang="el-G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 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typ (1.0 max)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95856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range / 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GS(th)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−4 … +6 V / 0.8 – 2.5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911459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iss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C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oss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C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rss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3599 / 1019 / 13 pF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811984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Q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Q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GD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Q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OSS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28 / 3.8 / 90 nC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99605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A21A87C-407E-51DD-8F2C-598B9F00BFFC}"/>
              </a:ext>
            </a:extLst>
          </p:cNvPr>
          <p:cNvSpPr txBox="1"/>
          <p:nvPr/>
        </p:nvSpPr>
        <p:spPr>
          <a:xfrm>
            <a:off x="4857750" y="3448050"/>
            <a:ext cx="40481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Kelvin pad 2 next to the gate: the gate loop returns at the die, the source stripes and vias (L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) stay in the power loop only ⇒ no L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·di/dt feedback into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Low threshold and −4 V limit: gate bump and negative bias need care (step 7)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Top of the package at </a:t>
            </a:r>
            <a:r>
              <a:rPr lang="en-US" sz="1190" b="1">
                <a:solidFill>
                  <a:srgbClr val="C84632"/>
                </a:solidFill>
                <a:latin typeface="Arial" panose="020B0604020202020204" pitchFamily="34" charset="0"/>
              </a:rPr>
              <a:t>source potential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: the thermal interface must insulate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27933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C540D-ADAC-BA61-F51E-4E7551B9C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Submodule voltage from L·di/dt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2419F9-D3F4-9246-2773-1F7E74DF6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90D155-225E-9B02-E1B0-FBC0085D2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7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85F22DC-D348-5ADF-F7EE-45EAD99DD7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7322" y="952500"/>
            <a:ext cx="6269356" cy="2552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D4CCEB1-94A0-EB34-A138-F4B7EF4BCCDB}"/>
              </a:ext>
            </a:extLst>
          </p:cNvPr>
          <p:cNvSpPr txBox="1"/>
          <p:nvPr/>
        </p:nvSpPr>
        <p:spPr>
          <a:xfrm>
            <a:off x="238125" y="3524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Peak stress v̂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= V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+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loop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·di/dt ≤ 90 V; turn-on di/dt (gate-charge model, R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g,on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2 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Ω): 25 / 33 / 50 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A/ns at 60 / 80 / 120 A per device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At 80 A per device: V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≤ </a:t>
            </a:r>
            <a:r>
              <a:rPr lang="sv-SE" sz="1280" b="1">
                <a:solidFill>
                  <a:srgbClr val="1E1E1E"/>
                </a:solidFill>
                <a:latin typeface="Arial" panose="020B0604020202020204" pitchFamily="34" charset="0"/>
              </a:rPr>
              <a:t>73 V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with 0.5 nH, only 57 V with 1 nH ⇒ the loop must stay near 0.5 nH (or the turn-on is slowed); N even (symmetric winding sets): 16 → 75 V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DCB38067-8810-2600-5907-45C2AF2DBA7D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V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75 V, N = 16; layout target 0.5 nH per cell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62152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FB8FE-C65D-5C06-0F4C-6C3CC632B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Why not lower: every submodule costs parts and loss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A50651-9E7C-4E1C-AE03-55391DC8B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901698-D873-05B1-B2CC-5BFB8155B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652B726-C637-99DA-1073-3C94A13B61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953000" cy="298958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E6B1C6-D3AE-B32C-E40B-2D6CE227C07D}"/>
              </a:ext>
            </a:extLst>
          </p:cNvPr>
          <p:cNvSpPr txBox="1"/>
          <p:nvPr/>
        </p:nvSpPr>
        <p:spPr>
          <a:xfrm>
            <a:off x="5381625" y="952500"/>
            <a:ext cx="3524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Phase current is fixed by P, V</a:t>
            </a:r>
            <a:r>
              <a:rPr lang="en-US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, M, cos φ, not by 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Each submodule carries the full phase current ⇒ conduction loss, transistors, drivers and supplies scale with 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60 V (N = 20): +25 % parts and conduction loss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Overshoot margin rechecked on the final boards (Q3D, step 11)</a:t>
            </a:r>
            <a:endParaRPr lang="sv-SE" sz="156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53733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DB943-DE70-A8C8-0B96-F64F0266B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Power loop of one cell: copper, bypass ESL and shunt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BE08F4-638B-33CC-B717-8829AA617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977B3F-421D-E338-021E-5CD5F7C9A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9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E3BDF65-FB05-D10C-585A-268791D6F7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1093" y="952500"/>
            <a:ext cx="6821813" cy="24955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70DB124-DA29-F10E-A6CC-5B86994DCD4F}"/>
              </a:ext>
            </a:extLst>
          </p:cNvPr>
          <p:cNvSpPr txBox="1"/>
          <p:nvPr/>
        </p:nvSpPr>
        <p:spPr>
          <a:xfrm>
            <a:off x="238125" y="34766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Q3D of the final boards (cell band): loop = copper of the vertical loop over 0.1 mm (vias, pads) + bypass ESL/n (+ UFCS 120 pH on the DPT board)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Copper alone: 0.35 nH (load) / 0.47 nH (DPT, shunt path); with 6 + 4 bypass 0805 per cell: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0.41 / 0.65 nH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Beyond ≈ 4 bypass parts per cell the number hardly matters; part: 1 µF 100 V X7S 0805 next to the drains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C8628D18-F7D5-1B7A-6C79-BBC5C80ED805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Design value L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loop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0.5 nH per cell; 1 nH as the pessimistic bound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09240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2DF1B-4177-2584-9BA8-A51C6E212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One EPC2361 per switch: how fast and how much overshoot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A097C9-5B62-4149-AE27-54406A26D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143DCA-63D3-EFBE-D1A9-B99DDFA2D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A1B850D-A53E-B96A-6C31-7D4E99CF13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069" y="952500"/>
            <a:ext cx="7395862" cy="24288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28C94F5-4DAD-E534-AC64-4A6797410038}"/>
              </a:ext>
            </a:extLst>
          </p:cNvPr>
          <p:cNvSpPr txBox="1"/>
          <p:nvPr/>
        </p:nvSpPr>
        <p:spPr>
          <a:xfrm>
            <a:off x="238125" y="34099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LTspice half bridge at 75 V, lumped loop 0.5 / 1 nH, 1.7 nH gate loop, 2 Ω on / 0 Ω off, 4 A / 8 A driver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(a) Peak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at 60 / 80 / 120 A: 87 / 83 / 102 V (0.5 nH), 83 / 93 / 137 V (1 nH)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(b, c) A larger loop lowers E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(the loop takes L·di/dt of the voltage while the current rises) but raises E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and the overshoot; turn-on di/dt is set by the driver (≈ 45 A/ns)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(d) Conduction per device at 100 °C: 4.0 / 7.2 / 16.1 W at 60 / 80 / 120 A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; one device would carry 322 A peak ⇒ </a:t>
            </a: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current per device ≤ 80 A</a:t>
            </a:r>
            <a:endParaRPr lang="sv-SE" sz="119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28005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A1A58-659F-DD63-B8D8-AB3EF1B2B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Thermal path per device: load-test board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40221B-8D13-C43A-B444-D55A7FC4A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F5E318-F7FB-CF21-C635-F87FE03A8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11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D0706C4-6C16-1191-4319-81FE6A0DEC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4618901"/>
              </p:ext>
            </p:extLst>
          </p:nvPr>
        </p:nvGraphicFramePr>
        <p:xfrm>
          <a:off x="238125" y="952500"/>
          <a:ext cx="5619750" cy="17769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62500">
                  <a:extLst>
                    <a:ext uri="{9D8B030D-6E8A-4147-A177-3AD203B41FA5}">
                      <a16:colId xmlns:a16="http://schemas.microsoft.com/office/drawing/2014/main" val="2810114108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427605478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Path (LAM 4 K 50 12 in air, per device)</a:t>
                      </a:r>
                      <a:endParaRPr lang="sv-SE" sz="138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K/W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989069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</a:t>
                      </a:r>
                      <a:r>
                        <a:rPr lang="el-GR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θ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JC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(top), datasheet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0.20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748307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gap pad 0.4 mm, 5 W/mK, over the 15 mm² package top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633373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Al spreader, outer cell → tube (8 mm in 12.8 × 3 mm, 2 devices)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135457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Junction → heatsink, per device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21062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Heatsink → air, whole leg (Fischer LAM 4 K 50 12)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11972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2748B45-9350-0D12-8FC9-5D35B3A7A81C}"/>
              </a:ext>
            </a:extLst>
          </p:cNvPr>
          <p:cNvSpPr txBox="1"/>
          <p:nvPr/>
        </p:nvSpPr>
        <p:spPr>
          <a:xfrm>
            <a:off x="6048375" y="952500"/>
            <a:ext cx="28575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amb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+ 0.65 K/W · P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leg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+ 7.6 K/W · P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device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The gap pad dominates (insulation is needed: the package top is at source potential)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n = 4 at full load: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69 °C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(40 °C ambient), 52 °C (25 °C), 78 °C with a 3 W/mK pad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(T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): ×1.49 at 100 °C, ×1.80 at 150 °C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A70A67-4947-F26A-46B8-EA9CA395F2B7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Spreader and pad values are hand estimates from the dimensions; for n ≠ 4 the same per-device path is assumed.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5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9ACA8-57EC-A273-04E1-268FEBB30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n identical cells per switch (one device and one driver each)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95B2C9-29ED-FC81-D528-C08709EC8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7B6D6-F961-499D-F73A-09E8DCFE1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12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DDE38CF-38A5-5C2B-4713-AB92423E92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52" y="952500"/>
            <a:ext cx="7371896" cy="2667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5AD01D-959B-55FA-A559-54EE12E740B4}"/>
              </a:ext>
            </a:extLst>
          </p:cNvPr>
          <p:cNvSpPr txBox="1"/>
          <p:nvPr/>
        </p:nvSpPr>
        <p:spPr>
          <a:xfrm>
            <a:off x="238125" y="36385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228 A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per leg, 50 kHz, T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and R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solved together (load-test board in air, previous slide); LTspice energies at 0.5 nH (left bars) and 1 nH (hatched)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n = 4: 18.0 W (0.5 nH) / 17.0 W (1 nH) per leg, T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69 °C; peak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at 80 A: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83 V (0.5 nH), 93 V (1 nH)</a:t>
            </a:r>
            <a:endParaRPr lang="sv-SE" sz="128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35228EBD-DE4D-2D48-B32A-1C156A712CAD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4 EPC2361 per switch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&lt; 80 °C in all three cases; ≤ 90 V needs ≈ 0.5 nH; two equal pairs)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21221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A5D7B-787C-AEB0-26B1-51F4846B4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Where the loss comes from: line period and junction temperature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585D43-BFF8-7D78-3FF0-23DDDCA4FA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5A0527-90C4-CEBE-7F7E-8C3B3C305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B657D60-46AE-04DD-B471-2FE582B986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436" y="952500"/>
            <a:ext cx="7651128" cy="2952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7214E44-FA45-7B3F-BD48-12279780800B}"/>
              </a:ext>
            </a:extLst>
          </p:cNvPr>
          <p:cNvSpPr txBox="1"/>
          <p:nvPr/>
        </p:nvSpPr>
        <p:spPr>
          <a:xfrm>
            <a:off x="238125" y="39243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n = 4, 50 kHz: switching loss follows |i| (plus a constant E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oss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part), conduction loss follows i²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Conduction 12.5 W per leg (at the load-test 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); switching 5.0 W at 0.5 nH, 4.1 W at 1 nH (lower E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, higher E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and overshoot)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18640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9DAB8-BA63-1C73-6EF8-6A762646A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Losses vs number in parallel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9E26F5-0D96-76DA-87C6-F0BB2607D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331527-D4DA-E0F8-734F-73B068126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14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1974B7D-8D8E-C1C7-A439-E9E1BFE7B5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0375074"/>
              </p:ext>
            </p:extLst>
          </p:nvPr>
        </p:nvGraphicFramePr>
        <p:xfrm>
          <a:off x="238125" y="952500"/>
          <a:ext cx="8667750" cy="2653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1750">
                  <a:extLst>
                    <a:ext uri="{9D8B030D-6E8A-4147-A177-3AD203B41FA5}">
                      <a16:colId xmlns:a16="http://schemas.microsoft.com/office/drawing/2014/main" val="76041816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66548748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44979582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35121286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421371568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53321160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31338548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72255787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4244243304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 per switch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3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5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7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255518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 per leg, 0.5 nH (W)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39.5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23.2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18.0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868682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 per leg, 1 nH (W)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38.4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17.0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13.7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4212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 conduction at T</a:t>
                      </a:r>
                      <a:r>
                        <a:rPr lang="sv-SE" sz="12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(W)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33.9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18.0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9.7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17100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 switching 0.5 / 1 nH (W)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5.0 / 4.2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4.6 / 3.8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5.0 / 4.1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5.6 / 4.6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6.4 / 5.3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7.3 / 6.1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8.2 / 6.9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02616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Efficiency, 0.5 nH (%)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99.37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99.63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418698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 per device (W)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34247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</a:t>
                      </a:r>
                      <a:r>
                        <a:rPr lang="sv-SE" sz="12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(°C)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130655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Peak V</a:t>
                      </a:r>
                      <a:r>
                        <a:rPr lang="en-US" sz="12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en-US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0.5 / 1 nH (V)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195 / 292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131 / 180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96 / 123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83 / 93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86 / 85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86 / 84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84 / 86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83 / 87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304578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Driver channels per leg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910944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28CA7FB-BE4A-BB67-2E76-76B71E36E2B2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Semiconductor losses only; leg loss / (2 n) = loss per device; T_j on the load-test board at 40 °C ambient, 50 kHz; efficiency relative to 6.25 kW per leg.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38344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0F4312-B0BF-5C43-741F-4DAAFA56E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Switching frequency: losses, DC-link capacitors, current ripple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CE4C81-CFF9-497D-973D-982150CB56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D92167-8693-9AE0-9CE3-F7DD1073B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F6A2F0-E449-DF13-7078-64E49A3C38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839" y="952500"/>
            <a:ext cx="7482322" cy="2667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54519C7-64B2-AFBD-042B-9F5D54FD8B54}"/>
              </a:ext>
            </a:extLst>
          </p:cNvPr>
          <p:cNvSpPr txBox="1"/>
          <p:nvPr/>
        </p:nvSpPr>
        <p:spPr>
          <a:xfrm>
            <a:off x="238125" y="36385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(a) n = 4: 99.77 / 99.71 / 99.61 % at 20 / 50 / 100 kHz; (b) the voltage ripple sets the 2220 count (20 per leg at 50 kHz), ripple current needs only 7; (c) winding ripple Δi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pp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/(4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σ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f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) depends on the machine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C1508634-AE84-BB29-FE2E-DD568ACC0B4D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f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≥ 50 kHz (higher allowed by the machine); the DC link is sized for 50 kHz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35959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D2E51-93A1-EC07-13BE-E19444449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DC-link sizing for a three-phase level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460A0A-57F4-C653-C5D3-7A851634C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71A8DD-68A7-9BF2-4C42-E29E98F7B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16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61CDB8E-E068-6DF8-B4A1-1F6A249DA8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953000" cy="3067717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23C94CD-CDBA-1BD4-0D58-012BA824A2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7442252"/>
              </p:ext>
            </p:extLst>
          </p:nvPr>
        </p:nvGraphicFramePr>
        <p:xfrm>
          <a:off x="5381625" y="952500"/>
          <a:ext cx="3524250" cy="122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625">
                  <a:extLst>
                    <a:ext uri="{9D8B030D-6E8A-4147-A177-3AD203B41FA5}">
                      <a16:colId xmlns:a16="http://schemas.microsoft.com/office/drawing/2014/main" val="392268944"/>
                    </a:ext>
                  </a:extLst>
                </a:gridCol>
                <a:gridCol w="714375">
                  <a:extLst>
                    <a:ext uri="{9D8B030D-6E8A-4147-A177-3AD203B41FA5}">
                      <a16:colId xmlns:a16="http://schemas.microsoft.com/office/drawing/2014/main" val="3069522032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538199332"/>
                    </a:ext>
                  </a:extLst>
                </a:gridCol>
                <a:gridCol w="904875">
                  <a:extLst>
                    <a:ext uri="{9D8B030D-6E8A-4147-A177-3AD203B41FA5}">
                      <a16:colId xmlns:a16="http://schemas.microsoft.com/office/drawing/2014/main" val="1575428305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f</a:t>
                      </a:r>
                      <a:r>
                        <a:rPr lang="sv-SE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sw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Δ</a:t>
                      </a:r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pp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</a:t>
                      </a:r>
                      <a:r>
                        <a:rPr lang="sv-SE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eff</a:t>
                      </a:r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level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per leg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008542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50 kHz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573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191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62236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50 kHz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382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127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794702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 kHz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287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96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52596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 kHz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191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64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277866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07BE765-1432-C3F3-7281-B724FA7C7B11}"/>
              </a:ext>
            </a:extLst>
          </p:cNvPr>
          <p:cNvSpPr txBox="1"/>
          <p:nvPr/>
        </p:nvSpPr>
        <p:spPr>
          <a:xfrm>
            <a:off x="5381625" y="2333625"/>
            <a:ext cx="3524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One 75 V level = three legs on one bus (SVPWM, M = 1.15, cos φ = 0.9)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Balanced three-phase: no 2f ripple; capacitor RMS current 85 A per level (≈ 28 A per leg)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Per switching period the bank supplies the difference between the cell current and its average: ΔV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pp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ΔQ / C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10" name="decision">
            <a:extLst>
              <a:ext uri="{FF2B5EF4-FFF2-40B4-BE49-F238E27FC236}">
                <a16:creationId xmlns:a16="http://schemas.microsoft.com/office/drawing/2014/main" id="{9F7F4C5E-4521-749D-079C-051ECD378293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Δ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pp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≤ 3 % (2.25 V) at 50 kHz ⇒ 127 µF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effective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per leg board ⇒ 20 × 22 µF 2220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47268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9034B-04E0-946A-9D95-77910BE2D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Capacitor selection: effective capacitance at 75 V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34D5F9-DCB6-0260-4B22-6FA08CB5D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BC7971-A472-F4B1-07BF-E8A4A1B42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17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A1BA9D9-0064-5B1D-C02D-02B11EB48C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8175935"/>
              </p:ext>
            </p:extLst>
          </p:nvPr>
        </p:nvGraphicFramePr>
        <p:xfrm>
          <a:off x="238125" y="952500"/>
          <a:ext cx="8667750" cy="1721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>
                  <a:extLst>
                    <a:ext uri="{9D8B030D-6E8A-4147-A177-3AD203B41FA5}">
                      <a16:colId xmlns:a16="http://schemas.microsoft.com/office/drawing/2014/main" val="32542768"/>
                    </a:ext>
                  </a:extLst>
                </a:gridCol>
                <a:gridCol w="666750">
                  <a:extLst>
                    <a:ext uri="{9D8B030D-6E8A-4147-A177-3AD203B41FA5}">
                      <a16:colId xmlns:a16="http://schemas.microsoft.com/office/drawing/2014/main" val="1883390743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1613362582"/>
                    </a:ext>
                  </a:extLst>
                </a:gridCol>
                <a:gridCol w="714375">
                  <a:extLst>
                    <a:ext uri="{9D8B030D-6E8A-4147-A177-3AD203B41FA5}">
                      <a16:colId xmlns:a16="http://schemas.microsoft.com/office/drawing/2014/main" val="3515264408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556019299"/>
                    </a:ext>
                  </a:extLst>
                </a:gridCol>
                <a:gridCol w="1666875">
                  <a:extLst>
                    <a:ext uri="{9D8B030D-6E8A-4147-A177-3AD203B41FA5}">
                      <a16:colId xmlns:a16="http://schemas.microsoft.com/office/drawing/2014/main" val="2457535435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Part (100 V X7S)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Size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b-NO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</a:t>
                      </a:r>
                      <a:r>
                        <a:rPr lang="nb-NO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nom</a:t>
                      </a:r>
                      <a:r>
                        <a:rPr lang="nb-NO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→ C at 75 V</a:t>
                      </a:r>
                      <a:endParaRPr lang="sv-SE" sz="128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Kept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ESR 50 kHz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Parts / leg (3 %)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36640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Murata GRM32EC72A106KE05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1210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10.0 → 1.50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621789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C3225X7S2A475K200AB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1210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4.7 → 0.92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12.3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523751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C4532X7S2A475K230KB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1812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4.7 → 1.10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23 %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13.1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526203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C5750X7S2A106K230KB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10.0 → 2.45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24 %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6.4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996353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C5750X7S2A156M250KB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2220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15.0 → 3.80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25 %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3.6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080762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C5750X7S2A226M280KB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22.0 → 6.35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29 %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2.8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636197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A32F641-4365-5847-C6D3-B1A8E7891F92}"/>
              </a:ext>
            </a:extLst>
          </p:cNvPr>
          <p:cNvSpPr txBox="1"/>
          <p:nvPr/>
        </p:nvSpPr>
        <p:spPr>
          <a:xfrm>
            <a:off x="238125" y="28575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DC bias at 75 V from the manufacturers' characteristic data (TDK, Murata): 100 V class-II MLCCs keep only 15–29 %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TDK C5750X7S2A226M280KB (2220, 22 µF): highest C per part and per area (0.22 µF/mm²), 2.8 mΩ, 4.5 A for +10 K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Checks: 2.8 mm height under the heatsink spreader; 2220 flex cracking ⇒ away from the board edge and holes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8" name="decision">
            <a:extLst>
              <a:ext uri="{FF2B5EF4-FFF2-40B4-BE49-F238E27FC236}">
                <a16:creationId xmlns:a16="http://schemas.microsoft.com/office/drawing/2014/main" id="{B61FDC22-B1F2-B4AD-BBC0-B9A39AA63BFC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Bank: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20 × TDK C5750X7S2A226M280KB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per leg (2 rows), 127 µF effective, 1.4 A ripple per part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3723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8A866-2E26-2E74-8653-373E317C5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Bypass capacitors: how many and how large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5D19FB-CBB0-714E-95CD-A26C915AB6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13747F-DAFC-EDB5-4C6F-53FCCC079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0484C90-3FE8-4A34-3D5C-B47FCCE60C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191000" cy="3213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8B2FDEB-E0D5-3936-BB73-EA0C58C8D567}"/>
              </a:ext>
            </a:extLst>
          </p:cNvPr>
          <p:cNvSpPr txBox="1"/>
          <p:nvPr/>
        </p:nvSpPr>
        <p:spPr>
          <a:xfrm>
            <a:off x="4572000" y="952500"/>
            <a:ext cx="43338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Bypass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(1 µF 0805 at the drains) supplies the edge,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bank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the f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ripple; per cell 81 A: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di/dt → number: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Cu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+ ESL/n ≈ 0.5 nH ⇒ n ≥ 4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Hand-over to the bank through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: C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bp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≥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(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Δ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I/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Δ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V)² </a:t>
            </a:r>
            <a:r>
              <a:rPr lang="sv-SE" sz="1280" b="1">
                <a:solidFill>
                  <a:srgbClr val="C84632"/>
                </a:solidFill>
                <a:latin typeface="Arial" panose="020B0604020202020204" pitchFamily="34" charset="0"/>
              </a:rPr>
              <a:t>sets the value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from Q3D: (pending)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0805 1 µF 100 V X7S keeps only </a:t>
            </a:r>
            <a:r>
              <a:rPr lang="sv-SE" sz="1280" b="1">
                <a:solidFill>
                  <a:srgbClr val="1E1E1E"/>
                </a:solidFill>
                <a:latin typeface="Arial" panose="020B0604020202020204" pitchFamily="34" charset="0"/>
              </a:rPr>
              <a:t>18 %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at 75 V (TDK data): 0.18 µF per part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dip for 6 / 10 per cell: (pending bank model)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A91B12BA-46F7-0168-DCBA-AA9BF1A05C48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10 × 1 µF 0805 per cell: 6 on top at the drains + 4 on the bottom, identical in all cells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04604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E24C2-BBC8-1C5E-4371-81289968D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DC link of one leg board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9004F5-4251-DC5B-F577-20959B6AE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AD8565-E6A0-149E-A41B-2A8D37A02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19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D892708-E7E4-18C8-DFC9-996C9ED998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8250201"/>
              </p:ext>
            </p:extLst>
          </p:nvPr>
        </p:nvGraphicFramePr>
        <p:xfrm>
          <a:off x="238125" y="952500"/>
          <a:ext cx="4953000" cy="928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2625">
                  <a:extLst>
                    <a:ext uri="{9D8B030D-6E8A-4147-A177-3AD203B41FA5}">
                      <a16:colId xmlns:a16="http://schemas.microsoft.com/office/drawing/2014/main" val="3987240609"/>
                    </a:ext>
                  </a:extLst>
                </a:gridCol>
                <a:gridCol w="1381125">
                  <a:extLst>
                    <a:ext uri="{9D8B030D-6E8A-4147-A177-3AD203B41FA5}">
                      <a16:colId xmlns:a16="http://schemas.microsoft.com/office/drawing/2014/main" val="243415084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890686969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1770505426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Per leg 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Parts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Nominal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At 75 V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3620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Bypass, 10 per cell × 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40 × 1 µF 0805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465612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Bank, rows A (8) + B (12)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 × 22 µF 2220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440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127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145209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Total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480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134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82517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F822AF8-5930-45D6-0928-8701F8A2C687}"/>
              </a:ext>
            </a:extLst>
          </p:cNvPr>
          <p:cNvSpPr txBox="1"/>
          <p:nvPr/>
        </p:nvSpPr>
        <p:spPr>
          <a:xfrm>
            <a:off x="238125" y="238125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Ripple at 50 kHz with the three legs of a level sharing: </a:t>
            </a:r>
            <a:r>
              <a:rPr lang="en-US" sz="1470" b="1">
                <a:solidFill>
                  <a:srgbClr val="1E1E1E"/>
                </a:solidFill>
                <a:latin typeface="Arial" panose="020B0604020202020204" pitchFamily="34" charset="0"/>
              </a:rPr>
              <a:t>2.1 V (2.9 %)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Leg alone (DPT, back-to-back test without the busbar): ≈ 2× higher, acceptable for the lab tests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Bank ≥ 10 × bypass (127 vs 7 µF eff.): fulfilled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Row A leaves the board centre free for the DC terminal pins</a:t>
            </a:r>
            <a:endParaRPr lang="sv-SE" sz="147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3881BC0-AF39-6623-4310-06586DFDC5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1625" y="952500"/>
            <a:ext cx="3524250" cy="2476688"/>
          </a:xfrm>
          <a:prstGeom prst="rect">
            <a:avLst/>
          </a:prstGeom>
        </p:spPr>
      </p:pic>
      <p:sp>
        <p:nvSpPr>
          <p:cNvPr id="10" name="decision">
            <a:extLst>
              <a:ext uri="{FF2B5EF4-FFF2-40B4-BE49-F238E27FC236}">
                <a16:creationId xmlns:a16="http://schemas.microsoft.com/office/drawing/2014/main" id="{BD02D773-AB08-26CE-D483-A15FAF9F14A9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Same DC link on the DPT and load-test boards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33217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95072-A8AF-6592-33B9-672DFCF2A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Can one driver drive all four?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BF9D62-7CA1-25CA-84A2-8F515CAB9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5E466C-DE48-BDBF-A206-966F4AE86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E137E3A-B05D-7755-FFEE-634EB11845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425" y="952500"/>
            <a:ext cx="7423150" cy="23336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6241CB7-629F-5EA8-9350-76E18748AD09}"/>
              </a:ext>
            </a:extLst>
          </p:cNvPr>
          <p:cNvSpPr txBox="1"/>
          <p:nvPr/>
        </p:nvSpPr>
        <p:spPr>
          <a:xfrm>
            <a:off x="238125" y="33337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Why E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per transistor rises with n per channel: the n gate capacitances (n × 3.6 nF C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iss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) charge through one driver output (4 A source, 0.85 Ω) and a longer shared gate trace ⇒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rises n× slower ⇒ lower di/dt and dv/dt at turn-on ⇒ longer V–I overlap: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+16 / +31 / +60 %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E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for 3 / 4 / 6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(b) Extra gate-loop inductance of the longer tree raises the gate bump; (a) peak sink current 12–14 A for 4–6 devices exceeds the 8 A rating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(c) One channel per device is symmetric but needs 4 channels and supplies per switch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5791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CF48A3-FB0D-967D-720B-325E50235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Driver arrangement for 1 … 4 EPC2361 per switch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40B8C3-8748-E43A-1DF4-9A6B796FC9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29B1C8-04AC-9932-CE68-0ABABE6C5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21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679943B-F14D-35FB-A1BA-152233F95C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334000" cy="293136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33E3B3A-F756-0D73-77C5-77A9C027A808}"/>
              </a:ext>
            </a:extLst>
          </p:cNvPr>
          <p:cNvSpPr txBox="1"/>
          <p:nvPr/>
        </p:nvSpPr>
        <p:spPr>
          <a:xfrm>
            <a:off x="5715000" y="952500"/>
            <a:ext cx="31908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One dual-channel driver (HS + LS) between two cells: both gate loops equal and with their own Kelvin return (design value ≈ 1.7 nH; extracted on the routed board: step 11)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n = 3 breaks the symmetry (pair + single)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n = 4: two pairs, two drivers, one star per pair ⇒ the building block of two point-symmetric cells</a:t>
            </a:r>
            <a:endParaRPr lang="sv-SE" sz="147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96D8B246-CCB9-8655-E8CA-BFB5B95A11AA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2 × EPC2361 per driver channel; 4 per switch = two pairs = two drivers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68497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C36DC7-8612-C78B-DBC4-693FC130E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Gate driver selection: why the 2EDF7275K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1ABC89-0F64-0A40-48F5-9FA32C75F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E0F974-BA2F-8D20-6C0D-E42B863E3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22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07650F9-7DE4-0910-52EB-BB00C400D3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1530324"/>
              </p:ext>
            </p:extLst>
          </p:nvPr>
        </p:nvGraphicFramePr>
        <p:xfrm>
          <a:off x="238125" y="952500"/>
          <a:ext cx="8667750" cy="1806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>
                  <a:extLst>
                    <a:ext uri="{9D8B030D-6E8A-4147-A177-3AD203B41FA5}">
                      <a16:colId xmlns:a16="http://schemas.microsoft.com/office/drawing/2014/main" val="3057804789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404894255"/>
                    </a:ext>
                  </a:extLst>
                </a:gridCol>
                <a:gridCol w="2143125">
                  <a:extLst>
                    <a:ext uri="{9D8B030D-6E8A-4147-A177-3AD203B41FA5}">
                      <a16:colId xmlns:a16="http://schemas.microsoft.com/office/drawing/2014/main" val="2461193195"/>
                    </a:ext>
                  </a:extLst>
                </a:gridCol>
                <a:gridCol w="2143125">
                  <a:extLst>
                    <a:ext uri="{9D8B030D-6E8A-4147-A177-3AD203B41FA5}">
                      <a16:colId xmlns:a16="http://schemas.microsoft.com/office/drawing/2014/main" val="3377155668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2EDF7275K (Infineon)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1EDF5673K (Infineon)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LMG1210 (TI)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429959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Channels / isolation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2, each output isolated (functional)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1, isolated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half bridge, bootstrap HS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25037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Peak source / sink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 A / 8 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0.85 Ω / 0.35 Ω output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1.5 A / 3 A class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794356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Prop. delay / mismatch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37 ns / ≤ 3 ns ch-ch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37 ns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≤ 21 ns / ≤ 3.4 ns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305827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CMTI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150 V/ns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&gt; 200 V/ns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de-D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300 V/ns (HS dv/dt)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036648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Off-voltage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external (Zener split)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built-in negative (RC)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 V only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725481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ICs per switch (4 EPC2361)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(one per pair)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(weak for a pair)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648840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4E2B00A-E54B-4C80-4CC1-B78C8C8585E4}"/>
              </a:ext>
            </a:extLst>
          </p:cNvPr>
          <p:cNvSpPr txBox="1"/>
          <p:nvPr/>
        </p:nvSpPr>
        <p:spPr>
          <a:xfrm>
            <a:off x="238125" y="30956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A pair needs ≈ 2 × 3.6 nF: 4 A / 8 A drives it at the single-device speed; the 1.5 A / 3 A half-bridge driver does not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Two isolated outputs in one 5 × 5 mm LGA: HS and LS of the same pair from one IC, ≤ 3 ns channel mismatch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Floating outputs: each output gets its own supply split (5.1 V Zener on, −1.9 V off) for the bump margin (next)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E9241E-A4FA-D6C8-BE92-E607D1B36B77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Data: Infineon / TI product pages and datasheets (2EDF7275K, 1EDF5673K, LMG1210); check the current revision.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29454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81979-1F4E-03FF-60C3-5A9A61A04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Why symmetry: what sets the current sharing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DD5A08-721A-15FA-AABF-39BE64B5C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B60391-4397-C970-2D0E-2D1F91276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022279B-0FB2-CFAF-E4F0-F17016F476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688" y="952500"/>
            <a:ext cx="6890624" cy="166687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21A09650-E976-CF57-34F8-89A5CCE6B7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3841240"/>
              </p:ext>
            </p:extLst>
          </p:nvPr>
        </p:nvGraphicFramePr>
        <p:xfrm>
          <a:off x="238125" y="2667000"/>
          <a:ext cx="8667750" cy="169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1936710047"/>
                    </a:ext>
                  </a:extLst>
                </a:gridCol>
                <a:gridCol w="1238250">
                  <a:extLst>
                    <a:ext uri="{9D8B030D-6E8A-4147-A177-3AD203B41FA5}">
                      <a16:colId xmlns:a16="http://schemas.microsoft.com/office/drawing/2014/main" val="4216605487"/>
                    </a:ext>
                  </a:extLst>
                </a:gridCol>
                <a:gridCol w="2000250">
                  <a:extLst>
                    <a:ext uri="{9D8B030D-6E8A-4147-A177-3AD203B41FA5}">
                      <a16:colId xmlns:a16="http://schemas.microsoft.com/office/drawing/2014/main" val="178002146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3764585529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Asymmetry (LTspice, two EPC2361 in parallel)</a:t>
                      </a:r>
                      <a:endParaRPr lang="sv-SE" sz="110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Case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+E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off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imbalance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Layout measure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820997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Power-loop inductance mismatch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+0.3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symmetric cells, identical via sets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296196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Gate-loop inductance mismatch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2 vs 8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19 %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(E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4 : 1)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star network, equal gate traces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796168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Common-source inductance, no Kelvin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symmetric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0 %, both +47 % E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Kelvin pad per device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325320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Common-source mismatch, no Kelvin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+0.2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29 %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Kelvin return per device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266919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Threshold spread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+0.3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same driver channel per pair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689790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Static (conduction): copper / R</a:t>
                      </a:r>
                      <a:r>
                        <a:rPr lang="en-US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DS(on)</a:t>
                      </a:r>
                      <a:endParaRPr lang="sv-SE" sz="1100" baseline="-250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self-limiting (positive TC)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symmetric copper (Q3D, step 11)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243721"/>
                  </a:ext>
                </a:extLst>
              </a:tr>
            </a:tbl>
          </a:graphicData>
        </a:graphic>
      </p:graphicFrame>
      <p:sp>
        <p:nvSpPr>
          <p:cNvPr id="9" name="decision">
            <a:extLst>
              <a:ext uri="{FF2B5EF4-FFF2-40B4-BE49-F238E27FC236}">
                <a16:creationId xmlns:a16="http://schemas.microsoft.com/office/drawing/2014/main" id="{938E03C1-AB70-5F7E-6BDD-5189B8806973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Star gate network with Kelvin returns, one driver channel per pair, point-symmetric cells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21491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3DFD9-DB05-CB90-4BC9-987B577A8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Gate bump and negative off-voltage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DC4C47-6EB4-98FC-22EA-960FC076E5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9F291F-262D-0D02-0674-259856E9D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24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0414AB6-FB8D-A93A-1455-B0472930E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334000" cy="13573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4EF6AB1-5A33-CCED-5DC0-3AA6BCABF5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2857500"/>
            <a:ext cx="5334000" cy="183293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35EED82-41D9-396A-A657-92DEA2A855CA}"/>
              </a:ext>
            </a:extLst>
          </p:cNvPr>
          <p:cNvSpPr txBox="1"/>
          <p:nvPr/>
        </p:nvSpPr>
        <p:spPr>
          <a:xfrm>
            <a:off x="5715000" y="952500"/>
            <a:ext cx="31908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Bump: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when the other device of the leg turns on, the off device sees dv/dt; 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GD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·dv/dt flows through its gate loop and lifts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by ≈ Q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GD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/C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≈ 1.06 V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Independent of load current and bus voltage (top b, c); close to the 0.8 V minimum threshold ⇒ shoot-through risk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Negative off-voltage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shifts the whole bump down: −1 V ⇒ peak ≈ 0 V; extra 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divides it further (bottom)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Cost: reverse conduction in the dead time at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SD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+ |V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|; off-state ringing must stay above the −4 V limit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Implemented: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GS,off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= −(V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− 5.1 V) = </a:t>
            </a: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−1.9 V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(V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= 7 V), set with the extracted gate loop (step 11): bump ≤ −0.5 V, ringing ≈ −3.4 V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29512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BA1D8-3A13-CD42-6741-C4277E9B4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Building block: two point-symmetric cells, one centre driver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D8F9E-2A06-2D3B-0AD9-6FC6D8BE78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2882E5-4016-68E0-9FB7-B1E32DAD6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25B11F4-A90F-6D15-D181-62B310010D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143500" cy="321468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8A05075-0755-45FD-4D7C-F14E017F18D7}"/>
              </a:ext>
            </a:extLst>
          </p:cNvPr>
          <p:cNvSpPr txBox="1"/>
          <p:nvPr/>
        </p:nvSpPr>
        <p:spPr>
          <a:xfrm>
            <a:off x="5524500" y="952500"/>
            <a:ext cx="33813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Q3D model of the final board (cell band): copper per net, vias, FET pads and bypass terminals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Two cells rotated by 180° about the driver (point symmetry): identical gate loops and Kelvin returns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One 2EDF7275K channel drives a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pair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(star network, 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0.5 Ω per transistor)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Each cell keeps its own commutation loop (step 11: 0.41 nH load board, 0.65 nH DPT board)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D8B5B88E-2BF9-712C-C702-2044B0433C7A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2 × EPC2361 per channel;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4 per switch = two pairs, two drivers, one leg board</a:t>
            </a:r>
            <a:endParaRPr lang="sv-SE" sz="1380" b="1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29918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E6AF1-018D-785B-4638-06EDACE96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Rev B: four cells per switch, two drivers, one leg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3A3F4E-45EB-5EA3-B915-7BF75FC54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B207F2-5339-412C-F8D8-76780447C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26</a:t>
            </a:fld>
            <a:endParaRPr lang="sv-SE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C76527B-131F-D98E-E7CB-BDB576FE9DB1}"/>
              </a:ext>
            </a:extLst>
          </p:cNvPr>
          <p:cNvSpPr/>
          <p:nvPr/>
        </p:nvSpPr>
        <p:spPr>
          <a:xfrm>
            <a:off x="333375" y="1143000"/>
            <a:ext cx="4476750" cy="3143250"/>
          </a:xfrm>
          <a:prstGeom prst="rect">
            <a:avLst/>
          </a:prstGeom>
          <a:solidFill>
            <a:srgbClr val="FFFFFF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5400" rIns="25400" rtlCol="0" anchor="ctr"/>
          <a:lstStyle/>
          <a:p>
            <a:pPr algn="ctr"/>
            <a:endParaRPr lang="sv-SE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8433AB-C36C-D3C1-B8EA-DD923BB8F3CD}"/>
              </a:ext>
            </a:extLst>
          </p:cNvPr>
          <p:cNvSpPr txBox="1"/>
          <p:nvPr/>
        </p:nvSpPr>
        <p:spPr>
          <a:xfrm>
            <a:off x="381000" y="1171575"/>
            <a:ext cx="2857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1010" b="1">
                <a:solidFill>
                  <a:srgbClr val="787878"/>
                </a:solidFill>
                <a:latin typeface="Arial" panose="020B0604020202020204" pitchFamily="34" charset="0"/>
              </a:rPr>
              <a:t>Rev B leg board, 89.5 × 85.2 mm, 4 layers</a:t>
            </a:r>
            <a:endParaRPr lang="sv-SE" sz="1010" b="1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15A4165-3872-3DC3-C12F-E5843BB3D7A1}"/>
              </a:ext>
            </a:extLst>
          </p:cNvPr>
          <p:cNvSpPr/>
          <p:nvPr/>
        </p:nvSpPr>
        <p:spPr>
          <a:xfrm>
            <a:off x="2095500" y="1352550"/>
            <a:ext cx="428625" cy="209550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920" b="1">
                <a:solidFill>
                  <a:srgbClr val="1E1E1E"/>
                </a:solidFill>
                <a:latin typeface="Arial" panose="020B0604020202020204" pitchFamily="34" charset="0"/>
              </a:rPr>
              <a:t>DC+</a:t>
            </a:r>
            <a:endParaRPr lang="sv-SE" sz="920" b="1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D8DADA8-81B8-09B1-955B-DEC293CD1978}"/>
              </a:ext>
            </a:extLst>
          </p:cNvPr>
          <p:cNvSpPr/>
          <p:nvPr/>
        </p:nvSpPr>
        <p:spPr>
          <a:xfrm>
            <a:off x="2619375" y="1352550"/>
            <a:ext cx="428625" cy="2095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920" b="1">
                <a:solidFill>
                  <a:srgbClr val="1E1E1E"/>
                </a:solidFill>
                <a:latin typeface="Arial" panose="020B0604020202020204" pitchFamily="34" charset="0"/>
              </a:rPr>
              <a:t>DC−</a:t>
            </a:r>
            <a:endParaRPr lang="sv-SE" sz="920" b="1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37468EE-C8ED-E04C-C56E-CA2F75616B39}"/>
              </a:ext>
            </a:extLst>
          </p:cNvPr>
          <p:cNvCxnSpPr/>
          <p:nvPr/>
        </p:nvCxnSpPr>
        <p:spPr>
          <a:xfrm>
            <a:off x="523875" y="1638300"/>
            <a:ext cx="4095750" cy="0"/>
          </a:xfrm>
          <a:prstGeom prst="line">
            <a:avLst/>
          </a:prstGeom>
          <a:ln w="508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234D200-81A7-D490-4C11-213A2F14B3DC}"/>
              </a:ext>
            </a:extLst>
          </p:cNvPr>
          <p:cNvCxnSpPr/>
          <p:nvPr/>
        </p:nvCxnSpPr>
        <p:spPr>
          <a:xfrm>
            <a:off x="523875" y="1752600"/>
            <a:ext cx="4095750" cy="0"/>
          </a:xfrm>
          <a:prstGeom prst="line">
            <a:avLst/>
          </a:prstGeom>
          <a:ln w="508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DCAAFA6-BA0B-0CA6-ADE6-7DF1C6916DD6}"/>
              </a:ext>
            </a:extLst>
          </p:cNvPr>
          <p:cNvCxnSpPr/>
          <p:nvPr/>
        </p:nvCxnSpPr>
        <p:spPr>
          <a:xfrm>
            <a:off x="2305050" y="1562100"/>
            <a:ext cx="0" cy="762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68344CC-2133-193F-28FB-B4C411A1DFB5}"/>
              </a:ext>
            </a:extLst>
          </p:cNvPr>
          <p:cNvCxnSpPr/>
          <p:nvPr/>
        </p:nvCxnSpPr>
        <p:spPr>
          <a:xfrm>
            <a:off x="2828925" y="1562100"/>
            <a:ext cx="0" cy="19050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8B1FC5B-915B-F7B2-62DC-FB1727C7AF19}"/>
              </a:ext>
            </a:extLst>
          </p:cNvPr>
          <p:cNvSpPr txBox="1"/>
          <p:nvPr/>
        </p:nvSpPr>
        <p:spPr>
          <a:xfrm>
            <a:off x="523875" y="1428750"/>
            <a:ext cx="15240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830">
                <a:solidFill>
                  <a:srgbClr val="787878"/>
                </a:solidFill>
                <a:latin typeface="Arial" panose="020B0604020202020204" pitchFamily="34" charset="0"/>
              </a:rPr>
              <a:t>laminated terminal row + one bank</a:t>
            </a:r>
            <a:endParaRPr lang="sv-SE" sz="8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AAC618D-6F79-A641-8D4A-9137E4DB17C9}"/>
              </a:ext>
            </a:extLst>
          </p:cNvPr>
          <p:cNvSpPr/>
          <p:nvPr/>
        </p:nvSpPr>
        <p:spPr>
          <a:xfrm>
            <a:off x="61912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1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5A3DE04-1A7D-73AC-A1C2-FC88E5F57608}"/>
              </a:ext>
            </a:extLst>
          </p:cNvPr>
          <p:cNvSpPr/>
          <p:nvPr/>
        </p:nvSpPr>
        <p:spPr>
          <a:xfrm>
            <a:off x="66675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5EEE3C4-F9B6-BDA0-D40C-B34332B1A1D3}"/>
              </a:ext>
            </a:extLst>
          </p:cNvPr>
          <p:cNvCxnSpPr/>
          <p:nvPr/>
        </p:nvCxnSpPr>
        <p:spPr>
          <a:xfrm>
            <a:off x="90487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F923CDD-0B5D-1618-5F4D-E321A0B81A6A}"/>
              </a:ext>
            </a:extLst>
          </p:cNvPr>
          <p:cNvCxnSpPr/>
          <p:nvPr/>
        </p:nvCxnSpPr>
        <p:spPr>
          <a:xfrm>
            <a:off x="119062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DD2CE18-591A-037E-6413-3FFFC1025A14}"/>
              </a:ext>
            </a:extLst>
          </p:cNvPr>
          <p:cNvCxnSpPr/>
          <p:nvPr/>
        </p:nvCxnSpPr>
        <p:spPr>
          <a:xfrm>
            <a:off x="104775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0AFBAAC-3581-4890-DF8A-9B10D847573B}"/>
              </a:ext>
            </a:extLst>
          </p:cNvPr>
          <p:cNvCxnSpPr/>
          <p:nvPr/>
        </p:nvCxnSpPr>
        <p:spPr>
          <a:xfrm>
            <a:off x="104775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B634481-C2DE-9A7F-DE26-BD892F9C0D97}"/>
              </a:ext>
            </a:extLst>
          </p:cNvPr>
          <p:cNvSpPr/>
          <p:nvPr/>
        </p:nvSpPr>
        <p:spPr>
          <a:xfrm>
            <a:off x="166687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2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57AD8CB-6B27-DEA6-3FDC-C6BD7B40C470}"/>
              </a:ext>
            </a:extLst>
          </p:cNvPr>
          <p:cNvSpPr/>
          <p:nvPr/>
        </p:nvSpPr>
        <p:spPr>
          <a:xfrm>
            <a:off x="171450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4A120C9-465A-9301-E1F5-B2A2992D7D2B}"/>
              </a:ext>
            </a:extLst>
          </p:cNvPr>
          <p:cNvCxnSpPr/>
          <p:nvPr/>
        </p:nvCxnSpPr>
        <p:spPr>
          <a:xfrm>
            <a:off x="195262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CC01F4C-78BD-C90B-EB80-76D73193F791}"/>
              </a:ext>
            </a:extLst>
          </p:cNvPr>
          <p:cNvCxnSpPr/>
          <p:nvPr/>
        </p:nvCxnSpPr>
        <p:spPr>
          <a:xfrm>
            <a:off x="223837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465D9A2-C8F3-1AB9-DAE4-EE4357B51DDB}"/>
              </a:ext>
            </a:extLst>
          </p:cNvPr>
          <p:cNvCxnSpPr/>
          <p:nvPr/>
        </p:nvCxnSpPr>
        <p:spPr>
          <a:xfrm>
            <a:off x="209550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48F9668-4655-04A2-6DC8-15CD88458096}"/>
              </a:ext>
            </a:extLst>
          </p:cNvPr>
          <p:cNvCxnSpPr/>
          <p:nvPr/>
        </p:nvCxnSpPr>
        <p:spPr>
          <a:xfrm>
            <a:off x="209550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3009A780-A371-1270-3F8E-4BAF6FE57BE8}"/>
              </a:ext>
            </a:extLst>
          </p:cNvPr>
          <p:cNvSpPr/>
          <p:nvPr/>
        </p:nvSpPr>
        <p:spPr>
          <a:xfrm>
            <a:off x="271462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3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C1B5C97C-3493-D92B-4AF3-BAB9A327F92C}"/>
              </a:ext>
            </a:extLst>
          </p:cNvPr>
          <p:cNvSpPr/>
          <p:nvPr/>
        </p:nvSpPr>
        <p:spPr>
          <a:xfrm>
            <a:off x="276225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95B6702-CD2D-804A-AF30-A58C4B83CE82}"/>
              </a:ext>
            </a:extLst>
          </p:cNvPr>
          <p:cNvCxnSpPr/>
          <p:nvPr/>
        </p:nvCxnSpPr>
        <p:spPr>
          <a:xfrm>
            <a:off x="300037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1990459-4D57-5965-3369-373934E60511}"/>
              </a:ext>
            </a:extLst>
          </p:cNvPr>
          <p:cNvCxnSpPr/>
          <p:nvPr/>
        </p:nvCxnSpPr>
        <p:spPr>
          <a:xfrm>
            <a:off x="328612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E8F7896-3148-5690-D2A9-AB2590BCF4C5}"/>
              </a:ext>
            </a:extLst>
          </p:cNvPr>
          <p:cNvCxnSpPr/>
          <p:nvPr/>
        </p:nvCxnSpPr>
        <p:spPr>
          <a:xfrm>
            <a:off x="314325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E8748A2-9551-5DEC-B0DB-B44D923CDA19}"/>
              </a:ext>
            </a:extLst>
          </p:cNvPr>
          <p:cNvCxnSpPr/>
          <p:nvPr/>
        </p:nvCxnSpPr>
        <p:spPr>
          <a:xfrm>
            <a:off x="314325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64F05229-3A3F-0ED4-6141-5F3DBFFD7DF5}"/>
              </a:ext>
            </a:extLst>
          </p:cNvPr>
          <p:cNvSpPr/>
          <p:nvPr/>
        </p:nvSpPr>
        <p:spPr>
          <a:xfrm>
            <a:off x="376237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4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D521531B-79BA-68F5-D9AD-02C3472FBD90}"/>
              </a:ext>
            </a:extLst>
          </p:cNvPr>
          <p:cNvSpPr/>
          <p:nvPr/>
        </p:nvSpPr>
        <p:spPr>
          <a:xfrm>
            <a:off x="381000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1B83146-BBFA-0736-104C-C29DFCBDBBF5}"/>
              </a:ext>
            </a:extLst>
          </p:cNvPr>
          <p:cNvCxnSpPr/>
          <p:nvPr/>
        </p:nvCxnSpPr>
        <p:spPr>
          <a:xfrm>
            <a:off x="404812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A348545-8699-D860-4490-99A2B48B5EDF}"/>
              </a:ext>
            </a:extLst>
          </p:cNvPr>
          <p:cNvCxnSpPr/>
          <p:nvPr/>
        </p:nvCxnSpPr>
        <p:spPr>
          <a:xfrm>
            <a:off x="433387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590BC4D-33E3-1DED-DEA5-FBEB669486C5}"/>
              </a:ext>
            </a:extLst>
          </p:cNvPr>
          <p:cNvCxnSpPr/>
          <p:nvPr/>
        </p:nvCxnSpPr>
        <p:spPr>
          <a:xfrm>
            <a:off x="419100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16F6EC5A-8AA0-9415-19D2-A1281EA797EC}"/>
              </a:ext>
            </a:extLst>
          </p:cNvPr>
          <p:cNvCxnSpPr/>
          <p:nvPr/>
        </p:nvCxnSpPr>
        <p:spPr>
          <a:xfrm>
            <a:off x="419100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5FD7E699-AD5E-E8A5-A424-9D37348DE5C1}"/>
              </a:ext>
            </a:extLst>
          </p:cNvPr>
          <p:cNvSpPr/>
          <p:nvPr/>
        </p:nvSpPr>
        <p:spPr>
          <a:xfrm>
            <a:off x="1000125" y="2981325"/>
            <a:ext cx="1047750" cy="266700"/>
          </a:xfrm>
          <a:prstGeom prst="roundRect">
            <a:avLst/>
          </a:prstGeom>
          <a:solidFill>
            <a:srgbClr val="E6F3E9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2EDF7275K #1</a:t>
            </a:r>
          </a:p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HS + LS, star</a:t>
            </a:r>
            <a:endParaRPr lang="sv-SE" sz="8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BFABCFBD-5CAA-933B-B7D6-4CA5B3656641}"/>
              </a:ext>
            </a:extLst>
          </p:cNvPr>
          <p:cNvSpPr/>
          <p:nvPr/>
        </p:nvSpPr>
        <p:spPr>
          <a:xfrm>
            <a:off x="3095625" y="2981325"/>
            <a:ext cx="1047750" cy="266700"/>
          </a:xfrm>
          <a:prstGeom prst="roundRect">
            <a:avLst/>
          </a:prstGeom>
          <a:solidFill>
            <a:srgbClr val="E6F3E9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2EDF7275K #2</a:t>
            </a:r>
          </a:p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HS + LS, star</a:t>
            </a:r>
            <a:endParaRPr lang="sv-SE" sz="8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65A0311C-E160-4B9D-D2E6-F7C93442EB4C}"/>
              </a:ext>
            </a:extLst>
          </p:cNvPr>
          <p:cNvCxnSpPr/>
          <p:nvPr/>
        </p:nvCxnSpPr>
        <p:spPr>
          <a:xfrm>
            <a:off x="809625" y="3476625"/>
            <a:ext cx="3381375" cy="0"/>
          </a:xfrm>
          <a:prstGeom prst="line">
            <a:avLst/>
          </a:prstGeom>
          <a:ln w="635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116C2E8-E90D-125B-54D7-EA0393B9F4BF}"/>
              </a:ext>
            </a:extLst>
          </p:cNvPr>
          <p:cNvSpPr txBox="1"/>
          <p:nvPr/>
        </p:nvSpPr>
        <p:spPr>
          <a:xfrm>
            <a:off x="714375" y="3524250"/>
            <a:ext cx="1714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920" b="1">
                <a:solidFill>
                  <a:srgbClr val="1E1E1E"/>
                </a:solidFill>
                <a:latin typeface="Arial" panose="020B0604020202020204" pitchFamily="34" charset="0"/>
              </a:rPr>
              <a:t>AC joined in copper (all layers)</a:t>
            </a:r>
            <a:endParaRPr lang="sv-SE" sz="92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21FD3B2-49EE-3805-1BB9-BA3471264B54}"/>
              </a:ext>
            </a:extLst>
          </p:cNvPr>
          <p:cNvCxnSpPr/>
          <p:nvPr/>
        </p:nvCxnSpPr>
        <p:spPr>
          <a:xfrm>
            <a:off x="2571750" y="3476625"/>
            <a:ext cx="0" cy="428625"/>
          </a:xfrm>
          <a:prstGeom prst="line">
            <a:avLst/>
          </a:prstGeom>
          <a:ln w="63500">
            <a:solidFill>
              <a:srgbClr val="1E1E1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E72AB26E-A957-E2CD-0708-87046FD4DA8B}"/>
              </a:ext>
            </a:extLst>
          </p:cNvPr>
          <p:cNvSpPr txBox="1"/>
          <p:nvPr/>
        </p:nvSpPr>
        <p:spPr>
          <a:xfrm>
            <a:off x="2667000" y="3714750"/>
            <a:ext cx="2095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ONE M6 AC bolt pad → Cu bar</a:t>
            </a:r>
          </a:p>
          <a:p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→ LEM HO 250-S → load</a:t>
            </a:r>
            <a:endParaRPr lang="sv-SE" sz="92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FCB48D4-CD54-BF21-C88C-2521FCEB6C90}"/>
              </a:ext>
            </a:extLst>
          </p:cNvPr>
          <p:cNvSpPr txBox="1"/>
          <p:nvPr/>
        </p:nvSpPr>
        <p:spPr>
          <a:xfrm>
            <a:off x="5000625" y="952500"/>
            <a:ext cx="3810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One leg: 4 EPC2361 per switch,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two 2EDF7275K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, each drives one pair (HS + LS channel) through a star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Why one driver per pair: the driver sits between its two cells ⇒ short, identical gate loops; one HS + one LS isolated supply, split per driver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One DC+ / DC− pair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at the centre: laminated terminal row (L1/L3 +, L2/L4 −) feeds one continuous bank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One AC output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: all four switch nodes joined, one M6 bolt pad, Cu bar through the HO 250-S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Built as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two boards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from the same generator: DPT (UFCS shunt per cell) and load test (no shunt)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88537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B4ADD-6D42-23B0-560F-4B9B97A0E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Two boards from one design: double-pulse test and load test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945436-0A11-3114-4DAC-4100B5C29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2AD252-C643-A974-E7C9-EBE9C2FB0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27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E53707F-606E-5D54-7540-F8C73C768F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2152189"/>
              </p:ext>
            </p:extLst>
          </p:nvPr>
        </p:nvGraphicFramePr>
        <p:xfrm>
          <a:off x="238125" y="952500"/>
          <a:ext cx="8572500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250">
                  <a:extLst>
                    <a:ext uri="{9D8B030D-6E8A-4147-A177-3AD203B41FA5}">
                      <a16:colId xmlns:a16="http://schemas.microsoft.com/office/drawing/2014/main" val="1310764751"/>
                    </a:ext>
                  </a:extLst>
                </a:gridCol>
                <a:gridCol w="3476625">
                  <a:extLst>
                    <a:ext uri="{9D8B030D-6E8A-4147-A177-3AD203B41FA5}">
                      <a16:colId xmlns:a16="http://schemas.microsoft.com/office/drawing/2014/main" val="920362028"/>
                    </a:ext>
                  </a:extLst>
                </a:gridCol>
                <a:gridCol w="3476625">
                  <a:extLst>
                    <a:ext uri="{9D8B030D-6E8A-4147-A177-3AD203B41FA5}">
                      <a16:colId xmlns:a16="http://schemas.microsoft.com/office/drawing/2014/main" val="3679672514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DPT board (spb-bb-revb-dpt)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Load-test board (spb-bb-revb-load)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542107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Purpose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switching energies, per-cell current, overshoot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back-to-back / three-phase load test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340562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LS source path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PMK UFCS-R001 per cell (1 mΩ, 120 pH)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source stripes via-in-pad (blind L1–L2) to DC−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585513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UFCS land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IN land shortened to 1.2 mm: blade 1.45 mm from the source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857276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Cooling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none (pulsed test)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Fischer LAM 4 K 50 12 on an Al spreader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151577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per cell (Q3D)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 nH (mean)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0.41 nH (mean)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69906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v̂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at 30 A/ns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94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87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384604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Parts / DRC / schematic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200 footprints, DRC 0 / 0 / 0, schematic = PCB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200 footprints, DRC 0 / 0 / 0, schematic = PCB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2201159"/>
                  </a:ext>
                </a:extLst>
              </a:tr>
            </a:tbl>
          </a:graphicData>
        </a:graphic>
      </p:graphicFrame>
      <p:sp>
        <p:nvSpPr>
          <p:cNvPr id="7" name="decision">
            <a:extLst>
              <a:ext uri="{FF2B5EF4-FFF2-40B4-BE49-F238E27FC236}">
                <a16:creationId xmlns:a16="http://schemas.microsoft.com/office/drawing/2014/main" id="{14CA850F-99E4-AB45-20DC-1F6C7D193C4B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Same copper, drivers, bank and terminals; only the LS source path and the cooling differ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63947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E7B6B-9CF8-C711-CC26-EFAF7CBC4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DPT board layout (UFCS shunts, no heatsink)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DE46C-8EFD-6355-52C4-E6EBC2629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B9131E-6183-DB1F-0B0D-03F86514C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D54D78C-9355-A7AE-B19E-AC71C06C01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386" y="952500"/>
            <a:ext cx="3896478" cy="37147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2ACD313-6C15-8A35-4FAD-B8EAC6F9C1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4375" y="952500"/>
            <a:ext cx="2190750" cy="20914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1E47B7D-A406-053B-B60D-A44BC3E357F4}"/>
              </a:ext>
            </a:extLst>
          </p:cNvPr>
          <p:cNvSpPr txBox="1"/>
          <p:nvPr/>
        </p:nvSpPr>
        <p:spPr>
          <a:xfrm>
            <a:off x="6810375" y="952500"/>
            <a:ext cx="2000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89.5 × 85.2 mm, 4 layers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UFCS-R001 per cell, IN land 1.2 mm (blade at the source edge), return vias in the SHLD pad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No heatsink, no spreader holes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DRC 0 / 0 / 0, schematic = PCB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37012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703E4-F6C9-A82C-1E91-3F60A6271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Load-test board layout (no shunt, heatsink)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0801CC-781B-B96E-CE68-80F15824FD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A4A87D-5E0C-4F61-8617-42AFB99F6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29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FEF763-3F68-EC9B-872A-612E67FAC8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386" y="952500"/>
            <a:ext cx="3896478" cy="37147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438F65F-6D7B-A331-65ED-64C78D4A33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4375" y="952500"/>
            <a:ext cx="2190750" cy="20914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835B869-1A7A-14C0-777F-3364E9779B91}"/>
              </a:ext>
            </a:extLst>
          </p:cNvPr>
          <p:cNvSpPr txBox="1"/>
          <p:nvPr/>
        </p:nvSpPr>
        <p:spPr>
          <a:xfrm>
            <a:off x="6810375" y="952500"/>
            <a:ext cx="2000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89.5 × 85.2 mm, 4 layers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LS source stripes: 3 blind L1–L2 vias each (filled, capped) into the DC− plane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LAM 4 K 50 12 over the cells, 3 spreader holes (H5–H7)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DRC 0 / 0 / 0, schematic = PCB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61743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B816C8-34A7-4F19-5DDC-C43029119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The two boards in 3D (KiCad models)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4FDC85-B551-ECCF-E3C2-3F1082887E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1F916A-8044-8515-C598-2158501A1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C03D1B-C8EA-49F0-6551-9C3D3102DF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371" y="952500"/>
            <a:ext cx="4066134" cy="2857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013ECD9-8FC1-26C0-1A3E-E965572ECD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7048" y="952500"/>
            <a:ext cx="2968528" cy="28575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51EC334-EC1A-6BC1-4552-2D7EAB369AD4}"/>
              </a:ext>
            </a:extLst>
          </p:cNvPr>
          <p:cNvSpPr txBox="1"/>
          <p:nvPr/>
        </p:nvSpPr>
        <p:spPr>
          <a:xfrm>
            <a:off x="238125" y="3810000"/>
            <a:ext cx="4238625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010">
                <a:solidFill>
                  <a:srgbClr val="787878"/>
                </a:solidFill>
                <a:latin typeface="Arial" panose="020B0604020202020204" pitchFamily="34" charset="0"/>
              </a:rPr>
              <a:t>DPT board: UFCS shunts over the LS FETs, M6 AC bolt + Cu bar</a:t>
            </a:r>
            <a:endParaRPr lang="sv-SE" sz="101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160DD3-5E31-A84A-B069-89B1B215D449}"/>
              </a:ext>
            </a:extLst>
          </p:cNvPr>
          <p:cNvSpPr txBox="1"/>
          <p:nvPr/>
        </p:nvSpPr>
        <p:spPr>
          <a:xfrm>
            <a:off x="4572000" y="3810000"/>
            <a:ext cx="4238625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010">
                <a:solidFill>
                  <a:srgbClr val="787878"/>
                </a:solidFill>
                <a:latin typeface="Arial" panose="020B0604020202020204" pitchFamily="34" charset="0"/>
              </a:rPr>
              <a:t>Load-test board: LAM 4 K 50 12 + Al spreader</a:t>
            </a:r>
            <a:endParaRPr lang="sv-SE" sz="101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F9FF01-3FDB-5B82-6A1A-DCBDBE47FDE6}"/>
              </a:ext>
            </a:extLst>
          </p:cNvPr>
          <p:cNvSpPr txBox="1"/>
          <p:nvPr/>
        </p:nvSpPr>
        <p:spPr>
          <a:xfrm>
            <a:off x="238125" y="40481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Every footprint has a 3D model (KiCad library + box models: EPC2361, 2EDF7275K, UFCS, TDK 2220, WE-CNSW, M6 bolt + bar, heatsink); board STEPs in hardware/spb-bb-revb-*/fab; rendered with pyvista (scripts/render_3d.py)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A250DE-DA86-57DA-933F-014940D86F0B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Box models are dimensioned envelopes, not manufacturer CAD (UFCS SMA jack position approximate).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250833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78810-EB5E-98A3-FCE8-0D5C80277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Top view with the silkscreen: DPT and load-test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463786-5AA6-9F73-C7AD-689C01B01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752BA-43E4-8B67-B46F-B15EF19A1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31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4689175-835C-F57D-934C-0F81EEBBDA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467" y="952500"/>
            <a:ext cx="3499566" cy="3429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3938773-12B2-AFF7-BE83-F397EC1EF7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9214" y="952500"/>
            <a:ext cx="3327071" cy="3429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308F811-811B-4CB2-BDC6-CDA4A78A6E8F}"/>
              </a:ext>
            </a:extLst>
          </p:cNvPr>
          <p:cNvSpPr txBox="1"/>
          <p:nvPr/>
        </p:nvSpPr>
        <p:spPr>
          <a:xfrm>
            <a:off x="238125" y="4429125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DPT board (UFCS shunts over the LS FETs)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59CD33-6822-4DFC-BDBA-22772349B261}"/>
              </a:ext>
            </a:extLst>
          </p:cNvPr>
          <p:cNvSpPr txBox="1"/>
          <p:nvPr/>
        </p:nvSpPr>
        <p:spPr>
          <a:xfrm>
            <a:off x="4619625" y="4429125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load-test board (heatsink removed for the view)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0406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B3168-9639-6768-17F3-3350F13D5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DPT board: the eight EPC2361 from above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09755E-7E37-B661-A820-6D9CDE50A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7E3F45-519C-D586-90DC-18EE742D8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32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A2C9D4D-F451-3CDD-DA6F-056635D374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823" y="952500"/>
            <a:ext cx="8164354" cy="23336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696366D-1207-7B7B-4432-DF75210869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3381375"/>
            <a:ext cx="2524125" cy="138826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EB36232-EFC1-E292-DE03-D08B542D0F53}"/>
              </a:ext>
            </a:extLst>
          </p:cNvPr>
          <p:cNvSpPr txBox="1"/>
          <p:nvPr/>
        </p:nvSpPr>
        <p:spPr>
          <a:xfrm>
            <a:off x="2905125" y="3381375"/>
            <a:ext cx="6000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Heatsink and UFCS shunt bodies hidden; straight top view (parallel projection)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Land pattern = EPC2361 recommended copper drawing (datasheet p. 12): copper 0.3 mm beyond the 3.0 × 5.0 mm body on the long sides, 0.4 mm at the ends, solder-mask defined; pin-1 circle at the gate pad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Cells of a driver block face each other with R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between them (left: block 1, Q1–Q4)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02797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FCF58-BB0C-1B14-18D1-DA110E2CF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Bottom side and the load board without heatsink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6960D0-20E7-BF88-0AB3-BF538CB22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0EBB1D-0E11-5DE3-9824-E2427DDC3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AA4E399-EB79-E82E-A2EF-9D33D34EE6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759" y="952500"/>
            <a:ext cx="3855357" cy="2857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4631D32-3C66-B098-DA60-075436FC04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8246" y="952500"/>
            <a:ext cx="4066134" cy="28575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1757485-CB3A-7E42-2DE6-26FE1D5E8F0D}"/>
              </a:ext>
            </a:extLst>
          </p:cNvPr>
          <p:cNvSpPr txBox="1"/>
          <p:nvPr/>
        </p:nvSpPr>
        <p:spPr>
          <a:xfrm>
            <a:off x="238125" y="3905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Bottom: REDCUBE M4 DC terminals (the leg stands on the busbar), 4 bypass 0805 per cell, U.FL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and MMCX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ports, M6 AC nut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Top without heatsink: 20 × 2220 bank in two rows, 8 EPC2361 under the spreader pedestals, 2 drivers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278300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30994-5C8F-DD4D-17D3-5ED9C2BE5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Two driver pairs on one switch node: driver skew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A42D1B-E66B-4D84-AAE2-EE3586366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CF9B26-55C8-E646-24C0-438C5C4875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34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B01BEB-4DE9-98AF-2427-30BA167FC3BC}"/>
              </a:ext>
            </a:extLst>
          </p:cNvPr>
          <p:cNvSpPr txBox="1"/>
          <p:nvPr/>
        </p:nvSpPr>
        <p:spPr>
          <a:xfrm>
            <a:off x="238125" y="95250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The four switch nodes are joined in copper;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x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inductance between the switch nodes of the two driver pairs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If driver 2 switches Δt later, pair 1 takes ΔI ≈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·Δt /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x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until pair 2 follows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Q3D (fast lx model, final boards):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x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6.77 nH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(HS on) /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5.44 nH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(LS on) on the load board, 4.91 / 2.68 nH on the DPT board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⇒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≈ 14 A per ns of skew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(load board)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E1EA949-72D2-B298-B35F-2AFCCDB66D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3947160"/>
              </p:ext>
            </p:extLst>
          </p:nvPr>
        </p:nvGraphicFramePr>
        <p:xfrm>
          <a:off x="5429251" y="1047750"/>
          <a:ext cx="3381375" cy="18862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8250">
                  <a:extLst>
                    <a:ext uri="{9D8B030D-6E8A-4147-A177-3AD203B41FA5}">
                      <a16:colId xmlns:a16="http://schemas.microsoft.com/office/drawing/2014/main" val="2168622247"/>
                    </a:ext>
                  </a:extLst>
                </a:gridCol>
                <a:gridCol w="2143125">
                  <a:extLst>
                    <a:ext uri="{9D8B030D-6E8A-4147-A177-3AD203B41FA5}">
                      <a16:colId xmlns:a16="http://schemas.microsoft.com/office/drawing/2014/main" val="3888048087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Measure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Rev B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784797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 PWM source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C2000 drives both headers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860662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Matched traces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same PCB, same CMC per block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622146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Driver skew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2EDF7275K part-to-part: check datasheet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611023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Verify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U.FL V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of both blocks, UFCS per cell (DPT)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061166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30A05C2E-2231-E553-F615-872B8F5D09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9250" y="2905125"/>
            <a:ext cx="3476625" cy="2172891"/>
          </a:xfrm>
          <a:prstGeom prst="rect">
            <a:avLst/>
          </a:prstGeom>
        </p:spPr>
      </p:pic>
      <p:sp>
        <p:nvSpPr>
          <p:cNvPr id="10" name="decision">
            <a:extLst>
              <a:ext uri="{FF2B5EF4-FFF2-40B4-BE49-F238E27FC236}">
                <a16:creationId xmlns:a16="http://schemas.microsoft.com/office/drawing/2014/main" id="{68D85101-BE20-0ED0-2F27-EDA31BDF4F97}"/>
              </a:ext>
            </a:extLst>
          </p:cNvPr>
          <p:cNvSpPr/>
          <p:nvPr/>
        </p:nvSpPr>
        <p:spPr>
          <a:xfrm>
            <a:off x="238125" y="4400550"/>
            <a:ext cx="50482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Measure the per-cell current (UFCS) with both drivers switching; delay trim in the C2000 if needed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44131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CE0C96-868C-5D6E-CCBD-92CACBA81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Gate supplies: two isolated supplies, Zener split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FBA8B6-A6E0-C1D6-CD47-ADFAE1E66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154F8C-F67A-E1DB-F23C-D67B4CCBD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94A6E62-155B-BE15-A906-CEDBF15967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334000" cy="157615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43D84B6-0419-559A-8B11-1EF3A1159A54}"/>
              </a:ext>
            </a:extLst>
          </p:cNvPr>
          <p:cNvSpPr txBox="1"/>
          <p:nvPr/>
        </p:nvSpPr>
        <p:spPr>
          <a:xfrm>
            <a:off x="5381625" y="952500"/>
            <a:ext cx="3429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One external isolated supply for all HS drivers and one for all LS drivers; each splits per driver through a WE-CNSW common-mode choke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5.1 V Zener VDD–S and 150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bias resistor S–VEE (Karakaya, METU 2020, Fig. 4.1): 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GS,on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+5.1 V, 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GS,off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−(V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− 5.1 V)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7.0 V ⇒ −1.9 V off (bump mitigation, inside the −4 V limit); island decoupling 1 µF + 4.7 µF per rail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6839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00C0A-3A81-C119-0969-998400B96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Driver block: input filters, turn-on / turn-off paths, star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8F58EF-DB99-C765-B50B-A90F9CEC3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C02692-4BF5-3E33-DEEA-50442ACB2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36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F9A416-72D6-877B-6F57-ED0960E464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105" y="952500"/>
            <a:ext cx="7531789" cy="24765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F25A3AF-D1D6-479F-36DC-09C13F01C61B}"/>
              </a:ext>
            </a:extLst>
          </p:cNvPr>
          <p:cNvSpPr txBox="1"/>
          <p:nvPr/>
        </p:nvSpPr>
        <p:spPr>
          <a:xfrm>
            <a:off x="238125" y="3524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Per block a 2×5 control header (each signal next to its return); common-mode chokes on 12 V, DIS and NTC, none on PWM_H / PWM_L (no extra delay or LC ringing with the 100 pF input filter; removed after the PWM review)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47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/ 100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pF input filters, 10 k pull-downs, 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1.5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(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shared by the pair), 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0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+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Schottky, 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0.5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per transistor ⇒ 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g,on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3.5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per device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331648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F7032-539D-F190-9188-DC6F8635F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Measurement and control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1864B7-2C97-1C17-4717-A2057AC4BA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BF7E23-AB7F-92DC-D95D-4F02F7ECDF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37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196156F-EF02-BDFB-0994-1B4CCA1516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181541"/>
              </p:ext>
            </p:extLst>
          </p:nvPr>
        </p:nvGraphicFramePr>
        <p:xfrm>
          <a:off x="238125" y="952500"/>
          <a:ext cx="4953000" cy="2585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>
                  <a:extLst>
                    <a:ext uri="{9D8B030D-6E8A-4147-A177-3AD203B41FA5}">
                      <a16:colId xmlns:a16="http://schemas.microsoft.com/office/drawing/2014/main" val="1073629431"/>
                    </a:ext>
                  </a:extLst>
                </a:gridCol>
                <a:gridCol w="2000250">
                  <a:extLst>
                    <a:ext uri="{9D8B030D-6E8A-4147-A177-3AD203B41FA5}">
                      <a16:colId xmlns:a16="http://schemas.microsoft.com/office/drawing/2014/main" val="512931306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2553061936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How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Where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89489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current (DPT)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PMK UFCS-R001, 1 mΩ, 120 pH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LS source of each cell, DPT board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483021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Phase current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LEM HO 250-S, ±625 A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Cu bar on the M6 AC pad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287380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(all 8)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spring-tip pads; U.FL links DNP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bottom, at each FET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693198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LS (DPT)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MMCX SW / LSRC, isolated probe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bottom, at each LS FET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503571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HS (DPT)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spring-tip pads DC+ / SW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top, at each HS FET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905743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Bring-up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 loop test points + SMD pads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fab/testpoints.csv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86296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Board temperature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NTC 10 k at the driver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control side (GNDI)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061336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0D04CDD1-297B-1ABF-E033-ABFF1F1FDD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3667125"/>
            <a:ext cx="5143500" cy="7008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84DB3DF-3618-7C5C-CEBE-B1C6ABCD1617}"/>
              </a:ext>
            </a:extLst>
          </p:cNvPr>
          <p:cNvSpPr txBox="1"/>
          <p:nvPr/>
        </p:nvSpPr>
        <p:spPr>
          <a:xfrm>
            <a:off x="5429250" y="2381250"/>
            <a:ext cx="33813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Back-to-back load test, closed loop on a TI TMS320F28379D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Load board: no shunt ⇒ phase current from the HO 250-S, cell sharing from the DPT board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No short-circuit protection on the boards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82553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8881E-DE37-C162-DF5E-D947EEEC0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Power stage schematics (generated, identical to the PCBs)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E94E53-B944-581D-2016-E8998612E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4E5349-F3E6-298B-4FB3-094F1446B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77B546-0C1B-934F-EDBA-B173C661A4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8477" y="952500"/>
            <a:ext cx="4507046" cy="16668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CFE35CA-CB26-AF0B-BA9D-7FC5AE073B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8477" y="2714625"/>
            <a:ext cx="4507046" cy="16668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C271C9A-73FE-47A5-18AD-6C6DAD667CB5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Top: DPT board (UFCS in each LS source). Bottom: load-test board (LS source to DC−). make_kicad_sch_revb.py; check_sch_vs_pcb.py: 0 problems on both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338177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6238E3-B7F8-0206-EF7C-7F321E46C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Three legs on one 75 V bus: what the bus must do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EA69D1-DE1A-860B-B89B-608F892AB8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CBE22E-64F4-96EE-79CB-EB7F79935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39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489DDB-70C1-4C3C-B190-14507B967FAC}"/>
              </a:ext>
            </a:extLst>
          </p:cNvPr>
          <p:cNvSpPr txBox="1"/>
          <p:nvPr/>
        </p:nvSpPr>
        <p:spPr>
          <a:xfrm>
            <a:off x="238125" y="95250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The switching edge closes on each board (bypass + bank); the bus only carries the f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ripple between the leg banks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Sharing needs 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ω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≪ 1/(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ω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C): at 50 kHz and ≈ 127 µF eff. per leg L ≪ 80 nH ⇒ </a:t>
            </a:r>
            <a:r>
              <a:rPr lang="sv-SE" sz="1280" b="1">
                <a:solidFill>
                  <a:srgbClr val="1E1E1E"/>
                </a:solidFill>
                <a:latin typeface="Arial" panose="020B0604020202020204" pitchFamily="34" charset="0"/>
              </a:rPr>
              <a:t>target ≤ 5 nH leg to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DC: 250 A stack current enters the level, 83 A per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All-MLCC banks joined by nH copper form a high-Q resonator ⇒ damping footprints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80B11D6-4CBB-695A-3FAA-536C7D64B3EE}"/>
              </a:ext>
            </a:extLst>
          </p:cNvPr>
          <p:cNvSpPr/>
          <p:nvPr/>
        </p:nvSpPr>
        <p:spPr>
          <a:xfrm>
            <a:off x="5429250" y="1143000"/>
            <a:ext cx="1000125" cy="8572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leg a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(phase a)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load board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C3A0611-768E-CA95-2553-B6D1CA171CF5}"/>
              </a:ext>
            </a:extLst>
          </p:cNvPr>
          <p:cNvCxnSpPr/>
          <p:nvPr/>
        </p:nvCxnSpPr>
        <p:spPr>
          <a:xfrm>
            <a:off x="5715000" y="2000250"/>
            <a:ext cx="0" cy="381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E391022-F9DF-AB5F-F0AF-041362DD2C2C}"/>
              </a:ext>
            </a:extLst>
          </p:cNvPr>
          <p:cNvCxnSpPr/>
          <p:nvPr/>
        </p:nvCxnSpPr>
        <p:spPr>
          <a:xfrm>
            <a:off x="6143625" y="2000250"/>
            <a:ext cx="0" cy="47625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AB6CD31-B380-4622-8C23-392A572C13DF}"/>
              </a:ext>
            </a:extLst>
          </p:cNvPr>
          <p:cNvSpPr/>
          <p:nvPr/>
        </p:nvSpPr>
        <p:spPr>
          <a:xfrm>
            <a:off x="6572250" y="1143000"/>
            <a:ext cx="1000125" cy="8572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leg b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(phase b)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load board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9045DF4-67E2-4A30-954A-F932A7E31BD6}"/>
              </a:ext>
            </a:extLst>
          </p:cNvPr>
          <p:cNvCxnSpPr/>
          <p:nvPr/>
        </p:nvCxnSpPr>
        <p:spPr>
          <a:xfrm>
            <a:off x="6858000" y="2000250"/>
            <a:ext cx="0" cy="381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63BD7CF-07B4-06AE-A20D-5BBEA23176AD}"/>
              </a:ext>
            </a:extLst>
          </p:cNvPr>
          <p:cNvCxnSpPr/>
          <p:nvPr/>
        </p:nvCxnSpPr>
        <p:spPr>
          <a:xfrm>
            <a:off x="7286625" y="2000250"/>
            <a:ext cx="0" cy="47625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2612796-BD6F-352A-3744-6A0C8F790E9E}"/>
              </a:ext>
            </a:extLst>
          </p:cNvPr>
          <p:cNvSpPr/>
          <p:nvPr/>
        </p:nvSpPr>
        <p:spPr>
          <a:xfrm>
            <a:off x="7715250" y="1143000"/>
            <a:ext cx="1000125" cy="8572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leg c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(phase c)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load board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AE0C8BE-FC7E-B4F9-17F1-4500293624BD}"/>
              </a:ext>
            </a:extLst>
          </p:cNvPr>
          <p:cNvCxnSpPr/>
          <p:nvPr/>
        </p:nvCxnSpPr>
        <p:spPr>
          <a:xfrm>
            <a:off x="8001000" y="2000250"/>
            <a:ext cx="0" cy="381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AED41DE-35FC-333E-B989-EB2F612C134C}"/>
              </a:ext>
            </a:extLst>
          </p:cNvPr>
          <p:cNvCxnSpPr/>
          <p:nvPr/>
        </p:nvCxnSpPr>
        <p:spPr>
          <a:xfrm>
            <a:off x="8429625" y="2000250"/>
            <a:ext cx="0" cy="47625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2EA0CAB-C59A-E626-F054-F118FF41AE33}"/>
              </a:ext>
            </a:extLst>
          </p:cNvPr>
          <p:cNvCxnSpPr/>
          <p:nvPr/>
        </p:nvCxnSpPr>
        <p:spPr>
          <a:xfrm>
            <a:off x="5381625" y="2381250"/>
            <a:ext cx="3381375" cy="0"/>
          </a:xfrm>
          <a:prstGeom prst="line">
            <a:avLst/>
          </a:prstGeom>
          <a:ln w="635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D2CD354-99CF-A7B2-4245-E5DD44F9BF34}"/>
              </a:ext>
            </a:extLst>
          </p:cNvPr>
          <p:cNvCxnSpPr/>
          <p:nvPr/>
        </p:nvCxnSpPr>
        <p:spPr>
          <a:xfrm>
            <a:off x="5381625" y="2476500"/>
            <a:ext cx="3381375" cy="0"/>
          </a:xfrm>
          <a:prstGeom prst="line">
            <a:avLst/>
          </a:prstGeom>
          <a:ln w="635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EF9703D-5F71-492A-258D-ACCE658291AB}"/>
              </a:ext>
            </a:extLst>
          </p:cNvPr>
          <p:cNvSpPr txBox="1"/>
          <p:nvPr/>
        </p:nvSpPr>
        <p:spPr>
          <a:xfrm>
            <a:off x="5429250" y="2552700"/>
            <a:ext cx="33337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920" b="1">
                <a:solidFill>
                  <a:srgbClr val="1E1E1E"/>
                </a:solidFill>
                <a:latin typeface="Arial" panose="020B0604020202020204" pitchFamily="34" charset="0"/>
              </a:rPr>
              <a:t>laminated PCB busbar (L1 + / L2 − / L3 + / L4 −)</a:t>
            </a:r>
            <a:endParaRPr lang="sv-SE" sz="92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7BBB87D-5F3C-9F87-4209-B897EC90183D}"/>
              </a:ext>
            </a:extLst>
          </p:cNvPr>
          <p:cNvCxnSpPr/>
          <p:nvPr/>
        </p:nvCxnSpPr>
        <p:spPr>
          <a:xfrm>
            <a:off x="6953250" y="2476500"/>
            <a:ext cx="0" cy="571500"/>
          </a:xfrm>
          <a:prstGeom prst="line">
            <a:avLst/>
          </a:prstGeom>
          <a:ln w="38100">
            <a:solidFill>
              <a:srgbClr val="1E1E1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0E5E402-6511-1E65-9622-6B20CB542AF0}"/>
              </a:ext>
            </a:extLst>
          </p:cNvPr>
          <p:cNvSpPr txBox="1"/>
          <p:nvPr/>
        </p:nvSpPr>
        <p:spPr>
          <a:xfrm>
            <a:off x="6000750" y="3095625"/>
            <a:ext cx="2095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920">
                <a:solidFill>
                  <a:srgbClr val="787878"/>
                </a:solidFill>
                <a:latin typeface="Arial" panose="020B0604020202020204" pitchFamily="34" charset="0"/>
              </a:rPr>
              <a:t>stack lugs at the centre leg</a:t>
            </a:r>
          </a:p>
          <a:p>
            <a:pPr algn="ctr"/>
            <a:r>
              <a:rPr lang="en-US" sz="920">
                <a:solidFill>
                  <a:srgbClr val="787878"/>
                </a:solidFill>
                <a:latin typeface="Arial" panose="020B0604020202020204" pitchFamily="34" charset="0"/>
              </a:rPr>
              <a:t>to the levels above / below</a:t>
            </a:r>
            <a:endParaRPr lang="sv-SE" sz="92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884750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2B6B1-1DD7-399A-F76D-95A97E156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PCB busbar: easy to manufacture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B36436-A4F4-EEE9-F8AD-8C85BE1A18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82D013-44E6-DBF2-3B33-499491502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DC0E928-A314-7145-C3B7-FD17720D26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3697" y="952500"/>
            <a:ext cx="3716606" cy="1333500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58DD243-186E-7F4A-184A-31BABA81D6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4669084"/>
              </p:ext>
            </p:extLst>
          </p:nvPr>
        </p:nvGraphicFramePr>
        <p:xfrm>
          <a:off x="238125" y="2428875"/>
          <a:ext cx="4095750" cy="203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7750">
                  <a:extLst>
                    <a:ext uri="{9D8B030D-6E8A-4147-A177-3AD203B41FA5}">
                      <a16:colId xmlns:a16="http://schemas.microsoft.com/office/drawing/2014/main" val="23252442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590933877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Item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60553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Size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298.5 × 45 mm, 1.6 mm, 4 layers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919677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Copper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oz all layers (JLCPCB JLC3313); 3–4 oz option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8626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Stack-up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L1 DC+ / ≤ 0.2 mm / L2 DC− / core / L3 DC+ / ≤ 0.2 mm / L4 DC−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244351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 contact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 × M4: one DC pair per leg (REDCUBE, 6.5 mm)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946123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Stack contact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× M6 lug pads at the centre leg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40281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Insulation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frame holes with 8 mm Cu keep-out (1200 V)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575674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707472F-EC7C-EBB6-401C-5E4D8581735D}"/>
              </a:ext>
            </a:extLst>
          </p:cNvPr>
          <p:cNvSpPr txBox="1"/>
          <p:nvPr/>
        </p:nvSpPr>
        <p:spPr>
          <a:xfrm>
            <a:off x="4572000" y="2428875"/>
            <a:ext cx="42386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Q3D (step 11): leg-to-leg loop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1.46 nH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at 1 MHz (a–b), DC busbar loss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(pending) W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Damping caps (100 V hybrid polymer) as DNP footprints; nylon standoffs at the leg corner holes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Generated: scripts/make_kicad_busbar.py, DRC clean; fab files in hardware/spb-busbar/fab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71833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49536-1A19-E624-69EA-141255981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One 75 V level in 3D: busbar + three load-test legs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43F246-661D-E30E-1CFB-46BCC0401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B384E5-543A-B8F6-A6CB-6B2CB1043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41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6BA8F45-8CE2-4471-544B-2FC12E9DEF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453" y="952500"/>
            <a:ext cx="5643093" cy="31432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EF16506-04E9-BA04-AD92-48529AD8D261}"/>
              </a:ext>
            </a:extLst>
          </p:cNvPr>
          <p:cNvSpPr txBox="1"/>
          <p:nvPr/>
        </p:nvSpPr>
        <p:spPr>
          <a:xfrm>
            <a:off x="238125" y="414337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Legs a, b, c (pitch 94.5 mm, 5 mm gaps) stand on their REDCUBE DC terminals (6.5 mm) on the PCB busbar; M4 × 8 screws from below; AC bar of each leg through its LEM HO 250-S; heatsinks stay inside each board outline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900325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CD651-A162-5102-A789-300E367C4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Level assembly: busbar side and DC connection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D4E070-9AF1-3257-19FC-39A6B6D68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ED65DB-1AC5-ADCF-10E7-959D8AC09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42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DFCB6A7-785D-419A-ED48-F30350851B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238625" cy="17293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693C28D-D579-2D2E-BF15-5642CE4BD0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952500"/>
            <a:ext cx="4238625" cy="180848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AF1AB06-2D4F-BE47-0FD6-0ECFDA82CA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438" y="3429000"/>
            <a:ext cx="3048000" cy="12382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ADB74DF-2AC8-9FBE-63F9-07D973987B36}"/>
              </a:ext>
            </a:extLst>
          </p:cNvPr>
          <p:cNvSpPr txBox="1"/>
          <p:nvPr/>
        </p:nvSpPr>
        <p:spPr>
          <a:xfrm>
            <a:off x="4572000" y="3429000"/>
            <a:ext cx="42386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Right: middle leg on the bus: REDCUBE + M4, nylon standoffs, M6 stack lugs, DNP damping caps, level header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Left bottom: side view (z stack): busbar top z = 0, leg bottom 6.5 mm, heatsink top 52.8 mm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693039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F9E25-64F0-2810-E84E-97FACACEF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Mechanics: heatsink length fixed by the leg pitch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5B3870-158D-6626-821D-AF2C3FDE0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52EBAF-E012-0F32-2C1C-500247066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43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D057AB-152E-E6E1-5B07-05EE47335511}"/>
              </a:ext>
            </a:extLst>
          </p:cNvPr>
          <p:cNvSpPr txBox="1"/>
          <p:nvPr/>
        </p:nvSpPr>
        <p:spPr>
          <a:xfrm>
            <a:off x="238125" y="95250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LAM 4 (100 mm) + fan = 110 mm: wider than the 89.5 mm board ⇒ with 5 mm gaps the heatsinks of neighbouring legs would overlap by ≈ 15 mm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LAM 4 K 50 12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(Farnell 4708974, 0.65 K/W): 50 mm tube + fan centred over the cells (x −35 … 25 mm), inside the board outline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Al spreader 89.5 × 12.8 × 3 mm carries the outer cells (x ±33 mm) to the tube; ≈ 18 W FET loss per leg ⇒ ≈ 12 K heatsink rise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Spreader underside 1.68 mm, top 4.68 mm: clears the 2.8 mm bank and all bypass parts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89A7AD7-E3A5-3199-7493-492FA139D6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9763" y="952500"/>
            <a:ext cx="2572724" cy="2476500"/>
          </a:xfrm>
          <a:prstGeom prst="rect">
            <a:avLst/>
          </a:prstGeom>
        </p:spPr>
      </p:pic>
      <p:sp>
        <p:nvSpPr>
          <p:cNvPr id="9" name="decision">
            <a:extLst>
              <a:ext uri="{FF2B5EF4-FFF2-40B4-BE49-F238E27FC236}">
                <a16:creationId xmlns:a16="http://schemas.microsoft.com/office/drawing/2014/main" id="{584DB6E7-F3FE-BCEA-3826-526A1CF834CE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Load board heatsink: LAM 4 K 50 12, centred; leg pitch stays 94.5 mm (busbar unchanged)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24347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ABA52-4B22-F3AE-56B8-F53F2709B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Full inverter: 16 levels on one 1200 V stack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3D35B9-11D8-1F47-B0A1-BD2F0B353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6CF1A-68B6-C556-4313-D4D0EA949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44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171B66-970D-F4DE-FC26-27F7471D6B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1236" y="952500"/>
            <a:ext cx="1091278" cy="381000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9929B00-C807-03D9-C867-57F1B59354BA}"/>
              </a:ext>
            </a:extLst>
          </p:cNvPr>
          <p:cNvSpPr txBox="1"/>
          <p:nvPr/>
        </p:nvSpPr>
        <p:spPr>
          <a:xfrm>
            <a:off x="3286125" y="952500"/>
            <a:ext cx="55245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16 identical levels (75 V each) stacked in z, pitch 72 mm ⇒ ≈ 1.15 m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DC+ lug of level k ↔ DC− lug of level k + 1 by a Cu braid (8 × 1.5 mm in the model); stack ends = 1200 V DC+ / DC−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Each level: 3 legs = one three-phase winding set; AC bars + HO 250-S per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Every level floats up to 1200 V above the frame: insulating standoffs with 8 mm Cu keep-out on the busbar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Assembly STEP: hardware/assembly/spb-level-assembly.step (1 level), spb-stack-assembly.step (16 levels), scripts/make_assembly_step.py (OpenCascade)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ADE40D-F23C-AAFF-DC26-474C9E61A967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Stack direction and frame are illustrative: the machine-side layout (winding terminals) sets the final arrangement.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036000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9A68E-75C5-7CB3-4C46-4C8A39BBC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Fast Q3D set on the final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290BC1-12A0-3762-EABF-28909CD29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D023D9-5608-54F7-1721-22D269924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45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2C8AB6B-CEFF-1946-F3B4-0D7945DA1F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8775940"/>
              </p:ext>
            </p:extLst>
          </p:nvPr>
        </p:nvGraphicFramePr>
        <p:xfrm>
          <a:off x="238125" y="952500"/>
          <a:ext cx="8572500" cy="236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1962195898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55722143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486808472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422571038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285234219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Model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Region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Solve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Gives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Run time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372403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(per board)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band y −4.6 … 20.6 mm, AC split per cell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AC 100 MHz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commutation loop per cell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787 / 30 min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06928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full board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whole board, all terminals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R only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current sharing, copper loss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26 / 22 min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147785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bank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terminals + bank + bypass (y −25 … 4.3 mm)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AC 1 MHz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 DC-link port, 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bypass → bank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 min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132229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lx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cells + AC columns + AC bus, no bank / terminals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AC 100 MHz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en-US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between the driver pairs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138 / 113 min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55280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busbar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PCB busbar, stitching vias every 2nd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+ AC 1 MHz, 2 %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leg-to-leg loop, DC distribution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43 min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295430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three-phase level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 × bank model + busbar matrices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network (MNA)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ripple sharing, |Z|, terminal currents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seconds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370195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4300F4E-6CC5-57D8-E0CB-3439DC46D4B3}"/>
              </a:ext>
            </a:extLst>
          </p:cNvPr>
          <p:cNvSpPr txBox="1"/>
          <p:nvPr/>
        </p:nvSpPr>
        <p:spPr>
          <a:xfrm>
            <a:off x="238125" y="37147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Instead of one large model (&gt; 3 h, not converged): small models, each solved only for what it is used for; DC is solved for R only (the DC-inductance solve alone ran &gt; 19 h on the first attempt)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Run: simulation/bb_q3d/run_bb_q3d_final.cmd (KTH licence) → final_post.py → reports/slides/data/final_numbers.json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Run times: DPT / load board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805418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3F648-90F8-A848-4C0A-192E92299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Q3D: commutation loop per cell, final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5264C1-3F54-1249-9A83-5641A035D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FBB91F-78C7-5B44-D555-C344B2C7C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46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07DC110-412E-DAB3-EB32-460C48D73D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87" y="952500"/>
            <a:ext cx="5135777" cy="271462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A2F244C-3579-79CC-3C06-3A5326F8AB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3064817"/>
              </p:ext>
            </p:extLst>
          </p:nvPr>
        </p:nvGraphicFramePr>
        <p:xfrm>
          <a:off x="5524501" y="952500"/>
          <a:ext cx="3286125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5875">
                  <a:extLst>
                    <a:ext uri="{9D8B030D-6E8A-4147-A177-3AD203B41FA5}">
                      <a16:colId xmlns:a16="http://schemas.microsoft.com/office/drawing/2014/main" val="2598387403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4294949050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2774902128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Loop per cell (nH)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DPT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load test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363824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1 / 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0.652 / 0.652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0.408 / 0.408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137521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3 / 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0.647 / 0.653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0.406 / 0.412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393079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mean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43944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v̂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at 30 A/ns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C84632"/>
                          </a:solidFill>
                          <a:latin typeface="Arial" panose="020B0604020202020204" pitchFamily="34" charset="0"/>
                        </a:rPr>
                        <a:t>94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87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531296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44FB2F2-C4BE-60A6-BE9E-E8E66438BA56}"/>
              </a:ext>
            </a:extLst>
          </p:cNvPr>
          <p:cNvSpPr txBox="1"/>
          <p:nvPr/>
        </p:nvSpPr>
        <p:spPr>
          <a:xfrm>
            <a:off x="5524500" y="2667000"/>
            <a:ext cx="32861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All four LS switching together; HS shorted, bypass as its ESL, UFCS 120 pH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Cells within 1 % (DPT) and 2 % (load): left/right symmetric by layout (power vias pruned in mirror pairs)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DPT ≤ 90 V: turn-on ≤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23 A/ns</a:t>
            </a:r>
            <a:endParaRPr lang="sv-SE" sz="128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854519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C7DAC-0A1D-AAE3-DA96-F513B0A79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Q3D: coupling between the cells and the gate loops (DPT board)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818F69-2F6E-50D4-ADA1-17F12A6149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B9176E-81E3-C9FD-5629-F96998631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47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09E3593-0FBA-6A3F-E959-269C7CF2E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6256749"/>
              </p:ext>
            </p:extLst>
          </p:nvPr>
        </p:nvGraphicFramePr>
        <p:xfrm>
          <a:off x="238125" y="952500"/>
          <a:ext cx="3810000" cy="838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625">
                  <a:extLst>
                    <a:ext uri="{9D8B030D-6E8A-4147-A177-3AD203B41FA5}">
                      <a16:colId xmlns:a16="http://schemas.microsoft.com/office/drawing/2014/main" val="1928478947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1260078666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2427560419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2009703142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 (pH), k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cell 2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cell 3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cell 4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796256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7, 0.011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1, 0.002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0, 0.001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26668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21, 0.034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1, 0.002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611571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7, 0.011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7568955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913E803-C615-9718-4D7E-A243C3721A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7598047"/>
              </p:ext>
            </p:extLst>
          </p:nvPr>
        </p:nvGraphicFramePr>
        <p:xfrm>
          <a:off x="238125" y="2381250"/>
          <a:ext cx="381000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250">
                  <a:extLst>
                    <a:ext uri="{9D8B030D-6E8A-4147-A177-3AD203B41FA5}">
                      <a16:colId xmlns:a16="http://schemas.microsoft.com/office/drawing/2014/main" val="338491324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3628905626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3241794617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Gate loop (nH, copper)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HS Q1 / Q2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LS Q3 / Q4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226402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 device driven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12.53 / 12.56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7.61 / 7.62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536787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pair driven (operation)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20.6 / 20.6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12.3 / 12.3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013276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branch / shared star-driver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4.5 / 8.0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2.9 / 4.7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035822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gate-power coupling, both cells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max 9 pH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max 0.26 V at 30 A/ns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042855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50A2A04A-6D31-D163-B1A4-9B4694ACCF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6125" y="952500"/>
            <a:ext cx="3937000" cy="295275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D74B7E2-9943-DC69-D3EE-D6F56F080121}"/>
              </a:ext>
            </a:extLst>
          </p:cNvPr>
          <p:cNvSpPr txBox="1"/>
          <p:nvPr/>
        </p:nvSpPr>
        <p:spPr>
          <a:xfrm>
            <a:off x="238125" y="3905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Cells: at most 21 pH between neighbours (k ≤ 0.034) ⇒ each cell commutates through its own loop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Gate: Kelvin return on the adjacent layer from every gate pad to the driver caps; Q1 = Q2, Q3 = Q4 within 0.3 %, block 2 an identical copy ⇒ all four paralleled devices equal; but ≈ 10× the 1.7 nH design value (driver behind the barrier)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071129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FA1D3-7778-65CC-FB4A-DEC9AA43A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Gate drive from the extracted gate network (SPICE, DPT board, 75 V, 322 A)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608994-A887-5CED-4662-CF14E8341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A07878-7A23-2F19-22C4-DE8086F97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48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52F3B32-F690-C664-E8F8-A01C99925D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4847112"/>
              </p:ext>
            </p:extLst>
          </p:nvPr>
        </p:nvGraphicFramePr>
        <p:xfrm>
          <a:off x="238125" y="952500"/>
          <a:ext cx="8667750" cy="873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1250">
                  <a:extLst>
                    <a:ext uri="{9D8B030D-6E8A-4147-A177-3AD203B41FA5}">
                      <a16:colId xmlns:a16="http://schemas.microsoft.com/office/drawing/2014/main" val="324314481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108903671"/>
                    </a:ext>
                  </a:extLst>
                </a:gridCol>
                <a:gridCol w="571500">
                  <a:extLst>
                    <a:ext uri="{9D8B030D-6E8A-4147-A177-3AD203B41FA5}">
                      <a16:colId xmlns:a16="http://schemas.microsoft.com/office/drawing/2014/main" val="1552886743"/>
                    </a:ext>
                  </a:extLst>
                </a:gridCol>
                <a:gridCol w="904875">
                  <a:extLst>
                    <a:ext uri="{9D8B030D-6E8A-4147-A177-3AD203B41FA5}">
                      <a16:colId xmlns:a16="http://schemas.microsoft.com/office/drawing/2014/main" val="2136692596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469290636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544845048"/>
                    </a:ext>
                  </a:extLst>
                </a:gridCol>
                <a:gridCol w="1666875">
                  <a:extLst>
                    <a:ext uri="{9D8B030D-6E8A-4147-A177-3AD203B41FA5}">
                      <a16:colId xmlns:a16="http://schemas.microsoft.com/office/drawing/2014/main" val="2505453200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Case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g,on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off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v̂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HS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/ E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off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(4 cells)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di/dt on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bump, held-off gate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713955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lumped 1.7 nH gate, R</a:t>
                      </a:r>
                      <a:r>
                        <a:rPr lang="en-US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1.5 Ω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3.5 Ω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−1.9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89.8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136 / 17 µJ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31 A/ns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-1.04 … -1.00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09122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extracted, R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1.0 </a:t>
                      </a:r>
                      <a:r>
                        <a:rPr lang="el-G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2.5 Ω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−1.9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105.3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97 / 20 µJ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49 A/ns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-0.72 … -0.46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573728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0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extracted, RON 1.5 Ω (board)</a:t>
                      </a:r>
                      <a:endParaRPr lang="sv-SE" sz="1100" b="1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3.5 Ω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−1.9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92.9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125 / 20 µJ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36 A/ns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-0.76 … -0.50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461010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58D7573-BEFF-0261-FBBA-C6432A469B87}"/>
              </a:ext>
            </a:extLst>
          </p:cNvPr>
          <p:cNvSpPr txBox="1"/>
          <p:nvPr/>
        </p:nvSpPr>
        <p:spPr>
          <a:xfrm>
            <a:off x="238125" y="242887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Extracted gate network: Q3D copper + 0.4 nH per 0603 resistor body + 1 nH D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; UFCS 120 pH as its own inductor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The larger gate loop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speeds up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the turn-on ⇒ HS overshoot ≈ 75 V + 0.65 nH × di/dt: R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1.0 Ω gives 105 V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−1.9 V off: bump of the held-off gate ≤ −0.5 V (≥ 1.3 V below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th,min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0.8 V); with 0 V off it was +1.2 … +1.4 V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Off-state ringing ≈ −3.4 V against the −4 V limit (EPC2361) ⇒ no larger negative bias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Turn-on of the four cells within 0.2 %; turn-off current inner vs outer cells ±1.5 % (power side)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8" name="decision">
            <a:extLst>
              <a:ext uri="{FF2B5EF4-FFF2-40B4-BE49-F238E27FC236}">
                <a16:creationId xmlns:a16="http://schemas.microsoft.com/office/drawing/2014/main" id="{2D6268FC-059E-3B1B-6248-07CE6F713D76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DPT: 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1.5 Ω (R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g,on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3.5 Ω), V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7 V (−1.9 / +5.1 V); next revision: driver stage next to each pair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620743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DF955-995E-DB34-7B12-806513989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 model of the cell band (fast loop model)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A888D0-1658-42D2-A0B6-7C1C9AD70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B94D0A-3F1F-84DB-940A-A1B92E02B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49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48B48D-C079-B3FF-C629-1CDD70A0D7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286250" cy="26789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B9F8764-13CE-764D-9B51-657D6F26BD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9625" y="952500"/>
            <a:ext cx="4286250" cy="267890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5B1D32-C57B-7C90-1D7C-F0FA585EC80E}"/>
              </a:ext>
            </a:extLst>
          </p:cNvPr>
          <p:cNvSpPr txBox="1"/>
          <p:nvPr/>
        </p:nvSpPr>
        <p:spPr>
          <a:xfrm>
            <a:off x="238125" y="3810000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DPT board: LS source (green) to the UFCS land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8BCE31-D7DD-49C2-C992-8B01A52E72E3}"/>
              </a:ext>
            </a:extLst>
          </p:cNvPr>
          <p:cNvSpPr txBox="1"/>
          <p:nvPr/>
        </p:nvSpPr>
        <p:spPr>
          <a:xfrm>
            <a:off x="4619625" y="3810000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load-test board: LS source straight to DC−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06EAB1-8C8E-83CA-292E-92EDC4009CE7}"/>
              </a:ext>
            </a:extLst>
          </p:cNvPr>
          <p:cNvSpPr txBox="1"/>
          <p:nvPr/>
        </p:nvSpPr>
        <p:spPr>
          <a:xfrm>
            <a:off x="238125" y="40957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Geometry exported from the routed KiCad boards (revb_export.py): copper per net and layer with clearance holes, vias with their layer span (blind L1–L2 on the load board), FET and bypass terminal pads; z stretched 4×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957545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1DF27-F409-E139-BABC-DA6CF4AAC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Q3D: static current sharing and copper loss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4875F3-0F6A-72E0-99B0-A2D7D323A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CDF70C-9239-0EF7-94B8-1261021F5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50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ADC3946-3D91-889C-2F5F-E41603788A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9252392"/>
              </p:ext>
            </p:extLst>
          </p:nvPr>
        </p:nvGraphicFramePr>
        <p:xfrm>
          <a:off x="238125" y="952500"/>
          <a:ext cx="866775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6500">
                  <a:extLst>
                    <a:ext uri="{9D8B030D-6E8A-4147-A177-3AD203B41FA5}">
                      <a16:colId xmlns:a16="http://schemas.microsoft.com/office/drawing/2014/main" val="1898088311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357383809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3431698787"/>
                    </a:ext>
                  </a:extLst>
                </a:gridCol>
                <a:gridCol w="2762250">
                  <a:extLst>
                    <a:ext uri="{9D8B030D-6E8A-4147-A177-3AD203B41FA5}">
                      <a16:colId xmlns:a16="http://schemas.microsoft.com/office/drawing/2014/main" val="35694776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634219091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Board, path (DC)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 total (m</a:t>
                      </a:r>
                      <a:r>
                        <a:rPr lang="el-GR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Ω)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 copper (m</a:t>
                      </a:r>
                      <a:r>
                        <a:rPr lang="el-GR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Ω)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share cell 1 / 2 / 3 / 4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max/min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7814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DPT: DC+ → HS FETs → AC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927180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DPT: AC → LS FETs → shunts → DC−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816977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load: DC+ → HS FETs → AC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711576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load: AC → LS FETs → DC−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807763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B0EFB88-8555-5DC4-EAAA-81559846DE12}"/>
              </a:ext>
            </a:extLst>
          </p:cNvPr>
          <p:cNvSpPr txBox="1"/>
          <p:nvPr/>
        </p:nvSpPr>
        <p:spPr>
          <a:xfrm>
            <a:off x="238125" y="25241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Static sharing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how the conduction (DC) current splits between the four parallel cells: set by each cell's copper path (DC terminals → cell → AC pad) plus 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; dynamic sharing during the edges is set by the gate loops (step 7)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Full-board DC model; FET 0.75 mΩ × 1.49 (100 °C), UFCS 1 mΩ; DC terminals as one pair, AC at the M6 bolt pad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Board copper loss at 228 A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: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(pending) W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(DPT, + (pending) W in the shunts) /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(pending) W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(load board)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Hand-over inductance bypass → bank L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(pending) (bank model, 1 MHz) ⇒ used for the bypass sizing (step 6)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342651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C1BF2A-990A-1BE2-ADE8-DBC3D86F3F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Q3D: three load-test legs on the PCB busbar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AFF482-32B9-205A-6B9E-DE29A8165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AC9E19-083F-327D-A4E4-935285032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51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61C1778-BB98-3B07-9D46-430F61CBF8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240390"/>
              </p:ext>
            </p:extLst>
          </p:nvPr>
        </p:nvGraphicFramePr>
        <p:xfrm>
          <a:off x="238125" y="952500"/>
          <a:ext cx="4476750" cy="15742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981461192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4261406883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748993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Leg-to-leg loop a–b / a–c, 1 MHz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1.46 / 1.98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17280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Leg-to-leg loop a–b / a–c, DC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7.41 / 10.01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84462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Ripple of leg a at 50 kHz from banks a / b / 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92053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Busbar DC loss (250 A in, 3 × 83 A)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W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428829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Highest REDCUBE terminal current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35787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6C06E83-8290-B24E-0AFA-F280E32DBBBB}"/>
              </a:ext>
            </a:extLst>
          </p:cNvPr>
          <p:cNvSpPr txBox="1"/>
          <p:nvPr/>
        </p:nvSpPr>
        <p:spPr>
          <a:xfrm>
            <a:off x="238125" y="338137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Network: Q3D bank-model matrices of three load-test legs (cells draw at their bypass; MLCCs with ESR/ESL, C at 75 V) + busbar (DC below 1 MHz, AC above); peaks in |Z| = inter-leg resonance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Target ≤ 5 nH leg to leg (step 10)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54009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4A955-6951-D0AC-3224-D9D625AB3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Main findings on the final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1841AE-7B3B-9E8B-16E6-E6ABA6278E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9B16BE-495F-82DC-C134-8CB0CE5A8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52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A4DC5B4-02EC-7659-CC5E-5C889F6146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351166"/>
              </p:ext>
            </p:extLst>
          </p:nvPr>
        </p:nvGraphicFramePr>
        <p:xfrm>
          <a:off x="238125" y="952500"/>
          <a:ext cx="85725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0750">
                  <a:extLst>
                    <a:ext uri="{9D8B030D-6E8A-4147-A177-3AD203B41FA5}">
                      <a16:colId xmlns:a16="http://schemas.microsoft.com/office/drawing/2014/main" val="2977066993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1603591374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1496662852"/>
                    </a:ext>
                  </a:extLst>
                </a:gridCol>
                <a:gridCol w="2952750">
                  <a:extLst>
                    <a:ext uri="{9D8B030D-6E8A-4147-A177-3AD203B41FA5}">
                      <a16:colId xmlns:a16="http://schemas.microsoft.com/office/drawing/2014/main" val="3191487878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DPT 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Load-test 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Consequence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650769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per cell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0.41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DPT: limit di/dt; load: 30 A/ns ok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04415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Static sharing, max/min (HS / LS)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/ (pending)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/ (pending)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verify with the UFCS per cell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060828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Board copper loss at 228 A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rms</a:t>
                      </a:r>
                      <a:endParaRPr lang="sv-SE" sz="1190" baseline="-250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W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W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heats the board, not the FETs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503148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between driver pairs (HS / LS)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4.91 / 2.68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6.77 / 5.44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skew → 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Δ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 = V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Δ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 / L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996010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Bus leg-to-leg loop (1 MHz)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1.46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target ≤ 5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5572184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7CB3BFD3-92BF-6CD1-A058-7023258552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2905125"/>
            <a:ext cx="3810000" cy="23812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224C18E-D19F-B466-8A13-01F6A5144FFE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All values from the fast Q3D set on the final layouts (run_bb_q3d_final.cmd, final_post.py).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770206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1A859-ADFD-0F5B-4FD9-2849AFEF2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Fabrication files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4D22BB-16A8-2B81-459E-3E492F638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BA664D-9FFA-0BBA-05C2-7BD8A4E2A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53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79F7338-EB6C-E652-4DE8-B11AC317DE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132120"/>
              </p:ext>
            </p:extLst>
          </p:nvPr>
        </p:nvGraphicFramePr>
        <p:xfrm>
          <a:off x="238125" y="952500"/>
          <a:ext cx="8572500" cy="1342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385561555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625809854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3470651176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Fab set (hardware/&lt;board&gt;/fab)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Notes for the fab house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168808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spb-bb-revb-dpt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Gerber zip, drill, pos, BOM, STEP, PDFs; JLC BOM + CPL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JLC PCB + PCBA (170 parts), vias filled + capped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069164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spb-bb-revb-load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 hold until the DPT test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+ blind vias L1–L2 (0.25 mm) filled + capped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663797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spb-busbar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 hold until the DPT test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oz all layers (JLC3313), bolt pads without mask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839870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assembly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spb-level-assembly.step, spb-stack-assembly.step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mechanics / frame design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093359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BCAE2E8-1752-8A6A-A8AD-B4EA25782919}"/>
              </a:ext>
            </a:extLst>
          </p:cNvPr>
          <p:cNvSpPr txBox="1"/>
          <p:nvPr/>
        </p:nvSpPr>
        <p:spPr>
          <a:xfrm>
            <a:off x="238125" y="2381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Generated: make_kicad_bb_revb.py (BOARD=dpt | load), make_kicad_sch_revb.py, make_kicad_busbar.py, make_3d_models_revb.py, make_fab_outputs_revb.py, make_assembly_step.py, render_3d.py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Mechanical items (screws, spreader, gap pads, heatsink, lugs) are listed at the end of each BOM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9F6089B-3CF6-7EF7-8D50-7B69956924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538" y="3124200"/>
            <a:ext cx="1798375" cy="17145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0D78705-7FED-CF92-D929-86D77212FD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5988" y="3124200"/>
            <a:ext cx="1798375" cy="17145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1A694CC-F632-2515-7BA3-CFFBD138F4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1025" y="3124200"/>
            <a:ext cx="4057650" cy="1455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658009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3F535-4ED0-3B68-4345-ABD0D7693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Status and next steps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3967CA-9754-F5E1-8437-9A3A08630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C58FB6-E62A-2F75-DF89-F01C6F609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54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2CA85D6-9BF4-4D0E-F17F-6C42841674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9534293"/>
              </p:ext>
            </p:extLst>
          </p:nvPr>
        </p:nvGraphicFramePr>
        <p:xfrm>
          <a:off x="238125" y="952500"/>
          <a:ext cx="4953000" cy="28148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3932733138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3194528190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Item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Status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875283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link: 20 × 22 µF 2220 + 10 × 1 µF per cell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in both layouts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585061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 board (UFCS, no heatsink)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final review passed, ready to order (JLC)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64675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Load-test board (no shunt, LAM 4 K 50)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DRC 0 / 0 / 0, schematic = PCB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424409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PCB busbar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DRC clean, fab files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241183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Fast Q3D: loop, DC, L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busbar, level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done (this deck)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6972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3D models, board + assembly STEP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done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339735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Fab outputs + BOMs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 final; load + busbar on hold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104436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 and three-phase load test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after assembly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385514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D1F5EE7-785C-5C12-E488-FA682A7A5E99}"/>
              </a:ext>
            </a:extLst>
          </p:cNvPr>
          <p:cNvSpPr txBox="1"/>
          <p:nvPr/>
        </p:nvSpPr>
        <p:spPr>
          <a:xfrm>
            <a:off x="5429250" y="952500"/>
            <a:ext cx="33813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Order: DPT board now (JLC PCB + PCBA; UFCS shunts and loop test points fitted in the lab); load boards + busbar only after the DPT test (switching energies, per-cell current, overshoot vs di/dt)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Mechanics: spreader drawing, frame and stack insulation from the assembly STEP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Decide after measurement: bank depopulation, damping caps, busbar copper weight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Machine: L</a:t>
            </a:r>
            <a:r>
              <a:rPr lang="el-GR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σ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,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cos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φ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and the final f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endParaRPr lang="sv-SE" sz="1380" baseline="-2500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75488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F4AC8-E801-D010-D5AE-9F054A7FB9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v-SE"/>
              <a:t>Thank you - questions?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D90B9B-BACA-ABA1-2395-0298871F2A0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Enes Ayaz, KTH Royal Institute of Technology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095078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KTH">
      <a:dk1>
        <a:srgbClr val="000000"/>
      </a:dk1>
      <a:lt1>
        <a:srgbClr val="FFFFFF"/>
      </a:lt1>
      <a:dk2>
        <a:srgbClr val="65656C"/>
      </a:dk2>
      <a:lt2>
        <a:srgbClr val="838389"/>
      </a:lt2>
      <a:accent1>
        <a:srgbClr val="1954A6"/>
      </a:accent1>
      <a:accent2>
        <a:srgbClr val="5E87C0"/>
      </a:accent2>
      <a:accent3>
        <a:srgbClr val="2091C3"/>
      </a:accent3>
      <a:accent4>
        <a:srgbClr val="D02F80"/>
      </a:accent4>
      <a:accent5>
        <a:srgbClr val="D95999"/>
      </a:accent5>
      <a:accent6>
        <a:srgbClr val="61922E"/>
      </a:accent6>
      <a:hlink>
        <a:srgbClr val="65656C"/>
      </a:hlink>
      <a:folHlink>
        <a:srgbClr val="83838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3"/>
        </a:solidFill>
        <a:ln>
          <a:noFill/>
        </a:ln>
      </a:spPr>
      <a:bodyPr rtlCol="0" anchor="ctr"/>
      <a:lstStyle>
        <a:defPPr algn="ctr">
          <a:defRPr sz="2000"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7121384-D8C6-FA41-9A6B-F4615C0099B0}" vid="{DF4435B0-2EFE-BF49-8755-0024FDD40B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KTH_16_9</Template>
  <TotalTime>1398</TotalTime>
  <Words>7535</Words>
  <Application>Microsoft Office PowerPoint</Application>
  <PresentationFormat>On-screen Show (16:9)</PresentationFormat>
  <Paragraphs>904</Paragraphs>
  <Slides>55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8" baseType="lpstr">
      <vt:lpstr>Arial</vt:lpstr>
      <vt:lpstr>Calibri</vt:lpstr>
      <vt:lpstr>Office-tema</vt:lpstr>
      <vt:lpstr>SPB Leg Building Block: Design Flow</vt:lpstr>
      <vt:lpstr>Design flow</vt:lpstr>
      <vt:lpstr>Design inputs</vt:lpstr>
      <vt:lpstr>Phase current follows from the inputs</vt:lpstr>
      <vt:lpstr>Voltage class: why 100 V GaN</vt:lpstr>
      <vt:lpstr>EPC2361: key data and the Kelvin source</vt:lpstr>
      <vt:lpstr>Submodule voltage from L·di/dt</vt:lpstr>
      <vt:lpstr>Why not lower: every submodule costs parts and loss</vt:lpstr>
      <vt:lpstr>Power loop of one cell: copper, bypass ESL and shunt</vt:lpstr>
      <vt:lpstr>One EPC2361 per switch: how fast and how much overshoot</vt:lpstr>
      <vt:lpstr>Thermal path per device: load-test board</vt:lpstr>
      <vt:lpstr>n identical cells per switch (one device and one driver each)</vt:lpstr>
      <vt:lpstr>Where the loss comes from: line period and junction temperature</vt:lpstr>
      <vt:lpstr>Losses vs number in parallel</vt:lpstr>
      <vt:lpstr>Switching frequency: losses, DC-link capacitors, current ripple</vt:lpstr>
      <vt:lpstr>DC-link sizing for a three-phase level</vt:lpstr>
      <vt:lpstr>Capacitor selection: effective capacitance at 75 V</vt:lpstr>
      <vt:lpstr>Bypass capacitors: how many and how large</vt:lpstr>
      <vt:lpstr>DC link of one leg board</vt:lpstr>
      <vt:lpstr>Can one driver drive all four?</vt:lpstr>
      <vt:lpstr>Driver arrangement for 1 … 4 EPC2361 per switch</vt:lpstr>
      <vt:lpstr>Gate driver selection: why the 2EDF7275K</vt:lpstr>
      <vt:lpstr>Why symmetry: what sets the current sharing</vt:lpstr>
      <vt:lpstr>Gate bump and negative off-voltage</vt:lpstr>
      <vt:lpstr>Building block: two point-symmetric cells, one centre driver</vt:lpstr>
      <vt:lpstr>Rev B: four cells per switch, two drivers, one leg</vt:lpstr>
      <vt:lpstr>Two boards from one design: double-pulse test and load test</vt:lpstr>
      <vt:lpstr>DPT board layout (UFCS shunts, no heatsink)</vt:lpstr>
      <vt:lpstr>Load-test board layout (no shunt, heatsink)</vt:lpstr>
      <vt:lpstr>The two boards in 3D (KiCad models)</vt:lpstr>
      <vt:lpstr>Top view with the silkscreen: DPT and load-test boards</vt:lpstr>
      <vt:lpstr>DPT board: the eight EPC2361 from above</vt:lpstr>
      <vt:lpstr>Bottom side and the load board without heatsink</vt:lpstr>
      <vt:lpstr>Two driver pairs on one switch node: driver skew</vt:lpstr>
      <vt:lpstr>Gate supplies: two isolated supplies, Zener split</vt:lpstr>
      <vt:lpstr>Driver block: input filters, turn-on / turn-off paths, star</vt:lpstr>
      <vt:lpstr>Measurement and control</vt:lpstr>
      <vt:lpstr>Power stage schematics (generated, identical to the PCBs)</vt:lpstr>
      <vt:lpstr>Three legs on one 75 V bus: what the bus must do</vt:lpstr>
      <vt:lpstr>PCB busbar: easy to manufacture</vt:lpstr>
      <vt:lpstr>One 75 V level in 3D: busbar + three load-test legs</vt:lpstr>
      <vt:lpstr>Level assembly: busbar side and DC connection</vt:lpstr>
      <vt:lpstr>Mechanics: heatsink length fixed by the leg pitch</vt:lpstr>
      <vt:lpstr>Full inverter: 16 levels on one 1200 V stack</vt:lpstr>
      <vt:lpstr>Fast Q3D set on the final boards</vt:lpstr>
      <vt:lpstr>Q3D: commutation loop per cell, final boards</vt:lpstr>
      <vt:lpstr>Q3D: coupling between the cells and the gate loops (DPT board)</vt:lpstr>
      <vt:lpstr>Gate drive from the extracted gate network (SPICE, DPT board, 75 V, 322 A)</vt:lpstr>
      <vt:lpstr>Q3D model of the cell band (fast loop model)</vt:lpstr>
      <vt:lpstr>Q3D: static current sharing and copper loss</vt:lpstr>
      <vt:lpstr>Q3D: three load-test legs on the PCB busbar</vt:lpstr>
      <vt:lpstr>Main findings on the final boards</vt:lpstr>
      <vt:lpstr>Fabrication files</vt:lpstr>
      <vt:lpstr>Status and next steps</vt:lpstr>
      <vt:lpstr>Thank you - questions?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Malin Modig</dc:creator>
  <cp:lastModifiedBy>Enes Ayaz</cp:lastModifiedBy>
  <cp:revision>2</cp:revision>
  <dcterms:created xsi:type="dcterms:W3CDTF">2019-12-10T08:55:59Z</dcterms:created>
  <dcterms:modified xsi:type="dcterms:W3CDTF">2026-10-28T13:21:06Z</dcterms:modified>
</cp:coreProperties>
</file>