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4"/>
  </p:notesMasterIdLst>
  <p:handoutMasterIdLst>
    <p:handoutMasterId r:id="rId55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6858000" cy="9144000"/>
  <p:defaultTextStyle>
    <a:defPPr>
      <a:defRPr lang="sv-SE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044" autoAdjust="0"/>
    <p:restoredTop sz="94660"/>
  </p:normalViewPr>
  <p:slideViewPr>
    <p:cSldViewPr>
      <p:cViewPr varScale="1">
        <p:scale>
          <a:sx n="91" d="100"/>
          <a:sy n="91" d="100"/>
        </p:scale>
        <p:origin x="62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92" d="100"/>
          <a:sy n="92" d="100"/>
        </p:scale>
        <p:origin x="2796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huvud 1">
            <a:extLst>
              <a:ext uri="{FF2B5EF4-FFF2-40B4-BE49-F238E27FC236}">
                <a16:creationId xmlns:a16="http://schemas.microsoft.com/office/drawing/2014/main" id="{8641E886-6D8F-4DA2-898A-00B1EAE1AC5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C9EDFE6A-05C8-4F6B-BA8A-F497180174A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C3AE95-3DFC-4DDB-A7BB-B9BF94A03429}" type="datetimeFigureOut">
              <a:rPr lang="sv-SE" smtClean="0"/>
              <a:t>2026-10-19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AAE70C2B-4AA1-47BF-94B9-F7DF59FCFC3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ED3EF666-D1D2-478D-9969-E1DE1FE2D06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96AD15-F18B-494F-8904-C45D7BCBE60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06759420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8539D3-FAF3-FC43-8825-CC8C9D4686B2}" type="datetimeFigureOut">
              <a:rPr lang="sv-SE" smtClean="0"/>
              <a:t>2026-10-19</a:t>
            </a:fld>
            <a:endParaRPr lang="sv-S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v-S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3B8005-7BF2-4B40-A831-B1EE96BFE5D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98434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D42CF517-9DD4-421C-AE14-6B4A4453B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1B926A-213D-3B48-BB0C-19ADA28B3F4D}" type="datetime1">
              <a:rPr lang="sv-SE" smtClean="0"/>
              <a:t>2026-10-19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9E3CD4D9-900F-4086-81FD-AB6606D8B7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528E8603-97F6-448F-AF1B-7D33D8C75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t>‹#›</a:t>
            </a:fld>
            <a:endParaRPr lang="sv-SE"/>
          </a:p>
        </p:txBody>
      </p:sp>
      <p:sp>
        <p:nvSpPr>
          <p:cNvPr id="24" name="Rubrik 1">
            <a:extLst>
              <a:ext uri="{FF2B5EF4-FFF2-40B4-BE49-F238E27FC236}">
                <a16:creationId xmlns:a16="http://schemas.microsoft.com/office/drawing/2014/main" id="{2973C368-F8A4-41B1-9D52-4D79988138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7928" y="1390867"/>
            <a:ext cx="8090297" cy="566641"/>
          </a:xfrm>
        </p:spPr>
        <p:txBody>
          <a:bodyPr anchor="t"/>
          <a:lstStyle>
            <a:lvl1pPr algn="l">
              <a:defRPr sz="2700"/>
            </a:lvl1pPr>
          </a:lstStyle>
          <a:p>
            <a:r>
              <a:rPr lang="en-US"/>
              <a:t>Click to edit Master title style</a:t>
            </a:r>
            <a:endParaRPr lang="sv-SE" dirty="0"/>
          </a:p>
        </p:txBody>
      </p:sp>
      <p:sp>
        <p:nvSpPr>
          <p:cNvPr id="25" name="Underrubrik 2">
            <a:extLst>
              <a:ext uri="{FF2B5EF4-FFF2-40B4-BE49-F238E27FC236}">
                <a16:creationId xmlns:a16="http://schemas.microsoft.com/office/drawing/2014/main" id="{040AB90C-B2A7-4284-98E0-80DAE0A2CD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7928" y="1974952"/>
            <a:ext cx="8090297" cy="596798"/>
          </a:xfrm>
        </p:spPr>
        <p:txBody>
          <a:bodyPr/>
          <a:lstStyle>
            <a:lvl1pPr marL="0" indent="0" algn="l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sv-SE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383F7B48-BB86-D74E-A1EB-2C3CDBAC7F27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r="700"/>
          <a:stretch/>
        </p:blipFill>
        <p:spPr>
          <a:xfrm>
            <a:off x="246063" y="2559025"/>
            <a:ext cx="8650292" cy="2443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89128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_e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918E66E3-BED5-4C6D-B465-40B84B88DB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7928" y="1390867"/>
            <a:ext cx="8090297" cy="566641"/>
          </a:xfrm>
        </p:spPr>
        <p:txBody>
          <a:bodyPr anchor="t"/>
          <a:lstStyle>
            <a:lvl1pPr algn="l">
              <a:defRPr sz="2700"/>
            </a:lvl1pPr>
          </a:lstStyle>
          <a:p>
            <a:r>
              <a:rPr lang="en-US"/>
              <a:t>Click to edit Master title style</a:t>
            </a:r>
            <a:endParaRPr lang="sv-SE" dirty="0"/>
          </a:p>
        </p:txBody>
      </p:sp>
      <p:sp>
        <p:nvSpPr>
          <p:cNvPr id="3" name="Underrubrik 2">
            <a:extLst>
              <a:ext uri="{FF2B5EF4-FFF2-40B4-BE49-F238E27FC236}">
                <a16:creationId xmlns:a16="http://schemas.microsoft.com/office/drawing/2014/main" id="{FF22D944-0354-4DCD-8334-3FC7C9FFC9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7928" y="1974952"/>
            <a:ext cx="8090297" cy="596798"/>
          </a:xfrm>
        </p:spPr>
        <p:txBody>
          <a:bodyPr/>
          <a:lstStyle>
            <a:lvl1pPr marL="0" indent="0" algn="l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sv-SE" dirty="0"/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D42CF517-9DD4-421C-AE14-6B4A4453B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EF508-B04A-E34A-80DD-59A12C5D1039}" type="datetime1">
              <a:rPr lang="sv-SE" smtClean="0"/>
              <a:t>2026-10-19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9E3CD4D9-900F-4086-81FD-AB6606D8B7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528E8603-97F6-448F-AF1B-7D33D8C75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t>‹#›</a:t>
            </a:fld>
            <a:endParaRPr lang="sv-SE"/>
          </a:p>
        </p:txBody>
      </p:sp>
      <p:pic>
        <p:nvPicPr>
          <p:cNvPr id="9" name="Bildobjekt 19">
            <a:extLst>
              <a:ext uri="{FF2B5EF4-FFF2-40B4-BE49-F238E27FC236}">
                <a16:creationId xmlns:a16="http://schemas.microsoft.com/office/drawing/2014/main" id="{D08EEA80-13E5-4697-A9DA-21277742FA7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526476" y="333641"/>
            <a:ext cx="1287722" cy="2057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E50A1F01-262A-6542-96F8-9345B6213D97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700"/>
          <a:stretch/>
        </p:blipFill>
        <p:spPr>
          <a:xfrm>
            <a:off x="246063" y="2559025"/>
            <a:ext cx="8650292" cy="2443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0474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4EB0B6BB-AC5F-485A-85BA-F56E433C7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69A48BD2-8B5B-44E1-8F6C-9B0D41A68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3F4D8-4BE6-D743-AE27-D14757A6F270}" type="datetime1">
              <a:rPr lang="sv-SE" smtClean="0"/>
              <a:t>2026-10-19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21B72178-9B2F-45A7-A31E-7710591B0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3155F99B-B767-4EF4-BDED-E7E361EB3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7" name="Platshållare för innehåll 6">
            <a:extLst>
              <a:ext uri="{FF2B5EF4-FFF2-40B4-BE49-F238E27FC236}">
                <a16:creationId xmlns:a16="http://schemas.microsoft.com/office/drawing/2014/main" id="{FA474A84-82A6-4747-B64B-83217A0CB54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131888" y="1194198"/>
            <a:ext cx="7765653" cy="3540919"/>
          </a:xfrm>
        </p:spPr>
        <p:txBody>
          <a:bodyPr>
            <a:normAutofit/>
          </a:bodyPr>
          <a:lstStyle>
            <a:lvl1pPr>
              <a:defRPr sz="1500"/>
            </a:lvl1pPr>
            <a:lvl2pPr marL="514350" indent="-171450">
              <a:buFont typeface="Arial" panose="020B0604020202020204" pitchFamily="34" charset="0"/>
              <a:buChar char="‒"/>
              <a:defRPr sz="1350"/>
            </a:lvl2pPr>
            <a:lvl3pPr marL="857250" indent="-171450">
              <a:buFont typeface="Arial" panose="020B0604020202020204" pitchFamily="34" charset="0"/>
              <a:buChar char="˃"/>
              <a:defRPr sz="1200"/>
            </a:lvl3pPr>
            <a:lvl4pPr>
              <a:defRPr sz="1050"/>
            </a:lvl4pPr>
            <a:lvl5pPr marL="1543050" indent="-171450">
              <a:buFont typeface="Arial" panose="020B0604020202020204" pitchFamily="34" charset="0"/>
              <a:buChar char="‒"/>
              <a:defRPr sz="105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27273272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 och två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8C966D54-57EE-458D-979F-B857F3483E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63559-229D-724F-BBD5-623E582CF5C1}" type="datetime1">
              <a:rPr lang="sv-SE" smtClean="0"/>
              <a:t>2026-10-19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5C0D5306-1C16-4D96-8016-0B45E724A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2579ABBA-285A-4BDD-A8DE-D7E232663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11" name="Platshållare för innehåll 6">
            <a:extLst>
              <a:ext uri="{FF2B5EF4-FFF2-40B4-BE49-F238E27FC236}">
                <a16:creationId xmlns:a16="http://schemas.microsoft.com/office/drawing/2014/main" id="{C23E0C61-4086-4E9E-9765-C96613FBE58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03244" y="1193800"/>
            <a:ext cx="3794694" cy="3540919"/>
          </a:xfrm>
        </p:spPr>
        <p:txBody>
          <a:bodyPr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  <p:sp>
        <p:nvSpPr>
          <p:cNvPr id="12" name="Platshållare för innehåll 6">
            <a:extLst>
              <a:ext uri="{FF2B5EF4-FFF2-40B4-BE49-F238E27FC236}">
                <a16:creationId xmlns:a16="http://schemas.microsoft.com/office/drawing/2014/main" id="{F4B1B781-8A23-4309-9884-DD6E3CE0EF2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131888" y="1194594"/>
            <a:ext cx="3794694" cy="3540919"/>
          </a:xfrm>
        </p:spPr>
        <p:txBody>
          <a:bodyPr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  <p:sp>
        <p:nvSpPr>
          <p:cNvPr id="6" name="Rubrik 5">
            <a:extLst>
              <a:ext uri="{FF2B5EF4-FFF2-40B4-BE49-F238E27FC236}">
                <a16:creationId xmlns:a16="http://schemas.microsoft.com/office/drawing/2014/main" id="{41903042-6CE8-4286-847C-7E810AF58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841581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, underrubriker och två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6945529D-785A-43B8-8CB0-BF49CF7DD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8C966D54-57EE-458D-979F-B857F3483E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F60D0-FE42-A248-8A54-F26FEA948759}" type="datetime1">
              <a:rPr lang="sv-SE" smtClean="0"/>
              <a:t>2026-10-19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5C0D5306-1C16-4D96-8016-0B45E724A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2579ABBA-285A-4BDD-A8DE-D7E232663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8" name="Platshållare för innehåll 6">
            <a:extLst>
              <a:ext uri="{FF2B5EF4-FFF2-40B4-BE49-F238E27FC236}">
                <a16:creationId xmlns:a16="http://schemas.microsoft.com/office/drawing/2014/main" id="{6304BE55-467D-4CE2-9B8D-EC038C989AF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03244" y="1664494"/>
            <a:ext cx="3794297" cy="3070622"/>
          </a:xfrm>
        </p:spPr>
        <p:txBody>
          <a:bodyPr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  <p:sp>
        <p:nvSpPr>
          <p:cNvPr id="12" name="Platshållare för text 10">
            <a:extLst>
              <a:ext uri="{FF2B5EF4-FFF2-40B4-BE49-F238E27FC236}">
                <a16:creationId xmlns:a16="http://schemas.microsoft.com/office/drawing/2014/main" id="{4D066E04-C797-4C85-AD05-F6EFD42AED3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103244" y="1194197"/>
            <a:ext cx="3794297" cy="398859"/>
          </a:xfrm>
        </p:spPr>
        <p:txBody>
          <a:bodyPr>
            <a:noAutofit/>
          </a:bodyPr>
          <a:lstStyle>
            <a:lvl1pPr marL="0" indent="0">
              <a:buNone/>
              <a:defRPr sz="1500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3" name="Platshållare för innehåll 6">
            <a:extLst>
              <a:ext uri="{FF2B5EF4-FFF2-40B4-BE49-F238E27FC236}">
                <a16:creationId xmlns:a16="http://schemas.microsoft.com/office/drawing/2014/main" id="{20A69851-5F12-40D3-A417-2DCD7530A5F4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136220" y="1664494"/>
            <a:ext cx="3792153" cy="3070622"/>
          </a:xfrm>
        </p:spPr>
        <p:txBody>
          <a:bodyPr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  <p:sp>
        <p:nvSpPr>
          <p:cNvPr id="14" name="Platshållare för text 10">
            <a:extLst>
              <a:ext uri="{FF2B5EF4-FFF2-40B4-BE49-F238E27FC236}">
                <a16:creationId xmlns:a16="http://schemas.microsoft.com/office/drawing/2014/main" id="{9472B11D-1B06-4AB9-A788-CEFECBDC8E1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36220" y="1194197"/>
            <a:ext cx="3792153" cy="398859"/>
          </a:xfrm>
        </p:spPr>
        <p:txBody>
          <a:bodyPr>
            <a:noAutofit/>
          </a:bodyPr>
          <a:lstStyle>
            <a:lvl1pPr marL="0" indent="0">
              <a:buNone/>
              <a:defRPr sz="1500"/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804528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 och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08A04EEF-7713-4918-A58B-127EED1C3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C91421C8-A909-4498-9C65-2C4F1875E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A7D9E-CD1D-F144-88A8-27D2C4D672B1}" type="datetime1">
              <a:rPr lang="sv-SE" smtClean="0"/>
              <a:t>2026-10-19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698402AB-3C0D-47F3-B526-AEE8B976C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89E1C101-21B3-4DE8-ACC8-96D836B90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7" name="Platshållare för bild 6">
            <a:extLst>
              <a:ext uri="{FF2B5EF4-FFF2-40B4-BE49-F238E27FC236}">
                <a16:creationId xmlns:a16="http://schemas.microsoft.com/office/drawing/2014/main" id="{FECDBECF-4709-417A-8783-E9CAB0603AC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46460" y="1194198"/>
            <a:ext cx="8651081" cy="3540919"/>
          </a:xfrm>
        </p:spPr>
        <p:txBody>
          <a:bodyPr/>
          <a:lstStyle/>
          <a:p>
            <a:r>
              <a:rPr lang="en-US"/>
              <a:t>Click icon to add picture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953397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 och två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08A04EEF-7713-4918-A58B-127EED1C3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C91421C8-A909-4498-9C65-2C4F1875E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1585DF-A6DF-A54D-9960-BE991B45200F}" type="datetime1">
              <a:rPr lang="sv-SE" smtClean="0"/>
              <a:t>2026-10-19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698402AB-3C0D-47F3-B526-AEE8B976C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89E1C101-21B3-4DE8-ACC8-96D836B90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7" name="Platshållare för bild 6">
            <a:extLst>
              <a:ext uri="{FF2B5EF4-FFF2-40B4-BE49-F238E27FC236}">
                <a16:creationId xmlns:a16="http://schemas.microsoft.com/office/drawing/2014/main" id="{FECDBECF-4709-417A-8783-E9CAB0603AC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46460" y="1194594"/>
            <a:ext cx="4237209" cy="3540919"/>
          </a:xfrm>
        </p:spPr>
        <p:txBody>
          <a:bodyPr/>
          <a:lstStyle/>
          <a:p>
            <a:r>
              <a:rPr lang="en-US"/>
              <a:t>Click icon to add picture</a:t>
            </a:r>
            <a:endParaRPr lang="sv-SE"/>
          </a:p>
        </p:txBody>
      </p:sp>
      <p:sp>
        <p:nvSpPr>
          <p:cNvPr id="9" name="Platshållare för bild 6">
            <a:extLst>
              <a:ext uri="{FF2B5EF4-FFF2-40B4-BE49-F238E27FC236}">
                <a16:creationId xmlns:a16="http://schemas.microsoft.com/office/drawing/2014/main" id="{3747F699-0360-4395-8415-6E5114D6C6C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660332" y="1194198"/>
            <a:ext cx="4237210" cy="3540919"/>
          </a:xfrm>
        </p:spPr>
        <p:txBody>
          <a:bodyPr/>
          <a:lstStyle/>
          <a:p>
            <a:r>
              <a:rPr lang="en-US"/>
              <a:t>Click icon to add picture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1879584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2F4B5727-3AF8-4023-B42B-839E8695A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892B391E-9C84-4E0D-898B-8454343BE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91D87-1285-6843-BFFA-E098C31F828A}" type="datetime1">
              <a:rPr lang="sv-SE" smtClean="0"/>
              <a:t>2026-10-19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32D627AA-4087-4599-9513-63987ED83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BDE0A226-9A3A-4E94-A386-D753C79EA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1965859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rubrik 1">
            <a:extLst>
              <a:ext uri="{FF2B5EF4-FFF2-40B4-BE49-F238E27FC236}">
                <a16:creationId xmlns:a16="http://schemas.microsoft.com/office/drawing/2014/main" id="{EB551155-ADB6-4713-AD48-92A8C535A2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3680" y="250032"/>
            <a:ext cx="7763861" cy="6477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CEFDED03-B73B-4057-9667-7B69EF4D71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31887" y="1194197"/>
            <a:ext cx="7765653" cy="34385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80C11F1C-711C-4AD7-A25F-D2B3F451BB0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51520" y="4902599"/>
            <a:ext cx="2057400" cy="23257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BE8303-AD2F-DB4D-B8E2-7368B5FD02EE}" type="datetime1">
              <a:rPr lang="sv-SE" smtClean="0"/>
              <a:t>2026-10-19</a:t>
            </a:fld>
            <a:endParaRPr lang="sv-SE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C9465249-3F3D-4589-A44C-3AA1952E4C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902599"/>
            <a:ext cx="3086100" cy="23257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F9DBF7EF-8E59-4075-A8F0-EF49E121CA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835080" y="4902599"/>
            <a:ext cx="2057400" cy="23257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22A9A3-8636-4A04-BD48-3153280FB086}" type="slidenum">
              <a:rPr lang="sv-SE" smtClean="0"/>
              <a:pPr/>
              <a:t>‹#›</a:t>
            </a:fld>
            <a:endParaRPr lang="sv-SE" dirty="0"/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63C4B2EE-2B48-4379-BBD1-4FA250447FE8}"/>
              </a:ext>
            </a:extLst>
          </p:cNvPr>
          <p:cNvPicPr>
            <a:picLocks noChangeArrowheads="1"/>
          </p:cNvPicPr>
          <p:nvPr userDrawn="1"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46551" y="250120"/>
            <a:ext cx="644150" cy="652399"/>
          </a:xfrm>
          <a:prstGeom prst="rect">
            <a:avLst/>
          </a:prstGeom>
          <a:noFill/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4" name="Rektangel 53">
            <a:extLst>
              <a:ext uri="{FF2B5EF4-FFF2-40B4-BE49-F238E27FC236}">
                <a16:creationId xmlns:a16="http://schemas.microsoft.com/office/drawing/2014/main" id="{D263F704-88D1-4479-BA22-2920B7F38621}"/>
              </a:ext>
            </a:extLst>
          </p:cNvPr>
          <p:cNvSpPr/>
          <p:nvPr userDrawn="1"/>
        </p:nvSpPr>
        <p:spPr>
          <a:xfrm>
            <a:off x="250750" y="4889099"/>
            <a:ext cx="8646791" cy="1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sz="1013"/>
          </a:p>
        </p:txBody>
      </p:sp>
    </p:spTree>
    <p:extLst>
      <p:ext uri="{BB962C8B-B14F-4D97-AF65-F5344CB8AC3E}">
        <p14:creationId xmlns:p14="http://schemas.microsoft.com/office/powerpoint/2010/main" val="2765861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6" r:id="rId2"/>
    <p:sldLayoutId id="2147483653" r:id="rId3"/>
    <p:sldLayoutId id="2147483654" r:id="rId4"/>
    <p:sldLayoutId id="2147483655" r:id="rId5"/>
    <p:sldLayoutId id="2147483651" r:id="rId6"/>
    <p:sldLayoutId id="2147483652" r:id="rId7"/>
    <p:sldLayoutId id="2147483650" r:id="rId8"/>
  </p:sldLayoutIdLst>
  <p:hf hdr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‒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&gt;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‒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3" pos="713" userDrawn="1">
          <p15:clr>
            <a:srgbClr val="F26B43"/>
          </p15:clr>
        </p15:guide>
        <p15:guide id="4" pos="5454" userDrawn="1">
          <p15:clr>
            <a:srgbClr val="F26B43"/>
          </p15:clr>
        </p15:guide>
        <p15:guide id="6" pos="358" userDrawn="1">
          <p15:clr>
            <a:srgbClr val="F26B43"/>
          </p15:clr>
        </p15:guide>
        <p15:guide id="7" orient="horz" pos="158" userDrawn="1">
          <p15:clr>
            <a:srgbClr val="F26B43"/>
          </p15:clr>
        </p15:guide>
        <p15:guide id="8" orient="horz" pos="3084" userDrawn="1">
          <p15:clr>
            <a:srgbClr val="F26B43"/>
          </p15:clr>
        </p15:guide>
        <p15:guide id="9" pos="5605" userDrawn="1">
          <p15:clr>
            <a:srgbClr val="F26B43"/>
          </p15:clr>
        </p15:guide>
        <p15:guide id="10" pos="155" userDrawn="1">
          <p15:clr>
            <a:srgbClr val="F26B43"/>
          </p15:clr>
        </p15:guide>
        <p15:guide id="11" pos="560" userDrawn="1">
          <p15:clr>
            <a:srgbClr val="F26B43"/>
          </p15:clr>
        </p15:guide>
        <p15:guide id="12" orient="horz" pos="566" userDrawn="1">
          <p15:clr>
            <a:srgbClr val="F26B43"/>
          </p15:clr>
        </p15:guide>
        <p15:guide id="13" orient="horz" pos="752" userDrawn="1">
          <p15:clr>
            <a:srgbClr val="F26B43"/>
          </p15:clr>
        </p15:guide>
        <p15:guide id="14" orient="horz" pos="298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8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8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2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8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8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8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8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8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8.pn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7D53AF-3C3D-04C9-5F22-9FC22CF158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SPB Leg Building Block: Design Flow</a:t>
            </a:r>
            <a:endParaRPr lang="sv-S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0E3FE97-343E-FFB5-AE69-B836218BBF6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Four EPC2361 per switch: DPT and load-test boards, 1200 V / 300 kW SPB inverter</a:t>
            </a:r>
          </a:p>
          <a:p>
            <a:r>
              <a:rPr lang="en-US"/>
              <a:t>Enes Ayaz, KTH Royal Institute of Technology, October 2026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3165550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08831-DD56-B438-DC42-BC6634B92D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Design flow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313A78-24EA-9A80-DDF4-217070CE83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31B4C6-0BAE-5AC7-7500-7A3A3F4BB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308D54C-B7A9-0B62-6F28-A5190AEC61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1433765"/>
              </p:ext>
            </p:extLst>
          </p:nvPr>
        </p:nvGraphicFramePr>
        <p:xfrm>
          <a:off x="238125" y="952500"/>
          <a:ext cx="866775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500">
                  <a:extLst>
                    <a:ext uri="{9D8B030D-6E8A-4147-A177-3AD203B41FA5}">
                      <a16:colId xmlns:a16="http://schemas.microsoft.com/office/drawing/2014/main" val="110673636"/>
                    </a:ext>
                  </a:extLst>
                </a:gridCol>
                <a:gridCol w="2190750">
                  <a:extLst>
                    <a:ext uri="{9D8B030D-6E8A-4147-A177-3AD203B41FA5}">
                      <a16:colId xmlns:a16="http://schemas.microsoft.com/office/drawing/2014/main" val="907414584"/>
                    </a:ext>
                  </a:extLst>
                </a:gridCol>
                <a:gridCol w="5905500">
                  <a:extLst>
                    <a:ext uri="{9D8B030D-6E8A-4147-A177-3AD203B41FA5}">
                      <a16:colId xmlns:a16="http://schemas.microsoft.com/office/drawing/2014/main" val="348454492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endParaRPr lang="sv-SE" sz="138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Step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Question → decision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390447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Design inputs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1200 V, 300 kW, M ≤ 1.15, PMSM cos </a:t>
                      </a:r>
                      <a:r>
                        <a:rPr lang="el-GR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φ = 0.9 → 228 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</a:t>
                      </a:r>
                      <a:r>
                        <a:rPr lang="sv-SE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rms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per leg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714551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Device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100–650 V GaN survey, absolute and per volt → 100 V GaN, EPC2361 (Kelvin pad)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983056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Submodule voltage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pt-BR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</a:t>
                      </a:r>
                      <a:r>
                        <a:rPr lang="pt-BR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+ L·di/dt ≤ 90 V for 0.5 / 1 nH, even N → 75 V, N = 16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0405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One device, one driver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loop of one cell + LTspice at 0.5 / 1 nH → ≤ 80 A per device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658122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n in parallel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loss, T</a:t>
                      </a:r>
                      <a:r>
                        <a:rPr lang="sv-SE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, V</a:t>
                      </a:r>
                      <a:r>
                        <a:rPr lang="sv-SE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vs n → 4 EPC2361 per switch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840235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</a:t>
                      </a:r>
                      <a:r>
                        <a:rPr lang="sv-SE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sw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, DC link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≥ 50 kHz; 3 % ripple → 20 × 22 µF 2220 + 10 × 1 µF bypass per cell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752597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Gate drive → block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one 2EDF7275K per pair (star, Kelvin) → building block of two cells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256043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Four on one board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two pairs, one DC pair, one AC output → DPT board and load-test board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909090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Supplies, measurement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two isolated supplies + Zener bias, UFCS per cell (DPT), U.FL V</a:t>
                      </a:r>
                      <a:r>
                        <a:rPr lang="en-US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GS</a:t>
                      </a:r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, MMCX V</a:t>
                      </a:r>
                      <a:r>
                        <a:rPr lang="en-US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, HO 250-S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544534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Three-phase DC bus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legs share the 75 V bus → laminated PCB busbar; 3D level and 16-level stack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29246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11–12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Verification, boards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fast Q3D set on the final boards and the busbar; fab files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53436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0072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C73F78-4057-315F-F13A-F1A369A676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Design inputs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CA0E6D-3999-F79E-C797-374FBA8637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EA4790-FB6C-98C2-F997-C93B447FD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BCB5D8-54E0-D7F8-8AD1-0124ACE123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773" y="952500"/>
            <a:ext cx="7346453" cy="2047875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1DFBA65-D053-5EBD-FEC5-828EBB3AA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0755577"/>
              </p:ext>
            </p:extLst>
          </p:nvPr>
        </p:nvGraphicFramePr>
        <p:xfrm>
          <a:off x="238125" y="3048000"/>
          <a:ext cx="4953000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750">
                  <a:extLst>
                    <a:ext uri="{9D8B030D-6E8A-4147-A177-3AD203B41FA5}">
                      <a16:colId xmlns:a16="http://schemas.microsoft.com/office/drawing/2014/main" val="1184877110"/>
                    </a:ext>
                  </a:extLst>
                </a:gridCol>
                <a:gridCol w="3143250">
                  <a:extLst>
                    <a:ext uri="{9D8B030D-6E8A-4147-A177-3AD203B41FA5}">
                      <a16:colId xmlns:a16="http://schemas.microsoft.com/office/drawing/2014/main" val="2015652323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Quantity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Value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853224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DC bus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1200 V nominal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033712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Output power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300 kW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828221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Modulation index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 ≤ 1.15 (SVM)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755632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Machine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PMSM, cos </a:t>
                      </a:r>
                      <a:r>
                        <a:rPr lang="el-GR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φ 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assumed 0.9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611416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Switching frequency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≥ 50 kHz (step 6)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298417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Cooling / T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load test: air 25–40 °C / ≤ 125 °C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89083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Device stress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en-US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≤ 90 V at nominal bus (100 V part)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15866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FEAAC443-C03A-6B5E-7F2D-A2E1D52BB474}"/>
              </a:ext>
            </a:extLst>
          </p:cNvPr>
          <p:cNvSpPr txBox="1"/>
          <p:nvPr/>
        </p:nvSpPr>
        <p:spPr>
          <a:xfrm>
            <a:off x="5429250" y="3095625"/>
            <a:ext cx="347662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SPB: N three-phase submodules in series on the DC side, each feeding one winding set of the machine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V</a:t>
            </a:r>
            <a:r>
              <a:rPr lang="en-US" sz="147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 = 1200 V / N per submodule; each submodule = 3 legs on one DC link</a:t>
            </a:r>
            <a:endParaRPr lang="sv-SE" sz="147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65873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C96585-AB7A-6B45-D0B2-6A29372A04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Phase current follows from the inputs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A05C19-995D-4817-531D-955624529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9D3770-C484-D772-476E-9C9DB965A0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</a:t>
            </a:fld>
            <a:endParaRPr lang="sv-S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B7EDF5-2E87-212A-AECC-85BECE901DA5}"/>
              </a:ext>
            </a:extLst>
          </p:cNvPr>
          <p:cNvSpPr txBox="1"/>
          <p:nvPr/>
        </p:nvSpPr>
        <p:spPr>
          <a:xfrm>
            <a:off x="238125" y="952500"/>
            <a:ext cx="51435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Each of the 3N legs delivers P/3N at V</a:t>
            </a:r>
            <a:r>
              <a:rPr lang="sv-SE" sz="1560" baseline="-25000">
                <a:solidFill>
                  <a:srgbClr val="1E1E1E"/>
                </a:solidFill>
                <a:latin typeface="Arial" panose="020B0604020202020204" pitchFamily="34" charset="0"/>
              </a:rPr>
              <a:t>ph</a:t>
            </a: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 = M·V</a:t>
            </a:r>
            <a:r>
              <a:rPr lang="sv-SE" sz="156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/(2√2):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I</a:t>
            </a:r>
            <a:r>
              <a:rPr lang="sv-SE" sz="1560" baseline="-25000">
                <a:solidFill>
                  <a:srgbClr val="1E1E1E"/>
                </a:solidFill>
                <a:latin typeface="Arial" panose="020B0604020202020204" pitchFamily="34" charset="0"/>
              </a:rPr>
              <a:t>rms</a:t>
            </a: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 = P / (3 · M·V</a:t>
            </a:r>
            <a:r>
              <a:rPr lang="sv-SE" sz="1560" baseline="-25000">
                <a:solidFill>
                  <a:srgbClr val="1E1E1E"/>
                </a:solidFill>
                <a:latin typeface="Arial" panose="020B0604020202020204" pitchFamily="34" charset="0"/>
              </a:rPr>
              <a:t>bus</a:t>
            </a: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/(2√2) · cos </a:t>
            </a:r>
            <a:r>
              <a:rPr lang="el-GR" sz="1560">
                <a:solidFill>
                  <a:srgbClr val="1E1E1E"/>
                </a:solidFill>
                <a:latin typeface="Arial" panose="020B0604020202020204" pitchFamily="34" charset="0"/>
              </a:rPr>
              <a:t>φ)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N·V</a:t>
            </a:r>
            <a:r>
              <a:rPr lang="sv-SE" sz="146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 = V</a:t>
            </a:r>
            <a:r>
              <a:rPr lang="sv-SE" sz="1460" baseline="-25000">
                <a:solidFill>
                  <a:srgbClr val="1E1E1E"/>
                </a:solidFill>
                <a:latin typeface="Arial" panose="020B0604020202020204" pitchFamily="34" charset="0"/>
              </a:rPr>
              <a:t>bus</a:t>
            </a: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: the phase current does </a:t>
            </a:r>
            <a:r>
              <a:rPr lang="sv-SE" sz="1460" b="1">
                <a:solidFill>
                  <a:srgbClr val="C84632"/>
                </a:solidFill>
                <a:latin typeface="Arial" panose="020B0604020202020204" pitchFamily="34" charset="0"/>
              </a:rPr>
              <a:t>not</a:t>
            </a: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 depend on N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V</a:t>
            </a:r>
            <a:r>
              <a:rPr lang="sv-SE" sz="1460" baseline="-25000">
                <a:solidFill>
                  <a:srgbClr val="1E1E1E"/>
                </a:solidFill>
                <a:latin typeface="Arial" panose="020B0604020202020204" pitchFamily="34" charset="0"/>
              </a:rPr>
              <a:t>ph</a:t>
            </a: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 = 1.15 · 75 V / 2√2 = 30.5 V; 6.25 kW per leg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460" b="1">
                <a:solidFill>
                  <a:srgbClr val="1E1E1E"/>
                </a:solidFill>
                <a:latin typeface="Arial" panose="020B0604020202020204" pitchFamily="34" charset="0"/>
              </a:rPr>
              <a:t>228 Arms per leg</a:t>
            </a: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, 322 A peak (cos </a:t>
            </a:r>
            <a:r>
              <a:rPr lang="el-GR" sz="1460">
                <a:solidFill>
                  <a:srgbClr val="1E1E1E"/>
                </a:solidFill>
                <a:latin typeface="Arial" panose="020B0604020202020204" pitchFamily="34" charset="0"/>
              </a:rPr>
              <a:t>φ = 0.9)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DC current per leg 83 A; series DC chain 250 A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Losses in this deck are for cos </a:t>
            </a:r>
            <a:r>
              <a:rPr lang="el-GR" sz="1560">
                <a:solidFill>
                  <a:srgbClr val="1E1E1E"/>
                </a:solidFill>
                <a:latin typeface="Arial" panose="020B0604020202020204" pitchFamily="34" charset="0"/>
              </a:rPr>
              <a:t>φ = 0.9; </a:t>
            </a: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the PMSM operating point is confirmed with the machine design</a:t>
            </a:r>
            <a:endParaRPr lang="sv-SE" sz="156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005DCCE-3F70-9A89-7021-9D09AFACAB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82550"/>
              </p:ext>
            </p:extLst>
          </p:nvPr>
        </p:nvGraphicFramePr>
        <p:xfrm>
          <a:off x="5667375" y="952500"/>
          <a:ext cx="3238500" cy="1047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250">
                  <a:extLst>
                    <a:ext uri="{9D8B030D-6E8A-4147-A177-3AD203B41FA5}">
                      <a16:colId xmlns:a16="http://schemas.microsoft.com/office/drawing/2014/main" val="587979041"/>
                    </a:ext>
                  </a:extLst>
                </a:gridCol>
                <a:gridCol w="1619250">
                  <a:extLst>
                    <a:ext uri="{9D8B030D-6E8A-4147-A177-3AD203B41FA5}">
                      <a16:colId xmlns:a16="http://schemas.microsoft.com/office/drawing/2014/main" val="1472240210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56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cos </a:t>
                      </a:r>
                      <a:r>
                        <a:rPr lang="el-GR" sz="156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φ</a:t>
                      </a:r>
                      <a:endParaRPr lang="sv-SE" sz="156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56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I</a:t>
                      </a:r>
                      <a:r>
                        <a:rPr lang="sv-SE" sz="156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rms</a:t>
                      </a:r>
                      <a:r>
                        <a:rPr lang="sv-SE" sz="156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 per leg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56330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205 A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726072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0.95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216 A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538806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228 A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823439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0.85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241 A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64728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691998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52ABA-CF63-7DF5-A457-736619D848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Voltage class: why 100 V GaN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F693C1-8403-3AD1-6623-2F1A5A2878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89C4E7-787F-33F8-A0D3-8C73421AE9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5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A2E444A-A3F7-6A79-5592-BD2E0B196A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910" y="952500"/>
            <a:ext cx="7284181" cy="25717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8CCC753-1DE6-5E3A-BC40-20C36E887F48}"/>
              </a:ext>
            </a:extLst>
          </p:cNvPr>
          <p:cNvSpPr txBox="1"/>
          <p:nvPr/>
        </p:nvSpPr>
        <p:spPr>
          <a:xfrm>
            <a:off x="238125" y="354330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(a) At fixed bus voltage and phase current the minimum semiconductor loss scales with √(R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DS(on)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·C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oss,tr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): the 100 V GaN parts have the lowest product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(b) Per volt of blocking capability: 100 V GaN has the lowest R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DS(on)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/V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DS,max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(EPC2361 7.5 µΩ/V, 3–30× below 200–650 V) at a higher C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oss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/V; conduction dominates here (12.4 W vs 4–5 W switching per leg, step 5)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(c) Best device per class: 100 V needs more submodules but the fewest devices per switch and the smallest voltage step → </a:t>
            </a:r>
            <a:r>
              <a:rPr lang="en-US" sz="1190" b="1">
                <a:solidFill>
                  <a:srgbClr val="1E1E1E"/>
                </a:solidFill>
                <a:latin typeface="Arial" panose="020B0604020202020204" pitchFamily="34" charset="0"/>
              </a:rPr>
              <a:t>EPC2361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, 100 V, 0.75 mΩ typ, 3 × 5 mm, top-side cooling</a:t>
            </a:r>
            <a:endParaRPr lang="sv-SE" sz="119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20373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80CD04-8B73-B580-FDDC-C223BF75F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EPC2361: key data and the Kelvin source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C2A904-2984-B7B1-D176-401A325F3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FF10EA-85C6-6118-3082-C469563BB8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6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06B2D72-00A5-ED76-90A3-06DD21DF27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7070" y="952500"/>
            <a:ext cx="6749859" cy="2428875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66AFCA2F-5D89-942D-9020-E289DF4AA3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4484660"/>
              </p:ext>
            </p:extLst>
          </p:nvPr>
        </p:nvGraphicFramePr>
        <p:xfrm>
          <a:off x="238125" y="3448050"/>
          <a:ext cx="4476750" cy="125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5500">
                  <a:extLst>
                    <a:ext uri="{9D8B030D-6E8A-4147-A177-3AD203B41FA5}">
                      <a16:colId xmlns:a16="http://schemas.microsoft.com/office/drawing/2014/main" val="1478354306"/>
                    </a:ext>
                  </a:extLst>
                </a:gridCol>
                <a:gridCol w="2381250">
                  <a:extLst>
                    <a:ext uri="{9D8B030D-6E8A-4147-A177-3AD203B41FA5}">
                      <a16:colId xmlns:a16="http://schemas.microsoft.com/office/drawing/2014/main" val="388415262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Parameter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Value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576257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/ transient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100 / 120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607008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DS(on)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0.75 m</a:t>
                      </a:r>
                      <a:r>
                        <a:rPr lang="el-GR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 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typ (1.0 max)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641898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GS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range / V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GS(th)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−4 … +6 V / 0.8 – 2.5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17506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iss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/ C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oss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/ C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rss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3599 / 1019 / 13 pF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32371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Q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/ Q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GD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/ Q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OSS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28 / 3.8 / 90 nC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2886221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A07FD7FE-9494-EB9F-479E-BC68F09882A4}"/>
              </a:ext>
            </a:extLst>
          </p:cNvPr>
          <p:cNvSpPr txBox="1"/>
          <p:nvPr/>
        </p:nvSpPr>
        <p:spPr>
          <a:xfrm>
            <a:off x="4857750" y="3448050"/>
            <a:ext cx="404812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Kelvin pad 2 next to the gate: the gate loop returns at the die, the source stripes and vias (L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) stay in the power loop only ⇒ no L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·di/dt feedback into 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Low threshold and −4 V limit: gate bump and negative bias need care (step 7)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Top of the package at </a:t>
            </a:r>
            <a:r>
              <a:rPr lang="en-US" sz="1190" b="1">
                <a:solidFill>
                  <a:srgbClr val="C84632"/>
                </a:solidFill>
                <a:latin typeface="Arial" panose="020B0604020202020204" pitchFamily="34" charset="0"/>
              </a:rPr>
              <a:t>source potential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: the thermal interface must insulate</a:t>
            </a:r>
            <a:endParaRPr lang="sv-SE" sz="119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68376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444AC6-6AC1-973E-2042-4698C597E6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Submodule voltage from L·di/dt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426D3F-DB07-9580-D763-712C3D9901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CBAFFE-6485-2389-3E3A-9F2F04357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7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5F7100-E148-65F0-E223-AC70441B78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7322" y="952500"/>
            <a:ext cx="6269356" cy="25527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8C6E64D-6FD0-32CC-D322-5BAAD58C9A9E}"/>
              </a:ext>
            </a:extLst>
          </p:cNvPr>
          <p:cNvSpPr txBox="1"/>
          <p:nvPr/>
        </p:nvSpPr>
        <p:spPr>
          <a:xfrm>
            <a:off x="238125" y="35242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Peak stress v̂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DS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= V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+ 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loop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·di/dt ≤ 90 V; turn-on di/dt (gate-charge model, R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g,on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2 </a:t>
            </a:r>
            <a:r>
              <a:rPr lang="el-GR" sz="1280">
                <a:solidFill>
                  <a:srgbClr val="1E1E1E"/>
                </a:solidFill>
                <a:latin typeface="Arial" panose="020B0604020202020204" pitchFamily="34" charset="0"/>
              </a:rPr>
              <a:t>Ω): 25 / 33 / 50 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A/ns at 60 / 80 / 120 A per device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At 80 A per device: V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≤ </a:t>
            </a:r>
            <a:r>
              <a:rPr lang="sv-SE" sz="1280" b="1">
                <a:solidFill>
                  <a:srgbClr val="1E1E1E"/>
                </a:solidFill>
                <a:latin typeface="Arial" panose="020B0604020202020204" pitchFamily="34" charset="0"/>
              </a:rPr>
              <a:t>73 V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with 0.5 nH, only 57 V with 1 nH ⇒ the loop must stay near 0.5 nH (or the turn-on is slowed); N even (symmetric winding sets): 16 → 75 V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12CB4A2F-D265-659A-D155-61C84BF751EA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V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= 75 V, N = 16; layout target 0.5 nH per cell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18469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55A20C-5B4A-CAF4-6E81-815D2FF94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Why not lower: every submodule costs parts and loss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4EFD58-683A-088C-9375-1B14CA51B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1559E3-19D2-B48E-5604-19165411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8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58839BA-FEBD-645F-E797-96226A4818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4953000" cy="298958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ED336A5-7A91-CC48-F8E1-84333C969973}"/>
              </a:ext>
            </a:extLst>
          </p:cNvPr>
          <p:cNvSpPr txBox="1"/>
          <p:nvPr/>
        </p:nvSpPr>
        <p:spPr>
          <a:xfrm>
            <a:off x="5381625" y="952500"/>
            <a:ext cx="35242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560">
                <a:solidFill>
                  <a:srgbClr val="1E1E1E"/>
                </a:solidFill>
                <a:latin typeface="Arial" panose="020B0604020202020204" pitchFamily="34" charset="0"/>
              </a:rPr>
              <a:t>Phase current is fixed by P, V</a:t>
            </a:r>
            <a:r>
              <a:rPr lang="en-US" sz="1560" baseline="-25000">
                <a:solidFill>
                  <a:srgbClr val="1E1E1E"/>
                </a:solidFill>
                <a:latin typeface="Arial" panose="020B0604020202020204" pitchFamily="34" charset="0"/>
              </a:rPr>
              <a:t>bus</a:t>
            </a:r>
            <a:r>
              <a:rPr lang="en-US" sz="1560">
                <a:solidFill>
                  <a:srgbClr val="1E1E1E"/>
                </a:solidFill>
                <a:latin typeface="Arial" panose="020B0604020202020204" pitchFamily="34" charset="0"/>
              </a:rPr>
              <a:t>, M, cos φ, not by N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560">
                <a:solidFill>
                  <a:srgbClr val="1E1E1E"/>
                </a:solidFill>
                <a:latin typeface="Arial" panose="020B0604020202020204" pitchFamily="34" charset="0"/>
              </a:rPr>
              <a:t>Each submodule carries the full phase current ⇒ conduction loss, transistors, drivers and supplies scale with N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560">
                <a:solidFill>
                  <a:srgbClr val="1E1E1E"/>
                </a:solidFill>
                <a:latin typeface="Arial" panose="020B0604020202020204" pitchFamily="34" charset="0"/>
              </a:rPr>
              <a:t>60 V (N = 20): +25 % parts and conduction loss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560">
                <a:solidFill>
                  <a:srgbClr val="1E1E1E"/>
                </a:solidFill>
                <a:latin typeface="Arial" panose="020B0604020202020204" pitchFamily="34" charset="0"/>
              </a:rPr>
              <a:t>Overshoot margin rechecked on the final boards (Q3D, step 11)</a:t>
            </a:r>
            <a:endParaRPr lang="sv-SE" sz="156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83577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2BF8F4-7A9B-10A3-8AAF-F32B8D729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Power loop of one cell: copper, bypass ESL and shunt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DE3B7B-05FA-ED34-F44F-DB9D5BD0C2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69E034-E013-CF3A-0172-2F7AC4BC6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9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955883B-23BF-70D0-AA2C-F68CF11D29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1093" y="952500"/>
            <a:ext cx="6821813" cy="24955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C579FB6-73D4-70F9-973E-8E0BC84AA6E3}"/>
              </a:ext>
            </a:extLst>
          </p:cNvPr>
          <p:cNvSpPr txBox="1"/>
          <p:nvPr/>
        </p:nvSpPr>
        <p:spPr>
          <a:xfrm>
            <a:off x="238125" y="347662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Q3D of the final boards (cell band): loop = copper of the vertical loop over 0.1 mm (vias, pads) + bypass ESL/n (+ UFCS 120 pH on the DPT board)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Copper alone: 0.35 nH (load) / 0.47 nH (DPT, shunt path); with 6 + 4 bypass 0805 per cell: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0.41 / 0.65 nH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Beyond ≈ 4 bypass parts per cell the number hardly matters; part: 1 µF 100 V X7S 0805 next to the drains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651B006D-9C91-B852-7335-E2E564931116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Design value L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loop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= 0.5 nH per cell; 1 nH as the pessimistic bound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44608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EA10B2-2C29-DE87-9C22-33FF5FB68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One EPC2361 per switch: how fast and how much overshoot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9260D4-EFD9-43ED-7DA9-D0E566C395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BBFDF1-5A35-7785-A2E3-4163802BA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10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69F936E-B191-28BE-20B1-F35D78D971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069" y="952500"/>
            <a:ext cx="7395862" cy="242887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592E700-5583-59F5-A584-DB508A4AD372}"/>
              </a:ext>
            </a:extLst>
          </p:cNvPr>
          <p:cNvSpPr txBox="1"/>
          <p:nvPr/>
        </p:nvSpPr>
        <p:spPr>
          <a:xfrm>
            <a:off x="238125" y="34099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LTspice half bridge at 75 V, lumped loop 0.5 / 1 nH, 1.7 nH gate loop, 2 Ω on / 0 Ω off, 4 A / 8 A driver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(a) Peak 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DS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at 60 / 80 / 120 A: 87 / 83 / 102 V (0.5 nH), 83 / 93 / 137 V (1 nH)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(b, c) A larger loop lowers E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(the loop takes L·di/dt of the voltage while the current rises) but raises E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off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and the overshoot; turn-on di/dt is set by the driver (≈ 45 A/ns)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(d) Conduction per device at 100 °C: 4.0 / 7.2 / 16.1 W at 60 / 80 / 120 A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rms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; one device would carry 322 A peak ⇒ </a:t>
            </a:r>
            <a:r>
              <a:rPr lang="en-US" sz="1190" b="1">
                <a:solidFill>
                  <a:srgbClr val="1E1E1E"/>
                </a:solidFill>
                <a:latin typeface="Arial" panose="020B0604020202020204" pitchFamily="34" charset="0"/>
              </a:rPr>
              <a:t>current per device ≤ 80 A</a:t>
            </a:r>
            <a:endParaRPr lang="sv-SE" sz="1190" b="1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81111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98483-1FA8-5DD6-3F1E-DCC6F17D3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Thermal path per device: load-test board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B9078A-8C65-31E8-8BAC-E5AA376E3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0F81AD-4B71-D8C7-9BC8-A70CCF273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11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BE12B1B-79B3-23DE-D8B0-344990D5C8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4954405"/>
              </p:ext>
            </p:extLst>
          </p:nvPr>
        </p:nvGraphicFramePr>
        <p:xfrm>
          <a:off x="238125" y="952500"/>
          <a:ext cx="5619750" cy="125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62500">
                  <a:extLst>
                    <a:ext uri="{9D8B030D-6E8A-4147-A177-3AD203B41FA5}">
                      <a16:colId xmlns:a16="http://schemas.microsoft.com/office/drawing/2014/main" val="1258321051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3618147443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3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Path (LAM 4 K 50 12 in air, per device)</a:t>
                      </a:r>
                      <a:endParaRPr lang="sv-SE" sz="138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K/W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083008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</a:t>
                      </a:r>
                      <a:r>
                        <a:rPr lang="el-GR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θ</a:t>
                      </a:r>
                      <a:r>
                        <a:rPr lang="sv-SE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JC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(top), datasheet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0.20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777516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gap pad 0.4 mm, 5 W/mK, over the 15 mm² package top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5.3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483461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Al spreader, outer cell → tube (8 mm in 12.8 × 3 mm, 2 devices)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2.1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372073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Junction → heatsink, per device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7.6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683905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Heatsink → air, whole leg (Fischer LAM 4 K 50 12)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919542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B073F1EE-E8DA-B7A9-3767-AB4B70F70DBB}"/>
              </a:ext>
            </a:extLst>
          </p:cNvPr>
          <p:cNvSpPr txBox="1"/>
          <p:nvPr/>
        </p:nvSpPr>
        <p:spPr>
          <a:xfrm>
            <a:off x="6048375" y="952500"/>
            <a:ext cx="28575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T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= T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amb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+ 0.65 K/W · P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leg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+ 7.6 K/W · P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device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The gap pad dominates (insulation is needed: the package top is at source potential)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n = 4 at full load: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69 °C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(40 °C ambient), 52 °C (25 °C), 78 °C with a 3 W/mK pad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R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DS(on)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(T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): ×1.49 at 100 °C, ×1.80 at 150 °C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872267-9CDA-813F-1D14-D33F5C9D49C1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Spreader and pad values are hand estimates from the dimensions; for n ≠ 4 the same per-device path is assumed.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61123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F18787-B61F-11F6-8781-9C4DC9BDCF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n identical cells per switch (one device and one driver each)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D91A7D-C6E7-E3E4-D256-3FA020F79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4F02E0-6686-5BCD-5DF0-0C6E227A2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12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A2FA89A-D7EA-E904-8F3B-CA927A764C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052" y="952500"/>
            <a:ext cx="7371896" cy="2667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00B5DC0-552D-5BE8-D864-F2017B68D5FF}"/>
              </a:ext>
            </a:extLst>
          </p:cNvPr>
          <p:cNvSpPr txBox="1"/>
          <p:nvPr/>
        </p:nvSpPr>
        <p:spPr>
          <a:xfrm>
            <a:off x="238125" y="36385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228 A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rms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per leg, 50 kHz, T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and R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DS(on)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solved together (load-test board in air, previous slide); LTspice energies at 0.5 nH (left bars) and 1 nH (hatched)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n = 4: 18.0 W (0.5 nH) / 17.0 W (1 nH) per leg, T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69 °C; peak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DS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at 80 A: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83 V (0.5 nH), 93 V (1 nH)</a:t>
            </a:r>
            <a:endParaRPr lang="sv-SE" sz="1280" b="1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4617AD42-32A8-1AF0-B447-EC5DFEE31AD9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4 EPC2361 per switch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(T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&lt; 80 °C in all three cases; ≤ 90 V needs ≈ 0.5 nH; two equal pairs)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22866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9CFCD4-3FFE-5536-180E-ED11091CD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Where the loss comes from: line period and junction temperature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7F1920-D683-89C1-7420-60702075F8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DE9995-4A1B-1B6E-1226-A5385C572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13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AB4D374-D836-3344-7602-126173D3F3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436" y="952500"/>
            <a:ext cx="7651128" cy="29527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FC96946-C031-DC4D-BD8C-BB02D754747F}"/>
              </a:ext>
            </a:extLst>
          </p:cNvPr>
          <p:cNvSpPr txBox="1"/>
          <p:nvPr/>
        </p:nvSpPr>
        <p:spPr>
          <a:xfrm>
            <a:off x="238125" y="392430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n = 4, 50 kHz: switching loss follows |i| (plus a constant E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oss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part), conduction loss follows i²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Conduction 12.5 W per leg (at the load-test T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); switching 5.0 W at 0.5 nH, 4.1 W at 1 nH (lower E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, higher E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off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and overshoot)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43002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BCF6A-4BF6-469F-232A-E7411702A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Losses vs number in parallel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14A509-A717-9132-C854-3521306660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68AD09-CFC0-7E4E-84C5-E3C960848B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14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D5EBCEA-4140-8D62-E085-44E4BD568E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0188854"/>
              </p:ext>
            </p:extLst>
          </p:nvPr>
        </p:nvGraphicFramePr>
        <p:xfrm>
          <a:off x="238125" y="952500"/>
          <a:ext cx="866775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1750">
                  <a:extLst>
                    <a:ext uri="{9D8B030D-6E8A-4147-A177-3AD203B41FA5}">
                      <a16:colId xmlns:a16="http://schemas.microsoft.com/office/drawing/2014/main" val="675645181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4182465336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4021451861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4073854158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536114252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743697609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279297812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300707131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970450707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n per switch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1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2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3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4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5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6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7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8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66558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Loss per leg, 0.5 nH (W)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runaway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39.5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23.2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18.0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15.8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14.8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14.5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14.6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25029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Loss per leg, 1 nH (W)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runaway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38.4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22.2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17.0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14.8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13.7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13.3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13.3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745011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 conduction at T</a:t>
                      </a:r>
                      <a:r>
                        <a:rPr lang="sv-SE" sz="12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</a:t>
                      </a:r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(W)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runaway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33.9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18.0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12.5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9.7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7.9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6.7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5.8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560175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 switching 0.5 / 1 nH (W)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5.0 / 4.2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4.6 / 3.8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5.0 / 4.1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5.6 / 4.6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6.4 / 5.3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7.3 / 6.1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8.2 / 6.9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392196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Efficiency, 0.5 nH (%)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99.37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99.63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99.71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99.75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99.76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99.77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99.77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14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Loss per device (W)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runaway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9.9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3.9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2.2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0.9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69574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</a:t>
                      </a:r>
                      <a:r>
                        <a:rPr lang="sv-SE" sz="12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</a:t>
                      </a:r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(°C)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runaway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84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991599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Peak V</a:t>
                      </a:r>
                      <a:r>
                        <a:rPr lang="en-US" sz="12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en-US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0.5 / 1 nH (V)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195 / 292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131 / 180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96 / 123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83 / 93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86 / 85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86 / 84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84 / 86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83 / 87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548333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Driver channels per leg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292661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5F48185-616C-D48B-C224-B0FFAD2630E9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Semiconductor losses only; leg loss / (2 n) = loss per device; T_j on the load-test board at 40 °C ambient, 50 kHz; efficiency relative to 6.25 kW per leg.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51509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26546A-611B-8D69-FB6E-1A3571744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Switching frequency: losses, DC-link capacitors, current ripple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6B9304-9439-C8CC-D3AD-8A16A732D5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E288C0-9498-8118-79F1-5FECB2124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15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79EFCE5-9C5E-257A-275D-4256625D59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839" y="952500"/>
            <a:ext cx="7482322" cy="2667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37B97A0-9B2F-2EDA-8148-14886FFDF276}"/>
              </a:ext>
            </a:extLst>
          </p:cNvPr>
          <p:cNvSpPr txBox="1"/>
          <p:nvPr/>
        </p:nvSpPr>
        <p:spPr>
          <a:xfrm>
            <a:off x="238125" y="36385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(a) n = 4: 99.77 / 99.71 / 99.61 % at 20 / 50 / 100 kHz; (b) the voltage ripple sets the 2220 count (20 per leg at 50 kHz), ripple current needs only 7; (c) winding ripple Δi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pp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=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/(4 L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σ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f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sw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) depends on the machine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9BA24EDC-E711-FA2B-1831-37FAFB98EF2D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f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sw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≥ 50 kHz (higher allowed by the machine); the DC link is sized for 50 kHz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4319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69FBC6-AD5A-6C2F-36F9-FABEA4639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DC-link sizing for a three-phase level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5A4EF98-E1C4-0FE2-0662-A290ECD3EE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C1B598-2AA9-C351-2C12-4575B4EA6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16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FD3BF43-5DAB-D2F6-6008-12237AD8FD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4953000" cy="3067717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3B27B4E-10CD-B732-68E8-96AC9D47E8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5850910"/>
              </p:ext>
            </p:extLst>
          </p:nvPr>
        </p:nvGraphicFramePr>
        <p:xfrm>
          <a:off x="5381625" y="952500"/>
          <a:ext cx="3524250" cy="1047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9625">
                  <a:extLst>
                    <a:ext uri="{9D8B030D-6E8A-4147-A177-3AD203B41FA5}">
                      <a16:colId xmlns:a16="http://schemas.microsoft.com/office/drawing/2014/main" val="3539420508"/>
                    </a:ext>
                  </a:extLst>
                </a:gridCol>
                <a:gridCol w="714375">
                  <a:extLst>
                    <a:ext uri="{9D8B030D-6E8A-4147-A177-3AD203B41FA5}">
                      <a16:colId xmlns:a16="http://schemas.microsoft.com/office/drawing/2014/main" val="1929954589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2731458480"/>
                    </a:ext>
                  </a:extLst>
                </a:gridCol>
                <a:gridCol w="904875">
                  <a:extLst>
                    <a:ext uri="{9D8B030D-6E8A-4147-A177-3AD203B41FA5}">
                      <a16:colId xmlns:a16="http://schemas.microsoft.com/office/drawing/2014/main" val="1244953495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f</a:t>
                      </a:r>
                      <a:r>
                        <a:rPr lang="sv-SE" sz="128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sw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l-GR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Δ</a:t>
                      </a:r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28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pp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</a:t>
                      </a:r>
                      <a:r>
                        <a:rPr lang="sv-SE" sz="128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eff</a:t>
                      </a:r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 level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per leg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26190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50 kHz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573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191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714003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50 kHz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382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127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307153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100 kHz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287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96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74731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100 kHz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191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64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358314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6489D06-0096-3F1C-430F-1061E98A8110}"/>
              </a:ext>
            </a:extLst>
          </p:cNvPr>
          <p:cNvSpPr txBox="1"/>
          <p:nvPr/>
        </p:nvSpPr>
        <p:spPr>
          <a:xfrm>
            <a:off x="5381625" y="2333625"/>
            <a:ext cx="35242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One 75 V level = three legs on one bus (SVPWM, M = 1.15, cos φ = 0.9)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Balanced three-phase: no 2f ripple; capacitor RMS current 85 A per level (≈ 28 A per leg)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Per switching period the bank supplies the difference between the cell current and its average: ΔV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pp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= ΔQ / C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10" name="decision">
            <a:extLst>
              <a:ext uri="{FF2B5EF4-FFF2-40B4-BE49-F238E27FC236}">
                <a16:creationId xmlns:a16="http://schemas.microsoft.com/office/drawing/2014/main" id="{F5CE4626-E7B3-CDD7-300F-087E493061D7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Δ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V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pp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≤ 3 % (2.25 V) at 50 kHz ⇒ 127 µF </a:t>
            </a:r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effective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per leg board ⇒ 20 × 22 µF 2220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2134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FC41C-6727-D8C3-A748-E38153830D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Capacitor selection: effective capacitance at 75 V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3813FF-30E7-CC82-4B04-A4F2E306D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6B0A87-8B4C-0D3B-793C-BCC5BDA3E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17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0A3011C-91C0-6ECB-E763-E257A3FFD2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337527"/>
              </p:ext>
            </p:extLst>
          </p:nvPr>
        </p:nvGraphicFramePr>
        <p:xfrm>
          <a:off x="238125" y="952500"/>
          <a:ext cx="8667750" cy="1466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>
                  <a:extLst>
                    <a:ext uri="{9D8B030D-6E8A-4147-A177-3AD203B41FA5}">
                      <a16:colId xmlns:a16="http://schemas.microsoft.com/office/drawing/2014/main" val="2658994905"/>
                    </a:ext>
                  </a:extLst>
                </a:gridCol>
                <a:gridCol w="666750">
                  <a:extLst>
                    <a:ext uri="{9D8B030D-6E8A-4147-A177-3AD203B41FA5}">
                      <a16:colId xmlns:a16="http://schemas.microsoft.com/office/drawing/2014/main" val="1319414705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1934028545"/>
                    </a:ext>
                  </a:extLst>
                </a:gridCol>
                <a:gridCol w="714375">
                  <a:extLst>
                    <a:ext uri="{9D8B030D-6E8A-4147-A177-3AD203B41FA5}">
                      <a16:colId xmlns:a16="http://schemas.microsoft.com/office/drawing/2014/main" val="45325583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357147287"/>
                    </a:ext>
                  </a:extLst>
                </a:gridCol>
                <a:gridCol w="1666875">
                  <a:extLst>
                    <a:ext uri="{9D8B030D-6E8A-4147-A177-3AD203B41FA5}">
                      <a16:colId xmlns:a16="http://schemas.microsoft.com/office/drawing/2014/main" val="4164707550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Part (100 V X7S)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Size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b-NO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</a:t>
                      </a:r>
                      <a:r>
                        <a:rPr lang="nb-NO" sz="128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nom</a:t>
                      </a:r>
                      <a:r>
                        <a:rPr lang="nb-NO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 → C at 75 V</a:t>
                      </a:r>
                      <a:endParaRPr lang="sv-SE" sz="128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Kept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ESR 50 kHz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Parts / leg (3 %)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584741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Murata GRM32EC72A106KE05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1210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10.0 → 1.50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15 %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61256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TDK C3225X7S2A475K200AB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1210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4.7 → 0.92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19 %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12.3 m</a:t>
                      </a:r>
                      <a:r>
                        <a:rPr lang="el-GR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8089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TDK C4532X7S2A475K230KB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1812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4.7 → 1.10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23 %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13.1 m</a:t>
                      </a:r>
                      <a:r>
                        <a:rPr lang="el-GR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112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770962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TDK C5750X7S2A106K230KB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2220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10.0 → 2.45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24 %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6.4 m</a:t>
                      </a:r>
                      <a:r>
                        <a:rPr lang="el-GR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51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930827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TDK C5750X7S2A156M250KB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2220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15.0 → 3.80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25 %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3.6 m</a:t>
                      </a:r>
                      <a:r>
                        <a:rPr lang="el-GR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941549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TDK C5750X7S2A226M280KB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2220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22.0 → 6.35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29 %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2.8 m</a:t>
                      </a:r>
                      <a:r>
                        <a:rPr lang="el-GR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2775801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D9773A7-9352-B0A7-F770-697061CE63FF}"/>
              </a:ext>
            </a:extLst>
          </p:cNvPr>
          <p:cNvSpPr txBox="1"/>
          <p:nvPr/>
        </p:nvSpPr>
        <p:spPr>
          <a:xfrm>
            <a:off x="238125" y="285750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DC bias at 75 V from the manufacturers' characteristic data (TDK, Murata): 100 V class-II MLCCs keep only 15–29 %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TDK C5750X7S2A226M280KB (2220, 22 µF): highest C per part and per area (0.22 µF/mm²), 2.8 mΩ, 4.5 A for +10 K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Checks: 2.8 mm height under the heatsink spreader; 2220 flex cracking ⇒ away from the board edge and holes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8" name="decision">
            <a:extLst>
              <a:ext uri="{FF2B5EF4-FFF2-40B4-BE49-F238E27FC236}">
                <a16:creationId xmlns:a16="http://schemas.microsoft.com/office/drawing/2014/main" id="{8755D1EF-DE5B-09D1-3E64-40CE20399F1C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Bank: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20 × TDK C5750X7S2A226M280KB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per leg (2 rows), 127 µF effective, 1.4 A ripple per part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45517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BFC20F-5E6C-E8C4-0879-52F80A8F69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Bypass capacitors: how many and how large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55C836-7BE5-BF51-62A2-544720CBB8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1E61CE-399F-C340-C712-804E4E23EA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18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CBF99BD-333B-2125-E6D9-6D7AA15AD9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4191000" cy="32131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068AF8E-322F-5B5A-FFEA-2981E22111BB}"/>
              </a:ext>
            </a:extLst>
          </p:cNvPr>
          <p:cNvSpPr txBox="1"/>
          <p:nvPr/>
        </p:nvSpPr>
        <p:spPr>
          <a:xfrm>
            <a:off x="4572000" y="952500"/>
            <a:ext cx="43338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Bypass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(1 µF 0805 at the drains) supplies the edge, </a:t>
            </a:r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bank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the f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sw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ripple; per cell 81 A: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di/dt → number: 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Cu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+ ESL/n ≈ 0.5 nH ⇒ n ≥ 4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Hand-over to the bank through 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b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: C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bp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≥ 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b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(</a:t>
            </a:r>
            <a:r>
              <a:rPr lang="el-GR" sz="1280">
                <a:solidFill>
                  <a:srgbClr val="1E1E1E"/>
                </a:solidFill>
                <a:latin typeface="Arial" panose="020B0604020202020204" pitchFamily="34" charset="0"/>
              </a:rPr>
              <a:t>Δ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I/</a:t>
            </a:r>
            <a:r>
              <a:rPr lang="el-GR" sz="1280">
                <a:solidFill>
                  <a:srgbClr val="1E1E1E"/>
                </a:solidFill>
                <a:latin typeface="Arial" panose="020B0604020202020204" pitchFamily="34" charset="0"/>
              </a:rPr>
              <a:t>Δ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V)² </a:t>
            </a:r>
            <a:r>
              <a:rPr lang="sv-SE" sz="1280" b="1">
                <a:solidFill>
                  <a:srgbClr val="C84632"/>
                </a:solidFill>
                <a:latin typeface="Arial" panose="020B0604020202020204" pitchFamily="34" charset="0"/>
              </a:rPr>
              <a:t>sets the value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b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from Q3D: (pending)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0805 1 µF 100 V X7S keeps only </a:t>
            </a:r>
            <a:r>
              <a:rPr lang="sv-SE" sz="1280" b="1">
                <a:solidFill>
                  <a:srgbClr val="1E1E1E"/>
                </a:solidFill>
                <a:latin typeface="Arial" panose="020B0604020202020204" pitchFamily="34" charset="0"/>
              </a:rPr>
              <a:t>18 %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at 75 V (TDK data): 0.18 µF per part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dip for 6 / 10 per cell: (pending bank model)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425292D9-741F-80CA-1601-E393FA559CC9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10 × 1 µF 0805 per cell: 6 on top at the drains + 4 on the bottom, identical in all cells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20086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6F7797-8545-99A2-73C7-D0DA0E4E9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DC link of one leg board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A14656-019D-78F8-A837-27E3705385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676200-9CE4-B6D5-3A62-01497307C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19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6C45FD0-84C9-5BF1-889A-B2FFA5CCB3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4977862"/>
              </p:ext>
            </p:extLst>
          </p:nvPr>
        </p:nvGraphicFramePr>
        <p:xfrm>
          <a:off x="238125" y="952500"/>
          <a:ext cx="4953000" cy="838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2625">
                  <a:extLst>
                    <a:ext uri="{9D8B030D-6E8A-4147-A177-3AD203B41FA5}">
                      <a16:colId xmlns:a16="http://schemas.microsoft.com/office/drawing/2014/main" val="441268938"/>
                    </a:ext>
                  </a:extLst>
                </a:gridCol>
                <a:gridCol w="1381125">
                  <a:extLst>
                    <a:ext uri="{9D8B030D-6E8A-4147-A177-3AD203B41FA5}">
                      <a16:colId xmlns:a16="http://schemas.microsoft.com/office/drawing/2014/main" val="1757132857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105679425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350773838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Per leg board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Parts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Nominal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At 75 V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105959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Bypass, 10 per cell × 4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40 × 1 µF 0805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40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499536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Bank, rows A (8) + B (12)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20 × 22 µF 2220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440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127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108120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Total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480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134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8261578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911DA17B-0945-69DF-29DC-0608804277C7}"/>
              </a:ext>
            </a:extLst>
          </p:cNvPr>
          <p:cNvSpPr txBox="1"/>
          <p:nvPr/>
        </p:nvSpPr>
        <p:spPr>
          <a:xfrm>
            <a:off x="238125" y="2381250"/>
            <a:ext cx="4953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Ripple at 50 kHz with the three legs of a level sharing: </a:t>
            </a:r>
            <a:r>
              <a:rPr lang="en-US" sz="1470" b="1">
                <a:solidFill>
                  <a:srgbClr val="1E1E1E"/>
                </a:solidFill>
                <a:latin typeface="Arial" panose="020B0604020202020204" pitchFamily="34" charset="0"/>
              </a:rPr>
              <a:t>2.1 V (2.9 %)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Leg alone (DPT, back-to-back test without the busbar): ≈ 2× higher, acceptable for the lab tests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Bank ≥ 10 × bypass (127 vs 7 µF eff.): fulfilled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Row A leaves the board centre free for the DC terminal pins</a:t>
            </a:r>
            <a:endParaRPr lang="sv-SE" sz="147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9FF4B6A-8A33-B84F-D3BE-0D714A2FC2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1625" y="952500"/>
            <a:ext cx="3524250" cy="2476688"/>
          </a:xfrm>
          <a:prstGeom prst="rect">
            <a:avLst/>
          </a:prstGeom>
        </p:spPr>
      </p:pic>
      <p:sp>
        <p:nvSpPr>
          <p:cNvPr id="10" name="decision">
            <a:extLst>
              <a:ext uri="{FF2B5EF4-FFF2-40B4-BE49-F238E27FC236}">
                <a16:creationId xmlns:a16="http://schemas.microsoft.com/office/drawing/2014/main" id="{32D1EF5B-3C68-F390-7F7A-D0BFE5980DCB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Same DC link on the DPT and load-test boards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08565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A9613-7FFD-87C0-96E6-77FD3C6E2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Can one driver drive all four?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34A9682-B1BC-CC34-5C45-60FD0FE512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0A8B54-6CEB-7FF6-7BFF-FB67A4424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20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D4F2ED3-62B0-0988-4291-9439EF2960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0425" y="952500"/>
            <a:ext cx="7423150" cy="23336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6C53270-8F91-6ABE-FA3D-4F291971E247}"/>
              </a:ext>
            </a:extLst>
          </p:cNvPr>
          <p:cNvSpPr txBox="1"/>
          <p:nvPr/>
        </p:nvSpPr>
        <p:spPr>
          <a:xfrm>
            <a:off x="238125" y="33337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Why E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per transistor rises with n per channel: the n gate capacitances (n × 3.6 nF C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iss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) charge through one driver output (4 A source, 0.85 Ω) and a longer shared gate trace ⇒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GS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rises n× slower ⇒ lower di/dt and dv/dt at turn-on ⇒ longer V–I overlap: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+16 / +31 / +60 %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E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for 3 / 4 / 6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(b) Extra gate-loop inductance of the longer tree raises the gate bump; (a) peak sink current 12–14 A for 4–6 devices exceeds the 8 A rating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(c) One channel per device is symmetric but needs 4 channels and supplies per switch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85838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1B7789-0A88-D404-3944-2B0BF9751F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Driver arrangement for 1 … 4 EPC2361 per switch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D6AC80-072A-B9FD-C37F-FCCEC8A212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D7A4F3-EAC8-39C1-86C0-CFBCB97E2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21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52AE954-2E3C-6C26-95FB-DA33ACAA23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5334000" cy="293136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95520CB-3631-2AFC-A04A-C494915FAD2C}"/>
              </a:ext>
            </a:extLst>
          </p:cNvPr>
          <p:cNvSpPr txBox="1"/>
          <p:nvPr/>
        </p:nvSpPr>
        <p:spPr>
          <a:xfrm>
            <a:off x="5715000" y="952500"/>
            <a:ext cx="31908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One dual-channel driver (HS + LS) between two cells: both gate loops equal, short (≈ 1.7 nH) and with their own Kelvin return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n = 3 breaks the symmetry (pair + single)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n = 4: two pairs, two drivers, one star per pair ⇒ the building block of two mirrored cells</a:t>
            </a:r>
            <a:endParaRPr lang="sv-SE" sz="147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E1CBB2D3-58F9-15A0-7FF1-0E89B3E9D83B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2 × EPC2361 per driver channel; 4 per switch = two pairs = two drivers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61648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62A42E-9579-E644-459E-26F2CFC3A3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Gate driver selection: why the 2EDF7275K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52808F-B075-2FFE-01CF-530E87D90F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FD12AA-3670-7DF7-61B4-5F30F7DBB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22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45DB687-C771-3079-3EF8-8405A3E188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7736371"/>
              </p:ext>
            </p:extLst>
          </p:nvPr>
        </p:nvGraphicFramePr>
        <p:xfrm>
          <a:off x="238125" y="952500"/>
          <a:ext cx="8667750" cy="1466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5500">
                  <a:extLst>
                    <a:ext uri="{9D8B030D-6E8A-4147-A177-3AD203B41FA5}">
                      <a16:colId xmlns:a16="http://schemas.microsoft.com/office/drawing/2014/main" val="2870547073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4043557142"/>
                    </a:ext>
                  </a:extLst>
                </a:gridCol>
                <a:gridCol w="2143125">
                  <a:extLst>
                    <a:ext uri="{9D8B030D-6E8A-4147-A177-3AD203B41FA5}">
                      <a16:colId xmlns:a16="http://schemas.microsoft.com/office/drawing/2014/main" val="3759504833"/>
                    </a:ext>
                  </a:extLst>
                </a:gridCol>
                <a:gridCol w="2143125">
                  <a:extLst>
                    <a:ext uri="{9D8B030D-6E8A-4147-A177-3AD203B41FA5}">
                      <a16:colId xmlns:a16="http://schemas.microsoft.com/office/drawing/2014/main" val="3639457881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2EDF7275K (Infineon)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1EDF5673K (Infineon)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LMG1210 (TI)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942831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Channels / isolation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2, each output isolated (functional)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1, isolated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half bridge, bootstrap HS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217679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Peak source / sink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 A / 8 A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0.85 Ω / 0.35 Ω output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1.5 A / 3 A class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858813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Prop. delay / mismatch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37 ns / ≤ 3 ns ch-ch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37 ns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≤ 21 ns / ≤ 3.4 ns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57981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CMTI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150 V/ns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&gt; 200 V/ns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de-D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300 V/ns (HS dv/dt)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529707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Off-voltage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external (Zener split)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built-in negative (RC)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 V only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504222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ICs per switch (4 EPC2361)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(one per pair)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(weak for a pair)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5288138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33747E9F-9509-503E-8E10-C720F4BF1525}"/>
              </a:ext>
            </a:extLst>
          </p:cNvPr>
          <p:cNvSpPr txBox="1"/>
          <p:nvPr/>
        </p:nvSpPr>
        <p:spPr>
          <a:xfrm>
            <a:off x="238125" y="309562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A pair needs ≈ 2 × 3.6 nF: 4 A / 8 A drives it at the single-device speed; the 1.5 A / 3 A half-bridge driver does not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Two isolated outputs in one 5 × 5 mm LGA: HS and LS of the same pair from one IC, ≤ 3 ns channel mismatch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Floating outputs: each output gets its own supply split (5.1 V Zener on, −1.2 V off) for the bump margin (next)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38F7D6-7DDF-4399-DAF3-6EDFAF1C98EA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Data: Infineon / TI product pages and datasheets (2EDF7275K, 1EDF5673K, LMG1210); check the current revision.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17271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BA3E6-317C-B259-F1D2-4423C74800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Why symmetry: what sets the current sharing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A9C5647-04B9-A0E8-9A2E-23C9482996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FC0914-8BEF-5700-B6BC-AFED21706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23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3AFEE14-FADF-4222-22FF-1441908F52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688" y="952500"/>
            <a:ext cx="6890624" cy="1666875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B2341CE-F1A3-2B30-9B31-D88823413B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0217825"/>
              </p:ext>
            </p:extLst>
          </p:nvPr>
        </p:nvGraphicFramePr>
        <p:xfrm>
          <a:off x="238125" y="2667000"/>
          <a:ext cx="8667750" cy="1466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>
                  <a:extLst>
                    <a:ext uri="{9D8B030D-6E8A-4147-A177-3AD203B41FA5}">
                      <a16:colId xmlns:a16="http://schemas.microsoft.com/office/drawing/2014/main" val="361253036"/>
                    </a:ext>
                  </a:extLst>
                </a:gridCol>
                <a:gridCol w="1238250">
                  <a:extLst>
                    <a:ext uri="{9D8B030D-6E8A-4147-A177-3AD203B41FA5}">
                      <a16:colId xmlns:a16="http://schemas.microsoft.com/office/drawing/2014/main" val="3830640381"/>
                    </a:ext>
                  </a:extLst>
                </a:gridCol>
                <a:gridCol w="2000250">
                  <a:extLst>
                    <a:ext uri="{9D8B030D-6E8A-4147-A177-3AD203B41FA5}">
                      <a16:colId xmlns:a16="http://schemas.microsoft.com/office/drawing/2014/main" val="2215662761"/>
                    </a:ext>
                  </a:extLst>
                </a:gridCol>
                <a:gridCol w="2571750">
                  <a:extLst>
                    <a:ext uri="{9D8B030D-6E8A-4147-A177-3AD203B41FA5}">
                      <a16:colId xmlns:a16="http://schemas.microsoft.com/office/drawing/2014/main" val="625593491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Asymmetry (LTspice, two EPC2361 in parallel)</a:t>
                      </a:r>
                      <a:endParaRPr lang="sv-SE" sz="110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Case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E</a:t>
                      </a:r>
                      <a:r>
                        <a:rPr lang="sv-SE" sz="110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on</a:t>
                      </a:r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+E</a:t>
                      </a:r>
                      <a:r>
                        <a:rPr lang="sv-SE" sz="110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off</a:t>
                      </a:r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 imbalance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Layout measure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040213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Power-loop inductance mismatch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+0.3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mirrored cells, identical via sets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078585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Gate-loop inductance mismatch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2 vs 8 nH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19 %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(E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4 : 1)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star network, equal gate traces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627896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Common-source inductance, no Kelvin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symmetric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0 %, both +47 % E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Kelvin pad per device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430210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Common-source mismatch, no Kelvin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CS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+0.2 nH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29 %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Kelvin return per device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501110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Threshold spread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th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+0.3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same driver channel per pair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994356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Static (conduction): copper / R</a:t>
                      </a:r>
                      <a:r>
                        <a:rPr lang="en-US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DS(on)</a:t>
                      </a:r>
                      <a:endParaRPr lang="sv-SE" sz="1100" baseline="-250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self-limiting (positive TC)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symmetric copper (Q3D, step 11)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382826"/>
                  </a:ext>
                </a:extLst>
              </a:tr>
            </a:tbl>
          </a:graphicData>
        </a:graphic>
      </p:graphicFrame>
      <p:sp>
        <p:nvSpPr>
          <p:cNvPr id="9" name="decision">
            <a:extLst>
              <a:ext uri="{FF2B5EF4-FFF2-40B4-BE49-F238E27FC236}">
                <a16:creationId xmlns:a16="http://schemas.microsoft.com/office/drawing/2014/main" id="{DD84421A-B8CD-7902-C8AB-29765DC24EDF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Star gate network with Kelvin returns, one driver channel per pair, mirrored cells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92587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FAB890-D8C2-9313-43D0-B92C85E88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Gate bump and negative off-voltage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919661-8BFA-BEC6-B541-50ADA9B6D8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A396B5-F668-AD50-2D2C-646FA10C3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24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6323E29-FC69-3C4C-7021-3D6ED2D121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5334000" cy="135731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08FE84D-312E-331D-05FF-64C4711876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2857500"/>
            <a:ext cx="5334000" cy="183293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2D55617-91CE-CBAF-8A36-F09601C258C4}"/>
              </a:ext>
            </a:extLst>
          </p:cNvPr>
          <p:cNvSpPr txBox="1"/>
          <p:nvPr/>
        </p:nvSpPr>
        <p:spPr>
          <a:xfrm>
            <a:off x="5715000" y="952500"/>
            <a:ext cx="31908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 b="1">
                <a:solidFill>
                  <a:srgbClr val="1E1E1E"/>
                </a:solidFill>
                <a:latin typeface="Arial" panose="020B0604020202020204" pitchFamily="34" charset="0"/>
              </a:rPr>
              <a:t>Bump: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when the other device of the leg turns on, the off device sees dv/dt; C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GD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·dv/dt flows through its gate loop and lifts 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by ≈ Q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GD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/C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≈ 1.06 V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Independent of load current and bus voltage (top b, c); close to the 0.8 V minimum threshold ⇒ shoot-through risk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 b="1">
                <a:solidFill>
                  <a:srgbClr val="1E1E1E"/>
                </a:solidFill>
                <a:latin typeface="Arial" panose="020B0604020202020204" pitchFamily="34" charset="0"/>
              </a:rPr>
              <a:t>Negative off-voltage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shifts the whole bump down: −1 V ⇒ peak ≈ 0 V; extra C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divides it further (bottom)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Cost: reverse conduction in the dead time at 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SD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+ |V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off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| ⇒ +0.1 W per leg; undershoot −2.3 V (limit −4 V)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Implemented: 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GS,off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= −(V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ISO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− 5.1 V) ≈ −1.2 V</a:t>
            </a:r>
            <a:endParaRPr lang="sv-SE" sz="119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91547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7FCBE4-93F9-42A6-FE74-8AA6CEA9A6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Building block: two mirrored cells, one centre driver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1D1F6C-3051-084E-966E-1BA0A9124C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95E2E4-15AA-7D53-91E9-E994C4084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25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F2678FA-B8A2-C8FE-C322-6DDFA9D22A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5143500" cy="321468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0E31CDE-865B-07CA-1AD6-BEC62DC4694C}"/>
              </a:ext>
            </a:extLst>
          </p:cNvPr>
          <p:cNvSpPr txBox="1"/>
          <p:nvPr/>
        </p:nvSpPr>
        <p:spPr>
          <a:xfrm>
            <a:off x="5524500" y="952500"/>
            <a:ext cx="33813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Q3D model of the final board (cell band): copper per net, vias, FET pads and bypass terminals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Two cells mirrored about the driver: identical gate loops and Kelvin returns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One 2EDF7275K channel drives a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pair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(star network, R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G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0.5 Ω per transistor)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Each cell keeps its own commutation loop (step 11: 0.41 nH load board, 0.65 nH DPT board)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15C61BC3-13BD-FBD4-333F-2CE2F7BAE3AA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2 × EPC2361 per channel;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4 per switch = two pairs, two drivers, one leg board</a:t>
            </a:r>
            <a:endParaRPr lang="sv-SE" sz="1380" b="1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99930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3F4F6-35F7-8E10-1452-D0CD72AAEE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Rev B: four cells per switch, two drivers, one leg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E6A3224-6A94-CF4A-EF8F-476645A4A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651687-1B29-E7C8-3F74-B4A2B9BB6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26</a:t>
            </a:fld>
            <a:endParaRPr lang="sv-SE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A9CBABF-52DD-DBCB-AD04-BC44F3F10B03}"/>
              </a:ext>
            </a:extLst>
          </p:cNvPr>
          <p:cNvSpPr/>
          <p:nvPr/>
        </p:nvSpPr>
        <p:spPr>
          <a:xfrm>
            <a:off x="333375" y="1143000"/>
            <a:ext cx="4476750" cy="3143250"/>
          </a:xfrm>
          <a:prstGeom prst="rect">
            <a:avLst/>
          </a:prstGeom>
          <a:solidFill>
            <a:srgbClr val="FFFFFF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5400" rIns="25400" rtlCol="0" anchor="ctr"/>
          <a:lstStyle/>
          <a:p>
            <a:pPr algn="ctr"/>
            <a:endParaRPr lang="sv-SE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CE98FC-5798-3746-DF73-74F7D05A70F9}"/>
              </a:ext>
            </a:extLst>
          </p:cNvPr>
          <p:cNvSpPr txBox="1"/>
          <p:nvPr/>
        </p:nvSpPr>
        <p:spPr>
          <a:xfrm>
            <a:off x="381000" y="1171575"/>
            <a:ext cx="285750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r>
              <a:rPr lang="en-US" sz="1010" b="1">
                <a:solidFill>
                  <a:srgbClr val="787878"/>
                </a:solidFill>
                <a:latin typeface="Arial" panose="020B0604020202020204" pitchFamily="34" charset="0"/>
              </a:rPr>
              <a:t>Rev B leg board, 89.5 × 85.2 mm, 4 layers</a:t>
            </a:r>
            <a:endParaRPr lang="sv-SE" sz="1010" b="1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477CBC9-1C28-37CE-AAE5-6AF2B8302A7C}"/>
              </a:ext>
            </a:extLst>
          </p:cNvPr>
          <p:cNvSpPr/>
          <p:nvPr/>
        </p:nvSpPr>
        <p:spPr>
          <a:xfrm>
            <a:off x="2095500" y="1352550"/>
            <a:ext cx="428625" cy="209550"/>
          </a:xfrm>
          <a:prstGeom prst="roundRect">
            <a:avLst/>
          </a:prstGeom>
          <a:solidFill>
            <a:srgbClr val="FAE9E6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920" b="1">
                <a:solidFill>
                  <a:srgbClr val="1E1E1E"/>
                </a:solidFill>
                <a:latin typeface="Arial" panose="020B0604020202020204" pitchFamily="34" charset="0"/>
              </a:rPr>
              <a:t>DC+</a:t>
            </a:r>
            <a:endParaRPr lang="sv-SE" sz="920" b="1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DF60C4E-D72A-C013-0636-AE1BE9AB1BD7}"/>
              </a:ext>
            </a:extLst>
          </p:cNvPr>
          <p:cNvSpPr/>
          <p:nvPr/>
        </p:nvSpPr>
        <p:spPr>
          <a:xfrm>
            <a:off x="2619375" y="1352550"/>
            <a:ext cx="428625" cy="209550"/>
          </a:xfrm>
          <a:prstGeom prst="roundRect">
            <a:avLst/>
          </a:prstGeom>
          <a:solidFill>
            <a:srgbClr val="E8EFF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920" b="1">
                <a:solidFill>
                  <a:srgbClr val="1E1E1E"/>
                </a:solidFill>
                <a:latin typeface="Arial" panose="020B0604020202020204" pitchFamily="34" charset="0"/>
              </a:rPr>
              <a:t>DC−</a:t>
            </a:r>
            <a:endParaRPr lang="sv-SE" sz="920" b="1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16FA731-D4DE-D3C9-E066-9F50120D8C8F}"/>
              </a:ext>
            </a:extLst>
          </p:cNvPr>
          <p:cNvCxnSpPr/>
          <p:nvPr/>
        </p:nvCxnSpPr>
        <p:spPr>
          <a:xfrm>
            <a:off x="523875" y="1638300"/>
            <a:ext cx="4095750" cy="0"/>
          </a:xfrm>
          <a:prstGeom prst="line">
            <a:avLst/>
          </a:prstGeom>
          <a:ln w="508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29D99EE-82CF-3982-2A3E-BA6711FEFC50}"/>
              </a:ext>
            </a:extLst>
          </p:cNvPr>
          <p:cNvCxnSpPr/>
          <p:nvPr/>
        </p:nvCxnSpPr>
        <p:spPr>
          <a:xfrm>
            <a:off x="523875" y="1752600"/>
            <a:ext cx="4095750" cy="0"/>
          </a:xfrm>
          <a:prstGeom prst="line">
            <a:avLst/>
          </a:prstGeom>
          <a:ln w="508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C8E4701-D920-96D9-EC89-610D29232761}"/>
              </a:ext>
            </a:extLst>
          </p:cNvPr>
          <p:cNvCxnSpPr/>
          <p:nvPr/>
        </p:nvCxnSpPr>
        <p:spPr>
          <a:xfrm>
            <a:off x="2305050" y="1562100"/>
            <a:ext cx="0" cy="76200"/>
          </a:xfrm>
          <a:prstGeom prst="line">
            <a:avLst/>
          </a:prstGeom>
          <a:ln w="381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AA2DCBA-A5AC-E3BA-E68E-34FCE6405894}"/>
              </a:ext>
            </a:extLst>
          </p:cNvPr>
          <p:cNvCxnSpPr/>
          <p:nvPr/>
        </p:nvCxnSpPr>
        <p:spPr>
          <a:xfrm>
            <a:off x="2828925" y="1562100"/>
            <a:ext cx="0" cy="190500"/>
          </a:xfrm>
          <a:prstGeom prst="line">
            <a:avLst/>
          </a:prstGeom>
          <a:ln w="381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2A70137-157F-A220-90F8-8E8D2540EFAE}"/>
              </a:ext>
            </a:extLst>
          </p:cNvPr>
          <p:cNvSpPr txBox="1"/>
          <p:nvPr/>
        </p:nvSpPr>
        <p:spPr>
          <a:xfrm>
            <a:off x="523875" y="1428750"/>
            <a:ext cx="152400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r>
              <a:rPr lang="en-US" sz="830">
                <a:solidFill>
                  <a:srgbClr val="787878"/>
                </a:solidFill>
                <a:latin typeface="Arial" panose="020B0604020202020204" pitchFamily="34" charset="0"/>
              </a:rPr>
              <a:t>laminated terminal row + one bank</a:t>
            </a:r>
            <a:endParaRPr lang="sv-SE" sz="8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F3B6416-E5AA-AE6D-F9E4-66AEE4CC7FC2}"/>
              </a:ext>
            </a:extLst>
          </p:cNvPr>
          <p:cNvSpPr/>
          <p:nvPr/>
        </p:nvSpPr>
        <p:spPr>
          <a:xfrm>
            <a:off x="619125" y="1952625"/>
            <a:ext cx="857250" cy="619125"/>
          </a:xfrm>
          <a:prstGeom prst="roundRect">
            <a:avLst/>
          </a:prstGeom>
          <a:solidFill>
            <a:srgbClr val="FAE9E6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cell 1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HS + LS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EPC2361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1D468C7-CDDA-2951-1EE8-C3BB806DD944}"/>
              </a:ext>
            </a:extLst>
          </p:cNvPr>
          <p:cNvSpPr/>
          <p:nvPr/>
        </p:nvSpPr>
        <p:spPr>
          <a:xfrm>
            <a:off x="666750" y="2667000"/>
            <a:ext cx="762000" cy="247650"/>
          </a:xfrm>
          <a:prstGeom prst="roundRect">
            <a:avLst/>
          </a:prstGeom>
          <a:solidFill>
            <a:srgbClr val="E2F3E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730">
                <a:solidFill>
                  <a:srgbClr val="1E1E1E"/>
                </a:solidFill>
                <a:latin typeface="Arial" panose="020B0604020202020204" pitchFamily="34" charset="0"/>
              </a:rPr>
              <a:t>UFCS (DPT only)</a:t>
            </a:r>
            <a:endParaRPr lang="sv-SE" sz="7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3803BE7-2672-6870-5086-E1C333CD2217}"/>
              </a:ext>
            </a:extLst>
          </p:cNvPr>
          <p:cNvCxnSpPr/>
          <p:nvPr/>
        </p:nvCxnSpPr>
        <p:spPr>
          <a:xfrm>
            <a:off x="904875" y="1638300"/>
            <a:ext cx="0" cy="314325"/>
          </a:xfrm>
          <a:prstGeom prst="line">
            <a:avLst/>
          </a:prstGeom>
          <a:ln w="254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00857D2-2395-A9E3-F494-5647C4412F2C}"/>
              </a:ext>
            </a:extLst>
          </p:cNvPr>
          <p:cNvCxnSpPr/>
          <p:nvPr/>
        </p:nvCxnSpPr>
        <p:spPr>
          <a:xfrm>
            <a:off x="1190625" y="1752600"/>
            <a:ext cx="0" cy="200025"/>
          </a:xfrm>
          <a:prstGeom prst="line">
            <a:avLst/>
          </a:prstGeom>
          <a:ln w="254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16899AC-C5B4-6BB6-76AB-2B274D269783}"/>
              </a:ext>
            </a:extLst>
          </p:cNvPr>
          <p:cNvCxnSpPr/>
          <p:nvPr/>
        </p:nvCxnSpPr>
        <p:spPr>
          <a:xfrm>
            <a:off x="1047750" y="2571750"/>
            <a:ext cx="0" cy="9525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396B680-183D-7648-CCBE-4601C03460EE}"/>
              </a:ext>
            </a:extLst>
          </p:cNvPr>
          <p:cNvCxnSpPr/>
          <p:nvPr/>
        </p:nvCxnSpPr>
        <p:spPr>
          <a:xfrm>
            <a:off x="1047750" y="3286125"/>
            <a:ext cx="0" cy="190500"/>
          </a:xfrm>
          <a:prstGeom prst="line">
            <a:avLst/>
          </a:prstGeom>
          <a:ln w="3810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D77AB4CE-20DF-64ED-3C93-AD8992FE6306}"/>
              </a:ext>
            </a:extLst>
          </p:cNvPr>
          <p:cNvSpPr/>
          <p:nvPr/>
        </p:nvSpPr>
        <p:spPr>
          <a:xfrm>
            <a:off x="1666875" y="1952625"/>
            <a:ext cx="857250" cy="619125"/>
          </a:xfrm>
          <a:prstGeom prst="roundRect">
            <a:avLst/>
          </a:prstGeom>
          <a:solidFill>
            <a:srgbClr val="FAE9E6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cell 2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HS + LS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EPC2361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198FE9A5-49B4-BE66-7451-D6215F0B8BE6}"/>
              </a:ext>
            </a:extLst>
          </p:cNvPr>
          <p:cNvSpPr/>
          <p:nvPr/>
        </p:nvSpPr>
        <p:spPr>
          <a:xfrm>
            <a:off x="1714500" y="2667000"/>
            <a:ext cx="762000" cy="247650"/>
          </a:xfrm>
          <a:prstGeom prst="roundRect">
            <a:avLst/>
          </a:prstGeom>
          <a:solidFill>
            <a:srgbClr val="E2F3E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730">
                <a:solidFill>
                  <a:srgbClr val="1E1E1E"/>
                </a:solidFill>
                <a:latin typeface="Arial" panose="020B0604020202020204" pitchFamily="34" charset="0"/>
              </a:rPr>
              <a:t>UFCS (DPT only)</a:t>
            </a:r>
            <a:endParaRPr lang="sv-SE" sz="7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4FCBF54-1620-7671-62FE-34C4ECD0047C}"/>
              </a:ext>
            </a:extLst>
          </p:cNvPr>
          <p:cNvCxnSpPr/>
          <p:nvPr/>
        </p:nvCxnSpPr>
        <p:spPr>
          <a:xfrm>
            <a:off x="1952625" y="1638300"/>
            <a:ext cx="0" cy="314325"/>
          </a:xfrm>
          <a:prstGeom prst="line">
            <a:avLst/>
          </a:prstGeom>
          <a:ln w="254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22E307F-F54B-600B-758C-B5F053C6730F}"/>
              </a:ext>
            </a:extLst>
          </p:cNvPr>
          <p:cNvCxnSpPr/>
          <p:nvPr/>
        </p:nvCxnSpPr>
        <p:spPr>
          <a:xfrm>
            <a:off x="2238375" y="1752600"/>
            <a:ext cx="0" cy="200025"/>
          </a:xfrm>
          <a:prstGeom prst="line">
            <a:avLst/>
          </a:prstGeom>
          <a:ln w="254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D782197-964E-802F-DA11-D719FD43DCEA}"/>
              </a:ext>
            </a:extLst>
          </p:cNvPr>
          <p:cNvCxnSpPr/>
          <p:nvPr/>
        </p:nvCxnSpPr>
        <p:spPr>
          <a:xfrm>
            <a:off x="2095500" y="2571750"/>
            <a:ext cx="0" cy="9525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5E07F59-9202-DD46-DF29-05053F27E0F3}"/>
              </a:ext>
            </a:extLst>
          </p:cNvPr>
          <p:cNvCxnSpPr/>
          <p:nvPr/>
        </p:nvCxnSpPr>
        <p:spPr>
          <a:xfrm>
            <a:off x="2095500" y="3286125"/>
            <a:ext cx="0" cy="190500"/>
          </a:xfrm>
          <a:prstGeom prst="line">
            <a:avLst/>
          </a:prstGeom>
          <a:ln w="3810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BAF8EE2-2309-4B39-B915-8B0A2582C417}"/>
              </a:ext>
            </a:extLst>
          </p:cNvPr>
          <p:cNvSpPr/>
          <p:nvPr/>
        </p:nvSpPr>
        <p:spPr>
          <a:xfrm>
            <a:off x="2714625" y="1952625"/>
            <a:ext cx="857250" cy="619125"/>
          </a:xfrm>
          <a:prstGeom prst="roundRect">
            <a:avLst/>
          </a:prstGeom>
          <a:solidFill>
            <a:srgbClr val="FAE9E6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cell 3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HS + LS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EPC2361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61894A22-50A9-16AE-D670-51146BD48961}"/>
              </a:ext>
            </a:extLst>
          </p:cNvPr>
          <p:cNvSpPr/>
          <p:nvPr/>
        </p:nvSpPr>
        <p:spPr>
          <a:xfrm>
            <a:off x="2762250" y="2667000"/>
            <a:ext cx="762000" cy="247650"/>
          </a:xfrm>
          <a:prstGeom prst="roundRect">
            <a:avLst/>
          </a:prstGeom>
          <a:solidFill>
            <a:srgbClr val="E2F3E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730">
                <a:solidFill>
                  <a:srgbClr val="1E1E1E"/>
                </a:solidFill>
                <a:latin typeface="Arial" panose="020B0604020202020204" pitchFamily="34" charset="0"/>
              </a:rPr>
              <a:t>UFCS (DPT only)</a:t>
            </a:r>
            <a:endParaRPr lang="sv-SE" sz="7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5E65FA3-373A-2E5E-1B73-CB3F166BF339}"/>
              </a:ext>
            </a:extLst>
          </p:cNvPr>
          <p:cNvCxnSpPr/>
          <p:nvPr/>
        </p:nvCxnSpPr>
        <p:spPr>
          <a:xfrm>
            <a:off x="3000375" y="1638300"/>
            <a:ext cx="0" cy="314325"/>
          </a:xfrm>
          <a:prstGeom prst="line">
            <a:avLst/>
          </a:prstGeom>
          <a:ln w="254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38E2CD5-4E30-927C-EB26-7C178040B6A5}"/>
              </a:ext>
            </a:extLst>
          </p:cNvPr>
          <p:cNvCxnSpPr/>
          <p:nvPr/>
        </p:nvCxnSpPr>
        <p:spPr>
          <a:xfrm>
            <a:off x="3286125" y="1752600"/>
            <a:ext cx="0" cy="200025"/>
          </a:xfrm>
          <a:prstGeom prst="line">
            <a:avLst/>
          </a:prstGeom>
          <a:ln w="254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F4A30886-A2E3-3822-A9C8-ABF5E6B9C5A9}"/>
              </a:ext>
            </a:extLst>
          </p:cNvPr>
          <p:cNvCxnSpPr/>
          <p:nvPr/>
        </p:nvCxnSpPr>
        <p:spPr>
          <a:xfrm>
            <a:off x="3143250" y="2571750"/>
            <a:ext cx="0" cy="9525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F0A3ACD-80A8-9B15-B647-A704FC230B04}"/>
              </a:ext>
            </a:extLst>
          </p:cNvPr>
          <p:cNvCxnSpPr/>
          <p:nvPr/>
        </p:nvCxnSpPr>
        <p:spPr>
          <a:xfrm>
            <a:off x="3143250" y="3286125"/>
            <a:ext cx="0" cy="190500"/>
          </a:xfrm>
          <a:prstGeom prst="line">
            <a:avLst/>
          </a:prstGeom>
          <a:ln w="3810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F605DD0D-AE1C-C84F-63C5-23EE29091E3A}"/>
              </a:ext>
            </a:extLst>
          </p:cNvPr>
          <p:cNvSpPr/>
          <p:nvPr/>
        </p:nvSpPr>
        <p:spPr>
          <a:xfrm>
            <a:off x="3762375" y="1952625"/>
            <a:ext cx="857250" cy="619125"/>
          </a:xfrm>
          <a:prstGeom prst="roundRect">
            <a:avLst/>
          </a:prstGeom>
          <a:solidFill>
            <a:srgbClr val="FAE9E6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cell 4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HS + LS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EPC2361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5DBF6F5C-0C67-7A16-45F9-F0F159341DFA}"/>
              </a:ext>
            </a:extLst>
          </p:cNvPr>
          <p:cNvSpPr/>
          <p:nvPr/>
        </p:nvSpPr>
        <p:spPr>
          <a:xfrm>
            <a:off x="3810000" y="2667000"/>
            <a:ext cx="762000" cy="247650"/>
          </a:xfrm>
          <a:prstGeom prst="roundRect">
            <a:avLst/>
          </a:prstGeom>
          <a:solidFill>
            <a:srgbClr val="E2F3E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730">
                <a:solidFill>
                  <a:srgbClr val="1E1E1E"/>
                </a:solidFill>
                <a:latin typeface="Arial" panose="020B0604020202020204" pitchFamily="34" charset="0"/>
              </a:rPr>
              <a:t>UFCS (DPT only)</a:t>
            </a:r>
            <a:endParaRPr lang="sv-SE" sz="7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23A4C24-AF75-8813-FEB3-03E48177736E}"/>
              </a:ext>
            </a:extLst>
          </p:cNvPr>
          <p:cNvCxnSpPr/>
          <p:nvPr/>
        </p:nvCxnSpPr>
        <p:spPr>
          <a:xfrm>
            <a:off x="4048125" y="1638300"/>
            <a:ext cx="0" cy="314325"/>
          </a:xfrm>
          <a:prstGeom prst="line">
            <a:avLst/>
          </a:prstGeom>
          <a:ln w="254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D0AD5686-8A52-9BA9-995F-551932796345}"/>
              </a:ext>
            </a:extLst>
          </p:cNvPr>
          <p:cNvCxnSpPr/>
          <p:nvPr/>
        </p:nvCxnSpPr>
        <p:spPr>
          <a:xfrm>
            <a:off x="4333875" y="1752600"/>
            <a:ext cx="0" cy="200025"/>
          </a:xfrm>
          <a:prstGeom prst="line">
            <a:avLst/>
          </a:prstGeom>
          <a:ln w="254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8CDA5A94-2578-17AA-61DE-15E5059015AE}"/>
              </a:ext>
            </a:extLst>
          </p:cNvPr>
          <p:cNvCxnSpPr/>
          <p:nvPr/>
        </p:nvCxnSpPr>
        <p:spPr>
          <a:xfrm>
            <a:off x="4191000" y="2571750"/>
            <a:ext cx="0" cy="9525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1C4AF47B-658C-047C-F003-A76950C765A2}"/>
              </a:ext>
            </a:extLst>
          </p:cNvPr>
          <p:cNvCxnSpPr/>
          <p:nvPr/>
        </p:nvCxnSpPr>
        <p:spPr>
          <a:xfrm>
            <a:off x="4191000" y="3286125"/>
            <a:ext cx="0" cy="190500"/>
          </a:xfrm>
          <a:prstGeom prst="line">
            <a:avLst/>
          </a:prstGeom>
          <a:ln w="3810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3E08A552-1525-4A45-D150-F127AFA69B2F}"/>
              </a:ext>
            </a:extLst>
          </p:cNvPr>
          <p:cNvSpPr/>
          <p:nvPr/>
        </p:nvSpPr>
        <p:spPr>
          <a:xfrm>
            <a:off x="1000125" y="2981325"/>
            <a:ext cx="1047750" cy="266700"/>
          </a:xfrm>
          <a:prstGeom prst="roundRect">
            <a:avLst/>
          </a:prstGeom>
          <a:solidFill>
            <a:srgbClr val="E6F3E9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nn-NO" sz="830">
                <a:solidFill>
                  <a:srgbClr val="1E1E1E"/>
                </a:solidFill>
                <a:latin typeface="Arial" panose="020B0604020202020204" pitchFamily="34" charset="0"/>
              </a:rPr>
              <a:t>2EDF7275K #1</a:t>
            </a:r>
          </a:p>
          <a:p>
            <a:pPr algn="ctr"/>
            <a:r>
              <a:rPr lang="nn-NO" sz="830">
                <a:solidFill>
                  <a:srgbClr val="1E1E1E"/>
                </a:solidFill>
                <a:latin typeface="Arial" panose="020B0604020202020204" pitchFamily="34" charset="0"/>
              </a:rPr>
              <a:t>HS + LS, star</a:t>
            </a:r>
            <a:endParaRPr lang="sv-SE" sz="8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A0DCF9B9-D553-17EC-E1F8-A85783B81B46}"/>
              </a:ext>
            </a:extLst>
          </p:cNvPr>
          <p:cNvSpPr/>
          <p:nvPr/>
        </p:nvSpPr>
        <p:spPr>
          <a:xfrm>
            <a:off x="3095625" y="2981325"/>
            <a:ext cx="1047750" cy="266700"/>
          </a:xfrm>
          <a:prstGeom prst="roundRect">
            <a:avLst/>
          </a:prstGeom>
          <a:solidFill>
            <a:srgbClr val="E6F3E9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nn-NO" sz="830">
                <a:solidFill>
                  <a:srgbClr val="1E1E1E"/>
                </a:solidFill>
                <a:latin typeface="Arial" panose="020B0604020202020204" pitchFamily="34" charset="0"/>
              </a:rPr>
              <a:t>2EDF7275K #2</a:t>
            </a:r>
          </a:p>
          <a:p>
            <a:pPr algn="ctr"/>
            <a:r>
              <a:rPr lang="nn-NO" sz="830">
                <a:solidFill>
                  <a:srgbClr val="1E1E1E"/>
                </a:solidFill>
                <a:latin typeface="Arial" panose="020B0604020202020204" pitchFamily="34" charset="0"/>
              </a:rPr>
              <a:t>HS + LS, star</a:t>
            </a:r>
            <a:endParaRPr lang="sv-SE" sz="8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A74049C8-0B1A-E32D-9133-FED3E3E2D34A}"/>
              </a:ext>
            </a:extLst>
          </p:cNvPr>
          <p:cNvCxnSpPr/>
          <p:nvPr/>
        </p:nvCxnSpPr>
        <p:spPr>
          <a:xfrm>
            <a:off x="809625" y="3476625"/>
            <a:ext cx="3381375" cy="0"/>
          </a:xfrm>
          <a:prstGeom prst="line">
            <a:avLst/>
          </a:prstGeom>
          <a:ln w="6350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E69DF824-0690-0C25-3B74-783081BACBF8}"/>
              </a:ext>
            </a:extLst>
          </p:cNvPr>
          <p:cNvSpPr txBox="1"/>
          <p:nvPr/>
        </p:nvSpPr>
        <p:spPr>
          <a:xfrm>
            <a:off x="714375" y="3524250"/>
            <a:ext cx="171450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r>
              <a:rPr lang="en-US" sz="920" b="1">
                <a:solidFill>
                  <a:srgbClr val="1E1E1E"/>
                </a:solidFill>
                <a:latin typeface="Arial" panose="020B0604020202020204" pitchFamily="34" charset="0"/>
              </a:rPr>
              <a:t>AC joined in copper (all layers)</a:t>
            </a:r>
            <a:endParaRPr lang="sv-SE" sz="920" b="1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880C46A-5BD1-7C59-4384-75CB167DA69E}"/>
              </a:ext>
            </a:extLst>
          </p:cNvPr>
          <p:cNvCxnSpPr/>
          <p:nvPr/>
        </p:nvCxnSpPr>
        <p:spPr>
          <a:xfrm>
            <a:off x="2571750" y="3476625"/>
            <a:ext cx="0" cy="428625"/>
          </a:xfrm>
          <a:prstGeom prst="line">
            <a:avLst/>
          </a:prstGeom>
          <a:ln w="63500">
            <a:solidFill>
              <a:srgbClr val="1E1E1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11D8664B-7422-2D82-824D-325EF31F4E2E}"/>
              </a:ext>
            </a:extLst>
          </p:cNvPr>
          <p:cNvSpPr txBox="1"/>
          <p:nvPr/>
        </p:nvSpPr>
        <p:spPr>
          <a:xfrm>
            <a:off x="2667000" y="3714750"/>
            <a:ext cx="209550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ONE M6 AC bolt pad → Cu bar</a:t>
            </a:r>
          </a:p>
          <a:p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→ LEM HO 250-S → load</a:t>
            </a:r>
            <a:endParaRPr lang="sv-SE" sz="92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9097D77-783C-F1E9-D60E-64C5C0A7ADAF}"/>
              </a:ext>
            </a:extLst>
          </p:cNvPr>
          <p:cNvSpPr txBox="1"/>
          <p:nvPr/>
        </p:nvSpPr>
        <p:spPr>
          <a:xfrm>
            <a:off x="5000625" y="952500"/>
            <a:ext cx="3810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One leg: 4 EPC2361 per switch,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two 2EDF7275K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, each drives one pair (HS + LS channel) through a star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Why one driver per pair: the driver sits between its two cells ⇒ short, identical gate loops; one HS + one LS isolated supply, split per driver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One DC+ / DC− pair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at the centre: laminated terminal row (L1/L3 +, L2/L4 −) feeds one continuous bank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One AC output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: all four switch nodes joined, one M6 bolt pad, Cu bar through the HO 250-S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Built as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two boards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from the same generator: DPT (UFCS shunt per cell) and load test (no shunt)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82680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5E1A7-2A0C-5818-B0D2-957F01CFF7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Two boards from one design: double-pulse test and load test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93E25B-4250-2A40-A7DD-693A353476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83A0C1-F14A-931B-7A1D-DF39D0C18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27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6A2FEED-9DEF-5460-9E07-CD12F27DF6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9571560"/>
              </p:ext>
            </p:extLst>
          </p:nvPr>
        </p:nvGraphicFramePr>
        <p:xfrm>
          <a:off x="238125" y="952500"/>
          <a:ext cx="8667750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250">
                  <a:extLst>
                    <a:ext uri="{9D8B030D-6E8A-4147-A177-3AD203B41FA5}">
                      <a16:colId xmlns:a16="http://schemas.microsoft.com/office/drawing/2014/main" val="2743786452"/>
                    </a:ext>
                  </a:extLst>
                </a:gridCol>
                <a:gridCol w="3476625">
                  <a:extLst>
                    <a:ext uri="{9D8B030D-6E8A-4147-A177-3AD203B41FA5}">
                      <a16:colId xmlns:a16="http://schemas.microsoft.com/office/drawing/2014/main" val="761255086"/>
                    </a:ext>
                  </a:extLst>
                </a:gridCol>
                <a:gridCol w="3476625">
                  <a:extLst>
                    <a:ext uri="{9D8B030D-6E8A-4147-A177-3AD203B41FA5}">
                      <a16:colId xmlns:a16="http://schemas.microsoft.com/office/drawing/2014/main" val="720016876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DPT board (spb-bb-revb-dpt)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Load-test board (spb-bb-revb-load)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353600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Purpose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switching energies, per-cell current, overshoot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back-to-back / three-phase load test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482580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LS source path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PMK UFCS-R001 per cell (1 mΩ, 120 pH)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source stripes via-in-pad (blind L1–L2) to DC−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96006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UFCS land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IN land shortened to 1.2 mm: blade 1.45 mm from the source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262240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Cooling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none (pulsed test)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Fischer LAM 4 K 50 12 on an Al spreader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268241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Loop per cell (Q3D)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0.65 nH (mean)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0.41 nH (mean)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775670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v̂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at 30 A/ns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94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87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849617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Parts / DRC / schematic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200 footprints, DRC 0 / 0 / 0, schematic = PCB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200 footprints, DRC 0 / 0 / 0, schematic = PCB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914175"/>
                  </a:ext>
                </a:extLst>
              </a:tr>
            </a:tbl>
          </a:graphicData>
        </a:graphic>
      </p:graphicFrame>
      <p:sp>
        <p:nvSpPr>
          <p:cNvPr id="7" name="decision">
            <a:extLst>
              <a:ext uri="{FF2B5EF4-FFF2-40B4-BE49-F238E27FC236}">
                <a16:creationId xmlns:a16="http://schemas.microsoft.com/office/drawing/2014/main" id="{46CB9049-4116-CA45-C189-B93B2F1C8644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Same copper, drivers, bank and terminals; only the LS source path and the cooling differ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79279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FC83C-2609-2A08-B7AA-4BA1C84048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DPT board layout (UFCS shunts, no heatsink)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E55250-4DC3-A75C-4DDC-683C7C3A4E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A08665-4139-674F-C104-901937E34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28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4754D29-A87F-E819-9881-F03DFCC58F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386" y="952500"/>
            <a:ext cx="3896478" cy="37147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E644A99-BF64-D08F-22E0-CCFA21CA40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4375" y="952500"/>
            <a:ext cx="2190750" cy="209144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2F7310F-A97F-A92A-932E-ACB20372303A}"/>
              </a:ext>
            </a:extLst>
          </p:cNvPr>
          <p:cNvSpPr txBox="1"/>
          <p:nvPr/>
        </p:nvSpPr>
        <p:spPr>
          <a:xfrm>
            <a:off x="6810375" y="952500"/>
            <a:ext cx="20002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89.5 × 85.2 mm, 4 layers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UFCS-R001 per cell, IN land 1.2 mm (blade at the source edge), return vias in the SHLD pad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No heatsink, no spreader holes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DRC 0 / 0 / 0, schematic = PCB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552667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9396A3-D6C7-D866-33A3-048C754D58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Load-test board layout (no shunt, heatsink)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18A56C-3DD0-BC3F-D3EF-A870703DBE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9FAF0E-4A16-61BD-49B6-BE24D419D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29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6552FAB-C284-93FD-D78E-90D247CA3F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386" y="952500"/>
            <a:ext cx="3896478" cy="37147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C731EBE-534F-105E-74D2-47C9DDE377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4375" y="952500"/>
            <a:ext cx="2190750" cy="209144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77433B7-49A8-7C3B-F468-36742472CC13}"/>
              </a:ext>
            </a:extLst>
          </p:cNvPr>
          <p:cNvSpPr txBox="1"/>
          <p:nvPr/>
        </p:nvSpPr>
        <p:spPr>
          <a:xfrm>
            <a:off x="6810375" y="952500"/>
            <a:ext cx="20002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89.5 × 85.2 mm, 4 layers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LS source stripes: 3 blind L1–L2 vias each (filled, capped) into the DC− plane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LAM 4 K 50 12 over the cells, 3 spreader holes (H5–H7)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DRC 0 / 0 / 0, schematic = PCB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392127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F4896-9951-FC5E-8573-6FA23E1C5E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The two boards in 3D (KiCad models)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9E1D7C9-1FE5-8B97-D48C-B627F5877E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F33534-4A90-F045-54F6-F4AD2694F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30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F42AA56-3294-B729-DB89-7A10F34332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371" y="952500"/>
            <a:ext cx="4066134" cy="28575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8950386-7F53-66BC-F1F3-8E2F25DCC7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7048" y="952500"/>
            <a:ext cx="2968528" cy="28575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C2F1C6D-E7CA-A544-5F0A-6BEC4A8C2F00}"/>
              </a:ext>
            </a:extLst>
          </p:cNvPr>
          <p:cNvSpPr txBox="1"/>
          <p:nvPr/>
        </p:nvSpPr>
        <p:spPr>
          <a:xfrm>
            <a:off x="238125" y="3810000"/>
            <a:ext cx="4238625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010">
                <a:solidFill>
                  <a:srgbClr val="787878"/>
                </a:solidFill>
                <a:latin typeface="Arial" panose="020B0604020202020204" pitchFamily="34" charset="0"/>
              </a:rPr>
              <a:t>DPT board: UFCS shunts over the LS FETs, M6 AC bolt + Cu bar</a:t>
            </a:r>
            <a:endParaRPr lang="sv-SE" sz="101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31D75D1-3E72-1C64-2068-6CFDC390D5AF}"/>
              </a:ext>
            </a:extLst>
          </p:cNvPr>
          <p:cNvSpPr txBox="1"/>
          <p:nvPr/>
        </p:nvSpPr>
        <p:spPr>
          <a:xfrm>
            <a:off x="4572000" y="3810000"/>
            <a:ext cx="4238625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010">
                <a:solidFill>
                  <a:srgbClr val="787878"/>
                </a:solidFill>
                <a:latin typeface="Arial" panose="020B0604020202020204" pitchFamily="34" charset="0"/>
              </a:rPr>
              <a:t>Load-test board: LAM 4 K 50 12 + Al spreader</a:t>
            </a:r>
            <a:endParaRPr lang="sv-SE" sz="101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7170169-9A1C-9E54-3F0F-7F7CAF4F2186}"/>
              </a:ext>
            </a:extLst>
          </p:cNvPr>
          <p:cNvSpPr txBox="1"/>
          <p:nvPr/>
        </p:nvSpPr>
        <p:spPr>
          <a:xfrm>
            <a:off x="238125" y="404812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Every footprint has a 3D model (KiCad library + box models: EPC2361, 2EDF7275K, UFCS, TDK 2220, WE-CNSW, M6 bolt + bar, heatsink); board STEPs in hardware/spb-bb-revb-*/fab; rendered with pyvista (scripts/render_3d.py)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E9257DB-DE8A-CA22-9D97-0472DA21DFD4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Box models are dimensioned envelopes, not manufacturer CAD (UFCS SMA jack position approximate).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65141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CAD56-B119-CCB2-153B-A99A03A5F1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Top view with the silkscreen: DPT and load-test boards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231873-3CD1-C67B-B55D-2AC0057E5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E79CD0-59D1-20A7-51BD-49D7DED7B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31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1AA1D6A-8BC6-6F1D-EB38-9F051B7E1C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467" y="952500"/>
            <a:ext cx="3499566" cy="3429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41AEC30-83C0-89F5-BB68-D0C6FD2815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9214" y="952500"/>
            <a:ext cx="3327071" cy="3429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FCC3A77-5260-0083-7E40-FAC5F950F340}"/>
              </a:ext>
            </a:extLst>
          </p:cNvPr>
          <p:cNvSpPr txBox="1"/>
          <p:nvPr/>
        </p:nvSpPr>
        <p:spPr>
          <a:xfrm>
            <a:off x="238125" y="4429125"/>
            <a:ext cx="428625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190">
                <a:solidFill>
                  <a:srgbClr val="787878"/>
                </a:solidFill>
                <a:latin typeface="Arial" panose="020B0604020202020204" pitchFamily="34" charset="0"/>
              </a:rPr>
              <a:t>DPT board (UFCS shunts over the LS FETs)</a:t>
            </a:r>
            <a:endParaRPr lang="sv-SE" sz="119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940D6C0-986F-93B2-EFCF-C2EB7689C666}"/>
              </a:ext>
            </a:extLst>
          </p:cNvPr>
          <p:cNvSpPr txBox="1"/>
          <p:nvPr/>
        </p:nvSpPr>
        <p:spPr>
          <a:xfrm>
            <a:off x="4619625" y="4429125"/>
            <a:ext cx="428625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190">
                <a:solidFill>
                  <a:srgbClr val="787878"/>
                </a:solidFill>
                <a:latin typeface="Arial" panose="020B0604020202020204" pitchFamily="34" charset="0"/>
              </a:rPr>
              <a:t>load-test board (heatsink removed for the view)</a:t>
            </a:r>
            <a:endParaRPr lang="sv-SE" sz="119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780516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AD165-01C6-532C-7FCD-611E9A1539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Bottom side and the load board without heatsink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39093C-C087-CBDD-DB2B-9177954859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635624-7DB9-DDAE-18A8-731C5DD779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32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23A2036-15CF-E820-29E5-B2F71D973F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759" y="952500"/>
            <a:ext cx="3855357" cy="28575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A26EFCD-BFF2-A268-C5DE-2BA80D08D7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8246" y="952500"/>
            <a:ext cx="4066134" cy="28575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AC50CBB-3712-DCDB-2752-801313EE4FCC}"/>
              </a:ext>
            </a:extLst>
          </p:cNvPr>
          <p:cNvSpPr txBox="1"/>
          <p:nvPr/>
        </p:nvSpPr>
        <p:spPr>
          <a:xfrm>
            <a:off x="238125" y="39052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Bottom: REDCUBE M4 DC terminals (the leg stands on the busbar), 4 bypass 0805 per cell, U.FL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GS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and MMCX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DS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ports, M6 AC nut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Top without heatsink: 20 × 2220 bank in two rows, 8 EPC2361 under the spreader pedestals, 2 drivers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76613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4E9EA1-3497-4512-47E8-935D9DF00F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Two driver pairs on one switch node: driver skew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48ECA7B-3518-F904-AAD9-2AB54B0AD4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41995A-50F7-8EB9-7508-E09610F42D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33</a:t>
            </a:fld>
            <a:endParaRPr lang="sv-S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7FE55E-4F70-EC4B-82FE-7F07E84DA17D}"/>
              </a:ext>
            </a:extLst>
          </p:cNvPr>
          <p:cNvSpPr txBox="1"/>
          <p:nvPr/>
        </p:nvSpPr>
        <p:spPr>
          <a:xfrm>
            <a:off x="238125" y="952500"/>
            <a:ext cx="4953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The four switch nodes are joined in copper; L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x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= inductance between the switch nodes of the two driver pairs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If driver 2 switches Δt later, pair 1 takes ΔI ≈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·Δt / L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x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until pair 2 follows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Q3D (fast lx model, final boards): L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x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=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6.77 nH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(HS on) /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5.44 nH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(LS on) on the load board, 4.91 / 2.68 nH on the DPT board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⇒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≈ 14 A per ns of skew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(load board)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2095C1B-819E-D056-B4F9-3BF0D08C0F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7061588"/>
              </p:ext>
            </p:extLst>
          </p:nvPr>
        </p:nvGraphicFramePr>
        <p:xfrm>
          <a:off x="5429251" y="1047750"/>
          <a:ext cx="3381375" cy="1047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8250">
                  <a:extLst>
                    <a:ext uri="{9D8B030D-6E8A-4147-A177-3AD203B41FA5}">
                      <a16:colId xmlns:a16="http://schemas.microsoft.com/office/drawing/2014/main" val="3934741739"/>
                    </a:ext>
                  </a:extLst>
                </a:gridCol>
                <a:gridCol w="2143125">
                  <a:extLst>
                    <a:ext uri="{9D8B030D-6E8A-4147-A177-3AD203B41FA5}">
                      <a16:colId xmlns:a16="http://schemas.microsoft.com/office/drawing/2014/main" val="378696625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Measure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Rev B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672659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One PWM source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C2000 drives both headers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333769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Matched traces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same PCB, same CMC per block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607887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Driver skew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2EDF7275K part-to-part: check datasheet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430745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Verify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U.FL V</a:t>
                      </a:r>
                      <a:r>
                        <a:rPr lang="en-US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GS</a:t>
                      </a:r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of both blocks, UFCS per cell (DPT)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9622329"/>
                  </a:ext>
                </a:extLst>
              </a:tr>
            </a:tbl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77EC833E-00D4-073B-9346-F39FDE63A8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9250" y="2905125"/>
            <a:ext cx="3476625" cy="2172891"/>
          </a:xfrm>
          <a:prstGeom prst="rect">
            <a:avLst/>
          </a:prstGeom>
        </p:spPr>
      </p:pic>
      <p:sp>
        <p:nvSpPr>
          <p:cNvPr id="10" name="decision">
            <a:extLst>
              <a:ext uri="{FF2B5EF4-FFF2-40B4-BE49-F238E27FC236}">
                <a16:creationId xmlns:a16="http://schemas.microsoft.com/office/drawing/2014/main" id="{AFABE564-07C6-5938-FC29-0CD7326E5C5B}"/>
              </a:ext>
            </a:extLst>
          </p:cNvPr>
          <p:cNvSpPr/>
          <p:nvPr/>
        </p:nvSpPr>
        <p:spPr>
          <a:xfrm>
            <a:off x="238125" y="4400550"/>
            <a:ext cx="50482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Measure the per-cell current (UFCS) with both drivers switching; delay trim in the C2000 if needed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61482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8B1E0-E696-0065-C71F-2909BA01ED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Gate supplies: two isolated supplies, Zener split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3AB0B3-47F8-30C9-36A7-7A90F72DA7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07E86A-E57B-0CD3-DC56-7E49C51AE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34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19FF34D-2605-FB03-80F5-2B5FDDD17B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5334000" cy="157615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0461814-D894-F348-53F2-410B7DAC4436}"/>
              </a:ext>
            </a:extLst>
          </p:cNvPr>
          <p:cNvSpPr txBox="1"/>
          <p:nvPr/>
        </p:nvSpPr>
        <p:spPr>
          <a:xfrm>
            <a:off x="5381625" y="952500"/>
            <a:ext cx="3429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One external isolated supply for all HS drivers and one for all LS drivers; each splits per driver through a WE-CNSW common-mode choke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5.1 V Zener VDD–S and 150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Ω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bias resistor S–VEE (Karakaya, METU 2020, Fig. 4.1): V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GS,on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= +5.1 V, V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GS,off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= −(V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ISO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− 5.1 V)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e.g. V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ISO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= 6.3 V ⇒ −1.2 V off (bump mitigation); island decoupling 1 µF + 4.7 µF per rail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590293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E4443-7FDD-D901-11E2-F772D963DC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Driver block: input filters, turn-on / turn-off paths, star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FAE280-EBB9-2410-CD70-3F478C479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B4E5E57-2557-DAAD-C5F7-885585840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35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2A1CA84-7A86-90A7-FF62-47460A8405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105" y="952500"/>
            <a:ext cx="7531789" cy="24765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C3BD53A-AAC1-5811-EB10-8029E00BFA3F}"/>
              </a:ext>
            </a:extLst>
          </p:cNvPr>
          <p:cNvSpPr txBox="1"/>
          <p:nvPr/>
        </p:nvSpPr>
        <p:spPr>
          <a:xfrm>
            <a:off x="238125" y="35242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Per block a 2×3 control header (12 V, GND, PWM_H, PWM_L, DIS) with common-mode chokes on each pair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47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Ω / 100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pF input filters, 10 k pull-downs, R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0.75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Ω,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R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OFF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0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Ω +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Schottky, R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G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0.5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Ω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per transistor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321784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785F5A-EF06-472F-17C3-D912CFCFD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Measurement and control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D1DF4A-C734-8E0A-1F95-9E881DA069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A27B2A-AA23-ABEB-763A-81608CF89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36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3EDB48B-CD2C-4B89-AFF6-097ED4B55C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5597702"/>
              </p:ext>
            </p:extLst>
          </p:nvPr>
        </p:nvGraphicFramePr>
        <p:xfrm>
          <a:off x="238125" y="952500"/>
          <a:ext cx="4953000" cy="1466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8750">
                  <a:extLst>
                    <a:ext uri="{9D8B030D-6E8A-4147-A177-3AD203B41FA5}">
                      <a16:colId xmlns:a16="http://schemas.microsoft.com/office/drawing/2014/main" val="1163434108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1549077474"/>
                    </a:ext>
                  </a:extLst>
                </a:gridCol>
                <a:gridCol w="1619250">
                  <a:extLst>
                    <a:ext uri="{9D8B030D-6E8A-4147-A177-3AD203B41FA5}">
                      <a16:colId xmlns:a16="http://schemas.microsoft.com/office/drawing/2014/main" val="3571993897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Quantity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How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Where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465595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 current (DPT)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PMK UFCS-R001, 1 mΩ, 120 pH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LS source of each cell, DPT board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276163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Phase current (control)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LEM HO 250-S, ±625 A, 3.2 mV/A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Cu bar on the M6 AC pad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968905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GS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HS / LS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U.FL, 0 </a:t>
                      </a:r>
                      <a:r>
                        <a:rPr lang="el-GR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Ω, 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shield = Kelvin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bottom, at each cell (both boards)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190010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LS (DPT)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MMCX (WR-MMCX, 170 V rms): SW / LSRC, rated isolated probe (e.g. IsoVu TIVPMX50X)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bottom, next to each LS FET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5478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Bring-up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test points + spring-tip pads (V</a:t>
                      </a:r>
                      <a:r>
                        <a:rPr lang="en-US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GS</a:t>
                      </a:r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, V</a:t>
                      </a:r>
                      <a:r>
                        <a:rPr lang="en-US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), list in fab/testpoints.csv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both sides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033016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Board temperature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NTC 10 k at the driver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control side (GNDI)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8232708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7E9347EC-12A0-C1C9-A2D7-5561C8DD86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3667125"/>
            <a:ext cx="5143500" cy="70084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9EB84F0-2961-E3D9-1584-A9E55324D552}"/>
              </a:ext>
            </a:extLst>
          </p:cNvPr>
          <p:cNvSpPr txBox="1"/>
          <p:nvPr/>
        </p:nvSpPr>
        <p:spPr>
          <a:xfrm>
            <a:off x="5429250" y="2381250"/>
            <a:ext cx="33813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Back-to-back load test, closed loop on a TI TMS320F28379D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Load board: no shunt ⇒ phase current from the HO 250-S, cell sharing from the DPT board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No short-circuit protection on the boards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197403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8E4F61-71F4-9CF7-F77C-A372C81378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Power stage schematics (generated, identical to the PCBs)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D95556-5BA9-E0D4-0D6D-4E9CC686F8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23C7E9-50CA-27AD-722C-0F5276E4F0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37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5EB9856-4246-F5CB-1659-39B5E1EE5B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8477" y="952500"/>
            <a:ext cx="4507046" cy="16668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1AAF61B-70DF-2D4C-6972-5D9656E604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8477" y="2714625"/>
            <a:ext cx="4507046" cy="16668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F2D81F0-3DDD-8C3A-058B-E03B599207DC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Top: DPT board (UFCS in each LS source). Bottom: load-test board (LS source to DC−). make_kicad_sch_revb.py; check_sch_vs_pcb.py: 0 problems on both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125011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519E1-4759-1150-20A0-E294AB675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Three legs on one 75 V bus: what the bus must do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AA1317-69F5-AA9D-8ECD-D6965316E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545D4F-55F8-D4C3-9882-B43EF405E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38</a:t>
            </a:fld>
            <a:endParaRPr lang="sv-S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C8EED6-609B-0575-9FE6-328B4430AD12}"/>
              </a:ext>
            </a:extLst>
          </p:cNvPr>
          <p:cNvSpPr txBox="1"/>
          <p:nvPr/>
        </p:nvSpPr>
        <p:spPr>
          <a:xfrm>
            <a:off x="238125" y="952500"/>
            <a:ext cx="4953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The switching edge closes on each board (bypass + bank); the bus only carries the f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sw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ripple between the leg banks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Sharing needs </a:t>
            </a:r>
            <a:r>
              <a:rPr lang="el-GR" sz="1280">
                <a:solidFill>
                  <a:srgbClr val="1E1E1E"/>
                </a:solidFill>
                <a:latin typeface="Arial" panose="020B0604020202020204" pitchFamily="34" charset="0"/>
              </a:rPr>
              <a:t>ω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bus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≪ 1/(</a:t>
            </a:r>
            <a:r>
              <a:rPr lang="el-GR" sz="1280">
                <a:solidFill>
                  <a:srgbClr val="1E1E1E"/>
                </a:solidFill>
                <a:latin typeface="Arial" panose="020B0604020202020204" pitchFamily="34" charset="0"/>
              </a:rPr>
              <a:t>ω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C): at 50 kHz and ≈ 127 µF eff. per leg L ≪ 80 nH ⇒ </a:t>
            </a:r>
            <a:r>
              <a:rPr lang="sv-SE" sz="1280" b="1">
                <a:solidFill>
                  <a:srgbClr val="1E1E1E"/>
                </a:solidFill>
                <a:latin typeface="Arial" panose="020B0604020202020204" pitchFamily="34" charset="0"/>
              </a:rPr>
              <a:t>target ≤ 5 nH leg to leg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DC: 250 A stack current enters the level, 83 A per leg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All-MLCC banks joined by nH copper form a high-Q resonator ⇒ damping footprints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9FD40B7-77D7-6D35-2B22-536D47093D69}"/>
              </a:ext>
            </a:extLst>
          </p:cNvPr>
          <p:cNvSpPr/>
          <p:nvPr/>
        </p:nvSpPr>
        <p:spPr>
          <a:xfrm>
            <a:off x="5429250" y="1143000"/>
            <a:ext cx="1000125" cy="857250"/>
          </a:xfrm>
          <a:prstGeom prst="roundRect">
            <a:avLst/>
          </a:prstGeom>
          <a:solidFill>
            <a:srgbClr val="E8EFF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leg a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(phase a)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load board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D4ED6A2-7D03-D315-C9B7-48508EC708DD}"/>
              </a:ext>
            </a:extLst>
          </p:cNvPr>
          <p:cNvCxnSpPr/>
          <p:nvPr/>
        </p:nvCxnSpPr>
        <p:spPr>
          <a:xfrm>
            <a:off x="5715000" y="2000250"/>
            <a:ext cx="0" cy="381000"/>
          </a:xfrm>
          <a:prstGeom prst="line">
            <a:avLst/>
          </a:prstGeom>
          <a:ln w="381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53ECDC7-F701-BF02-0CF2-7ECF75D7E580}"/>
              </a:ext>
            </a:extLst>
          </p:cNvPr>
          <p:cNvCxnSpPr/>
          <p:nvPr/>
        </p:nvCxnSpPr>
        <p:spPr>
          <a:xfrm>
            <a:off x="6143625" y="2000250"/>
            <a:ext cx="0" cy="476250"/>
          </a:xfrm>
          <a:prstGeom prst="line">
            <a:avLst/>
          </a:prstGeom>
          <a:ln w="381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8C736A3-29D3-A772-15A5-E970FF4D1D0A}"/>
              </a:ext>
            </a:extLst>
          </p:cNvPr>
          <p:cNvSpPr/>
          <p:nvPr/>
        </p:nvSpPr>
        <p:spPr>
          <a:xfrm>
            <a:off x="6572250" y="1143000"/>
            <a:ext cx="1000125" cy="857250"/>
          </a:xfrm>
          <a:prstGeom prst="roundRect">
            <a:avLst/>
          </a:prstGeom>
          <a:solidFill>
            <a:srgbClr val="E8EFF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leg b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(phase b)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load board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1DE2192-6AA5-9EBC-BA21-3EF635FD1413}"/>
              </a:ext>
            </a:extLst>
          </p:cNvPr>
          <p:cNvCxnSpPr/>
          <p:nvPr/>
        </p:nvCxnSpPr>
        <p:spPr>
          <a:xfrm>
            <a:off x="6858000" y="2000250"/>
            <a:ext cx="0" cy="381000"/>
          </a:xfrm>
          <a:prstGeom prst="line">
            <a:avLst/>
          </a:prstGeom>
          <a:ln w="381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AB525A8-46E0-0D7A-0C4D-4CE950486479}"/>
              </a:ext>
            </a:extLst>
          </p:cNvPr>
          <p:cNvCxnSpPr/>
          <p:nvPr/>
        </p:nvCxnSpPr>
        <p:spPr>
          <a:xfrm>
            <a:off x="7286625" y="2000250"/>
            <a:ext cx="0" cy="476250"/>
          </a:xfrm>
          <a:prstGeom prst="line">
            <a:avLst/>
          </a:prstGeom>
          <a:ln w="381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C1BF709-0237-BDA9-C446-40B7FEF386A5}"/>
              </a:ext>
            </a:extLst>
          </p:cNvPr>
          <p:cNvSpPr/>
          <p:nvPr/>
        </p:nvSpPr>
        <p:spPr>
          <a:xfrm>
            <a:off x="7715250" y="1143000"/>
            <a:ext cx="1000125" cy="857250"/>
          </a:xfrm>
          <a:prstGeom prst="roundRect">
            <a:avLst/>
          </a:prstGeom>
          <a:solidFill>
            <a:srgbClr val="E8EFF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leg c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(phase c)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load board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C5FB9A4-40D2-A157-A410-FBB099428659}"/>
              </a:ext>
            </a:extLst>
          </p:cNvPr>
          <p:cNvCxnSpPr/>
          <p:nvPr/>
        </p:nvCxnSpPr>
        <p:spPr>
          <a:xfrm>
            <a:off x="8001000" y="2000250"/>
            <a:ext cx="0" cy="381000"/>
          </a:xfrm>
          <a:prstGeom prst="line">
            <a:avLst/>
          </a:prstGeom>
          <a:ln w="381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6604222-A640-BF5B-E47F-5EEB40A4C9D6}"/>
              </a:ext>
            </a:extLst>
          </p:cNvPr>
          <p:cNvCxnSpPr/>
          <p:nvPr/>
        </p:nvCxnSpPr>
        <p:spPr>
          <a:xfrm>
            <a:off x="8429625" y="2000250"/>
            <a:ext cx="0" cy="476250"/>
          </a:xfrm>
          <a:prstGeom prst="line">
            <a:avLst/>
          </a:prstGeom>
          <a:ln w="381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712FAE7-9830-FC35-0C64-0719F87DD192}"/>
              </a:ext>
            </a:extLst>
          </p:cNvPr>
          <p:cNvCxnSpPr/>
          <p:nvPr/>
        </p:nvCxnSpPr>
        <p:spPr>
          <a:xfrm>
            <a:off x="5381625" y="2381250"/>
            <a:ext cx="3381375" cy="0"/>
          </a:xfrm>
          <a:prstGeom prst="line">
            <a:avLst/>
          </a:prstGeom>
          <a:ln w="635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A4B200C-41C5-4747-8FB0-69D74EA8E7E6}"/>
              </a:ext>
            </a:extLst>
          </p:cNvPr>
          <p:cNvCxnSpPr/>
          <p:nvPr/>
        </p:nvCxnSpPr>
        <p:spPr>
          <a:xfrm>
            <a:off x="5381625" y="2476500"/>
            <a:ext cx="3381375" cy="0"/>
          </a:xfrm>
          <a:prstGeom prst="line">
            <a:avLst/>
          </a:prstGeom>
          <a:ln w="635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DA16A45-B6B1-4FF9-40B8-4A80AE6F4DFF}"/>
              </a:ext>
            </a:extLst>
          </p:cNvPr>
          <p:cNvSpPr txBox="1"/>
          <p:nvPr/>
        </p:nvSpPr>
        <p:spPr>
          <a:xfrm>
            <a:off x="5429250" y="2552700"/>
            <a:ext cx="333375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920" b="1">
                <a:solidFill>
                  <a:srgbClr val="1E1E1E"/>
                </a:solidFill>
                <a:latin typeface="Arial" panose="020B0604020202020204" pitchFamily="34" charset="0"/>
              </a:rPr>
              <a:t>laminated PCB busbar (L1 + / L2 − / L3 + / L4 −)</a:t>
            </a:r>
            <a:endParaRPr lang="sv-SE" sz="920" b="1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74EDDA4-5F43-B761-5AAC-33B6ADA651BA}"/>
              </a:ext>
            </a:extLst>
          </p:cNvPr>
          <p:cNvCxnSpPr/>
          <p:nvPr/>
        </p:nvCxnSpPr>
        <p:spPr>
          <a:xfrm>
            <a:off x="6953250" y="2476500"/>
            <a:ext cx="0" cy="571500"/>
          </a:xfrm>
          <a:prstGeom prst="line">
            <a:avLst/>
          </a:prstGeom>
          <a:ln w="38100">
            <a:solidFill>
              <a:srgbClr val="1E1E1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81A9EB0-F7BC-C068-4CAE-C90369F844D1}"/>
              </a:ext>
            </a:extLst>
          </p:cNvPr>
          <p:cNvSpPr txBox="1"/>
          <p:nvPr/>
        </p:nvSpPr>
        <p:spPr>
          <a:xfrm>
            <a:off x="6000750" y="3095625"/>
            <a:ext cx="209550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920">
                <a:solidFill>
                  <a:srgbClr val="787878"/>
                </a:solidFill>
                <a:latin typeface="Arial" panose="020B0604020202020204" pitchFamily="34" charset="0"/>
              </a:rPr>
              <a:t>stack lugs at the centre leg</a:t>
            </a:r>
          </a:p>
          <a:p>
            <a:pPr algn="ctr"/>
            <a:r>
              <a:rPr lang="en-US" sz="920">
                <a:solidFill>
                  <a:srgbClr val="787878"/>
                </a:solidFill>
                <a:latin typeface="Arial" panose="020B0604020202020204" pitchFamily="34" charset="0"/>
              </a:rPr>
              <a:t>to the levels above / below</a:t>
            </a:r>
            <a:endParaRPr lang="sv-SE" sz="92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721751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F657A-8555-10DA-5D43-A20DFD834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PCB busbar: easy to manufacture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EA16DE-2D99-F6D2-7986-A4C4B8D7D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DA3272-D4DC-8B75-4496-776CBD006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39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D220965-D504-E782-ED19-B0CDB7EEC3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3697" y="952500"/>
            <a:ext cx="3716606" cy="1333500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9C86EAAC-6CBC-D452-730B-44129D5457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6616469"/>
              </p:ext>
            </p:extLst>
          </p:nvPr>
        </p:nvGraphicFramePr>
        <p:xfrm>
          <a:off x="238125" y="2428875"/>
          <a:ext cx="4095750" cy="1466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7750">
                  <a:extLst>
                    <a:ext uri="{9D8B030D-6E8A-4147-A177-3AD203B41FA5}">
                      <a16:colId xmlns:a16="http://schemas.microsoft.com/office/drawing/2014/main" val="2750957077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3097021130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Item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Value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970255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Size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298.5 × 45 mm, 1.6 mm, 4 layers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599124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Copper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oz all layers (JLCPCB JLC3313); 3–4 oz option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22756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Stack-up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L1 DC+ / ≤ 0.2 mm / L2 DC− / core / L3 DC+ / ≤ 0.2 mm / L4 DC−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908512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 contact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 × M4: one DC pair per leg (REDCUBE, 6.5 mm)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41780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Stack contact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× M6 lug pads at the centre leg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951834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Insulation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frame holes with 8 mm Cu keep-out (1200 V)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089955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1632A509-D5CB-31E6-F5CB-EC6ED9BCA1F0}"/>
              </a:ext>
            </a:extLst>
          </p:cNvPr>
          <p:cNvSpPr txBox="1"/>
          <p:nvPr/>
        </p:nvSpPr>
        <p:spPr>
          <a:xfrm>
            <a:off x="4572000" y="2428875"/>
            <a:ext cx="423862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Q3D (step 11): leg-to-leg loop </a:t>
            </a:r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1.46 nH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at 1 MHz (a–b), DC busbar loss </a:t>
            </a:r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(pending) W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Damping caps (100 V hybrid polymer) as DNP footprints; nylon standoffs at the leg corner holes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Generated: scripts/make_kicad_busbar.py, DRC clean; fab files in hardware/spb-busbar/fab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656295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894053-3728-7C40-8791-38B50CE99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One 75 V level in 3D: busbar + three load-test legs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89310C-71F0-D197-3992-5B2D03A0D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7B59C5-5DDC-E017-6BE3-8758D70CD9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40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066B9E2-14F5-D3CA-6EE3-EB024664D8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0453" y="952500"/>
            <a:ext cx="5643093" cy="31432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266DE02-4E87-EFBD-F325-CD032865142A}"/>
              </a:ext>
            </a:extLst>
          </p:cNvPr>
          <p:cNvSpPr txBox="1"/>
          <p:nvPr/>
        </p:nvSpPr>
        <p:spPr>
          <a:xfrm>
            <a:off x="238125" y="414337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Legs a, b, c (pitch 94.5 mm, 5 mm gaps) stand on their REDCUBE DC terminals (6.5 mm) on the PCB busbar; M4 × 8 screws from below; AC bar of each leg through its LEM HO 250-S; heatsinks stay inside each board outline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6836546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59D4F-70DE-BEFE-FB63-B12C4ACB3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Level assembly: busbar side and DC connection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2FCB5F-2F46-7512-A6A1-255018313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019639B-DE7D-FA04-A98F-1F4E60BC0B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41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2F2E028-ECCD-ECE6-51E1-094865BE4F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4238625" cy="17293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2211B06-EFF1-854D-149B-A7D1F0ED54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952500"/>
            <a:ext cx="4238625" cy="180848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0517EBC-DF96-DB1B-6B32-9125C3819D7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3438" y="3429000"/>
            <a:ext cx="3048000" cy="123825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1278F00-FE7B-74EF-3A00-2E5869F88FF3}"/>
              </a:ext>
            </a:extLst>
          </p:cNvPr>
          <p:cNvSpPr txBox="1"/>
          <p:nvPr/>
        </p:nvSpPr>
        <p:spPr>
          <a:xfrm>
            <a:off x="4572000" y="3429000"/>
            <a:ext cx="423862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Right: middle leg on the bus: REDCUBE + M4, nylon standoffs, M6 stack lugs, DNP damping caps, level header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Left bottom: side view (z stack): busbar top z = 0, leg bottom 6.5 mm, heatsink top 52.8 mm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913582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149BD-1079-3519-00A0-1D4253933C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Mechanics: heatsink length fixed by the leg pitch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27260F-0930-1C14-CAB2-4EBA8955B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03C17F-005C-30F8-DA03-7D634F245E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42</a:t>
            </a:fld>
            <a:endParaRPr lang="sv-S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58BB4B-861C-DA9C-DBC3-5482DC794BF9}"/>
              </a:ext>
            </a:extLst>
          </p:cNvPr>
          <p:cNvSpPr txBox="1"/>
          <p:nvPr/>
        </p:nvSpPr>
        <p:spPr>
          <a:xfrm>
            <a:off x="238125" y="952500"/>
            <a:ext cx="4953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LAM 4 (100 mm) + fan = 110 mm: wider than the 89.5 mm board ⇒ with 5 mm gaps the heatsinks of neighbouring legs would overlap by ≈ 15 mm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LAM 4 K 50 12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(Farnell 4708974, 0.65 K/W): 50 mm tube + fan centred over the cells (x −35 … 25 mm), inside the board outline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Al spreader 89.5 × 12.8 × 3 mm carries the outer cells (x ±33 mm) to the tube; ≈ 18 W FET loss per leg ⇒ ≈ 12 K heatsink rise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Spreader underside 1.68 mm, top 4.68 mm: clears the 2.8 mm bank and all bypass parts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B686616-7953-EBCC-BFD2-77385A024B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9763" y="952500"/>
            <a:ext cx="2572724" cy="2476500"/>
          </a:xfrm>
          <a:prstGeom prst="rect">
            <a:avLst/>
          </a:prstGeom>
        </p:spPr>
      </p:pic>
      <p:sp>
        <p:nvSpPr>
          <p:cNvPr id="9" name="decision">
            <a:extLst>
              <a:ext uri="{FF2B5EF4-FFF2-40B4-BE49-F238E27FC236}">
                <a16:creationId xmlns:a16="http://schemas.microsoft.com/office/drawing/2014/main" id="{EE27D657-BA5F-5D88-32D8-76FD1D5C206A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Load board heatsink: LAM 4 K 50 12, centred; leg pitch stays 94.5 mm (busbar unchanged)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703489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79FF50-CCC7-71F5-29BF-A16644317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Full inverter: 16 levels on one 1200 V stack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CEF066-5F52-4137-6CAB-24467A12C1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04DA8B-344F-EFD5-BAC4-DEF2C31C7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43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7C29F30-D542-215B-7E94-982D7484EB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1236" y="952500"/>
            <a:ext cx="1091278" cy="381000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DA0F690-FCB6-B977-9FD2-9421E4A7B87E}"/>
              </a:ext>
            </a:extLst>
          </p:cNvPr>
          <p:cNvSpPr txBox="1"/>
          <p:nvPr/>
        </p:nvSpPr>
        <p:spPr>
          <a:xfrm>
            <a:off x="3286125" y="952500"/>
            <a:ext cx="55245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16 identical levels (75 V each) stacked in z, pitch 72 mm ⇒ ≈ 1.15 m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DC+ lug of level k ↔ DC− lug of level k + 1 by a Cu braid (8 × 1.5 mm in the model); stack ends = 1200 V DC+ / DC−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Each level: 3 legs = one three-phase winding set; AC bars + HO 250-S per leg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Every level floats up to 1200 V above the frame: insulating standoffs with 8 mm Cu keep-out on the busbar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Assembly STEP: hardware/assembly/spb-level-assembly.step (1 level), spb-stack-assembly.step (16 levels), scripts/make_assembly_step.py (OpenCascade)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7F5136-C348-7208-5EEB-2C95AD4D4E13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Stack direction and frame are illustrative: the machine-side layout (winding terminals) sets the final arrangement.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318006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0593B-67EC-CFAB-694D-0CF99E957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Fast Q3D set on the final boards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21CAD7-E14B-FE26-910D-275B11E534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4F4DE4-70E8-D1B9-C2E1-FC15FE2D5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44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1A6DC59-099A-5491-09A6-76AC3EAD49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1045921"/>
              </p:ext>
            </p:extLst>
          </p:nvPr>
        </p:nvGraphicFramePr>
        <p:xfrm>
          <a:off x="238125" y="952500"/>
          <a:ext cx="8667750" cy="1466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1207588317"/>
                    </a:ext>
                  </a:extLst>
                </a:gridCol>
                <a:gridCol w="2571750">
                  <a:extLst>
                    <a:ext uri="{9D8B030D-6E8A-4147-A177-3AD203B41FA5}">
                      <a16:colId xmlns:a16="http://schemas.microsoft.com/office/drawing/2014/main" val="205916738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187817997"/>
                    </a:ext>
                  </a:extLst>
                </a:gridCol>
                <a:gridCol w="2571750">
                  <a:extLst>
                    <a:ext uri="{9D8B030D-6E8A-4147-A177-3AD203B41FA5}">
                      <a16:colId xmlns:a16="http://schemas.microsoft.com/office/drawing/2014/main" val="118857616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1044145994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Model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Region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Solve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Gives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Run time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669289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loop (per board)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 band y −4.6 … 20.6 mm, AC split per cell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AC 100 MHz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commutation loop per cell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90 / 30 min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313658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full board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whole board, all terminals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DC R only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current sharing, copper loss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26 / 22 min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25732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bank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DC terminals + bank + bypass (y −25 … 4.3 mm)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AC 1 MHz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 DC-link port, L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bypass → bank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 min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187588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lx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cells + AC columns + AC bus, no bank / terminals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AC 100 MHz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</a:t>
                      </a:r>
                      <a:r>
                        <a:rPr lang="en-US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x</a:t>
                      </a:r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between the driver pairs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138 / 113 min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273278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busbar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PCB busbar, stitching vias every 2nd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DC + AC 1 MHz, 2 %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leg-to-leg loop, DC distribution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43 min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064625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three-phase level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 × bank model + busbar matrices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network (MNA)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ripple sharing, |Z|, terminal currents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seconds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510219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26CBA196-B440-633C-661B-83B8B0E92FF4}"/>
              </a:ext>
            </a:extLst>
          </p:cNvPr>
          <p:cNvSpPr txBox="1"/>
          <p:nvPr/>
        </p:nvSpPr>
        <p:spPr>
          <a:xfrm>
            <a:off x="238125" y="37147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Instead of one large model (&gt; 3 h, not converged): small models, each solved only for what it is used for; DC is solved for R only (the DC-inductance solve alone ran &gt; 19 h on the first attempt)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Run: simulation/bb_q3d/run_bb_q3d_final.cmd (KTH licence) → final_post.py → reports/slides/data/final_numbers.json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Run times: DPT / load board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097085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3FCE2-1F35-004F-78EE-BB2261847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Q3D: commutation loop per cell, final boards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EAC50A-3301-4982-4ECE-86A043C677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5C5555-F205-811C-F7EF-6CB228D82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45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94EDA45-571C-8306-7222-0975BD9121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987" y="952500"/>
            <a:ext cx="5135777" cy="2714625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FF032C7-141A-C3E8-17D1-AD3FE513B7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3237589"/>
              </p:ext>
            </p:extLst>
          </p:nvPr>
        </p:nvGraphicFramePr>
        <p:xfrm>
          <a:off x="5524501" y="952500"/>
          <a:ext cx="3286125" cy="1047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5875">
                  <a:extLst>
                    <a:ext uri="{9D8B030D-6E8A-4147-A177-3AD203B41FA5}">
                      <a16:colId xmlns:a16="http://schemas.microsoft.com/office/drawing/2014/main" val="404052020"/>
                    </a:ext>
                  </a:extLst>
                </a:gridCol>
                <a:gridCol w="1000125">
                  <a:extLst>
                    <a:ext uri="{9D8B030D-6E8A-4147-A177-3AD203B41FA5}">
                      <a16:colId xmlns:a16="http://schemas.microsoft.com/office/drawing/2014/main" val="4001087550"/>
                    </a:ext>
                  </a:extLst>
                </a:gridCol>
                <a:gridCol w="1000125">
                  <a:extLst>
                    <a:ext uri="{9D8B030D-6E8A-4147-A177-3AD203B41FA5}">
                      <a16:colId xmlns:a16="http://schemas.microsoft.com/office/drawing/2014/main" val="1816810508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Loop per cell (nH)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DPT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load test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141825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 1 / 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0.647 / 0.648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0.408 / 0.408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276969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 3 / 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0.645 / 0.658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0.406 / 0.412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76751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mean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0.41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3681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v̂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at 30 A/ns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C84632"/>
                          </a:solidFill>
                          <a:latin typeface="Arial" panose="020B0604020202020204" pitchFamily="34" charset="0"/>
                        </a:rPr>
                        <a:t>94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87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072546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CDC9BABD-0E3E-35CC-9F13-ED89D9EBB466}"/>
              </a:ext>
            </a:extLst>
          </p:cNvPr>
          <p:cNvSpPr txBox="1"/>
          <p:nvPr/>
        </p:nvSpPr>
        <p:spPr>
          <a:xfrm>
            <a:off x="5524500" y="2667000"/>
            <a:ext cx="328612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All four LS switching together; HS shorted, bypass as its ESL, UFCS 120 pH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Cells within 2 % (DPT) and 2 % (load): left/right symmetric by layout (power vias pruned in mirror pairs)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DPT ≤ 90 V: turn-on ≤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23 A/ns</a:t>
            </a:r>
            <a:endParaRPr lang="sv-SE" sz="1280" b="1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807176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01423-1BAA-8836-0C83-49B481AEF9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Q3D model of the cell band (fast loop model)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28B7CC-6F4C-7F4B-9CD9-C687334B87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A7CF699-A0BE-B547-DC13-7E6622A20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46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67B7992-87E4-2DE1-1CDD-2E99C65DE1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4286250" cy="26789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8DEE3E4-9940-1455-F0CB-046AB4178D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9625" y="952500"/>
            <a:ext cx="4286250" cy="267890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1A528CE-3863-56C5-93C2-56B8BD31DFDB}"/>
              </a:ext>
            </a:extLst>
          </p:cNvPr>
          <p:cNvSpPr txBox="1"/>
          <p:nvPr/>
        </p:nvSpPr>
        <p:spPr>
          <a:xfrm>
            <a:off x="238125" y="3810000"/>
            <a:ext cx="428625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190">
                <a:solidFill>
                  <a:srgbClr val="787878"/>
                </a:solidFill>
                <a:latin typeface="Arial" panose="020B0604020202020204" pitchFamily="34" charset="0"/>
              </a:rPr>
              <a:t>DPT board: LS source (green) to the UFCS land</a:t>
            </a:r>
            <a:endParaRPr lang="sv-SE" sz="119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169C08-28A0-6550-F3D7-2502A09E311A}"/>
              </a:ext>
            </a:extLst>
          </p:cNvPr>
          <p:cNvSpPr txBox="1"/>
          <p:nvPr/>
        </p:nvSpPr>
        <p:spPr>
          <a:xfrm>
            <a:off x="4619625" y="3810000"/>
            <a:ext cx="428625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190">
                <a:solidFill>
                  <a:srgbClr val="787878"/>
                </a:solidFill>
                <a:latin typeface="Arial" panose="020B0604020202020204" pitchFamily="34" charset="0"/>
              </a:rPr>
              <a:t>load-test board: LS source straight to DC−</a:t>
            </a:r>
            <a:endParaRPr lang="sv-SE" sz="119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F0D5ACC-A956-CE16-A893-4E2289DF4DE1}"/>
              </a:ext>
            </a:extLst>
          </p:cNvPr>
          <p:cNvSpPr txBox="1"/>
          <p:nvPr/>
        </p:nvSpPr>
        <p:spPr>
          <a:xfrm>
            <a:off x="238125" y="40957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Geometry exported from the routed KiCad boards (revb_export.py): copper per net and layer with clearance holes, vias with their layer span (blind L1–L2 on the load board), FET and bypass terminal pads; z stretched 4×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913457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A5F8AE-E13D-7416-05D1-4DE769A42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Q3D: static current sharing and copper loss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F5A257-86A1-B5E7-2532-5656A0408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4CCE0A-0CA9-CF8C-7228-A810548F6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47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1A9D814-D016-A3DC-5241-598DAA441A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1400009"/>
              </p:ext>
            </p:extLst>
          </p:nvPr>
        </p:nvGraphicFramePr>
        <p:xfrm>
          <a:off x="238125" y="952500"/>
          <a:ext cx="8667750" cy="1047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6500">
                  <a:extLst>
                    <a:ext uri="{9D8B030D-6E8A-4147-A177-3AD203B41FA5}">
                      <a16:colId xmlns:a16="http://schemas.microsoft.com/office/drawing/2014/main" val="3615922393"/>
                    </a:ext>
                  </a:extLst>
                </a:gridCol>
                <a:gridCol w="1047750">
                  <a:extLst>
                    <a:ext uri="{9D8B030D-6E8A-4147-A177-3AD203B41FA5}">
                      <a16:colId xmlns:a16="http://schemas.microsoft.com/office/drawing/2014/main" val="407836373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1969793925"/>
                    </a:ext>
                  </a:extLst>
                </a:gridCol>
                <a:gridCol w="2762250">
                  <a:extLst>
                    <a:ext uri="{9D8B030D-6E8A-4147-A177-3AD203B41FA5}">
                      <a16:colId xmlns:a16="http://schemas.microsoft.com/office/drawing/2014/main" val="41038345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3150400912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Board, path (DC)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 total (m</a:t>
                      </a:r>
                      <a:r>
                        <a:rPr lang="el-GR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Ω)</a:t>
                      </a:r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 copper (m</a:t>
                      </a:r>
                      <a:r>
                        <a:rPr lang="el-GR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Ω)</a:t>
                      </a:r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share cell 1 / 2 / 3 / 4</a:t>
                      </a:r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max/min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308890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DPT: DC+ → HS FETs → AC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87466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DPT: AC → LS FETs → shunts → DC−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79431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load: DC+ → HS FETs → AC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864212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load: AC → LS FETs → DC−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504060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A33EEDF-A5C9-7962-3900-C8853F08D9F3}"/>
              </a:ext>
            </a:extLst>
          </p:cNvPr>
          <p:cNvSpPr txBox="1"/>
          <p:nvPr/>
        </p:nvSpPr>
        <p:spPr>
          <a:xfrm>
            <a:off x="238125" y="252412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Static sharing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= how the conduction (DC) current splits between the four parallel cells: set by each cell's copper path (DC terminals → cell → AC pad) plus R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DS(on)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; dynamic sharing during the edges is set by the gate loops (step 7)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Full-board DC model; FET 0.75 mΩ × 1.49 (100 °C), UFCS 1 mΩ; DC terminals as one pair, AC at the M6 bolt pad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Board copper loss at 228 A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rms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: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(pending) W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(DPT, + (pending) W in the shunts) /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(pending) W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(load board)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Hand-over inductance bypass → bank L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b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= (pending) (bank model, 1 MHz) ⇒ used for the bypass sizing (step 6)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187805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AA0DC-E0E2-99CA-C5FE-35F2C92C36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Q3D: three load-test legs on the PCB busbar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8E56D54-5FA9-ABFF-EF01-5E5B665705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612B54-8805-057A-10D9-D93BC27EC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48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E9D5BBF-3710-03B8-7E30-D9D63FFE38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1973150"/>
              </p:ext>
            </p:extLst>
          </p:nvPr>
        </p:nvGraphicFramePr>
        <p:xfrm>
          <a:off x="238125" y="952500"/>
          <a:ext cx="4476750" cy="125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>
                  <a:extLst>
                    <a:ext uri="{9D8B030D-6E8A-4147-A177-3AD203B41FA5}">
                      <a16:colId xmlns:a16="http://schemas.microsoft.com/office/drawing/2014/main" val="3091977893"/>
                    </a:ext>
                  </a:extLst>
                </a:gridCol>
                <a:gridCol w="1619250">
                  <a:extLst>
                    <a:ext uri="{9D8B030D-6E8A-4147-A177-3AD203B41FA5}">
                      <a16:colId xmlns:a16="http://schemas.microsoft.com/office/drawing/2014/main" val="1478919196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Quantity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Value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901072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Leg-to-leg loop a–b / a–c, 1 MHz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1.46 / 1.98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297934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Leg-to-leg loop a–b / a–c, DC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7.41 / 10.01 nH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798066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Ripple of leg a at 50 kHz from banks a / b / c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214032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Busbar DC loss (250 A in, 3 × 83 A)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W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627361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Highest REDCUBE terminal current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A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923253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C982C5F8-CE81-8BDF-35B4-C5A71472B12A}"/>
              </a:ext>
            </a:extLst>
          </p:cNvPr>
          <p:cNvSpPr txBox="1"/>
          <p:nvPr/>
        </p:nvSpPr>
        <p:spPr>
          <a:xfrm>
            <a:off x="238125" y="338137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Network: Q3D bank-model matrices of three load-test legs (cells draw at their bypass; MLCCs with ESR/ESL, C at 75 V) + busbar (DC below 1 MHz, AC above); peaks in |Z| = inter-leg resonance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Target ≤ 5 nH leg to leg (step 10)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508120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9B498-DF99-A83A-6B9B-77A4190D44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Main findings on the final boards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AA6149-73A0-373D-13B0-AB5490A67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8C1A7C-AB98-4B59-896A-F35EFA56F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49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1B04052-0FE3-D220-868B-3762054EAC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6875617"/>
              </p:ext>
            </p:extLst>
          </p:nvPr>
        </p:nvGraphicFramePr>
        <p:xfrm>
          <a:off x="238125" y="952500"/>
          <a:ext cx="8667750" cy="125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0750">
                  <a:extLst>
                    <a:ext uri="{9D8B030D-6E8A-4147-A177-3AD203B41FA5}">
                      <a16:colId xmlns:a16="http://schemas.microsoft.com/office/drawing/2014/main" val="3781822370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655515879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1709293790"/>
                    </a:ext>
                  </a:extLst>
                </a:gridCol>
                <a:gridCol w="2952750">
                  <a:extLst>
                    <a:ext uri="{9D8B030D-6E8A-4147-A177-3AD203B41FA5}">
                      <a16:colId xmlns:a16="http://schemas.microsoft.com/office/drawing/2014/main" val="1986788659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Quantity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DPT board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Load-test board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Consequence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677887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Loop per cell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0.65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0.41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DPT: limit di/dt; load: 30 A/ns ok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181264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Static sharing, max/min (HS / LS)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/ (pending)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/ (pending)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verify with the UFCS per cell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46233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Board copper loss at 228 A</a:t>
                      </a:r>
                      <a:r>
                        <a:rPr lang="en-US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rms</a:t>
                      </a:r>
                      <a:endParaRPr lang="sv-SE" sz="1190" baseline="-250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W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W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heats the board, not the FETs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930045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</a:t>
                      </a:r>
                      <a:r>
                        <a:rPr lang="en-US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x</a:t>
                      </a:r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between driver pairs (HS / LS)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4.91 / 2.68 nH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6.77 / 5.44 nH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skew → </a:t>
                      </a:r>
                      <a:r>
                        <a:rPr lang="el-GR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Δ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 = V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</a:t>
                      </a:r>
                      <a:r>
                        <a:rPr lang="el-GR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Δ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 / L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x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20788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Bus leg-to-leg loop (1 MHz)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1.46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target ≤ 5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9693730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C1741F3C-B2F8-49E3-A28A-79FB4E0E81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0" y="2905125"/>
            <a:ext cx="3810000" cy="238125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6C215D9-555E-8403-F16B-9CAA9BA38AC1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All values from the fast Q3D set on the final layouts (run_bb_q3d_final.cmd, final_post.py).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683354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448C8-1591-5E88-3750-E868BB33A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Fabrication files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828F87D-8E77-AA72-0256-890E6C7452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120013-242F-18DF-3030-35A3F68DC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50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1B0F7F7-EFDC-8CCB-E4FB-7F9237E718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6793779"/>
              </p:ext>
            </p:extLst>
          </p:nvPr>
        </p:nvGraphicFramePr>
        <p:xfrm>
          <a:off x="238125" y="952500"/>
          <a:ext cx="8667750" cy="1047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2325064189"/>
                    </a:ext>
                  </a:extLst>
                </a:gridCol>
                <a:gridCol w="3619500">
                  <a:extLst>
                    <a:ext uri="{9D8B030D-6E8A-4147-A177-3AD203B41FA5}">
                      <a16:colId xmlns:a16="http://schemas.microsoft.com/office/drawing/2014/main" val="2750141152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3011151706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Board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Fab set (hardware/&lt;board&gt;/fab)</a:t>
                      </a:r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Notes for the fab house</a:t>
                      </a:r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7806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spb-bb-revb-dpt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Gerber zip, drill, pos, BOM, STEP, assembly + schematic PDF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oz all layers, 0.1 mm prepreg, via-in-pad filled + capped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574864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spb-bb-revb-load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same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+ blind vias L1–L2 (0.25 mm) filled + capped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70493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spb-busbar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Gerber zip, drill, pos, BOM, STEP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oz all layers (JLC3313), bolt pads without mask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88068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assembly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spb-level-assembly.step, spb-stack-assembly.step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mechanics / frame design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603233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318133B-6A04-4BD6-B10C-63DC84861509}"/>
              </a:ext>
            </a:extLst>
          </p:cNvPr>
          <p:cNvSpPr txBox="1"/>
          <p:nvPr/>
        </p:nvSpPr>
        <p:spPr>
          <a:xfrm>
            <a:off x="238125" y="228600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Generated: make_kicad_bb_revb.py (BOARD=dpt | load), make_kicad_sch_revb.py, make_kicad_busbar.py, make_3d_models_revb.py, make_fab_outputs_revb.py, make_assembly_step.py, render_3d.py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Mechanical items (screws, spreader, gap pads, heatsink, lugs) are listed at the end of each BOM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25C8C5B-2345-73D2-4B7B-017880ED9F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733" y="3000375"/>
            <a:ext cx="1898285" cy="18097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C7BAFB0-8CF4-5EF8-7DDD-B4678A8D3A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7483" y="3000375"/>
            <a:ext cx="1898285" cy="180975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E6E3811-F6FF-42D6-2B8B-E979A1ABAF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9625" y="3000375"/>
            <a:ext cx="4286250" cy="1537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002112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68EA0A-A10D-28CD-DEFA-31EBCF3F8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Status and next steps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827036-4204-31ED-395E-95EA69435B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B4CCEF6-0FDE-B096-1AE8-810953EAF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51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30FC7A0-85EB-E868-E369-72C1FD9BC5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825160"/>
              </p:ext>
            </p:extLst>
          </p:nvPr>
        </p:nvGraphicFramePr>
        <p:xfrm>
          <a:off x="238125" y="952500"/>
          <a:ext cx="4953000" cy="1885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>
                  <a:extLst>
                    <a:ext uri="{9D8B030D-6E8A-4147-A177-3AD203B41FA5}">
                      <a16:colId xmlns:a16="http://schemas.microsoft.com/office/drawing/2014/main" val="590625828"/>
                    </a:ext>
                  </a:extLst>
                </a:gridCol>
                <a:gridCol w="2095500">
                  <a:extLst>
                    <a:ext uri="{9D8B030D-6E8A-4147-A177-3AD203B41FA5}">
                      <a16:colId xmlns:a16="http://schemas.microsoft.com/office/drawing/2014/main" val="2078775128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Item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Status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39328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DC link: 20 × 22 µF 2220 + 10 × 1 µF per cell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in both layouts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714623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DPT board (UFCS, no heatsink)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DRC 0 / 0 / 0, schematic = PCB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681692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Load-test board (no shunt, LAM 4 K 50)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DRC 0 / 0 / 0, schematic = PCB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67874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PCB busbar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DRC clean, fab files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293695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Fast Q3D: loop, DC, L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x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, busbar, level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done (this deck)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75885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3D models, board + assembly STEP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done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995020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Fab outputs + BOMs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done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785686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DPT and three-phase load test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after assembly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730813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DC554F8F-1DCC-AB5C-9991-79825BB3979F}"/>
              </a:ext>
            </a:extLst>
          </p:cNvPr>
          <p:cNvSpPr txBox="1"/>
          <p:nvPr/>
        </p:nvSpPr>
        <p:spPr>
          <a:xfrm>
            <a:off x="5429250" y="952500"/>
            <a:ext cx="33813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Order: DPT board first (switching energies, per-cell current, overshoot vs di/dt), then 3 load boards + busbar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Mechanics: spreader drawing, frame and stack insulation from the assembly STEP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Decide after measurement: bank depopulation, damping caps, busbar copper weight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Machine: L</a:t>
            </a:r>
            <a:r>
              <a:rPr lang="el-GR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σ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,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cos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φ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and the final f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sw</a:t>
            </a:r>
            <a:endParaRPr lang="sv-SE" sz="1380" baseline="-2500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787791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C6289-942B-FBD1-F2AD-15A3C83BCE1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sv-SE"/>
              <a:t>Thank you - questions?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151CA1-DB55-AAD2-6853-56DF47B40B7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Enes Ayaz, KTH Royal Institute of Technology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202041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KTH">
      <a:dk1>
        <a:srgbClr val="000000"/>
      </a:dk1>
      <a:lt1>
        <a:srgbClr val="FFFFFF"/>
      </a:lt1>
      <a:dk2>
        <a:srgbClr val="65656C"/>
      </a:dk2>
      <a:lt2>
        <a:srgbClr val="838389"/>
      </a:lt2>
      <a:accent1>
        <a:srgbClr val="1954A6"/>
      </a:accent1>
      <a:accent2>
        <a:srgbClr val="5E87C0"/>
      </a:accent2>
      <a:accent3>
        <a:srgbClr val="2091C3"/>
      </a:accent3>
      <a:accent4>
        <a:srgbClr val="D02F80"/>
      </a:accent4>
      <a:accent5>
        <a:srgbClr val="D95999"/>
      </a:accent5>
      <a:accent6>
        <a:srgbClr val="61922E"/>
      </a:accent6>
      <a:hlink>
        <a:srgbClr val="65656C"/>
      </a:hlink>
      <a:folHlink>
        <a:srgbClr val="83838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3"/>
        </a:solidFill>
        <a:ln>
          <a:noFill/>
        </a:ln>
      </a:spPr>
      <a:bodyPr rtlCol="0" anchor="ctr"/>
      <a:lstStyle>
        <a:defPPr algn="ctr">
          <a:defRPr sz="2000" dirty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sz="2000" dirty="0" err="1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7121384-D8C6-FA41-9A6B-F4615C0099B0}" vid="{DF4435B0-2EFE-BF49-8755-0024FDD40B6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KTH_16_9</Template>
  <TotalTime>3</TotalTime>
  <Words>6882</Words>
  <Application>Microsoft Office PowerPoint</Application>
  <PresentationFormat>On-screen Show (16:9)</PresentationFormat>
  <Paragraphs>828</Paragraphs>
  <Slides>52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5" baseType="lpstr">
      <vt:lpstr>Arial</vt:lpstr>
      <vt:lpstr>Calibri</vt:lpstr>
      <vt:lpstr>Office-tema</vt:lpstr>
      <vt:lpstr>SPB Leg Building Block: Design Flow</vt:lpstr>
      <vt:lpstr>Design flow</vt:lpstr>
      <vt:lpstr>Design inputs</vt:lpstr>
      <vt:lpstr>Phase current follows from the inputs</vt:lpstr>
      <vt:lpstr>Voltage class: why 100 V GaN</vt:lpstr>
      <vt:lpstr>EPC2361: key data and the Kelvin source</vt:lpstr>
      <vt:lpstr>Submodule voltage from L·di/dt</vt:lpstr>
      <vt:lpstr>Why not lower: every submodule costs parts and loss</vt:lpstr>
      <vt:lpstr>Power loop of one cell: copper, bypass ESL and shunt</vt:lpstr>
      <vt:lpstr>One EPC2361 per switch: how fast and how much overshoot</vt:lpstr>
      <vt:lpstr>Thermal path per device: load-test board</vt:lpstr>
      <vt:lpstr>n identical cells per switch (one device and one driver each)</vt:lpstr>
      <vt:lpstr>Where the loss comes from: line period and junction temperature</vt:lpstr>
      <vt:lpstr>Losses vs number in parallel</vt:lpstr>
      <vt:lpstr>Switching frequency: losses, DC-link capacitors, current ripple</vt:lpstr>
      <vt:lpstr>DC-link sizing for a three-phase level</vt:lpstr>
      <vt:lpstr>Capacitor selection: effective capacitance at 75 V</vt:lpstr>
      <vt:lpstr>Bypass capacitors: how many and how large</vt:lpstr>
      <vt:lpstr>DC link of one leg board</vt:lpstr>
      <vt:lpstr>Can one driver drive all four?</vt:lpstr>
      <vt:lpstr>Driver arrangement for 1 … 4 EPC2361 per switch</vt:lpstr>
      <vt:lpstr>Gate driver selection: why the 2EDF7275K</vt:lpstr>
      <vt:lpstr>Why symmetry: what sets the current sharing</vt:lpstr>
      <vt:lpstr>Gate bump and negative off-voltage</vt:lpstr>
      <vt:lpstr>Building block: two mirrored cells, one centre driver</vt:lpstr>
      <vt:lpstr>Rev B: four cells per switch, two drivers, one leg</vt:lpstr>
      <vt:lpstr>Two boards from one design: double-pulse test and load test</vt:lpstr>
      <vt:lpstr>DPT board layout (UFCS shunts, no heatsink)</vt:lpstr>
      <vt:lpstr>Load-test board layout (no shunt, heatsink)</vt:lpstr>
      <vt:lpstr>The two boards in 3D (KiCad models)</vt:lpstr>
      <vt:lpstr>Top view with the silkscreen: DPT and load-test boards</vt:lpstr>
      <vt:lpstr>Bottom side and the load board without heatsink</vt:lpstr>
      <vt:lpstr>Two driver pairs on one switch node: driver skew</vt:lpstr>
      <vt:lpstr>Gate supplies: two isolated supplies, Zener split</vt:lpstr>
      <vt:lpstr>Driver block: input filters, turn-on / turn-off paths, star</vt:lpstr>
      <vt:lpstr>Measurement and control</vt:lpstr>
      <vt:lpstr>Power stage schematics (generated, identical to the PCBs)</vt:lpstr>
      <vt:lpstr>Three legs on one 75 V bus: what the bus must do</vt:lpstr>
      <vt:lpstr>PCB busbar: easy to manufacture</vt:lpstr>
      <vt:lpstr>One 75 V level in 3D: busbar + three load-test legs</vt:lpstr>
      <vt:lpstr>Level assembly: busbar side and DC connection</vt:lpstr>
      <vt:lpstr>Mechanics: heatsink length fixed by the leg pitch</vt:lpstr>
      <vt:lpstr>Full inverter: 16 levels on one 1200 V stack</vt:lpstr>
      <vt:lpstr>Fast Q3D set on the final boards</vt:lpstr>
      <vt:lpstr>Q3D: commutation loop per cell, final boards</vt:lpstr>
      <vt:lpstr>Q3D model of the cell band (fast loop model)</vt:lpstr>
      <vt:lpstr>Q3D: static current sharing and copper loss</vt:lpstr>
      <vt:lpstr>Q3D: three load-test legs on the PCB busbar</vt:lpstr>
      <vt:lpstr>Main findings on the final boards</vt:lpstr>
      <vt:lpstr>Fabrication files</vt:lpstr>
      <vt:lpstr>Status and next steps</vt:lpstr>
      <vt:lpstr>Thank you - questions?</vt:lpstr>
    </vt:vector>
  </TitlesOfParts>
  <Company>KTH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Malin Modig</dc:creator>
  <cp:lastModifiedBy>Enes Ayaz</cp:lastModifiedBy>
  <cp:revision>2</cp:revision>
  <dcterms:created xsi:type="dcterms:W3CDTF">2019-12-10T08:55:59Z</dcterms:created>
  <dcterms:modified xsi:type="dcterms:W3CDTF">2026-10-19T13:03:18Z</dcterms:modified>
</cp:coreProperties>
</file>