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handoutMasterIdLst>
    <p:handoutMasterId r:id="rId5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sv-S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44" autoAdjust="0"/>
    <p:restoredTop sz="94660"/>
  </p:normalViewPr>
  <p:slideViewPr>
    <p:cSldViewPr>
      <p:cViewPr varScale="1">
        <p:scale>
          <a:sx n="91" d="100"/>
          <a:sy n="91" d="100"/>
        </p:scale>
        <p:origin x="6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92" d="100"/>
          <a:sy n="92" d="100"/>
        </p:scale>
        <p:origin x="279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8641E886-6D8F-4DA2-898A-00B1EAE1AC5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EDFE6A-05C8-4F6B-BA8A-F497180174A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C3AE95-3DFC-4DDB-A7BB-B9BF94A03429}" type="datetimeFigureOut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AAE70C2B-4AA1-47BF-94B9-F7DF59FCFC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ED3EF666-D1D2-478D-9969-E1DE1FE2D0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96AD15-F18B-494F-8904-C45D7BCBE60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675942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8539D3-FAF3-FC43-8825-CC8C9D4686B2}" type="datetimeFigureOut">
              <a:rPr lang="sv-SE" smtClean="0"/>
              <a:t>2026-10-23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3B8005-7BF2-4B40-A831-B1EE96BFE5D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8434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B926A-213D-3B48-BB0C-19ADA28B3F4D}" type="datetime1">
              <a:rPr lang="sv-SE" smtClean="0"/>
              <a:t>2026-10-23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sp>
        <p:nvSpPr>
          <p:cNvPr id="24" name="Rubrik 1">
            <a:extLst>
              <a:ext uri="{FF2B5EF4-FFF2-40B4-BE49-F238E27FC236}">
                <a16:creationId xmlns:a16="http://schemas.microsoft.com/office/drawing/2014/main" id="{2973C368-F8A4-41B1-9D52-4D79988138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25" name="Underrubrik 2">
            <a:extLst>
              <a:ext uri="{FF2B5EF4-FFF2-40B4-BE49-F238E27FC236}">
                <a16:creationId xmlns:a16="http://schemas.microsoft.com/office/drawing/2014/main" id="{040AB90C-B2A7-4284-98E0-80DAE0A2CD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83F7B48-BB86-D74E-A1EB-2C3CDBAC7F2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912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18E66E3-BED5-4C6D-B465-40B84B88D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FF22D944-0354-4DCD-8334-3FC7C9FFC9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F508-B04A-E34A-80DD-59A12C5D1039}" type="datetime1">
              <a:rPr lang="sv-SE" smtClean="0"/>
              <a:t>2026-10-23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pic>
        <p:nvPicPr>
          <p:cNvPr id="9" name="Bildobjekt 19">
            <a:extLst>
              <a:ext uri="{FF2B5EF4-FFF2-40B4-BE49-F238E27FC236}">
                <a16:creationId xmlns:a16="http://schemas.microsoft.com/office/drawing/2014/main" id="{D08EEA80-13E5-4697-A9DA-21277742FA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526476" y="333641"/>
            <a:ext cx="1287722" cy="2057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E50A1F01-262A-6542-96F8-9345B6213D9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047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EB0B6BB-AC5F-485A-85BA-F56E433C7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9A48BD2-8B5B-44E1-8F6C-9B0D41A6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3F4D8-4BE6-D743-AE27-D14757A6F270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21B72178-9B2F-45A7-A31E-7710591B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3155F99B-B767-4EF4-BDED-E7E361EB3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FA474A84-82A6-4747-B64B-83217A0CB54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31888" y="1194198"/>
            <a:ext cx="7765653" cy="3540919"/>
          </a:xfrm>
        </p:spPr>
        <p:txBody>
          <a:bodyPr>
            <a:normAutofit/>
          </a:bodyPr>
          <a:lstStyle>
            <a:lvl1pPr>
              <a:defRPr sz="1500"/>
            </a:lvl1pPr>
            <a:lvl2pPr marL="514350" indent="-171450">
              <a:buFont typeface="Arial" panose="020B0604020202020204" pitchFamily="34" charset="0"/>
              <a:buChar char="‒"/>
              <a:defRPr sz="1350"/>
            </a:lvl2pPr>
            <a:lvl3pPr marL="857250" indent="-171450">
              <a:buFont typeface="Arial" panose="020B0604020202020204" pitchFamily="34" charset="0"/>
              <a:buChar char="˃"/>
              <a:defRPr sz="1200"/>
            </a:lvl3pPr>
            <a:lvl4pPr>
              <a:defRPr sz="1050"/>
            </a:lvl4pPr>
            <a:lvl5pPr marL="1543050" indent="-171450">
              <a:buFont typeface="Arial" panose="020B0604020202020204" pitchFamily="34" charset="0"/>
              <a:buChar char="‒"/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727327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63559-229D-724F-BBD5-623E582CF5C1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1" name="Platshållare för innehåll 6">
            <a:extLst>
              <a:ext uri="{FF2B5EF4-FFF2-40B4-BE49-F238E27FC236}">
                <a16:creationId xmlns:a16="http://schemas.microsoft.com/office/drawing/2014/main" id="{C23E0C61-4086-4E9E-9765-C96613FBE58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193800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innehåll 6">
            <a:extLst>
              <a:ext uri="{FF2B5EF4-FFF2-40B4-BE49-F238E27FC236}">
                <a16:creationId xmlns:a16="http://schemas.microsoft.com/office/drawing/2014/main" id="{F4B1B781-8A23-4309-9884-DD6E3CE0EF2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1888" y="1194594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6" name="Rubrik 5">
            <a:extLst>
              <a:ext uri="{FF2B5EF4-FFF2-40B4-BE49-F238E27FC236}">
                <a16:creationId xmlns:a16="http://schemas.microsoft.com/office/drawing/2014/main" id="{41903042-6CE8-4286-847C-7E810AF5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4158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underrubriker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945529D-785A-43B8-8CB0-BF49CF7DD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F60D0-FE42-A248-8A54-F26FEA948759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8" name="Platshållare för innehåll 6">
            <a:extLst>
              <a:ext uri="{FF2B5EF4-FFF2-40B4-BE49-F238E27FC236}">
                <a16:creationId xmlns:a16="http://schemas.microsoft.com/office/drawing/2014/main" id="{6304BE55-467D-4CE2-9B8D-EC038C989AF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664494"/>
            <a:ext cx="3794297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text 10">
            <a:extLst>
              <a:ext uri="{FF2B5EF4-FFF2-40B4-BE49-F238E27FC236}">
                <a16:creationId xmlns:a16="http://schemas.microsoft.com/office/drawing/2014/main" id="{4D066E04-C797-4C85-AD05-F6EFD42AE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03244" y="1194197"/>
            <a:ext cx="3794297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Platshållare för innehåll 6">
            <a:extLst>
              <a:ext uri="{FF2B5EF4-FFF2-40B4-BE49-F238E27FC236}">
                <a16:creationId xmlns:a16="http://schemas.microsoft.com/office/drawing/2014/main" id="{20A69851-5F12-40D3-A417-2DCD7530A5F4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6220" y="1664494"/>
            <a:ext cx="3792153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4" name="Platshållare för text 10">
            <a:extLst>
              <a:ext uri="{FF2B5EF4-FFF2-40B4-BE49-F238E27FC236}">
                <a16:creationId xmlns:a16="http://schemas.microsoft.com/office/drawing/2014/main" id="{9472B11D-1B06-4AB9-A788-CEFECBDC8E1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36220" y="1194197"/>
            <a:ext cx="3792153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0452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A7D9E-CD1D-F144-88A8-27D2C4D672B1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198"/>
            <a:ext cx="8651081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5339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1585DF-A6DF-A54D-9960-BE991B45200F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594"/>
            <a:ext cx="4237209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  <p:sp>
        <p:nvSpPr>
          <p:cNvPr id="9" name="Platshållare för bild 6">
            <a:extLst>
              <a:ext uri="{FF2B5EF4-FFF2-40B4-BE49-F238E27FC236}">
                <a16:creationId xmlns:a16="http://schemas.microsoft.com/office/drawing/2014/main" id="{3747F699-0360-4395-8415-6E5114D6C6C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60332" y="1194198"/>
            <a:ext cx="4237210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87958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F4B5727-3AF8-4023-B42B-839E8695A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92B391E-9C84-4E0D-898B-8454343B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91D87-1285-6843-BFFA-E098C31F828A}" type="datetime1">
              <a:rPr lang="sv-SE" smtClean="0"/>
              <a:t>2026-10-23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32D627AA-4087-4599-9513-63987ED8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BDE0A226-9A3A-4E94-A386-D753C79EA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96585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EB551155-ADB6-4713-AD48-92A8C535A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680" y="250032"/>
            <a:ext cx="7763861" cy="6477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CEFDED03-B73B-4057-9667-7B69EF4D7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1887" y="1194197"/>
            <a:ext cx="7765653" cy="34385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80C11F1C-711C-4AD7-A25F-D2B3F451BB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152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E8303-AD2F-DB4D-B8E2-7368B5FD02EE}" type="datetime1">
              <a:rPr lang="sv-SE" smtClean="0"/>
              <a:t>2026-10-23</a:t>
            </a:fld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C9465249-3F3D-4589-A44C-3AA1952E4C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902599"/>
            <a:ext cx="3086100" cy="2325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F9DBF7EF-8E59-4075-A8F0-EF49E121C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508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2A9A3-8636-4A04-BD48-3153280FB086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63C4B2EE-2B48-4379-BBD1-4FA250447FE8}"/>
              </a:ext>
            </a:extLst>
          </p:cNvPr>
          <p:cNvPicPr>
            <a:picLocks noChangeArrowheads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6551" y="250120"/>
            <a:ext cx="644150" cy="65239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" name="Rektangel 53">
            <a:extLst>
              <a:ext uri="{FF2B5EF4-FFF2-40B4-BE49-F238E27FC236}">
                <a16:creationId xmlns:a16="http://schemas.microsoft.com/office/drawing/2014/main" id="{D263F704-88D1-4479-BA22-2920B7F38621}"/>
              </a:ext>
            </a:extLst>
          </p:cNvPr>
          <p:cNvSpPr/>
          <p:nvPr userDrawn="1"/>
        </p:nvSpPr>
        <p:spPr>
          <a:xfrm>
            <a:off x="250750" y="4889099"/>
            <a:ext cx="8646791" cy="1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013"/>
          </a:p>
        </p:txBody>
      </p:sp>
    </p:spTree>
    <p:extLst>
      <p:ext uri="{BB962C8B-B14F-4D97-AF65-F5344CB8AC3E}">
        <p14:creationId xmlns:p14="http://schemas.microsoft.com/office/powerpoint/2010/main" val="27658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3" r:id="rId3"/>
    <p:sldLayoutId id="2147483654" r:id="rId4"/>
    <p:sldLayoutId id="2147483655" r:id="rId5"/>
    <p:sldLayoutId id="2147483651" r:id="rId6"/>
    <p:sldLayoutId id="2147483652" r:id="rId7"/>
    <p:sldLayoutId id="2147483650" r:id="rId8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&gt;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713" userDrawn="1">
          <p15:clr>
            <a:srgbClr val="F26B43"/>
          </p15:clr>
        </p15:guide>
        <p15:guide id="4" pos="5454" userDrawn="1">
          <p15:clr>
            <a:srgbClr val="F26B43"/>
          </p15:clr>
        </p15:guide>
        <p15:guide id="6" pos="358" userDrawn="1">
          <p15:clr>
            <a:srgbClr val="F26B43"/>
          </p15:clr>
        </p15:guide>
        <p15:guide id="7" orient="horz" pos="158" userDrawn="1">
          <p15:clr>
            <a:srgbClr val="F26B43"/>
          </p15:clr>
        </p15:guide>
        <p15:guide id="8" orient="horz" pos="3084" userDrawn="1">
          <p15:clr>
            <a:srgbClr val="F26B43"/>
          </p15:clr>
        </p15:guide>
        <p15:guide id="9" pos="5605" userDrawn="1">
          <p15:clr>
            <a:srgbClr val="F26B43"/>
          </p15:clr>
        </p15:guide>
        <p15:guide id="10" pos="155" userDrawn="1">
          <p15:clr>
            <a:srgbClr val="F26B43"/>
          </p15:clr>
        </p15:guide>
        <p15:guide id="11" pos="560" userDrawn="1">
          <p15:clr>
            <a:srgbClr val="F26B43"/>
          </p15:clr>
        </p15:guide>
        <p15:guide id="12" orient="horz" pos="566" userDrawn="1">
          <p15:clr>
            <a:srgbClr val="F26B43"/>
          </p15:clr>
        </p15:guide>
        <p15:guide id="13" orient="horz" pos="752" userDrawn="1">
          <p15:clr>
            <a:srgbClr val="F26B43"/>
          </p15:clr>
        </p15:guide>
        <p15:guide id="14" orient="horz" pos="298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2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8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30FD9-5F88-1729-0188-9E2B8CD387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SPB Leg Building Block: Design Flow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6E3C62-0A25-EF0B-A2F8-8C2CD94DCF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Four EPC2361 per switch: DPT and load-test boards, 1200 V / 300 kW SPB inverter</a:t>
            </a:r>
          </a:p>
          <a:p>
            <a:r>
              <a:rPr lang="en-US"/>
              <a:t>Enes Ayaz, KTH Royal Institute of Technology, October 2026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290316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A8DB5-B7BA-E02E-0991-05AF9AD81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DDC987-8915-B432-4575-642496334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DACA4F-0788-E406-6B85-38A9194FC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20B3558-1DE5-B125-613A-AB86C61143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705434"/>
              </p:ext>
            </p:extLst>
          </p:nvPr>
        </p:nvGraphicFramePr>
        <p:xfrm>
          <a:off x="238125" y="952500"/>
          <a:ext cx="866775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468432800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588922930"/>
                    </a:ext>
                  </a:extLst>
                </a:gridCol>
                <a:gridCol w="5905500">
                  <a:extLst>
                    <a:ext uri="{9D8B030D-6E8A-4147-A177-3AD203B41FA5}">
                      <a16:colId xmlns:a16="http://schemas.microsoft.com/office/drawing/2014/main" val="70018877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Step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Question → decision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16997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Design inputs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V, 300 kW, M ≤ 1.15, PMSM cos </a:t>
                      </a:r>
                      <a:r>
                        <a:rPr lang="el-G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= 0.9 → 228 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224718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100–650 V GaN survey, absolute and per volt → 100 V GaN, EPC2361 (Kelvin pad)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291722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Submodule 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pt-B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 L·di/dt ≤ 90 V for 0.5 / 1 nH, even N → 75 V, N = 16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022252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device, one driver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of one cell + LTspice at 0.5 / 1 nH → ≤ 80 A per device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97357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 in parallel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loss, T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V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vs n → 4 EPC2361 per switch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039514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DC link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kHz; 3 % ripple → 20 × 22 µF 2220 + 10 × 1 µF bypass per cell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365322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 drive → block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2EDF7275K per pair (star, Kelvin) → building block of two cells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1415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Four on one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pairs, one DC pair, one AC output → DPT board and load-test board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331646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Supplies, measurement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isolated supplies + Zener bias, UFCS per cell (DPT), U.FL V</a:t>
                      </a:r>
                      <a:r>
                        <a:rPr lang="en-US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MMCX V</a:t>
                      </a:r>
                      <a:r>
                        <a:rPr lang="en-US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HO 250-S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21900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DC bus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legs share the 75 V bus → laminated PCB busbar; 3D level and 16-level stack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34152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11–12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Verification, boards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 set on the final boards and the busbar; fab files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901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9406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92729-A323-AFF3-F562-44B6DFBEE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inputs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5E1AA4-21D9-2D74-648B-2935CAE7C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FC5363-8FA4-8E9E-FF7B-FB97AE00D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342121-73EF-DA98-4875-E9628626AC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773" y="952500"/>
            <a:ext cx="7346453" cy="2047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53C73E2-66F2-02E2-F42E-79DBE2947D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7004780"/>
              </p:ext>
            </p:extLst>
          </p:nvPr>
        </p:nvGraphicFramePr>
        <p:xfrm>
          <a:off x="238125" y="3048000"/>
          <a:ext cx="4953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43255918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390188378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06604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bus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 nominal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14895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Output power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kW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21355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Modulation index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 ≤ 1.15 (SVM)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71395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Machine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PMSM, cos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assumed 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11039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frequency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 (step 6)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7054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 / T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 test: air 25–40 °C / ≤ 125 °C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89011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 stress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≤ 90 V at nominal bus (100 V part)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25578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C17AEDF-10B6-FB18-5F30-5B3B00AD9BE7}"/>
              </a:ext>
            </a:extLst>
          </p:cNvPr>
          <p:cNvSpPr txBox="1"/>
          <p:nvPr/>
        </p:nvSpPr>
        <p:spPr>
          <a:xfrm>
            <a:off x="5429250" y="3095625"/>
            <a:ext cx="3476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SPB: N three-phase submodules in series on the DC side, each feeding one winding set of the machine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en-US" sz="147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 = 1200 V / N per submodule; each submodule = 3 legs on one DC link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477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71653-7064-F9E0-5CD2-1E2E22A85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Phase current follows from the inputs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3F07BC-57B9-2FB9-7C33-B63603FB5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681BEF-DCF8-3537-B1A8-C9E9D104D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7D9563-1C4B-4E8A-1B35-C51BF6E5229B}"/>
              </a:ext>
            </a:extLst>
          </p:cNvPr>
          <p:cNvSpPr txBox="1"/>
          <p:nvPr/>
        </p:nvSpPr>
        <p:spPr>
          <a:xfrm>
            <a:off x="238125" y="952500"/>
            <a:ext cx="5143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Each of the 3N legs delivers P/3N at 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/(2√2):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I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P / (3 ·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 ·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N·V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: the phase current does </a:t>
            </a:r>
            <a:r>
              <a:rPr lang="sv-SE" sz="1460" b="1">
                <a:solidFill>
                  <a:srgbClr val="C84632"/>
                </a:solidFill>
                <a:latin typeface="Arial" panose="020B0604020202020204" pitchFamily="34" charset="0"/>
              </a:rPr>
              <a:t>not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depend on N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1.15 · 75 V / 2√2 = 30.5 V; 6.25 kW per leg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 b="1">
                <a:solidFill>
                  <a:srgbClr val="1E1E1E"/>
                </a:solidFill>
                <a:latin typeface="Arial" panose="020B0604020202020204" pitchFamily="34" charset="0"/>
              </a:rPr>
              <a:t>228 Arms per leg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, 322 A peak (cos </a:t>
            </a:r>
            <a:r>
              <a:rPr lang="el-GR" sz="1460">
                <a:solidFill>
                  <a:srgbClr val="1E1E1E"/>
                </a:solidFill>
                <a:latin typeface="Arial" panose="020B0604020202020204" pitchFamily="34" charset="0"/>
              </a:rPr>
              <a:t>φ = 0.9)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DC current per leg 83 A; series DC chain 250 A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Losses in this deck are for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 = 0.9; 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the PMSM operating point is confirmed with the machine design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FBFCF1E-5769-4A50-4682-77DC11F03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5677919"/>
              </p:ext>
            </p:extLst>
          </p:nvPr>
        </p:nvGraphicFramePr>
        <p:xfrm>
          <a:off x="5667375" y="952500"/>
          <a:ext cx="323850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936596008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292251673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cos </a:t>
                      </a:r>
                      <a:r>
                        <a:rPr lang="el-GR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φ</a:t>
                      </a:r>
                      <a:endParaRPr lang="sv-SE" sz="156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</a:t>
                      </a:r>
                      <a:r>
                        <a:rPr lang="sv-SE" sz="156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58576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205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065443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216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8857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228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668399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241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9387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89266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6A4C3-10D2-AD2D-E5D3-B58301339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Voltage class: why 100 V GaN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DFC97-321E-B9FF-E1DC-E426BEFC8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8842E8-FE5A-CE6C-33CB-CE830F4A9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77A03A-3ED2-331C-A197-0DCF42F484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910" y="952500"/>
            <a:ext cx="7284181" cy="2571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7D83189-508F-18EE-7D96-EA519BA2B8DE}"/>
              </a:ext>
            </a:extLst>
          </p:cNvPr>
          <p:cNvSpPr txBox="1"/>
          <p:nvPr/>
        </p:nvSpPr>
        <p:spPr>
          <a:xfrm>
            <a:off x="238125" y="3543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At fixed bus voltage and phase current the minimum semiconductor loss scales with √(R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oss,tr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): the 100 V GaN parts have the lowest product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(b) Per volt of blocking capability: 100 V GaN has the lowest 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DS,max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(EPC2361 7.5 µΩ/V, 3–30× below 200–650 V) at a higher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/V; conduction dominates here (12.4 W vs 4–5 W switching per leg, step 5)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(c) Best device per class: 100 V needs more submodules but the fewest devices per switch and the smallest voltage step 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, 100 V, 0.75 mΩ typ, 3 × 5 mm, top-side cooling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77753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ECE6D-D197-5FA3-BB04-DE3C82F4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EPC2361: key data and the Kelvin source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B436F8-621A-9531-1DD2-95CDB15DA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E6DD5B-E445-DE3D-A56E-139494DD3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90618A-5F4A-CF7C-09BC-5CBC48A0EF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070" y="952500"/>
            <a:ext cx="6749859" cy="2428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09585D8-3E98-BC5E-759C-EC6852FE90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720278"/>
              </p:ext>
            </p:extLst>
          </p:nvPr>
        </p:nvGraphicFramePr>
        <p:xfrm>
          <a:off x="238125" y="344805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3977812638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337713072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Parameter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99248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transient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/ 120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851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0.75 m</a:t>
                      </a:r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 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typ (1.0 max)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10014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range / 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GS(th)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−4 … +6 V / 0.8 – 2.5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69659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3599 / 1019 / 13 pF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34756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 / 3.8 / 90 nC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266456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F9434AD-CE5A-7664-2357-B4AC8E499826}"/>
              </a:ext>
            </a:extLst>
          </p:cNvPr>
          <p:cNvSpPr txBox="1"/>
          <p:nvPr/>
        </p:nvSpPr>
        <p:spPr>
          <a:xfrm>
            <a:off x="4857750" y="3448050"/>
            <a:ext cx="4048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Kelvin pad 2 next to the gate: the gate loop returns at the die, the source stripes and vias (L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 stay in the power loop only ⇒ no 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·di/dt feedback into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Low threshold and −4 V limit: gate bump and negative bias need care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Top of the package at </a:t>
            </a:r>
            <a:r>
              <a:rPr lang="en-US" sz="1190" b="1">
                <a:solidFill>
                  <a:srgbClr val="C84632"/>
                </a:solidFill>
                <a:latin typeface="Arial" panose="020B0604020202020204" pitchFamily="34" charset="0"/>
              </a:rPr>
              <a:t>source potential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: the thermal interface must insulate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59276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74D79-DB70-3175-5240-91CA15674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Submodule voltage from L·di/dt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C335A8-0F28-9DC2-BC66-6DC301472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E47C3-DE48-255F-E4B4-0350C985D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6A431C7-E7B1-B2AC-EB07-EEE48DCAEF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322" y="952500"/>
            <a:ext cx="6269356" cy="2552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CD082F-6013-7E8F-C067-6703F4CE59A6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Peak stress v̂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·di/dt ≤ 90 V; turn-on di/dt (gate-charge model, R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2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Ω): 25 / 33 / 50 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A/ns at 60 / 80 / 120 A per 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At 80 A per device: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≤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73 V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with 0.5 nH, only 57 V with 1 nH ⇒ the loop must stay near 0.5 nH (or the turn-on is slowed); N even (symmetric winding sets): 16 → 75 V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7CDB5EC6-E850-4582-1690-9A05F06A8D92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V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75 V, N = 16; layout target 0.5 nH per cell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9194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5F8E4-9829-A675-AA92-90390AB2D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not lower: every submodule costs parts and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A5F115-C4B2-BF72-6D0E-254C7D13C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D80108-C994-C876-94FF-11DC7A436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4EED26-BE39-36D5-9FB6-6E3590B58D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29895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5E6523A-FE81-8233-30F8-9D190FC10059}"/>
              </a:ext>
            </a:extLst>
          </p:cNvPr>
          <p:cNvSpPr txBox="1"/>
          <p:nvPr/>
        </p:nvSpPr>
        <p:spPr>
          <a:xfrm>
            <a:off x="5381625" y="952500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Phase current is fixed by P, V</a:t>
            </a:r>
            <a:r>
              <a:rPr lang="en-US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, M, cos φ, not by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Each submodule carries the full phase current ⇒ conduction loss, transistors, drivers and supplies scale with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60 V (N = 20): +25 % parts and conduction loss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Overshoot margin rechecked on the final boards (Q3D, step 11)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78267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F0724-DFBD-B780-B37A-3A6879625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loop of one cell: copper, bypass ESL and shunt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D5BB86-E4AD-5009-40B4-50CFD969B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7E7E9B-A17C-7B99-EED0-B1B0F9077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9C8DD6-2F07-85B4-0417-5E6D5279CB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093" y="952500"/>
            <a:ext cx="6821813" cy="24955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3686FB9-C900-C55C-CFF6-A37A342DCBF2}"/>
              </a:ext>
            </a:extLst>
          </p:cNvPr>
          <p:cNvSpPr txBox="1"/>
          <p:nvPr/>
        </p:nvSpPr>
        <p:spPr>
          <a:xfrm>
            <a:off x="238125" y="3476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of the final boards (cell band): loop = copper of the vertical loop over 0.1 mm (vias, pads) + bypass ESL/n (+ UFCS 120 pH on the DPT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Copper alone: 0.35 nH (load) / 0.47 nH (DPT, shunt path); with 6 + 4 bypass 0805 per cell: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0.41 / 0.65 nH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Beyond ≈ 4 bypass parts per cell the number hardly matters; part: 1 µF 100 V X7S 0805 next to the drains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7FEEB69E-A298-BB77-04B1-60DBA1585B29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Design value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0.5 nH per cell; 1 nH as the pessimistic bound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278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4D313-19E6-02E7-FD56-D581ADD30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EPC2361 per switch: how fast and how much overshoot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C06CB9-1905-0E9E-0587-04516AA6E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943C12-6718-B8BE-07C4-79D7CF7CA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93E426-3170-C3A5-0195-AD90DF79D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069" y="952500"/>
            <a:ext cx="7395862" cy="24288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67EF1F-853B-3639-ADD2-AC8AC412179A}"/>
              </a:ext>
            </a:extLst>
          </p:cNvPr>
          <p:cNvSpPr txBox="1"/>
          <p:nvPr/>
        </p:nvSpPr>
        <p:spPr>
          <a:xfrm>
            <a:off x="238125" y="34099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LTspice half bridge at 75 V, lumped loop 0.5 / 1 nH, 1.7 nH gate loop, 2 Ω on / 0 Ω off, 4 A / 8 A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Peak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at 60 / 80 / 120 A: 87 / 83 / 102 V (0.5 nH), 83 / 93 / 137 V (1 nH)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(b, c) A larger loop lowers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(the loop takes L·di/dt of the voltage while the current rises) but raises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and the overshoot; turn-on di/dt is set by the driver (≈ 45 A/ns)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(d) Conduction per device at 100 °C: 4.0 / 7.2 / 16.1 W at 60 / 80 / 120 A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; one device would carry 322 A peak 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current per device ≤ 80 A</a:t>
            </a:r>
            <a:endParaRPr lang="sv-SE" sz="119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8563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C3C21-317F-5A6A-0FD9-8A4997B45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Thermal path per device: load-test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EA25C3-289A-45DD-0D99-DDC98EC88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5EAD00-9BB4-A610-C6B0-5E2F70940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9514611-1D04-06D3-E518-F070726A05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477604"/>
              </p:ext>
            </p:extLst>
          </p:nvPr>
        </p:nvGraphicFramePr>
        <p:xfrm>
          <a:off x="238125" y="952500"/>
          <a:ext cx="5619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2500">
                  <a:extLst>
                    <a:ext uri="{9D8B030D-6E8A-4147-A177-3AD203B41FA5}">
                      <a16:colId xmlns:a16="http://schemas.microsoft.com/office/drawing/2014/main" val="4134415719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89625835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Path (LAM 4 K 50 12 in air, per device)</a:t>
                      </a:r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K/W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7905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el-G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θ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JC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(top),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3848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gap pad 0.4 mm, 5 W/mK, over the 15 mm² package top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06373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Al spreader, outer cell → tube (8 mm in 12.8 × 3 mm, 2 devices)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1221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Junction → heatsink,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016491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Heatsink → air, whole leg (Fischer LAM 4 K 50 12)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747443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A34B355-712A-D886-32AB-78BE4A21E6AC}"/>
              </a:ext>
            </a:extLst>
          </p:cNvPr>
          <p:cNvSpPr txBox="1"/>
          <p:nvPr/>
        </p:nvSpPr>
        <p:spPr>
          <a:xfrm>
            <a:off x="6048375" y="952500"/>
            <a:ext cx="2857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amb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+ 0.65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leg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+ 7.6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The gap pad dominates (insulation is needed: the package top is at source potential)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 at full load: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69 °C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(40 °C ambient), 52 °C (25 °C), 78 °C with a 3 W/mK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): ×1.49 at 100 °C, ×1.80 at 150 °C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B7B74-3251-E50E-6A01-B21B58F8340C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Spreader and pad values are hand estimates from the dimensions; for n ≠ 4 the same per-device path is assumed.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68250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5BD7D-D750-65A6-F0BE-632BD74FF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n identical cells per switch (one device and one driver each)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E19557-6459-0FB8-9768-0D3CE09FA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ED4C19-059B-5C32-BB3E-E05DBD085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B73C0B-DDAD-E5B3-3880-60F6AE51CE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52" y="952500"/>
            <a:ext cx="7371896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033577-D6D7-FEEC-3138-0C56F6C087D1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228 A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leg, 50 kHz,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and R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solved together (load-test board in air, previous slide); LTspice energies at 0.5 nH (left bars) and 1 nH (hatched)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 = 4: 18.0 W (0.5 nH) / 17.0 W (1 nH) per leg,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69 °C; peak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at 80 A: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83 V (0.5 nH), 93 V (1 nH)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902DDDB5-B6BF-119B-1B4F-DCEC5DD5DDCF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EPC2361 per switch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&lt; 80 °C in all three cases; ≤ 90 V needs ≈ 0.5 nH; two equal pairs)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77249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E2EC3-20A5-94B8-6CF6-820034C2A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Where the loss comes from: line period and junction temperature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6C144E-19E1-BF81-3E2A-BA0D52A70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C14773-C55E-2CED-69F4-E9A57C6B1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412962-C2C4-4A48-C39D-3C24FEE441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36" y="952500"/>
            <a:ext cx="7651128" cy="2952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7E1C20-27DA-AF3B-D59D-B0EBF98C2C58}"/>
              </a:ext>
            </a:extLst>
          </p:cNvPr>
          <p:cNvSpPr txBox="1"/>
          <p:nvPr/>
        </p:nvSpPr>
        <p:spPr>
          <a:xfrm>
            <a:off x="238125" y="3924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4, 50 kHz: switching loss follows |i| (plus a constant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part), conduction loss follows i²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Conduction 12.5 W per leg (at the load-test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); switching 5.0 W at 0.5 nH, 4.1 W at 1 nH (lower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higher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and overshoot)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8630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E032E-6712-A316-6420-C0B5474E0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Losses vs number in parallel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FAB2A8-15EF-8B5E-E6D4-CF05B1DA7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ED8FA2-6617-3E12-0A64-65F10B3B5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FD34684-5B32-6BF1-D8EE-C99A92482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034175"/>
              </p:ext>
            </p:extLst>
          </p:nvPr>
        </p:nvGraphicFramePr>
        <p:xfrm>
          <a:off x="238125" y="952500"/>
          <a:ext cx="866775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1750">
                  <a:extLst>
                    <a:ext uri="{9D8B030D-6E8A-4147-A177-3AD203B41FA5}">
                      <a16:colId xmlns:a16="http://schemas.microsoft.com/office/drawing/2014/main" val="12434534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7064722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46955444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4363099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54060984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48581848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04015285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44839499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1178855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 per switch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78796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0.5 nH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39.5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06516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1 nH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38.4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17.0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19308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conduction at 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46261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switching 0.5 / 1 nH (W)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4.6 / 3.8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5.6 / 4.6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/ 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7.3 / 6.1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8.2 / 6.9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956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Efficiency, 0.5 nH (%)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99.37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99.63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699538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device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95015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(°C)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770456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V</a:t>
                      </a:r>
                      <a:r>
                        <a:rPr lang="en-US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0.5 / 1 nH (V)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195 / 292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131 / 180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/ 123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93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 / 86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87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05724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channels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07261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61A3C46-D2C0-74FB-3525-E50E5AE69760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Semiconductor losses only; leg loss / (2 n) = loss per device; T_j on the load-test board at 40 °C ambient, 50 kHz; efficiency relative to 6.25 kW per leg.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33537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FEBBC-57B0-A83F-84DF-BA7DF7E28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Switching frequency: losses, DC-link capacitors, current ripple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3752E2-4633-A74E-B121-76D5B339D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C3898C-55FF-DDC3-AF77-55A1C908F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8DFD05-3369-A8F1-6137-9C6B006958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39" y="952500"/>
            <a:ext cx="7482322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D3C53FE-A98C-5DFA-DA18-9BE790713BB4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(a) n = 4: 99.77 / 99.71 / 99.61 % at 20 / 50 / 100 kHz; (b) the voltage ripple sets the 2220 count (20 per leg at 50 kHz), ripple current needs only 7; (c) winding ripple Δi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/(4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depends on the machine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18491335-EE4D-0FEE-3C70-D54F54461425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≥ 50 kHz (higher allowed by the machine); the DC link is sized for 50 kHz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65443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F1E60-14EF-2B81-8DBC-BDAD8F0D1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DC-link sizing for a three-phase level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E1DED7-E634-2DA1-ED0C-BE5431D86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B164E7-A822-6AAB-1DD0-C9F5CD1A0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FB9FD6-50FD-7E8B-B042-F46840088D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3067717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6E87A5C-3F59-929F-E55A-1D97D0CDF2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9729159"/>
              </p:ext>
            </p:extLst>
          </p:nvPr>
        </p:nvGraphicFramePr>
        <p:xfrm>
          <a:off x="5381625" y="952500"/>
          <a:ext cx="35242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625">
                  <a:extLst>
                    <a:ext uri="{9D8B030D-6E8A-4147-A177-3AD203B41FA5}">
                      <a16:colId xmlns:a16="http://schemas.microsoft.com/office/drawing/2014/main" val="2404189991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4266822596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704746394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278590380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eff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level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8000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573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1273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757355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2750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64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212639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B46DAE3-B6E4-6E76-1306-3262FB860823}"/>
              </a:ext>
            </a:extLst>
          </p:cNvPr>
          <p:cNvSpPr txBox="1"/>
          <p:nvPr/>
        </p:nvSpPr>
        <p:spPr>
          <a:xfrm>
            <a:off x="5381625" y="2333625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One 75 V level = three legs on one bus (SVPWM, M = 1.15, cos φ = 0.9)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Balanced three-phase: no 2f ripple; capacitor RMS current 85 A per level (≈ 28 A per leg)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Per switching period the bank supplies the difference between the cell current and its average: ΔV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ΔQ / C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0" name="decision">
            <a:extLst>
              <a:ext uri="{FF2B5EF4-FFF2-40B4-BE49-F238E27FC236}">
                <a16:creationId xmlns:a16="http://schemas.microsoft.com/office/drawing/2014/main" id="{C92D3F7B-97E1-B8F9-D271-24FC6658DB92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≤ 3 % (2.25 V) at 50 kHz ⇒ 127 µF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effective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per leg board ⇒ 20 × 22 µF 2220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80696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46D50-1431-7D08-B5F5-286974258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Capacitor selection: effective capacitance at 75 V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0B40E8-484B-1641-6323-DF829EA04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5F9741-A016-5F85-E510-E1ED6C457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40DCF2E-22C2-16E8-78A2-0CC49745D2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244421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>
                  <a:extLst>
                    <a:ext uri="{9D8B030D-6E8A-4147-A177-3AD203B41FA5}">
                      <a16:colId xmlns:a16="http://schemas.microsoft.com/office/drawing/2014/main" val="4254029656"/>
                    </a:ext>
                  </a:extLst>
                </a:gridCol>
                <a:gridCol w="666750">
                  <a:extLst>
                    <a:ext uri="{9D8B030D-6E8A-4147-A177-3AD203B41FA5}">
                      <a16:colId xmlns:a16="http://schemas.microsoft.com/office/drawing/2014/main" val="1637644273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701409339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1290923929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9239529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308998755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 (100 V X7S)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nb-NO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</a:t>
                      </a:r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→ C at 75 V</a:t>
                      </a:r>
                      <a:endParaRPr lang="sv-SE" sz="12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Kept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ESR 50 kHz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 / leg (3 %)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320077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Murata GRM32EC72A106KE05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1.50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96694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C3225X7S2A475K200AB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0.92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12.3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176909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C4532X7S2A475K230KB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1.10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13.1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34047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C5750X7S2A106K230KB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2.45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646359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C5750X7S2A156M250KB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15.0 → 3.80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3.6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33686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C5750X7S2A226M280KB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22.0 → 6.35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2.8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32389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FE2B5EA-E125-7933-B783-7769B806CC29}"/>
              </a:ext>
            </a:extLst>
          </p:cNvPr>
          <p:cNvSpPr txBox="1"/>
          <p:nvPr/>
        </p:nvSpPr>
        <p:spPr>
          <a:xfrm>
            <a:off x="238125" y="28575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 bias at 75 V from the manufacturers' characteristic data (TDK, Murata): 100 V class-II MLCCs keep only 15–29 %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TDK C5750X7S2A226M280KB (2220, 22 µF): highest C per part and per area (0.22 µF/mm²), 2.8 mΩ, 4.5 A for +10 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Checks: 2.8 mm height under the heatsink spreader; 2220 flex cracking ⇒ away from the board edge and holes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decision">
            <a:extLst>
              <a:ext uri="{FF2B5EF4-FFF2-40B4-BE49-F238E27FC236}">
                <a16:creationId xmlns:a16="http://schemas.microsoft.com/office/drawing/2014/main" id="{BB233CFC-50D3-DC71-AA6E-24B087FACB4C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Bank: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20 × TDK C5750X7S2A226M280KB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per leg (2 rows), 127 µF effective, 1.4 A ripple per part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9807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DA9E5-B168-1ACE-DBB9-D14A049CD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Bypass capacitors: how many and how large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108118-34BC-5C45-5A24-A2F404D38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FB5F4F-1FB1-5076-ADED-6DC82E535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E7DCCF-08A9-873E-0B93-C7761B982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191000" cy="3213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827048A-5F5A-59ED-E95A-C65A65B83B1A}"/>
              </a:ext>
            </a:extLst>
          </p:cNvPr>
          <p:cNvSpPr txBox="1"/>
          <p:nvPr/>
        </p:nvSpPr>
        <p:spPr>
          <a:xfrm>
            <a:off x="4572000" y="952500"/>
            <a:ext cx="4333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Bypass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(1 µF 0805 at the drains) supplies the edge,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bank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the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ripple; per cell 81 A: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di/dt → number: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Cu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ESL/n ≈ 0.5 nH ⇒ n ≥ 4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Hand-over to the bank through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: C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≥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I/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V)² </a:t>
            </a:r>
            <a:r>
              <a:rPr lang="sv-SE" sz="1280" b="1">
                <a:solidFill>
                  <a:srgbClr val="C84632"/>
                </a:solidFill>
                <a:latin typeface="Arial" panose="020B0604020202020204" pitchFamily="34" charset="0"/>
              </a:rPr>
              <a:t>sets the value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from Q3D: (pending)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0805 1 µF 100 V X7S keeps only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18 %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at 75 V (TDK data): 0.18 µF per part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dip for 6 / 10 per cell: (pending bank model)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1AE085E7-32B5-774B-63D4-41474C7D75BE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10 × 1 µF 0805 per cell: 6 on top at the drains + 4 on the bottom, identical in all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27207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334E3-4398-BC26-8967-83441A6A4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 link of one leg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52B751-3A4E-73CE-E4C0-1D55D7BCF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E5929A-2459-88A4-85C1-867D41831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BEAED0F-7BB8-BDB4-F809-5DE761A5A5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090175"/>
              </p:ext>
            </p:extLst>
          </p:nvPr>
        </p:nvGraphicFramePr>
        <p:xfrm>
          <a:off x="238125" y="952500"/>
          <a:ext cx="4953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625">
                  <a:extLst>
                    <a:ext uri="{9D8B030D-6E8A-4147-A177-3AD203B41FA5}">
                      <a16:colId xmlns:a16="http://schemas.microsoft.com/office/drawing/2014/main" val="2854695444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293379943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632619278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65372079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Nominal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At 75 V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154464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Bypass, 10 per cell × 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× 1 µF 0805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223294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Bank, rows A (8) + B (12)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 × 22 µF 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440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60899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Total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134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238142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7D201C8-5210-A5D6-8244-ECB84115EBA1}"/>
              </a:ext>
            </a:extLst>
          </p:cNvPr>
          <p:cNvSpPr txBox="1"/>
          <p:nvPr/>
        </p:nvSpPr>
        <p:spPr>
          <a:xfrm>
            <a:off x="238125" y="238125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Ripple at 50 kHz with the three legs of a level sharing: </a:t>
            </a:r>
            <a:r>
              <a:rPr lang="en-US" sz="1470" b="1">
                <a:solidFill>
                  <a:srgbClr val="1E1E1E"/>
                </a:solidFill>
                <a:latin typeface="Arial" panose="020B0604020202020204" pitchFamily="34" charset="0"/>
              </a:rPr>
              <a:t>2.1 V (2.9 %)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Leg alone (DPT, back-to-back test without the busbar): ≈ 2× higher, acceptable for the lab tests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Bank ≥ 10 × bypass (127 vs 7 µF eff.): fulfilled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Row A leaves the board centre free for the DC terminal pins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847EC22-5323-4DCA-44F4-6789FD4EA6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625" y="952500"/>
            <a:ext cx="3524250" cy="2476688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9597E6DB-74A9-1A13-48D9-46D8A8A9A4D5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DC link on the DPT and load-test boards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14896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B89E3-7F79-7367-5D8E-5F42ADA09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Can one driver drive all four?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FD71AB-E995-CE01-F915-B4C1B081E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A00ECA-E25D-F19C-7564-ACEEC1780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626E74-E439-162E-3296-78CABF2AF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25" y="952500"/>
            <a:ext cx="7423150" cy="2333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42F7AD-A995-C37A-D98F-DE0EEA6A67FF}"/>
              </a:ext>
            </a:extLst>
          </p:cNvPr>
          <p:cNvSpPr txBox="1"/>
          <p:nvPr/>
        </p:nvSpPr>
        <p:spPr>
          <a:xfrm>
            <a:off x="238125" y="3333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Why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transistor rises with n per channel: the n gate capacitances (n × 3.6 nF C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iss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charge through one driver output (4 A source, 0.85 Ω) and a longer shared gate trace ⇒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rises n× slower ⇒ lower di/dt and dv/dt at turn-on ⇒ longer V–I overlap: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+16 / +31 / +60 %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for 3 / 4 / 6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(b) Extra gate-loop inductance of the longer tree raises the gate bump; (a) peak sink current 12–14 A for 4–6 devices exceeds the 8 A rating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(c) One channel per device is symmetric but needs 4 channels and supplies per switch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6757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82193-AC53-F135-CE87-10A223AC8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Driver arrangement for 1 … 4 EPC2361 per switch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961400-15AD-22C7-219B-3E61A112D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53338B-AE21-6579-564C-DA04CDC97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0026B0-6B22-8888-89BE-285AA735F0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29313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7EA2F5-6215-F02E-3066-DBFF38817E9C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One dual-channel driver (HS + LS) between two cells: both gate loops equal and with their own Kelvin return (design value ≈ 1.7 nH; extracted on the routed board: step 11)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3 breaks the symmetry (pair + single)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4: two pairs, two drivers, one star per pair ⇒ the building block of two point-symmetric cells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F63FB9D9-7073-0270-67C8-405971876555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driver channel; 4 per switch = two pairs = two drivers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33745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8B852-8AA0-8DC9-D6FB-BAA5AD183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driver selection: why the 2EDF7275K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2D4EEB-8669-44A9-F549-69E154D75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67B5AC-3FEA-5A79-E15A-744A62C9B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E7C710A-CC04-959C-C8C6-1D3E22CF44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8568279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1903843619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1072401650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2223670195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213326005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2EDF7275K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1EDF5673K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LMG1210 (TI)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08919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Channels / isolation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2, each output isolated (functional)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isolated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half bridge, bootstrap HS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922614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source / sink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 A / 8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 Ω / 0.35 Ω output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1.5 A / 3 A class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14313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Prop. delay /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 / ≤ 3 ns ch-ch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≤ 21 ns / ≤ 3.4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692116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CMTI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&gt; 200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D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V/ns (HS dv/dt)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69138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Off-voltage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external (Zener split)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built-in negative (RC)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V only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879517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ICs per switch (4 EPC2361)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(one per pair)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(weak for a pair)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2381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56C8C0B-1746-35B3-B654-23DC7518DA62}"/>
              </a:ext>
            </a:extLst>
          </p:cNvPr>
          <p:cNvSpPr txBox="1"/>
          <p:nvPr/>
        </p:nvSpPr>
        <p:spPr>
          <a:xfrm>
            <a:off x="238125" y="3095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 pair needs ≈ 2 × 3.6 nF: 4 A / 8 A drives it at the single-device speed; the 1.5 A / 3 A half-bridge driver does not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isolated outputs in one 5 × 5 mm LGA: HS and LS of the same pair from one IC, ≤ 3 ns channel mismatch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Floating outputs: each output gets its own supply split (5.1 V Zener on, −1.9 V off) for the bump margin (next)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5D551D-6FD8-9542-E04F-790B59675D2B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Data: Infineon / TI product pages and datasheets (2EDF7275K, 1EDF5673K, LMG1210); check the current revision.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5164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5AA07-5967-F059-864F-1EC4E99DC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symmetry: what sets the current sharing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CF2EC2-C6EF-8FB2-F43A-777B2D589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09A4A3-552A-B247-382D-49B7DD5EA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CC1459-2346-2864-F5C3-78D9649658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88" y="952500"/>
            <a:ext cx="6890624" cy="1666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9913352-EE34-930C-530D-BD4D48D193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196995"/>
              </p:ext>
            </p:extLst>
          </p:nvPr>
        </p:nvGraphicFramePr>
        <p:xfrm>
          <a:off x="238125" y="26670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376141292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4239191954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3333743190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193940832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Asymmetry (LTspice, two EPC2361 in parallel)</a:t>
                      </a:r>
                      <a:endParaRPr lang="sv-SE" sz="110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Case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+E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imbalance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Layout 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664298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Power-loop inductance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 cells, identical via sets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490876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Gate-loop inductance mismatch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2 vs 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4 : 1)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star network, equal gate traces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666709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inductance, no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0 %, both +47 % 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pad per device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94782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mismatch, no Kelvin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+0.2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return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34074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Threshold spread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driver channel per pair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747211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(conduction): copper / R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  <a:endParaRPr lang="sv-SE" sz="110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self-limiting (positive TC)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 copper (Q3D, step 11)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209034"/>
                  </a:ext>
                </a:extLst>
              </a:tr>
            </a:tbl>
          </a:graphicData>
        </a:graphic>
      </p:graphicFrame>
      <p:sp>
        <p:nvSpPr>
          <p:cNvPr id="9" name="decision">
            <a:extLst>
              <a:ext uri="{FF2B5EF4-FFF2-40B4-BE49-F238E27FC236}">
                <a16:creationId xmlns:a16="http://schemas.microsoft.com/office/drawing/2014/main" id="{3C7FECB1-F87C-E4C1-9153-76FA32FC1FA4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Star gate network with Kelvin returns, one driver channel per pair, point-symmetric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43988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696C4-80F3-0C92-B8AA-0F6D14E30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bump and negative off-voltage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DA341A-4589-43AA-8440-6149A984C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AC25F2-F7F2-54B4-C955-DF9E05560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6AA7EC-3735-5D1D-3512-6406EBEAA2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3573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A5D75C-565B-256B-160C-69A6AE82CD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2857500"/>
            <a:ext cx="5334000" cy="18329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B3E7020-C008-BBD2-5E5D-71B3F5A787DC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Bump: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when the other device of the leg turns on, the off device sees dv/dt;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·dv/dt flows through its gate loop and lifts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by ≈ Q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≈ 1.06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Independent of load current and bus voltage (top b, c); close to the 0.8 V minimum threshold ⇒ shoot-through risk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Negative off-voltage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shifts the whole bump down: −1 V ⇒ peak ≈ 0 V; extra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divides it further (bottom)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Cost: reverse conduction in the dead time at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+ |V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|; off-state ringing must stay above the −4 V limit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Implemented: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− 5.1 V) =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−1.9 V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= 7 V), set with the extracted gate loop (step 11): bump ≤ −0.5 V, ringing ≈ −3.4 V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5269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B97CC-1F95-2304-3F25-7829CD5E5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Building block: two point-symmetric cells, one centre driver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DD6309-2897-F15B-CDD5-3E72A9610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5A2C9A-ECFC-28A8-C69B-AA780558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2977AA-AA6E-B429-63DE-18125C5D67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143500" cy="32146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DAAFE8E-3EE2-29EA-397A-398738A8208A}"/>
              </a:ext>
            </a:extLst>
          </p:cNvPr>
          <p:cNvSpPr txBox="1"/>
          <p:nvPr/>
        </p:nvSpPr>
        <p:spPr>
          <a:xfrm>
            <a:off x="552450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Q3D model of the final board (cell band): copper per net, vias, FET pads and bypass terminals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cells rotated by 180° about the driver (point symmetry): identical gate loops and Kelvin returns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2EDF7275K channel drives a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(star network,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0.5 Ω per transistor)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cell keeps its own commutation loop (step 11: 0.41 nH load board, 0.65 nH DPT board)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CE3F345D-17E4-FD52-8253-335A9B720570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channel;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per switch = two pairs, two drivers, one leg board</a:t>
            </a:r>
            <a:endParaRPr lang="sv-SE" sz="138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37269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84DFE-4AFA-90F8-17F8-293542DD0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Rev B: four cells per switch, two drivers, one leg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876AF2-7490-C8D6-4B3A-A02C40885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251B37-D330-6941-AB06-CE29EF1F8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26</a:t>
            </a:fld>
            <a:endParaRPr lang="sv-S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A48E8E-F62C-1FAD-2CA4-633495B5B32E}"/>
              </a:ext>
            </a:extLst>
          </p:cNvPr>
          <p:cNvSpPr/>
          <p:nvPr/>
        </p:nvSpPr>
        <p:spPr>
          <a:xfrm>
            <a:off x="333375" y="1143000"/>
            <a:ext cx="4476750" cy="3143250"/>
          </a:xfrm>
          <a:prstGeom prst="rect">
            <a:avLst/>
          </a:prstGeom>
          <a:solidFill>
            <a:srgbClr val="FFFFFF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rIns="25400" rtlCol="0" anchor="ctr"/>
          <a:lstStyle/>
          <a:p>
            <a:pPr algn="ctr"/>
            <a:endParaRPr lang="sv-SE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80C64D-5297-9751-5F61-BA8C107F9783}"/>
              </a:ext>
            </a:extLst>
          </p:cNvPr>
          <p:cNvSpPr txBox="1"/>
          <p:nvPr/>
        </p:nvSpPr>
        <p:spPr>
          <a:xfrm>
            <a:off x="381000" y="1171575"/>
            <a:ext cx="2857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1010" b="1">
                <a:solidFill>
                  <a:srgbClr val="787878"/>
                </a:solidFill>
                <a:latin typeface="Arial" panose="020B0604020202020204" pitchFamily="34" charset="0"/>
              </a:rPr>
              <a:t>Rev B leg board, 89.5 × 85.2 mm, 4 layers</a:t>
            </a:r>
            <a:endParaRPr lang="sv-SE" sz="1010" b="1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076BF66-51D4-1582-8290-91E26E93E42E}"/>
              </a:ext>
            </a:extLst>
          </p:cNvPr>
          <p:cNvSpPr/>
          <p:nvPr/>
        </p:nvSpPr>
        <p:spPr>
          <a:xfrm>
            <a:off x="2095500" y="1352550"/>
            <a:ext cx="428625" cy="209550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DC+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5413428-E226-B8F8-C274-A2AFECF640BA}"/>
              </a:ext>
            </a:extLst>
          </p:cNvPr>
          <p:cNvSpPr/>
          <p:nvPr/>
        </p:nvSpPr>
        <p:spPr>
          <a:xfrm>
            <a:off x="2619375" y="1352550"/>
            <a:ext cx="428625" cy="2095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DC−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55B59C-6FD1-9904-0212-6AD369BB1824}"/>
              </a:ext>
            </a:extLst>
          </p:cNvPr>
          <p:cNvCxnSpPr/>
          <p:nvPr/>
        </p:nvCxnSpPr>
        <p:spPr>
          <a:xfrm>
            <a:off x="523875" y="1638300"/>
            <a:ext cx="4095750" cy="0"/>
          </a:xfrm>
          <a:prstGeom prst="line">
            <a:avLst/>
          </a:prstGeom>
          <a:ln w="508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5D973F-6EA0-D38C-61E3-838DA61CCF1E}"/>
              </a:ext>
            </a:extLst>
          </p:cNvPr>
          <p:cNvCxnSpPr/>
          <p:nvPr/>
        </p:nvCxnSpPr>
        <p:spPr>
          <a:xfrm>
            <a:off x="523875" y="1752600"/>
            <a:ext cx="4095750" cy="0"/>
          </a:xfrm>
          <a:prstGeom prst="line">
            <a:avLst/>
          </a:prstGeom>
          <a:ln w="508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1D9F04D-9614-FD34-C3E6-59C5F7142244}"/>
              </a:ext>
            </a:extLst>
          </p:cNvPr>
          <p:cNvCxnSpPr/>
          <p:nvPr/>
        </p:nvCxnSpPr>
        <p:spPr>
          <a:xfrm>
            <a:off x="2305050" y="1562100"/>
            <a:ext cx="0" cy="762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842F9C5-1B2F-3D50-218A-FCBF9F034E39}"/>
              </a:ext>
            </a:extLst>
          </p:cNvPr>
          <p:cNvCxnSpPr/>
          <p:nvPr/>
        </p:nvCxnSpPr>
        <p:spPr>
          <a:xfrm>
            <a:off x="2828925" y="1562100"/>
            <a:ext cx="0" cy="1905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9C48DD9-226D-CE85-E352-690983CB9549}"/>
              </a:ext>
            </a:extLst>
          </p:cNvPr>
          <p:cNvSpPr txBox="1"/>
          <p:nvPr/>
        </p:nvSpPr>
        <p:spPr>
          <a:xfrm>
            <a:off x="523875" y="1428750"/>
            <a:ext cx="15240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830">
                <a:solidFill>
                  <a:srgbClr val="787878"/>
                </a:solidFill>
                <a:latin typeface="Arial" panose="020B0604020202020204" pitchFamily="34" charset="0"/>
              </a:rPr>
              <a:t>laminated terminal row + one bank</a:t>
            </a:r>
            <a:endParaRPr lang="sv-SE" sz="8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0C72BAE-499D-04CD-D1BC-9769845B0FF9}"/>
              </a:ext>
            </a:extLst>
          </p:cNvPr>
          <p:cNvSpPr/>
          <p:nvPr/>
        </p:nvSpPr>
        <p:spPr>
          <a:xfrm>
            <a:off x="6191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1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6561A7B-4DE0-AC49-4402-197D696BCB04}"/>
              </a:ext>
            </a:extLst>
          </p:cNvPr>
          <p:cNvSpPr/>
          <p:nvPr/>
        </p:nvSpPr>
        <p:spPr>
          <a:xfrm>
            <a:off x="6667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897DAB2-C256-2998-8E02-9F7BF1338DBE}"/>
              </a:ext>
            </a:extLst>
          </p:cNvPr>
          <p:cNvCxnSpPr/>
          <p:nvPr/>
        </p:nvCxnSpPr>
        <p:spPr>
          <a:xfrm>
            <a:off x="9048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CD84245-2FDA-88C9-5D77-DB4E6D57581B}"/>
              </a:ext>
            </a:extLst>
          </p:cNvPr>
          <p:cNvCxnSpPr/>
          <p:nvPr/>
        </p:nvCxnSpPr>
        <p:spPr>
          <a:xfrm>
            <a:off x="11906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1A506C-3A4D-BD4E-81FF-65D53DD73F1E}"/>
              </a:ext>
            </a:extLst>
          </p:cNvPr>
          <p:cNvCxnSpPr/>
          <p:nvPr/>
        </p:nvCxnSpPr>
        <p:spPr>
          <a:xfrm>
            <a:off x="10477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7339475-8B3C-9615-69E2-63DED5909B71}"/>
              </a:ext>
            </a:extLst>
          </p:cNvPr>
          <p:cNvCxnSpPr/>
          <p:nvPr/>
        </p:nvCxnSpPr>
        <p:spPr>
          <a:xfrm>
            <a:off x="10477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82807DC-F5D8-9E41-7577-3E78829DF03F}"/>
              </a:ext>
            </a:extLst>
          </p:cNvPr>
          <p:cNvSpPr/>
          <p:nvPr/>
        </p:nvSpPr>
        <p:spPr>
          <a:xfrm>
            <a:off x="16668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2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7B23651-3121-41B7-CE85-ADBBAA86F362}"/>
              </a:ext>
            </a:extLst>
          </p:cNvPr>
          <p:cNvSpPr/>
          <p:nvPr/>
        </p:nvSpPr>
        <p:spPr>
          <a:xfrm>
            <a:off x="17145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80FEEAC-C93B-F2B0-0428-8038F7DF5AC3}"/>
              </a:ext>
            </a:extLst>
          </p:cNvPr>
          <p:cNvCxnSpPr/>
          <p:nvPr/>
        </p:nvCxnSpPr>
        <p:spPr>
          <a:xfrm>
            <a:off x="19526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C945ACE-2249-86D3-9312-CE4DF18CD35E}"/>
              </a:ext>
            </a:extLst>
          </p:cNvPr>
          <p:cNvCxnSpPr/>
          <p:nvPr/>
        </p:nvCxnSpPr>
        <p:spPr>
          <a:xfrm>
            <a:off x="22383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67D82B5-D32D-467C-86F6-9349ED947739}"/>
              </a:ext>
            </a:extLst>
          </p:cNvPr>
          <p:cNvCxnSpPr/>
          <p:nvPr/>
        </p:nvCxnSpPr>
        <p:spPr>
          <a:xfrm>
            <a:off x="20955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2E588FA-B2FC-26F8-6E18-0A52E919FFAC}"/>
              </a:ext>
            </a:extLst>
          </p:cNvPr>
          <p:cNvCxnSpPr/>
          <p:nvPr/>
        </p:nvCxnSpPr>
        <p:spPr>
          <a:xfrm>
            <a:off x="20955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7CA13DE-823E-AE3C-2E07-BCFD33EF809C}"/>
              </a:ext>
            </a:extLst>
          </p:cNvPr>
          <p:cNvSpPr/>
          <p:nvPr/>
        </p:nvSpPr>
        <p:spPr>
          <a:xfrm>
            <a:off x="27146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3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A1632B6-92EC-F26F-1E43-A93218905581}"/>
              </a:ext>
            </a:extLst>
          </p:cNvPr>
          <p:cNvSpPr/>
          <p:nvPr/>
        </p:nvSpPr>
        <p:spPr>
          <a:xfrm>
            <a:off x="27622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17E8C1E-E45E-E32E-9138-25C3AF8D10B1}"/>
              </a:ext>
            </a:extLst>
          </p:cNvPr>
          <p:cNvCxnSpPr/>
          <p:nvPr/>
        </p:nvCxnSpPr>
        <p:spPr>
          <a:xfrm>
            <a:off x="30003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4641E7B-B13A-25CE-5682-7A7ABF9DC86A}"/>
              </a:ext>
            </a:extLst>
          </p:cNvPr>
          <p:cNvCxnSpPr/>
          <p:nvPr/>
        </p:nvCxnSpPr>
        <p:spPr>
          <a:xfrm>
            <a:off x="32861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1B734ED-51D3-ED0C-22AE-56C8AAAD32EA}"/>
              </a:ext>
            </a:extLst>
          </p:cNvPr>
          <p:cNvCxnSpPr/>
          <p:nvPr/>
        </p:nvCxnSpPr>
        <p:spPr>
          <a:xfrm>
            <a:off x="31432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B12C190-A80F-1689-A8EB-FCF46FAA2C68}"/>
              </a:ext>
            </a:extLst>
          </p:cNvPr>
          <p:cNvCxnSpPr/>
          <p:nvPr/>
        </p:nvCxnSpPr>
        <p:spPr>
          <a:xfrm>
            <a:off x="31432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7B542FE9-AA48-80FB-0773-7576E5052AEF}"/>
              </a:ext>
            </a:extLst>
          </p:cNvPr>
          <p:cNvSpPr/>
          <p:nvPr/>
        </p:nvSpPr>
        <p:spPr>
          <a:xfrm>
            <a:off x="37623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4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097DC09-144C-B47A-7D4C-5BA3A66E46E6}"/>
              </a:ext>
            </a:extLst>
          </p:cNvPr>
          <p:cNvSpPr/>
          <p:nvPr/>
        </p:nvSpPr>
        <p:spPr>
          <a:xfrm>
            <a:off x="38100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73BE7DE-A3B3-A41D-B333-6981B1ACA26C}"/>
              </a:ext>
            </a:extLst>
          </p:cNvPr>
          <p:cNvCxnSpPr/>
          <p:nvPr/>
        </p:nvCxnSpPr>
        <p:spPr>
          <a:xfrm>
            <a:off x="40481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52E5501-E5AD-63BE-F295-B6779B1F3396}"/>
              </a:ext>
            </a:extLst>
          </p:cNvPr>
          <p:cNvCxnSpPr/>
          <p:nvPr/>
        </p:nvCxnSpPr>
        <p:spPr>
          <a:xfrm>
            <a:off x="43338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78105A-29D4-33BA-77D6-4720FD2882FE}"/>
              </a:ext>
            </a:extLst>
          </p:cNvPr>
          <p:cNvCxnSpPr/>
          <p:nvPr/>
        </p:nvCxnSpPr>
        <p:spPr>
          <a:xfrm>
            <a:off x="41910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401E8CC-A145-4132-3E70-9AD8AE0C169D}"/>
              </a:ext>
            </a:extLst>
          </p:cNvPr>
          <p:cNvCxnSpPr/>
          <p:nvPr/>
        </p:nvCxnSpPr>
        <p:spPr>
          <a:xfrm>
            <a:off x="41910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89E7E40-8E7A-65AC-5A79-4CB6E6376D9A}"/>
              </a:ext>
            </a:extLst>
          </p:cNvPr>
          <p:cNvSpPr/>
          <p:nvPr/>
        </p:nvSpPr>
        <p:spPr>
          <a:xfrm>
            <a:off x="10001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#1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B2F72CF7-B0B7-4B9C-1B96-840FDC59BD7D}"/>
              </a:ext>
            </a:extLst>
          </p:cNvPr>
          <p:cNvSpPr/>
          <p:nvPr/>
        </p:nvSpPr>
        <p:spPr>
          <a:xfrm>
            <a:off x="30956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#2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0DD3D7A-374E-59EA-DBAF-0344379087AB}"/>
              </a:ext>
            </a:extLst>
          </p:cNvPr>
          <p:cNvCxnSpPr/>
          <p:nvPr/>
        </p:nvCxnSpPr>
        <p:spPr>
          <a:xfrm>
            <a:off x="809625" y="3476625"/>
            <a:ext cx="3381375" cy="0"/>
          </a:xfrm>
          <a:prstGeom prst="line">
            <a:avLst/>
          </a:prstGeom>
          <a:ln w="635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21092A7-BD29-6B51-3990-9D724BCBE280}"/>
              </a:ext>
            </a:extLst>
          </p:cNvPr>
          <p:cNvSpPr txBox="1"/>
          <p:nvPr/>
        </p:nvSpPr>
        <p:spPr>
          <a:xfrm>
            <a:off x="714375" y="3524250"/>
            <a:ext cx="1714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AC joined in copper (all layers)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C0DECDB-F5E6-7997-3501-FAF72110E242}"/>
              </a:ext>
            </a:extLst>
          </p:cNvPr>
          <p:cNvCxnSpPr/>
          <p:nvPr/>
        </p:nvCxnSpPr>
        <p:spPr>
          <a:xfrm>
            <a:off x="2571750" y="3476625"/>
            <a:ext cx="0" cy="428625"/>
          </a:xfrm>
          <a:prstGeom prst="line">
            <a:avLst/>
          </a:prstGeom>
          <a:ln w="635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8A71229-3703-3B5F-66A4-8E2646BB6BA7}"/>
              </a:ext>
            </a:extLst>
          </p:cNvPr>
          <p:cNvSpPr txBox="1"/>
          <p:nvPr/>
        </p:nvSpPr>
        <p:spPr>
          <a:xfrm>
            <a:off x="2667000" y="3714750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ONE M6 AC bolt pad → Cu bar</a:t>
            </a:r>
          </a:p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→ LEM HO 250-S → load</a:t>
            </a:r>
            <a:endParaRPr lang="sv-SE" sz="92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9976409-546B-8464-779D-F82564AD5DF9}"/>
              </a:ext>
            </a:extLst>
          </p:cNvPr>
          <p:cNvSpPr txBox="1"/>
          <p:nvPr/>
        </p:nvSpPr>
        <p:spPr>
          <a:xfrm>
            <a:off x="5000625" y="952500"/>
            <a:ext cx="381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leg: 4 EPC2361 per switch,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2EDF7275K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each drives one pair (HS + LS channel) through a star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Why one driver per pair: the driver sits between its two cells ⇒ short, identical gate loops; one HS + one LS isolated supply, split per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DC+ / DC− 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at the centre: laminated terminal row (L1/L3 +, L2/L4 −) feeds one continuous bank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AC output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all four switch nodes joined, one M6 bolt pad, Cu bar through the HO 250-S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Built as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boards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from the same generator: DPT (UFCS shunt per cell) and load test (no shunt)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79091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C0A2F-7458-7632-BD29-D492C5C75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Two boards from one design: double-pulse test and load test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66EAAE-CBED-6BA8-24A4-8DBEC814A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C4C15A-7A0F-CA31-7E69-AA53EEAAA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E1F48D0-7982-8F9C-1DD2-DDC1CACEBE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662203"/>
              </p:ext>
            </p:extLst>
          </p:nvPr>
        </p:nvGraphicFramePr>
        <p:xfrm>
          <a:off x="238125" y="952500"/>
          <a:ext cx="866775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1164248983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3788006690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327300086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 (spb-bb-revb-dpt)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 (spb-bb-revb-load)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47895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Purpose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energies, per-cell current, overshoot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back-to-back / three-phase load test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117371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path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 per cell (1 mΩ, 120 pH)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source stripes via-in-pad (blind L1–L2) to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362197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UFCS land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land shortened to 1.2 mm: blade 1.45 mm from the source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8709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none (pulsed test)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Fischer LAM 4 K 50 12 on an Al spreader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97896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 (Q3D)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47506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1326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Parts / DRC / schematic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4225426"/>
                  </a:ext>
                </a:extLst>
              </a:tr>
            </a:tbl>
          </a:graphicData>
        </a:graphic>
      </p:graphicFrame>
      <p:sp>
        <p:nvSpPr>
          <p:cNvPr id="7" name="decision">
            <a:extLst>
              <a:ext uri="{FF2B5EF4-FFF2-40B4-BE49-F238E27FC236}">
                <a16:creationId xmlns:a16="http://schemas.microsoft.com/office/drawing/2014/main" id="{DD564438-C4CD-5FBE-DB89-0BEBC9559B65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copper, drivers, bank and terminals; only the LS source path and the cooling differ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0790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75F5-6314-B512-05EC-5536546AF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DPT board layout (UFCS shunts, no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361008-E9E8-141E-AE6D-D546E613A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09EF8B-4A79-2564-5B6E-0F334995D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A58FBD-51A3-0B48-0165-2ACDBEF79E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86" y="952500"/>
            <a:ext cx="3896478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3F37BA-6E96-5428-83CA-C1BAECF93B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20914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C483CB4-4215-010D-6ED9-4B33212DD33E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85.2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UFCS-R001 per cell, IN land 1.2 mm (blade at the source edge), return vias in the SHLD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No heatsink, no spreader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93309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3A39-13EA-FEF9-286B-E6AA1000D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Load-test board layout (no shunt,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B8841F-1A6C-7BAA-CBE3-3536529D3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FD15-8124-C2B7-3E53-B9B419CE4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AA53CD-20D0-C126-5F3D-744769756C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86" y="952500"/>
            <a:ext cx="3896478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4875552-D915-3E31-CC2B-B8FD772DAD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20914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0F0415B-600D-BFB9-D0B1-C0F22E6BD774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85.2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LS source stripes: 3 blind L1–L2 vias each (filled, capped) into the DC− plane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LAM 4 K 50 12 over the cells, 3 spreader holes (H5–H7)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917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9047D-DA12-A28B-D71D-DAFB06005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 two boards in 3D (KiCad models)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8BC488-247C-77BB-C3A6-E42C4A959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994A57-39FB-07A1-0086-76D4EE2F3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0CCDAF-433E-E03A-4072-2584336B3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371" y="952500"/>
            <a:ext cx="4066134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E421B9-EAE5-3B09-595B-8E7CBE0C61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7048" y="952500"/>
            <a:ext cx="2968528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53F51F-F9C6-FA07-77A3-7E9DE2E3FC51}"/>
              </a:ext>
            </a:extLst>
          </p:cNvPr>
          <p:cNvSpPr txBox="1"/>
          <p:nvPr/>
        </p:nvSpPr>
        <p:spPr>
          <a:xfrm>
            <a:off x="238125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DPT board: UFCS shunts over the LS FETs, M6 AC bolt + Cu bar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ADDF02-9837-F6B5-4829-15E652A8A306}"/>
              </a:ext>
            </a:extLst>
          </p:cNvPr>
          <p:cNvSpPr txBox="1"/>
          <p:nvPr/>
        </p:nvSpPr>
        <p:spPr>
          <a:xfrm>
            <a:off x="4572000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Load-test board: LAM 4 K 50 12 + Al spreader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D1C784-FE8E-D41C-85EC-27C467970A34}"/>
              </a:ext>
            </a:extLst>
          </p:cNvPr>
          <p:cNvSpPr txBox="1"/>
          <p:nvPr/>
        </p:nvSpPr>
        <p:spPr>
          <a:xfrm>
            <a:off x="238125" y="4048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Every footprint has a 3D model (KiCad library + box models: EPC2361, 2EDF7275K, UFCS, TDK 2220, WE-CNSW, M6 bolt + bar, heatsink); board STEPs in hardware/spb-bb-revb-*/fab; rendered with pyvista (scripts/render_3d.py)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EAACA7-1F4D-944F-1730-77DB20595C95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Box models are dimensioned envelopes, not manufacturer CAD (UFCS SMA jack position approximate).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88833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A3225-63BA-2173-7068-EB97AF539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Top view with the silkscreen: DPT and load-test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CEF6B7-CC5E-A7FA-DB11-E8D8D4747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16085C-3BAD-0776-E881-B3C1A0D83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DFF7AF4-2EE2-2A59-FBFF-4CB8E680B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67" y="952500"/>
            <a:ext cx="3499566" cy="3429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D613F0-F3E8-D5B4-16C8-B0EF9EF499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9214" y="952500"/>
            <a:ext cx="3327071" cy="3429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26E598F-B558-3444-3586-1A2D3A852777}"/>
              </a:ext>
            </a:extLst>
          </p:cNvPr>
          <p:cNvSpPr txBox="1"/>
          <p:nvPr/>
        </p:nvSpPr>
        <p:spPr>
          <a:xfrm>
            <a:off x="2381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 (UFCS shunts over the LS FETs)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F490A4-8693-008B-5F50-0BD6060593C7}"/>
              </a:ext>
            </a:extLst>
          </p:cNvPr>
          <p:cNvSpPr txBox="1"/>
          <p:nvPr/>
        </p:nvSpPr>
        <p:spPr>
          <a:xfrm>
            <a:off x="46196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 (heatsink removed for the view)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82840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FA64A-08D2-ABFC-6655-E4926C6EF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Bottom side and the load board without heatsink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D14387-F585-FB2E-F712-CB67D326D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773765-DA1A-B4BF-D36B-0C6ABE0FF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8FE21C-671E-E6E2-0095-A8241785B3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59" y="952500"/>
            <a:ext cx="3855357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3B633C6-7369-8D43-355B-75B3200F3C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8246" y="952500"/>
            <a:ext cx="4066134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0E65437-B3B5-33E2-459A-0D1785E34D19}"/>
              </a:ext>
            </a:extLst>
          </p:cNvPr>
          <p:cNvSpPr txBox="1"/>
          <p:nvPr/>
        </p:nvSpPr>
        <p:spPr>
          <a:xfrm>
            <a:off x="238125" y="3905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Bottom: REDCUBE M4 DC terminals (the leg stands on the busbar), 4 bypass 0805 per cell, U.FL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and MMCX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ports, M6 AC nut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Top without heatsink: 20 × 2220 bank in two rows, 8 EPC2361 under the spreader pedestals, 2 drivers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88984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ABB75-B6D9-BC59-D03E-CBC2A5B40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Two driver pairs on one switch node: driver skew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923D25-5E2C-1D76-0663-34854EC36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8AA2CA-679B-75AC-5AA6-7910B83C2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33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3903A5-411F-F56D-B58E-A45271C72BE0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The four switch nodes are joined in copper;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inductance between the switch nodes of the two driver pairs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If driver 2 switches Δt later, pair 1 takes ΔI ≈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·Δt /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until pair 2 follows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(fast lx model, final boards):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6.77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(HS on) /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5.44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(LS on) on the load board, 4.91 / 2.68 nH on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⇒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≈ 14 A per ns of skew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21B8B46-C837-1AD0-2379-D5D6580BAF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2975020"/>
              </p:ext>
            </p:extLst>
          </p:nvPr>
        </p:nvGraphicFramePr>
        <p:xfrm>
          <a:off x="5429251" y="1047750"/>
          <a:ext cx="338137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0">
                  <a:extLst>
                    <a:ext uri="{9D8B030D-6E8A-4147-A177-3AD203B41FA5}">
                      <a16:colId xmlns:a16="http://schemas.microsoft.com/office/drawing/2014/main" val="1157588682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45895084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Rev B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863211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PWM source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C2000 drives both headers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1301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Matched traces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PCB, same CMC per block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969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skew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2EDF7275K part-to-part: check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055147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 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of both blocks, UFCS per cell (DPT)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4193184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54B6F83A-F622-D7D3-CEDD-4B00F01E5B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250" y="2905125"/>
            <a:ext cx="3476625" cy="2172891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873DCB79-3867-C3BA-13E9-C189AE36C490}"/>
              </a:ext>
            </a:extLst>
          </p:cNvPr>
          <p:cNvSpPr/>
          <p:nvPr/>
        </p:nvSpPr>
        <p:spPr>
          <a:xfrm>
            <a:off x="238125" y="4400550"/>
            <a:ext cx="50482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Measure the per-cell current (UFCS) with both drivers switching; delay trim in the C2000 if needed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58217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D7474-F4EA-B392-6FB1-8569017E5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supplies: two isolated supplies, Zener split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A0578C-D7B3-0EC5-2AA6-BECB34F98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FAE0AF-3C9D-0C9A-701D-7126D6EE9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59E6B9-D25B-DB64-7810-4FB445787C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5761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86435F-AD21-BB83-D281-23986BC3A365}"/>
              </a:ext>
            </a:extLst>
          </p:cNvPr>
          <p:cNvSpPr txBox="1"/>
          <p:nvPr/>
        </p:nvSpPr>
        <p:spPr>
          <a:xfrm>
            <a:off x="5381625" y="952500"/>
            <a:ext cx="3429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One external isolated supply for all HS drivers and one for all LS drivers; each splits per driver through a WE-CNSW common-mode choke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5.1 V Zener VDD–S and 150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bias resistor S–VEE (Karakaya, METU 2020, Fig. 4.1):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+5.1 V,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− 5.1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7.0 V ⇒ −1.9 V off (bump mitigation, inside the −4 V limit); island decoupling 1 µF + 4.7 µF per rail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66177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ECF0B-65DE-CA9B-E39A-D20792827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Driver block: input filters, turn-on / turn-off paths, star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6C24A0-532B-45C7-7B8E-76BE328E5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F1D107-26DD-4E1A-61B2-9D96A0E65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8EC123-1EA0-29E4-8B15-502E8D76F0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05" y="952500"/>
            <a:ext cx="7531789" cy="2476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5F87874-F7D3-88E7-5EBA-C8DF7317507F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block a 2×3 control header (12 V, GND, PWM_H, PWM_L, DIS) with common-mode chokes on each pair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47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/ 100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pF input filters, 10 k pull-downs,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1.5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(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shared by the pair),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+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Schottky,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transistor ⇒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3.5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device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5437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85B5B-72FE-BDCC-25B0-201A2A8C2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Measurement and control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C409CB-55AF-7552-70D0-FA2AF202B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0950AB-779F-62B1-7566-1DB9E0E10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36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C1584D5-4C2D-B4A9-A112-A22A74D3CB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110870"/>
              </p:ext>
            </p:extLst>
          </p:nvPr>
        </p:nvGraphicFramePr>
        <p:xfrm>
          <a:off x="238125" y="952500"/>
          <a:ext cx="495300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>
                  <a:extLst>
                    <a:ext uri="{9D8B030D-6E8A-4147-A177-3AD203B41FA5}">
                      <a16:colId xmlns:a16="http://schemas.microsoft.com/office/drawing/2014/main" val="579203448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84805850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111760263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Where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923163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current (DPT)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UFCS-R001, 1 mΩ, 120 pH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of each cell, DPT board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84434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Phase current (control)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LEM HO 250-S, ±625 A, 3.2 mV/A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 bar on the M6 AC pad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832386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HS / LS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U.FL, 0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Ω,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shield =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at each cell (both boards)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43839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LS (DPT)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MMCX (WR-MMCX, 170 V rms): SW / LSRC, rated isolated probe (e.g. IsoVu TIVPMX50X)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next to each LS FET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346327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Bring-up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test points + spring-tip pads (V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), list in fab/testpoints.csv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both sides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51616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temperature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NTC 10 k at the driver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control side (GNDI)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3064805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1E5669F-FD52-7FAA-05FB-08FB9909F3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3667125"/>
            <a:ext cx="5143500" cy="7008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D2F54B-CB48-FEA2-9421-9C9AED897188}"/>
              </a:ext>
            </a:extLst>
          </p:cNvPr>
          <p:cNvSpPr txBox="1"/>
          <p:nvPr/>
        </p:nvSpPr>
        <p:spPr>
          <a:xfrm>
            <a:off x="5429250" y="238125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Back-to-back load test, closed loop on a TI TMS320F28379D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Load board: no shunt ⇒ phase current from the HO 250-S, cell sharing from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No short-circuit protection on the boards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62124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19EB6-3539-154A-477B-F2F2D9D22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stage schematics (generated, identical to the PCBs)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B39162-804B-770C-5B17-986DAE1DD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EFD52B-0172-696F-B5F7-6586D1076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E06D7D-ED29-D78A-39E8-0A9D90A040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952500"/>
            <a:ext cx="4507046" cy="1666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C707DF-DC6C-5980-4EB8-A43DD5390F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2714625"/>
            <a:ext cx="4507046" cy="1666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4DF34F5-D540-787F-C22D-59923930098D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Top: DPT board (UFCS in each LS source). Bottom: load-test board (LS source to DC−). make_kicad_sch_revb.py; check_sch_vs_pcb.py: 0 problems on both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75810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B99A4-2978-E8C5-AF59-899A7E39D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Three legs on one 75 V bus: what the bus must do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A142BD-1100-9C1E-9FB0-FDCAF6BEF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BA3348-780A-85E7-8F03-D8A722132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38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E3AEC-9502-133B-50F3-A9738462A6BE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The switching edge closes on each board (bypass + bank); the bus only carries the f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ripple between the leg banks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Sharing needs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≪ 1/(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C): at 50 kHz and ≈ 127 µF eff. per leg L ≪ 80 nH ⇒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target ≤ 5 nH leg to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DC: 250 A stack current enters the level, 83 A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All-MLCC banks joined by nH copper form a high-Q resonator ⇒ damping footprints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58D6F17-2306-1B47-31E5-C2A9629A9BDA}"/>
              </a:ext>
            </a:extLst>
          </p:cNvPr>
          <p:cNvSpPr/>
          <p:nvPr/>
        </p:nvSpPr>
        <p:spPr>
          <a:xfrm>
            <a:off x="5429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a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a)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CB26B7-B104-5B7F-F11C-90FB5CC95CCD}"/>
              </a:ext>
            </a:extLst>
          </p:cNvPr>
          <p:cNvCxnSpPr/>
          <p:nvPr/>
        </p:nvCxnSpPr>
        <p:spPr>
          <a:xfrm>
            <a:off x="5715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C54B34-A160-B303-4215-99EB323F647A}"/>
              </a:ext>
            </a:extLst>
          </p:cNvPr>
          <p:cNvCxnSpPr/>
          <p:nvPr/>
        </p:nvCxnSpPr>
        <p:spPr>
          <a:xfrm>
            <a:off x="6143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8BE5A92-58C1-FDC0-6E4D-D4DB6AC63CBC}"/>
              </a:ext>
            </a:extLst>
          </p:cNvPr>
          <p:cNvSpPr/>
          <p:nvPr/>
        </p:nvSpPr>
        <p:spPr>
          <a:xfrm>
            <a:off x="6572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b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b)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9DD861-E73F-2858-E1E8-6AF88EB50198}"/>
              </a:ext>
            </a:extLst>
          </p:cNvPr>
          <p:cNvCxnSpPr/>
          <p:nvPr/>
        </p:nvCxnSpPr>
        <p:spPr>
          <a:xfrm>
            <a:off x="6858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599FB58-88BD-2966-C2FF-F630939138F9}"/>
              </a:ext>
            </a:extLst>
          </p:cNvPr>
          <p:cNvCxnSpPr/>
          <p:nvPr/>
        </p:nvCxnSpPr>
        <p:spPr>
          <a:xfrm>
            <a:off x="7286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AEA480D-EB79-C6EA-4C6F-8C55BD069B43}"/>
              </a:ext>
            </a:extLst>
          </p:cNvPr>
          <p:cNvSpPr/>
          <p:nvPr/>
        </p:nvSpPr>
        <p:spPr>
          <a:xfrm>
            <a:off x="7715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c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c)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A0AC789-4981-D5E5-D0AD-E67A5A420110}"/>
              </a:ext>
            </a:extLst>
          </p:cNvPr>
          <p:cNvCxnSpPr/>
          <p:nvPr/>
        </p:nvCxnSpPr>
        <p:spPr>
          <a:xfrm>
            <a:off x="8001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207C03-918D-0165-437C-80C35048B43E}"/>
              </a:ext>
            </a:extLst>
          </p:cNvPr>
          <p:cNvCxnSpPr/>
          <p:nvPr/>
        </p:nvCxnSpPr>
        <p:spPr>
          <a:xfrm>
            <a:off x="8429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27557A2-E27B-C219-52C7-8D8F3CB99B1A}"/>
              </a:ext>
            </a:extLst>
          </p:cNvPr>
          <p:cNvCxnSpPr/>
          <p:nvPr/>
        </p:nvCxnSpPr>
        <p:spPr>
          <a:xfrm>
            <a:off x="5381625" y="2381250"/>
            <a:ext cx="3381375" cy="0"/>
          </a:xfrm>
          <a:prstGeom prst="line">
            <a:avLst/>
          </a:prstGeom>
          <a:ln w="635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73FF663-6E58-8456-61D3-56A70B371AF6}"/>
              </a:ext>
            </a:extLst>
          </p:cNvPr>
          <p:cNvCxnSpPr/>
          <p:nvPr/>
        </p:nvCxnSpPr>
        <p:spPr>
          <a:xfrm>
            <a:off x="5381625" y="2476500"/>
            <a:ext cx="3381375" cy="0"/>
          </a:xfrm>
          <a:prstGeom prst="line">
            <a:avLst/>
          </a:prstGeom>
          <a:ln w="635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13576B0-F7A9-8DC1-072F-A243BB6FA24D}"/>
              </a:ext>
            </a:extLst>
          </p:cNvPr>
          <p:cNvSpPr txBox="1"/>
          <p:nvPr/>
        </p:nvSpPr>
        <p:spPr>
          <a:xfrm>
            <a:off x="5429250" y="2552700"/>
            <a:ext cx="33337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laminated PCB busbar (L1 + / L2 − / L3 + / L4 −)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D097C5E-CEA9-D22D-4AD6-34B27052F4F6}"/>
              </a:ext>
            </a:extLst>
          </p:cNvPr>
          <p:cNvCxnSpPr/>
          <p:nvPr/>
        </p:nvCxnSpPr>
        <p:spPr>
          <a:xfrm>
            <a:off x="6953250" y="2476500"/>
            <a:ext cx="0" cy="571500"/>
          </a:xfrm>
          <a:prstGeom prst="line">
            <a:avLst/>
          </a:prstGeom>
          <a:ln w="381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10DF6F4-2EEF-DE76-F088-85B6833AEF06}"/>
              </a:ext>
            </a:extLst>
          </p:cNvPr>
          <p:cNvSpPr txBox="1"/>
          <p:nvPr/>
        </p:nvSpPr>
        <p:spPr>
          <a:xfrm>
            <a:off x="6000750" y="3095625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stack lugs at the centre leg</a:t>
            </a:r>
          </a:p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to the levels above / below</a:t>
            </a:r>
            <a:endParaRPr lang="sv-SE" sz="92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4761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390D-FCC8-12F2-8B90-5A5B14360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PCB busbar: easy to manufacture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D215C-7169-ED51-481E-38D7B3400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B27210-F46F-B31B-0AAE-A9E1D2693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B38EEF-973A-39A1-9779-C7BC6E83E0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697" y="952500"/>
            <a:ext cx="3716606" cy="133350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1C82720-C44D-878F-3BB4-3F51629DAC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197921"/>
              </p:ext>
            </p:extLst>
          </p:nvPr>
        </p:nvGraphicFramePr>
        <p:xfrm>
          <a:off x="238125" y="2428875"/>
          <a:ext cx="4095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750">
                  <a:extLst>
                    <a:ext uri="{9D8B030D-6E8A-4147-A177-3AD203B41FA5}">
                      <a16:colId xmlns:a16="http://schemas.microsoft.com/office/drawing/2014/main" val="907505882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64495590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537460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298.5 × 45 mm, 1.6 mm, 4 layers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06261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Copper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(JLCPCB JLC3313); 3–4 oz option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208352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L1 DC+ / ≤ 0.2 mm / L2 DC− / core / L3 DC+ / ≤ 0.2 mm / L4 DC−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58843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contact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× M4: one DC pair per leg (REDCUBE, 6.5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013482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 contact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× M6 lug pads at the centre leg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169157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Insulation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frame holes with 8 mm Cu keep-out (1200 V)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295265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51740F5-431C-7AE1-F783-5C7A399A726A}"/>
              </a:ext>
            </a:extLst>
          </p:cNvPr>
          <p:cNvSpPr txBox="1"/>
          <p:nvPr/>
        </p:nvSpPr>
        <p:spPr>
          <a:xfrm>
            <a:off x="4572000" y="2428875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Q3D (step 11): leg-to-leg loop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1.46 nH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at 1 MHz (a–b), DC busbar loss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Damping caps (100 V hybrid polymer) as DNP footprints; nylon standoffs at the leg corner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Generated: scripts/make_kicad_busbar.py, DRC clean; fab files in hardware/spb-busbar/fab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12759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80FE5-515D-2DD4-897A-C56D4D2DF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75 V level in 3D: busbar + three load-test legs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B35800-4F9B-33B3-34A2-F93A31D2B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8283E5-1CE4-3627-0368-E3CAD114D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65A0D5-3B8B-812D-DCF9-2CD3CE61A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453" y="952500"/>
            <a:ext cx="5643093" cy="3143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7CD2C0-D15E-E199-295F-94BE37B9676C}"/>
              </a:ext>
            </a:extLst>
          </p:cNvPr>
          <p:cNvSpPr txBox="1"/>
          <p:nvPr/>
        </p:nvSpPr>
        <p:spPr>
          <a:xfrm>
            <a:off x="238125" y="4143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Legs a, b, c (pitch 94.5 mm, 5 mm gaps) stand on their REDCUBE DC terminals (6.5 mm) on the PCB busbar; M4 × 8 screws from below; AC bar of each leg through its LEM HO 250-S; heatsinks stay inside each board outline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43241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CFBC3-F660-399F-4E92-F348E1A5A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Level assembly: busbar side and DC connection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AB4F91-6284-4BA0-E9E0-D0F0D9629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DEC169-1D92-857C-6E9E-866318877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924B18-DDE5-BD02-E2E2-DCFF7A0C37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38625" cy="17293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7A58B48-5883-676F-C16E-E44C8754D8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952500"/>
            <a:ext cx="4238625" cy="18084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07F510-DF26-1DC1-6F8A-01E2EB617F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438" y="3429000"/>
            <a:ext cx="3048000" cy="12382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6CF40F4-3E37-2BED-E308-895F4CE325AE}"/>
              </a:ext>
            </a:extLst>
          </p:cNvPr>
          <p:cNvSpPr txBox="1"/>
          <p:nvPr/>
        </p:nvSpPr>
        <p:spPr>
          <a:xfrm>
            <a:off x="4572000" y="3429000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Right: middle leg on the bus: REDCUBE + M4, nylon standoffs, M6 stack lugs, DNP damping caps, level header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Left bottom: side view (z stack): busbar top z = 0, leg bottom 6.5 mm, heatsink top 52.8 mm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688785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E21EA-3294-AAA5-A889-5DB6E093C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Mechanics: heatsink length fixed by the leg pitch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29E3F2-5953-DAED-242A-995BC9A60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C5E9E3-4926-8F31-BC88-551273589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42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004D45-97E5-4EC8-EEE4-96155F6E0543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LAM 4 (100 mm) + fan = 110 mm: wider than the 89.5 mm board ⇒ with 5 mm gaps the heatsinks of neighbouring legs would overlap by ≈ 15 mm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LAM 4 K 50 12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(Farnell 4708974, 0.65 K/W): 50 mm tube + fan centred over the cells (x −35 … 25 mm), inside the board outline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Al spreader 89.5 × 12.8 × 3 mm carries the outer cells (x ±33 mm) to the tube; ≈ 18 W FET loss per leg ⇒ ≈ 12 K heatsink rise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Spreader underside 1.68 mm, top 4.68 mm: clears the 2.8 mm bank and all bypass parts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0E90C48-D18F-B507-7FFF-6A2C5FECD5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9763" y="952500"/>
            <a:ext cx="2572724" cy="2476500"/>
          </a:xfrm>
          <a:prstGeom prst="rect">
            <a:avLst/>
          </a:prstGeom>
        </p:spPr>
      </p:pic>
      <p:sp>
        <p:nvSpPr>
          <p:cNvPr id="9" name="decision">
            <a:extLst>
              <a:ext uri="{FF2B5EF4-FFF2-40B4-BE49-F238E27FC236}">
                <a16:creationId xmlns:a16="http://schemas.microsoft.com/office/drawing/2014/main" id="{7DF0554C-9E5A-C4CC-069C-45A2382CA379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Load board heatsink: LAM 4 K 50 12, centred; leg pitch stays 94.5 mm (busbar unchanged)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55433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EE30-B5F0-0F18-DAAF-E946C0D44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Full inverter: 16 levels on one 1200 V stack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677564-6D6E-1EC2-E98E-F78906F66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89A50E-459B-28B9-3020-A4CA7A6E3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2C3CA8-A845-85D1-2C8E-AD537DE0F5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236" y="952500"/>
            <a:ext cx="1091278" cy="38100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56006B-D8A1-8DC2-F8B8-6A930066033B}"/>
              </a:ext>
            </a:extLst>
          </p:cNvPr>
          <p:cNvSpPr txBox="1"/>
          <p:nvPr/>
        </p:nvSpPr>
        <p:spPr>
          <a:xfrm>
            <a:off x="3286125" y="952500"/>
            <a:ext cx="5524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16 identical levels (75 V each) stacked in z, pitch 72 mm ⇒ ≈ 1.15 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DC+ lug of level k ↔ DC− lug of level k + 1 by a Cu braid (8 × 1.5 mm in the model); stack ends = 1200 V DC+ / DC−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level: 3 legs = one three-phase winding set; AC bars + HO 250-S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Every level floats up to 1200 V above the frame: insulating standoffs with 8 mm Cu keep-out on the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Assembly STEP: hardware/assembly/spb-level-assembly.step (1 level), spb-stack-assembly.step (16 levels), scripts/make_assembly_step.py (OpenCascade)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5A293B-41D8-4EB9-7160-0812FA788A7A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Stack direction and frame are illustrative: the machine-side layout (winding terminals) sets the final arrangement.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48985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B0DBC-EC04-75FD-F374-FB74750E1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Fast Q3D set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CBD354-7D34-ED82-F525-1EB90A319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4168F-40C5-21B2-8BC9-154786317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AE91162-39B1-D0D7-098C-2F0A44F3FE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587269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195670305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74355052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383961255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94179639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419089605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Region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Solve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Gives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Run time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79032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(per board)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band y −4.6 … 20.6 mm, AC split per cell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commutation 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787 / 30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087976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full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whole board, all terminals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R only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current sharing, copper loss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26 / 22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5650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terminals + bank + bypass (y −25 … 4.3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DC-link port, 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bypass → 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37214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cells + AC columns + AC bus, no bank / terminals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the driver pairs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138 / 113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13977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busbar, stitching vias every 2nd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+ AC 1 MHz, 2 %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loop, DC distribution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43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15558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level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× bank model + busbar matrices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network (MNA)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sharing, |Z|, terminal currents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seconds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691293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B3CD915-A071-F5E4-61DE-FE36475A0B24}"/>
              </a:ext>
            </a:extLst>
          </p:cNvPr>
          <p:cNvSpPr txBox="1"/>
          <p:nvPr/>
        </p:nvSpPr>
        <p:spPr>
          <a:xfrm>
            <a:off x="238125" y="3714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Instead of one large model (&gt; 3 h, not converged): small models, each solved only for what it is used for; DC is solved for R only (the DC-inductance solve alone ran &gt; 19 h on the first attempt)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Run: simulation/bb_q3d/run_bb_q3d_final.cmd (KTH licence) → final_post.py → reports/slides/data/final_numbers.json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 times: DPT / load board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61703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BEF4-D60E-7468-7288-1E021D816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commutation loop per cell,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DECEE1-7880-EDD5-9AE7-7105E8713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C02462-4CF1-F846-52D8-733F367A8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54910F-DCAE-64E8-A65A-9F659BCA03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87" y="952500"/>
            <a:ext cx="5135777" cy="271462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15A0307-5482-17A2-82AA-16EF59CD2B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723569"/>
              </p:ext>
            </p:extLst>
          </p:nvPr>
        </p:nvGraphicFramePr>
        <p:xfrm>
          <a:off x="5524501" y="952500"/>
          <a:ext cx="328612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5875">
                  <a:extLst>
                    <a:ext uri="{9D8B030D-6E8A-4147-A177-3AD203B41FA5}">
                      <a16:colId xmlns:a16="http://schemas.microsoft.com/office/drawing/2014/main" val="162720255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526393538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04048894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Loop per cell (nH)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 test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835979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1 / 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0.652 / 0.652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0.408 / 0.408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40805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3 / 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0.647 / 0.653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0.406 / 0.412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97858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mean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217287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C84632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074851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56082C7-CA1E-03BB-0233-5BBEB2B46EA1}"/>
              </a:ext>
            </a:extLst>
          </p:cNvPr>
          <p:cNvSpPr txBox="1"/>
          <p:nvPr/>
        </p:nvSpPr>
        <p:spPr>
          <a:xfrm>
            <a:off x="5524500" y="2667000"/>
            <a:ext cx="3286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All four LS switching together; HS shorted, bypass as its ESL, UFCS 120 pH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Cells within 1 % (DPT) and 2 % (load): left/right symmetric by layout (power vias pruned in mirror pairs)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DPT ≤ 90 V: turn-on ≤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23 A/ns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46682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78538-C798-1269-0E7B-F9B71AEFD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Q3D: coupling between the cells and the gate loops (DPT board)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92C105-BD59-CACF-E4E6-0E27360C4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206A7F-E429-15D7-F10C-78F617B79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46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227CACD-BDF2-32B7-622D-7084BE853B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7302522"/>
              </p:ext>
            </p:extLst>
          </p:nvPr>
        </p:nvGraphicFramePr>
        <p:xfrm>
          <a:off x="238125" y="952500"/>
          <a:ext cx="3810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625">
                  <a:extLst>
                    <a:ext uri="{9D8B030D-6E8A-4147-A177-3AD203B41FA5}">
                      <a16:colId xmlns:a16="http://schemas.microsoft.com/office/drawing/2014/main" val="2830520713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3331900885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132436472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408868940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 (pH), k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189864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7, 0.011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1, 0.002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0, 0.001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476404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21, 0.034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1, 0.002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618214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7, 0.011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597073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CCE0713-D4B8-F1F4-AFFD-A7A924F3F2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0532010"/>
              </p:ext>
            </p:extLst>
          </p:nvPr>
        </p:nvGraphicFramePr>
        <p:xfrm>
          <a:off x="238125" y="2381250"/>
          <a:ext cx="381000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9220046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3101837940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308903311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Gate loop (nH, copper)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HS Q1 / Q2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LS Q3 / Q4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6019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device driven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12.53 / 12.56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7.61 / 7.62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189891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pair driven (operation)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20.6 / 20.6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12.3 / 12.3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181097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branch / shared star-driver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4.5 / 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2.9 / 4.7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92105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gate-power coupling, both cells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max 9 pH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max 0.26 V at 30 A/ns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2365874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1468775F-F404-73EF-8A12-558F4BFD4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6125" y="952500"/>
            <a:ext cx="3937000" cy="29527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A05445D-F2EB-901F-DFD0-329BE54A7810}"/>
              </a:ext>
            </a:extLst>
          </p:cNvPr>
          <p:cNvSpPr txBox="1"/>
          <p:nvPr/>
        </p:nvSpPr>
        <p:spPr>
          <a:xfrm>
            <a:off x="238125" y="3905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Cells: at most 21 pH between neighbours (k ≤ 0.034) ⇒ each cell commutates through its own loop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Gate: Kelvin return on the adjacent layer from every gate pad to the driver caps; Q1 = Q2, Q3 = Q4 within 0.3 %, block 2 an identical copy ⇒ all four paralleled devices equal; but ≈ 10× the 1.7 nH design value (driver behind the barrier)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58664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C6D6D-B714-E457-A777-36F052436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Gate drive from the extracted gate network (SPICE, DPT board, 75 V, 322 A)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BCD3CB-B43B-18F6-5004-35B127072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2CE4CF-8647-BC2F-62F9-E35134A5A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47D30D2-1168-304E-7AE1-E1C78F77AC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904194"/>
              </p:ext>
            </p:extLst>
          </p:nvPr>
        </p:nvGraphicFramePr>
        <p:xfrm>
          <a:off x="238125" y="952500"/>
          <a:ext cx="866775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1250">
                  <a:extLst>
                    <a:ext uri="{9D8B030D-6E8A-4147-A177-3AD203B41FA5}">
                      <a16:colId xmlns:a16="http://schemas.microsoft.com/office/drawing/2014/main" val="267163133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799571597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192187255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226103648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652053579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4028294737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61216033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Case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g,on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HS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/ 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(4 cells)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di/dt 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bump, held-off gate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555172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lumped 1.7 nH gate, R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1.5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89.8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136 / 17 µJ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31 A/ns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-1.04 … -1.00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191757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extracted, R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1.0 </a:t>
                      </a:r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105.3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97 / 20 µJ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49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-0.72 … -0.46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55981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extracted, RON 1.5 Ω (board)</a:t>
                      </a:r>
                      <a:endParaRPr lang="sv-SE" sz="1100" b="1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92.9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125 / 20 µJ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36 A/ns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-0.76 … -0.50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732058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47FD1D9-52CC-FF1B-82B3-05863F033626}"/>
              </a:ext>
            </a:extLst>
          </p:cNvPr>
          <p:cNvSpPr txBox="1"/>
          <p:nvPr/>
        </p:nvSpPr>
        <p:spPr>
          <a:xfrm>
            <a:off x="238125" y="24288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Extracted gate network: Q3D copper + 0.4 nH per 0603 resistor body + 1 nH D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; UFCS 120 pH as its own inductor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The larger gate loop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speeds up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the turn-on ⇒ HS overshoot ≈ 75 V + 0.65 nH × di/dt: R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1.0 Ω gives 105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−1.9 V off: bump of the held-off gate ≤ −0.5 V (≥ 1.3 V below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th,min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0.8 V); with 0 V off it was +1.2 … +1.4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Off-state ringing ≈ −3.4 V against the −4 V limit (EPC2361) ⇒ no larger negative bias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Turn-on of the four cells within 0.2 %; turn-off current inner vs outer cells ±1.5 % (power side)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decision">
            <a:extLst>
              <a:ext uri="{FF2B5EF4-FFF2-40B4-BE49-F238E27FC236}">
                <a16:creationId xmlns:a16="http://schemas.microsoft.com/office/drawing/2014/main" id="{74C4DEE9-9B96-FA7F-4A0B-D3CCA45BAA05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DPT: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1.5 Ω (R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3.5 Ω), V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7 V (−1.9 / +5.1 V); next revision: driver stage next to each pair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1317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E228B-9919-096E-D76F-40FAD5872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 model of the cell band (fast loop model)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E31F48-AC4E-BEF9-4A55-75FE5C684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A8FD70-1E17-E82F-CDDC-55A7698BD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CFA76F-2E09-9C93-A826-C4947A191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86250" cy="26789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32D02D3-320B-60B9-FA31-1C4AD68432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952500"/>
            <a:ext cx="4286250" cy="26789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314CE12-D266-0175-EEB8-972D3E32CC74}"/>
              </a:ext>
            </a:extLst>
          </p:cNvPr>
          <p:cNvSpPr txBox="1"/>
          <p:nvPr/>
        </p:nvSpPr>
        <p:spPr>
          <a:xfrm>
            <a:off x="2381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board: LS source (green) to the UFCS land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D33019-6800-EB5B-F5DC-FB3FFD8AD3E0}"/>
              </a:ext>
            </a:extLst>
          </p:cNvPr>
          <p:cNvSpPr txBox="1"/>
          <p:nvPr/>
        </p:nvSpPr>
        <p:spPr>
          <a:xfrm>
            <a:off x="46196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board: LS source straight to DC−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F93F7D-2094-CAAB-74FB-231E25A45B09}"/>
              </a:ext>
            </a:extLst>
          </p:cNvPr>
          <p:cNvSpPr txBox="1"/>
          <p:nvPr/>
        </p:nvSpPr>
        <p:spPr>
          <a:xfrm>
            <a:off x="238125" y="4095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Geometry exported from the routed KiCad boards (revb_export.py): copper per net and layer with clearance holes, vias with their layer span (blind L1–L2 on the load board), FET and bypass terminal pads; z stretched 4×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48754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47EB4-5B5F-C6F9-BA5B-07185AD12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static current sharing and copper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3B2A5B-6CEC-04A9-3972-594BD322F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6C8F3-3F52-912C-15CE-97CD82079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4A78CC0-0680-6172-C318-34E7A719CA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549360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3697080595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10521903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719418356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3324692459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416600968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Board, path (DC)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total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copper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share cell 1 / 2 / 3 / 4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max/min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751476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DC+ → HS FETs → AC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981051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AC → LS FETs → shunts → DC−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64562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DC+ → HS FETs → AC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06903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AC → LS FETs →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63053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7FFE309-CD29-4413-F6D6-8CC11A7F2CDE}"/>
              </a:ext>
            </a:extLst>
          </p:cNvPr>
          <p:cNvSpPr txBox="1"/>
          <p:nvPr/>
        </p:nvSpPr>
        <p:spPr>
          <a:xfrm>
            <a:off x="238125" y="2524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Static sharing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how the conduction (DC) current splits between the four parallel cells: set by each cell's copper path (DC terminals → cell → AC pad) plus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; dynamic sharing during the edges is set by the gate loops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Full-board DC model; FET 0.75 mΩ × 1.49 (100 °C), UFCS 1 mΩ; DC terminals as one pair, AC at the M6 bolt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Board copper loss at 228 A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(DPT, + (pending) W in the shunts) /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Hand-over inductance bypass → bank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(pending) (bank model, 1 MHz) ⇒ used for the bypass sizing (step 6)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1391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A3FCC-D6D2-5F1F-9638-F6A964E86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three load-test legs on the PCB busbar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DF201C-AFC9-92DF-5DE6-FDBBE86AC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434B78-5CD0-2FE1-8C7E-68795E1F7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50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377ED28-23F0-2C08-BA6C-31D09F6480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924656"/>
              </p:ext>
            </p:extLst>
          </p:nvPr>
        </p:nvGraphicFramePr>
        <p:xfrm>
          <a:off x="238125" y="95250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1758973657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63795939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5294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1 MHz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1.46 / 1.98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31937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DC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7.41 / 10.01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6263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of leg a at 50 kHz from banks a / b / 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701417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 DC loss (250 A in, 3 × 83 A)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409196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Highest REDCUBE terminal current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339216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827109B-0F04-826B-33AF-5ECF3AF47034}"/>
              </a:ext>
            </a:extLst>
          </p:cNvPr>
          <p:cNvSpPr txBox="1"/>
          <p:nvPr/>
        </p:nvSpPr>
        <p:spPr>
          <a:xfrm>
            <a:off x="238125" y="3381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Network: Q3D bank-model matrices of three load-test legs (cells draw at their bypass; MLCCs with ESR/ESL, C at 75 V) + busbar (DC below 1 MHz, AC above); peaks in |Z| = inter-leg resonance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Target ≤ 5 nH leg to leg (step 10)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79768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41616-6146-D944-C08A-480C5DA0A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Main findings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1E1BD-7D48-420B-C83E-9A23F6809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FE6AAA-DFD5-6325-1970-1CF27BD10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B0F0AE9-80C6-2AC0-2893-CC25084CA5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376556"/>
              </p:ext>
            </p:extLst>
          </p:nvPr>
        </p:nvGraphicFramePr>
        <p:xfrm>
          <a:off x="238125" y="952500"/>
          <a:ext cx="8667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750">
                  <a:extLst>
                    <a:ext uri="{9D8B030D-6E8A-4147-A177-3AD203B41FA5}">
                      <a16:colId xmlns:a16="http://schemas.microsoft.com/office/drawing/2014/main" val="4057663013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6438501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1513226488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22769967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Consequence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795964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limit di/dt; load: 30 A/ns ok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938483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sharing, max/min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 with the UFCS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96929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copper loss at 228 A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endParaRPr lang="sv-SE" sz="119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 the board, not the FETs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89675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driver pairs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4.91 / 2.68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6.77 / 5.44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skew →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 = 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 /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68695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 leg-to-leg loop (1 MHz)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1.46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target ≤ 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7226544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95E2037F-BBB3-CE72-C780-C3E560F5D1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2905125"/>
            <a:ext cx="3810000" cy="23812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5A311F9-141B-683F-069F-0CD54E54F882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All values from the fast Q3D set on the final layouts (run_bb_q3d_final.cmd, final_post.py).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06450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AD34B-BFA8-87CC-54ED-75A704ED0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Fabrication files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573B1D-50F7-9311-B69F-F2E1F327A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0FE377-9BFD-4235-6CD0-5BCB00ABD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D1DF84C-4E9C-D0A5-38C9-5080135501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7504217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230398349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53755595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49481169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Fab set (hardware/&lt;board&gt;/fab)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Notes for the fab house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70618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spb-bb-revb-dpt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STEP, assembly + schematic PDF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layers, 0.1 mm prepreg, via-in-pad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7595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spb-bb-revb-load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+ blind vias L1–L2 (0.25 mm)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335479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(JLC3313), bolt pads without mask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38225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spb-level-assembly.step, spb-stack-assembly.step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mechanics / frame design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307234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50B1D12-3CD1-10AC-E5BF-04A4B62B6D62}"/>
              </a:ext>
            </a:extLst>
          </p:cNvPr>
          <p:cNvSpPr txBox="1"/>
          <p:nvPr/>
        </p:nvSpPr>
        <p:spPr>
          <a:xfrm>
            <a:off x="238125" y="22860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Generated: make_kicad_bb_revb.py (BOARD=dpt | load), make_kicad_sch_revb.py, make_kicad_busbar.py, make_3d_models_revb.py, make_fab_outputs_revb.py, make_assembly_step.py, render_3d.py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Mechanical items (screws, spreader, gap pads, heatsink, lugs) are listed at the end of each BOM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1EFB1D-C573-40EA-E755-ACFE6AE80A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33" y="3000375"/>
            <a:ext cx="1898285" cy="1809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96ED8C-D769-3AE0-E28C-BD7CAC02C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7483" y="3000375"/>
            <a:ext cx="1898285" cy="18097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47248C6-6843-7972-5304-C7F32FDA3C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3000375"/>
            <a:ext cx="4286250" cy="1537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648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CEE68-1463-0445-F012-E0366083F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Status and next steps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353033-18A5-8AB4-A7AE-30E67BF9B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F010D-A192-58D0-ABD5-A1278EB64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53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E3BADBD-7FDC-D28C-E7E9-438EC8FE8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386407"/>
              </p:ext>
            </p:extLst>
          </p:nvPr>
        </p:nvGraphicFramePr>
        <p:xfrm>
          <a:off x="238125" y="952500"/>
          <a:ext cx="4953000" cy="1885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3160686455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333431090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Status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31160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link: 20 × 22 µF 2220 + 10 × 1 µF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both layouts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88112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board (UFCS, no heatsink)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587089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Load-test board (no shunt, LAM 4 K 50)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597683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clean, fab files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5604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Q3D: loop, DC,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busbar, level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 (this deck)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91405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3D models, board + assembly STEP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1259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Fab outputs + BOMs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374453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and three-phase load test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after 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01557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FEF5E5E-3BF6-36B6-259A-A3B29C39D706}"/>
              </a:ext>
            </a:extLst>
          </p:cNvPr>
          <p:cNvSpPr txBox="1"/>
          <p:nvPr/>
        </p:nvSpPr>
        <p:spPr>
          <a:xfrm>
            <a:off x="542925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Order: DPT board first (switching energies, per-cell current, overshoot vs di/dt), then 3 load boards +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Mechanics: spreader drawing, frame and stack insulation from the assembly STEP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Decide after measurement: bank depopulation, damping caps, busbar copper weight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Machine: L</a:t>
            </a:r>
            <a:r>
              <a:rPr lang="el-GR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,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cos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φ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and the final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endParaRPr lang="sv-SE" sz="1380" baseline="-2500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48733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B7842-66B7-D801-1D83-5D3E579B6E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Thank you - 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72663A-6C66-FE1F-5C1B-DFA3EE1F51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Enes Ayaz, KTH Royal Institute of Technology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012799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KTH">
      <a:dk1>
        <a:srgbClr val="000000"/>
      </a:dk1>
      <a:lt1>
        <a:srgbClr val="FFFFFF"/>
      </a:lt1>
      <a:dk2>
        <a:srgbClr val="65656C"/>
      </a:dk2>
      <a:lt2>
        <a:srgbClr val="838389"/>
      </a:lt2>
      <a:accent1>
        <a:srgbClr val="1954A6"/>
      </a:accent1>
      <a:accent2>
        <a:srgbClr val="5E87C0"/>
      </a:accent2>
      <a:accent3>
        <a:srgbClr val="2091C3"/>
      </a:accent3>
      <a:accent4>
        <a:srgbClr val="D02F80"/>
      </a:accent4>
      <a:accent5>
        <a:srgbClr val="D95999"/>
      </a:accent5>
      <a:accent6>
        <a:srgbClr val="61922E"/>
      </a:accent6>
      <a:hlink>
        <a:srgbClr val="65656C"/>
      </a:hlink>
      <a:folHlink>
        <a:srgbClr val="83838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rtlCol="0" anchor="ctr"/>
      <a:lstStyle>
        <a:defPPr algn="ctr">
          <a:defRPr sz="2000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7121384-D8C6-FA41-9A6B-F4615C0099B0}" vid="{DF4435B0-2EFE-BF49-8755-0024FDD40B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KTH_16_9</Template>
  <TotalTime>1</TotalTime>
  <Words>7413</Words>
  <Application>Microsoft Office PowerPoint</Application>
  <PresentationFormat>On-screen Show (16:9)</PresentationFormat>
  <Paragraphs>896</Paragraphs>
  <Slides>54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Office-tema</vt:lpstr>
      <vt:lpstr>SPB Leg Building Block: Design Flow</vt:lpstr>
      <vt:lpstr>Design flow</vt:lpstr>
      <vt:lpstr>Design inputs</vt:lpstr>
      <vt:lpstr>Phase current follows from the inputs</vt:lpstr>
      <vt:lpstr>Voltage class: why 100 V GaN</vt:lpstr>
      <vt:lpstr>EPC2361: key data and the Kelvin source</vt:lpstr>
      <vt:lpstr>Submodule voltage from L·di/dt</vt:lpstr>
      <vt:lpstr>Why not lower: every submodule costs parts and loss</vt:lpstr>
      <vt:lpstr>Power loop of one cell: copper, bypass ESL and shunt</vt:lpstr>
      <vt:lpstr>One EPC2361 per switch: how fast and how much overshoot</vt:lpstr>
      <vt:lpstr>Thermal path per device: load-test board</vt:lpstr>
      <vt:lpstr>n identical cells per switch (one device and one driver each)</vt:lpstr>
      <vt:lpstr>Where the loss comes from: line period and junction temperature</vt:lpstr>
      <vt:lpstr>Losses vs number in parallel</vt:lpstr>
      <vt:lpstr>Switching frequency: losses, DC-link capacitors, current ripple</vt:lpstr>
      <vt:lpstr>DC-link sizing for a three-phase level</vt:lpstr>
      <vt:lpstr>Capacitor selection: effective capacitance at 75 V</vt:lpstr>
      <vt:lpstr>Bypass capacitors: how many and how large</vt:lpstr>
      <vt:lpstr>DC link of one leg board</vt:lpstr>
      <vt:lpstr>Can one driver drive all four?</vt:lpstr>
      <vt:lpstr>Driver arrangement for 1 … 4 EPC2361 per switch</vt:lpstr>
      <vt:lpstr>Gate driver selection: why the 2EDF7275K</vt:lpstr>
      <vt:lpstr>Why symmetry: what sets the current sharing</vt:lpstr>
      <vt:lpstr>Gate bump and negative off-voltage</vt:lpstr>
      <vt:lpstr>Building block: two point-symmetric cells, one centre driver</vt:lpstr>
      <vt:lpstr>Rev B: four cells per switch, two drivers, one leg</vt:lpstr>
      <vt:lpstr>Two boards from one design: double-pulse test and load test</vt:lpstr>
      <vt:lpstr>DPT board layout (UFCS shunts, no heatsink)</vt:lpstr>
      <vt:lpstr>Load-test board layout (no shunt, heatsink)</vt:lpstr>
      <vt:lpstr>The two boards in 3D (KiCad models)</vt:lpstr>
      <vt:lpstr>Top view with the silkscreen: DPT and load-test boards</vt:lpstr>
      <vt:lpstr>Bottom side and the load board without heatsink</vt:lpstr>
      <vt:lpstr>Two driver pairs on one switch node: driver skew</vt:lpstr>
      <vt:lpstr>Gate supplies: two isolated supplies, Zener split</vt:lpstr>
      <vt:lpstr>Driver block: input filters, turn-on / turn-off paths, star</vt:lpstr>
      <vt:lpstr>Measurement and control</vt:lpstr>
      <vt:lpstr>Power stage schematics (generated, identical to the PCBs)</vt:lpstr>
      <vt:lpstr>Three legs on one 75 V bus: what the bus must do</vt:lpstr>
      <vt:lpstr>PCB busbar: easy to manufacture</vt:lpstr>
      <vt:lpstr>One 75 V level in 3D: busbar + three load-test legs</vt:lpstr>
      <vt:lpstr>Level assembly: busbar side and DC connection</vt:lpstr>
      <vt:lpstr>Mechanics: heatsink length fixed by the leg pitch</vt:lpstr>
      <vt:lpstr>Full inverter: 16 levels on one 1200 V stack</vt:lpstr>
      <vt:lpstr>Fast Q3D set on the final boards</vt:lpstr>
      <vt:lpstr>Q3D: commutation loop per cell, final boards</vt:lpstr>
      <vt:lpstr>Q3D: coupling between the cells and the gate loops (DPT board)</vt:lpstr>
      <vt:lpstr>Gate drive from the extracted gate network (SPICE, DPT board, 75 V, 322 A)</vt:lpstr>
      <vt:lpstr>Q3D model of the cell band (fast loop model)</vt:lpstr>
      <vt:lpstr>Q3D: static current sharing and copper loss</vt:lpstr>
      <vt:lpstr>Q3D: three load-test legs on the PCB busbar</vt:lpstr>
      <vt:lpstr>Main findings on the final boards</vt:lpstr>
      <vt:lpstr>Fabrication files</vt:lpstr>
      <vt:lpstr>Status and next steps</vt:lpstr>
      <vt:lpstr>Thank you - questions?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Malin Modig</dc:creator>
  <cp:lastModifiedBy>Enes Ayaz</cp:lastModifiedBy>
  <cp:revision>2</cp:revision>
  <dcterms:created xsi:type="dcterms:W3CDTF">2019-12-10T08:55:59Z</dcterms:created>
  <dcterms:modified xsi:type="dcterms:W3CDTF">2026-10-23T14:17:13Z</dcterms:modified>
</cp:coreProperties>
</file>