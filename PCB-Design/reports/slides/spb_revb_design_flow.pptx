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56"/>
  </p:notesMasterIdLst>
  <p:handoutMasterIdLst>
    <p:handoutMasterId r:id="rId57"/>
  </p:handout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  <p:sldId id="293" r:id="rId39"/>
    <p:sldId id="294" r:id="rId40"/>
    <p:sldId id="295" r:id="rId41"/>
    <p:sldId id="296" r:id="rId42"/>
    <p:sldId id="297" r:id="rId43"/>
    <p:sldId id="298" r:id="rId44"/>
    <p:sldId id="299" r:id="rId45"/>
    <p:sldId id="300" r:id="rId46"/>
    <p:sldId id="301" r:id="rId47"/>
    <p:sldId id="302" r:id="rId48"/>
    <p:sldId id="303" r:id="rId49"/>
    <p:sldId id="304" r:id="rId50"/>
    <p:sldId id="305" r:id="rId51"/>
    <p:sldId id="306" r:id="rId52"/>
    <p:sldId id="307" r:id="rId53"/>
    <p:sldId id="308" r:id="rId54"/>
    <p:sldId id="309" r:id="rId55"/>
  </p:sldIdLst>
  <p:sldSz cx="9144000" cy="5143500" type="screen16x9"/>
  <p:notesSz cx="6858000" cy="9144000"/>
  <p:defaultTextStyle>
    <a:defPPr>
      <a:defRPr lang="sv-SE"/>
    </a:defPPr>
    <a:lvl1pPr marL="0" algn="l" defTabSz="685800" rtl="0" eaLnBrk="1" latinLnBrk="0" hangingPunct="1">
      <a:defRPr sz="1350" kern="1200">
        <a:solidFill>
          <a:schemeClr val="tx1"/>
        </a:solidFill>
        <a:latin typeface="+mn-lt"/>
        <a:ea typeface="+mn-ea"/>
        <a:cs typeface="+mn-cs"/>
      </a:defRPr>
    </a:lvl1pPr>
    <a:lvl2pPr marL="342900" algn="l" defTabSz="685800" rtl="0" eaLnBrk="1" latinLnBrk="0" hangingPunct="1">
      <a:defRPr sz="1350" kern="1200">
        <a:solidFill>
          <a:schemeClr val="tx1"/>
        </a:solidFill>
        <a:latin typeface="+mn-lt"/>
        <a:ea typeface="+mn-ea"/>
        <a:cs typeface="+mn-cs"/>
      </a:defRPr>
    </a:lvl2pPr>
    <a:lvl3pPr marL="685800" algn="l" defTabSz="685800" rtl="0" eaLnBrk="1" latinLnBrk="0" hangingPunct="1">
      <a:defRPr sz="1350" kern="1200">
        <a:solidFill>
          <a:schemeClr val="tx1"/>
        </a:solidFill>
        <a:latin typeface="+mn-lt"/>
        <a:ea typeface="+mn-ea"/>
        <a:cs typeface="+mn-cs"/>
      </a:defRPr>
    </a:lvl3pPr>
    <a:lvl4pPr marL="1028700" algn="l" defTabSz="685800" rtl="0" eaLnBrk="1" latinLnBrk="0" hangingPunct="1">
      <a:defRPr sz="1350" kern="1200">
        <a:solidFill>
          <a:schemeClr val="tx1"/>
        </a:solidFill>
        <a:latin typeface="+mn-lt"/>
        <a:ea typeface="+mn-ea"/>
        <a:cs typeface="+mn-cs"/>
      </a:defRPr>
    </a:lvl4pPr>
    <a:lvl5pPr marL="1371600" algn="l" defTabSz="685800" rtl="0" eaLnBrk="1" latinLnBrk="0" hangingPunct="1">
      <a:defRPr sz="1350" kern="1200">
        <a:solidFill>
          <a:schemeClr val="tx1"/>
        </a:solidFill>
        <a:latin typeface="+mn-lt"/>
        <a:ea typeface="+mn-ea"/>
        <a:cs typeface="+mn-cs"/>
      </a:defRPr>
    </a:lvl5pPr>
    <a:lvl6pPr marL="1714500" algn="l" defTabSz="685800" rtl="0" eaLnBrk="1" latinLnBrk="0" hangingPunct="1">
      <a:defRPr sz="1350" kern="1200">
        <a:solidFill>
          <a:schemeClr val="tx1"/>
        </a:solidFill>
        <a:latin typeface="+mn-lt"/>
        <a:ea typeface="+mn-ea"/>
        <a:cs typeface="+mn-cs"/>
      </a:defRPr>
    </a:lvl6pPr>
    <a:lvl7pPr marL="2057400" algn="l" defTabSz="685800" rtl="0" eaLnBrk="1" latinLnBrk="0" hangingPunct="1">
      <a:defRPr sz="1350" kern="1200">
        <a:solidFill>
          <a:schemeClr val="tx1"/>
        </a:solidFill>
        <a:latin typeface="+mn-lt"/>
        <a:ea typeface="+mn-ea"/>
        <a:cs typeface="+mn-cs"/>
      </a:defRPr>
    </a:lvl7pPr>
    <a:lvl8pPr marL="2400300" algn="l" defTabSz="685800" rtl="0" eaLnBrk="1" latinLnBrk="0" hangingPunct="1">
      <a:defRPr sz="1350" kern="1200">
        <a:solidFill>
          <a:schemeClr val="tx1"/>
        </a:solidFill>
        <a:latin typeface="+mn-lt"/>
        <a:ea typeface="+mn-ea"/>
        <a:cs typeface="+mn-cs"/>
      </a:defRPr>
    </a:lvl8pPr>
    <a:lvl9pPr marL="2743200" algn="l" defTabSz="685800" rtl="0" eaLnBrk="1" latinLnBrk="0" hangingPunct="1">
      <a:defRPr sz="135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  <p:ext uri="{2D200454-40CA-4A62-9FC3-DE9A4176ACB9}">
      <p15:notes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4044" autoAdjust="0"/>
    <p:restoredTop sz="94660"/>
  </p:normalViewPr>
  <p:slideViewPr>
    <p:cSldViewPr>
      <p:cViewPr varScale="1">
        <p:scale>
          <a:sx n="91" d="100"/>
          <a:sy n="91" d="100"/>
        </p:scale>
        <p:origin x="620" y="5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notesViewPr>
    <p:cSldViewPr showGuides="1">
      <p:cViewPr varScale="1">
        <p:scale>
          <a:sx n="92" d="100"/>
          <a:sy n="92" d="100"/>
        </p:scale>
        <p:origin x="2796" y="102"/>
      </p:cViewPr>
      <p:guideLst/>
    </p:cSldViewPr>
  </p:notesViewPr>
  <p:gridSpacing cx="72008" cy="72008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9" Type="http://schemas.openxmlformats.org/officeDocument/2006/relationships/slide" Target="slides/slide38.xml"/><Relationship Id="rId21" Type="http://schemas.openxmlformats.org/officeDocument/2006/relationships/slide" Target="slides/slide20.xml"/><Relationship Id="rId34" Type="http://schemas.openxmlformats.org/officeDocument/2006/relationships/slide" Target="slides/slide33.xml"/><Relationship Id="rId42" Type="http://schemas.openxmlformats.org/officeDocument/2006/relationships/slide" Target="slides/slide41.xml"/><Relationship Id="rId47" Type="http://schemas.openxmlformats.org/officeDocument/2006/relationships/slide" Target="slides/slide46.xml"/><Relationship Id="rId50" Type="http://schemas.openxmlformats.org/officeDocument/2006/relationships/slide" Target="slides/slide49.xml"/><Relationship Id="rId55" Type="http://schemas.openxmlformats.org/officeDocument/2006/relationships/slide" Target="slides/slide54.xml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9" Type="http://schemas.openxmlformats.org/officeDocument/2006/relationships/slide" Target="slides/slide28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40" Type="http://schemas.openxmlformats.org/officeDocument/2006/relationships/slide" Target="slides/slide39.xml"/><Relationship Id="rId45" Type="http://schemas.openxmlformats.org/officeDocument/2006/relationships/slide" Target="slides/slide44.xml"/><Relationship Id="rId53" Type="http://schemas.openxmlformats.org/officeDocument/2006/relationships/slide" Target="slides/slide52.xml"/><Relationship Id="rId58" Type="http://schemas.openxmlformats.org/officeDocument/2006/relationships/presProps" Target="presProps.xml"/><Relationship Id="rId5" Type="http://schemas.openxmlformats.org/officeDocument/2006/relationships/slide" Target="slides/slide4.xml"/><Relationship Id="rId61" Type="http://schemas.openxmlformats.org/officeDocument/2006/relationships/tableStyles" Target="tableStyles.xml"/><Relationship Id="rId19" Type="http://schemas.openxmlformats.org/officeDocument/2006/relationships/slide" Target="slides/slide1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43" Type="http://schemas.openxmlformats.org/officeDocument/2006/relationships/slide" Target="slides/slide42.xml"/><Relationship Id="rId48" Type="http://schemas.openxmlformats.org/officeDocument/2006/relationships/slide" Target="slides/slide47.xml"/><Relationship Id="rId56" Type="http://schemas.openxmlformats.org/officeDocument/2006/relationships/notesMaster" Target="notesMasters/notesMaster1.xml"/><Relationship Id="rId8" Type="http://schemas.openxmlformats.org/officeDocument/2006/relationships/slide" Target="slides/slide7.xml"/><Relationship Id="rId51" Type="http://schemas.openxmlformats.org/officeDocument/2006/relationships/slide" Target="slides/slide50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slide" Target="slides/slide37.xml"/><Relationship Id="rId46" Type="http://schemas.openxmlformats.org/officeDocument/2006/relationships/slide" Target="slides/slide45.xml"/><Relationship Id="rId59" Type="http://schemas.openxmlformats.org/officeDocument/2006/relationships/viewProps" Target="viewProps.xml"/><Relationship Id="rId20" Type="http://schemas.openxmlformats.org/officeDocument/2006/relationships/slide" Target="slides/slide19.xml"/><Relationship Id="rId41" Type="http://schemas.openxmlformats.org/officeDocument/2006/relationships/slide" Target="slides/slide40.xml"/><Relationship Id="rId54" Type="http://schemas.openxmlformats.org/officeDocument/2006/relationships/slide" Target="slides/slide53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49" Type="http://schemas.openxmlformats.org/officeDocument/2006/relationships/slide" Target="slides/slide48.xml"/><Relationship Id="rId57" Type="http://schemas.openxmlformats.org/officeDocument/2006/relationships/handoutMaster" Target="handoutMasters/handoutMaster1.xml"/><Relationship Id="rId10" Type="http://schemas.openxmlformats.org/officeDocument/2006/relationships/slide" Target="slides/slide9.xml"/><Relationship Id="rId31" Type="http://schemas.openxmlformats.org/officeDocument/2006/relationships/slide" Target="slides/slide30.xml"/><Relationship Id="rId44" Type="http://schemas.openxmlformats.org/officeDocument/2006/relationships/slide" Target="slides/slide43.xml"/><Relationship Id="rId52" Type="http://schemas.openxmlformats.org/officeDocument/2006/relationships/slide" Target="slides/slide51.xml"/><Relationship Id="rId60" Type="http://schemas.openxmlformats.org/officeDocument/2006/relationships/theme" Target="theme/theme1.xml"/><Relationship Id="rId4" Type="http://schemas.openxmlformats.org/officeDocument/2006/relationships/slide" Target="slides/slide3.xml"/><Relationship Id="rId9" Type="http://schemas.openxmlformats.org/officeDocument/2006/relationships/slide" Target="slides/slide8.xml"/></Relationships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tshållare för sidhuvud 1">
            <a:extLst>
              <a:ext uri="{FF2B5EF4-FFF2-40B4-BE49-F238E27FC236}">
                <a16:creationId xmlns:a16="http://schemas.microsoft.com/office/drawing/2014/main" id="{8641E886-6D8F-4DA2-898A-00B1EAE1AC52}"/>
              </a:ext>
            </a:extLst>
          </p:cNvPr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sv-SE"/>
          </a:p>
        </p:txBody>
      </p:sp>
      <p:sp>
        <p:nvSpPr>
          <p:cNvPr id="3" name="Platshållare för datum 2">
            <a:extLst>
              <a:ext uri="{FF2B5EF4-FFF2-40B4-BE49-F238E27FC236}">
                <a16:creationId xmlns:a16="http://schemas.microsoft.com/office/drawing/2014/main" id="{C9EDFE6A-05C8-4F6B-BA8A-F497180174A9}"/>
              </a:ext>
            </a:extLst>
          </p:cNvPr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D4C3AE95-3DFC-4DDB-A7BB-B9BF94A03429}" type="datetimeFigureOut">
              <a:rPr lang="sv-SE" smtClean="0"/>
              <a:t>2026-10-23</a:t>
            </a:fld>
            <a:endParaRPr lang="sv-SE"/>
          </a:p>
        </p:txBody>
      </p:sp>
      <p:sp>
        <p:nvSpPr>
          <p:cNvPr id="4" name="Platshållare för sidfot 3">
            <a:extLst>
              <a:ext uri="{FF2B5EF4-FFF2-40B4-BE49-F238E27FC236}">
                <a16:creationId xmlns:a16="http://schemas.microsoft.com/office/drawing/2014/main" id="{AAE70C2B-4AA1-47BF-94B9-F7DF59FCFC30}"/>
              </a:ext>
            </a:extLst>
          </p:cNvPr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sv-SE"/>
          </a:p>
        </p:txBody>
      </p:sp>
      <p:sp>
        <p:nvSpPr>
          <p:cNvPr id="5" name="Platshållare för bildnummer 4">
            <a:extLst>
              <a:ext uri="{FF2B5EF4-FFF2-40B4-BE49-F238E27FC236}">
                <a16:creationId xmlns:a16="http://schemas.microsoft.com/office/drawing/2014/main" id="{ED3EF666-D1D2-478D-9969-E1DE1FE2D066}"/>
              </a:ext>
            </a:extLst>
          </p:cNvPr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6996AD15-F18B-494F-8904-C45D7BCBE604}" type="slidenum">
              <a:rPr lang="sv-SE" smtClean="0"/>
              <a:t>‹#›</a:t>
            </a:fld>
            <a:endParaRPr lang="sv-SE"/>
          </a:p>
        </p:txBody>
      </p:sp>
    </p:spTree>
    <p:extLst>
      <p:ext uri="{BB962C8B-B14F-4D97-AF65-F5344CB8AC3E}">
        <p14:creationId xmlns:p14="http://schemas.microsoft.com/office/powerpoint/2010/main" val="2067594209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sv-SE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4A8539D3-FAF3-FC43-8825-CC8C9D4686B2}" type="datetimeFigureOut">
              <a:rPr lang="sv-SE" smtClean="0"/>
              <a:t>2026-10-23</a:t>
            </a:fld>
            <a:endParaRPr lang="sv-SE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sv-SE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sv-SE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sv-SE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8E3B8005-7BF2-4B40-A831-B1EE96BFE5D5}" type="slidenum">
              <a:rPr lang="sv-SE" smtClean="0"/>
              <a:t>‹#›</a:t>
            </a:fld>
            <a:endParaRPr lang="sv-SE"/>
          </a:p>
        </p:txBody>
      </p:sp>
    </p:spTree>
    <p:extLst>
      <p:ext uri="{BB962C8B-B14F-4D97-AF65-F5344CB8AC3E}">
        <p14:creationId xmlns:p14="http://schemas.microsoft.com/office/powerpoint/2010/main" val="498434952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685800" rtl="0" eaLnBrk="1" latinLnBrk="0" hangingPunct="1">
      <a:defRPr sz="900" kern="1200">
        <a:solidFill>
          <a:schemeClr val="tx1"/>
        </a:solidFill>
        <a:latin typeface="+mn-lt"/>
        <a:ea typeface="+mn-ea"/>
        <a:cs typeface="+mn-cs"/>
      </a:defRPr>
    </a:lvl1pPr>
    <a:lvl2pPr marL="342900" algn="l" defTabSz="685800" rtl="0" eaLnBrk="1" latinLnBrk="0" hangingPunct="1">
      <a:defRPr sz="900" kern="1200">
        <a:solidFill>
          <a:schemeClr val="tx1"/>
        </a:solidFill>
        <a:latin typeface="+mn-lt"/>
        <a:ea typeface="+mn-ea"/>
        <a:cs typeface="+mn-cs"/>
      </a:defRPr>
    </a:lvl2pPr>
    <a:lvl3pPr marL="685800" algn="l" defTabSz="685800" rtl="0" eaLnBrk="1" latinLnBrk="0" hangingPunct="1">
      <a:defRPr sz="900" kern="1200">
        <a:solidFill>
          <a:schemeClr val="tx1"/>
        </a:solidFill>
        <a:latin typeface="+mn-lt"/>
        <a:ea typeface="+mn-ea"/>
        <a:cs typeface="+mn-cs"/>
      </a:defRPr>
    </a:lvl3pPr>
    <a:lvl4pPr marL="1028700" algn="l" defTabSz="685800" rtl="0" eaLnBrk="1" latinLnBrk="0" hangingPunct="1">
      <a:defRPr sz="900" kern="1200">
        <a:solidFill>
          <a:schemeClr val="tx1"/>
        </a:solidFill>
        <a:latin typeface="+mn-lt"/>
        <a:ea typeface="+mn-ea"/>
        <a:cs typeface="+mn-cs"/>
      </a:defRPr>
    </a:lvl4pPr>
    <a:lvl5pPr marL="1371600" algn="l" defTabSz="685800" rtl="0" eaLnBrk="1" latinLnBrk="0" hangingPunct="1">
      <a:defRPr sz="900" kern="1200">
        <a:solidFill>
          <a:schemeClr val="tx1"/>
        </a:solidFill>
        <a:latin typeface="+mn-lt"/>
        <a:ea typeface="+mn-ea"/>
        <a:cs typeface="+mn-cs"/>
      </a:defRPr>
    </a:lvl5pPr>
    <a:lvl6pPr marL="1714500" algn="l" defTabSz="685800" rtl="0" eaLnBrk="1" latinLnBrk="0" hangingPunct="1">
      <a:defRPr sz="900" kern="1200">
        <a:solidFill>
          <a:schemeClr val="tx1"/>
        </a:solidFill>
        <a:latin typeface="+mn-lt"/>
        <a:ea typeface="+mn-ea"/>
        <a:cs typeface="+mn-cs"/>
      </a:defRPr>
    </a:lvl6pPr>
    <a:lvl7pPr marL="2057400" algn="l" defTabSz="685800" rtl="0" eaLnBrk="1" latinLnBrk="0" hangingPunct="1">
      <a:defRPr sz="900" kern="1200">
        <a:solidFill>
          <a:schemeClr val="tx1"/>
        </a:solidFill>
        <a:latin typeface="+mn-lt"/>
        <a:ea typeface="+mn-ea"/>
        <a:cs typeface="+mn-cs"/>
      </a:defRPr>
    </a:lvl7pPr>
    <a:lvl8pPr marL="2400300" algn="l" defTabSz="685800" rtl="0" eaLnBrk="1" latinLnBrk="0" hangingPunct="1">
      <a:defRPr sz="900" kern="1200">
        <a:solidFill>
          <a:schemeClr val="tx1"/>
        </a:solidFill>
        <a:latin typeface="+mn-lt"/>
        <a:ea typeface="+mn-ea"/>
        <a:cs typeface="+mn-cs"/>
      </a:defRPr>
    </a:lvl8pPr>
    <a:lvl9pPr marL="2743200" algn="l" defTabSz="685800" rtl="0" eaLnBrk="1" latinLnBrk="0" hangingPunct="1">
      <a:defRPr sz="9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sv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svg"/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elbil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Platshållare för datum 3">
            <a:extLst>
              <a:ext uri="{FF2B5EF4-FFF2-40B4-BE49-F238E27FC236}">
                <a16:creationId xmlns:a16="http://schemas.microsoft.com/office/drawing/2014/main" id="{D42CF517-9DD4-421C-AE14-6B4A4453B09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D1B926A-213D-3B48-BB0C-19ADA28B3F4D}" type="datetime1">
              <a:rPr lang="sv-SE" smtClean="0"/>
              <a:t>2026-10-23</a:t>
            </a:fld>
            <a:endParaRPr lang="sv-SE"/>
          </a:p>
        </p:txBody>
      </p:sp>
      <p:sp>
        <p:nvSpPr>
          <p:cNvPr id="5" name="Platshållare för sidfot 4">
            <a:extLst>
              <a:ext uri="{FF2B5EF4-FFF2-40B4-BE49-F238E27FC236}">
                <a16:creationId xmlns:a16="http://schemas.microsoft.com/office/drawing/2014/main" id="{9E3CD4D9-900F-4086-81FD-AB6606D8B7D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sv-SE"/>
              <a:t>Footer</a:t>
            </a:r>
          </a:p>
        </p:txBody>
      </p:sp>
      <p:sp>
        <p:nvSpPr>
          <p:cNvPr id="6" name="Platshållare för bildnummer 5">
            <a:extLst>
              <a:ext uri="{FF2B5EF4-FFF2-40B4-BE49-F238E27FC236}">
                <a16:creationId xmlns:a16="http://schemas.microsoft.com/office/drawing/2014/main" id="{528E8603-97F6-448F-AF1B-7D33D8C7567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422A9A3-8636-4A04-BD48-3153280FB086}" type="slidenum">
              <a:rPr lang="sv-SE" smtClean="0"/>
              <a:t>‹#›</a:t>
            </a:fld>
            <a:endParaRPr lang="sv-SE"/>
          </a:p>
        </p:txBody>
      </p:sp>
      <p:sp>
        <p:nvSpPr>
          <p:cNvPr id="24" name="Rubrik 1">
            <a:extLst>
              <a:ext uri="{FF2B5EF4-FFF2-40B4-BE49-F238E27FC236}">
                <a16:creationId xmlns:a16="http://schemas.microsoft.com/office/drawing/2014/main" id="{2973C368-F8A4-41B1-9D52-4D79988138D8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567928" y="1390867"/>
            <a:ext cx="8090297" cy="566641"/>
          </a:xfrm>
        </p:spPr>
        <p:txBody>
          <a:bodyPr anchor="t"/>
          <a:lstStyle>
            <a:lvl1pPr algn="l">
              <a:defRPr sz="2700"/>
            </a:lvl1pPr>
          </a:lstStyle>
          <a:p>
            <a:r>
              <a:rPr lang="en-US"/>
              <a:t>Click to edit Master title style</a:t>
            </a:r>
            <a:endParaRPr lang="sv-SE" dirty="0"/>
          </a:p>
        </p:txBody>
      </p:sp>
      <p:sp>
        <p:nvSpPr>
          <p:cNvPr id="25" name="Underrubrik 2">
            <a:extLst>
              <a:ext uri="{FF2B5EF4-FFF2-40B4-BE49-F238E27FC236}">
                <a16:creationId xmlns:a16="http://schemas.microsoft.com/office/drawing/2014/main" id="{040AB90C-B2A7-4284-98E0-80DAE0A2CD53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567928" y="1974952"/>
            <a:ext cx="8090297" cy="596798"/>
          </a:xfrm>
        </p:spPr>
        <p:txBody>
          <a:bodyPr/>
          <a:lstStyle>
            <a:lvl1pPr marL="0" indent="0" algn="l">
              <a:buNone/>
              <a:defRPr sz="1800"/>
            </a:lvl1pPr>
            <a:lvl2pPr marL="342900" indent="0" algn="ctr">
              <a:buNone/>
              <a:defRPr sz="1500"/>
            </a:lvl2pPr>
            <a:lvl3pPr marL="685800" indent="0" algn="ctr">
              <a:buNone/>
              <a:defRPr sz="1350"/>
            </a:lvl3pPr>
            <a:lvl4pPr marL="1028700" indent="0" algn="ctr">
              <a:buNone/>
              <a:defRPr sz="1200"/>
            </a:lvl4pPr>
            <a:lvl5pPr marL="1371600" indent="0" algn="ctr">
              <a:buNone/>
              <a:defRPr sz="1200"/>
            </a:lvl5pPr>
            <a:lvl6pPr marL="1714500" indent="0" algn="ctr">
              <a:buNone/>
              <a:defRPr sz="1200"/>
            </a:lvl6pPr>
            <a:lvl7pPr marL="2057400" indent="0" algn="ctr">
              <a:buNone/>
              <a:defRPr sz="1200"/>
            </a:lvl7pPr>
            <a:lvl8pPr marL="2400300" indent="0" algn="ctr">
              <a:buNone/>
              <a:defRPr sz="1200"/>
            </a:lvl8pPr>
            <a:lvl9pPr marL="2743200" indent="0" algn="ctr">
              <a:buNone/>
              <a:defRPr sz="1200"/>
            </a:lvl9pPr>
          </a:lstStyle>
          <a:p>
            <a:r>
              <a:rPr lang="en-US"/>
              <a:t>Click to edit Master subtitle style</a:t>
            </a:r>
            <a:endParaRPr lang="sv-SE" dirty="0"/>
          </a:p>
        </p:txBody>
      </p:sp>
      <p:pic>
        <p:nvPicPr>
          <p:cNvPr id="9" name="Graphic 8">
            <a:extLst>
              <a:ext uri="{FF2B5EF4-FFF2-40B4-BE49-F238E27FC236}">
                <a16:creationId xmlns:a16="http://schemas.microsoft.com/office/drawing/2014/main" id="{383F7B48-BB86-D74E-A1EB-2C3CDBAC7F27}"/>
              </a:ext>
            </a:extLst>
          </p:cNvPr>
          <p:cNvPicPr>
            <a:picLocks noChangeAspect="1"/>
          </p:cNvPicPr>
          <p:nvPr userDrawn="1"/>
        </p:nvPicPr>
        <p:blipFill rotWithShape="1">
          <a:blip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2"/>
              </a:ext>
            </a:extLst>
          </a:blip>
          <a:srcRect r="700"/>
          <a:stretch/>
        </p:blipFill>
        <p:spPr>
          <a:xfrm>
            <a:off x="246063" y="2559025"/>
            <a:ext cx="8650292" cy="244309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258912827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_eng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ubrik 1">
            <a:extLst>
              <a:ext uri="{FF2B5EF4-FFF2-40B4-BE49-F238E27FC236}">
                <a16:creationId xmlns:a16="http://schemas.microsoft.com/office/drawing/2014/main" id="{918E66E3-BED5-4C6D-B465-40B84B88DB31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567928" y="1390867"/>
            <a:ext cx="8090297" cy="566641"/>
          </a:xfrm>
        </p:spPr>
        <p:txBody>
          <a:bodyPr anchor="t"/>
          <a:lstStyle>
            <a:lvl1pPr algn="l">
              <a:defRPr sz="2700"/>
            </a:lvl1pPr>
          </a:lstStyle>
          <a:p>
            <a:r>
              <a:rPr lang="en-US"/>
              <a:t>Click to edit Master title style</a:t>
            </a:r>
            <a:endParaRPr lang="sv-SE" dirty="0"/>
          </a:p>
        </p:txBody>
      </p:sp>
      <p:sp>
        <p:nvSpPr>
          <p:cNvPr id="3" name="Underrubrik 2">
            <a:extLst>
              <a:ext uri="{FF2B5EF4-FFF2-40B4-BE49-F238E27FC236}">
                <a16:creationId xmlns:a16="http://schemas.microsoft.com/office/drawing/2014/main" id="{FF22D944-0354-4DCD-8334-3FC7C9FFC904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567928" y="1974952"/>
            <a:ext cx="8090297" cy="596798"/>
          </a:xfrm>
        </p:spPr>
        <p:txBody>
          <a:bodyPr/>
          <a:lstStyle>
            <a:lvl1pPr marL="0" indent="0" algn="l">
              <a:buNone/>
              <a:defRPr sz="1800"/>
            </a:lvl1pPr>
            <a:lvl2pPr marL="342900" indent="0" algn="ctr">
              <a:buNone/>
              <a:defRPr sz="1500"/>
            </a:lvl2pPr>
            <a:lvl3pPr marL="685800" indent="0" algn="ctr">
              <a:buNone/>
              <a:defRPr sz="1350"/>
            </a:lvl3pPr>
            <a:lvl4pPr marL="1028700" indent="0" algn="ctr">
              <a:buNone/>
              <a:defRPr sz="1200"/>
            </a:lvl4pPr>
            <a:lvl5pPr marL="1371600" indent="0" algn="ctr">
              <a:buNone/>
              <a:defRPr sz="1200"/>
            </a:lvl5pPr>
            <a:lvl6pPr marL="1714500" indent="0" algn="ctr">
              <a:buNone/>
              <a:defRPr sz="1200"/>
            </a:lvl6pPr>
            <a:lvl7pPr marL="2057400" indent="0" algn="ctr">
              <a:buNone/>
              <a:defRPr sz="1200"/>
            </a:lvl7pPr>
            <a:lvl8pPr marL="2400300" indent="0" algn="ctr">
              <a:buNone/>
              <a:defRPr sz="1200"/>
            </a:lvl8pPr>
            <a:lvl9pPr marL="2743200" indent="0" algn="ctr">
              <a:buNone/>
              <a:defRPr sz="1200"/>
            </a:lvl9pPr>
          </a:lstStyle>
          <a:p>
            <a:r>
              <a:rPr lang="en-US"/>
              <a:t>Click to edit Master subtitle style</a:t>
            </a:r>
            <a:endParaRPr lang="sv-SE" dirty="0"/>
          </a:p>
        </p:txBody>
      </p:sp>
      <p:sp>
        <p:nvSpPr>
          <p:cNvPr id="4" name="Platshållare för datum 3">
            <a:extLst>
              <a:ext uri="{FF2B5EF4-FFF2-40B4-BE49-F238E27FC236}">
                <a16:creationId xmlns:a16="http://schemas.microsoft.com/office/drawing/2014/main" id="{D42CF517-9DD4-421C-AE14-6B4A4453B09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9CEF508-B04A-E34A-80DD-59A12C5D1039}" type="datetime1">
              <a:rPr lang="sv-SE" smtClean="0"/>
              <a:t>2026-10-23</a:t>
            </a:fld>
            <a:endParaRPr lang="sv-SE"/>
          </a:p>
        </p:txBody>
      </p:sp>
      <p:sp>
        <p:nvSpPr>
          <p:cNvPr id="5" name="Platshållare för sidfot 4">
            <a:extLst>
              <a:ext uri="{FF2B5EF4-FFF2-40B4-BE49-F238E27FC236}">
                <a16:creationId xmlns:a16="http://schemas.microsoft.com/office/drawing/2014/main" id="{9E3CD4D9-900F-4086-81FD-AB6606D8B7D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sv-SE"/>
              <a:t>Footer</a:t>
            </a:r>
          </a:p>
        </p:txBody>
      </p:sp>
      <p:sp>
        <p:nvSpPr>
          <p:cNvPr id="6" name="Platshållare för bildnummer 5">
            <a:extLst>
              <a:ext uri="{FF2B5EF4-FFF2-40B4-BE49-F238E27FC236}">
                <a16:creationId xmlns:a16="http://schemas.microsoft.com/office/drawing/2014/main" id="{528E8603-97F6-448F-AF1B-7D33D8C7567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422A9A3-8636-4A04-BD48-3153280FB086}" type="slidenum">
              <a:rPr lang="sv-SE" smtClean="0"/>
              <a:t>‹#›</a:t>
            </a:fld>
            <a:endParaRPr lang="sv-SE"/>
          </a:p>
        </p:txBody>
      </p:sp>
      <p:pic>
        <p:nvPicPr>
          <p:cNvPr id="9" name="Bildobjekt 19">
            <a:extLst>
              <a:ext uri="{FF2B5EF4-FFF2-40B4-BE49-F238E27FC236}">
                <a16:creationId xmlns:a16="http://schemas.microsoft.com/office/drawing/2014/main" id="{D08EEA80-13E5-4697-A9DA-21277742FA79}"/>
              </a:ext>
            </a:extLst>
          </p:cNvPr>
          <p:cNvPicPr>
            <a:picLocks noChangeAspect="1" noChangeArrowheads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 bwMode="auto">
          <a:xfrm>
            <a:off x="7526476" y="333641"/>
            <a:ext cx="1287722" cy="20574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pic>
        <p:nvPicPr>
          <p:cNvPr id="10" name="Graphic 9">
            <a:extLst>
              <a:ext uri="{FF2B5EF4-FFF2-40B4-BE49-F238E27FC236}">
                <a16:creationId xmlns:a16="http://schemas.microsoft.com/office/drawing/2014/main" id="{E50A1F01-262A-6542-96F8-9345B6213D97}"/>
              </a:ext>
            </a:extLst>
          </p:cNvPr>
          <p:cNvPicPr>
            <a:picLocks noChangeAspect="1"/>
          </p:cNvPicPr>
          <p:nvPr userDrawn="1"/>
        </p:nvPicPr>
        <p:blipFill rotWithShape="1">
          <a:blip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rcRect r="700"/>
          <a:stretch/>
        </p:blipFill>
        <p:spPr>
          <a:xfrm>
            <a:off x="246063" y="2559025"/>
            <a:ext cx="8650292" cy="244309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648047434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Rubrik och innehål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ubrik 1">
            <a:extLst>
              <a:ext uri="{FF2B5EF4-FFF2-40B4-BE49-F238E27FC236}">
                <a16:creationId xmlns:a16="http://schemas.microsoft.com/office/drawing/2014/main" id="{4EB0B6BB-AC5F-485A-85BA-F56E433C7DF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sv-SE"/>
          </a:p>
        </p:txBody>
      </p:sp>
      <p:sp>
        <p:nvSpPr>
          <p:cNvPr id="3" name="Platshållare för datum 2">
            <a:extLst>
              <a:ext uri="{FF2B5EF4-FFF2-40B4-BE49-F238E27FC236}">
                <a16:creationId xmlns:a16="http://schemas.microsoft.com/office/drawing/2014/main" id="{69A48BD2-8B5B-44E1-8F6C-9B0D41A68E8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5D3F4D8-4BE6-D743-AE27-D14757A6F270}" type="datetime1">
              <a:rPr lang="sv-SE" smtClean="0"/>
              <a:t>2026-10-23</a:t>
            </a:fld>
            <a:endParaRPr lang="sv-SE"/>
          </a:p>
        </p:txBody>
      </p:sp>
      <p:sp>
        <p:nvSpPr>
          <p:cNvPr id="4" name="Platshållare för sidfot 3">
            <a:extLst>
              <a:ext uri="{FF2B5EF4-FFF2-40B4-BE49-F238E27FC236}">
                <a16:creationId xmlns:a16="http://schemas.microsoft.com/office/drawing/2014/main" id="{21B72178-9B2F-45A7-A31E-7710591B0F3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sv-SE"/>
              <a:t>Footer</a:t>
            </a:r>
            <a:endParaRPr lang="sv-SE" dirty="0"/>
          </a:p>
        </p:txBody>
      </p:sp>
      <p:sp>
        <p:nvSpPr>
          <p:cNvPr id="5" name="Platshållare för bildnummer 4">
            <a:extLst>
              <a:ext uri="{FF2B5EF4-FFF2-40B4-BE49-F238E27FC236}">
                <a16:creationId xmlns:a16="http://schemas.microsoft.com/office/drawing/2014/main" id="{3155F99B-B767-4EF4-BDED-E7E361EB3F4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422A9A3-8636-4A04-BD48-3153280FB086}" type="slidenum">
              <a:rPr lang="sv-SE" smtClean="0"/>
              <a:pPr/>
              <a:t>‹#›</a:t>
            </a:fld>
            <a:endParaRPr lang="sv-SE"/>
          </a:p>
        </p:txBody>
      </p:sp>
      <p:sp>
        <p:nvSpPr>
          <p:cNvPr id="7" name="Platshållare för innehåll 6">
            <a:extLst>
              <a:ext uri="{FF2B5EF4-FFF2-40B4-BE49-F238E27FC236}">
                <a16:creationId xmlns:a16="http://schemas.microsoft.com/office/drawing/2014/main" id="{FA474A84-82A6-4747-B64B-83217A0CB54B}"/>
              </a:ext>
            </a:extLst>
          </p:cNvPr>
          <p:cNvSpPr>
            <a:spLocks noGrp="1"/>
          </p:cNvSpPr>
          <p:nvPr>
            <p:ph sz="quarter" idx="13"/>
          </p:nvPr>
        </p:nvSpPr>
        <p:spPr>
          <a:xfrm>
            <a:off x="1131888" y="1194198"/>
            <a:ext cx="7765653" cy="3540919"/>
          </a:xfrm>
        </p:spPr>
        <p:txBody>
          <a:bodyPr>
            <a:normAutofit/>
          </a:bodyPr>
          <a:lstStyle>
            <a:lvl1pPr>
              <a:defRPr sz="1500"/>
            </a:lvl1pPr>
            <a:lvl2pPr marL="514350" indent="-171450">
              <a:buFont typeface="Arial" panose="020B0604020202020204" pitchFamily="34" charset="0"/>
              <a:buChar char="‒"/>
              <a:defRPr sz="1350"/>
            </a:lvl2pPr>
            <a:lvl3pPr marL="857250" indent="-171450">
              <a:buFont typeface="Arial" panose="020B0604020202020204" pitchFamily="34" charset="0"/>
              <a:buChar char="˃"/>
              <a:defRPr sz="1200"/>
            </a:lvl3pPr>
            <a:lvl4pPr>
              <a:defRPr sz="1050"/>
            </a:lvl4pPr>
            <a:lvl5pPr marL="1543050" indent="-171450">
              <a:buFont typeface="Arial" panose="020B0604020202020204" pitchFamily="34" charset="0"/>
              <a:buChar char="‒"/>
              <a:defRPr sz="1050"/>
            </a:lvl5pPr>
          </a:lstStyle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sv-SE" dirty="0"/>
          </a:p>
        </p:txBody>
      </p:sp>
    </p:spTree>
    <p:extLst>
      <p:ext uri="{BB962C8B-B14F-4D97-AF65-F5344CB8AC3E}">
        <p14:creationId xmlns:p14="http://schemas.microsoft.com/office/powerpoint/2010/main" val="2727327291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Rubrik och två innehål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Platshållare för datum 2">
            <a:extLst>
              <a:ext uri="{FF2B5EF4-FFF2-40B4-BE49-F238E27FC236}">
                <a16:creationId xmlns:a16="http://schemas.microsoft.com/office/drawing/2014/main" id="{8C966D54-57EE-458D-979F-B857F3483E3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9663559-229D-724F-BBD5-623E582CF5C1}" type="datetime1">
              <a:rPr lang="sv-SE" smtClean="0"/>
              <a:t>2026-10-23</a:t>
            </a:fld>
            <a:endParaRPr lang="sv-SE"/>
          </a:p>
        </p:txBody>
      </p:sp>
      <p:sp>
        <p:nvSpPr>
          <p:cNvPr id="4" name="Platshållare för sidfot 3">
            <a:extLst>
              <a:ext uri="{FF2B5EF4-FFF2-40B4-BE49-F238E27FC236}">
                <a16:creationId xmlns:a16="http://schemas.microsoft.com/office/drawing/2014/main" id="{5C0D5306-1C16-4D96-8016-0B45E724AEE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sv-SE"/>
              <a:t>Footer</a:t>
            </a:r>
            <a:endParaRPr lang="sv-SE" dirty="0"/>
          </a:p>
        </p:txBody>
      </p:sp>
      <p:sp>
        <p:nvSpPr>
          <p:cNvPr id="5" name="Platshållare för bildnummer 4">
            <a:extLst>
              <a:ext uri="{FF2B5EF4-FFF2-40B4-BE49-F238E27FC236}">
                <a16:creationId xmlns:a16="http://schemas.microsoft.com/office/drawing/2014/main" id="{2579ABBA-285A-4BDD-A8DE-D7E232663AD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422A9A3-8636-4A04-BD48-3153280FB086}" type="slidenum">
              <a:rPr lang="sv-SE" smtClean="0"/>
              <a:pPr/>
              <a:t>‹#›</a:t>
            </a:fld>
            <a:endParaRPr lang="sv-SE"/>
          </a:p>
        </p:txBody>
      </p:sp>
      <p:sp>
        <p:nvSpPr>
          <p:cNvPr id="11" name="Platshållare för innehåll 6">
            <a:extLst>
              <a:ext uri="{FF2B5EF4-FFF2-40B4-BE49-F238E27FC236}">
                <a16:creationId xmlns:a16="http://schemas.microsoft.com/office/drawing/2014/main" id="{C23E0C61-4086-4E9E-9765-C96613FBE58E}"/>
              </a:ext>
            </a:extLst>
          </p:cNvPr>
          <p:cNvSpPr>
            <a:spLocks noGrp="1"/>
          </p:cNvSpPr>
          <p:nvPr>
            <p:ph sz="quarter" idx="14"/>
          </p:nvPr>
        </p:nvSpPr>
        <p:spPr>
          <a:xfrm>
            <a:off x="5103244" y="1193800"/>
            <a:ext cx="3794694" cy="3540919"/>
          </a:xfrm>
        </p:spPr>
        <p:txBody>
          <a:bodyPr>
            <a:normAutofit/>
          </a:bodyPr>
          <a:lstStyle>
            <a:lvl1pPr>
              <a:defRPr sz="1500"/>
            </a:lvl1pPr>
            <a:lvl2pPr>
              <a:defRPr sz="1350"/>
            </a:lvl2pPr>
            <a:lvl3pPr>
              <a:defRPr sz="1200"/>
            </a:lvl3pPr>
            <a:lvl4pPr>
              <a:defRPr sz="1050"/>
            </a:lvl4pPr>
            <a:lvl5pPr>
              <a:defRPr sz="1050"/>
            </a:lvl5pPr>
          </a:lstStyle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sv-SE" dirty="0"/>
          </a:p>
        </p:txBody>
      </p:sp>
      <p:sp>
        <p:nvSpPr>
          <p:cNvPr id="12" name="Platshållare för innehåll 6">
            <a:extLst>
              <a:ext uri="{FF2B5EF4-FFF2-40B4-BE49-F238E27FC236}">
                <a16:creationId xmlns:a16="http://schemas.microsoft.com/office/drawing/2014/main" id="{F4B1B781-8A23-4309-9884-DD6E3CE0EF21}"/>
              </a:ext>
            </a:extLst>
          </p:cNvPr>
          <p:cNvSpPr>
            <a:spLocks noGrp="1"/>
          </p:cNvSpPr>
          <p:nvPr>
            <p:ph sz="quarter" idx="17"/>
          </p:nvPr>
        </p:nvSpPr>
        <p:spPr>
          <a:xfrm>
            <a:off x="1131888" y="1194594"/>
            <a:ext cx="3794694" cy="3540919"/>
          </a:xfrm>
        </p:spPr>
        <p:txBody>
          <a:bodyPr>
            <a:normAutofit/>
          </a:bodyPr>
          <a:lstStyle>
            <a:lvl1pPr>
              <a:defRPr sz="1500"/>
            </a:lvl1pPr>
            <a:lvl2pPr>
              <a:defRPr sz="1350"/>
            </a:lvl2pPr>
            <a:lvl3pPr>
              <a:defRPr sz="1200"/>
            </a:lvl3pPr>
            <a:lvl4pPr>
              <a:defRPr sz="1050"/>
            </a:lvl4pPr>
            <a:lvl5pPr>
              <a:defRPr sz="1050"/>
            </a:lvl5pPr>
          </a:lstStyle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sv-SE" dirty="0"/>
          </a:p>
        </p:txBody>
      </p:sp>
      <p:sp>
        <p:nvSpPr>
          <p:cNvPr id="6" name="Rubrik 5">
            <a:extLst>
              <a:ext uri="{FF2B5EF4-FFF2-40B4-BE49-F238E27FC236}">
                <a16:creationId xmlns:a16="http://schemas.microsoft.com/office/drawing/2014/main" id="{41903042-6CE8-4286-847C-7E810AF5848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sv-SE"/>
          </a:p>
        </p:txBody>
      </p:sp>
    </p:spTree>
    <p:extLst>
      <p:ext uri="{BB962C8B-B14F-4D97-AF65-F5344CB8AC3E}">
        <p14:creationId xmlns:p14="http://schemas.microsoft.com/office/powerpoint/2010/main" val="384158198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Rubrik, underrubriker och två innehål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ubrik 1">
            <a:extLst>
              <a:ext uri="{FF2B5EF4-FFF2-40B4-BE49-F238E27FC236}">
                <a16:creationId xmlns:a16="http://schemas.microsoft.com/office/drawing/2014/main" id="{6945529D-785A-43B8-8CB0-BF49CF7DDB5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sv-SE"/>
          </a:p>
        </p:txBody>
      </p:sp>
      <p:sp>
        <p:nvSpPr>
          <p:cNvPr id="3" name="Platshållare för datum 2">
            <a:extLst>
              <a:ext uri="{FF2B5EF4-FFF2-40B4-BE49-F238E27FC236}">
                <a16:creationId xmlns:a16="http://schemas.microsoft.com/office/drawing/2014/main" id="{8C966D54-57EE-458D-979F-B857F3483E3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4AF60D0-FE42-A248-8A54-F26FEA948759}" type="datetime1">
              <a:rPr lang="sv-SE" smtClean="0"/>
              <a:t>2026-10-23</a:t>
            </a:fld>
            <a:endParaRPr lang="sv-SE"/>
          </a:p>
        </p:txBody>
      </p:sp>
      <p:sp>
        <p:nvSpPr>
          <p:cNvPr id="4" name="Platshållare för sidfot 3">
            <a:extLst>
              <a:ext uri="{FF2B5EF4-FFF2-40B4-BE49-F238E27FC236}">
                <a16:creationId xmlns:a16="http://schemas.microsoft.com/office/drawing/2014/main" id="{5C0D5306-1C16-4D96-8016-0B45E724AEE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sv-SE"/>
              <a:t>Footer</a:t>
            </a:r>
            <a:endParaRPr lang="sv-SE" dirty="0"/>
          </a:p>
        </p:txBody>
      </p:sp>
      <p:sp>
        <p:nvSpPr>
          <p:cNvPr id="5" name="Platshållare för bildnummer 4">
            <a:extLst>
              <a:ext uri="{FF2B5EF4-FFF2-40B4-BE49-F238E27FC236}">
                <a16:creationId xmlns:a16="http://schemas.microsoft.com/office/drawing/2014/main" id="{2579ABBA-285A-4BDD-A8DE-D7E232663AD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422A9A3-8636-4A04-BD48-3153280FB086}" type="slidenum">
              <a:rPr lang="sv-SE" smtClean="0"/>
              <a:pPr/>
              <a:t>‹#›</a:t>
            </a:fld>
            <a:endParaRPr lang="sv-SE"/>
          </a:p>
        </p:txBody>
      </p:sp>
      <p:sp>
        <p:nvSpPr>
          <p:cNvPr id="8" name="Platshållare för innehåll 6">
            <a:extLst>
              <a:ext uri="{FF2B5EF4-FFF2-40B4-BE49-F238E27FC236}">
                <a16:creationId xmlns:a16="http://schemas.microsoft.com/office/drawing/2014/main" id="{6304BE55-467D-4CE2-9B8D-EC038C989AF6}"/>
              </a:ext>
            </a:extLst>
          </p:cNvPr>
          <p:cNvSpPr>
            <a:spLocks noGrp="1"/>
          </p:cNvSpPr>
          <p:nvPr>
            <p:ph sz="quarter" idx="14"/>
          </p:nvPr>
        </p:nvSpPr>
        <p:spPr>
          <a:xfrm>
            <a:off x="5103244" y="1664494"/>
            <a:ext cx="3794297" cy="3070622"/>
          </a:xfrm>
        </p:spPr>
        <p:txBody>
          <a:bodyPr>
            <a:normAutofit/>
          </a:bodyPr>
          <a:lstStyle>
            <a:lvl1pPr>
              <a:defRPr sz="1500"/>
            </a:lvl1pPr>
            <a:lvl2pPr>
              <a:defRPr sz="1350"/>
            </a:lvl2pPr>
            <a:lvl3pPr>
              <a:defRPr sz="1200"/>
            </a:lvl3pPr>
            <a:lvl4pPr>
              <a:defRPr sz="1050"/>
            </a:lvl4pPr>
            <a:lvl5pPr>
              <a:defRPr sz="1050"/>
            </a:lvl5pPr>
          </a:lstStyle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sv-SE" dirty="0"/>
          </a:p>
        </p:txBody>
      </p:sp>
      <p:sp>
        <p:nvSpPr>
          <p:cNvPr id="12" name="Platshållare för text 10">
            <a:extLst>
              <a:ext uri="{FF2B5EF4-FFF2-40B4-BE49-F238E27FC236}">
                <a16:creationId xmlns:a16="http://schemas.microsoft.com/office/drawing/2014/main" id="{4D066E04-C797-4C85-AD05-F6EFD42AED3C}"/>
              </a:ext>
            </a:extLst>
          </p:cNvPr>
          <p:cNvSpPr>
            <a:spLocks noGrp="1"/>
          </p:cNvSpPr>
          <p:nvPr>
            <p:ph type="body" sz="quarter" idx="16"/>
          </p:nvPr>
        </p:nvSpPr>
        <p:spPr>
          <a:xfrm>
            <a:off x="5103244" y="1194197"/>
            <a:ext cx="3794297" cy="398859"/>
          </a:xfrm>
        </p:spPr>
        <p:txBody>
          <a:bodyPr>
            <a:noAutofit/>
          </a:bodyPr>
          <a:lstStyle>
            <a:lvl1pPr marL="0" indent="0">
              <a:buNone/>
              <a:defRPr sz="1500"/>
            </a:lvl1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13" name="Platshållare för innehåll 6">
            <a:extLst>
              <a:ext uri="{FF2B5EF4-FFF2-40B4-BE49-F238E27FC236}">
                <a16:creationId xmlns:a16="http://schemas.microsoft.com/office/drawing/2014/main" id="{20A69851-5F12-40D3-A417-2DCD7530A5F4}"/>
              </a:ext>
            </a:extLst>
          </p:cNvPr>
          <p:cNvSpPr>
            <a:spLocks noGrp="1"/>
          </p:cNvSpPr>
          <p:nvPr>
            <p:ph sz="quarter" idx="17"/>
          </p:nvPr>
        </p:nvSpPr>
        <p:spPr>
          <a:xfrm>
            <a:off x="1136220" y="1664494"/>
            <a:ext cx="3792153" cy="3070622"/>
          </a:xfrm>
        </p:spPr>
        <p:txBody>
          <a:bodyPr>
            <a:normAutofit/>
          </a:bodyPr>
          <a:lstStyle>
            <a:lvl1pPr>
              <a:defRPr sz="1500"/>
            </a:lvl1pPr>
            <a:lvl2pPr>
              <a:defRPr sz="1350"/>
            </a:lvl2pPr>
            <a:lvl3pPr>
              <a:defRPr sz="1200"/>
            </a:lvl3pPr>
            <a:lvl4pPr>
              <a:defRPr sz="1050"/>
            </a:lvl4pPr>
            <a:lvl5pPr>
              <a:defRPr sz="1050"/>
            </a:lvl5pPr>
          </a:lstStyle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sv-SE" dirty="0"/>
          </a:p>
        </p:txBody>
      </p:sp>
      <p:sp>
        <p:nvSpPr>
          <p:cNvPr id="14" name="Platshållare för text 10">
            <a:extLst>
              <a:ext uri="{FF2B5EF4-FFF2-40B4-BE49-F238E27FC236}">
                <a16:creationId xmlns:a16="http://schemas.microsoft.com/office/drawing/2014/main" id="{9472B11D-1B06-4AB9-A788-CEFECBDC8E16}"/>
              </a:ext>
            </a:extLst>
          </p:cNvPr>
          <p:cNvSpPr>
            <a:spLocks noGrp="1"/>
          </p:cNvSpPr>
          <p:nvPr>
            <p:ph type="body" sz="quarter" idx="18"/>
          </p:nvPr>
        </p:nvSpPr>
        <p:spPr>
          <a:xfrm>
            <a:off x="1136220" y="1194197"/>
            <a:ext cx="3792153" cy="398859"/>
          </a:xfrm>
        </p:spPr>
        <p:txBody>
          <a:bodyPr>
            <a:noAutofit/>
          </a:bodyPr>
          <a:lstStyle>
            <a:lvl1pPr marL="0" indent="0">
              <a:buNone/>
              <a:defRPr sz="1500"/>
            </a:lvl1pPr>
          </a:lstStyle>
          <a:p>
            <a:pPr lvl="0"/>
            <a:r>
              <a:rPr lang="en-US"/>
              <a:t>Edit Master text styles</a:t>
            </a:r>
          </a:p>
        </p:txBody>
      </p:sp>
    </p:spTree>
    <p:extLst>
      <p:ext uri="{BB962C8B-B14F-4D97-AF65-F5344CB8AC3E}">
        <p14:creationId xmlns:p14="http://schemas.microsoft.com/office/powerpoint/2010/main" val="1180452869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Rubrik och bil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ubrik 1">
            <a:extLst>
              <a:ext uri="{FF2B5EF4-FFF2-40B4-BE49-F238E27FC236}">
                <a16:creationId xmlns:a16="http://schemas.microsoft.com/office/drawing/2014/main" id="{08A04EEF-7713-4918-A58B-127EED1C377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sv-SE"/>
          </a:p>
        </p:txBody>
      </p:sp>
      <p:sp>
        <p:nvSpPr>
          <p:cNvPr id="3" name="Platshållare för datum 2">
            <a:extLst>
              <a:ext uri="{FF2B5EF4-FFF2-40B4-BE49-F238E27FC236}">
                <a16:creationId xmlns:a16="http://schemas.microsoft.com/office/drawing/2014/main" id="{C91421C8-A909-4498-9C65-2C4F1875E58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1BA7D9E-CD1D-F144-88A8-27D2C4D672B1}" type="datetime1">
              <a:rPr lang="sv-SE" smtClean="0"/>
              <a:t>2026-10-23</a:t>
            </a:fld>
            <a:endParaRPr lang="sv-SE"/>
          </a:p>
        </p:txBody>
      </p:sp>
      <p:sp>
        <p:nvSpPr>
          <p:cNvPr id="4" name="Platshållare för sidfot 3">
            <a:extLst>
              <a:ext uri="{FF2B5EF4-FFF2-40B4-BE49-F238E27FC236}">
                <a16:creationId xmlns:a16="http://schemas.microsoft.com/office/drawing/2014/main" id="{698402AB-3C0D-47F3-B526-AEE8B976CD4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sv-SE"/>
              <a:t>Footer</a:t>
            </a:r>
            <a:endParaRPr lang="sv-SE" dirty="0"/>
          </a:p>
        </p:txBody>
      </p:sp>
      <p:sp>
        <p:nvSpPr>
          <p:cNvPr id="5" name="Platshållare för bildnummer 4">
            <a:extLst>
              <a:ext uri="{FF2B5EF4-FFF2-40B4-BE49-F238E27FC236}">
                <a16:creationId xmlns:a16="http://schemas.microsoft.com/office/drawing/2014/main" id="{89E1C101-21B3-4DE8-ACC8-96D836B902F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422A9A3-8636-4A04-BD48-3153280FB086}" type="slidenum">
              <a:rPr lang="sv-SE" smtClean="0"/>
              <a:pPr/>
              <a:t>‹#›</a:t>
            </a:fld>
            <a:endParaRPr lang="sv-SE"/>
          </a:p>
        </p:txBody>
      </p:sp>
      <p:sp>
        <p:nvSpPr>
          <p:cNvPr id="7" name="Platshållare för bild 6">
            <a:extLst>
              <a:ext uri="{FF2B5EF4-FFF2-40B4-BE49-F238E27FC236}">
                <a16:creationId xmlns:a16="http://schemas.microsoft.com/office/drawing/2014/main" id="{FECDBECF-4709-417A-8783-E9CAB0603AC3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246460" y="1194198"/>
            <a:ext cx="8651081" cy="3540919"/>
          </a:xfrm>
        </p:spPr>
        <p:txBody>
          <a:bodyPr/>
          <a:lstStyle/>
          <a:p>
            <a:r>
              <a:rPr lang="en-US"/>
              <a:t>Click icon to add picture</a:t>
            </a:r>
            <a:endParaRPr lang="sv-SE"/>
          </a:p>
        </p:txBody>
      </p:sp>
    </p:spTree>
    <p:extLst>
      <p:ext uri="{BB962C8B-B14F-4D97-AF65-F5344CB8AC3E}">
        <p14:creationId xmlns:p14="http://schemas.microsoft.com/office/powerpoint/2010/main" val="95339737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Rubrik och två bil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ubrik 1">
            <a:extLst>
              <a:ext uri="{FF2B5EF4-FFF2-40B4-BE49-F238E27FC236}">
                <a16:creationId xmlns:a16="http://schemas.microsoft.com/office/drawing/2014/main" id="{08A04EEF-7713-4918-A58B-127EED1C377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sv-SE"/>
          </a:p>
        </p:txBody>
      </p:sp>
      <p:sp>
        <p:nvSpPr>
          <p:cNvPr id="3" name="Platshållare för datum 2">
            <a:extLst>
              <a:ext uri="{FF2B5EF4-FFF2-40B4-BE49-F238E27FC236}">
                <a16:creationId xmlns:a16="http://schemas.microsoft.com/office/drawing/2014/main" id="{C91421C8-A909-4498-9C65-2C4F1875E58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91585DF-A6DF-A54D-9960-BE991B45200F}" type="datetime1">
              <a:rPr lang="sv-SE" smtClean="0"/>
              <a:t>2026-10-23</a:t>
            </a:fld>
            <a:endParaRPr lang="sv-SE"/>
          </a:p>
        </p:txBody>
      </p:sp>
      <p:sp>
        <p:nvSpPr>
          <p:cNvPr id="4" name="Platshållare för sidfot 3">
            <a:extLst>
              <a:ext uri="{FF2B5EF4-FFF2-40B4-BE49-F238E27FC236}">
                <a16:creationId xmlns:a16="http://schemas.microsoft.com/office/drawing/2014/main" id="{698402AB-3C0D-47F3-B526-AEE8B976CD4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sv-SE"/>
              <a:t>Footer</a:t>
            </a:r>
            <a:endParaRPr lang="sv-SE" dirty="0"/>
          </a:p>
        </p:txBody>
      </p:sp>
      <p:sp>
        <p:nvSpPr>
          <p:cNvPr id="5" name="Platshållare för bildnummer 4">
            <a:extLst>
              <a:ext uri="{FF2B5EF4-FFF2-40B4-BE49-F238E27FC236}">
                <a16:creationId xmlns:a16="http://schemas.microsoft.com/office/drawing/2014/main" id="{89E1C101-21B3-4DE8-ACC8-96D836B902F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422A9A3-8636-4A04-BD48-3153280FB086}" type="slidenum">
              <a:rPr lang="sv-SE" smtClean="0"/>
              <a:pPr/>
              <a:t>‹#›</a:t>
            </a:fld>
            <a:endParaRPr lang="sv-SE"/>
          </a:p>
        </p:txBody>
      </p:sp>
      <p:sp>
        <p:nvSpPr>
          <p:cNvPr id="7" name="Platshållare för bild 6">
            <a:extLst>
              <a:ext uri="{FF2B5EF4-FFF2-40B4-BE49-F238E27FC236}">
                <a16:creationId xmlns:a16="http://schemas.microsoft.com/office/drawing/2014/main" id="{FECDBECF-4709-417A-8783-E9CAB0603AC3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246460" y="1194594"/>
            <a:ext cx="4237209" cy="3540919"/>
          </a:xfrm>
        </p:spPr>
        <p:txBody>
          <a:bodyPr/>
          <a:lstStyle/>
          <a:p>
            <a:r>
              <a:rPr lang="en-US"/>
              <a:t>Click icon to add picture</a:t>
            </a:r>
            <a:endParaRPr lang="sv-SE"/>
          </a:p>
        </p:txBody>
      </p:sp>
      <p:sp>
        <p:nvSpPr>
          <p:cNvPr id="9" name="Platshållare för bild 6">
            <a:extLst>
              <a:ext uri="{FF2B5EF4-FFF2-40B4-BE49-F238E27FC236}">
                <a16:creationId xmlns:a16="http://schemas.microsoft.com/office/drawing/2014/main" id="{3747F699-0360-4395-8415-6E5114D6C6C0}"/>
              </a:ext>
            </a:extLst>
          </p:cNvPr>
          <p:cNvSpPr>
            <a:spLocks noGrp="1"/>
          </p:cNvSpPr>
          <p:nvPr>
            <p:ph type="pic" sz="quarter" idx="14"/>
          </p:nvPr>
        </p:nvSpPr>
        <p:spPr>
          <a:xfrm>
            <a:off x="4660332" y="1194198"/>
            <a:ext cx="4237210" cy="3540919"/>
          </a:xfrm>
        </p:spPr>
        <p:txBody>
          <a:bodyPr/>
          <a:lstStyle/>
          <a:p>
            <a:r>
              <a:rPr lang="en-US"/>
              <a:t>Click icon to add picture</a:t>
            </a:r>
            <a:endParaRPr lang="sv-SE"/>
          </a:p>
        </p:txBody>
      </p:sp>
    </p:spTree>
    <p:extLst>
      <p:ext uri="{BB962C8B-B14F-4D97-AF65-F5344CB8AC3E}">
        <p14:creationId xmlns:p14="http://schemas.microsoft.com/office/powerpoint/2010/main" val="2187958420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Endast rubri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ubrik 1">
            <a:extLst>
              <a:ext uri="{FF2B5EF4-FFF2-40B4-BE49-F238E27FC236}">
                <a16:creationId xmlns:a16="http://schemas.microsoft.com/office/drawing/2014/main" id="{2F4B5727-3AF8-4023-B42B-839E8695AB9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sv-SE"/>
          </a:p>
        </p:txBody>
      </p:sp>
      <p:sp>
        <p:nvSpPr>
          <p:cNvPr id="3" name="Platshållare för datum 2">
            <a:extLst>
              <a:ext uri="{FF2B5EF4-FFF2-40B4-BE49-F238E27FC236}">
                <a16:creationId xmlns:a16="http://schemas.microsoft.com/office/drawing/2014/main" id="{892B391E-9C84-4E0D-898B-8454343BE6E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CE91D87-1285-6843-BFFA-E098C31F828A}" type="datetime1">
              <a:rPr lang="sv-SE" smtClean="0"/>
              <a:t>2026-10-23</a:t>
            </a:fld>
            <a:endParaRPr lang="sv-SE"/>
          </a:p>
        </p:txBody>
      </p:sp>
      <p:sp>
        <p:nvSpPr>
          <p:cNvPr id="4" name="Platshållare för sidfot 3">
            <a:extLst>
              <a:ext uri="{FF2B5EF4-FFF2-40B4-BE49-F238E27FC236}">
                <a16:creationId xmlns:a16="http://schemas.microsoft.com/office/drawing/2014/main" id="{32D627AA-4087-4599-9513-63987ED8345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sv-SE"/>
              <a:t>Footer</a:t>
            </a:r>
            <a:endParaRPr lang="sv-SE" dirty="0"/>
          </a:p>
        </p:txBody>
      </p:sp>
      <p:sp>
        <p:nvSpPr>
          <p:cNvPr id="5" name="Platshållare för bildnummer 4">
            <a:extLst>
              <a:ext uri="{FF2B5EF4-FFF2-40B4-BE49-F238E27FC236}">
                <a16:creationId xmlns:a16="http://schemas.microsoft.com/office/drawing/2014/main" id="{BDE0A226-9A3A-4E94-A386-D753C79EAEC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422A9A3-8636-4A04-BD48-3153280FB086}" type="slidenum">
              <a:rPr lang="sv-SE" smtClean="0"/>
              <a:pPr/>
              <a:t>‹#›</a:t>
            </a:fld>
            <a:endParaRPr lang="sv-SE"/>
          </a:p>
        </p:txBody>
      </p:sp>
    </p:spTree>
    <p:extLst>
      <p:ext uri="{BB962C8B-B14F-4D97-AF65-F5344CB8AC3E}">
        <p14:creationId xmlns:p14="http://schemas.microsoft.com/office/powerpoint/2010/main" val="4196585974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5" Type="http://schemas.openxmlformats.org/officeDocument/2006/relationships/slideLayout" Target="../slideLayouts/slideLayout5.xml"/><Relationship Id="rId10" Type="http://schemas.openxmlformats.org/officeDocument/2006/relationships/image" Target="../media/image1.png"/><Relationship Id="rId4" Type="http://schemas.openxmlformats.org/officeDocument/2006/relationships/slideLayout" Target="../slideLayouts/slideLayout4.xml"/><Relationship Id="rId9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tshållare för rubrik 1">
            <a:extLst>
              <a:ext uri="{FF2B5EF4-FFF2-40B4-BE49-F238E27FC236}">
                <a16:creationId xmlns:a16="http://schemas.microsoft.com/office/drawing/2014/main" id="{EB551155-ADB6-4713-AD48-92A8C535A26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133680" y="250032"/>
            <a:ext cx="7763861" cy="647700"/>
          </a:xfrm>
          <a:prstGeom prst="rect">
            <a:avLst/>
          </a:prstGeom>
        </p:spPr>
        <p:txBody>
          <a:bodyPr vert="horz" lIns="0" tIns="0" rIns="0" bIns="0" rtlCol="0" anchor="ctr">
            <a:noAutofit/>
          </a:bodyPr>
          <a:lstStyle/>
          <a:p>
            <a:r>
              <a:rPr lang="sv-SE" dirty="0"/>
              <a:t>Klicka här för att ändra mall för rubrikformat</a:t>
            </a:r>
          </a:p>
        </p:txBody>
      </p:sp>
      <p:sp>
        <p:nvSpPr>
          <p:cNvPr id="3" name="Platshållare för text 2">
            <a:extLst>
              <a:ext uri="{FF2B5EF4-FFF2-40B4-BE49-F238E27FC236}">
                <a16:creationId xmlns:a16="http://schemas.microsoft.com/office/drawing/2014/main" id="{CEFDED03-B73B-4057-9667-7B69EF4D719A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1131887" y="1194197"/>
            <a:ext cx="7765653" cy="3438525"/>
          </a:xfrm>
          <a:prstGeom prst="rect">
            <a:avLst/>
          </a:prstGeom>
        </p:spPr>
        <p:txBody>
          <a:bodyPr vert="horz" lIns="0" tIns="0" rIns="0" bIns="0" rtlCol="0">
            <a:noAutofit/>
          </a:bodyPr>
          <a:lstStyle/>
          <a:p>
            <a:pPr lvl="0"/>
            <a:r>
              <a:rPr lang="sv-SE" dirty="0"/>
              <a:t>Klicka här för att ändra format på bakgrundstexten</a:t>
            </a:r>
          </a:p>
          <a:p>
            <a:pPr lvl="1"/>
            <a:r>
              <a:rPr lang="sv-SE" dirty="0"/>
              <a:t>Nivå två</a:t>
            </a:r>
          </a:p>
          <a:p>
            <a:pPr lvl="2"/>
            <a:r>
              <a:rPr lang="sv-SE" dirty="0"/>
              <a:t>Nivå tre</a:t>
            </a:r>
          </a:p>
          <a:p>
            <a:pPr lvl="3"/>
            <a:r>
              <a:rPr lang="sv-SE" dirty="0"/>
              <a:t>Nivå fyra</a:t>
            </a:r>
          </a:p>
          <a:p>
            <a:pPr lvl="4"/>
            <a:r>
              <a:rPr lang="sv-SE" dirty="0"/>
              <a:t>Nivå fem</a:t>
            </a:r>
          </a:p>
        </p:txBody>
      </p:sp>
      <p:sp>
        <p:nvSpPr>
          <p:cNvPr id="4" name="Platshållare för datum 3">
            <a:extLst>
              <a:ext uri="{FF2B5EF4-FFF2-40B4-BE49-F238E27FC236}">
                <a16:creationId xmlns:a16="http://schemas.microsoft.com/office/drawing/2014/main" id="{80C11F1C-711C-4AD7-A25F-D2B3F451BB0D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251520" y="4902599"/>
            <a:ext cx="2057400" cy="232574"/>
          </a:xfrm>
          <a:prstGeom prst="rect">
            <a:avLst/>
          </a:prstGeom>
        </p:spPr>
        <p:txBody>
          <a:bodyPr vert="horz" lIns="0" tIns="0" rIns="0" bIns="0" rtlCol="0" anchor="ctr"/>
          <a:lstStyle>
            <a:lvl1pPr algn="l">
              <a:defRPr sz="75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0DBE8303-AD2F-DB4D-B8E2-7368B5FD02EE}" type="datetime1">
              <a:rPr lang="sv-SE" smtClean="0"/>
              <a:t>2026-10-23</a:t>
            </a:fld>
            <a:endParaRPr lang="sv-SE" dirty="0"/>
          </a:p>
        </p:txBody>
      </p:sp>
      <p:sp>
        <p:nvSpPr>
          <p:cNvPr id="5" name="Platshållare för sidfot 4">
            <a:extLst>
              <a:ext uri="{FF2B5EF4-FFF2-40B4-BE49-F238E27FC236}">
                <a16:creationId xmlns:a16="http://schemas.microsoft.com/office/drawing/2014/main" id="{C9465249-3F3D-4589-A44C-3AA1952E4C60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3028950" y="4902599"/>
            <a:ext cx="3086100" cy="232574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75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r>
              <a:rPr lang="sv-SE"/>
              <a:t>Footer</a:t>
            </a:r>
            <a:endParaRPr lang="sv-SE" dirty="0"/>
          </a:p>
        </p:txBody>
      </p:sp>
      <p:sp>
        <p:nvSpPr>
          <p:cNvPr id="6" name="Platshållare för bildnummer 5">
            <a:extLst>
              <a:ext uri="{FF2B5EF4-FFF2-40B4-BE49-F238E27FC236}">
                <a16:creationId xmlns:a16="http://schemas.microsoft.com/office/drawing/2014/main" id="{F9DBF7EF-8E59-4075-A8F0-EF49E121CACE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6835080" y="4902599"/>
            <a:ext cx="2057400" cy="232574"/>
          </a:xfrm>
          <a:prstGeom prst="rect">
            <a:avLst/>
          </a:prstGeom>
        </p:spPr>
        <p:txBody>
          <a:bodyPr vert="horz" lIns="0" tIns="0" rIns="0" bIns="0" rtlCol="0" anchor="ctr"/>
          <a:lstStyle>
            <a:lvl1pPr algn="r">
              <a:defRPr sz="75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7422A9A3-8636-4A04-BD48-3153280FB086}" type="slidenum">
              <a:rPr lang="sv-SE" smtClean="0"/>
              <a:pPr/>
              <a:t>‹#›</a:t>
            </a:fld>
            <a:endParaRPr lang="sv-SE" dirty="0"/>
          </a:p>
        </p:txBody>
      </p:sp>
      <p:pic>
        <p:nvPicPr>
          <p:cNvPr id="8" name="Picture 2">
            <a:extLst>
              <a:ext uri="{FF2B5EF4-FFF2-40B4-BE49-F238E27FC236}">
                <a16:creationId xmlns:a16="http://schemas.microsoft.com/office/drawing/2014/main" id="{63C4B2EE-2B48-4379-BBD1-4FA250447FE8}"/>
              </a:ext>
            </a:extLst>
          </p:cNvPr>
          <p:cNvPicPr>
            <a:picLocks noChangeArrowheads="1"/>
          </p:cNvPicPr>
          <p:nvPr userDrawn="1"/>
        </p:nvPicPr>
        <p:blipFill>
          <a:blip r:embed="rId10" cstate="hq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 bwMode="auto">
          <a:xfrm>
            <a:off x="246551" y="250120"/>
            <a:ext cx="644150" cy="652399"/>
          </a:xfrm>
          <a:prstGeom prst="rect">
            <a:avLst/>
          </a:prstGeom>
          <a:noFill/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54" name="Rektangel 53">
            <a:extLst>
              <a:ext uri="{FF2B5EF4-FFF2-40B4-BE49-F238E27FC236}">
                <a16:creationId xmlns:a16="http://schemas.microsoft.com/office/drawing/2014/main" id="{D263F704-88D1-4479-BA22-2920B7F38621}"/>
              </a:ext>
            </a:extLst>
          </p:cNvPr>
          <p:cNvSpPr/>
          <p:nvPr userDrawn="1"/>
        </p:nvSpPr>
        <p:spPr>
          <a:xfrm>
            <a:off x="250750" y="4889099"/>
            <a:ext cx="8646791" cy="135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sv-SE" sz="1013"/>
          </a:p>
        </p:txBody>
      </p:sp>
    </p:spTree>
    <p:extLst>
      <p:ext uri="{BB962C8B-B14F-4D97-AF65-F5344CB8AC3E}">
        <p14:creationId xmlns:p14="http://schemas.microsoft.com/office/powerpoint/2010/main" val="276586158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6" r:id="rId2"/>
    <p:sldLayoutId id="2147483653" r:id="rId3"/>
    <p:sldLayoutId id="2147483654" r:id="rId4"/>
    <p:sldLayoutId id="2147483655" r:id="rId5"/>
    <p:sldLayoutId id="2147483651" r:id="rId6"/>
    <p:sldLayoutId id="2147483652" r:id="rId7"/>
    <p:sldLayoutId id="2147483650" r:id="rId8"/>
  </p:sldLayoutIdLst>
  <p:hf hdr="0"/>
  <p:txStyles>
    <p:titleStyle>
      <a:lvl1pPr algn="l" defTabSz="685800" rtl="0" eaLnBrk="1" latinLnBrk="0" hangingPunct="1">
        <a:lnSpc>
          <a:spcPct val="90000"/>
        </a:lnSpc>
        <a:spcBef>
          <a:spcPct val="0"/>
        </a:spcBef>
        <a:buNone/>
        <a:defRPr sz="2700" b="1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171450" indent="-171450" algn="l" defTabSz="685800" rtl="0" eaLnBrk="1" latinLnBrk="0" hangingPunct="1">
        <a:lnSpc>
          <a:spcPct val="90000"/>
        </a:lnSpc>
        <a:spcBef>
          <a:spcPts val="750"/>
        </a:spcBef>
        <a:buFont typeface="Arial" panose="020B0604020202020204" pitchFamily="34" charset="0"/>
        <a:buChar char="•"/>
        <a:defRPr sz="2100" kern="1200">
          <a:solidFill>
            <a:schemeClr val="tx1"/>
          </a:solidFill>
          <a:latin typeface="+mn-lt"/>
          <a:ea typeface="+mn-ea"/>
          <a:cs typeface="+mn-cs"/>
        </a:defRPr>
      </a:lvl1pPr>
      <a:lvl2pPr marL="5143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‒"/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8572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&gt;"/>
        <a:defRPr sz="1500" kern="1200">
          <a:solidFill>
            <a:schemeClr val="tx1"/>
          </a:solidFill>
          <a:latin typeface="+mn-lt"/>
          <a:ea typeface="+mn-ea"/>
          <a:cs typeface="+mn-cs"/>
        </a:defRPr>
      </a:lvl3pPr>
      <a:lvl4pPr marL="12001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4pPr>
      <a:lvl5pPr marL="15430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‒"/>
        <a:defRPr sz="1350" kern="1200">
          <a:solidFill>
            <a:schemeClr val="tx1"/>
          </a:solidFill>
          <a:latin typeface="+mn-lt"/>
          <a:ea typeface="+mn-ea"/>
          <a:cs typeface="+mn-cs"/>
        </a:defRPr>
      </a:lvl5pPr>
      <a:lvl6pPr marL="18859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6pPr>
      <a:lvl7pPr marL="22288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7pPr>
      <a:lvl8pPr marL="25717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8pPr>
      <a:lvl9pPr marL="29146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sv-SE"/>
      </a:defPPr>
      <a:lvl1pPr marL="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1pPr>
      <a:lvl2pPr marL="3429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2pPr>
      <a:lvl3pPr marL="6858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3pPr>
      <a:lvl4pPr marL="10287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4pPr>
      <a:lvl5pPr marL="13716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5pPr>
      <a:lvl6pPr marL="17145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6pPr>
      <a:lvl7pPr marL="20574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7pPr>
      <a:lvl8pPr marL="24003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8pPr>
      <a:lvl9pPr marL="27432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orient="horz" pos="1620" userDrawn="1">
          <p15:clr>
            <a:srgbClr val="F26B43"/>
          </p15:clr>
        </p15:guide>
        <p15:guide id="2" pos="2880" userDrawn="1">
          <p15:clr>
            <a:srgbClr val="F26B43"/>
          </p15:clr>
        </p15:guide>
        <p15:guide id="3" pos="713" userDrawn="1">
          <p15:clr>
            <a:srgbClr val="F26B43"/>
          </p15:clr>
        </p15:guide>
        <p15:guide id="4" pos="5454" userDrawn="1">
          <p15:clr>
            <a:srgbClr val="F26B43"/>
          </p15:clr>
        </p15:guide>
        <p15:guide id="6" pos="358" userDrawn="1">
          <p15:clr>
            <a:srgbClr val="F26B43"/>
          </p15:clr>
        </p15:guide>
        <p15:guide id="7" orient="horz" pos="158" userDrawn="1">
          <p15:clr>
            <a:srgbClr val="F26B43"/>
          </p15:clr>
        </p15:guide>
        <p15:guide id="8" orient="horz" pos="3084" userDrawn="1">
          <p15:clr>
            <a:srgbClr val="F26B43"/>
          </p15:clr>
        </p15:guide>
        <p15:guide id="9" pos="5605" userDrawn="1">
          <p15:clr>
            <a:srgbClr val="F26B43"/>
          </p15:clr>
        </p15:guide>
        <p15:guide id="10" pos="155" userDrawn="1">
          <p15:clr>
            <a:srgbClr val="F26B43"/>
          </p15:clr>
        </p15:guide>
        <p15:guide id="11" pos="560" userDrawn="1">
          <p15:clr>
            <a:srgbClr val="F26B43"/>
          </p15:clr>
        </p15:guide>
        <p15:guide id="12" orient="horz" pos="566" userDrawn="1">
          <p15:clr>
            <a:srgbClr val="F26B43"/>
          </p15:clr>
        </p15:guide>
        <p15:guide id="13" orient="horz" pos="752" userDrawn="1">
          <p15:clr>
            <a:srgbClr val="F26B43"/>
          </p15:clr>
        </p15:guide>
        <p15:guide id="14" orient="horz" pos="2983" userDrawn="1">
          <p15:clr>
            <a:srgbClr val="F26B43"/>
          </p15:clr>
        </p15:guide>
      </p15:sldGuideLst>
    </p:ext>
  </p:extLst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8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8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8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8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8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8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8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8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8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8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4.png"/><Relationship Id="rId1" Type="http://schemas.openxmlformats.org/officeDocument/2006/relationships/slideLayout" Target="../slideLayouts/slideLayout8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8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6.png"/><Relationship Id="rId1" Type="http://schemas.openxmlformats.org/officeDocument/2006/relationships/slideLayout" Target="../slideLayouts/slideLayout8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7.png"/><Relationship Id="rId1" Type="http://schemas.openxmlformats.org/officeDocument/2006/relationships/slideLayout" Target="../slideLayouts/slideLayout8.xml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8.png"/><Relationship Id="rId1" Type="http://schemas.openxmlformats.org/officeDocument/2006/relationships/slideLayout" Target="../slideLayouts/slideLayout8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2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9.png"/><Relationship Id="rId1" Type="http://schemas.openxmlformats.org/officeDocument/2006/relationships/slideLayout" Target="../slideLayouts/slideLayout8.xml"/></Relationships>
</file>

<file path=ppt/slides/_rels/slide2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1.png"/><Relationship Id="rId2" Type="http://schemas.openxmlformats.org/officeDocument/2006/relationships/image" Target="../media/image20.png"/><Relationship Id="rId1" Type="http://schemas.openxmlformats.org/officeDocument/2006/relationships/slideLayout" Target="../slideLayouts/slideLayout8.xml"/></Relationships>
</file>

<file path=ppt/slides/_rels/slide25.xml.rels><?xml version="1.0" encoding="UTF-8" standalone="yes"?>
<Relationships xmlns="http://schemas.openxmlformats.org/package/2006/relationships"><Relationship Id="rId2" Type="http://schemas.openxmlformats.org/officeDocument/2006/relationships/image" Target="../media/image22.png"/><Relationship Id="rId1" Type="http://schemas.openxmlformats.org/officeDocument/2006/relationships/slideLayout" Target="../slideLayouts/slideLayout8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2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4.png"/><Relationship Id="rId2" Type="http://schemas.openxmlformats.org/officeDocument/2006/relationships/image" Target="../media/image23.png"/><Relationship Id="rId1" Type="http://schemas.openxmlformats.org/officeDocument/2006/relationships/slideLayout" Target="../slideLayouts/slideLayout8.xml"/></Relationships>
</file>

<file path=ppt/slides/_rels/slide2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6.png"/><Relationship Id="rId2" Type="http://schemas.openxmlformats.org/officeDocument/2006/relationships/image" Target="../media/image25.png"/><Relationship Id="rId1" Type="http://schemas.openxmlformats.org/officeDocument/2006/relationships/slideLayout" Target="../slideLayouts/slideLayout8.xml"/></Relationships>
</file>

<file path=ppt/slides/_rels/slide30.xml.rels><?xml version="1.0" encoding="UTF-8" standalone="yes"?>
<Relationships xmlns="http://schemas.openxmlformats.org/package/2006/relationships"><Relationship Id="rId3" Type="http://schemas.openxmlformats.org/officeDocument/2006/relationships/image" Target="../media/image28.png"/><Relationship Id="rId2" Type="http://schemas.openxmlformats.org/officeDocument/2006/relationships/image" Target="../media/image27.png"/><Relationship Id="rId1" Type="http://schemas.openxmlformats.org/officeDocument/2006/relationships/slideLayout" Target="../slideLayouts/slideLayout8.xml"/></Relationships>
</file>

<file path=ppt/slides/_rels/slide31.xml.rels><?xml version="1.0" encoding="UTF-8" standalone="yes"?>
<Relationships xmlns="http://schemas.openxmlformats.org/package/2006/relationships"><Relationship Id="rId3" Type="http://schemas.openxmlformats.org/officeDocument/2006/relationships/image" Target="../media/image30.png"/><Relationship Id="rId2" Type="http://schemas.openxmlformats.org/officeDocument/2006/relationships/image" Target="../media/image29.png"/><Relationship Id="rId1" Type="http://schemas.openxmlformats.org/officeDocument/2006/relationships/slideLayout" Target="../slideLayouts/slideLayout8.xml"/></Relationships>
</file>

<file path=ppt/slides/_rels/slide3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png"/><Relationship Id="rId2" Type="http://schemas.openxmlformats.org/officeDocument/2006/relationships/image" Target="../media/image31.png"/><Relationship Id="rId1" Type="http://schemas.openxmlformats.org/officeDocument/2006/relationships/slideLayout" Target="../slideLayouts/slideLayout8.xml"/></Relationships>
</file>

<file path=ppt/slides/_rels/slide33.xml.rels><?xml version="1.0" encoding="UTF-8" standalone="yes"?>
<Relationships xmlns="http://schemas.openxmlformats.org/package/2006/relationships"><Relationship Id="rId2" Type="http://schemas.openxmlformats.org/officeDocument/2006/relationships/image" Target="../media/image32.png"/><Relationship Id="rId1" Type="http://schemas.openxmlformats.org/officeDocument/2006/relationships/slideLayout" Target="../slideLayouts/slideLayout8.xml"/></Relationships>
</file>

<file path=ppt/slides/_rels/slide34.xml.rels><?xml version="1.0" encoding="UTF-8" standalone="yes"?>
<Relationships xmlns="http://schemas.openxmlformats.org/package/2006/relationships"><Relationship Id="rId2" Type="http://schemas.openxmlformats.org/officeDocument/2006/relationships/image" Target="../media/image33.png"/><Relationship Id="rId1" Type="http://schemas.openxmlformats.org/officeDocument/2006/relationships/slideLayout" Target="../slideLayouts/slideLayout8.xml"/></Relationships>
</file>

<file path=ppt/slides/_rels/slide35.xml.rels><?xml version="1.0" encoding="UTF-8" standalone="yes"?>
<Relationships xmlns="http://schemas.openxmlformats.org/package/2006/relationships"><Relationship Id="rId2" Type="http://schemas.openxmlformats.org/officeDocument/2006/relationships/image" Target="../media/image34.png"/><Relationship Id="rId1" Type="http://schemas.openxmlformats.org/officeDocument/2006/relationships/slideLayout" Target="../slideLayouts/slideLayout8.xml"/></Relationships>
</file>

<file path=ppt/slides/_rels/slide36.xml.rels><?xml version="1.0" encoding="UTF-8" standalone="yes"?>
<Relationships xmlns="http://schemas.openxmlformats.org/package/2006/relationships"><Relationship Id="rId2" Type="http://schemas.openxmlformats.org/officeDocument/2006/relationships/image" Target="../media/image35.png"/><Relationship Id="rId1" Type="http://schemas.openxmlformats.org/officeDocument/2006/relationships/slideLayout" Target="../slideLayouts/slideLayout8.xml"/></Relationships>
</file>

<file path=ppt/slides/_rels/slide37.xml.rels><?xml version="1.0" encoding="UTF-8" standalone="yes"?>
<Relationships xmlns="http://schemas.openxmlformats.org/package/2006/relationships"><Relationship Id="rId3" Type="http://schemas.openxmlformats.org/officeDocument/2006/relationships/image" Target="../media/image37.png"/><Relationship Id="rId2" Type="http://schemas.openxmlformats.org/officeDocument/2006/relationships/image" Target="../media/image36.png"/><Relationship Id="rId1" Type="http://schemas.openxmlformats.org/officeDocument/2006/relationships/slideLayout" Target="../slideLayouts/slideLayout8.xml"/></Relationships>
</file>

<file path=ppt/slides/_rels/slide3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39.xml.rels><?xml version="1.0" encoding="UTF-8" standalone="yes"?>
<Relationships xmlns="http://schemas.openxmlformats.org/package/2006/relationships"><Relationship Id="rId2" Type="http://schemas.openxmlformats.org/officeDocument/2006/relationships/image" Target="../media/image38.png"/><Relationship Id="rId1" Type="http://schemas.openxmlformats.org/officeDocument/2006/relationships/slideLayout" Target="../slideLayouts/slideLayout8.xml"/></Relationships>
</file>

<file path=ppt/slides/_rels/slide40.xml.rels><?xml version="1.0" encoding="UTF-8" standalone="yes"?>
<Relationships xmlns="http://schemas.openxmlformats.org/package/2006/relationships"><Relationship Id="rId2" Type="http://schemas.openxmlformats.org/officeDocument/2006/relationships/image" Target="../media/image39.png"/><Relationship Id="rId1" Type="http://schemas.openxmlformats.org/officeDocument/2006/relationships/slideLayout" Target="../slideLayouts/slideLayout8.xml"/></Relationships>
</file>

<file path=ppt/slides/_rels/slide41.xml.rels><?xml version="1.0" encoding="UTF-8" standalone="yes"?>
<Relationships xmlns="http://schemas.openxmlformats.org/package/2006/relationships"><Relationship Id="rId3" Type="http://schemas.openxmlformats.org/officeDocument/2006/relationships/image" Target="../media/image41.png"/><Relationship Id="rId2" Type="http://schemas.openxmlformats.org/officeDocument/2006/relationships/image" Target="../media/image40.png"/><Relationship Id="rId1" Type="http://schemas.openxmlformats.org/officeDocument/2006/relationships/slideLayout" Target="../slideLayouts/slideLayout8.xml"/><Relationship Id="rId4" Type="http://schemas.openxmlformats.org/officeDocument/2006/relationships/image" Target="../media/image42.png"/></Relationships>
</file>

<file path=ppt/slides/_rels/slide4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8.png"/><Relationship Id="rId1" Type="http://schemas.openxmlformats.org/officeDocument/2006/relationships/slideLayout" Target="../slideLayouts/slideLayout8.xml"/></Relationships>
</file>

<file path=ppt/slides/_rels/slide43.xml.rels><?xml version="1.0" encoding="UTF-8" standalone="yes"?>
<Relationships xmlns="http://schemas.openxmlformats.org/package/2006/relationships"><Relationship Id="rId2" Type="http://schemas.openxmlformats.org/officeDocument/2006/relationships/image" Target="../media/image43.png"/><Relationship Id="rId1" Type="http://schemas.openxmlformats.org/officeDocument/2006/relationships/slideLayout" Target="../slideLayouts/slideLayout8.xml"/></Relationships>
</file>

<file path=ppt/slides/_rels/slide4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45.xml.rels><?xml version="1.0" encoding="UTF-8" standalone="yes"?>
<Relationships xmlns="http://schemas.openxmlformats.org/package/2006/relationships"><Relationship Id="rId2" Type="http://schemas.openxmlformats.org/officeDocument/2006/relationships/image" Target="../media/image44.png"/><Relationship Id="rId1" Type="http://schemas.openxmlformats.org/officeDocument/2006/relationships/slideLayout" Target="../slideLayouts/slideLayout8.xml"/></Relationships>
</file>

<file path=ppt/slides/_rels/slide46.xml.rels><?xml version="1.0" encoding="UTF-8" standalone="yes"?>
<Relationships xmlns="http://schemas.openxmlformats.org/package/2006/relationships"><Relationship Id="rId2" Type="http://schemas.openxmlformats.org/officeDocument/2006/relationships/image" Target="../media/image45.png"/><Relationship Id="rId1" Type="http://schemas.openxmlformats.org/officeDocument/2006/relationships/slideLayout" Target="../slideLayouts/slideLayout8.xml"/></Relationships>
</file>

<file path=ppt/slides/_rels/slide4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48.xml.rels><?xml version="1.0" encoding="UTF-8" standalone="yes"?>
<Relationships xmlns="http://schemas.openxmlformats.org/package/2006/relationships"><Relationship Id="rId3" Type="http://schemas.openxmlformats.org/officeDocument/2006/relationships/image" Target="../media/image47.png"/><Relationship Id="rId2" Type="http://schemas.openxmlformats.org/officeDocument/2006/relationships/image" Target="../media/image46.png"/><Relationship Id="rId1" Type="http://schemas.openxmlformats.org/officeDocument/2006/relationships/slideLayout" Target="../slideLayouts/slideLayout8.xml"/></Relationships>
</file>

<file path=ppt/slides/_rels/slide4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5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51.xml.rels><?xml version="1.0" encoding="UTF-8" standalone="yes"?>
<Relationships xmlns="http://schemas.openxmlformats.org/package/2006/relationships"><Relationship Id="rId2" Type="http://schemas.openxmlformats.org/officeDocument/2006/relationships/image" Target="../media/image32.png"/><Relationship Id="rId1" Type="http://schemas.openxmlformats.org/officeDocument/2006/relationships/slideLayout" Target="../slideLayouts/slideLayout8.xml"/></Relationships>
</file>

<file path=ppt/slides/_rels/slide5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5.png"/><Relationship Id="rId2" Type="http://schemas.openxmlformats.org/officeDocument/2006/relationships/image" Target="../media/image23.png"/><Relationship Id="rId1" Type="http://schemas.openxmlformats.org/officeDocument/2006/relationships/slideLayout" Target="../slideLayouts/slideLayout8.xml"/><Relationship Id="rId4" Type="http://schemas.openxmlformats.org/officeDocument/2006/relationships/image" Target="../media/image38.png"/></Relationships>
</file>

<file path=ppt/slides/_rels/slide5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5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E29F83B-E021-1460-7424-FB221E390F23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/>
              <a:t>SPB Leg Building Block: Design Flow</a:t>
            </a:r>
            <a:endParaRPr lang="sv-SE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05DE8F87-55C1-0788-AF58-69B9B574FC61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en-US"/>
              <a:t>Four EPC2361 per switch: DPT and load-test boards, 1200 V / 300 kW SPB inverter</a:t>
            </a:r>
          </a:p>
          <a:p>
            <a:r>
              <a:rPr lang="en-US"/>
              <a:t>Enes Ayaz, KTH Royal Institute of Technology, October 2026</a:t>
            </a:r>
            <a:endParaRPr lang="sv-SE"/>
          </a:p>
        </p:txBody>
      </p:sp>
    </p:spTree>
    <p:extLst>
      <p:ext uri="{BB962C8B-B14F-4D97-AF65-F5344CB8AC3E}">
        <p14:creationId xmlns:p14="http://schemas.microsoft.com/office/powerpoint/2010/main" val="2553280228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F8B187F-64EC-FA71-56A2-CE187F14AC3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sv-SE" sz="2100"/>
              <a:t>Design flow</a:t>
            </a: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6E32CF34-EE70-713E-A276-7D2C6D6C702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sv-SE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C2F91964-A842-6F36-8490-E2AEA93D9F8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422A9A3-8636-4A04-BD48-3153280FB086}" type="slidenum">
              <a:rPr lang="sv-SE" smtClean="0"/>
              <a:pPr/>
              <a:t>2</a:t>
            </a:fld>
            <a:endParaRPr lang="sv-SE"/>
          </a:p>
        </p:txBody>
      </p:sp>
      <p:graphicFrame>
        <p:nvGraphicFramePr>
          <p:cNvPr id="6" name="Table 5">
            <a:extLst>
              <a:ext uri="{FF2B5EF4-FFF2-40B4-BE49-F238E27FC236}">
                <a16:creationId xmlns:a16="http://schemas.microsoft.com/office/drawing/2014/main" id="{81AFF73F-29A5-6642-268B-5366083E006E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855549589"/>
              </p:ext>
            </p:extLst>
          </p:nvPr>
        </p:nvGraphicFramePr>
        <p:xfrm>
          <a:off x="238125" y="952500"/>
          <a:ext cx="8667750" cy="25146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71500">
                  <a:extLst>
                    <a:ext uri="{9D8B030D-6E8A-4147-A177-3AD203B41FA5}">
                      <a16:colId xmlns:a16="http://schemas.microsoft.com/office/drawing/2014/main" val="3306929348"/>
                    </a:ext>
                  </a:extLst>
                </a:gridCol>
                <a:gridCol w="2190750">
                  <a:extLst>
                    <a:ext uri="{9D8B030D-6E8A-4147-A177-3AD203B41FA5}">
                      <a16:colId xmlns:a16="http://schemas.microsoft.com/office/drawing/2014/main" val="447965372"/>
                    </a:ext>
                  </a:extLst>
                </a:gridCol>
                <a:gridCol w="5905500">
                  <a:extLst>
                    <a:ext uri="{9D8B030D-6E8A-4147-A177-3AD203B41FA5}">
                      <a16:colId xmlns:a16="http://schemas.microsoft.com/office/drawing/2014/main" val="3777990818"/>
                    </a:ext>
                  </a:extLst>
                </a:gridCol>
              </a:tblGrid>
              <a:tr h="165100">
                <a:tc>
                  <a:txBody>
                    <a:bodyPr/>
                    <a:lstStyle/>
                    <a:p>
                      <a:pPr algn="l"/>
                      <a:endParaRPr lang="sv-SE" sz="1380" b="1">
                        <a:solidFill>
                          <a:srgbClr val="FFFFFF"/>
                        </a:solidFill>
                        <a:latin typeface="Arial" panose="020B0604020202020204" pitchFamily="34" charset="0"/>
                      </a:endParaRPr>
                    </a:p>
                  </a:txBody>
                  <a:tcPr marL="50800" marR="50800" marT="25400" marB="25400">
                    <a:solidFill>
                      <a:srgbClr val="1954A6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sv-SE" sz="1380" b="1">
                          <a:solidFill>
                            <a:srgbClr val="FFFFFF"/>
                          </a:solidFill>
                          <a:latin typeface="Arial" panose="020B0604020202020204" pitchFamily="34" charset="0"/>
                        </a:rPr>
                        <a:t>Step</a:t>
                      </a:r>
                    </a:p>
                  </a:txBody>
                  <a:tcPr marL="50800" marR="50800" marT="25400" marB="25400">
                    <a:solidFill>
                      <a:srgbClr val="1954A6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sv-SE" sz="1380" b="1">
                          <a:solidFill>
                            <a:srgbClr val="FFFFFF"/>
                          </a:solidFill>
                          <a:latin typeface="Arial" panose="020B0604020202020204" pitchFamily="34" charset="0"/>
                        </a:rPr>
                        <a:t>Question → decision</a:t>
                      </a:r>
                    </a:p>
                  </a:txBody>
                  <a:tcPr marL="50800" marR="50800" marT="25400" marB="25400">
                    <a:solidFill>
                      <a:srgbClr val="1954A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890822605"/>
                  </a:ext>
                </a:extLst>
              </a:tr>
              <a:tr h="165100">
                <a:tc>
                  <a:txBody>
                    <a:bodyPr/>
                    <a:lstStyle/>
                    <a:p>
                      <a:pPr algn="l"/>
                      <a:r>
                        <a:rPr lang="sv-SE" sz="138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1</a:t>
                      </a:r>
                    </a:p>
                  </a:txBody>
                  <a:tcPr marL="50800" marR="50800" marT="25400" marB="25400"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sv-SE" sz="138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Design inputs</a:t>
                      </a:r>
                    </a:p>
                  </a:txBody>
                  <a:tcPr marL="50800" marR="50800" marT="25400" marB="25400"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sv-SE" sz="138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1200 V, 300 kW, M ≤ 1.15, PMSM cos </a:t>
                      </a:r>
                      <a:r>
                        <a:rPr lang="el-GR" sz="138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φ = 0.9 → 228 </a:t>
                      </a:r>
                      <a:r>
                        <a:rPr lang="sv-SE" sz="138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A</a:t>
                      </a:r>
                      <a:r>
                        <a:rPr lang="sv-SE" sz="1380" baseline="-2500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rms</a:t>
                      </a:r>
                      <a:r>
                        <a:rPr lang="sv-SE" sz="138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 per leg</a:t>
                      </a:r>
                    </a:p>
                  </a:txBody>
                  <a:tcPr marL="50800" marR="50800" marT="25400" marB="25400">
                    <a:solidFill>
                      <a:srgbClr val="E8EF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87407595"/>
                  </a:ext>
                </a:extLst>
              </a:tr>
              <a:tr h="165100">
                <a:tc>
                  <a:txBody>
                    <a:bodyPr/>
                    <a:lstStyle/>
                    <a:p>
                      <a:pPr algn="l"/>
                      <a:r>
                        <a:rPr lang="sv-SE" sz="138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2</a:t>
                      </a:r>
                    </a:p>
                  </a:txBody>
                  <a:tcPr marL="50800" marR="508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sv-SE" sz="138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Device</a:t>
                      </a:r>
                    </a:p>
                  </a:txBody>
                  <a:tcPr marL="50800" marR="508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38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100–650 V GaN survey, absolute and per volt → 100 V GaN, EPC2361 (Kelvin pad)</a:t>
                      </a:r>
                      <a:endParaRPr lang="sv-SE" sz="1380">
                        <a:solidFill>
                          <a:srgbClr val="1E1E1E"/>
                        </a:solidFill>
                        <a:latin typeface="Arial" panose="020B0604020202020204" pitchFamily="34" charset="0"/>
                      </a:endParaRPr>
                    </a:p>
                  </a:txBody>
                  <a:tcPr marL="50800" marR="50800" marT="25400" marB="25400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910741207"/>
                  </a:ext>
                </a:extLst>
              </a:tr>
              <a:tr h="165100">
                <a:tc>
                  <a:txBody>
                    <a:bodyPr/>
                    <a:lstStyle/>
                    <a:p>
                      <a:pPr algn="l"/>
                      <a:r>
                        <a:rPr lang="sv-SE" sz="138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3</a:t>
                      </a:r>
                    </a:p>
                  </a:txBody>
                  <a:tcPr marL="50800" marR="50800" marT="25400" marB="25400"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sv-SE" sz="138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Submodule voltage</a:t>
                      </a:r>
                    </a:p>
                  </a:txBody>
                  <a:tcPr marL="50800" marR="50800" marT="25400" marB="25400"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pt-BR" sz="138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V</a:t>
                      </a:r>
                      <a:r>
                        <a:rPr lang="pt-BR" sz="1380" baseline="-2500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m</a:t>
                      </a:r>
                      <a:r>
                        <a:rPr lang="pt-BR" sz="138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 + L·di/dt ≤ 90 V for 0.5 / 1 nH, even N → 75 V, N = 16</a:t>
                      </a:r>
                      <a:endParaRPr lang="sv-SE" sz="1380">
                        <a:solidFill>
                          <a:srgbClr val="1E1E1E"/>
                        </a:solidFill>
                        <a:latin typeface="Arial" panose="020B0604020202020204" pitchFamily="34" charset="0"/>
                      </a:endParaRPr>
                    </a:p>
                  </a:txBody>
                  <a:tcPr marL="50800" marR="50800" marT="25400" marB="25400">
                    <a:solidFill>
                      <a:srgbClr val="E8EF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391719783"/>
                  </a:ext>
                </a:extLst>
              </a:tr>
              <a:tr h="165100">
                <a:tc>
                  <a:txBody>
                    <a:bodyPr/>
                    <a:lstStyle/>
                    <a:p>
                      <a:pPr algn="l"/>
                      <a:r>
                        <a:rPr lang="sv-SE" sz="138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4</a:t>
                      </a:r>
                    </a:p>
                  </a:txBody>
                  <a:tcPr marL="50800" marR="508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sv-SE" sz="138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One device, one driver</a:t>
                      </a:r>
                    </a:p>
                  </a:txBody>
                  <a:tcPr marL="50800" marR="508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38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loop of one cell + LTspice at 0.5 / 1 nH → ≤ 80 A per device</a:t>
                      </a:r>
                      <a:endParaRPr lang="sv-SE" sz="1380">
                        <a:solidFill>
                          <a:srgbClr val="1E1E1E"/>
                        </a:solidFill>
                        <a:latin typeface="Arial" panose="020B0604020202020204" pitchFamily="34" charset="0"/>
                      </a:endParaRPr>
                    </a:p>
                  </a:txBody>
                  <a:tcPr marL="50800" marR="50800" marT="25400" marB="25400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512543985"/>
                  </a:ext>
                </a:extLst>
              </a:tr>
              <a:tr h="165100">
                <a:tc>
                  <a:txBody>
                    <a:bodyPr/>
                    <a:lstStyle/>
                    <a:p>
                      <a:pPr algn="l"/>
                      <a:r>
                        <a:rPr lang="sv-SE" sz="138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5</a:t>
                      </a:r>
                    </a:p>
                  </a:txBody>
                  <a:tcPr marL="50800" marR="50800" marT="25400" marB="25400"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sv-SE" sz="138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n in parallel</a:t>
                      </a:r>
                    </a:p>
                  </a:txBody>
                  <a:tcPr marL="50800" marR="50800" marT="25400" marB="25400"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sv-SE" sz="138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loss, T</a:t>
                      </a:r>
                      <a:r>
                        <a:rPr lang="sv-SE" sz="1380" baseline="-2500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j</a:t>
                      </a:r>
                      <a:r>
                        <a:rPr lang="sv-SE" sz="138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, V</a:t>
                      </a:r>
                      <a:r>
                        <a:rPr lang="sv-SE" sz="1380" baseline="-2500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DS</a:t>
                      </a:r>
                      <a:r>
                        <a:rPr lang="sv-SE" sz="138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 vs n → 4 EPC2361 per switch</a:t>
                      </a:r>
                    </a:p>
                  </a:txBody>
                  <a:tcPr marL="50800" marR="50800" marT="25400" marB="25400">
                    <a:solidFill>
                      <a:srgbClr val="E8EF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140619760"/>
                  </a:ext>
                </a:extLst>
              </a:tr>
              <a:tr h="165100">
                <a:tc>
                  <a:txBody>
                    <a:bodyPr/>
                    <a:lstStyle/>
                    <a:p>
                      <a:pPr algn="l"/>
                      <a:r>
                        <a:rPr lang="sv-SE" sz="138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6</a:t>
                      </a:r>
                    </a:p>
                  </a:txBody>
                  <a:tcPr marL="50800" marR="508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sv-SE" sz="138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f</a:t>
                      </a:r>
                      <a:r>
                        <a:rPr lang="sv-SE" sz="1380" baseline="-2500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sw</a:t>
                      </a:r>
                      <a:r>
                        <a:rPr lang="sv-SE" sz="138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, DC link</a:t>
                      </a:r>
                    </a:p>
                  </a:txBody>
                  <a:tcPr marL="50800" marR="508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38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≥ 50 kHz; 3 % ripple → 20 × 22 µF 2220 + 10 × 1 µF bypass per cell</a:t>
                      </a:r>
                      <a:endParaRPr lang="sv-SE" sz="1380">
                        <a:solidFill>
                          <a:srgbClr val="1E1E1E"/>
                        </a:solidFill>
                        <a:latin typeface="Arial" panose="020B0604020202020204" pitchFamily="34" charset="0"/>
                      </a:endParaRPr>
                    </a:p>
                  </a:txBody>
                  <a:tcPr marL="50800" marR="50800" marT="25400" marB="25400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034106424"/>
                  </a:ext>
                </a:extLst>
              </a:tr>
              <a:tr h="165100">
                <a:tc>
                  <a:txBody>
                    <a:bodyPr/>
                    <a:lstStyle/>
                    <a:p>
                      <a:pPr algn="l"/>
                      <a:r>
                        <a:rPr lang="sv-SE" sz="138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7</a:t>
                      </a:r>
                    </a:p>
                  </a:txBody>
                  <a:tcPr marL="50800" marR="50800" marT="25400" marB="25400"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sv-SE" sz="138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Gate drive → block</a:t>
                      </a:r>
                    </a:p>
                  </a:txBody>
                  <a:tcPr marL="50800" marR="50800" marT="25400" marB="25400"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38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one 2EDF7275K per pair (star, Kelvin) → building block of two cells</a:t>
                      </a:r>
                      <a:endParaRPr lang="sv-SE" sz="1380">
                        <a:solidFill>
                          <a:srgbClr val="1E1E1E"/>
                        </a:solidFill>
                        <a:latin typeface="Arial" panose="020B0604020202020204" pitchFamily="34" charset="0"/>
                      </a:endParaRPr>
                    </a:p>
                  </a:txBody>
                  <a:tcPr marL="50800" marR="50800" marT="25400" marB="25400">
                    <a:solidFill>
                      <a:srgbClr val="E8EF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627022249"/>
                  </a:ext>
                </a:extLst>
              </a:tr>
              <a:tr h="165100">
                <a:tc>
                  <a:txBody>
                    <a:bodyPr/>
                    <a:lstStyle/>
                    <a:p>
                      <a:pPr algn="l"/>
                      <a:r>
                        <a:rPr lang="sv-SE" sz="138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8</a:t>
                      </a:r>
                    </a:p>
                  </a:txBody>
                  <a:tcPr marL="50800" marR="508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sv-SE" sz="138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Four on one board</a:t>
                      </a:r>
                    </a:p>
                  </a:txBody>
                  <a:tcPr marL="50800" marR="508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38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two pairs, one DC pair, one AC output → DPT board and load-test board</a:t>
                      </a:r>
                      <a:endParaRPr lang="sv-SE" sz="1380">
                        <a:solidFill>
                          <a:srgbClr val="1E1E1E"/>
                        </a:solidFill>
                        <a:latin typeface="Arial" panose="020B0604020202020204" pitchFamily="34" charset="0"/>
                      </a:endParaRPr>
                    </a:p>
                  </a:txBody>
                  <a:tcPr marL="50800" marR="50800" marT="25400" marB="25400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178990532"/>
                  </a:ext>
                </a:extLst>
              </a:tr>
              <a:tr h="165100">
                <a:tc>
                  <a:txBody>
                    <a:bodyPr/>
                    <a:lstStyle/>
                    <a:p>
                      <a:pPr algn="l"/>
                      <a:r>
                        <a:rPr lang="sv-SE" sz="138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9</a:t>
                      </a:r>
                    </a:p>
                  </a:txBody>
                  <a:tcPr marL="50800" marR="50800" marT="25400" marB="25400"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sv-SE" sz="138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Supplies, measurement</a:t>
                      </a:r>
                    </a:p>
                  </a:txBody>
                  <a:tcPr marL="50800" marR="50800" marT="25400" marB="25400"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38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two isolated supplies + Zener bias, UFCS per cell (DPT), U.FL V</a:t>
                      </a:r>
                      <a:r>
                        <a:rPr lang="en-US" sz="1380" baseline="-2500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GS</a:t>
                      </a:r>
                      <a:r>
                        <a:rPr lang="en-US" sz="138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, MMCX V</a:t>
                      </a:r>
                      <a:r>
                        <a:rPr lang="en-US" sz="1380" baseline="-2500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DS</a:t>
                      </a:r>
                      <a:r>
                        <a:rPr lang="en-US" sz="138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, HO 250-S</a:t>
                      </a:r>
                      <a:endParaRPr lang="sv-SE" sz="1380">
                        <a:solidFill>
                          <a:srgbClr val="1E1E1E"/>
                        </a:solidFill>
                        <a:latin typeface="Arial" panose="020B0604020202020204" pitchFamily="34" charset="0"/>
                      </a:endParaRPr>
                    </a:p>
                  </a:txBody>
                  <a:tcPr marL="50800" marR="50800" marT="25400" marB="25400">
                    <a:solidFill>
                      <a:srgbClr val="E8EF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079583641"/>
                  </a:ext>
                </a:extLst>
              </a:tr>
              <a:tr h="165100">
                <a:tc>
                  <a:txBody>
                    <a:bodyPr/>
                    <a:lstStyle/>
                    <a:p>
                      <a:pPr algn="l"/>
                      <a:r>
                        <a:rPr lang="sv-SE" sz="138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10</a:t>
                      </a:r>
                    </a:p>
                  </a:txBody>
                  <a:tcPr marL="50800" marR="508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sv-SE" sz="138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Three-phase DC bus</a:t>
                      </a:r>
                    </a:p>
                  </a:txBody>
                  <a:tcPr marL="50800" marR="508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38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legs share the 75 V bus → laminated PCB busbar; 3D level and 16-level stack</a:t>
                      </a:r>
                      <a:endParaRPr lang="sv-SE" sz="1380">
                        <a:solidFill>
                          <a:srgbClr val="1E1E1E"/>
                        </a:solidFill>
                        <a:latin typeface="Arial" panose="020B0604020202020204" pitchFamily="34" charset="0"/>
                      </a:endParaRPr>
                    </a:p>
                  </a:txBody>
                  <a:tcPr marL="50800" marR="50800" marT="25400" marB="25400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193990992"/>
                  </a:ext>
                </a:extLst>
              </a:tr>
              <a:tr h="165100">
                <a:tc>
                  <a:txBody>
                    <a:bodyPr/>
                    <a:lstStyle/>
                    <a:p>
                      <a:pPr algn="l"/>
                      <a:r>
                        <a:rPr lang="sv-SE" sz="138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11–12</a:t>
                      </a:r>
                    </a:p>
                  </a:txBody>
                  <a:tcPr marL="50800" marR="50800" marT="25400" marB="25400"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sv-SE" sz="138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Verification, boards</a:t>
                      </a:r>
                    </a:p>
                  </a:txBody>
                  <a:tcPr marL="50800" marR="50800" marT="25400" marB="25400"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38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fast Q3D set on the final boards and the busbar; fab files</a:t>
                      </a:r>
                      <a:endParaRPr lang="sv-SE" sz="1380">
                        <a:solidFill>
                          <a:srgbClr val="1E1E1E"/>
                        </a:solidFill>
                        <a:latin typeface="Arial" panose="020B0604020202020204" pitchFamily="34" charset="0"/>
                      </a:endParaRPr>
                    </a:p>
                  </a:txBody>
                  <a:tcPr marL="50800" marR="50800" marT="25400" marB="25400">
                    <a:solidFill>
                      <a:srgbClr val="E8EF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009062755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883657574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0AB1E52-7BD4-B3E6-DF31-B2BC7BE0339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sv-SE" sz="2100"/>
              <a:t>Design inputs</a:t>
            </a: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E32F024E-D81A-2E0A-37EF-FF00CBF57B8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sv-SE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73AF3B45-A941-7BA9-A1FE-4FFC3906F08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422A9A3-8636-4A04-BD48-3153280FB086}" type="slidenum">
              <a:rPr lang="sv-SE" smtClean="0"/>
              <a:pPr/>
              <a:t>3</a:t>
            </a:fld>
            <a:endParaRPr lang="sv-SE"/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6CCADAA9-1EBF-024C-5BA0-9E585B99BCA1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98773" y="952500"/>
            <a:ext cx="7346453" cy="2047875"/>
          </a:xfrm>
          <a:prstGeom prst="rect">
            <a:avLst/>
          </a:prstGeom>
        </p:spPr>
      </p:pic>
      <p:graphicFrame>
        <p:nvGraphicFramePr>
          <p:cNvPr id="8" name="Table 7">
            <a:extLst>
              <a:ext uri="{FF2B5EF4-FFF2-40B4-BE49-F238E27FC236}">
                <a16:creationId xmlns:a16="http://schemas.microsoft.com/office/drawing/2014/main" id="{25849D11-D2D2-FC45-393F-83990445C4FC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635268404"/>
              </p:ext>
            </p:extLst>
          </p:nvPr>
        </p:nvGraphicFramePr>
        <p:xfrm>
          <a:off x="238125" y="3048000"/>
          <a:ext cx="4953000" cy="16764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09750">
                  <a:extLst>
                    <a:ext uri="{9D8B030D-6E8A-4147-A177-3AD203B41FA5}">
                      <a16:colId xmlns:a16="http://schemas.microsoft.com/office/drawing/2014/main" val="1992620173"/>
                    </a:ext>
                  </a:extLst>
                </a:gridCol>
                <a:gridCol w="3143250">
                  <a:extLst>
                    <a:ext uri="{9D8B030D-6E8A-4147-A177-3AD203B41FA5}">
                      <a16:colId xmlns:a16="http://schemas.microsoft.com/office/drawing/2014/main" val="4279303744"/>
                    </a:ext>
                  </a:extLst>
                </a:gridCol>
              </a:tblGrid>
              <a:tr h="165100">
                <a:tc>
                  <a:txBody>
                    <a:bodyPr/>
                    <a:lstStyle/>
                    <a:p>
                      <a:pPr algn="l"/>
                      <a:r>
                        <a:rPr lang="sv-SE" sz="1190" b="1">
                          <a:solidFill>
                            <a:srgbClr val="FFFFFF"/>
                          </a:solidFill>
                          <a:latin typeface="Arial" panose="020B0604020202020204" pitchFamily="34" charset="0"/>
                        </a:rPr>
                        <a:t>Quantity</a:t>
                      </a:r>
                    </a:p>
                  </a:txBody>
                  <a:tcPr marL="50800" marR="50800" marT="25400" marB="25400">
                    <a:solidFill>
                      <a:srgbClr val="1954A6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sv-SE" sz="1190" b="1">
                          <a:solidFill>
                            <a:srgbClr val="FFFFFF"/>
                          </a:solidFill>
                          <a:latin typeface="Arial" panose="020B0604020202020204" pitchFamily="34" charset="0"/>
                        </a:rPr>
                        <a:t>Value</a:t>
                      </a:r>
                    </a:p>
                  </a:txBody>
                  <a:tcPr marL="50800" marR="50800" marT="25400" marB="25400">
                    <a:solidFill>
                      <a:srgbClr val="1954A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984274762"/>
                  </a:ext>
                </a:extLst>
              </a:tr>
              <a:tr h="165100">
                <a:tc>
                  <a:txBody>
                    <a:bodyPr/>
                    <a:lstStyle/>
                    <a:p>
                      <a:pPr algn="l"/>
                      <a:r>
                        <a:rPr lang="sv-SE" sz="119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DC bus</a:t>
                      </a:r>
                    </a:p>
                  </a:txBody>
                  <a:tcPr marL="50800" marR="50800" marT="25400" marB="25400"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sv-SE" sz="119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1200 V nominal</a:t>
                      </a:r>
                    </a:p>
                  </a:txBody>
                  <a:tcPr marL="50800" marR="50800" marT="25400" marB="25400">
                    <a:solidFill>
                      <a:srgbClr val="E8EF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859332457"/>
                  </a:ext>
                </a:extLst>
              </a:tr>
              <a:tr h="165100">
                <a:tc>
                  <a:txBody>
                    <a:bodyPr/>
                    <a:lstStyle/>
                    <a:p>
                      <a:pPr algn="l"/>
                      <a:r>
                        <a:rPr lang="sv-SE" sz="119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Output power</a:t>
                      </a:r>
                    </a:p>
                  </a:txBody>
                  <a:tcPr marL="50800" marR="508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sv-SE" sz="119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300 kW</a:t>
                      </a:r>
                    </a:p>
                  </a:txBody>
                  <a:tcPr marL="50800" marR="50800" marT="25400" marB="25400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037864704"/>
                  </a:ext>
                </a:extLst>
              </a:tr>
              <a:tr h="165100">
                <a:tc>
                  <a:txBody>
                    <a:bodyPr/>
                    <a:lstStyle/>
                    <a:p>
                      <a:pPr algn="l"/>
                      <a:r>
                        <a:rPr lang="sv-SE" sz="119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Modulation index</a:t>
                      </a:r>
                    </a:p>
                  </a:txBody>
                  <a:tcPr marL="50800" marR="50800" marT="25400" marB="25400"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sv-SE" sz="119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M ≤ 1.15 (SVM)</a:t>
                      </a:r>
                    </a:p>
                  </a:txBody>
                  <a:tcPr marL="50800" marR="50800" marT="25400" marB="25400">
                    <a:solidFill>
                      <a:srgbClr val="E8EF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659387960"/>
                  </a:ext>
                </a:extLst>
              </a:tr>
              <a:tr h="165100">
                <a:tc>
                  <a:txBody>
                    <a:bodyPr/>
                    <a:lstStyle/>
                    <a:p>
                      <a:pPr algn="l"/>
                      <a:r>
                        <a:rPr lang="sv-SE" sz="119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Machine</a:t>
                      </a:r>
                    </a:p>
                  </a:txBody>
                  <a:tcPr marL="50800" marR="508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sv-SE" sz="119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PMSM, cos </a:t>
                      </a:r>
                      <a:r>
                        <a:rPr lang="el-GR" sz="119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φ </a:t>
                      </a:r>
                      <a:r>
                        <a:rPr lang="sv-SE" sz="119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assumed 0.9</a:t>
                      </a:r>
                    </a:p>
                  </a:txBody>
                  <a:tcPr marL="50800" marR="50800" marT="25400" marB="25400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656040410"/>
                  </a:ext>
                </a:extLst>
              </a:tr>
              <a:tr h="165100">
                <a:tc>
                  <a:txBody>
                    <a:bodyPr/>
                    <a:lstStyle/>
                    <a:p>
                      <a:pPr algn="l"/>
                      <a:r>
                        <a:rPr lang="sv-SE" sz="119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Switching frequency</a:t>
                      </a:r>
                    </a:p>
                  </a:txBody>
                  <a:tcPr marL="50800" marR="50800" marT="25400" marB="25400"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sv-SE" sz="119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≥ 50 kHz (step 6)</a:t>
                      </a:r>
                    </a:p>
                  </a:txBody>
                  <a:tcPr marL="50800" marR="50800" marT="25400" marB="25400">
                    <a:solidFill>
                      <a:srgbClr val="E8EF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65821180"/>
                  </a:ext>
                </a:extLst>
              </a:tr>
              <a:tr h="165100">
                <a:tc>
                  <a:txBody>
                    <a:bodyPr/>
                    <a:lstStyle/>
                    <a:p>
                      <a:pPr algn="l"/>
                      <a:r>
                        <a:rPr lang="sv-SE" sz="119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Cooling / T</a:t>
                      </a:r>
                      <a:r>
                        <a:rPr lang="sv-SE" sz="1190" baseline="-2500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j</a:t>
                      </a:r>
                    </a:p>
                  </a:txBody>
                  <a:tcPr marL="50800" marR="508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19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load test: air 25–40 °C / ≤ 125 °C</a:t>
                      </a:r>
                      <a:endParaRPr lang="sv-SE" sz="1190">
                        <a:solidFill>
                          <a:srgbClr val="1E1E1E"/>
                        </a:solidFill>
                        <a:latin typeface="Arial" panose="020B0604020202020204" pitchFamily="34" charset="0"/>
                      </a:endParaRPr>
                    </a:p>
                  </a:txBody>
                  <a:tcPr marL="50800" marR="50800" marT="25400" marB="25400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426104411"/>
                  </a:ext>
                </a:extLst>
              </a:tr>
              <a:tr h="165100">
                <a:tc>
                  <a:txBody>
                    <a:bodyPr/>
                    <a:lstStyle/>
                    <a:p>
                      <a:pPr algn="l"/>
                      <a:r>
                        <a:rPr lang="sv-SE" sz="119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Device stress</a:t>
                      </a:r>
                    </a:p>
                  </a:txBody>
                  <a:tcPr marL="50800" marR="50800" marT="25400" marB="25400"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19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V</a:t>
                      </a:r>
                      <a:r>
                        <a:rPr lang="en-US" sz="1190" baseline="-2500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DS</a:t>
                      </a:r>
                      <a:r>
                        <a:rPr lang="en-US" sz="119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 ≤ 90 V at nominal bus (100 V part)</a:t>
                      </a:r>
                      <a:endParaRPr lang="sv-SE" sz="1190">
                        <a:solidFill>
                          <a:srgbClr val="1E1E1E"/>
                        </a:solidFill>
                        <a:latin typeface="Arial" panose="020B0604020202020204" pitchFamily="34" charset="0"/>
                      </a:endParaRPr>
                    </a:p>
                  </a:txBody>
                  <a:tcPr marL="50800" marR="50800" marT="25400" marB="25400">
                    <a:solidFill>
                      <a:srgbClr val="E8EF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199478474"/>
                  </a:ext>
                </a:extLst>
              </a:tr>
            </a:tbl>
          </a:graphicData>
        </a:graphic>
      </p:graphicFrame>
      <p:sp>
        <p:nvSpPr>
          <p:cNvPr id="9" name="TextBox 8">
            <a:extLst>
              <a:ext uri="{FF2B5EF4-FFF2-40B4-BE49-F238E27FC236}">
                <a16:creationId xmlns:a16="http://schemas.microsoft.com/office/drawing/2014/main" id="{3316F71B-3D81-E525-8079-C3731EC2F638}"/>
              </a:ext>
            </a:extLst>
          </p:cNvPr>
          <p:cNvSpPr txBox="1"/>
          <p:nvPr/>
        </p:nvSpPr>
        <p:spPr>
          <a:xfrm>
            <a:off x="5429250" y="3095625"/>
            <a:ext cx="3476625" cy="307777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pPr marL="406400" indent="-177800">
              <a:spcAft>
                <a:spcPts val="400"/>
              </a:spcAft>
              <a:buFont typeface="+mj-lt"/>
              <a:buChar char="•"/>
            </a:pPr>
            <a:r>
              <a:rPr lang="en-US" sz="1470">
                <a:solidFill>
                  <a:srgbClr val="1E1E1E"/>
                </a:solidFill>
                <a:latin typeface="Arial" panose="020B0604020202020204" pitchFamily="34" charset="0"/>
              </a:rPr>
              <a:t>SPB: N three-phase submodules in series on the DC side, each feeding one winding set of the machine</a:t>
            </a:r>
          </a:p>
          <a:p>
            <a:pPr marL="406400" indent="-177800">
              <a:spcAft>
                <a:spcPts val="400"/>
              </a:spcAft>
              <a:buFont typeface="+mj-lt"/>
              <a:buChar char="•"/>
            </a:pPr>
            <a:r>
              <a:rPr lang="en-US" sz="1470">
                <a:solidFill>
                  <a:srgbClr val="1E1E1E"/>
                </a:solidFill>
                <a:latin typeface="Arial" panose="020B0604020202020204" pitchFamily="34" charset="0"/>
              </a:rPr>
              <a:t>V</a:t>
            </a:r>
            <a:r>
              <a:rPr lang="en-US" sz="1470" baseline="-25000">
                <a:solidFill>
                  <a:srgbClr val="1E1E1E"/>
                </a:solidFill>
                <a:latin typeface="Arial" panose="020B0604020202020204" pitchFamily="34" charset="0"/>
              </a:rPr>
              <a:t>m</a:t>
            </a:r>
            <a:r>
              <a:rPr lang="en-US" sz="1470">
                <a:solidFill>
                  <a:srgbClr val="1E1E1E"/>
                </a:solidFill>
                <a:latin typeface="Arial" panose="020B0604020202020204" pitchFamily="34" charset="0"/>
              </a:rPr>
              <a:t> = 1200 V / N per submodule; each submodule = 3 legs on one DC link</a:t>
            </a:r>
            <a:endParaRPr lang="sv-SE" sz="1470" dirty="0" err="1">
              <a:solidFill>
                <a:srgbClr val="1E1E1E"/>
              </a:solidFill>
              <a:latin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379752993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DB2DC24-5C29-DAE5-9504-A66678CC3FD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z="2100"/>
              <a:t>Phase current follows from the inputs</a:t>
            </a:r>
            <a:endParaRPr lang="sv-SE" sz="210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7506B00F-F0E2-470F-46C0-2B45477652A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sv-SE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25A2500F-56BC-1F1D-472A-BB2D8F3C102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422A9A3-8636-4A04-BD48-3153280FB086}" type="slidenum">
              <a:rPr lang="sv-SE" smtClean="0"/>
              <a:pPr/>
              <a:t>4</a:t>
            </a:fld>
            <a:endParaRPr lang="sv-SE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D720BE73-73FB-8377-9D1F-FDACCF345596}"/>
              </a:ext>
            </a:extLst>
          </p:cNvPr>
          <p:cNvSpPr txBox="1"/>
          <p:nvPr/>
        </p:nvSpPr>
        <p:spPr>
          <a:xfrm>
            <a:off x="238125" y="952500"/>
            <a:ext cx="5143500" cy="307777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pPr marL="406400" indent="-177800">
              <a:spcAft>
                <a:spcPts val="400"/>
              </a:spcAft>
              <a:buFont typeface="+mj-lt"/>
              <a:buChar char="•"/>
            </a:pPr>
            <a:r>
              <a:rPr lang="sv-SE" sz="1560">
                <a:solidFill>
                  <a:srgbClr val="1E1E1E"/>
                </a:solidFill>
                <a:latin typeface="Arial" panose="020B0604020202020204" pitchFamily="34" charset="0"/>
              </a:rPr>
              <a:t>Each of the 3N legs delivers P/3N at V</a:t>
            </a:r>
            <a:r>
              <a:rPr lang="sv-SE" sz="1560" baseline="-25000">
                <a:solidFill>
                  <a:srgbClr val="1E1E1E"/>
                </a:solidFill>
                <a:latin typeface="Arial" panose="020B0604020202020204" pitchFamily="34" charset="0"/>
              </a:rPr>
              <a:t>ph</a:t>
            </a:r>
            <a:r>
              <a:rPr lang="sv-SE" sz="1560">
                <a:solidFill>
                  <a:srgbClr val="1E1E1E"/>
                </a:solidFill>
                <a:latin typeface="Arial" panose="020B0604020202020204" pitchFamily="34" charset="0"/>
              </a:rPr>
              <a:t> = M·V</a:t>
            </a:r>
            <a:r>
              <a:rPr lang="sv-SE" sz="1560" baseline="-25000">
                <a:solidFill>
                  <a:srgbClr val="1E1E1E"/>
                </a:solidFill>
                <a:latin typeface="Arial" panose="020B0604020202020204" pitchFamily="34" charset="0"/>
              </a:rPr>
              <a:t>m</a:t>
            </a:r>
            <a:r>
              <a:rPr lang="sv-SE" sz="1560">
                <a:solidFill>
                  <a:srgbClr val="1E1E1E"/>
                </a:solidFill>
                <a:latin typeface="Arial" panose="020B0604020202020204" pitchFamily="34" charset="0"/>
              </a:rPr>
              <a:t>/(2√2):</a:t>
            </a:r>
          </a:p>
          <a:p>
            <a:pPr marL="406400" indent="-177800">
              <a:spcAft>
                <a:spcPts val="400"/>
              </a:spcAft>
              <a:buFont typeface="+mj-lt"/>
              <a:buChar char="•"/>
            </a:pPr>
            <a:r>
              <a:rPr lang="sv-SE" sz="1560">
                <a:solidFill>
                  <a:srgbClr val="1E1E1E"/>
                </a:solidFill>
                <a:latin typeface="Arial" panose="020B0604020202020204" pitchFamily="34" charset="0"/>
              </a:rPr>
              <a:t>I</a:t>
            </a:r>
            <a:r>
              <a:rPr lang="sv-SE" sz="1560" baseline="-25000">
                <a:solidFill>
                  <a:srgbClr val="1E1E1E"/>
                </a:solidFill>
                <a:latin typeface="Arial" panose="020B0604020202020204" pitchFamily="34" charset="0"/>
              </a:rPr>
              <a:t>rms</a:t>
            </a:r>
            <a:r>
              <a:rPr lang="sv-SE" sz="1560">
                <a:solidFill>
                  <a:srgbClr val="1E1E1E"/>
                </a:solidFill>
                <a:latin typeface="Arial" panose="020B0604020202020204" pitchFamily="34" charset="0"/>
              </a:rPr>
              <a:t> = P / (3 · M·V</a:t>
            </a:r>
            <a:r>
              <a:rPr lang="sv-SE" sz="1560" baseline="-25000">
                <a:solidFill>
                  <a:srgbClr val="1E1E1E"/>
                </a:solidFill>
                <a:latin typeface="Arial" panose="020B0604020202020204" pitchFamily="34" charset="0"/>
              </a:rPr>
              <a:t>bus</a:t>
            </a:r>
            <a:r>
              <a:rPr lang="sv-SE" sz="1560">
                <a:solidFill>
                  <a:srgbClr val="1E1E1E"/>
                </a:solidFill>
                <a:latin typeface="Arial" panose="020B0604020202020204" pitchFamily="34" charset="0"/>
              </a:rPr>
              <a:t>/(2√2) · cos </a:t>
            </a:r>
            <a:r>
              <a:rPr lang="el-GR" sz="1560">
                <a:solidFill>
                  <a:srgbClr val="1E1E1E"/>
                </a:solidFill>
                <a:latin typeface="Arial" panose="020B0604020202020204" pitchFamily="34" charset="0"/>
              </a:rPr>
              <a:t>φ)</a:t>
            </a:r>
          </a:p>
          <a:p>
            <a:pPr marL="685800" lvl="1" indent="-342900">
              <a:spcAft>
                <a:spcPts val="400"/>
              </a:spcAft>
              <a:buFont typeface="+mj-lt"/>
              <a:buChar char="–"/>
            </a:pPr>
            <a:r>
              <a:rPr lang="sv-SE" sz="1460">
                <a:solidFill>
                  <a:srgbClr val="1E1E1E"/>
                </a:solidFill>
                <a:latin typeface="Arial" panose="020B0604020202020204" pitchFamily="34" charset="0"/>
              </a:rPr>
              <a:t>N·V</a:t>
            </a:r>
            <a:r>
              <a:rPr lang="sv-SE" sz="1460" baseline="-25000">
                <a:solidFill>
                  <a:srgbClr val="1E1E1E"/>
                </a:solidFill>
                <a:latin typeface="Arial" panose="020B0604020202020204" pitchFamily="34" charset="0"/>
              </a:rPr>
              <a:t>m</a:t>
            </a:r>
            <a:r>
              <a:rPr lang="sv-SE" sz="1460">
                <a:solidFill>
                  <a:srgbClr val="1E1E1E"/>
                </a:solidFill>
                <a:latin typeface="Arial" panose="020B0604020202020204" pitchFamily="34" charset="0"/>
              </a:rPr>
              <a:t> = V</a:t>
            </a:r>
            <a:r>
              <a:rPr lang="sv-SE" sz="1460" baseline="-25000">
                <a:solidFill>
                  <a:srgbClr val="1E1E1E"/>
                </a:solidFill>
                <a:latin typeface="Arial" panose="020B0604020202020204" pitchFamily="34" charset="0"/>
              </a:rPr>
              <a:t>bus</a:t>
            </a:r>
            <a:r>
              <a:rPr lang="sv-SE" sz="1460">
                <a:solidFill>
                  <a:srgbClr val="1E1E1E"/>
                </a:solidFill>
                <a:latin typeface="Arial" panose="020B0604020202020204" pitchFamily="34" charset="0"/>
              </a:rPr>
              <a:t>: the phase current does </a:t>
            </a:r>
            <a:r>
              <a:rPr lang="sv-SE" sz="1460" b="1">
                <a:solidFill>
                  <a:srgbClr val="C84632"/>
                </a:solidFill>
                <a:latin typeface="Arial" panose="020B0604020202020204" pitchFamily="34" charset="0"/>
              </a:rPr>
              <a:t>not</a:t>
            </a:r>
            <a:r>
              <a:rPr lang="sv-SE" sz="1460">
                <a:solidFill>
                  <a:srgbClr val="1E1E1E"/>
                </a:solidFill>
                <a:latin typeface="Arial" panose="020B0604020202020204" pitchFamily="34" charset="0"/>
              </a:rPr>
              <a:t> depend on N</a:t>
            </a:r>
          </a:p>
          <a:p>
            <a:pPr marL="685800" lvl="1" indent="-342900">
              <a:spcAft>
                <a:spcPts val="400"/>
              </a:spcAft>
              <a:buFont typeface="+mj-lt"/>
              <a:buChar char="–"/>
            </a:pPr>
            <a:r>
              <a:rPr lang="sv-SE" sz="1460">
                <a:solidFill>
                  <a:srgbClr val="1E1E1E"/>
                </a:solidFill>
                <a:latin typeface="Arial" panose="020B0604020202020204" pitchFamily="34" charset="0"/>
              </a:rPr>
              <a:t>V</a:t>
            </a:r>
            <a:r>
              <a:rPr lang="sv-SE" sz="1460" baseline="-25000">
                <a:solidFill>
                  <a:srgbClr val="1E1E1E"/>
                </a:solidFill>
                <a:latin typeface="Arial" panose="020B0604020202020204" pitchFamily="34" charset="0"/>
              </a:rPr>
              <a:t>ph</a:t>
            </a:r>
            <a:r>
              <a:rPr lang="sv-SE" sz="1460">
                <a:solidFill>
                  <a:srgbClr val="1E1E1E"/>
                </a:solidFill>
                <a:latin typeface="Arial" panose="020B0604020202020204" pitchFamily="34" charset="0"/>
              </a:rPr>
              <a:t> = 1.15 · 75 V / 2√2 = 30.5 V; 6.25 kW per leg</a:t>
            </a:r>
          </a:p>
          <a:p>
            <a:pPr marL="685800" lvl="1" indent="-342900">
              <a:spcAft>
                <a:spcPts val="400"/>
              </a:spcAft>
              <a:buFont typeface="+mj-lt"/>
              <a:buChar char="–"/>
            </a:pPr>
            <a:r>
              <a:rPr lang="sv-SE" sz="1460" b="1">
                <a:solidFill>
                  <a:srgbClr val="1E1E1E"/>
                </a:solidFill>
                <a:latin typeface="Arial" panose="020B0604020202020204" pitchFamily="34" charset="0"/>
              </a:rPr>
              <a:t>228 Arms per leg</a:t>
            </a:r>
            <a:r>
              <a:rPr lang="sv-SE" sz="1460">
                <a:solidFill>
                  <a:srgbClr val="1E1E1E"/>
                </a:solidFill>
                <a:latin typeface="Arial" panose="020B0604020202020204" pitchFamily="34" charset="0"/>
              </a:rPr>
              <a:t>, 322 A peak (cos </a:t>
            </a:r>
            <a:r>
              <a:rPr lang="el-GR" sz="1460">
                <a:solidFill>
                  <a:srgbClr val="1E1E1E"/>
                </a:solidFill>
                <a:latin typeface="Arial" panose="020B0604020202020204" pitchFamily="34" charset="0"/>
              </a:rPr>
              <a:t>φ = 0.9)</a:t>
            </a:r>
          </a:p>
          <a:p>
            <a:pPr marL="685800" lvl="1" indent="-342900">
              <a:spcAft>
                <a:spcPts val="400"/>
              </a:spcAft>
              <a:buFont typeface="+mj-lt"/>
              <a:buChar char="–"/>
            </a:pPr>
            <a:r>
              <a:rPr lang="sv-SE" sz="1460">
                <a:solidFill>
                  <a:srgbClr val="1E1E1E"/>
                </a:solidFill>
                <a:latin typeface="Arial" panose="020B0604020202020204" pitchFamily="34" charset="0"/>
              </a:rPr>
              <a:t>DC current per leg 83 A; series DC chain 250 A</a:t>
            </a:r>
          </a:p>
          <a:p>
            <a:pPr marL="406400" indent="-177800">
              <a:spcAft>
                <a:spcPts val="400"/>
              </a:spcAft>
              <a:buFont typeface="+mj-lt"/>
              <a:buChar char="•"/>
            </a:pPr>
            <a:r>
              <a:rPr lang="sv-SE" sz="1560">
                <a:solidFill>
                  <a:srgbClr val="1E1E1E"/>
                </a:solidFill>
                <a:latin typeface="Arial" panose="020B0604020202020204" pitchFamily="34" charset="0"/>
              </a:rPr>
              <a:t>Losses in this deck are for cos </a:t>
            </a:r>
            <a:r>
              <a:rPr lang="el-GR" sz="1560">
                <a:solidFill>
                  <a:srgbClr val="1E1E1E"/>
                </a:solidFill>
                <a:latin typeface="Arial" panose="020B0604020202020204" pitchFamily="34" charset="0"/>
              </a:rPr>
              <a:t>φ = 0.9; </a:t>
            </a:r>
            <a:r>
              <a:rPr lang="sv-SE" sz="1560">
                <a:solidFill>
                  <a:srgbClr val="1E1E1E"/>
                </a:solidFill>
                <a:latin typeface="Arial" panose="020B0604020202020204" pitchFamily="34" charset="0"/>
              </a:rPr>
              <a:t>the PMSM operating point is confirmed with the machine design</a:t>
            </a:r>
            <a:endParaRPr lang="sv-SE" sz="1560" dirty="0" err="1">
              <a:solidFill>
                <a:srgbClr val="1E1E1E"/>
              </a:solidFill>
              <a:latin typeface="Arial" panose="020B0604020202020204" pitchFamily="34" charset="0"/>
            </a:endParaRPr>
          </a:p>
        </p:txBody>
      </p:sp>
      <p:graphicFrame>
        <p:nvGraphicFramePr>
          <p:cNvPr id="7" name="Table 6">
            <a:extLst>
              <a:ext uri="{FF2B5EF4-FFF2-40B4-BE49-F238E27FC236}">
                <a16:creationId xmlns:a16="http://schemas.microsoft.com/office/drawing/2014/main" id="{09791EEF-EAFB-8677-3F51-48DA6DC87D3D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661220897"/>
              </p:ext>
            </p:extLst>
          </p:nvPr>
        </p:nvGraphicFramePr>
        <p:xfrm>
          <a:off x="5667375" y="952500"/>
          <a:ext cx="3238500" cy="104775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619250">
                  <a:extLst>
                    <a:ext uri="{9D8B030D-6E8A-4147-A177-3AD203B41FA5}">
                      <a16:colId xmlns:a16="http://schemas.microsoft.com/office/drawing/2014/main" val="4070609612"/>
                    </a:ext>
                  </a:extLst>
                </a:gridCol>
                <a:gridCol w="1619250">
                  <a:extLst>
                    <a:ext uri="{9D8B030D-6E8A-4147-A177-3AD203B41FA5}">
                      <a16:colId xmlns:a16="http://schemas.microsoft.com/office/drawing/2014/main" val="728527043"/>
                    </a:ext>
                  </a:extLst>
                </a:gridCol>
              </a:tblGrid>
              <a:tr h="165100">
                <a:tc>
                  <a:txBody>
                    <a:bodyPr/>
                    <a:lstStyle/>
                    <a:p>
                      <a:pPr algn="l"/>
                      <a:r>
                        <a:rPr lang="sv-SE" sz="1560" b="1">
                          <a:solidFill>
                            <a:srgbClr val="FFFFFF"/>
                          </a:solidFill>
                          <a:latin typeface="Arial" panose="020B0604020202020204" pitchFamily="34" charset="0"/>
                        </a:rPr>
                        <a:t>cos </a:t>
                      </a:r>
                      <a:r>
                        <a:rPr lang="el-GR" sz="1560" b="1">
                          <a:solidFill>
                            <a:srgbClr val="FFFFFF"/>
                          </a:solidFill>
                          <a:latin typeface="Arial" panose="020B0604020202020204" pitchFamily="34" charset="0"/>
                        </a:rPr>
                        <a:t>φ</a:t>
                      </a:r>
                      <a:endParaRPr lang="sv-SE" sz="1560" b="1">
                        <a:solidFill>
                          <a:srgbClr val="FFFFFF"/>
                        </a:solidFill>
                        <a:latin typeface="Arial" panose="020B0604020202020204" pitchFamily="34" charset="0"/>
                      </a:endParaRPr>
                    </a:p>
                  </a:txBody>
                  <a:tcPr marL="50800" marR="50800" marT="25400" marB="25400">
                    <a:solidFill>
                      <a:srgbClr val="1954A6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sv-SE" sz="1560" b="1">
                          <a:solidFill>
                            <a:srgbClr val="FFFFFF"/>
                          </a:solidFill>
                          <a:latin typeface="Arial" panose="020B0604020202020204" pitchFamily="34" charset="0"/>
                        </a:rPr>
                        <a:t>I</a:t>
                      </a:r>
                      <a:r>
                        <a:rPr lang="sv-SE" sz="1560" b="1" baseline="-25000">
                          <a:solidFill>
                            <a:srgbClr val="FFFFFF"/>
                          </a:solidFill>
                          <a:latin typeface="Arial" panose="020B0604020202020204" pitchFamily="34" charset="0"/>
                        </a:rPr>
                        <a:t>rms</a:t>
                      </a:r>
                      <a:r>
                        <a:rPr lang="sv-SE" sz="1560" b="1">
                          <a:solidFill>
                            <a:srgbClr val="FFFFFF"/>
                          </a:solidFill>
                          <a:latin typeface="Arial" panose="020B0604020202020204" pitchFamily="34" charset="0"/>
                        </a:rPr>
                        <a:t> per leg</a:t>
                      </a:r>
                    </a:p>
                  </a:txBody>
                  <a:tcPr marL="50800" marR="50800" marT="25400" marB="25400">
                    <a:solidFill>
                      <a:srgbClr val="1954A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166622478"/>
                  </a:ext>
                </a:extLst>
              </a:tr>
              <a:tr h="165100">
                <a:tc>
                  <a:txBody>
                    <a:bodyPr/>
                    <a:lstStyle/>
                    <a:p>
                      <a:pPr algn="l"/>
                      <a:r>
                        <a:rPr lang="sv-SE" sz="156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1.0</a:t>
                      </a:r>
                    </a:p>
                  </a:txBody>
                  <a:tcPr marL="50800" marR="50800" marT="25400" marB="25400"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sv-SE" sz="156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205 A</a:t>
                      </a:r>
                    </a:p>
                  </a:txBody>
                  <a:tcPr marL="50800" marR="50800" marT="25400" marB="25400">
                    <a:solidFill>
                      <a:srgbClr val="E8EF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736848203"/>
                  </a:ext>
                </a:extLst>
              </a:tr>
              <a:tr h="165100">
                <a:tc>
                  <a:txBody>
                    <a:bodyPr/>
                    <a:lstStyle/>
                    <a:p>
                      <a:pPr algn="l"/>
                      <a:r>
                        <a:rPr lang="sv-SE" sz="156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0.95</a:t>
                      </a:r>
                    </a:p>
                  </a:txBody>
                  <a:tcPr marL="50800" marR="508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sv-SE" sz="156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216 A</a:t>
                      </a:r>
                    </a:p>
                  </a:txBody>
                  <a:tcPr marL="50800" marR="50800" marT="25400" marB="25400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24581957"/>
                  </a:ext>
                </a:extLst>
              </a:tr>
              <a:tr h="165100">
                <a:tc>
                  <a:txBody>
                    <a:bodyPr/>
                    <a:lstStyle/>
                    <a:p>
                      <a:pPr algn="l"/>
                      <a:r>
                        <a:rPr lang="sv-SE" sz="156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0.9</a:t>
                      </a:r>
                    </a:p>
                  </a:txBody>
                  <a:tcPr marL="50800" marR="50800" marT="25400" marB="25400"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sv-SE" sz="156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228 A</a:t>
                      </a:r>
                    </a:p>
                  </a:txBody>
                  <a:tcPr marL="50800" marR="50800" marT="25400" marB="25400">
                    <a:solidFill>
                      <a:srgbClr val="E8EF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749706154"/>
                  </a:ext>
                </a:extLst>
              </a:tr>
              <a:tr h="165100">
                <a:tc>
                  <a:txBody>
                    <a:bodyPr/>
                    <a:lstStyle/>
                    <a:p>
                      <a:pPr algn="l"/>
                      <a:r>
                        <a:rPr lang="sv-SE" sz="156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0.85</a:t>
                      </a:r>
                    </a:p>
                  </a:txBody>
                  <a:tcPr marL="50800" marR="508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sv-SE" sz="156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241 A</a:t>
                      </a:r>
                    </a:p>
                  </a:txBody>
                  <a:tcPr marL="50800" marR="50800" marT="25400" marB="25400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986295547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264000733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A07ECDC-72B4-A375-5353-DF50637F7F8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z="2100"/>
              <a:t>Voltage class: why 100 V GaN</a:t>
            </a:r>
            <a:endParaRPr lang="sv-SE" sz="210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7B2D0EAD-DA70-B380-228D-C0866A9F80C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sv-SE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ABC7E08B-0907-6DF5-DC1E-8DE613327A2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422A9A3-8636-4A04-BD48-3153280FB086}" type="slidenum">
              <a:rPr lang="sv-SE" smtClean="0"/>
              <a:pPr/>
              <a:t>5</a:t>
            </a:fld>
            <a:endParaRPr lang="sv-SE"/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701F4527-8987-FA42-0681-AB1218BF48B8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29910" y="952500"/>
            <a:ext cx="7284181" cy="2571750"/>
          </a:xfrm>
          <a:prstGeom prst="rect">
            <a:avLst/>
          </a:prstGeom>
        </p:spPr>
      </p:pic>
      <p:sp>
        <p:nvSpPr>
          <p:cNvPr id="8" name="TextBox 7">
            <a:extLst>
              <a:ext uri="{FF2B5EF4-FFF2-40B4-BE49-F238E27FC236}">
                <a16:creationId xmlns:a16="http://schemas.microsoft.com/office/drawing/2014/main" id="{FCC3B2AE-85F5-DC38-456C-EBC2C52E66E2}"/>
              </a:ext>
            </a:extLst>
          </p:cNvPr>
          <p:cNvSpPr txBox="1"/>
          <p:nvPr/>
        </p:nvSpPr>
        <p:spPr>
          <a:xfrm>
            <a:off x="238125" y="3543300"/>
            <a:ext cx="8667750" cy="307777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pPr marL="406400" indent="-177800">
              <a:spcAft>
                <a:spcPts val="400"/>
              </a:spcAft>
              <a:buFont typeface="+mj-lt"/>
              <a:buChar char="•"/>
            </a:pPr>
            <a:r>
              <a:rPr lang="en-US" sz="1190">
                <a:solidFill>
                  <a:srgbClr val="1E1E1E"/>
                </a:solidFill>
                <a:latin typeface="Arial" panose="020B0604020202020204" pitchFamily="34" charset="0"/>
              </a:rPr>
              <a:t>(a) At fixed bus voltage and phase current the minimum semiconductor loss scales with √(R</a:t>
            </a:r>
            <a:r>
              <a:rPr lang="en-US" sz="1190" baseline="-25000">
                <a:solidFill>
                  <a:srgbClr val="1E1E1E"/>
                </a:solidFill>
                <a:latin typeface="Arial" panose="020B0604020202020204" pitchFamily="34" charset="0"/>
              </a:rPr>
              <a:t>DS(on)</a:t>
            </a:r>
            <a:r>
              <a:rPr lang="en-US" sz="1190">
                <a:solidFill>
                  <a:srgbClr val="1E1E1E"/>
                </a:solidFill>
                <a:latin typeface="Arial" panose="020B0604020202020204" pitchFamily="34" charset="0"/>
              </a:rPr>
              <a:t>·C</a:t>
            </a:r>
            <a:r>
              <a:rPr lang="en-US" sz="1190" baseline="-25000">
                <a:solidFill>
                  <a:srgbClr val="1E1E1E"/>
                </a:solidFill>
                <a:latin typeface="Arial" panose="020B0604020202020204" pitchFamily="34" charset="0"/>
              </a:rPr>
              <a:t>oss,tr</a:t>
            </a:r>
            <a:r>
              <a:rPr lang="en-US" sz="1190">
                <a:solidFill>
                  <a:srgbClr val="1E1E1E"/>
                </a:solidFill>
                <a:latin typeface="Arial" panose="020B0604020202020204" pitchFamily="34" charset="0"/>
              </a:rPr>
              <a:t>): the 100 V GaN parts have the lowest product</a:t>
            </a:r>
          </a:p>
          <a:p>
            <a:pPr marL="406400" indent="-177800">
              <a:spcAft>
                <a:spcPts val="400"/>
              </a:spcAft>
              <a:buFont typeface="+mj-lt"/>
              <a:buChar char="•"/>
            </a:pPr>
            <a:r>
              <a:rPr lang="en-US" sz="1190">
                <a:solidFill>
                  <a:srgbClr val="1E1E1E"/>
                </a:solidFill>
                <a:latin typeface="Arial" panose="020B0604020202020204" pitchFamily="34" charset="0"/>
              </a:rPr>
              <a:t>(b) Per volt of blocking capability: 100 V GaN has the lowest R</a:t>
            </a:r>
            <a:r>
              <a:rPr lang="en-US" sz="1190" baseline="-25000">
                <a:solidFill>
                  <a:srgbClr val="1E1E1E"/>
                </a:solidFill>
                <a:latin typeface="Arial" panose="020B0604020202020204" pitchFamily="34" charset="0"/>
              </a:rPr>
              <a:t>DS(on)</a:t>
            </a:r>
            <a:r>
              <a:rPr lang="en-US" sz="1190">
                <a:solidFill>
                  <a:srgbClr val="1E1E1E"/>
                </a:solidFill>
                <a:latin typeface="Arial" panose="020B0604020202020204" pitchFamily="34" charset="0"/>
              </a:rPr>
              <a:t>/V</a:t>
            </a:r>
            <a:r>
              <a:rPr lang="en-US" sz="1190" baseline="-25000">
                <a:solidFill>
                  <a:srgbClr val="1E1E1E"/>
                </a:solidFill>
                <a:latin typeface="Arial" panose="020B0604020202020204" pitchFamily="34" charset="0"/>
              </a:rPr>
              <a:t>DS,max</a:t>
            </a:r>
            <a:r>
              <a:rPr lang="en-US" sz="1190">
                <a:solidFill>
                  <a:srgbClr val="1E1E1E"/>
                </a:solidFill>
                <a:latin typeface="Arial" panose="020B0604020202020204" pitchFamily="34" charset="0"/>
              </a:rPr>
              <a:t> (EPC2361 7.5 µΩ/V, 3–30× below 200–650 V) at a higher C</a:t>
            </a:r>
            <a:r>
              <a:rPr lang="en-US" sz="1190" baseline="-25000">
                <a:solidFill>
                  <a:srgbClr val="1E1E1E"/>
                </a:solidFill>
                <a:latin typeface="Arial" panose="020B0604020202020204" pitchFamily="34" charset="0"/>
              </a:rPr>
              <a:t>oss</a:t>
            </a:r>
            <a:r>
              <a:rPr lang="en-US" sz="1190">
                <a:solidFill>
                  <a:srgbClr val="1E1E1E"/>
                </a:solidFill>
                <a:latin typeface="Arial" panose="020B0604020202020204" pitchFamily="34" charset="0"/>
              </a:rPr>
              <a:t>/V; conduction dominates here (12.4 W vs 4–5 W switching per leg, step 5)</a:t>
            </a:r>
          </a:p>
          <a:p>
            <a:pPr marL="406400" indent="-177800">
              <a:spcAft>
                <a:spcPts val="400"/>
              </a:spcAft>
              <a:buFont typeface="+mj-lt"/>
              <a:buChar char="•"/>
            </a:pPr>
            <a:r>
              <a:rPr lang="en-US" sz="1190">
                <a:solidFill>
                  <a:srgbClr val="1E1E1E"/>
                </a:solidFill>
                <a:latin typeface="Arial" panose="020B0604020202020204" pitchFamily="34" charset="0"/>
              </a:rPr>
              <a:t>(c) Best device per class: 100 V needs more submodules but the fewest devices per switch and the smallest voltage step → </a:t>
            </a:r>
            <a:r>
              <a:rPr lang="en-US" sz="1190" b="1">
                <a:solidFill>
                  <a:srgbClr val="1E1E1E"/>
                </a:solidFill>
                <a:latin typeface="Arial" panose="020B0604020202020204" pitchFamily="34" charset="0"/>
              </a:rPr>
              <a:t>EPC2361</a:t>
            </a:r>
            <a:r>
              <a:rPr lang="en-US" sz="1190">
                <a:solidFill>
                  <a:srgbClr val="1E1E1E"/>
                </a:solidFill>
                <a:latin typeface="Arial" panose="020B0604020202020204" pitchFamily="34" charset="0"/>
              </a:rPr>
              <a:t>, 100 V, 0.75 mΩ typ, 3 × 5 mm, top-side cooling</a:t>
            </a:r>
            <a:endParaRPr lang="sv-SE" sz="1190" dirty="0" err="1">
              <a:solidFill>
                <a:srgbClr val="1E1E1E"/>
              </a:solidFill>
              <a:latin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267199166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72BF857-62B6-A718-AED7-26BA30E8FA9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z="2100"/>
              <a:t>EPC2361: key data and the Kelvin source</a:t>
            </a:r>
            <a:endParaRPr lang="sv-SE" sz="210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E76D0700-EF2C-251A-4C75-CCD22D90893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sv-SE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BAD3A92F-D262-009B-82CB-11707AEAD85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422A9A3-8636-4A04-BD48-3153280FB086}" type="slidenum">
              <a:rPr lang="sv-SE" smtClean="0"/>
              <a:pPr/>
              <a:t>6</a:t>
            </a:fld>
            <a:endParaRPr lang="sv-SE"/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3C4C3AC0-14AE-766F-8E55-A9CCB953ECC7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97070" y="952500"/>
            <a:ext cx="6749859" cy="2428875"/>
          </a:xfrm>
          <a:prstGeom prst="rect">
            <a:avLst/>
          </a:prstGeom>
        </p:spPr>
      </p:pic>
      <p:graphicFrame>
        <p:nvGraphicFramePr>
          <p:cNvPr id="8" name="Table 7">
            <a:extLst>
              <a:ext uri="{FF2B5EF4-FFF2-40B4-BE49-F238E27FC236}">
                <a16:creationId xmlns:a16="http://schemas.microsoft.com/office/drawing/2014/main" id="{0A5E84E2-261E-9F9F-52A8-5B1EDF83EF4A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578161759"/>
              </p:ext>
            </p:extLst>
          </p:nvPr>
        </p:nvGraphicFramePr>
        <p:xfrm>
          <a:off x="238125" y="3448050"/>
          <a:ext cx="4476750" cy="12573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95500">
                  <a:extLst>
                    <a:ext uri="{9D8B030D-6E8A-4147-A177-3AD203B41FA5}">
                      <a16:colId xmlns:a16="http://schemas.microsoft.com/office/drawing/2014/main" val="2019911106"/>
                    </a:ext>
                  </a:extLst>
                </a:gridCol>
                <a:gridCol w="2381250">
                  <a:extLst>
                    <a:ext uri="{9D8B030D-6E8A-4147-A177-3AD203B41FA5}">
                      <a16:colId xmlns:a16="http://schemas.microsoft.com/office/drawing/2014/main" val="3503929011"/>
                    </a:ext>
                  </a:extLst>
                </a:gridCol>
              </a:tblGrid>
              <a:tr h="165100">
                <a:tc>
                  <a:txBody>
                    <a:bodyPr/>
                    <a:lstStyle/>
                    <a:p>
                      <a:pPr algn="l"/>
                      <a:r>
                        <a:rPr lang="sv-SE" sz="1100" b="1">
                          <a:solidFill>
                            <a:srgbClr val="FFFFFF"/>
                          </a:solidFill>
                          <a:latin typeface="Arial" panose="020B0604020202020204" pitchFamily="34" charset="0"/>
                        </a:rPr>
                        <a:t>Parameter</a:t>
                      </a:r>
                    </a:p>
                  </a:txBody>
                  <a:tcPr marL="50800" marR="50800" marT="25400" marB="25400">
                    <a:solidFill>
                      <a:srgbClr val="1954A6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sv-SE" sz="1100" b="1">
                          <a:solidFill>
                            <a:srgbClr val="FFFFFF"/>
                          </a:solidFill>
                          <a:latin typeface="Arial" panose="020B0604020202020204" pitchFamily="34" charset="0"/>
                        </a:rPr>
                        <a:t>Value</a:t>
                      </a:r>
                    </a:p>
                  </a:txBody>
                  <a:tcPr marL="50800" marR="50800" marT="25400" marB="25400">
                    <a:solidFill>
                      <a:srgbClr val="1954A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733031878"/>
                  </a:ext>
                </a:extLst>
              </a:tr>
              <a:tr h="165100">
                <a:tc>
                  <a:txBody>
                    <a:bodyPr/>
                    <a:lstStyle/>
                    <a:p>
                      <a:pPr algn="l"/>
                      <a:r>
                        <a:rPr lang="sv-SE" sz="110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V</a:t>
                      </a:r>
                      <a:r>
                        <a:rPr lang="sv-SE" sz="1100" baseline="-2500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DS</a:t>
                      </a:r>
                      <a:r>
                        <a:rPr lang="sv-SE" sz="110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 / transient</a:t>
                      </a:r>
                    </a:p>
                  </a:txBody>
                  <a:tcPr marL="50800" marR="50800" marT="25400" marB="25400"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sv-SE" sz="110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100 / 120 V</a:t>
                      </a:r>
                    </a:p>
                  </a:txBody>
                  <a:tcPr marL="50800" marR="50800" marT="25400" marB="25400">
                    <a:solidFill>
                      <a:srgbClr val="E8EF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761271590"/>
                  </a:ext>
                </a:extLst>
              </a:tr>
              <a:tr h="165100">
                <a:tc>
                  <a:txBody>
                    <a:bodyPr/>
                    <a:lstStyle/>
                    <a:p>
                      <a:pPr algn="l"/>
                      <a:r>
                        <a:rPr lang="sv-SE" sz="110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R</a:t>
                      </a:r>
                      <a:r>
                        <a:rPr lang="sv-SE" sz="1100" baseline="-2500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DS(on)</a:t>
                      </a:r>
                    </a:p>
                  </a:txBody>
                  <a:tcPr marL="50800" marR="508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sv-SE" sz="110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0.75 m</a:t>
                      </a:r>
                      <a:r>
                        <a:rPr lang="el-GR" sz="110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Ω </a:t>
                      </a:r>
                      <a:r>
                        <a:rPr lang="sv-SE" sz="110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typ (1.0 max)</a:t>
                      </a:r>
                    </a:p>
                  </a:txBody>
                  <a:tcPr marL="50800" marR="50800" marT="25400" marB="25400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511634058"/>
                  </a:ext>
                </a:extLst>
              </a:tr>
              <a:tr h="165100">
                <a:tc>
                  <a:txBody>
                    <a:bodyPr/>
                    <a:lstStyle/>
                    <a:p>
                      <a:pPr algn="l"/>
                      <a:r>
                        <a:rPr lang="sv-SE" sz="110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V</a:t>
                      </a:r>
                      <a:r>
                        <a:rPr lang="sv-SE" sz="1100" baseline="-2500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GS</a:t>
                      </a:r>
                      <a:r>
                        <a:rPr lang="sv-SE" sz="110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 range / V</a:t>
                      </a:r>
                      <a:r>
                        <a:rPr lang="sv-SE" sz="1100" baseline="-2500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GS(th)</a:t>
                      </a:r>
                    </a:p>
                  </a:txBody>
                  <a:tcPr marL="50800" marR="50800" marT="25400" marB="25400"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sv-SE" sz="110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−4 … +6 V / 0.8 – 2.5 V</a:t>
                      </a:r>
                    </a:p>
                  </a:txBody>
                  <a:tcPr marL="50800" marR="50800" marT="25400" marB="25400">
                    <a:solidFill>
                      <a:srgbClr val="E8EF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217468556"/>
                  </a:ext>
                </a:extLst>
              </a:tr>
              <a:tr h="165100">
                <a:tc>
                  <a:txBody>
                    <a:bodyPr/>
                    <a:lstStyle/>
                    <a:p>
                      <a:pPr algn="l"/>
                      <a:r>
                        <a:rPr lang="sv-SE" sz="110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C</a:t>
                      </a:r>
                      <a:r>
                        <a:rPr lang="sv-SE" sz="1100" baseline="-2500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iss</a:t>
                      </a:r>
                      <a:r>
                        <a:rPr lang="sv-SE" sz="110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 / C</a:t>
                      </a:r>
                      <a:r>
                        <a:rPr lang="sv-SE" sz="1100" baseline="-2500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oss</a:t>
                      </a:r>
                      <a:r>
                        <a:rPr lang="sv-SE" sz="110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 / C</a:t>
                      </a:r>
                      <a:r>
                        <a:rPr lang="sv-SE" sz="1100" baseline="-2500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rss</a:t>
                      </a:r>
                    </a:p>
                  </a:txBody>
                  <a:tcPr marL="50800" marR="508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sv-SE" sz="110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3599 / 1019 / 13 pF</a:t>
                      </a:r>
                    </a:p>
                  </a:txBody>
                  <a:tcPr marL="50800" marR="50800" marT="25400" marB="25400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126641887"/>
                  </a:ext>
                </a:extLst>
              </a:tr>
              <a:tr h="165100">
                <a:tc>
                  <a:txBody>
                    <a:bodyPr/>
                    <a:lstStyle/>
                    <a:p>
                      <a:pPr algn="l"/>
                      <a:r>
                        <a:rPr lang="sv-SE" sz="110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Q</a:t>
                      </a:r>
                      <a:r>
                        <a:rPr lang="sv-SE" sz="1100" baseline="-2500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G</a:t>
                      </a:r>
                      <a:r>
                        <a:rPr lang="sv-SE" sz="110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 / Q</a:t>
                      </a:r>
                      <a:r>
                        <a:rPr lang="sv-SE" sz="1100" baseline="-2500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GD</a:t>
                      </a:r>
                      <a:r>
                        <a:rPr lang="sv-SE" sz="110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 / Q</a:t>
                      </a:r>
                      <a:r>
                        <a:rPr lang="sv-SE" sz="1100" baseline="-2500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OSS</a:t>
                      </a:r>
                    </a:p>
                  </a:txBody>
                  <a:tcPr marL="50800" marR="50800" marT="25400" marB="25400"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sv-SE" sz="110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28 / 3.8 / 90 nC</a:t>
                      </a:r>
                    </a:p>
                  </a:txBody>
                  <a:tcPr marL="50800" marR="50800" marT="25400" marB="25400">
                    <a:solidFill>
                      <a:srgbClr val="E8EF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018100415"/>
                  </a:ext>
                </a:extLst>
              </a:tr>
            </a:tbl>
          </a:graphicData>
        </a:graphic>
      </p:graphicFrame>
      <p:sp>
        <p:nvSpPr>
          <p:cNvPr id="9" name="TextBox 8">
            <a:extLst>
              <a:ext uri="{FF2B5EF4-FFF2-40B4-BE49-F238E27FC236}">
                <a16:creationId xmlns:a16="http://schemas.microsoft.com/office/drawing/2014/main" id="{11913628-FCCD-7615-C4D8-E4C388D8C170}"/>
              </a:ext>
            </a:extLst>
          </p:cNvPr>
          <p:cNvSpPr txBox="1"/>
          <p:nvPr/>
        </p:nvSpPr>
        <p:spPr>
          <a:xfrm>
            <a:off x="4857750" y="3448050"/>
            <a:ext cx="4048125" cy="307777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pPr marL="406400" indent="-177800">
              <a:spcAft>
                <a:spcPts val="400"/>
              </a:spcAft>
              <a:buFont typeface="+mj-lt"/>
              <a:buChar char="•"/>
            </a:pPr>
            <a:r>
              <a:rPr lang="en-US" sz="1190">
                <a:solidFill>
                  <a:srgbClr val="1E1E1E"/>
                </a:solidFill>
                <a:latin typeface="Arial" panose="020B0604020202020204" pitchFamily="34" charset="0"/>
              </a:rPr>
              <a:t>Kelvin pad 2 next to the gate: the gate loop returns at the die, the source stripes and vias (L</a:t>
            </a:r>
            <a:r>
              <a:rPr lang="en-US" sz="1190" baseline="-25000">
                <a:solidFill>
                  <a:srgbClr val="1E1E1E"/>
                </a:solidFill>
                <a:latin typeface="Arial" panose="020B0604020202020204" pitchFamily="34" charset="0"/>
              </a:rPr>
              <a:t>S</a:t>
            </a:r>
            <a:r>
              <a:rPr lang="en-US" sz="1190">
                <a:solidFill>
                  <a:srgbClr val="1E1E1E"/>
                </a:solidFill>
                <a:latin typeface="Arial" panose="020B0604020202020204" pitchFamily="34" charset="0"/>
              </a:rPr>
              <a:t>) stay in the power loop only ⇒ no L</a:t>
            </a:r>
            <a:r>
              <a:rPr lang="en-US" sz="1190" baseline="-25000">
                <a:solidFill>
                  <a:srgbClr val="1E1E1E"/>
                </a:solidFill>
                <a:latin typeface="Arial" panose="020B0604020202020204" pitchFamily="34" charset="0"/>
              </a:rPr>
              <a:t>S</a:t>
            </a:r>
            <a:r>
              <a:rPr lang="en-US" sz="1190">
                <a:solidFill>
                  <a:srgbClr val="1E1E1E"/>
                </a:solidFill>
                <a:latin typeface="Arial" panose="020B0604020202020204" pitchFamily="34" charset="0"/>
              </a:rPr>
              <a:t>·di/dt feedback into v</a:t>
            </a:r>
            <a:r>
              <a:rPr lang="en-US" sz="1190" baseline="-25000">
                <a:solidFill>
                  <a:srgbClr val="1E1E1E"/>
                </a:solidFill>
                <a:latin typeface="Arial" panose="020B0604020202020204" pitchFamily="34" charset="0"/>
              </a:rPr>
              <a:t>GS</a:t>
            </a:r>
          </a:p>
          <a:p>
            <a:pPr marL="406400" indent="-177800">
              <a:spcAft>
                <a:spcPts val="400"/>
              </a:spcAft>
              <a:buFont typeface="+mj-lt"/>
              <a:buChar char="•"/>
            </a:pPr>
            <a:r>
              <a:rPr lang="en-US" sz="1190">
                <a:solidFill>
                  <a:srgbClr val="1E1E1E"/>
                </a:solidFill>
                <a:latin typeface="Arial" panose="020B0604020202020204" pitchFamily="34" charset="0"/>
              </a:rPr>
              <a:t>Low threshold and −4 V limit: gate bump and negative bias need care (step 7)</a:t>
            </a:r>
          </a:p>
          <a:p>
            <a:pPr marL="406400" indent="-177800">
              <a:spcAft>
                <a:spcPts val="400"/>
              </a:spcAft>
              <a:buFont typeface="+mj-lt"/>
              <a:buChar char="•"/>
            </a:pPr>
            <a:r>
              <a:rPr lang="en-US" sz="1190">
                <a:solidFill>
                  <a:srgbClr val="1E1E1E"/>
                </a:solidFill>
                <a:latin typeface="Arial" panose="020B0604020202020204" pitchFamily="34" charset="0"/>
              </a:rPr>
              <a:t>Top of the package at </a:t>
            </a:r>
            <a:r>
              <a:rPr lang="en-US" sz="1190" b="1">
                <a:solidFill>
                  <a:srgbClr val="C84632"/>
                </a:solidFill>
                <a:latin typeface="Arial" panose="020B0604020202020204" pitchFamily="34" charset="0"/>
              </a:rPr>
              <a:t>source potential</a:t>
            </a:r>
            <a:r>
              <a:rPr lang="en-US" sz="1190">
                <a:solidFill>
                  <a:srgbClr val="1E1E1E"/>
                </a:solidFill>
                <a:latin typeface="Arial" panose="020B0604020202020204" pitchFamily="34" charset="0"/>
              </a:rPr>
              <a:t>: the thermal interface must insulate</a:t>
            </a:r>
            <a:endParaRPr lang="sv-SE" sz="1190" dirty="0" err="1">
              <a:solidFill>
                <a:srgbClr val="1E1E1E"/>
              </a:solidFill>
              <a:latin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261126572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72298EC-57F9-06EB-F645-0D24A0F2ECF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sv-SE" sz="2100"/>
              <a:t>Submodule voltage from L·di/dt</a:t>
            </a: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5D9749F4-8BDF-DB05-119D-00CC7EAE131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sv-SE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2E5484B5-9E4D-9BFE-0110-C9988496C8B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422A9A3-8636-4A04-BD48-3153280FB086}" type="slidenum">
              <a:rPr lang="sv-SE" smtClean="0"/>
              <a:pPr/>
              <a:t>7</a:t>
            </a:fld>
            <a:endParaRPr lang="sv-SE"/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78B8882B-6F2D-DE7D-63A7-16353D36FA1C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437322" y="952500"/>
            <a:ext cx="6269356" cy="2552700"/>
          </a:xfrm>
          <a:prstGeom prst="rect">
            <a:avLst/>
          </a:prstGeom>
        </p:spPr>
      </p:pic>
      <p:sp>
        <p:nvSpPr>
          <p:cNvPr id="8" name="TextBox 7">
            <a:extLst>
              <a:ext uri="{FF2B5EF4-FFF2-40B4-BE49-F238E27FC236}">
                <a16:creationId xmlns:a16="http://schemas.microsoft.com/office/drawing/2014/main" id="{517AA72C-360E-E762-8E00-4FD97C017279}"/>
              </a:ext>
            </a:extLst>
          </p:cNvPr>
          <p:cNvSpPr txBox="1"/>
          <p:nvPr/>
        </p:nvSpPr>
        <p:spPr>
          <a:xfrm>
            <a:off x="238125" y="3524250"/>
            <a:ext cx="8667750" cy="307777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pPr marL="406400" indent="-177800">
              <a:spcAft>
                <a:spcPts val="400"/>
              </a:spcAft>
              <a:buFont typeface="+mj-lt"/>
              <a:buChar char="•"/>
            </a:pPr>
            <a:r>
              <a:rPr lang="sv-SE" sz="1280">
                <a:solidFill>
                  <a:srgbClr val="1E1E1E"/>
                </a:solidFill>
                <a:latin typeface="Arial" panose="020B0604020202020204" pitchFamily="34" charset="0"/>
              </a:rPr>
              <a:t>Peak stress v̂</a:t>
            </a:r>
            <a:r>
              <a:rPr lang="sv-SE" sz="1280" baseline="-25000">
                <a:solidFill>
                  <a:srgbClr val="1E1E1E"/>
                </a:solidFill>
                <a:latin typeface="Arial" panose="020B0604020202020204" pitchFamily="34" charset="0"/>
              </a:rPr>
              <a:t>DS</a:t>
            </a:r>
            <a:r>
              <a:rPr lang="sv-SE" sz="1280">
                <a:solidFill>
                  <a:srgbClr val="1E1E1E"/>
                </a:solidFill>
                <a:latin typeface="Arial" panose="020B0604020202020204" pitchFamily="34" charset="0"/>
              </a:rPr>
              <a:t> = V</a:t>
            </a:r>
            <a:r>
              <a:rPr lang="sv-SE" sz="1280" baseline="-25000">
                <a:solidFill>
                  <a:srgbClr val="1E1E1E"/>
                </a:solidFill>
                <a:latin typeface="Arial" panose="020B0604020202020204" pitchFamily="34" charset="0"/>
              </a:rPr>
              <a:t>m</a:t>
            </a:r>
            <a:r>
              <a:rPr lang="sv-SE" sz="1280">
                <a:solidFill>
                  <a:srgbClr val="1E1E1E"/>
                </a:solidFill>
                <a:latin typeface="Arial" panose="020B0604020202020204" pitchFamily="34" charset="0"/>
              </a:rPr>
              <a:t> + L</a:t>
            </a:r>
            <a:r>
              <a:rPr lang="sv-SE" sz="1280" baseline="-25000">
                <a:solidFill>
                  <a:srgbClr val="1E1E1E"/>
                </a:solidFill>
                <a:latin typeface="Arial" panose="020B0604020202020204" pitchFamily="34" charset="0"/>
              </a:rPr>
              <a:t>loop</a:t>
            </a:r>
            <a:r>
              <a:rPr lang="sv-SE" sz="1280">
                <a:solidFill>
                  <a:srgbClr val="1E1E1E"/>
                </a:solidFill>
                <a:latin typeface="Arial" panose="020B0604020202020204" pitchFamily="34" charset="0"/>
              </a:rPr>
              <a:t>·di/dt ≤ 90 V; turn-on di/dt (gate-charge model, R</a:t>
            </a:r>
            <a:r>
              <a:rPr lang="sv-SE" sz="1280" baseline="-25000">
                <a:solidFill>
                  <a:srgbClr val="1E1E1E"/>
                </a:solidFill>
                <a:latin typeface="Arial" panose="020B0604020202020204" pitchFamily="34" charset="0"/>
              </a:rPr>
              <a:t>g,on</a:t>
            </a:r>
            <a:r>
              <a:rPr lang="sv-SE" sz="1280">
                <a:solidFill>
                  <a:srgbClr val="1E1E1E"/>
                </a:solidFill>
                <a:latin typeface="Arial" panose="020B0604020202020204" pitchFamily="34" charset="0"/>
              </a:rPr>
              <a:t> 2 </a:t>
            </a:r>
            <a:r>
              <a:rPr lang="el-GR" sz="1280">
                <a:solidFill>
                  <a:srgbClr val="1E1E1E"/>
                </a:solidFill>
                <a:latin typeface="Arial" panose="020B0604020202020204" pitchFamily="34" charset="0"/>
              </a:rPr>
              <a:t>Ω): 25 / 33 / 50 </a:t>
            </a:r>
            <a:r>
              <a:rPr lang="sv-SE" sz="1280">
                <a:solidFill>
                  <a:srgbClr val="1E1E1E"/>
                </a:solidFill>
                <a:latin typeface="Arial" panose="020B0604020202020204" pitchFamily="34" charset="0"/>
              </a:rPr>
              <a:t>A/ns at 60 / 80 / 120 A per device</a:t>
            </a:r>
          </a:p>
          <a:p>
            <a:pPr marL="406400" indent="-177800">
              <a:spcAft>
                <a:spcPts val="400"/>
              </a:spcAft>
              <a:buFont typeface="+mj-lt"/>
              <a:buChar char="•"/>
            </a:pPr>
            <a:r>
              <a:rPr lang="sv-SE" sz="1280">
                <a:solidFill>
                  <a:srgbClr val="1E1E1E"/>
                </a:solidFill>
                <a:latin typeface="Arial" panose="020B0604020202020204" pitchFamily="34" charset="0"/>
              </a:rPr>
              <a:t>At 80 A per device: V</a:t>
            </a:r>
            <a:r>
              <a:rPr lang="sv-SE" sz="1280" baseline="-25000">
                <a:solidFill>
                  <a:srgbClr val="1E1E1E"/>
                </a:solidFill>
                <a:latin typeface="Arial" panose="020B0604020202020204" pitchFamily="34" charset="0"/>
              </a:rPr>
              <a:t>m</a:t>
            </a:r>
            <a:r>
              <a:rPr lang="sv-SE" sz="1280">
                <a:solidFill>
                  <a:srgbClr val="1E1E1E"/>
                </a:solidFill>
                <a:latin typeface="Arial" panose="020B0604020202020204" pitchFamily="34" charset="0"/>
              </a:rPr>
              <a:t> ≤ </a:t>
            </a:r>
            <a:r>
              <a:rPr lang="sv-SE" sz="1280" b="1">
                <a:solidFill>
                  <a:srgbClr val="1E1E1E"/>
                </a:solidFill>
                <a:latin typeface="Arial" panose="020B0604020202020204" pitchFamily="34" charset="0"/>
              </a:rPr>
              <a:t>73 V</a:t>
            </a:r>
            <a:r>
              <a:rPr lang="sv-SE" sz="1280">
                <a:solidFill>
                  <a:srgbClr val="1E1E1E"/>
                </a:solidFill>
                <a:latin typeface="Arial" panose="020B0604020202020204" pitchFamily="34" charset="0"/>
              </a:rPr>
              <a:t> with 0.5 nH, only 57 V with 1 nH ⇒ the loop must stay near 0.5 nH (or the turn-on is slowed); N even (symmetric winding sets): 16 → 75 V</a:t>
            </a:r>
            <a:endParaRPr lang="sv-SE" sz="1280" dirty="0" err="1">
              <a:solidFill>
                <a:srgbClr val="1E1E1E"/>
              </a:solidFill>
              <a:latin typeface="Arial" panose="020B0604020202020204" pitchFamily="34" charset="0"/>
            </a:endParaRPr>
          </a:p>
        </p:txBody>
      </p:sp>
      <p:sp>
        <p:nvSpPr>
          <p:cNvPr id="9" name="decision">
            <a:extLst>
              <a:ext uri="{FF2B5EF4-FFF2-40B4-BE49-F238E27FC236}">
                <a16:creationId xmlns:a16="http://schemas.microsoft.com/office/drawing/2014/main" id="{89E530EB-CF2B-E140-EC86-7EA93F825002}"/>
              </a:ext>
            </a:extLst>
          </p:cNvPr>
          <p:cNvSpPr/>
          <p:nvPr/>
        </p:nvSpPr>
        <p:spPr>
          <a:xfrm>
            <a:off x="238125" y="4400550"/>
            <a:ext cx="8667750" cy="381000"/>
          </a:xfrm>
          <a:prstGeom prst="roundRect">
            <a:avLst/>
          </a:prstGeom>
          <a:solidFill>
            <a:srgbClr val="EEF4FB"/>
          </a:solidFill>
          <a:ln w="158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101600" tIns="25400" bIns="25400" rtlCol="0" anchor="ctr">
            <a:noAutofit/>
          </a:bodyPr>
          <a:lstStyle/>
          <a:p>
            <a:r>
              <a:rPr lang="en-US" sz="1380" b="1">
                <a:solidFill>
                  <a:srgbClr val="1E1E1E"/>
                </a:solidFill>
                <a:latin typeface="Arial" panose="020B0604020202020204" pitchFamily="34" charset="0"/>
              </a:rPr>
              <a:t>Decision:</a:t>
            </a:r>
            <a:r>
              <a:rPr lang="en-US" sz="1380">
                <a:solidFill>
                  <a:srgbClr val="1E1E1E"/>
                </a:solidFill>
                <a:latin typeface="Arial" panose="020B0604020202020204" pitchFamily="34" charset="0"/>
              </a:rPr>
              <a:t> V</a:t>
            </a:r>
            <a:r>
              <a:rPr lang="en-US" sz="1380" baseline="-25000">
                <a:solidFill>
                  <a:srgbClr val="1E1E1E"/>
                </a:solidFill>
                <a:latin typeface="Arial" panose="020B0604020202020204" pitchFamily="34" charset="0"/>
              </a:rPr>
              <a:t>m</a:t>
            </a:r>
            <a:r>
              <a:rPr lang="en-US" sz="1380">
                <a:solidFill>
                  <a:srgbClr val="1E1E1E"/>
                </a:solidFill>
                <a:latin typeface="Arial" panose="020B0604020202020204" pitchFamily="34" charset="0"/>
              </a:rPr>
              <a:t> = 75 V, N = 16; layout target 0.5 nH per cell</a:t>
            </a:r>
            <a:endParaRPr lang="sv-SE" sz="1380" dirty="0">
              <a:solidFill>
                <a:srgbClr val="1E1E1E"/>
              </a:solidFill>
              <a:latin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583734501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0BC322A-E17F-39EF-B628-C0BCB910360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z="2100"/>
              <a:t>Why not lower: every submodule costs parts and loss</a:t>
            </a:r>
            <a:endParaRPr lang="sv-SE" sz="210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6DC6EDB2-F18A-826F-0475-84FAB4A6EBE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sv-SE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762F4A24-3D23-5BCA-9AE7-9994108C7E4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422A9A3-8636-4A04-BD48-3153280FB086}" type="slidenum">
              <a:rPr lang="sv-SE" smtClean="0"/>
              <a:pPr/>
              <a:t>8</a:t>
            </a:fld>
            <a:endParaRPr lang="sv-SE"/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319C122A-AC9E-865F-9F9E-2A60B57ABB88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38125" y="952500"/>
            <a:ext cx="4953000" cy="2989587"/>
          </a:xfrm>
          <a:prstGeom prst="rect">
            <a:avLst/>
          </a:prstGeom>
        </p:spPr>
      </p:pic>
      <p:sp>
        <p:nvSpPr>
          <p:cNvPr id="8" name="TextBox 7">
            <a:extLst>
              <a:ext uri="{FF2B5EF4-FFF2-40B4-BE49-F238E27FC236}">
                <a16:creationId xmlns:a16="http://schemas.microsoft.com/office/drawing/2014/main" id="{E3F4228D-C61C-CF6F-CD2D-B51F79B98E02}"/>
              </a:ext>
            </a:extLst>
          </p:cNvPr>
          <p:cNvSpPr txBox="1"/>
          <p:nvPr/>
        </p:nvSpPr>
        <p:spPr>
          <a:xfrm>
            <a:off x="5381625" y="952500"/>
            <a:ext cx="3524250" cy="307777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pPr marL="406400" indent="-177800">
              <a:spcAft>
                <a:spcPts val="400"/>
              </a:spcAft>
              <a:buFont typeface="+mj-lt"/>
              <a:buChar char="•"/>
            </a:pPr>
            <a:r>
              <a:rPr lang="en-US" sz="1560">
                <a:solidFill>
                  <a:srgbClr val="1E1E1E"/>
                </a:solidFill>
                <a:latin typeface="Arial" panose="020B0604020202020204" pitchFamily="34" charset="0"/>
              </a:rPr>
              <a:t>Phase current is fixed by P, V</a:t>
            </a:r>
            <a:r>
              <a:rPr lang="en-US" sz="1560" baseline="-25000">
                <a:solidFill>
                  <a:srgbClr val="1E1E1E"/>
                </a:solidFill>
                <a:latin typeface="Arial" panose="020B0604020202020204" pitchFamily="34" charset="0"/>
              </a:rPr>
              <a:t>bus</a:t>
            </a:r>
            <a:r>
              <a:rPr lang="en-US" sz="1560">
                <a:solidFill>
                  <a:srgbClr val="1E1E1E"/>
                </a:solidFill>
                <a:latin typeface="Arial" panose="020B0604020202020204" pitchFamily="34" charset="0"/>
              </a:rPr>
              <a:t>, M, cos φ, not by N</a:t>
            </a:r>
          </a:p>
          <a:p>
            <a:pPr marL="406400" indent="-177800">
              <a:spcAft>
                <a:spcPts val="400"/>
              </a:spcAft>
              <a:buFont typeface="+mj-lt"/>
              <a:buChar char="•"/>
            </a:pPr>
            <a:r>
              <a:rPr lang="en-US" sz="1560">
                <a:solidFill>
                  <a:srgbClr val="1E1E1E"/>
                </a:solidFill>
                <a:latin typeface="Arial" panose="020B0604020202020204" pitchFamily="34" charset="0"/>
              </a:rPr>
              <a:t>Each submodule carries the full phase current ⇒ conduction loss, transistors, drivers and supplies scale with N</a:t>
            </a:r>
          </a:p>
          <a:p>
            <a:pPr marL="406400" indent="-177800">
              <a:spcAft>
                <a:spcPts val="400"/>
              </a:spcAft>
              <a:buFont typeface="+mj-lt"/>
              <a:buChar char="•"/>
            </a:pPr>
            <a:r>
              <a:rPr lang="en-US" sz="1560">
                <a:solidFill>
                  <a:srgbClr val="1E1E1E"/>
                </a:solidFill>
                <a:latin typeface="Arial" panose="020B0604020202020204" pitchFamily="34" charset="0"/>
              </a:rPr>
              <a:t>60 V (N = 20): +25 % parts and conduction loss</a:t>
            </a:r>
          </a:p>
          <a:p>
            <a:pPr marL="406400" indent="-177800">
              <a:spcAft>
                <a:spcPts val="400"/>
              </a:spcAft>
              <a:buFont typeface="+mj-lt"/>
              <a:buChar char="•"/>
            </a:pPr>
            <a:r>
              <a:rPr lang="en-US" sz="1560">
                <a:solidFill>
                  <a:srgbClr val="1E1E1E"/>
                </a:solidFill>
                <a:latin typeface="Arial" panose="020B0604020202020204" pitchFamily="34" charset="0"/>
              </a:rPr>
              <a:t>Overshoot margin rechecked on the final boards (Q3D, step 11)</a:t>
            </a:r>
            <a:endParaRPr lang="sv-SE" sz="1560" dirty="0" err="1">
              <a:solidFill>
                <a:srgbClr val="1E1E1E"/>
              </a:solidFill>
              <a:latin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410624265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146E183-F542-254E-36AE-A820C9A9BD2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z="2100"/>
              <a:t>Power loop of one cell: copper, bypass ESL and shunt</a:t>
            </a:r>
            <a:endParaRPr lang="sv-SE" sz="210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52F73089-0C5C-BF33-B228-BA7214D2205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sv-SE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65E5126F-D28C-E757-3344-DF57C746FA4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422A9A3-8636-4A04-BD48-3153280FB086}" type="slidenum">
              <a:rPr lang="sv-SE" smtClean="0"/>
              <a:pPr/>
              <a:t>9</a:t>
            </a:fld>
            <a:endParaRPr lang="sv-SE"/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FFD8BBAC-890D-900E-7580-4598AF12AB79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61093" y="952500"/>
            <a:ext cx="6821813" cy="2495550"/>
          </a:xfrm>
          <a:prstGeom prst="rect">
            <a:avLst/>
          </a:prstGeom>
        </p:spPr>
      </p:pic>
      <p:sp>
        <p:nvSpPr>
          <p:cNvPr id="8" name="TextBox 7">
            <a:extLst>
              <a:ext uri="{FF2B5EF4-FFF2-40B4-BE49-F238E27FC236}">
                <a16:creationId xmlns:a16="http://schemas.microsoft.com/office/drawing/2014/main" id="{85D89FA0-B03F-1017-E26A-27900E6A7308}"/>
              </a:ext>
            </a:extLst>
          </p:cNvPr>
          <p:cNvSpPr txBox="1"/>
          <p:nvPr/>
        </p:nvSpPr>
        <p:spPr>
          <a:xfrm>
            <a:off x="238125" y="3476625"/>
            <a:ext cx="8667750" cy="307777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pPr marL="406400" indent="-177800">
              <a:spcAft>
                <a:spcPts val="400"/>
              </a:spcAft>
              <a:buFont typeface="+mj-lt"/>
              <a:buChar char="•"/>
            </a:pPr>
            <a:r>
              <a:rPr lang="en-US" sz="1280">
                <a:solidFill>
                  <a:srgbClr val="1E1E1E"/>
                </a:solidFill>
                <a:latin typeface="Arial" panose="020B0604020202020204" pitchFamily="34" charset="0"/>
              </a:rPr>
              <a:t>Q3D of the final boards (cell band): loop = copper of the vertical loop over 0.1 mm (vias, pads) + bypass ESL/n (+ UFCS 120 pH on the DPT board)</a:t>
            </a:r>
          </a:p>
          <a:p>
            <a:pPr marL="406400" indent="-177800">
              <a:spcAft>
                <a:spcPts val="400"/>
              </a:spcAft>
              <a:buFont typeface="+mj-lt"/>
              <a:buChar char="•"/>
            </a:pPr>
            <a:r>
              <a:rPr lang="en-US" sz="1280">
                <a:solidFill>
                  <a:srgbClr val="1E1E1E"/>
                </a:solidFill>
                <a:latin typeface="Arial" panose="020B0604020202020204" pitchFamily="34" charset="0"/>
              </a:rPr>
              <a:t>Copper alone: 0.35 nH (load) / 0.47 nH (DPT, shunt path); with 6 + 4 bypass 0805 per cell: </a:t>
            </a:r>
            <a:r>
              <a:rPr lang="en-US" sz="1280" b="1">
                <a:solidFill>
                  <a:srgbClr val="1E1E1E"/>
                </a:solidFill>
                <a:latin typeface="Arial" panose="020B0604020202020204" pitchFamily="34" charset="0"/>
              </a:rPr>
              <a:t>0.41 / 0.65 nH</a:t>
            </a:r>
          </a:p>
          <a:p>
            <a:pPr marL="406400" indent="-177800">
              <a:spcAft>
                <a:spcPts val="400"/>
              </a:spcAft>
              <a:buFont typeface="+mj-lt"/>
              <a:buChar char="•"/>
            </a:pPr>
            <a:r>
              <a:rPr lang="en-US" sz="1280">
                <a:solidFill>
                  <a:srgbClr val="1E1E1E"/>
                </a:solidFill>
                <a:latin typeface="Arial" panose="020B0604020202020204" pitchFamily="34" charset="0"/>
              </a:rPr>
              <a:t>Beyond ≈ 4 bypass parts per cell the number hardly matters; part: 1 µF 100 V X7S 0805 next to the drains</a:t>
            </a:r>
            <a:endParaRPr lang="sv-SE" sz="1280" dirty="0" err="1">
              <a:solidFill>
                <a:srgbClr val="1E1E1E"/>
              </a:solidFill>
              <a:latin typeface="Arial" panose="020B0604020202020204" pitchFamily="34" charset="0"/>
            </a:endParaRPr>
          </a:p>
        </p:txBody>
      </p:sp>
      <p:sp>
        <p:nvSpPr>
          <p:cNvPr id="9" name="decision">
            <a:extLst>
              <a:ext uri="{FF2B5EF4-FFF2-40B4-BE49-F238E27FC236}">
                <a16:creationId xmlns:a16="http://schemas.microsoft.com/office/drawing/2014/main" id="{0EC49739-A4D1-7528-9108-E6DA362D1262}"/>
              </a:ext>
            </a:extLst>
          </p:cNvPr>
          <p:cNvSpPr/>
          <p:nvPr/>
        </p:nvSpPr>
        <p:spPr>
          <a:xfrm>
            <a:off x="238125" y="4400550"/>
            <a:ext cx="8667750" cy="381000"/>
          </a:xfrm>
          <a:prstGeom prst="roundRect">
            <a:avLst/>
          </a:prstGeom>
          <a:solidFill>
            <a:srgbClr val="EEF4FB"/>
          </a:solidFill>
          <a:ln w="158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101600" tIns="25400" bIns="25400" rtlCol="0" anchor="ctr">
            <a:noAutofit/>
          </a:bodyPr>
          <a:lstStyle/>
          <a:p>
            <a:r>
              <a:rPr lang="en-US" sz="1380" b="1">
                <a:solidFill>
                  <a:srgbClr val="1E1E1E"/>
                </a:solidFill>
                <a:latin typeface="Arial" panose="020B0604020202020204" pitchFamily="34" charset="0"/>
              </a:rPr>
              <a:t>Decision:</a:t>
            </a:r>
            <a:r>
              <a:rPr lang="en-US" sz="1380">
                <a:solidFill>
                  <a:srgbClr val="1E1E1E"/>
                </a:solidFill>
                <a:latin typeface="Arial" panose="020B0604020202020204" pitchFamily="34" charset="0"/>
              </a:rPr>
              <a:t> Design value L</a:t>
            </a:r>
            <a:r>
              <a:rPr lang="en-US" sz="1380" baseline="-25000">
                <a:solidFill>
                  <a:srgbClr val="1E1E1E"/>
                </a:solidFill>
                <a:latin typeface="Arial" panose="020B0604020202020204" pitchFamily="34" charset="0"/>
              </a:rPr>
              <a:t>loop</a:t>
            </a:r>
            <a:r>
              <a:rPr lang="en-US" sz="1380">
                <a:solidFill>
                  <a:srgbClr val="1E1E1E"/>
                </a:solidFill>
                <a:latin typeface="Arial" panose="020B0604020202020204" pitchFamily="34" charset="0"/>
              </a:rPr>
              <a:t> = 0.5 nH per cell; 1 nH as the pessimistic bound</a:t>
            </a:r>
            <a:endParaRPr lang="sv-SE" sz="1380" dirty="0">
              <a:solidFill>
                <a:srgbClr val="1E1E1E"/>
              </a:solidFill>
              <a:latin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4112416169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710B4A4-02D9-5A0C-BF4E-8854E2E4159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z="2100"/>
              <a:t>One EPC2361 per switch: how fast and how much overshoot</a:t>
            </a:r>
            <a:endParaRPr lang="sv-SE" sz="210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BC1DF656-3384-C5B8-7D0A-C685F314D02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sv-SE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4FE3808D-18BF-93AE-C179-0AC56D0F9F0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422A9A3-8636-4A04-BD48-3153280FB086}" type="slidenum">
              <a:rPr lang="sv-SE" smtClean="0"/>
              <a:pPr/>
              <a:t>10</a:t>
            </a:fld>
            <a:endParaRPr lang="sv-SE"/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25757341-8F69-7BFC-C17C-B8F57346C74E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74069" y="952500"/>
            <a:ext cx="7395862" cy="2428875"/>
          </a:xfrm>
          <a:prstGeom prst="rect">
            <a:avLst/>
          </a:prstGeom>
        </p:spPr>
      </p:pic>
      <p:sp>
        <p:nvSpPr>
          <p:cNvPr id="8" name="TextBox 7">
            <a:extLst>
              <a:ext uri="{FF2B5EF4-FFF2-40B4-BE49-F238E27FC236}">
                <a16:creationId xmlns:a16="http://schemas.microsoft.com/office/drawing/2014/main" id="{5EF404D7-CE97-DDC7-E1A1-C31DC13A70D7}"/>
              </a:ext>
            </a:extLst>
          </p:cNvPr>
          <p:cNvSpPr txBox="1"/>
          <p:nvPr/>
        </p:nvSpPr>
        <p:spPr>
          <a:xfrm>
            <a:off x="238125" y="3409950"/>
            <a:ext cx="8667750" cy="307777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pPr marL="406400" indent="-177800">
              <a:spcAft>
                <a:spcPts val="400"/>
              </a:spcAft>
              <a:buFont typeface="+mj-lt"/>
              <a:buChar char="•"/>
            </a:pPr>
            <a:r>
              <a:rPr lang="en-US" sz="1190">
                <a:solidFill>
                  <a:srgbClr val="1E1E1E"/>
                </a:solidFill>
                <a:latin typeface="Arial" panose="020B0604020202020204" pitchFamily="34" charset="0"/>
              </a:rPr>
              <a:t>LTspice half bridge at 75 V, lumped loop 0.5 / 1 nH, 1.7 nH gate loop, 2 Ω on / 0 Ω off, 4 A / 8 A driver</a:t>
            </a:r>
          </a:p>
          <a:p>
            <a:pPr marL="406400" indent="-177800">
              <a:spcAft>
                <a:spcPts val="400"/>
              </a:spcAft>
              <a:buFont typeface="+mj-lt"/>
              <a:buChar char="•"/>
            </a:pPr>
            <a:r>
              <a:rPr lang="en-US" sz="1190">
                <a:solidFill>
                  <a:srgbClr val="1E1E1E"/>
                </a:solidFill>
                <a:latin typeface="Arial" panose="020B0604020202020204" pitchFamily="34" charset="0"/>
              </a:rPr>
              <a:t>(a) Peak V</a:t>
            </a:r>
            <a:r>
              <a:rPr lang="en-US" sz="1190" baseline="-25000">
                <a:solidFill>
                  <a:srgbClr val="1E1E1E"/>
                </a:solidFill>
                <a:latin typeface="Arial" panose="020B0604020202020204" pitchFamily="34" charset="0"/>
              </a:rPr>
              <a:t>DS</a:t>
            </a:r>
            <a:r>
              <a:rPr lang="en-US" sz="1190">
                <a:solidFill>
                  <a:srgbClr val="1E1E1E"/>
                </a:solidFill>
                <a:latin typeface="Arial" panose="020B0604020202020204" pitchFamily="34" charset="0"/>
              </a:rPr>
              <a:t> at 60 / 80 / 120 A: 87 / 83 / 102 V (0.5 nH), 83 / 93 / 137 V (1 nH)</a:t>
            </a:r>
          </a:p>
          <a:p>
            <a:pPr marL="406400" indent="-177800">
              <a:spcAft>
                <a:spcPts val="400"/>
              </a:spcAft>
              <a:buFont typeface="+mj-lt"/>
              <a:buChar char="•"/>
            </a:pPr>
            <a:r>
              <a:rPr lang="en-US" sz="1190">
                <a:solidFill>
                  <a:srgbClr val="1E1E1E"/>
                </a:solidFill>
                <a:latin typeface="Arial" panose="020B0604020202020204" pitchFamily="34" charset="0"/>
              </a:rPr>
              <a:t>(b, c) A larger loop lowers E</a:t>
            </a:r>
            <a:r>
              <a:rPr lang="en-US" sz="1190" baseline="-25000">
                <a:solidFill>
                  <a:srgbClr val="1E1E1E"/>
                </a:solidFill>
                <a:latin typeface="Arial" panose="020B0604020202020204" pitchFamily="34" charset="0"/>
              </a:rPr>
              <a:t>on</a:t>
            </a:r>
            <a:r>
              <a:rPr lang="en-US" sz="1190">
                <a:solidFill>
                  <a:srgbClr val="1E1E1E"/>
                </a:solidFill>
                <a:latin typeface="Arial" panose="020B0604020202020204" pitchFamily="34" charset="0"/>
              </a:rPr>
              <a:t> (the loop takes L·di/dt of the voltage while the current rises) but raises E</a:t>
            </a:r>
            <a:r>
              <a:rPr lang="en-US" sz="1190" baseline="-25000">
                <a:solidFill>
                  <a:srgbClr val="1E1E1E"/>
                </a:solidFill>
                <a:latin typeface="Arial" panose="020B0604020202020204" pitchFamily="34" charset="0"/>
              </a:rPr>
              <a:t>off</a:t>
            </a:r>
            <a:r>
              <a:rPr lang="en-US" sz="1190">
                <a:solidFill>
                  <a:srgbClr val="1E1E1E"/>
                </a:solidFill>
                <a:latin typeface="Arial" panose="020B0604020202020204" pitchFamily="34" charset="0"/>
              </a:rPr>
              <a:t> and the overshoot; turn-on di/dt is set by the driver (≈ 45 A/ns)</a:t>
            </a:r>
          </a:p>
          <a:p>
            <a:pPr marL="406400" indent="-177800">
              <a:spcAft>
                <a:spcPts val="400"/>
              </a:spcAft>
              <a:buFont typeface="+mj-lt"/>
              <a:buChar char="•"/>
            </a:pPr>
            <a:r>
              <a:rPr lang="en-US" sz="1190">
                <a:solidFill>
                  <a:srgbClr val="1E1E1E"/>
                </a:solidFill>
                <a:latin typeface="Arial" panose="020B0604020202020204" pitchFamily="34" charset="0"/>
              </a:rPr>
              <a:t>(d) Conduction per device at 100 °C: 4.0 / 7.2 / 16.1 W at 60 / 80 / 120 A</a:t>
            </a:r>
            <a:r>
              <a:rPr lang="en-US" sz="1190" baseline="-25000">
                <a:solidFill>
                  <a:srgbClr val="1E1E1E"/>
                </a:solidFill>
                <a:latin typeface="Arial" panose="020B0604020202020204" pitchFamily="34" charset="0"/>
              </a:rPr>
              <a:t>rms</a:t>
            </a:r>
            <a:r>
              <a:rPr lang="en-US" sz="1190">
                <a:solidFill>
                  <a:srgbClr val="1E1E1E"/>
                </a:solidFill>
                <a:latin typeface="Arial" panose="020B0604020202020204" pitchFamily="34" charset="0"/>
              </a:rPr>
              <a:t>; one device would carry 322 A peak ⇒ </a:t>
            </a:r>
            <a:r>
              <a:rPr lang="en-US" sz="1190" b="1">
                <a:solidFill>
                  <a:srgbClr val="1E1E1E"/>
                </a:solidFill>
                <a:latin typeface="Arial" panose="020B0604020202020204" pitchFamily="34" charset="0"/>
              </a:rPr>
              <a:t>current per device ≤ 80 A</a:t>
            </a:r>
            <a:endParaRPr lang="sv-SE" sz="1190" b="1" dirty="0" err="1">
              <a:solidFill>
                <a:srgbClr val="1E1E1E"/>
              </a:solidFill>
              <a:latin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33480681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852E6C6-2248-5A76-42B9-E3A7528E7F2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z="2100"/>
              <a:t>Thermal path per device: load-test board</a:t>
            </a:r>
            <a:endParaRPr lang="sv-SE" sz="210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5F219BFA-86BA-9500-B5D8-68004B3B4B4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sv-SE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F3D24E65-26F9-CB1F-86F1-86F7ED9EC29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422A9A3-8636-4A04-BD48-3153280FB086}" type="slidenum">
              <a:rPr lang="sv-SE" smtClean="0"/>
              <a:pPr/>
              <a:t>11</a:t>
            </a:fld>
            <a:endParaRPr lang="sv-SE"/>
          </a:p>
        </p:txBody>
      </p:sp>
      <p:graphicFrame>
        <p:nvGraphicFramePr>
          <p:cNvPr id="6" name="Table 5">
            <a:extLst>
              <a:ext uri="{FF2B5EF4-FFF2-40B4-BE49-F238E27FC236}">
                <a16:creationId xmlns:a16="http://schemas.microsoft.com/office/drawing/2014/main" id="{0DC31F08-86A1-8AC0-232F-2FB51E0D8A4B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636656162"/>
              </p:ext>
            </p:extLst>
          </p:nvPr>
        </p:nvGraphicFramePr>
        <p:xfrm>
          <a:off x="238125" y="952500"/>
          <a:ext cx="5619750" cy="12573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762500">
                  <a:extLst>
                    <a:ext uri="{9D8B030D-6E8A-4147-A177-3AD203B41FA5}">
                      <a16:colId xmlns:a16="http://schemas.microsoft.com/office/drawing/2014/main" val="1692845704"/>
                    </a:ext>
                  </a:extLst>
                </a:gridCol>
                <a:gridCol w="857250">
                  <a:extLst>
                    <a:ext uri="{9D8B030D-6E8A-4147-A177-3AD203B41FA5}">
                      <a16:colId xmlns:a16="http://schemas.microsoft.com/office/drawing/2014/main" val="3047094373"/>
                    </a:ext>
                  </a:extLst>
                </a:gridCol>
              </a:tblGrid>
              <a:tr h="165100">
                <a:tc>
                  <a:txBody>
                    <a:bodyPr/>
                    <a:lstStyle/>
                    <a:p>
                      <a:pPr algn="l"/>
                      <a:r>
                        <a:rPr lang="en-US" sz="1380" b="1">
                          <a:solidFill>
                            <a:srgbClr val="FFFFFF"/>
                          </a:solidFill>
                          <a:latin typeface="Arial" panose="020B0604020202020204" pitchFamily="34" charset="0"/>
                        </a:rPr>
                        <a:t>Path (LAM 4 K 50 12 in air, per device)</a:t>
                      </a:r>
                      <a:endParaRPr lang="sv-SE" sz="1380" b="1">
                        <a:solidFill>
                          <a:srgbClr val="FFFFFF"/>
                        </a:solidFill>
                        <a:latin typeface="Arial" panose="020B0604020202020204" pitchFamily="34" charset="0"/>
                      </a:endParaRPr>
                    </a:p>
                  </a:txBody>
                  <a:tcPr marL="50800" marR="50800" marT="25400" marB="25400">
                    <a:solidFill>
                      <a:srgbClr val="1954A6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sv-SE" sz="1380" b="1">
                          <a:solidFill>
                            <a:srgbClr val="FFFFFF"/>
                          </a:solidFill>
                          <a:latin typeface="Arial" panose="020B0604020202020204" pitchFamily="34" charset="0"/>
                        </a:rPr>
                        <a:t>K/W</a:t>
                      </a:r>
                    </a:p>
                  </a:txBody>
                  <a:tcPr marL="50800" marR="50800" marT="25400" marB="25400">
                    <a:solidFill>
                      <a:srgbClr val="1954A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776110761"/>
                  </a:ext>
                </a:extLst>
              </a:tr>
              <a:tr h="165100">
                <a:tc>
                  <a:txBody>
                    <a:bodyPr/>
                    <a:lstStyle/>
                    <a:p>
                      <a:pPr algn="l"/>
                      <a:r>
                        <a:rPr lang="sv-SE" sz="138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R</a:t>
                      </a:r>
                      <a:r>
                        <a:rPr lang="el-GR" sz="1380" baseline="-2500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θ</a:t>
                      </a:r>
                      <a:r>
                        <a:rPr lang="sv-SE" sz="1380" baseline="-2500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JC</a:t>
                      </a:r>
                      <a:r>
                        <a:rPr lang="sv-SE" sz="138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 (top), datasheet</a:t>
                      </a:r>
                    </a:p>
                  </a:txBody>
                  <a:tcPr marL="50800" marR="50800" marT="25400" marB="25400"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sv-SE" sz="138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0.20</a:t>
                      </a:r>
                    </a:p>
                  </a:txBody>
                  <a:tcPr marL="50800" marR="50800" marT="25400" marB="25400">
                    <a:solidFill>
                      <a:srgbClr val="E8EF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579937137"/>
                  </a:ext>
                </a:extLst>
              </a:tr>
              <a:tr h="165100">
                <a:tc>
                  <a:txBody>
                    <a:bodyPr/>
                    <a:lstStyle/>
                    <a:p>
                      <a:pPr algn="l"/>
                      <a:r>
                        <a:rPr lang="en-US" sz="138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gap pad 0.4 mm, 5 W/mK, over the 15 mm² package top</a:t>
                      </a:r>
                      <a:endParaRPr lang="sv-SE" sz="1380">
                        <a:solidFill>
                          <a:srgbClr val="1E1E1E"/>
                        </a:solidFill>
                        <a:latin typeface="Arial" panose="020B0604020202020204" pitchFamily="34" charset="0"/>
                      </a:endParaRPr>
                    </a:p>
                  </a:txBody>
                  <a:tcPr marL="50800" marR="508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sv-SE" sz="138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5.3</a:t>
                      </a:r>
                    </a:p>
                  </a:txBody>
                  <a:tcPr marL="50800" marR="50800" marT="25400" marB="25400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882109109"/>
                  </a:ext>
                </a:extLst>
              </a:tr>
              <a:tr h="165100">
                <a:tc>
                  <a:txBody>
                    <a:bodyPr/>
                    <a:lstStyle/>
                    <a:p>
                      <a:pPr algn="l"/>
                      <a:r>
                        <a:rPr lang="en-US" sz="138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Al spreader, outer cell → tube (8 mm in 12.8 × 3 mm, 2 devices)</a:t>
                      </a:r>
                      <a:endParaRPr lang="sv-SE" sz="1380">
                        <a:solidFill>
                          <a:srgbClr val="1E1E1E"/>
                        </a:solidFill>
                        <a:latin typeface="Arial" panose="020B0604020202020204" pitchFamily="34" charset="0"/>
                      </a:endParaRPr>
                    </a:p>
                  </a:txBody>
                  <a:tcPr marL="50800" marR="50800" marT="25400" marB="25400"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sv-SE" sz="138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2.1</a:t>
                      </a:r>
                    </a:p>
                  </a:txBody>
                  <a:tcPr marL="50800" marR="50800" marT="25400" marB="25400">
                    <a:solidFill>
                      <a:srgbClr val="E8EF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111271283"/>
                  </a:ext>
                </a:extLst>
              </a:tr>
              <a:tr h="165100">
                <a:tc>
                  <a:txBody>
                    <a:bodyPr/>
                    <a:lstStyle/>
                    <a:p>
                      <a:pPr algn="l"/>
                      <a:r>
                        <a:rPr lang="sv-SE" sz="1380" b="1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Junction → heatsink, per device</a:t>
                      </a:r>
                    </a:p>
                  </a:txBody>
                  <a:tcPr marL="50800" marR="508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sv-SE" sz="1380" b="1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7.6</a:t>
                      </a:r>
                    </a:p>
                  </a:txBody>
                  <a:tcPr marL="50800" marR="50800" marT="25400" marB="25400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87535482"/>
                  </a:ext>
                </a:extLst>
              </a:tr>
              <a:tr h="165100">
                <a:tc>
                  <a:txBody>
                    <a:bodyPr/>
                    <a:lstStyle/>
                    <a:p>
                      <a:pPr algn="l"/>
                      <a:r>
                        <a:rPr lang="en-US" sz="138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Heatsink → air, whole leg (Fischer LAM 4 K 50 12)</a:t>
                      </a:r>
                      <a:endParaRPr lang="sv-SE" sz="1380">
                        <a:solidFill>
                          <a:srgbClr val="1E1E1E"/>
                        </a:solidFill>
                        <a:latin typeface="Arial" panose="020B0604020202020204" pitchFamily="34" charset="0"/>
                      </a:endParaRPr>
                    </a:p>
                  </a:txBody>
                  <a:tcPr marL="50800" marR="50800" marT="25400" marB="25400"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sv-SE" sz="138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0.65</a:t>
                      </a:r>
                    </a:p>
                  </a:txBody>
                  <a:tcPr marL="50800" marR="50800" marT="25400" marB="25400">
                    <a:solidFill>
                      <a:srgbClr val="E8EF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22220139"/>
                  </a:ext>
                </a:extLst>
              </a:tr>
            </a:tbl>
          </a:graphicData>
        </a:graphic>
      </p:graphicFrame>
      <p:sp>
        <p:nvSpPr>
          <p:cNvPr id="7" name="TextBox 6">
            <a:extLst>
              <a:ext uri="{FF2B5EF4-FFF2-40B4-BE49-F238E27FC236}">
                <a16:creationId xmlns:a16="http://schemas.microsoft.com/office/drawing/2014/main" id="{A0D8A478-3335-C63E-26EB-52C82D27CE70}"/>
              </a:ext>
            </a:extLst>
          </p:cNvPr>
          <p:cNvSpPr txBox="1"/>
          <p:nvPr/>
        </p:nvSpPr>
        <p:spPr>
          <a:xfrm>
            <a:off x="6048375" y="952500"/>
            <a:ext cx="2857500" cy="307777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pPr marL="406400" indent="-177800">
              <a:spcAft>
                <a:spcPts val="400"/>
              </a:spcAft>
              <a:buFont typeface="+mj-lt"/>
              <a:buChar char="•"/>
            </a:pPr>
            <a:r>
              <a:rPr lang="en-US" sz="1380">
                <a:solidFill>
                  <a:srgbClr val="1E1E1E"/>
                </a:solidFill>
                <a:latin typeface="Arial" panose="020B0604020202020204" pitchFamily="34" charset="0"/>
              </a:rPr>
              <a:t>T</a:t>
            </a:r>
            <a:r>
              <a:rPr lang="en-US" sz="1380" baseline="-25000">
                <a:solidFill>
                  <a:srgbClr val="1E1E1E"/>
                </a:solidFill>
                <a:latin typeface="Arial" panose="020B0604020202020204" pitchFamily="34" charset="0"/>
              </a:rPr>
              <a:t>j</a:t>
            </a:r>
            <a:r>
              <a:rPr lang="en-US" sz="1380">
                <a:solidFill>
                  <a:srgbClr val="1E1E1E"/>
                </a:solidFill>
                <a:latin typeface="Arial" panose="020B0604020202020204" pitchFamily="34" charset="0"/>
              </a:rPr>
              <a:t> = T</a:t>
            </a:r>
            <a:r>
              <a:rPr lang="en-US" sz="1380" baseline="-25000">
                <a:solidFill>
                  <a:srgbClr val="1E1E1E"/>
                </a:solidFill>
                <a:latin typeface="Arial" panose="020B0604020202020204" pitchFamily="34" charset="0"/>
              </a:rPr>
              <a:t>amb</a:t>
            </a:r>
            <a:r>
              <a:rPr lang="en-US" sz="1380">
                <a:solidFill>
                  <a:srgbClr val="1E1E1E"/>
                </a:solidFill>
                <a:latin typeface="Arial" panose="020B0604020202020204" pitchFamily="34" charset="0"/>
              </a:rPr>
              <a:t> + 0.65 K/W · P</a:t>
            </a:r>
            <a:r>
              <a:rPr lang="en-US" sz="1380" baseline="-25000">
                <a:solidFill>
                  <a:srgbClr val="1E1E1E"/>
                </a:solidFill>
                <a:latin typeface="Arial" panose="020B0604020202020204" pitchFamily="34" charset="0"/>
              </a:rPr>
              <a:t>leg</a:t>
            </a:r>
            <a:r>
              <a:rPr lang="en-US" sz="1380">
                <a:solidFill>
                  <a:srgbClr val="1E1E1E"/>
                </a:solidFill>
                <a:latin typeface="Arial" panose="020B0604020202020204" pitchFamily="34" charset="0"/>
              </a:rPr>
              <a:t> + 7.6 K/W · P</a:t>
            </a:r>
            <a:r>
              <a:rPr lang="en-US" sz="1380" baseline="-25000">
                <a:solidFill>
                  <a:srgbClr val="1E1E1E"/>
                </a:solidFill>
                <a:latin typeface="Arial" panose="020B0604020202020204" pitchFamily="34" charset="0"/>
              </a:rPr>
              <a:t>device</a:t>
            </a:r>
          </a:p>
          <a:p>
            <a:pPr marL="406400" indent="-177800">
              <a:spcAft>
                <a:spcPts val="400"/>
              </a:spcAft>
              <a:buFont typeface="+mj-lt"/>
              <a:buChar char="•"/>
            </a:pPr>
            <a:r>
              <a:rPr lang="en-US" sz="1380">
                <a:solidFill>
                  <a:srgbClr val="1E1E1E"/>
                </a:solidFill>
                <a:latin typeface="Arial" panose="020B0604020202020204" pitchFamily="34" charset="0"/>
              </a:rPr>
              <a:t>The gap pad dominates (insulation is needed: the package top is at source potential)</a:t>
            </a:r>
          </a:p>
          <a:p>
            <a:pPr marL="406400" indent="-177800">
              <a:spcAft>
                <a:spcPts val="400"/>
              </a:spcAft>
              <a:buFont typeface="+mj-lt"/>
              <a:buChar char="•"/>
            </a:pPr>
            <a:r>
              <a:rPr lang="en-US" sz="1380">
                <a:solidFill>
                  <a:srgbClr val="1E1E1E"/>
                </a:solidFill>
                <a:latin typeface="Arial" panose="020B0604020202020204" pitchFamily="34" charset="0"/>
              </a:rPr>
              <a:t>n = 4 at full load: </a:t>
            </a:r>
            <a:r>
              <a:rPr lang="en-US" sz="1380" b="1">
                <a:solidFill>
                  <a:srgbClr val="1E1E1E"/>
                </a:solidFill>
                <a:latin typeface="Arial" panose="020B0604020202020204" pitchFamily="34" charset="0"/>
              </a:rPr>
              <a:t>69 °C</a:t>
            </a:r>
            <a:r>
              <a:rPr lang="en-US" sz="1380">
                <a:solidFill>
                  <a:srgbClr val="1E1E1E"/>
                </a:solidFill>
                <a:latin typeface="Arial" panose="020B0604020202020204" pitchFamily="34" charset="0"/>
              </a:rPr>
              <a:t> (40 °C ambient), 52 °C (25 °C), 78 °C with a 3 W/mK pad</a:t>
            </a:r>
          </a:p>
          <a:p>
            <a:pPr marL="406400" indent="-177800">
              <a:spcAft>
                <a:spcPts val="400"/>
              </a:spcAft>
              <a:buFont typeface="+mj-lt"/>
              <a:buChar char="•"/>
            </a:pPr>
            <a:r>
              <a:rPr lang="en-US" sz="1380">
                <a:solidFill>
                  <a:srgbClr val="1E1E1E"/>
                </a:solidFill>
                <a:latin typeface="Arial" panose="020B0604020202020204" pitchFamily="34" charset="0"/>
              </a:rPr>
              <a:t>R</a:t>
            </a:r>
            <a:r>
              <a:rPr lang="en-US" sz="1380" baseline="-25000">
                <a:solidFill>
                  <a:srgbClr val="1E1E1E"/>
                </a:solidFill>
                <a:latin typeface="Arial" panose="020B0604020202020204" pitchFamily="34" charset="0"/>
              </a:rPr>
              <a:t>DS(on)</a:t>
            </a:r>
            <a:r>
              <a:rPr lang="en-US" sz="1380">
                <a:solidFill>
                  <a:srgbClr val="1E1E1E"/>
                </a:solidFill>
                <a:latin typeface="Arial" panose="020B0604020202020204" pitchFamily="34" charset="0"/>
              </a:rPr>
              <a:t>(T</a:t>
            </a:r>
            <a:r>
              <a:rPr lang="en-US" sz="1380" baseline="-25000">
                <a:solidFill>
                  <a:srgbClr val="1E1E1E"/>
                </a:solidFill>
                <a:latin typeface="Arial" panose="020B0604020202020204" pitchFamily="34" charset="0"/>
              </a:rPr>
              <a:t>j</a:t>
            </a:r>
            <a:r>
              <a:rPr lang="en-US" sz="1380">
                <a:solidFill>
                  <a:srgbClr val="1E1E1E"/>
                </a:solidFill>
                <a:latin typeface="Arial" panose="020B0604020202020204" pitchFamily="34" charset="0"/>
              </a:rPr>
              <a:t>): ×1.49 at 100 °C, ×1.80 at 150 °C</a:t>
            </a:r>
            <a:endParaRPr lang="sv-SE" sz="1380" dirty="0" err="1">
              <a:solidFill>
                <a:srgbClr val="1E1E1E"/>
              </a:solidFill>
              <a:latin typeface="Arial" panose="020B0604020202020204" pitchFamily="34" charset="0"/>
            </a:endParaRP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E3714645-644D-8FB3-3C8B-185E3894F55D}"/>
              </a:ext>
            </a:extLst>
          </p:cNvPr>
          <p:cNvSpPr txBox="1"/>
          <p:nvPr/>
        </p:nvSpPr>
        <p:spPr>
          <a:xfrm>
            <a:off x="228600" y="4597400"/>
            <a:ext cx="7874000" cy="307777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n-US" sz="730">
                <a:solidFill>
                  <a:srgbClr val="787878"/>
                </a:solidFill>
                <a:latin typeface="Arial" panose="020B0604020202020204" pitchFamily="34" charset="0"/>
              </a:rPr>
              <a:t>Spreader and pad values are hand estimates from the dimensions; for n ≠ 4 the same per-device path is assumed.</a:t>
            </a:r>
            <a:endParaRPr lang="sv-SE" sz="730" dirty="0" err="1">
              <a:solidFill>
                <a:srgbClr val="787878"/>
              </a:solidFill>
              <a:latin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801749307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C3AC6B3-A43B-C99A-F2C8-F2F8FDF41E5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z="1800"/>
              <a:t>n identical cells per switch (one device and one driver each)</a:t>
            </a:r>
            <a:endParaRPr lang="sv-SE" sz="180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75AB733B-112D-772C-F8DD-7A589F6FB88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sv-SE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73385E55-F50D-78A6-B32A-177327FF75E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422A9A3-8636-4A04-BD48-3153280FB086}" type="slidenum">
              <a:rPr lang="sv-SE" smtClean="0"/>
              <a:pPr/>
              <a:t>12</a:t>
            </a:fld>
            <a:endParaRPr lang="sv-SE"/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D905A634-3629-78A1-12DC-6F6F5FB4AD2B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86052" y="952500"/>
            <a:ext cx="7371896" cy="2667000"/>
          </a:xfrm>
          <a:prstGeom prst="rect">
            <a:avLst/>
          </a:prstGeom>
        </p:spPr>
      </p:pic>
      <p:sp>
        <p:nvSpPr>
          <p:cNvPr id="8" name="TextBox 7">
            <a:extLst>
              <a:ext uri="{FF2B5EF4-FFF2-40B4-BE49-F238E27FC236}">
                <a16:creationId xmlns:a16="http://schemas.microsoft.com/office/drawing/2014/main" id="{F3593576-F9FB-7E7F-4E2D-67D4BAFEB540}"/>
              </a:ext>
            </a:extLst>
          </p:cNvPr>
          <p:cNvSpPr txBox="1"/>
          <p:nvPr/>
        </p:nvSpPr>
        <p:spPr>
          <a:xfrm>
            <a:off x="238125" y="3638550"/>
            <a:ext cx="8667750" cy="307777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pPr marL="406400" indent="-177800">
              <a:spcAft>
                <a:spcPts val="400"/>
              </a:spcAft>
              <a:buFont typeface="+mj-lt"/>
              <a:buChar char="•"/>
            </a:pPr>
            <a:r>
              <a:rPr lang="en-US" sz="1280">
                <a:solidFill>
                  <a:srgbClr val="1E1E1E"/>
                </a:solidFill>
                <a:latin typeface="Arial" panose="020B0604020202020204" pitchFamily="34" charset="0"/>
              </a:rPr>
              <a:t>228 A</a:t>
            </a:r>
            <a:r>
              <a:rPr lang="en-US" sz="1280" baseline="-25000">
                <a:solidFill>
                  <a:srgbClr val="1E1E1E"/>
                </a:solidFill>
                <a:latin typeface="Arial" panose="020B0604020202020204" pitchFamily="34" charset="0"/>
              </a:rPr>
              <a:t>rms</a:t>
            </a:r>
            <a:r>
              <a:rPr lang="en-US" sz="1280">
                <a:solidFill>
                  <a:srgbClr val="1E1E1E"/>
                </a:solidFill>
                <a:latin typeface="Arial" panose="020B0604020202020204" pitchFamily="34" charset="0"/>
              </a:rPr>
              <a:t> per leg, 50 kHz, T</a:t>
            </a:r>
            <a:r>
              <a:rPr lang="en-US" sz="1280" baseline="-25000">
                <a:solidFill>
                  <a:srgbClr val="1E1E1E"/>
                </a:solidFill>
                <a:latin typeface="Arial" panose="020B0604020202020204" pitchFamily="34" charset="0"/>
              </a:rPr>
              <a:t>j</a:t>
            </a:r>
            <a:r>
              <a:rPr lang="en-US" sz="1280">
                <a:solidFill>
                  <a:srgbClr val="1E1E1E"/>
                </a:solidFill>
                <a:latin typeface="Arial" panose="020B0604020202020204" pitchFamily="34" charset="0"/>
              </a:rPr>
              <a:t> and R</a:t>
            </a:r>
            <a:r>
              <a:rPr lang="en-US" sz="1280" baseline="-25000">
                <a:solidFill>
                  <a:srgbClr val="1E1E1E"/>
                </a:solidFill>
                <a:latin typeface="Arial" panose="020B0604020202020204" pitchFamily="34" charset="0"/>
              </a:rPr>
              <a:t>DS(on)</a:t>
            </a:r>
            <a:r>
              <a:rPr lang="en-US" sz="1280">
                <a:solidFill>
                  <a:srgbClr val="1E1E1E"/>
                </a:solidFill>
                <a:latin typeface="Arial" panose="020B0604020202020204" pitchFamily="34" charset="0"/>
              </a:rPr>
              <a:t> solved together (load-test board in air, previous slide); LTspice energies at 0.5 nH (left bars) and 1 nH (hatched)</a:t>
            </a:r>
          </a:p>
          <a:p>
            <a:pPr marL="406400" indent="-177800">
              <a:spcAft>
                <a:spcPts val="400"/>
              </a:spcAft>
              <a:buFont typeface="+mj-lt"/>
              <a:buChar char="•"/>
            </a:pPr>
            <a:r>
              <a:rPr lang="en-US" sz="1280">
                <a:solidFill>
                  <a:srgbClr val="1E1E1E"/>
                </a:solidFill>
                <a:latin typeface="Arial" panose="020B0604020202020204" pitchFamily="34" charset="0"/>
              </a:rPr>
              <a:t>n = 4: 18.0 W (0.5 nH) / 17.0 W (1 nH) per leg, T</a:t>
            </a:r>
            <a:r>
              <a:rPr lang="en-US" sz="1280" baseline="-25000">
                <a:solidFill>
                  <a:srgbClr val="1E1E1E"/>
                </a:solidFill>
                <a:latin typeface="Arial" panose="020B0604020202020204" pitchFamily="34" charset="0"/>
              </a:rPr>
              <a:t>j</a:t>
            </a:r>
            <a:r>
              <a:rPr lang="en-US" sz="1280">
                <a:solidFill>
                  <a:srgbClr val="1E1E1E"/>
                </a:solidFill>
                <a:latin typeface="Arial" panose="020B0604020202020204" pitchFamily="34" charset="0"/>
              </a:rPr>
              <a:t> 69 °C; peak V</a:t>
            </a:r>
            <a:r>
              <a:rPr lang="en-US" sz="1280" baseline="-25000">
                <a:solidFill>
                  <a:srgbClr val="1E1E1E"/>
                </a:solidFill>
                <a:latin typeface="Arial" panose="020B0604020202020204" pitchFamily="34" charset="0"/>
              </a:rPr>
              <a:t>DS</a:t>
            </a:r>
            <a:r>
              <a:rPr lang="en-US" sz="1280">
                <a:solidFill>
                  <a:srgbClr val="1E1E1E"/>
                </a:solidFill>
                <a:latin typeface="Arial" panose="020B0604020202020204" pitchFamily="34" charset="0"/>
              </a:rPr>
              <a:t> at 80 A: </a:t>
            </a:r>
            <a:r>
              <a:rPr lang="en-US" sz="1280" b="1">
                <a:solidFill>
                  <a:srgbClr val="1E1E1E"/>
                </a:solidFill>
                <a:latin typeface="Arial" panose="020B0604020202020204" pitchFamily="34" charset="0"/>
              </a:rPr>
              <a:t>83 V (0.5 nH), 93 V (1 nH)</a:t>
            </a:r>
            <a:endParaRPr lang="sv-SE" sz="1280" b="1" dirty="0" err="1">
              <a:solidFill>
                <a:srgbClr val="1E1E1E"/>
              </a:solidFill>
              <a:latin typeface="Arial" panose="020B0604020202020204" pitchFamily="34" charset="0"/>
            </a:endParaRPr>
          </a:p>
        </p:txBody>
      </p:sp>
      <p:sp>
        <p:nvSpPr>
          <p:cNvPr id="9" name="decision">
            <a:extLst>
              <a:ext uri="{FF2B5EF4-FFF2-40B4-BE49-F238E27FC236}">
                <a16:creationId xmlns:a16="http://schemas.microsoft.com/office/drawing/2014/main" id="{A1EA3E42-D238-92C3-1F38-6701E4646A0B}"/>
              </a:ext>
            </a:extLst>
          </p:cNvPr>
          <p:cNvSpPr/>
          <p:nvPr/>
        </p:nvSpPr>
        <p:spPr>
          <a:xfrm>
            <a:off x="238125" y="4400550"/>
            <a:ext cx="8667750" cy="381000"/>
          </a:xfrm>
          <a:prstGeom prst="roundRect">
            <a:avLst/>
          </a:prstGeom>
          <a:solidFill>
            <a:srgbClr val="EEF4FB"/>
          </a:solidFill>
          <a:ln w="158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101600" tIns="25400" bIns="25400" rtlCol="0" anchor="ctr">
            <a:noAutofit/>
          </a:bodyPr>
          <a:lstStyle/>
          <a:p>
            <a:r>
              <a:rPr lang="en-US" sz="1380" b="1">
                <a:solidFill>
                  <a:srgbClr val="1E1E1E"/>
                </a:solidFill>
                <a:latin typeface="Arial" panose="020B0604020202020204" pitchFamily="34" charset="0"/>
              </a:rPr>
              <a:t>Decision:</a:t>
            </a:r>
            <a:r>
              <a:rPr lang="en-US" sz="1380">
                <a:solidFill>
                  <a:srgbClr val="1E1E1E"/>
                </a:solidFill>
                <a:latin typeface="Arial" panose="020B0604020202020204" pitchFamily="34" charset="0"/>
              </a:rPr>
              <a:t> </a:t>
            </a:r>
            <a:r>
              <a:rPr lang="en-US" sz="1380" b="1">
                <a:solidFill>
                  <a:srgbClr val="1E1E1E"/>
                </a:solidFill>
                <a:latin typeface="Arial" panose="020B0604020202020204" pitchFamily="34" charset="0"/>
              </a:rPr>
              <a:t>4 EPC2361 per switch</a:t>
            </a:r>
            <a:r>
              <a:rPr lang="en-US" sz="1380">
                <a:solidFill>
                  <a:srgbClr val="1E1E1E"/>
                </a:solidFill>
                <a:latin typeface="Arial" panose="020B0604020202020204" pitchFamily="34" charset="0"/>
              </a:rPr>
              <a:t> (T</a:t>
            </a:r>
            <a:r>
              <a:rPr lang="en-US" sz="1380" baseline="-25000">
                <a:solidFill>
                  <a:srgbClr val="1E1E1E"/>
                </a:solidFill>
                <a:latin typeface="Arial" panose="020B0604020202020204" pitchFamily="34" charset="0"/>
              </a:rPr>
              <a:t>j</a:t>
            </a:r>
            <a:r>
              <a:rPr lang="en-US" sz="1380">
                <a:solidFill>
                  <a:srgbClr val="1E1E1E"/>
                </a:solidFill>
                <a:latin typeface="Arial" panose="020B0604020202020204" pitchFamily="34" charset="0"/>
              </a:rPr>
              <a:t> &lt; 80 °C in all three cases; ≤ 90 V needs ≈ 0.5 nH; two equal pairs)</a:t>
            </a:r>
            <a:endParaRPr lang="sv-SE" sz="1380" dirty="0">
              <a:solidFill>
                <a:srgbClr val="1E1E1E"/>
              </a:solidFill>
              <a:latin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670762093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29699D7-A31F-23E2-5D0B-A95402EBD47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z="1800"/>
              <a:t>Where the loss comes from: line period and junction temperature</a:t>
            </a:r>
            <a:endParaRPr lang="sv-SE" sz="180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1340304D-F7BC-B397-1355-DF45F4A3A2F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sv-SE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6748CD80-FAC6-B328-D396-20B20A9EB70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422A9A3-8636-4A04-BD48-3153280FB086}" type="slidenum">
              <a:rPr lang="sv-SE" smtClean="0"/>
              <a:pPr/>
              <a:t>13</a:t>
            </a:fld>
            <a:endParaRPr lang="sv-SE"/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61AC16D7-91C5-5879-D114-68B272DFABA9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46436" y="952500"/>
            <a:ext cx="7651128" cy="2952750"/>
          </a:xfrm>
          <a:prstGeom prst="rect">
            <a:avLst/>
          </a:prstGeom>
        </p:spPr>
      </p:pic>
      <p:sp>
        <p:nvSpPr>
          <p:cNvPr id="8" name="TextBox 7">
            <a:extLst>
              <a:ext uri="{FF2B5EF4-FFF2-40B4-BE49-F238E27FC236}">
                <a16:creationId xmlns:a16="http://schemas.microsoft.com/office/drawing/2014/main" id="{C15D228C-2ED6-2EFB-EE30-16970BA5862C}"/>
              </a:ext>
            </a:extLst>
          </p:cNvPr>
          <p:cNvSpPr txBox="1"/>
          <p:nvPr/>
        </p:nvSpPr>
        <p:spPr>
          <a:xfrm>
            <a:off x="238125" y="3924300"/>
            <a:ext cx="8667750" cy="307777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pPr marL="406400" indent="-177800">
              <a:spcAft>
                <a:spcPts val="400"/>
              </a:spcAft>
              <a:buFont typeface="+mj-lt"/>
              <a:buChar char="•"/>
            </a:pPr>
            <a:r>
              <a:rPr lang="en-US" sz="1380">
                <a:solidFill>
                  <a:srgbClr val="1E1E1E"/>
                </a:solidFill>
                <a:latin typeface="Arial" panose="020B0604020202020204" pitchFamily="34" charset="0"/>
              </a:rPr>
              <a:t>n = 4, 50 kHz: switching loss follows |i| (plus a constant E</a:t>
            </a:r>
            <a:r>
              <a:rPr lang="en-US" sz="1380" baseline="-25000">
                <a:solidFill>
                  <a:srgbClr val="1E1E1E"/>
                </a:solidFill>
                <a:latin typeface="Arial" panose="020B0604020202020204" pitchFamily="34" charset="0"/>
              </a:rPr>
              <a:t>oss</a:t>
            </a:r>
            <a:r>
              <a:rPr lang="en-US" sz="1380">
                <a:solidFill>
                  <a:srgbClr val="1E1E1E"/>
                </a:solidFill>
                <a:latin typeface="Arial" panose="020B0604020202020204" pitchFamily="34" charset="0"/>
              </a:rPr>
              <a:t> part), conduction loss follows i²</a:t>
            </a:r>
          </a:p>
          <a:p>
            <a:pPr marL="406400" indent="-177800">
              <a:spcAft>
                <a:spcPts val="400"/>
              </a:spcAft>
              <a:buFont typeface="+mj-lt"/>
              <a:buChar char="•"/>
            </a:pPr>
            <a:r>
              <a:rPr lang="en-US" sz="1380">
                <a:solidFill>
                  <a:srgbClr val="1E1E1E"/>
                </a:solidFill>
                <a:latin typeface="Arial" panose="020B0604020202020204" pitchFamily="34" charset="0"/>
              </a:rPr>
              <a:t>Conduction 12.5 W per leg (at the load-test T</a:t>
            </a:r>
            <a:r>
              <a:rPr lang="en-US" sz="1380" baseline="-25000">
                <a:solidFill>
                  <a:srgbClr val="1E1E1E"/>
                </a:solidFill>
                <a:latin typeface="Arial" panose="020B0604020202020204" pitchFamily="34" charset="0"/>
              </a:rPr>
              <a:t>j</a:t>
            </a:r>
            <a:r>
              <a:rPr lang="en-US" sz="1380">
                <a:solidFill>
                  <a:srgbClr val="1E1E1E"/>
                </a:solidFill>
                <a:latin typeface="Arial" panose="020B0604020202020204" pitchFamily="34" charset="0"/>
              </a:rPr>
              <a:t>); switching 5.0 W at 0.5 nH, 4.1 W at 1 nH (lower E</a:t>
            </a:r>
            <a:r>
              <a:rPr lang="en-US" sz="1380" baseline="-25000">
                <a:solidFill>
                  <a:srgbClr val="1E1E1E"/>
                </a:solidFill>
                <a:latin typeface="Arial" panose="020B0604020202020204" pitchFamily="34" charset="0"/>
              </a:rPr>
              <a:t>on</a:t>
            </a:r>
            <a:r>
              <a:rPr lang="en-US" sz="1380">
                <a:solidFill>
                  <a:srgbClr val="1E1E1E"/>
                </a:solidFill>
                <a:latin typeface="Arial" panose="020B0604020202020204" pitchFamily="34" charset="0"/>
              </a:rPr>
              <a:t>, higher E</a:t>
            </a:r>
            <a:r>
              <a:rPr lang="en-US" sz="1380" baseline="-25000">
                <a:solidFill>
                  <a:srgbClr val="1E1E1E"/>
                </a:solidFill>
                <a:latin typeface="Arial" panose="020B0604020202020204" pitchFamily="34" charset="0"/>
              </a:rPr>
              <a:t>off</a:t>
            </a:r>
            <a:r>
              <a:rPr lang="en-US" sz="1380">
                <a:solidFill>
                  <a:srgbClr val="1E1E1E"/>
                </a:solidFill>
                <a:latin typeface="Arial" panose="020B0604020202020204" pitchFamily="34" charset="0"/>
              </a:rPr>
              <a:t> and overshoot)</a:t>
            </a:r>
            <a:endParaRPr lang="sv-SE" sz="1380" dirty="0" err="1">
              <a:solidFill>
                <a:srgbClr val="1E1E1E"/>
              </a:solidFill>
              <a:latin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500064803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7D68FD8-D9CF-2CAE-84FA-B6DFDC9982B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sv-SE" sz="2100"/>
              <a:t>Losses vs number in parallel</a:t>
            </a: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C3D94B39-A6C5-4BBD-5662-DD418F2147E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sv-SE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18B367FA-BC28-439A-AE0C-9B8A1B6FCF3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422A9A3-8636-4A04-BD48-3153280FB086}" type="slidenum">
              <a:rPr lang="sv-SE" smtClean="0"/>
              <a:pPr/>
              <a:t>14</a:t>
            </a:fld>
            <a:endParaRPr lang="sv-SE"/>
          </a:p>
        </p:txBody>
      </p:sp>
      <p:graphicFrame>
        <p:nvGraphicFramePr>
          <p:cNvPr id="6" name="Table 5">
            <a:extLst>
              <a:ext uri="{FF2B5EF4-FFF2-40B4-BE49-F238E27FC236}">
                <a16:creationId xmlns:a16="http://schemas.microsoft.com/office/drawing/2014/main" id="{D625FDD9-315E-9E5A-F2F8-4D0CA7FC9D63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940681818"/>
              </p:ext>
            </p:extLst>
          </p:nvPr>
        </p:nvGraphicFramePr>
        <p:xfrm>
          <a:off x="238125" y="952500"/>
          <a:ext cx="8667750" cy="20955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571750">
                  <a:extLst>
                    <a:ext uri="{9D8B030D-6E8A-4147-A177-3AD203B41FA5}">
                      <a16:colId xmlns:a16="http://schemas.microsoft.com/office/drawing/2014/main" val="2067593735"/>
                    </a:ext>
                  </a:extLst>
                </a:gridCol>
                <a:gridCol w="762000">
                  <a:extLst>
                    <a:ext uri="{9D8B030D-6E8A-4147-A177-3AD203B41FA5}">
                      <a16:colId xmlns:a16="http://schemas.microsoft.com/office/drawing/2014/main" val="2543083770"/>
                    </a:ext>
                  </a:extLst>
                </a:gridCol>
                <a:gridCol w="762000">
                  <a:extLst>
                    <a:ext uri="{9D8B030D-6E8A-4147-A177-3AD203B41FA5}">
                      <a16:colId xmlns:a16="http://schemas.microsoft.com/office/drawing/2014/main" val="871214441"/>
                    </a:ext>
                  </a:extLst>
                </a:gridCol>
                <a:gridCol w="762000">
                  <a:extLst>
                    <a:ext uri="{9D8B030D-6E8A-4147-A177-3AD203B41FA5}">
                      <a16:colId xmlns:a16="http://schemas.microsoft.com/office/drawing/2014/main" val="3626508620"/>
                    </a:ext>
                  </a:extLst>
                </a:gridCol>
                <a:gridCol w="762000">
                  <a:extLst>
                    <a:ext uri="{9D8B030D-6E8A-4147-A177-3AD203B41FA5}">
                      <a16:colId xmlns:a16="http://schemas.microsoft.com/office/drawing/2014/main" val="1317649709"/>
                    </a:ext>
                  </a:extLst>
                </a:gridCol>
                <a:gridCol w="762000">
                  <a:extLst>
                    <a:ext uri="{9D8B030D-6E8A-4147-A177-3AD203B41FA5}">
                      <a16:colId xmlns:a16="http://schemas.microsoft.com/office/drawing/2014/main" val="4088691569"/>
                    </a:ext>
                  </a:extLst>
                </a:gridCol>
                <a:gridCol w="762000">
                  <a:extLst>
                    <a:ext uri="{9D8B030D-6E8A-4147-A177-3AD203B41FA5}">
                      <a16:colId xmlns:a16="http://schemas.microsoft.com/office/drawing/2014/main" val="2219465947"/>
                    </a:ext>
                  </a:extLst>
                </a:gridCol>
                <a:gridCol w="762000">
                  <a:extLst>
                    <a:ext uri="{9D8B030D-6E8A-4147-A177-3AD203B41FA5}">
                      <a16:colId xmlns:a16="http://schemas.microsoft.com/office/drawing/2014/main" val="2386635163"/>
                    </a:ext>
                  </a:extLst>
                </a:gridCol>
                <a:gridCol w="762000">
                  <a:extLst>
                    <a:ext uri="{9D8B030D-6E8A-4147-A177-3AD203B41FA5}">
                      <a16:colId xmlns:a16="http://schemas.microsoft.com/office/drawing/2014/main" val="1055755938"/>
                    </a:ext>
                  </a:extLst>
                </a:gridCol>
              </a:tblGrid>
              <a:tr h="165100">
                <a:tc>
                  <a:txBody>
                    <a:bodyPr/>
                    <a:lstStyle/>
                    <a:p>
                      <a:pPr algn="l"/>
                      <a:r>
                        <a:rPr lang="sv-SE" sz="1280" b="1">
                          <a:solidFill>
                            <a:srgbClr val="FFFFFF"/>
                          </a:solidFill>
                          <a:latin typeface="Arial" panose="020B0604020202020204" pitchFamily="34" charset="0"/>
                        </a:rPr>
                        <a:t>n per switch</a:t>
                      </a:r>
                    </a:p>
                  </a:txBody>
                  <a:tcPr marL="50800" marR="50800" marT="25400" marB="25400">
                    <a:solidFill>
                      <a:srgbClr val="1954A6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sv-SE" sz="1280" b="1">
                          <a:solidFill>
                            <a:srgbClr val="FFFFFF"/>
                          </a:solidFill>
                          <a:latin typeface="Arial" panose="020B0604020202020204" pitchFamily="34" charset="0"/>
                        </a:rPr>
                        <a:t>1</a:t>
                      </a:r>
                    </a:p>
                  </a:txBody>
                  <a:tcPr marL="50800" marR="50800" marT="25400" marB="25400">
                    <a:solidFill>
                      <a:srgbClr val="1954A6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sv-SE" sz="1280" b="1">
                          <a:solidFill>
                            <a:srgbClr val="FFFFFF"/>
                          </a:solidFill>
                          <a:latin typeface="Arial" panose="020B0604020202020204" pitchFamily="34" charset="0"/>
                        </a:rPr>
                        <a:t>2</a:t>
                      </a:r>
                    </a:p>
                  </a:txBody>
                  <a:tcPr marL="50800" marR="50800" marT="25400" marB="25400">
                    <a:solidFill>
                      <a:srgbClr val="1954A6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sv-SE" sz="1280" b="1">
                          <a:solidFill>
                            <a:srgbClr val="FFFFFF"/>
                          </a:solidFill>
                          <a:latin typeface="Arial" panose="020B0604020202020204" pitchFamily="34" charset="0"/>
                        </a:rPr>
                        <a:t>3</a:t>
                      </a:r>
                    </a:p>
                  </a:txBody>
                  <a:tcPr marL="50800" marR="50800" marT="25400" marB="25400">
                    <a:solidFill>
                      <a:srgbClr val="1954A6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sv-SE" sz="1280" b="1">
                          <a:solidFill>
                            <a:srgbClr val="FFFFFF"/>
                          </a:solidFill>
                          <a:latin typeface="Arial" panose="020B0604020202020204" pitchFamily="34" charset="0"/>
                        </a:rPr>
                        <a:t>4</a:t>
                      </a:r>
                    </a:p>
                  </a:txBody>
                  <a:tcPr marL="50800" marR="50800" marT="25400" marB="25400">
                    <a:solidFill>
                      <a:srgbClr val="1954A6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sv-SE" sz="1280" b="1">
                          <a:solidFill>
                            <a:srgbClr val="FFFFFF"/>
                          </a:solidFill>
                          <a:latin typeface="Arial" panose="020B0604020202020204" pitchFamily="34" charset="0"/>
                        </a:rPr>
                        <a:t>5</a:t>
                      </a:r>
                    </a:p>
                  </a:txBody>
                  <a:tcPr marL="50800" marR="50800" marT="25400" marB="25400">
                    <a:solidFill>
                      <a:srgbClr val="1954A6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sv-SE" sz="1280" b="1">
                          <a:solidFill>
                            <a:srgbClr val="FFFFFF"/>
                          </a:solidFill>
                          <a:latin typeface="Arial" panose="020B0604020202020204" pitchFamily="34" charset="0"/>
                        </a:rPr>
                        <a:t>6</a:t>
                      </a:r>
                    </a:p>
                  </a:txBody>
                  <a:tcPr marL="50800" marR="50800" marT="25400" marB="25400">
                    <a:solidFill>
                      <a:srgbClr val="1954A6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sv-SE" sz="1280" b="1">
                          <a:solidFill>
                            <a:srgbClr val="FFFFFF"/>
                          </a:solidFill>
                          <a:latin typeface="Arial" panose="020B0604020202020204" pitchFamily="34" charset="0"/>
                        </a:rPr>
                        <a:t>7</a:t>
                      </a:r>
                    </a:p>
                  </a:txBody>
                  <a:tcPr marL="50800" marR="50800" marT="25400" marB="25400">
                    <a:solidFill>
                      <a:srgbClr val="1954A6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sv-SE" sz="1280" b="1">
                          <a:solidFill>
                            <a:srgbClr val="FFFFFF"/>
                          </a:solidFill>
                          <a:latin typeface="Arial" panose="020B0604020202020204" pitchFamily="34" charset="0"/>
                        </a:rPr>
                        <a:t>8</a:t>
                      </a:r>
                    </a:p>
                  </a:txBody>
                  <a:tcPr marL="50800" marR="50800" marT="25400" marB="25400">
                    <a:solidFill>
                      <a:srgbClr val="1954A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981126331"/>
                  </a:ext>
                </a:extLst>
              </a:tr>
              <a:tr h="165100">
                <a:tc>
                  <a:txBody>
                    <a:bodyPr/>
                    <a:lstStyle/>
                    <a:p>
                      <a:pPr algn="l"/>
                      <a:r>
                        <a:rPr lang="sv-SE" sz="128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Loss per leg, 0.5 nH (W)</a:t>
                      </a:r>
                    </a:p>
                  </a:txBody>
                  <a:tcPr marL="50800" marR="50800" marT="25400" marB="25400"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sv-SE" sz="128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runaway</a:t>
                      </a:r>
                    </a:p>
                  </a:txBody>
                  <a:tcPr marL="50800" marR="50800" marT="25400" marB="25400"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sv-SE" sz="128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39.5</a:t>
                      </a:r>
                    </a:p>
                  </a:txBody>
                  <a:tcPr marL="50800" marR="50800" marT="25400" marB="25400"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sv-SE" sz="128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23.2</a:t>
                      </a:r>
                    </a:p>
                  </a:txBody>
                  <a:tcPr marL="50800" marR="50800" marT="25400" marB="25400"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sv-SE" sz="128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18.0</a:t>
                      </a:r>
                    </a:p>
                  </a:txBody>
                  <a:tcPr marL="50800" marR="50800" marT="25400" marB="25400"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sv-SE" sz="128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15.8</a:t>
                      </a:r>
                    </a:p>
                  </a:txBody>
                  <a:tcPr marL="50800" marR="50800" marT="25400" marB="25400"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sv-SE" sz="128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14.8</a:t>
                      </a:r>
                    </a:p>
                  </a:txBody>
                  <a:tcPr marL="50800" marR="50800" marT="25400" marB="25400"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sv-SE" sz="128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14.5</a:t>
                      </a:r>
                    </a:p>
                  </a:txBody>
                  <a:tcPr marL="50800" marR="50800" marT="25400" marB="25400"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sv-SE" sz="128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14.6</a:t>
                      </a:r>
                    </a:p>
                  </a:txBody>
                  <a:tcPr marL="50800" marR="50800" marT="25400" marB="25400">
                    <a:solidFill>
                      <a:srgbClr val="E8EF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74551830"/>
                  </a:ext>
                </a:extLst>
              </a:tr>
              <a:tr h="165100">
                <a:tc>
                  <a:txBody>
                    <a:bodyPr/>
                    <a:lstStyle/>
                    <a:p>
                      <a:pPr algn="l"/>
                      <a:r>
                        <a:rPr lang="sv-SE" sz="128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Loss per leg, 1 nH (W)</a:t>
                      </a:r>
                    </a:p>
                  </a:txBody>
                  <a:tcPr marL="50800" marR="508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sv-SE" sz="128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runaway</a:t>
                      </a:r>
                    </a:p>
                  </a:txBody>
                  <a:tcPr marL="50800" marR="508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sv-SE" sz="128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38.4</a:t>
                      </a:r>
                    </a:p>
                  </a:txBody>
                  <a:tcPr marL="50800" marR="508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sv-SE" sz="128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22.2</a:t>
                      </a:r>
                    </a:p>
                  </a:txBody>
                  <a:tcPr marL="50800" marR="508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sv-SE" sz="128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17.0</a:t>
                      </a:r>
                    </a:p>
                  </a:txBody>
                  <a:tcPr marL="50800" marR="508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sv-SE" sz="128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14.8</a:t>
                      </a:r>
                    </a:p>
                  </a:txBody>
                  <a:tcPr marL="50800" marR="508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sv-SE" sz="128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13.7</a:t>
                      </a:r>
                    </a:p>
                  </a:txBody>
                  <a:tcPr marL="50800" marR="508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sv-SE" sz="128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13.3</a:t>
                      </a:r>
                    </a:p>
                  </a:txBody>
                  <a:tcPr marL="50800" marR="508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sv-SE" sz="128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13.3</a:t>
                      </a:r>
                    </a:p>
                  </a:txBody>
                  <a:tcPr marL="50800" marR="50800" marT="25400" marB="25400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43524689"/>
                  </a:ext>
                </a:extLst>
              </a:tr>
              <a:tr h="165100">
                <a:tc>
                  <a:txBody>
                    <a:bodyPr/>
                    <a:lstStyle/>
                    <a:p>
                      <a:pPr algn="l"/>
                      <a:r>
                        <a:rPr lang="sv-SE" sz="128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  conduction at T</a:t>
                      </a:r>
                      <a:r>
                        <a:rPr lang="sv-SE" sz="1280" baseline="-2500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j</a:t>
                      </a:r>
                      <a:r>
                        <a:rPr lang="sv-SE" sz="128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 (W)</a:t>
                      </a:r>
                    </a:p>
                  </a:txBody>
                  <a:tcPr marL="50800" marR="50800" marT="25400" marB="25400"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sv-SE" sz="128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runaway</a:t>
                      </a:r>
                    </a:p>
                  </a:txBody>
                  <a:tcPr marL="50800" marR="50800" marT="25400" marB="25400"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sv-SE" sz="128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33.9</a:t>
                      </a:r>
                    </a:p>
                  </a:txBody>
                  <a:tcPr marL="50800" marR="50800" marT="25400" marB="25400"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sv-SE" sz="128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18.0</a:t>
                      </a:r>
                    </a:p>
                  </a:txBody>
                  <a:tcPr marL="50800" marR="50800" marT="25400" marB="25400"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sv-SE" sz="128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12.5</a:t>
                      </a:r>
                    </a:p>
                  </a:txBody>
                  <a:tcPr marL="50800" marR="50800" marT="25400" marB="25400"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sv-SE" sz="128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9.7</a:t>
                      </a:r>
                    </a:p>
                  </a:txBody>
                  <a:tcPr marL="50800" marR="50800" marT="25400" marB="25400"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sv-SE" sz="128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7.9</a:t>
                      </a:r>
                    </a:p>
                  </a:txBody>
                  <a:tcPr marL="50800" marR="50800" marT="25400" marB="25400"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sv-SE" sz="128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6.7</a:t>
                      </a:r>
                    </a:p>
                  </a:txBody>
                  <a:tcPr marL="50800" marR="50800" marT="25400" marB="25400"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sv-SE" sz="128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5.8</a:t>
                      </a:r>
                    </a:p>
                  </a:txBody>
                  <a:tcPr marL="50800" marR="50800" marT="25400" marB="25400">
                    <a:solidFill>
                      <a:srgbClr val="E8EF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011057687"/>
                  </a:ext>
                </a:extLst>
              </a:tr>
              <a:tr h="165100">
                <a:tc>
                  <a:txBody>
                    <a:bodyPr/>
                    <a:lstStyle/>
                    <a:p>
                      <a:pPr algn="l"/>
                      <a:r>
                        <a:rPr lang="en-US" sz="128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  switching 0.5 / 1 nH (W)</a:t>
                      </a:r>
                      <a:endParaRPr lang="sv-SE" sz="1280">
                        <a:solidFill>
                          <a:srgbClr val="1E1E1E"/>
                        </a:solidFill>
                        <a:latin typeface="Arial" panose="020B0604020202020204" pitchFamily="34" charset="0"/>
                      </a:endParaRPr>
                    </a:p>
                  </a:txBody>
                  <a:tcPr marL="50800" marR="508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sv-SE" sz="128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–</a:t>
                      </a:r>
                    </a:p>
                  </a:txBody>
                  <a:tcPr marL="50800" marR="508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sv-SE" sz="128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5.0 / 4.2</a:t>
                      </a:r>
                    </a:p>
                  </a:txBody>
                  <a:tcPr marL="50800" marR="508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sv-SE" sz="128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4.6 / 3.8</a:t>
                      </a:r>
                    </a:p>
                  </a:txBody>
                  <a:tcPr marL="50800" marR="508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sv-SE" sz="128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5.0 / 4.1</a:t>
                      </a:r>
                    </a:p>
                  </a:txBody>
                  <a:tcPr marL="50800" marR="508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sv-SE" sz="128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5.6 / 4.6</a:t>
                      </a:r>
                    </a:p>
                  </a:txBody>
                  <a:tcPr marL="50800" marR="508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sv-SE" sz="128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6.4 / 5.3</a:t>
                      </a:r>
                    </a:p>
                  </a:txBody>
                  <a:tcPr marL="50800" marR="508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sv-SE" sz="128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7.3 / 6.1</a:t>
                      </a:r>
                    </a:p>
                  </a:txBody>
                  <a:tcPr marL="50800" marR="508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sv-SE" sz="128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8.2 / 6.9</a:t>
                      </a:r>
                    </a:p>
                  </a:txBody>
                  <a:tcPr marL="50800" marR="50800" marT="25400" marB="25400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443704329"/>
                  </a:ext>
                </a:extLst>
              </a:tr>
              <a:tr h="165100">
                <a:tc>
                  <a:txBody>
                    <a:bodyPr/>
                    <a:lstStyle/>
                    <a:p>
                      <a:pPr algn="l"/>
                      <a:r>
                        <a:rPr lang="sv-SE" sz="128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Efficiency, 0.5 nH (%)</a:t>
                      </a:r>
                    </a:p>
                  </a:txBody>
                  <a:tcPr marL="50800" marR="50800" marT="25400" marB="25400"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sv-SE" sz="128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–</a:t>
                      </a:r>
                    </a:p>
                  </a:txBody>
                  <a:tcPr marL="50800" marR="50800" marT="25400" marB="25400"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sv-SE" sz="128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99.37</a:t>
                      </a:r>
                    </a:p>
                  </a:txBody>
                  <a:tcPr marL="50800" marR="50800" marT="25400" marB="25400"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sv-SE" sz="128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99.63</a:t>
                      </a:r>
                    </a:p>
                  </a:txBody>
                  <a:tcPr marL="50800" marR="50800" marT="25400" marB="25400"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sv-SE" sz="128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99.71</a:t>
                      </a:r>
                    </a:p>
                  </a:txBody>
                  <a:tcPr marL="50800" marR="50800" marT="25400" marB="25400"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sv-SE" sz="128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99.75</a:t>
                      </a:r>
                    </a:p>
                  </a:txBody>
                  <a:tcPr marL="50800" marR="50800" marT="25400" marB="25400"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sv-SE" sz="128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99.76</a:t>
                      </a:r>
                    </a:p>
                  </a:txBody>
                  <a:tcPr marL="50800" marR="50800" marT="25400" marB="25400"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sv-SE" sz="128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99.77</a:t>
                      </a:r>
                    </a:p>
                  </a:txBody>
                  <a:tcPr marL="50800" marR="50800" marT="25400" marB="25400"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sv-SE" sz="128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99.77</a:t>
                      </a:r>
                    </a:p>
                  </a:txBody>
                  <a:tcPr marL="50800" marR="50800" marT="25400" marB="25400">
                    <a:solidFill>
                      <a:srgbClr val="E8EF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562995049"/>
                  </a:ext>
                </a:extLst>
              </a:tr>
              <a:tr h="165100">
                <a:tc>
                  <a:txBody>
                    <a:bodyPr/>
                    <a:lstStyle/>
                    <a:p>
                      <a:pPr algn="l"/>
                      <a:r>
                        <a:rPr lang="sv-SE" sz="128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Loss per device (W)</a:t>
                      </a:r>
                    </a:p>
                  </a:txBody>
                  <a:tcPr marL="50800" marR="508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sv-SE" sz="128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runaway</a:t>
                      </a:r>
                    </a:p>
                  </a:txBody>
                  <a:tcPr marL="50800" marR="508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sv-SE" sz="128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9.9</a:t>
                      </a:r>
                    </a:p>
                  </a:txBody>
                  <a:tcPr marL="50800" marR="508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sv-SE" sz="128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3.9</a:t>
                      </a:r>
                    </a:p>
                  </a:txBody>
                  <a:tcPr marL="50800" marR="508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sv-SE" sz="128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2.2</a:t>
                      </a:r>
                    </a:p>
                  </a:txBody>
                  <a:tcPr marL="50800" marR="508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sv-SE" sz="128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1.6</a:t>
                      </a:r>
                    </a:p>
                  </a:txBody>
                  <a:tcPr marL="50800" marR="508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sv-SE" sz="128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1.2</a:t>
                      </a:r>
                    </a:p>
                  </a:txBody>
                  <a:tcPr marL="50800" marR="508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sv-SE" sz="128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1.0</a:t>
                      </a:r>
                    </a:p>
                  </a:txBody>
                  <a:tcPr marL="50800" marR="508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sv-SE" sz="128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0.9</a:t>
                      </a:r>
                    </a:p>
                  </a:txBody>
                  <a:tcPr marL="50800" marR="50800" marT="25400" marB="25400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666058518"/>
                  </a:ext>
                </a:extLst>
              </a:tr>
              <a:tr h="165100">
                <a:tc>
                  <a:txBody>
                    <a:bodyPr/>
                    <a:lstStyle/>
                    <a:p>
                      <a:pPr algn="l"/>
                      <a:r>
                        <a:rPr lang="sv-SE" sz="128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T</a:t>
                      </a:r>
                      <a:r>
                        <a:rPr lang="sv-SE" sz="1280" baseline="-2500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j</a:t>
                      </a:r>
                      <a:r>
                        <a:rPr lang="sv-SE" sz="128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 (°C)</a:t>
                      </a:r>
                    </a:p>
                  </a:txBody>
                  <a:tcPr marL="50800" marR="50800" marT="25400" marB="25400"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sv-SE" sz="128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runaway</a:t>
                      </a:r>
                    </a:p>
                  </a:txBody>
                  <a:tcPr marL="50800" marR="50800" marT="25400" marB="25400"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sv-SE" sz="128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141</a:t>
                      </a:r>
                    </a:p>
                  </a:txBody>
                  <a:tcPr marL="50800" marR="50800" marT="25400" marB="25400"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sv-SE" sz="128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84</a:t>
                      </a:r>
                    </a:p>
                  </a:txBody>
                  <a:tcPr marL="50800" marR="50800" marT="25400" marB="25400"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sv-SE" sz="128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69</a:t>
                      </a:r>
                    </a:p>
                  </a:txBody>
                  <a:tcPr marL="50800" marR="50800" marT="25400" marB="25400"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sv-SE" sz="128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62</a:t>
                      </a:r>
                    </a:p>
                  </a:txBody>
                  <a:tcPr marL="50800" marR="50800" marT="25400" marB="25400"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sv-SE" sz="128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59</a:t>
                      </a:r>
                    </a:p>
                  </a:txBody>
                  <a:tcPr marL="50800" marR="50800" marT="25400" marB="25400"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sv-SE" sz="128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57</a:t>
                      </a:r>
                    </a:p>
                  </a:txBody>
                  <a:tcPr marL="50800" marR="50800" marT="25400" marB="25400"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sv-SE" sz="128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56</a:t>
                      </a:r>
                    </a:p>
                  </a:txBody>
                  <a:tcPr marL="50800" marR="50800" marT="25400" marB="25400">
                    <a:solidFill>
                      <a:srgbClr val="E8EF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756141216"/>
                  </a:ext>
                </a:extLst>
              </a:tr>
              <a:tr h="165100">
                <a:tc>
                  <a:txBody>
                    <a:bodyPr/>
                    <a:lstStyle/>
                    <a:p>
                      <a:pPr algn="l"/>
                      <a:r>
                        <a:rPr lang="en-US" sz="128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Peak V</a:t>
                      </a:r>
                      <a:r>
                        <a:rPr lang="en-US" sz="1280" baseline="-2500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DS</a:t>
                      </a:r>
                      <a:r>
                        <a:rPr lang="en-US" sz="128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 0.5 / 1 nH (V)</a:t>
                      </a:r>
                      <a:endParaRPr lang="sv-SE" sz="1280">
                        <a:solidFill>
                          <a:srgbClr val="1E1E1E"/>
                        </a:solidFill>
                        <a:latin typeface="Arial" panose="020B0604020202020204" pitchFamily="34" charset="0"/>
                      </a:endParaRPr>
                    </a:p>
                  </a:txBody>
                  <a:tcPr marL="50800" marR="508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sv-SE" sz="128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195 / 292</a:t>
                      </a:r>
                    </a:p>
                  </a:txBody>
                  <a:tcPr marL="50800" marR="508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sv-SE" sz="128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131 / 180</a:t>
                      </a:r>
                    </a:p>
                  </a:txBody>
                  <a:tcPr marL="50800" marR="508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sv-SE" sz="128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96 / 123</a:t>
                      </a:r>
                    </a:p>
                  </a:txBody>
                  <a:tcPr marL="50800" marR="508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sv-SE" sz="128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83 / 93</a:t>
                      </a:r>
                    </a:p>
                  </a:txBody>
                  <a:tcPr marL="50800" marR="508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sv-SE" sz="128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86 / 85</a:t>
                      </a:r>
                    </a:p>
                  </a:txBody>
                  <a:tcPr marL="50800" marR="508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sv-SE" sz="128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86 / 84</a:t>
                      </a:r>
                    </a:p>
                  </a:txBody>
                  <a:tcPr marL="50800" marR="508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sv-SE" sz="128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84 / 86</a:t>
                      </a:r>
                    </a:p>
                  </a:txBody>
                  <a:tcPr marL="50800" marR="508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sv-SE" sz="128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83 / 87</a:t>
                      </a:r>
                    </a:p>
                  </a:txBody>
                  <a:tcPr marL="50800" marR="50800" marT="25400" marB="25400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37041427"/>
                  </a:ext>
                </a:extLst>
              </a:tr>
              <a:tr h="165100">
                <a:tc>
                  <a:txBody>
                    <a:bodyPr/>
                    <a:lstStyle/>
                    <a:p>
                      <a:pPr algn="l"/>
                      <a:r>
                        <a:rPr lang="sv-SE" sz="128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Driver channels per leg</a:t>
                      </a:r>
                    </a:p>
                  </a:txBody>
                  <a:tcPr marL="50800" marR="50800" marT="25400" marB="25400"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sv-SE" sz="128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2</a:t>
                      </a:r>
                    </a:p>
                  </a:txBody>
                  <a:tcPr marL="50800" marR="50800" marT="25400" marB="25400"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sv-SE" sz="128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4</a:t>
                      </a:r>
                    </a:p>
                  </a:txBody>
                  <a:tcPr marL="50800" marR="50800" marT="25400" marB="25400"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sv-SE" sz="128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6</a:t>
                      </a:r>
                    </a:p>
                  </a:txBody>
                  <a:tcPr marL="50800" marR="50800" marT="25400" marB="25400"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sv-SE" sz="128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8</a:t>
                      </a:r>
                    </a:p>
                  </a:txBody>
                  <a:tcPr marL="50800" marR="50800" marT="25400" marB="25400"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sv-SE" sz="128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10</a:t>
                      </a:r>
                    </a:p>
                  </a:txBody>
                  <a:tcPr marL="50800" marR="50800" marT="25400" marB="25400"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sv-SE" sz="128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12</a:t>
                      </a:r>
                    </a:p>
                  </a:txBody>
                  <a:tcPr marL="50800" marR="50800" marT="25400" marB="25400"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sv-SE" sz="128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14</a:t>
                      </a:r>
                    </a:p>
                  </a:txBody>
                  <a:tcPr marL="50800" marR="50800" marT="25400" marB="25400"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sv-SE" sz="128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16</a:t>
                      </a:r>
                    </a:p>
                  </a:txBody>
                  <a:tcPr marL="50800" marR="50800" marT="25400" marB="25400">
                    <a:solidFill>
                      <a:srgbClr val="E8EF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77768840"/>
                  </a:ext>
                </a:extLst>
              </a:tr>
            </a:tbl>
          </a:graphicData>
        </a:graphic>
      </p:graphicFrame>
      <p:sp>
        <p:nvSpPr>
          <p:cNvPr id="7" name="TextBox 6">
            <a:extLst>
              <a:ext uri="{FF2B5EF4-FFF2-40B4-BE49-F238E27FC236}">
                <a16:creationId xmlns:a16="http://schemas.microsoft.com/office/drawing/2014/main" id="{B0DC3262-EC01-2B9C-FD13-A8349CD0B63D}"/>
              </a:ext>
            </a:extLst>
          </p:cNvPr>
          <p:cNvSpPr txBox="1"/>
          <p:nvPr/>
        </p:nvSpPr>
        <p:spPr>
          <a:xfrm>
            <a:off x="228600" y="4597400"/>
            <a:ext cx="7874000" cy="307777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n-US" sz="730">
                <a:solidFill>
                  <a:srgbClr val="787878"/>
                </a:solidFill>
                <a:latin typeface="Arial" panose="020B0604020202020204" pitchFamily="34" charset="0"/>
              </a:rPr>
              <a:t>Semiconductor losses only; leg loss / (2 n) = loss per device; T_j on the load-test board at 40 °C ambient, 50 kHz; efficiency relative to 6.25 kW per leg.</a:t>
            </a:r>
            <a:endParaRPr lang="sv-SE" sz="730" dirty="0" err="1">
              <a:solidFill>
                <a:srgbClr val="787878"/>
              </a:solidFill>
              <a:latin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614189207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C60866F-AE89-9388-102F-A0314005416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z="1800"/>
              <a:t>Switching frequency: losses, DC-link capacitors, current ripple</a:t>
            </a:r>
            <a:endParaRPr lang="sv-SE" sz="180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26AE31D7-1BBD-D1EA-0AFA-2AE7EE5F734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sv-SE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40FE0D09-5653-3D77-6DCF-DD4B53F1D78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422A9A3-8636-4A04-BD48-3153280FB086}" type="slidenum">
              <a:rPr lang="sv-SE" smtClean="0"/>
              <a:pPr/>
              <a:t>15</a:t>
            </a:fld>
            <a:endParaRPr lang="sv-SE"/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E40B7886-DA25-230D-216A-6A43C15D1C28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30839" y="952500"/>
            <a:ext cx="7482322" cy="2667000"/>
          </a:xfrm>
          <a:prstGeom prst="rect">
            <a:avLst/>
          </a:prstGeom>
        </p:spPr>
      </p:pic>
      <p:sp>
        <p:nvSpPr>
          <p:cNvPr id="8" name="TextBox 7">
            <a:extLst>
              <a:ext uri="{FF2B5EF4-FFF2-40B4-BE49-F238E27FC236}">
                <a16:creationId xmlns:a16="http://schemas.microsoft.com/office/drawing/2014/main" id="{4EBBF235-2804-3193-392F-C3228E5555FE}"/>
              </a:ext>
            </a:extLst>
          </p:cNvPr>
          <p:cNvSpPr txBox="1"/>
          <p:nvPr/>
        </p:nvSpPr>
        <p:spPr>
          <a:xfrm>
            <a:off x="238125" y="3638550"/>
            <a:ext cx="8667750" cy="307777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pPr marL="406400" indent="-177800">
              <a:spcAft>
                <a:spcPts val="400"/>
              </a:spcAft>
              <a:buFont typeface="+mj-lt"/>
              <a:buChar char="•"/>
            </a:pPr>
            <a:r>
              <a:rPr lang="en-US" sz="1280">
                <a:solidFill>
                  <a:srgbClr val="1E1E1E"/>
                </a:solidFill>
                <a:latin typeface="Arial" panose="020B0604020202020204" pitchFamily="34" charset="0"/>
              </a:rPr>
              <a:t>(a) n = 4: 99.77 / 99.71 / 99.61 % at 20 / 50 / 100 kHz; (b) the voltage ripple sets the 2220 count (20 per leg at 50 kHz), ripple current needs only 7; (c) winding ripple Δi</a:t>
            </a:r>
            <a:r>
              <a:rPr lang="en-US" sz="1280" baseline="-25000">
                <a:solidFill>
                  <a:srgbClr val="1E1E1E"/>
                </a:solidFill>
                <a:latin typeface="Arial" panose="020B0604020202020204" pitchFamily="34" charset="0"/>
              </a:rPr>
              <a:t>pp</a:t>
            </a:r>
            <a:r>
              <a:rPr lang="en-US" sz="1280">
                <a:solidFill>
                  <a:srgbClr val="1E1E1E"/>
                </a:solidFill>
                <a:latin typeface="Arial" panose="020B0604020202020204" pitchFamily="34" charset="0"/>
              </a:rPr>
              <a:t> = V</a:t>
            </a:r>
            <a:r>
              <a:rPr lang="en-US" sz="1280" baseline="-25000">
                <a:solidFill>
                  <a:srgbClr val="1E1E1E"/>
                </a:solidFill>
                <a:latin typeface="Arial" panose="020B0604020202020204" pitchFamily="34" charset="0"/>
              </a:rPr>
              <a:t>m</a:t>
            </a:r>
            <a:r>
              <a:rPr lang="en-US" sz="1280">
                <a:solidFill>
                  <a:srgbClr val="1E1E1E"/>
                </a:solidFill>
                <a:latin typeface="Arial" panose="020B0604020202020204" pitchFamily="34" charset="0"/>
              </a:rPr>
              <a:t>/(4 L</a:t>
            </a:r>
            <a:r>
              <a:rPr lang="en-US" sz="1280" baseline="-25000">
                <a:solidFill>
                  <a:srgbClr val="1E1E1E"/>
                </a:solidFill>
                <a:latin typeface="Arial" panose="020B0604020202020204" pitchFamily="34" charset="0"/>
              </a:rPr>
              <a:t>σ</a:t>
            </a:r>
            <a:r>
              <a:rPr lang="en-US" sz="1280">
                <a:solidFill>
                  <a:srgbClr val="1E1E1E"/>
                </a:solidFill>
                <a:latin typeface="Arial" panose="020B0604020202020204" pitchFamily="34" charset="0"/>
              </a:rPr>
              <a:t> f</a:t>
            </a:r>
            <a:r>
              <a:rPr lang="en-US" sz="1280" baseline="-25000">
                <a:solidFill>
                  <a:srgbClr val="1E1E1E"/>
                </a:solidFill>
                <a:latin typeface="Arial" panose="020B0604020202020204" pitchFamily="34" charset="0"/>
              </a:rPr>
              <a:t>sw</a:t>
            </a:r>
            <a:r>
              <a:rPr lang="en-US" sz="1280">
                <a:solidFill>
                  <a:srgbClr val="1E1E1E"/>
                </a:solidFill>
                <a:latin typeface="Arial" panose="020B0604020202020204" pitchFamily="34" charset="0"/>
              </a:rPr>
              <a:t>) depends on the machine</a:t>
            </a:r>
            <a:endParaRPr lang="sv-SE" sz="1280" dirty="0" err="1">
              <a:solidFill>
                <a:srgbClr val="1E1E1E"/>
              </a:solidFill>
              <a:latin typeface="Arial" panose="020B0604020202020204" pitchFamily="34" charset="0"/>
            </a:endParaRPr>
          </a:p>
        </p:txBody>
      </p:sp>
      <p:sp>
        <p:nvSpPr>
          <p:cNvPr id="9" name="decision">
            <a:extLst>
              <a:ext uri="{FF2B5EF4-FFF2-40B4-BE49-F238E27FC236}">
                <a16:creationId xmlns:a16="http://schemas.microsoft.com/office/drawing/2014/main" id="{0C857E74-26D0-049A-BE20-1E54DB9DC17B}"/>
              </a:ext>
            </a:extLst>
          </p:cNvPr>
          <p:cNvSpPr/>
          <p:nvPr/>
        </p:nvSpPr>
        <p:spPr>
          <a:xfrm>
            <a:off x="238125" y="4400550"/>
            <a:ext cx="8667750" cy="381000"/>
          </a:xfrm>
          <a:prstGeom prst="roundRect">
            <a:avLst/>
          </a:prstGeom>
          <a:solidFill>
            <a:srgbClr val="EEF4FB"/>
          </a:solidFill>
          <a:ln w="158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101600" tIns="25400" bIns="25400" rtlCol="0" anchor="ctr">
            <a:noAutofit/>
          </a:bodyPr>
          <a:lstStyle/>
          <a:p>
            <a:r>
              <a:rPr lang="en-US" sz="1380" b="1">
                <a:solidFill>
                  <a:srgbClr val="1E1E1E"/>
                </a:solidFill>
                <a:latin typeface="Arial" panose="020B0604020202020204" pitchFamily="34" charset="0"/>
              </a:rPr>
              <a:t>Decision:</a:t>
            </a:r>
            <a:r>
              <a:rPr lang="en-US" sz="1380">
                <a:solidFill>
                  <a:srgbClr val="1E1E1E"/>
                </a:solidFill>
                <a:latin typeface="Arial" panose="020B0604020202020204" pitchFamily="34" charset="0"/>
              </a:rPr>
              <a:t> f</a:t>
            </a:r>
            <a:r>
              <a:rPr lang="en-US" sz="1380" baseline="-25000">
                <a:solidFill>
                  <a:srgbClr val="1E1E1E"/>
                </a:solidFill>
                <a:latin typeface="Arial" panose="020B0604020202020204" pitchFamily="34" charset="0"/>
              </a:rPr>
              <a:t>sw</a:t>
            </a:r>
            <a:r>
              <a:rPr lang="en-US" sz="1380">
                <a:solidFill>
                  <a:srgbClr val="1E1E1E"/>
                </a:solidFill>
                <a:latin typeface="Arial" panose="020B0604020202020204" pitchFamily="34" charset="0"/>
              </a:rPr>
              <a:t> ≥ 50 kHz (higher allowed by the machine); the DC link is sized for 50 kHz</a:t>
            </a:r>
            <a:endParaRPr lang="sv-SE" sz="1380" dirty="0">
              <a:solidFill>
                <a:srgbClr val="1E1E1E"/>
              </a:solidFill>
              <a:latin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369926991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87E1AD0-8A74-025F-C08D-3ACEE5C2B9D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z="2100"/>
              <a:t>DC-link sizing for a three-phase level</a:t>
            </a:r>
            <a:endParaRPr lang="sv-SE" sz="210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0A66130F-68FE-A34A-444F-84E9FE55E46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sv-SE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F1B070FC-AEEB-A6AC-E7EF-513C652835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422A9A3-8636-4A04-BD48-3153280FB086}" type="slidenum">
              <a:rPr lang="sv-SE" smtClean="0"/>
              <a:pPr/>
              <a:t>16</a:t>
            </a:fld>
            <a:endParaRPr lang="sv-SE"/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D362DE2F-E9B4-D575-1EF5-74850A067B84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38125" y="952500"/>
            <a:ext cx="4953000" cy="3067717"/>
          </a:xfrm>
          <a:prstGeom prst="rect">
            <a:avLst/>
          </a:prstGeom>
        </p:spPr>
      </p:pic>
      <p:graphicFrame>
        <p:nvGraphicFramePr>
          <p:cNvPr id="8" name="Table 7">
            <a:extLst>
              <a:ext uri="{FF2B5EF4-FFF2-40B4-BE49-F238E27FC236}">
                <a16:creationId xmlns:a16="http://schemas.microsoft.com/office/drawing/2014/main" id="{FCE9656F-0363-1589-B1AE-8A37C6C296A7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163031548"/>
              </p:ext>
            </p:extLst>
          </p:nvPr>
        </p:nvGraphicFramePr>
        <p:xfrm>
          <a:off x="5381625" y="952500"/>
          <a:ext cx="3524250" cy="104775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809625">
                  <a:extLst>
                    <a:ext uri="{9D8B030D-6E8A-4147-A177-3AD203B41FA5}">
                      <a16:colId xmlns:a16="http://schemas.microsoft.com/office/drawing/2014/main" val="2965643709"/>
                    </a:ext>
                  </a:extLst>
                </a:gridCol>
                <a:gridCol w="714375">
                  <a:extLst>
                    <a:ext uri="{9D8B030D-6E8A-4147-A177-3AD203B41FA5}">
                      <a16:colId xmlns:a16="http://schemas.microsoft.com/office/drawing/2014/main" val="2168326444"/>
                    </a:ext>
                  </a:extLst>
                </a:gridCol>
                <a:gridCol w="1095375">
                  <a:extLst>
                    <a:ext uri="{9D8B030D-6E8A-4147-A177-3AD203B41FA5}">
                      <a16:colId xmlns:a16="http://schemas.microsoft.com/office/drawing/2014/main" val="1100853096"/>
                    </a:ext>
                  </a:extLst>
                </a:gridCol>
                <a:gridCol w="904875">
                  <a:extLst>
                    <a:ext uri="{9D8B030D-6E8A-4147-A177-3AD203B41FA5}">
                      <a16:colId xmlns:a16="http://schemas.microsoft.com/office/drawing/2014/main" val="157275624"/>
                    </a:ext>
                  </a:extLst>
                </a:gridCol>
              </a:tblGrid>
              <a:tr h="165100">
                <a:tc>
                  <a:txBody>
                    <a:bodyPr/>
                    <a:lstStyle/>
                    <a:p>
                      <a:pPr algn="l"/>
                      <a:r>
                        <a:rPr lang="sv-SE" sz="1280" b="1">
                          <a:solidFill>
                            <a:srgbClr val="FFFFFF"/>
                          </a:solidFill>
                          <a:latin typeface="Arial" panose="020B0604020202020204" pitchFamily="34" charset="0"/>
                        </a:rPr>
                        <a:t>f</a:t>
                      </a:r>
                      <a:r>
                        <a:rPr lang="sv-SE" sz="1280" b="1" baseline="-25000">
                          <a:solidFill>
                            <a:srgbClr val="FFFFFF"/>
                          </a:solidFill>
                          <a:latin typeface="Arial" panose="020B0604020202020204" pitchFamily="34" charset="0"/>
                        </a:rPr>
                        <a:t>sw</a:t>
                      </a:r>
                    </a:p>
                  </a:txBody>
                  <a:tcPr marL="50800" marR="50800" marT="25400" marB="25400">
                    <a:solidFill>
                      <a:srgbClr val="1954A6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l-GR" sz="1280" b="1">
                          <a:solidFill>
                            <a:srgbClr val="FFFFFF"/>
                          </a:solidFill>
                          <a:latin typeface="Arial" panose="020B0604020202020204" pitchFamily="34" charset="0"/>
                        </a:rPr>
                        <a:t>Δ</a:t>
                      </a:r>
                      <a:r>
                        <a:rPr lang="sv-SE" sz="1280" b="1">
                          <a:solidFill>
                            <a:srgbClr val="FFFFFF"/>
                          </a:solidFill>
                          <a:latin typeface="Arial" panose="020B0604020202020204" pitchFamily="34" charset="0"/>
                        </a:rPr>
                        <a:t>V</a:t>
                      </a:r>
                      <a:r>
                        <a:rPr lang="sv-SE" sz="1280" b="1" baseline="-25000">
                          <a:solidFill>
                            <a:srgbClr val="FFFFFF"/>
                          </a:solidFill>
                          <a:latin typeface="Arial" panose="020B0604020202020204" pitchFamily="34" charset="0"/>
                        </a:rPr>
                        <a:t>pp</a:t>
                      </a:r>
                    </a:p>
                  </a:txBody>
                  <a:tcPr marL="50800" marR="50800" marT="25400" marB="25400">
                    <a:solidFill>
                      <a:srgbClr val="1954A6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sv-SE" sz="1280" b="1">
                          <a:solidFill>
                            <a:srgbClr val="FFFFFF"/>
                          </a:solidFill>
                          <a:latin typeface="Arial" panose="020B0604020202020204" pitchFamily="34" charset="0"/>
                        </a:rPr>
                        <a:t>C</a:t>
                      </a:r>
                      <a:r>
                        <a:rPr lang="sv-SE" sz="1280" b="1" baseline="-25000">
                          <a:solidFill>
                            <a:srgbClr val="FFFFFF"/>
                          </a:solidFill>
                          <a:latin typeface="Arial" panose="020B0604020202020204" pitchFamily="34" charset="0"/>
                        </a:rPr>
                        <a:t>eff</a:t>
                      </a:r>
                      <a:r>
                        <a:rPr lang="sv-SE" sz="1280" b="1">
                          <a:solidFill>
                            <a:srgbClr val="FFFFFF"/>
                          </a:solidFill>
                          <a:latin typeface="Arial" panose="020B0604020202020204" pitchFamily="34" charset="0"/>
                        </a:rPr>
                        <a:t> level</a:t>
                      </a:r>
                    </a:p>
                  </a:txBody>
                  <a:tcPr marL="50800" marR="50800" marT="25400" marB="25400">
                    <a:solidFill>
                      <a:srgbClr val="1954A6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sv-SE" sz="1280" b="1">
                          <a:solidFill>
                            <a:srgbClr val="FFFFFF"/>
                          </a:solidFill>
                          <a:latin typeface="Arial" panose="020B0604020202020204" pitchFamily="34" charset="0"/>
                        </a:rPr>
                        <a:t>per leg</a:t>
                      </a:r>
                    </a:p>
                  </a:txBody>
                  <a:tcPr marL="50800" marR="50800" marT="25400" marB="25400">
                    <a:solidFill>
                      <a:srgbClr val="1954A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735056054"/>
                  </a:ext>
                </a:extLst>
              </a:tr>
              <a:tr h="165100">
                <a:tc>
                  <a:txBody>
                    <a:bodyPr/>
                    <a:lstStyle/>
                    <a:p>
                      <a:pPr algn="l"/>
                      <a:r>
                        <a:rPr lang="sv-SE" sz="128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50 kHz</a:t>
                      </a:r>
                    </a:p>
                  </a:txBody>
                  <a:tcPr marL="50800" marR="50800" marT="25400" marB="25400"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sv-SE" sz="128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2 %</a:t>
                      </a:r>
                    </a:p>
                  </a:txBody>
                  <a:tcPr marL="50800" marR="50800" marT="25400" marB="25400"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sv-SE" sz="128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573 µF</a:t>
                      </a:r>
                    </a:p>
                  </a:txBody>
                  <a:tcPr marL="50800" marR="50800" marT="25400" marB="25400"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sv-SE" sz="128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191 µF</a:t>
                      </a:r>
                    </a:p>
                  </a:txBody>
                  <a:tcPr marL="50800" marR="50800" marT="25400" marB="25400">
                    <a:solidFill>
                      <a:srgbClr val="E8EF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97407711"/>
                  </a:ext>
                </a:extLst>
              </a:tr>
              <a:tr h="165100">
                <a:tc>
                  <a:txBody>
                    <a:bodyPr/>
                    <a:lstStyle/>
                    <a:p>
                      <a:pPr algn="l"/>
                      <a:r>
                        <a:rPr lang="sv-SE" sz="128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50 kHz</a:t>
                      </a:r>
                    </a:p>
                  </a:txBody>
                  <a:tcPr marL="50800" marR="508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sv-SE" sz="1280" b="1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3 %</a:t>
                      </a:r>
                    </a:p>
                  </a:txBody>
                  <a:tcPr marL="50800" marR="508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sv-SE" sz="1280" b="1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382 µF</a:t>
                      </a:r>
                    </a:p>
                  </a:txBody>
                  <a:tcPr marL="50800" marR="508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sv-SE" sz="1280" b="1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127 µF</a:t>
                      </a:r>
                    </a:p>
                  </a:txBody>
                  <a:tcPr marL="50800" marR="50800" marT="25400" marB="25400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077767418"/>
                  </a:ext>
                </a:extLst>
              </a:tr>
              <a:tr h="165100">
                <a:tc>
                  <a:txBody>
                    <a:bodyPr/>
                    <a:lstStyle/>
                    <a:p>
                      <a:pPr algn="l"/>
                      <a:r>
                        <a:rPr lang="sv-SE" sz="128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100 kHz</a:t>
                      </a:r>
                    </a:p>
                  </a:txBody>
                  <a:tcPr marL="50800" marR="50800" marT="25400" marB="25400"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sv-SE" sz="128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2 %</a:t>
                      </a:r>
                    </a:p>
                  </a:txBody>
                  <a:tcPr marL="50800" marR="50800" marT="25400" marB="25400"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sv-SE" sz="128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287 µF</a:t>
                      </a:r>
                    </a:p>
                  </a:txBody>
                  <a:tcPr marL="50800" marR="50800" marT="25400" marB="25400"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sv-SE" sz="128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96 µF</a:t>
                      </a:r>
                    </a:p>
                  </a:txBody>
                  <a:tcPr marL="50800" marR="50800" marT="25400" marB="25400">
                    <a:solidFill>
                      <a:srgbClr val="E8EF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848007099"/>
                  </a:ext>
                </a:extLst>
              </a:tr>
              <a:tr h="165100">
                <a:tc>
                  <a:txBody>
                    <a:bodyPr/>
                    <a:lstStyle/>
                    <a:p>
                      <a:pPr algn="l"/>
                      <a:r>
                        <a:rPr lang="sv-SE" sz="128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100 kHz</a:t>
                      </a:r>
                    </a:p>
                  </a:txBody>
                  <a:tcPr marL="50800" marR="508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sv-SE" sz="128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3 %</a:t>
                      </a:r>
                    </a:p>
                  </a:txBody>
                  <a:tcPr marL="50800" marR="508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sv-SE" sz="128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191 µF</a:t>
                      </a:r>
                    </a:p>
                  </a:txBody>
                  <a:tcPr marL="50800" marR="508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sv-SE" sz="128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64 µF</a:t>
                      </a:r>
                    </a:p>
                  </a:txBody>
                  <a:tcPr marL="50800" marR="50800" marT="25400" marB="25400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264667534"/>
                  </a:ext>
                </a:extLst>
              </a:tr>
            </a:tbl>
          </a:graphicData>
        </a:graphic>
      </p:graphicFrame>
      <p:sp>
        <p:nvSpPr>
          <p:cNvPr id="9" name="TextBox 8">
            <a:extLst>
              <a:ext uri="{FF2B5EF4-FFF2-40B4-BE49-F238E27FC236}">
                <a16:creationId xmlns:a16="http://schemas.microsoft.com/office/drawing/2014/main" id="{A44E8FF5-69B8-457F-4609-A88CE213742B}"/>
              </a:ext>
            </a:extLst>
          </p:cNvPr>
          <p:cNvSpPr txBox="1"/>
          <p:nvPr/>
        </p:nvSpPr>
        <p:spPr>
          <a:xfrm>
            <a:off x="5381625" y="2333625"/>
            <a:ext cx="3524250" cy="307777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pPr marL="406400" indent="-177800">
              <a:spcAft>
                <a:spcPts val="400"/>
              </a:spcAft>
              <a:buFont typeface="+mj-lt"/>
              <a:buChar char="•"/>
            </a:pPr>
            <a:r>
              <a:rPr lang="en-US" sz="1280">
                <a:solidFill>
                  <a:srgbClr val="1E1E1E"/>
                </a:solidFill>
                <a:latin typeface="Arial" panose="020B0604020202020204" pitchFamily="34" charset="0"/>
              </a:rPr>
              <a:t>One 75 V level = three legs on one bus (SVPWM, M = 1.15, cos φ = 0.9)</a:t>
            </a:r>
          </a:p>
          <a:p>
            <a:pPr marL="406400" indent="-177800">
              <a:spcAft>
                <a:spcPts val="400"/>
              </a:spcAft>
              <a:buFont typeface="+mj-lt"/>
              <a:buChar char="•"/>
            </a:pPr>
            <a:r>
              <a:rPr lang="en-US" sz="1280">
                <a:solidFill>
                  <a:srgbClr val="1E1E1E"/>
                </a:solidFill>
                <a:latin typeface="Arial" panose="020B0604020202020204" pitchFamily="34" charset="0"/>
              </a:rPr>
              <a:t>Balanced three-phase: no 2f ripple; capacitor RMS current 85 A per level (≈ 28 A per leg)</a:t>
            </a:r>
          </a:p>
          <a:p>
            <a:pPr marL="406400" indent="-177800">
              <a:spcAft>
                <a:spcPts val="400"/>
              </a:spcAft>
              <a:buFont typeface="+mj-lt"/>
              <a:buChar char="•"/>
            </a:pPr>
            <a:r>
              <a:rPr lang="en-US" sz="1280">
                <a:solidFill>
                  <a:srgbClr val="1E1E1E"/>
                </a:solidFill>
                <a:latin typeface="Arial" panose="020B0604020202020204" pitchFamily="34" charset="0"/>
              </a:rPr>
              <a:t>Per switching period the bank supplies the difference between the cell current and its average: ΔV</a:t>
            </a:r>
            <a:r>
              <a:rPr lang="en-US" sz="1280" baseline="-25000">
                <a:solidFill>
                  <a:srgbClr val="1E1E1E"/>
                </a:solidFill>
                <a:latin typeface="Arial" panose="020B0604020202020204" pitchFamily="34" charset="0"/>
              </a:rPr>
              <a:t>pp</a:t>
            </a:r>
            <a:r>
              <a:rPr lang="en-US" sz="1280">
                <a:solidFill>
                  <a:srgbClr val="1E1E1E"/>
                </a:solidFill>
                <a:latin typeface="Arial" panose="020B0604020202020204" pitchFamily="34" charset="0"/>
              </a:rPr>
              <a:t> = ΔQ / C</a:t>
            </a:r>
            <a:endParaRPr lang="sv-SE" sz="1280" dirty="0" err="1">
              <a:solidFill>
                <a:srgbClr val="1E1E1E"/>
              </a:solidFill>
              <a:latin typeface="Arial" panose="020B0604020202020204" pitchFamily="34" charset="0"/>
            </a:endParaRPr>
          </a:p>
        </p:txBody>
      </p:sp>
      <p:sp>
        <p:nvSpPr>
          <p:cNvPr id="10" name="decision">
            <a:extLst>
              <a:ext uri="{FF2B5EF4-FFF2-40B4-BE49-F238E27FC236}">
                <a16:creationId xmlns:a16="http://schemas.microsoft.com/office/drawing/2014/main" id="{884299B8-6148-C73D-1EB9-CBC85D5C44B1}"/>
              </a:ext>
            </a:extLst>
          </p:cNvPr>
          <p:cNvSpPr/>
          <p:nvPr/>
        </p:nvSpPr>
        <p:spPr>
          <a:xfrm>
            <a:off x="238125" y="4400550"/>
            <a:ext cx="8667750" cy="381000"/>
          </a:xfrm>
          <a:prstGeom prst="roundRect">
            <a:avLst/>
          </a:prstGeom>
          <a:solidFill>
            <a:srgbClr val="EEF4FB"/>
          </a:solidFill>
          <a:ln w="158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101600" tIns="25400" bIns="25400" rtlCol="0" anchor="ctr">
            <a:noAutofit/>
          </a:bodyPr>
          <a:lstStyle/>
          <a:p>
            <a:r>
              <a:rPr lang="sv-SE" sz="1380" b="1">
                <a:solidFill>
                  <a:srgbClr val="1E1E1E"/>
                </a:solidFill>
                <a:latin typeface="Arial" panose="020B0604020202020204" pitchFamily="34" charset="0"/>
              </a:rPr>
              <a:t>Decision:</a:t>
            </a:r>
            <a:r>
              <a:rPr lang="sv-SE" sz="1380">
                <a:solidFill>
                  <a:srgbClr val="1E1E1E"/>
                </a:solidFill>
                <a:latin typeface="Arial" panose="020B0604020202020204" pitchFamily="34" charset="0"/>
              </a:rPr>
              <a:t> </a:t>
            </a:r>
            <a:r>
              <a:rPr lang="el-GR" sz="1380">
                <a:solidFill>
                  <a:srgbClr val="1E1E1E"/>
                </a:solidFill>
                <a:latin typeface="Arial" panose="020B0604020202020204" pitchFamily="34" charset="0"/>
              </a:rPr>
              <a:t>Δ</a:t>
            </a:r>
            <a:r>
              <a:rPr lang="sv-SE" sz="1380">
                <a:solidFill>
                  <a:srgbClr val="1E1E1E"/>
                </a:solidFill>
                <a:latin typeface="Arial" panose="020B0604020202020204" pitchFamily="34" charset="0"/>
              </a:rPr>
              <a:t>V</a:t>
            </a:r>
            <a:r>
              <a:rPr lang="sv-SE" sz="1380" baseline="-25000">
                <a:solidFill>
                  <a:srgbClr val="1E1E1E"/>
                </a:solidFill>
                <a:latin typeface="Arial" panose="020B0604020202020204" pitchFamily="34" charset="0"/>
              </a:rPr>
              <a:t>pp</a:t>
            </a:r>
            <a:r>
              <a:rPr lang="sv-SE" sz="1380">
                <a:solidFill>
                  <a:srgbClr val="1E1E1E"/>
                </a:solidFill>
                <a:latin typeface="Arial" panose="020B0604020202020204" pitchFamily="34" charset="0"/>
              </a:rPr>
              <a:t> ≤ 3 % (2.25 V) at 50 kHz ⇒ 127 µF </a:t>
            </a:r>
            <a:r>
              <a:rPr lang="sv-SE" sz="1380" b="1">
                <a:solidFill>
                  <a:srgbClr val="1E1E1E"/>
                </a:solidFill>
                <a:latin typeface="Arial" panose="020B0604020202020204" pitchFamily="34" charset="0"/>
              </a:rPr>
              <a:t>effective</a:t>
            </a:r>
            <a:r>
              <a:rPr lang="sv-SE" sz="1380">
                <a:solidFill>
                  <a:srgbClr val="1E1E1E"/>
                </a:solidFill>
                <a:latin typeface="Arial" panose="020B0604020202020204" pitchFamily="34" charset="0"/>
              </a:rPr>
              <a:t> per leg board ⇒ 20 × 22 µF 2220</a:t>
            </a:r>
            <a:endParaRPr lang="sv-SE" sz="1380" dirty="0">
              <a:solidFill>
                <a:srgbClr val="1E1E1E"/>
              </a:solidFill>
              <a:latin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406719482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BB0D127-28A0-9875-4607-767FB6C4375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sv-SE" sz="2100"/>
              <a:t>Capacitor selection: effective capacitance at 75 V</a:t>
            </a: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748CC138-6437-C03A-22D8-C5A94125355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sv-SE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4EC383F4-792C-4D4A-B86A-28FBF26C54F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422A9A3-8636-4A04-BD48-3153280FB086}" type="slidenum">
              <a:rPr lang="sv-SE" smtClean="0"/>
              <a:pPr/>
              <a:t>17</a:t>
            </a:fld>
            <a:endParaRPr lang="sv-SE"/>
          </a:p>
        </p:txBody>
      </p:sp>
      <p:graphicFrame>
        <p:nvGraphicFramePr>
          <p:cNvPr id="6" name="Table 5">
            <a:extLst>
              <a:ext uri="{FF2B5EF4-FFF2-40B4-BE49-F238E27FC236}">
                <a16:creationId xmlns:a16="http://schemas.microsoft.com/office/drawing/2014/main" id="{C8EC1FAC-B103-1924-1F00-391835445DC6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523882389"/>
              </p:ext>
            </p:extLst>
          </p:nvPr>
        </p:nvGraphicFramePr>
        <p:xfrm>
          <a:off x="238125" y="952500"/>
          <a:ext cx="8667750" cy="146685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762250">
                  <a:extLst>
                    <a:ext uri="{9D8B030D-6E8A-4147-A177-3AD203B41FA5}">
                      <a16:colId xmlns:a16="http://schemas.microsoft.com/office/drawing/2014/main" val="2938533839"/>
                    </a:ext>
                  </a:extLst>
                </a:gridCol>
                <a:gridCol w="666750">
                  <a:extLst>
                    <a:ext uri="{9D8B030D-6E8A-4147-A177-3AD203B41FA5}">
                      <a16:colId xmlns:a16="http://schemas.microsoft.com/office/drawing/2014/main" val="1359536012"/>
                    </a:ext>
                  </a:extLst>
                </a:gridCol>
                <a:gridCol w="1714500">
                  <a:extLst>
                    <a:ext uri="{9D8B030D-6E8A-4147-A177-3AD203B41FA5}">
                      <a16:colId xmlns:a16="http://schemas.microsoft.com/office/drawing/2014/main" val="3975097223"/>
                    </a:ext>
                  </a:extLst>
                </a:gridCol>
                <a:gridCol w="714375">
                  <a:extLst>
                    <a:ext uri="{9D8B030D-6E8A-4147-A177-3AD203B41FA5}">
                      <a16:colId xmlns:a16="http://schemas.microsoft.com/office/drawing/2014/main" val="1885712734"/>
                    </a:ext>
                  </a:extLst>
                </a:gridCol>
                <a:gridCol w="1143000">
                  <a:extLst>
                    <a:ext uri="{9D8B030D-6E8A-4147-A177-3AD203B41FA5}">
                      <a16:colId xmlns:a16="http://schemas.microsoft.com/office/drawing/2014/main" val="2171010914"/>
                    </a:ext>
                  </a:extLst>
                </a:gridCol>
                <a:gridCol w="1666875">
                  <a:extLst>
                    <a:ext uri="{9D8B030D-6E8A-4147-A177-3AD203B41FA5}">
                      <a16:colId xmlns:a16="http://schemas.microsoft.com/office/drawing/2014/main" val="3422930446"/>
                    </a:ext>
                  </a:extLst>
                </a:gridCol>
              </a:tblGrid>
              <a:tr h="165100">
                <a:tc>
                  <a:txBody>
                    <a:bodyPr/>
                    <a:lstStyle/>
                    <a:p>
                      <a:pPr algn="l"/>
                      <a:r>
                        <a:rPr lang="sv-SE" sz="1280" b="1">
                          <a:solidFill>
                            <a:srgbClr val="FFFFFF"/>
                          </a:solidFill>
                          <a:latin typeface="Arial" panose="020B0604020202020204" pitchFamily="34" charset="0"/>
                        </a:rPr>
                        <a:t>Part (100 V X7S)</a:t>
                      </a:r>
                    </a:p>
                  </a:txBody>
                  <a:tcPr marL="50800" marR="50800" marT="25400" marB="25400">
                    <a:solidFill>
                      <a:srgbClr val="1954A6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sv-SE" sz="1280" b="1">
                          <a:solidFill>
                            <a:srgbClr val="FFFFFF"/>
                          </a:solidFill>
                          <a:latin typeface="Arial" panose="020B0604020202020204" pitchFamily="34" charset="0"/>
                        </a:rPr>
                        <a:t>Size</a:t>
                      </a:r>
                    </a:p>
                  </a:txBody>
                  <a:tcPr marL="50800" marR="50800" marT="25400" marB="25400">
                    <a:solidFill>
                      <a:srgbClr val="1954A6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nb-NO" sz="1280" b="1">
                          <a:solidFill>
                            <a:srgbClr val="FFFFFF"/>
                          </a:solidFill>
                          <a:latin typeface="Arial" panose="020B0604020202020204" pitchFamily="34" charset="0"/>
                        </a:rPr>
                        <a:t>C</a:t>
                      </a:r>
                      <a:r>
                        <a:rPr lang="nb-NO" sz="1280" b="1" baseline="-25000">
                          <a:solidFill>
                            <a:srgbClr val="FFFFFF"/>
                          </a:solidFill>
                          <a:latin typeface="Arial" panose="020B0604020202020204" pitchFamily="34" charset="0"/>
                        </a:rPr>
                        <a:t>nom</a:t>
                      </a:r>
                      <a:r>
                        <a:rPr lang="nb-NO" sz="1280" b="1">
                          <a:solidFill>
                            <a:srgbClr val="FFFFFF"/>
                          </a:solidFill>
                          <a:latin typeface="Arial" panose="020B0604020202020204" pitchFamily="34" charset="0"/>
                        </a:rPr>
                        <a:t> → C at 75 V</a:t>
                      </a:r>
                      <a:endParaRPr lang="sv-SE" sz="1280" b="1">
                        <a:solidFill>
                          <a:srgbClr val="FFFFFF"/>
                        </a:solidFill>
                        <a:latin typeface="Arial" panose="020B0604020202020204" pitchFamily="34" charset="0"/>
                      </a:endParaRPr>
                    </a:p>
                  </a:txBody>
                  <a:tcPr marL="50800" marR="50800" marT="25400" marB="25400">
                    <a:solidFill>
                      <a:srgbClr val="1954A6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sv-SE" sz="1280" b="1">
                          <a:solidFill>
                            <a:srgbClr val="FFFFFF"/>
                          </a:solidFill>
                          <a:latin typeface="Arial" panose="020B0604020202020204" pitchFamily="34" charset="0"/>
                        </a:rPr>
                        <a:t>Kept</a:t>
                      </a:r>
                    </a:p>
                  </a:txBody>
                  <a:tcPr marL="50800" marR="50800" marT="25400" marB="25400">
                    <a:solidFill>
                      <a:srgbClr val="1954A6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sv-SE" sz="1280" b="1">
                          <a:solidFill>
                            <a:srgbClr val="FFFFFF"/>
                          </a:solidFill>
                          <a:latin typeface="Arial" panose="020B0604020202020204" pitchFamily="34" charset="0"/>
                        </a:rPr>
                        <a:t>ESR 50 kHz</a:t>
                      </a:r>
                    </a:p>
                  </a:txBody>
                  <a:tcPr marL="50800" marR="50800" marT="25400" marB="25400">
                    <a:solidFill>
                      <a:srgbClr val="1954A6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sv-SE" sz="1280" b="1">
                          <a:solidFill>
                            <a:srgbClr val="FFFFFF"/>
                          </a:solidFill>
                          <a:latin typeface="Arial" panose="020B0604020202020204" pitchFamily="34" charset="0"/>
                        </a:rPr>
                        <a:t>Parts / leg (3 %)</a:t>
                      </a:r>
                    </a:p>
                  </a:txBody>
                  <a:tcPr marL="50800" marR="50800" marT="25400" marB="25400">
                    <a:solidFill>
                      <a:srgbClr val="1954A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796647817"/>
                  </a:ext>
                </a:extLst>
              </a:tr>
              <a:tr h="165100">
                <a:tc>
                  <a:txBody>
                    <a:bodyPr/>
                    <a:lstStyle/>
                    <a:p>
                      <a:pPr algn="l"/>
                      <a:r>
                        <a:rPr lang="sv-SE" sz="128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Murata GRM32EC72A106KE05</a:t>
                      </a:r>
                    </a:p>
                  </a:txBody>
                  <a:tcPr marL="50800" marR="50800" marT="25400" marB="25400"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sv-SE" sz="128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1210</a:t>
                      </a:r>
                    </a:p>
                  </a:txBody>
                  <a:tcPr marL="50800" marR="50800" marT="25400" marB="25400"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sv-SE" sz="128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10.0 → 1.50 µF</a:t>
                      </a:r>
                    </a:p>
                  </a:txBody>
                  <a:tcPr marL="50800" marR="50800" marT="25400" marB="25400"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sv-SE" sz="128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15 %</a:t>
                      </a:r>
                    </a:p>
                  </a:txBody>
                  <a:tcPr marL="50800" marR="50800" marT="25400" marB="25400"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sv-SE" sz="128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–</a:t>
                      </a:r>
                    </a:p>
                  </a:txBody>
                  <a:tcPr marL="50800" marR="50800" marT="25400" marB="25400"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sv-SE" sz="128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83</a:t>
                      </a:r>
                    </a:p>
                  </a:txBody>
                  <a:tcPr marL="50800" marR="50800" marT="25400" marB="25400">
                    <a:solidFill>
                      <a:srgbClr val="E8EF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497468184"/>
                  </a:ext>
                </a:extLst>
              </a:tr>
              <a:tr h="165100">
                <a:tc>
                  <a:txBody>
                    <a:bodyPr/>
                    <a:lstStyle/>
                    <a:p>
                      <a:pPr algn="l"/>
                      <a:r>
                        <a:rPr lang="sv-SE" sz="128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TDK C3225X7S2A475K200AB</a:t>
                      </a:r>
                    </a:p>
                  </a:txBody>
                  <a:tcPr marL="50800" marR="508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sv-SE" sz="128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1210</a:t>
                      </a:r>
                    </a:p>
                  </a:txBody>
                  <a:tcPr marL="50800" marR="508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sv-SE" sz="128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4.7 → 0.92 µF</a:t>
                      </a:r>
                    </a:p>
                  </a:txBody>
                  <a:tcPr marL="50800" marR="508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sv-SE" sz="128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19 %</a:t>
                      </a:r>
                    </a:p>
                  </a:txBody>
                  <a:tcPr marL="50800" marR="508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sv-SE" sz="128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12.3 m</a:t>
                      </a:r>
                      <a:r>
                        <a:rPr lang="el-GR" sz="128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Ω</a:t>
                      </a:r>
                      <a:endParaRPr lang="sv-SE" sz="1280">
                        <a:solidFill>
                          <a:srgbClr val="1E1E1E"/>
                        </a:solidFill>
                        <a:latin typeface="Arial" panose="020B0604020202020204" pitchFamily="34" charset="0"/>
                      </a:endParaRPr>
                    </a:p>
                  </a:txBody>
                  <a:tcPr marL="50800" marR="508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sv-SE" sz="128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135</a:t>
                      </a:r>
                    </a:p>
                  </a:txBody>
                  <a:tcPr marL="50800" marR="50800" marT="25400" marB="25400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57593872"/>
                  </a:ext>
                </a:extLst>
              </a:tr>
              <a:tr h="165100">
                <a:tc>
                  <a:txBody>
                    <a:bodyPr/>
                    <a:lstStyle/>
                    <a:p>
                      <a:pPr algn="l"/>
                      <a:r>
                        <a:rPr lang="sv-SE" sz="128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TDK C4532X7S2A475K230KB</a:t>
                      </a:r>
                    </a:p>
                  </a:txBody>
                  <a:tcPr marL="50800" marR="50800" marT="25400" marB="25400"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sv-SE" sz="128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1812</a:t>
                      </a:r>
                    </a:p>
                  </a:txBody>
                  <a:tcPr marL="50800" marR="50800" marT="25400" marB="25400"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sv-SE" sz="128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4.7 → 1.10 µF</a:t>
                      </a:r>
                    </a:p>
                  </a:txBody>
                  <a:tcPr marL="50800" marR="50800" marT="25400" marB="25400"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sv-SE" sz="128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23 %</a:t>
                      </a:r>
                    </a:p>
                  </a:txBody>
                  <a:tcPr marL="50800" marR="50800" marT="25400" marB="25400"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sv-SE" sz="128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13.1 m</a:t>
                      </a:r>
                      <a:r>
                        <a:rPr lang="el-GR" sz="128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Ω</a:t>
                      </a:r>
                      <a:endParaRPr lang="sv-SE" sz="1280">
                        <a:solidFill>
                          <a:srgbClr val="1E1E1E"/>
                        </a:solidFill>
                        <a:latin typeface="Arial" panose="020B0604020202020204" pitchFamily="34" charset="0"/>
                      </a:endParaRPr>
                    </a:p>
                  </a:txBody>
                  <a:tcPr marL="50800" marR="50800" marT="25400" marB="25400"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sv-SE" sz="128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112</a:t>
                      </a:r>
                    </a:p>
                  </a:txBody>
                  <a:tcPr marL="50800" marR="50800" marT="25400" marB="25400">
                    <a:solidFill>
                      <a:srgbClr val="E8EF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845236842"/>
                  </a:ext>
                </a:extLst>
              </a:tr>
              <a:tr h="165100">
                <a:tc>
                  <a:txBody>
                    <a:bodyPr/>
                    <a:lstStyle/>
                    <a:p>
                      <a:pPr algn="l"/>
                      <a:r>
                        <a:rPr lang="sv-SE" sz="128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TDK C5750X7S2A106K230KB</a:t>
                      </a:r>
                    </a:p>
                  </a:txBody>
                  <a:tcPr marL="50800" marR="508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sv-SE" sz="128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2220</a:t>
                      </a:r>
                    </a:p>
                  </a:txBody>
                  <a:tcPr marL="50800" marR="508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sv-SE" sz="128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10.0 → 2.45 µF</a:t>
                      </a:r>
                    </a:p>
                  </a:txBody>
                  <a:tcPr marL="50800" marR="508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sv-SE" sz="128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24 %</a:t>
                      </a:r>
                    </a:p>
                  </a:txBody>
                  <a:tcPr marL="50800" marR="508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sv-SE" sz="128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6.4 m</a:t>
                      </a:r>
                      <a:r>
                        <a:rPr lang="el-GR" sz="128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Ω</a:t>
                      </a:r>
                      <a:endParaRPr lang="sv-SE" sz="1280">
                        <a:solidFill>
                          <a:srgbClr val="1E1E1E"/>
                        </a:solidFill>
                        <a:latin typeface="Arial" panose="020B0604020202020204" pitchFamily="34" charset="0"/>
                      </a:endParaRPr>
                    </a:p>
                  </a:txBody>
                  <a:tcPr marL="50800" marR="508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sv-SE" sz="128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51</a:t>
                      </a:r>
                    </a:p>
                  </a:txBody>
                  <a:tcPr marL="50800" marR="50800" marT="25400" marB="25400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852200461"/>
                  </a:ext>
                </a:extLst>
              </a:tr>
              <a:tr h="165100">
                <a:tc>
                  <a:txBody>
                    <a:bodyPr/>
                    <a:lstStyle/>
                    <a:p>
                      <a:pPr algn="l"/>
                      <a:r>
                        <a:rPr lang="sv-SE" sz="128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TDK C5750X7S2A156M250KB</a:t>
                      </a:r>
                    </a:p>
                  </a:txBody>
                  <a:tcPr marL="50800" marR="50800" marT="25400" marB="25400"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sv-SE" sz="128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2220</a:t>
                      </a:r>
                    </a:p>
                  </a:txBody>
                  <a:tcPr marL="50800" marR="50800" marT="25400" marB="25400"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sv-SE" sz="128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15.0 → 3.80 µF</a:t>
                      </a:r>
                    </a:p>
                  </a:txBody>
                  <a:tcPr marL="50800" marR="50800" marT="25400" marB="25400"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sv-SE" sz="128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25 %</a:t>
                      </a:r>
                    </a:p>
                  </a:txBody>
                  <a:tcPr marL="50800" marR="50800" marT="25400" marB="25400"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sv-SE" sz="128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3.6 m</a:t>
                      </a:r>
                      <a:r>
                        <a:rPr lang="el-GR" sz="128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Ω</a:t>
                      </a:r>
                      <a:endParaRPr lang="sv-SE" sz="1280">
                        <a:solidFill>
                          <a:srgbClr val="1E1E1E"/>
                        </a:solidFill>
                        <a:latin typeface="Arial" panose="020B0604020202020204" pitchFamily="34" charset="0"/>
                      </a:endParaRPr>
                    </a:p>
                  </a:txBody>
                  <a:tcPr marL="50800" marR="50800" marT="25400" marB="25400"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sv-SE" sz="128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33</a:t>
                      </a:r>
                    </a:p>
                  </a:txBody>
                  <a:tcPr marL="50800" marR="50800" marT="25400" marB="25400">
                    <a:solidFill>
                      <a:srgbClr val="E8EF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352362499"/>
                  </a:ext>
                </a:extLst>
              </a:tr>
              <a:tr h="165100">
                <a:tc>
                  <a:txBody>
                    <a:bodyPr/>
                    <a:lstStyle/>
                    <a:p>
                      <a:pPr algn="l"/>
                      <a:r>
                        <a:rPr lang="sv-SE" sz="1280" b="1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TDK C5750X7S2A226M280KB</a:t>
                      </a:r>
                    </a:p>
                  </a:txBody>
                  <a:tcPr marL="50800" marR="508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sv-SE" sz="128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2220</a:t>
                      </a:r>
                    </a:p>
                  </a:txBody>
                  <a:tcPr marL="50800" marR="508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sv-SE" sz="128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22.0 → 6.35 µF</a:t>
                      </a:r>
                    </a:p>
                  </a:txBody>
                  <a:tcPr marL="50800" marR="508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sv-SE" sz="128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29 %</a:t>
                      </a:r>
                    </a:p>
                  </a:txBody>
                  <a:tcPr marL="50800" marR="508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sv-SE" sz="128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2.8 m</a:t>
                      </a:r>
                      <a:r>
                        <a:rPr lang="el-GR" sz="128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Ω</a:t>
                      </a:r>
                      <a:endParaRPr lang="sv-SE" sz="1280">
                        <a:solidFill>
                          <a:srgbClr val="1E1E1E"/>
                        </a:solidFill>
                        <a:latin typeface="Arial" panose="020B0604020202020204" pitchFamily="34" charset="0"/>
                      </a:endParaRPr>
                    </a:p>
                  </a:txBody>
                  <a:tcPr marL="50800" marR="508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sv-SE" sz="128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20</a:t>
                      </a:r>
                    </a:p>
                  </a:txBody>
                  <a:tcPr marL="50800" marR="50800" marT="25400" marB="25400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041869169"/>
                  </a:ext>
                </a:extLst>
              </a:tr>
            </a:tbl>
          </a:graphicData>
        </a:graphic>
      </p:graphicFrame>
      <p:sp>
        <p:nvSpPr>
          <p:cNvPr id="7" name="TextBox 6">
            <a:extLst>
              <a:ext uri="{FF2B5EF4-FFF2-40B4-BE49-F238E27FC236}">
                <a16:creationId xmlns:a16="http://schemas.microsoft.com/office/drawing/2014/main" id="{10CB3159-8F69-B43F-6039-7CAE8E06F135}"/>
              </a:ext>
            </a:extLst>
          </p:cNvPr>
          <p:cNvSpPr txBox="1"/>
          <p:nvPr/>
        </p:nvSpPr>
        <p:spPr>
          <a:xfrm>
            <a:off x="238125" y="2857500"/>
            <a:ext cx="8667750" cy="307777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pPr marL="406400" indent="-177800">
              <a:spcAft>
                <a:spcPts val="400"/>
              </a:spcAft>
              <a:buFont typeface="+mj-lt"/>
              <a:buChar char="•"/>
            </a:pPr>
            <a:r>
              <a:rPr lang="en-US" sz="1380">
                <a:solidFill>
                  <a:srgbClr val="1E1E1E"/>
                </a:solidFill>
                <a:latin typeface="Arial" panose="020B0604020202020204" pitchFamily="34" charset="0"/>
              </a:rPr>
              <a:t>DC bias at 75 V from the manufacturers' characteristic data (TDK, Murata): 100 V class-II MLCCs keep only 15–29 %</a:t>
            </a:r>
          </a:p>
          <a:p>
            <a:pPr marL="406400" indent="-177800">
              <a:spcAft>
                <a:spcPts val="400"/>
              </a:spcAft>
              <a:buFont typeface="+mj-lt"/>
              <a:buChar char="•"/>
            </a:pPr>
            <a:r>
              <a:rPr lang="en-US" sz="1380">
                <a:solidFill>
                  <a:srgbClr val="1E1E1E"/>
                </a:solidFill>
                <a:latin typeface="Arial" panose="020B0604020202020204" pitchFamily="34" charset="0"/>
              </a:rPr>
              <a:t>TDK C5750X7S2A226M280KB (2220, 22 µF): highest C per part and per area (0.22 µF/mm²), 2.8 mΩ, 4.5 A for +10 K</a:t>
            </a:r>
          </a:p>
          <a:p>
            <a:pPr marL="406400" indent="-177800">
              <a:spcAft>
                <a:spcPts val="400"/>
              </a:spcAft>
              <a:buFont typeface="+mj-lt"/>
              <a:buChar char="•"/>
            </a:pPr>
            <a:r>
              <a:rPr lang="en-US" sz="1380">
                <a:solidFill>
                  <a:srgbClr val="1E1E1E"/>
                </a:solidFill>
                <a:latin typeface="Arial" panose="020B0604020202020204" pitchFamily="34" charset="0"/>
              </a:rPr>
              <a:t>Checks: 2.8 mm height under the heatsink spreader; 2220 flex cracking ⇒ away from the board edge and holes</a:t>
            </a:r>
            <a:endParaRPr lang="sv-SE" sz="1380" dirty="0" err="1">
              <a:solidFill>
                <a:srgbClr val="1E1E1E"/>
              </a:solidFill>
              <a:latin typeface="Arial" panose="020B0604020202020204" pitchFamily="34" charset="0"/>
            </a:endParaRPr>
          </a:p>
        </p:txBody>
      </p:sp>
      <p:sp>
        <p:nvSpPr>
          <p:cNvPr id="8" name="decision">
            <a:extLst>
              <a:ext uri="{FF2B5EF4-FFF2-40B4-BE49-F238E27FC236}">
                <a16:creationId xmlns:a16="http://schemas.microsoft.com/office/drawing/2014/main" id="{CBE0B547-627B-6FB7-F288-FE29D86D21E0}"/>
              </a:ext>
            </a:extLst>
          </p:cNvPr>
          <p:cNvSpPr/>
          <p:nvPr/>
        </p:nvSpPr>
        <p:spPr>
          <a:xfrm>
            <a:off x="238125" y="4400550"/>
            <a:ext cx="8667750" cy="381000"/>
          </a:xfrm>
          <a:prstGeom prst="roundRect">
            <a:avLst/>
          </a:prstGeom>
          <a:solidFill>
            <a:srgbClr val="EEF4FB"/>
          </a:solidFill>
          <a:ln w="158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101600" tIns="25400" bIns="25400" rtlCol="0" anchor="ctr">
            <a:noAutofit/>
          </a:bodyPr>
          <a:lstStyle/>
          <a:p>
            <a:r>
              <a:rPr lang="en-US" sz="1380" b="1">
                <a:solidFill>
                  <a:srgbClr val="1E1E1E"/>
                </a:solidFill>
                <a:latin typeface="Arial" panose="020B0604020202020204" pitchFamily="34" charset="0"/>
              </a:rPr>
              <a:t>Decision:</a:t>
            </a:r>
            <a:r>
              <a:rPr lang="en-US" sz="1380">
                <a:solidFill>
                  <a:srgbClr val="1E1E1E"/>
                </a:solidFill>
                <a:latin typeface="Arial" panose="020B0604020202020204" pitchFamily="34" charset="0"/>
              </a:rPr>
              <a:t> Bank: </a:t>
            </a:r>
            <a:r>
              <a:rPr lang="en-US" sz="1380" b="1">
                <a:solidFill>
                  <a:srgbClr val="1E1E1E"/>
                </a:solidFill>
                <a:latin typeface="Arial" panose="020B0604020202020204" pitchFamily="34" charset="0"/>
              </a:rPr>
              <a:t>20 × TDK C5750X7S2A226M280KB</a:t>
            </a:r>
            <a:r>
              <a:rPr lang="en-US" sz="1380">
                <a:solidFill>
                  <a:srgbClr val="1E1E1E"/>
                </a:solidFill>
                <a:latin typeface="Arial" panose="020B0604020202020204" pitchFamily="34" charset="0"/>
              </a:rPr>
              <a:t> per leg (2 rows), 127 µF effective, 1.4 A ripple per part</a:t>
            </a:r>
            <a:endParaRPr lang="sv-SE" sz="1380" dirty="0">
              <a:solidFill>
                <a:srgbClr val="1E1E1E"/>
              </a:solidFill>
              <a:latin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755885411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E975883-B09F-31D3-0C00-840137D6FE6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z="2100"/>
              <a:t>Bypass capacitors: how many and how large</a:t>
            </a:r>
            <a:endParaRPr lang="sv-SE" sz="210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A8E02E3E-3ADF-BCE4-DAA8-1B1890F5627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sv-SE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46DDE4DE-8E28-0BC0-3AE1-96883F284BF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422A9A3-8636-4A04-BD48-3153280FB086}" type="slidenum">
              <a:rPr lang="sv-SE" smtClean="0"/>
              <a:pPr/>
              <a:t>18</a:t>
            </a:fld>
            <a:endParaRPr lang="sv-SE"/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B2D8C2CA-6A73-0088-457D-01A9B5C60BEE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38125" y="952500"/>
            <a:ext cx="4191000" cy="3213100"/>
          </a:xfrm>
          <a:prstGeom prst="rect">
            <a:avLst/>
          </a:prstGeom>
        </p:spPr>
      </p:pic>
      <p:sp>
        <p:nvSpPr>
          <p:cNvPr id="8" name="TextBox 7">
            <a:extLst>
              <a:ext uri="{FF2B5EF4-FFF2-40B4-BE49-F238E27FC236}">
                <a16:creationId xmlns:a16="http://schemas.microsoft.com/office/drawing/2014/main" id="{A2B30EC0-4D6E-0A7A-AEBF-878EFAE86798}"/>
              </a:ext>
            </a:extLst>
          </p:cNvPr>
          <p:cNvSpPr txBox="1"/>
          <p:nvPr/>
        </p:nvSpPr>
        <p:spPr>
          <a:xfrm>
            <a:off x="4572000" y="952500"/>
            <a:ext cx="4333875" cy="307777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pPr marL="406400" indent="-177800">
              <a:spcAft>
                <a:spcPts val="400"/>
              </a:spcAft>
              <a:buFont typeface="+mj-lt"/>
              <a:buChar char="•"/>
            </a:pPr>
            <a:r>
              <a:rPr lang="sv-SE" sz="1380" b="1">
                <a:solidFill>
                  <a:srgbClr val="1E1E1E"/>
                </a:solidFill>
                <a:latin typeface="Arial" panose="020B0604020202020204" pitchFamily="34" charset="0"/>
              </a:rPr>
              <a:t>Bypass</a:t>
            </a:r>
            <a:r>
              <a:rPr lang="sv-SE" sz="1380">
                <a:solidFill>
                  <a:srgbClr val="1E1E1E"/>
                </a:solidFill>
                <a:latin typeface="Arial" panose="020B0604020202020204" pitchFamily="34" charset="0"/>
              </a:rPr>
              <a:t> (1 µF 0805 at the drains) supplies the edge, </a:t>
            </a:r>
            <a:r>
              <a:rPr lang="sv-SE" sz="1380" b="1">
                <a:solidFill>
                  <a:srgbClr val="1E1E1E"/>
                </a:solidFill>
                <a:latin typeface="Arial" panose="020B0604020202020204" pitchFamily="34" charset="0"/>
              </a:rPr>
              <a:t>bank</a:t>
            </a:r>
            <a:r>
              <a:rPr lang="sv-SE" sz="1380">
                <a:solidFill>
                  <a:srgbClr val="1E1E1E"/>
                </a:solidFill>
                <a:latin typeface="Arial" panose="020B0604020202020204" pitchFamily="34" charset="0"/>
              </a:rPr>
              <a:t> the f</a:t>
            </a:r>
            <a:r>
              <a:rPr lang="sv-SE" sz="1380" baseline="-25000">
                <a:solidFill>
                  <a:srgbClr val="1E1E1E"/>
                </a:solidFill>
                <a:latin typeface="Arial" panose="020B0604020202020204" pitchFamily="34" charset="0"/>
              </a:rPr>
              <a:t>sw</a:t>
            </a:r>
            <a:r>
              <a:rPr lang="sv-SE" sz="1380">
                <a:solidFill>
                  <a:srgbClr val="1E1E1E"/>
                </a:solidFill>
                <a:latin typeface="Arial" panose="020B0604020202020204" pitchFamily="34" charset="0"/>
              </a:rPr>
              <a:t> ripple; per cell 81 A:</a:t>
            </a:r>
          </a:p>
          <a:p>
            <a:pPr marL="685800" lvl="1" indent="-342900">
              <a:spcAft>
                <a:spcPts val="400"/>
              </a:spcAft>
              <a:buFont typeface="+mj-lt"/>
              <a:buChar char="–"/>
            </a:pPr>
            <a:r>
              <a:rPr lang="sv-SE" sz="1280">
                <a:solidFill>
                  <a:srgbClr val="1E1E1E"/>
                </a:solidFill>
                <a:latin typeface="Arial" panose="020B0604020202020204" pitchFamily="34" charset="0"/>
              </a:rPr>
              <a:t>di/dt → number: L</a:t>
            </a:r>
            <a:r>
              <a:rPr lang="sv-SE" sz="1280" baseline="-25000">
                <a:solidFill>
                  <a:srgbClr val="1E1E1E"/>
                </a:solidFill>
                <a:latin typeface="Arial" panose="020B0604020202020204" pitchFamily="34" charset="0"/>
              </a:rPr>
              <a:t>Cu</a:t>
            </a:r>
            <a:r>
              <a:rPr lang="sv-SE" sz="1280">
                <a:solidFill>
                  <a:srgbClr val="1E1E1E"/>
                </a:solidFill>
                <a:latin typeface="Arial" panose="020B0604020202020204" pitchFamily="34" charset="0"/>
              </a:rPr>
              <a:t> + ESL/n ≈ 0.5 nH ⇒ n ≥ 4</a:t>
            </a:r>
          </a:p>
          <a:p>
            <a:pPr marL="685800" lvl="1" indent="-342900">
              <a:spcAft>
                <a:spcPts val="400"/>
              </a:spcAft>
              <a:buFont typeface="+mj-lt"/>
              <a:buChar char="–"/>
            </a:pPr>
            <a:r>
              <a:rPr lang="sv-SE" sz="1280">
                <a:solidFill>
                  <a:srgbClr val="1E1E1E"/>
                </a:solidFill>
                <a:latin typeface="Arial" panose="020B0604020202020204" pitchFamily="34" charset="0"/>
              </a:rPr>
              <a:t>Hand-over to the bank through L</a:t>
            </a:r>
            <a:r>
              <a:rPr lang="sv-SE" sz="1280" baseline="-25000">
                <a:solidFill>
                  <a:srgbClr val="1E1E1E"/>
                </a:solidFill>
                <a:latin typeface="Arial" panose="020B0604020202020204" pitchFamily="34" charset="0"/>
              </a:rPr>
              <a:t>b</a:t>
            </a:r>
            <a:r>
              <a:rPr lang="sv-SE" sz="1280">
                <a:solidFill>
                  <a:srgbClr val="1E1E1E"/>
                </a:solidFill>
                <a:latin typeface="Arial" panose="020B0604020202020204" pitchFamily="34" charset="0"/>
              </a:rPr>
              <a:t>: C</a:t>
            </a:r>
            <a:r>
              <a:rPr lang="sv-SE" sz="1280" baseline="-25000">
                <a:solidFill>
                  <a:srgbClr val="1E1E1E"/>
                </a:solidFill>
                <a:latin typeface="Arial" panose="020B0604020202020204" pitchFamily="34" charset="0"/>
              </a:rPr>
              <a:t>bp</a:t>
            </a:r>
            <a:r>
              <a:rPr lang="sv-SE" sz="1280">
                <a:solidFill>
                  <a:srgbClr val="1E1E1E"/>
                </a:solidFill>
                <a:latin typeface="Arial" panose="020B0604020202020204" pitchFamily="34" charset="0"/>
              </a:rPr>
              <a:t> ≥ L</a:t>
            </a:r>
            <a:r>
              <a:rPr lang="sv-SE" sz="1280" baseline="-25000">
                <a:solidFill>
                  <a:srgbClr val="1E1E1E"/>
                </a:solidFill>
                <a:latin typeface="Arial" panose="020B0604020202020204" pitchFamily="34" charset="0"/>
              </a:rPr>
              <a:t>b</a:t>
            </a:r>
            <a:r>
              <a:rPr lang="sv-SE" sz="1280">
                <a:solidFill>
                  <a:srgbClr val="1E1E1E"/>
                </a:solidFill>
                <a:latin typeface="Arial" panose="020B0604020202020204" pitchFamily="34" charset="0"/>
              </a:rPr>
              <a:t>(</a:t>
            </a:r>
            <a:r>
              <a:rPr lang="el-GR" sz="1280">
                <a:solidFill>
                  <a:srgbClr val="1E1E1E"/>
                </a:solidFill>
                <a:latin typeface="Arial" panose="020B0604020202020204" pitchFamily="34" charset="0"/>
              </a:rPr>
              <a:t>Δ</a:t>
            </a:r>
            <a:r>
              <a:rPr lang="sv-SE" sz="1280">
                <a:solidFill>
                  <a:srgbClr val="1E1E1E"/>
                </a:solidFill>
                <a:latin typeface="Arial" panose="020B0604020202020204" pitchFamily="34" charset="0"/>
              </a:rPr>
              <a:t>I/</a:t>
            </a:r>
            <a:r>
              <a:rPr lang="el-GR" sz="1280">
                <a:solidFill>
                  <a:srgbClr val="1E1E1E"/>
                </a:solidFill>
                <a:latin typeface="Arial" panose="020B0604020202020204" pitchFamily="34" charset="0"/>
              </a:rPr>
              <a:t>Δ</a:t>
            </a:r>
            <a:r>
              <a:rPr lang="sv-SE" sz="1280">
                <a:solidFill>
                  <a:srgbClr val="1E1E1E"/>
                </a:solidFill>
                <a:latin typeface="Arial" panose="020B0604020202020204" pitchFamily="34" charset="0"/>
              </a:rPr>
              <a:t>V)² </a:t>
            </a:r>
            <a:r>
              <a:rPr lang="sv-SE" sz="1280" b="1">
                <a:solidFill>
                  <a:srgbClr val="C84632"/>
                </a:solidFill>
                <a:latin typeface="Arial" panose="020B0604020202020204" pitchFamily="34" charset="0"/>
              </a:rPr>
              <a:t>sets the value</a:t>
            </a:r>
          </a:p>
          <a:p>
            <a:pPr marL="685800" lvl="1" indent="-342900">
              <a:spcAft>
                <a:spcPts val="400"/>
              </a:spcAft>
              <a:buFont typeface="+mj-lt"/>
              <a:buChar char="–"/>
            </a:pPr>
            <a:r>
              <a:rPr lang="sv-SE" sz="1280">
                <a:solidFill>
                  <a:srgbClr val="1E1E1E"/>
                </a:solidFill>
                <a:latin typeface="Arial" panose="020B0604020202020204" pitchFamily="34" charset="0"/>
              </a:rPr>
              <a:t>L</a:t>
            </a:r>
            <a:r>
              <a:rPr lang="sv-SE" sz="1280" baseline="-25000">
                <a:solidFill>
                  <a:srgbClr val="1E1E1E"/>
                </a:solidFill>
                <a:latin typeface="Arial" panose="020B0604020202020204" pitchFamily="34" charset="0"/>
              </a:rPr>
              <a:t>b</a:t>
            </a:r>
            <a:r>
              <a:rPr lang="sv-SE" sz="1280">
                <a:solidFill>
                  <a:srgbClr val="1E1E1E"/>
                </a:solidFill>
                <a:latin typeface="Arial" panose="020B0604020202020204" pitchFamily="34" charset="0"/>
              </a:rPr>
              <a:t> from Q3D: (pending)</a:t>
            </a:r>
          </a:p>
          <a:p>
            <a:pPr marL="685800" lvl="1" indent="-342900">
              <a:spcAft>
                <a:spcPts val="400"/>
              </a:spcAft>
              <a:buFont typeface="+mj-lt"/>
              <a:buChar char="–"/>
            </a:pPr>
            <a:r>
              <a:rPr lang="sv-SE" sz="1280">
                <a:solidFill>
                  <a:srgbClr val="1E1E1E"/>
                </a:solidFill>
                <a:latin typeface="Arial" panose="020B0604020202020204" pitchFamily="34" charset="0"/>
              </a:rPr>
              <a:t>0805 1 µF 100 V X7S keeps only </a:t>
            </a:r>
            <a:r>
              <a:rPr lang="sv-SE" sz="1280" b="1">
                <a:solidFill>
                  <a:srgbClr val="1E1E1E"/>
                </a:solidFill>
                <a:latin typeface="Arial" panose="020B0604020202020204" pitchFamily="34" charset="0"/>
              </a:rPr>
              <a:t>18 %</a:t>
            </a:r>
            <a:r>
              <a:rPr lang="sv-SE" sz="1280">
                <a:solidFill>
                  <a:srgbClr val="1E1E1E"/>
                </a:solidFill>
                <a:latin typeface="Arial" panose="020B0604020202020204" pitchFamily="34" charset="0"/>
              </a:rPr>
              <a:t> at 75 V (TDK data): 0.18 µF per part</a:t>
            </a:r>
          </a:p>
          <a:p>
            <a:pPr marL="685800" lvl="1" indent="-342900">
              <a:spcAft>
                <a:spcPts val="400"/>
              </a:spcAft>
              <a:buFont typeface="+mj-lt"/>
              <a:buChar char="–"/>
            </a:pPr>
            <a:r>
              <a:rPr lang="sv-SE" sz="1280">
                <a:solidFill>
                  <a:srgbClr val="1E1E1E"/>
                </a:solidFill>
                <a:latin typeface="Arial" panose="020B0604020202020204" pitchFamily="34" charset="0"/>
              </a:rPr>
              <a:t>dip for 6 / 10 per cell: (pending bank model)</a:t>
            </a:r>
            <a:endParaRPr lang="sv-SE" sz="1280" dirty="0" err="1">
              <a:solidFill>
                <a:srgbClr val="1E1E1E"/>
              </a:solidFill>
              <a:latin typeface="Arial" panose="020B0604020202020204" pitchFamily="34" charset="0"/>
            </a:endParaRPr>
          </a:p>
        </p:txBody>
      </p:sp>
      <p:sp>
        <p:nvSpPr>
          <p:cNvPr id="9" name="decision">
            <a:extLst>
              <a:ext uri="{FF2B5EF4-FFF2-40B4-BE49-F238E27FC236}">
                <a16:creationId xmlns:a16="http://schemas.microsoft.com/office/drawing/2014/main" id="{75B9C6B8-9277-D775-BD9C-7A6B6DACE33C}"/>
              </a:ext>
            </a:extLst>
          </p:cNvPr>
          <p:cNvSpPr/>
          <p:nvPr/>
        </p:nvSpPr>
        <p:spPr>
          <a:xfrm>
            <a:off x="238125" y="4400550"/>
            <a:ext cx="8667750" cy="381000"/>
          </a:xfrm>
          <a:prstGeom prst="roundRect">
            <a:avLst/>
          </a:prstGeom>
          <a:solidFill>
            <a:srgbClr val="EEF4FB"/>
          </a:solidFill>
          <a:ln w="158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101600" tIns="25400" bIns="25400" rtlCol="0" anchor="ctr">
            <a:noAutofit/>
          </a:bodyPr>
          <a:lstStyle/>
          <a:p>
            <a:r>
              <a:rPr lang="en-US" sz="1380" b="1">
                <a:solidFill>
                  <a:srgbClr val="1E1E1E"/>
                </a:solidFill>
                <a:latin typeface="Arial" panose="020B0604020202020204" pitchFamily="34" charset="0"/>
              </a:rPr>
              <a:t>Decision:</a:t>
            </a:r>
            <a:r>
              <a:rPr lang="en-US" sz="1380">
                <a:solidFill>
                  <a:srgbClr val="1E1E1E"/>
                </a:solidFill>
                <a:latin typeface="Arial" panose="020B0604020202020204" pitchFamily="34" charset="0"/>
              </a:rPr>
              <a:t> 10 × 1 µF 0805 per cell: 6 on top at the drains + 4 on the bottom, identical in all cells</a:t>
            </a:r>
            <a:endParaRPr lang="sv-SE" sz="1380" dirty="0">
              <a:solidFill>
                <a:srgbClr val="1E1E1E"/>
              </a:solidFill>
              <a:latin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024362011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69AFF6E-695A-C725-F6E1-BE501A1DDD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z="2100"/>
              <a:t>DC link of one leg board</a:t>
            </a:r>
            <a:endParaRPr lang="sv-SE" sz="210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B1833F14-E0D4-CEE9-5786-855557D9750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sv-SE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06DC2B3F-56B6-C08C-88CC-43328B7FCFC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422A9A3-8636-4A04-BD48-3153280FB086}" type="slidenum">
              <a:rPr lang="sv-SE" smtClean="0"/>
              <a:pPr/>
              <a:t>19</a:t>
            </a:fld>
            <a:endParaRPr lang="sv-SE"/>
          </a:p>
        </p:txBody>
      </p:sp>
      <p:graphicFrame>
        <p:nvGraphicFramePr>
          <p:cNvPr id="6" name="Table 5">
            <a:extLst>
              <a:ext uri="{FF2B5EF4-FFF2-40B4-BE49-F238E27FC236}">
                <a16:creationId xmlns:a16="http://schemas.microsoft.com/office/drawing/2014/main" id="{F3E3F97E-C04F-89DF-FE77-9283565619DC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364089399"/>
              </p:ext>
            </p:extLst>
          </p:nvPr>
        </p:nvGraphicFramePr>
        <p:xfrm>
          <a:off x="238125" y="952500"/>
          <a:ext cx="4953000" cy="8382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52625">
                  <a:extLst>
                    <a:ext uri="{9D8B030D-6E8A-4147-A177-3AD203B41FA5}">
                      <a16:colId xmlns:a16="http://schemas.microsoft.com/office/drawing/2014/main" val="3222270254"/>
                    </a:ext>
                  </a:extLst>
                </a:gridCol>
                <a:gridCol w="1381125">
                  <a:extLst>
                    <a:ext uri="{9D8B030D-6E8A-4147-A177-3AD203B41FA5}">
                      <a16:colId xmlns:a16="http://schemas.microsoft.com/office/drawing/2014/main" val="4249388290"/>
                    </a:ext>
                  </a:extLst>
                </a:gridCol>
                <a:gridCol w="762000">
                  <a:extLst>
                    <a:ext uri="{9D8B030D-6E8A-4147-A177-3AD203B41FA5}">
                      <a16:colId xmlns:a16="http://schemas.microsoft.com/office/drawing/2014/main" val="3469447948"/>
                    </a:ext>
                  </a:extLst>
                </a:gridCol>
                <a:gridCol w="857250">
                  <a:extLst>
                    <a:ext uri="{9D8B030D-6E8A-4147-A177-3AD203B41FA5}">
                      <a16:colId xmlns:a16="http://schemas.microsoft.com/office/drawing/2014/main" val="2165171064"/>
                    </a:ext>
                  </a:extLst>
                </a:gridCol>
              </a:tblGrid>
              <a:tr h="165100">
                <a:tc>
                  <a:txBody>
                    <a:bodyPr/>
                    <a:lstStyle/>
                    <a:p>
                      <a:pPr algn="l"/>
                      <a:r>
                        <a:rPr lang="sv-SE" sz="1190" b="1">
                          <a:solidFill>
                            <a:srgbClr val="FFFFFF"/>
                          </a:solidFill>
                          <a:latin typeface="Arial" panose="020B0604020202020204" pitchFamily="34" charset="0"/>
                        </a:rPr>
                        <a:t>Per leg board</a:t>
                      </a:r>
                    </a:p>
                  </a:txBody>
                  <a:tcPr marL="50800" marR="50800" marT="25400" marB="25400">
                    <a:solidFill>
                      <a:srgbClr val="1954A6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sv-SE" sz="1190" b="1">
                          <a:solidFill>
                            <a:srgbClr val="FFFFFF"/>
                          </a:solidFill>
                          <a:latin typeface="Arial" panose="020B0604020202020204" pitchFamily="34" charset="0"/>
                        </a:rPr>
                        <a:t>Parts</a:t>
                      </a:r>
                    </a:p>
                  </a:txBody>
                  <a:tcPr marL="50800" marR="50800" marT="25400" marB="25400">
                    <a:solidFill>
                      <a:srgbClr val="1954A6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sv-SE" sz="1190" b="1">
                          <a:solidFill>
                            <a:srgbClr val="FFFFFF"/>
                          </a:solidFill>
                          <a:latin typeface="Arial" panose="020B0604020202020204" pitchFamily="34" charset="0"/>
                        </a:rPr>
                        <a:t>Nominal</a:t>
                      </a:r>
                    </a:p>
                  </a:txBody>
                  <a:tcPr marL="50800" marR="50800" marT="25400" marB="25400">
                    <a:solidFill>
                      <a:srgbClr val="1954A6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sv-SE" sz="1190" b="1">
                          <a:solidFill>
                            <a:srgbClr val="FFFFFF"/>
                          </a:solidFill>
                          <a:latin typeface="Arial" panose="020B0604020202020204" pitchFamily="34" charset="0"/>
                        </a:rPr>
                        <a:t>At 75 V</a:t>
                      </a:r>
                    </a:p>
                  </a:txBody>
                  <a:tcPr marL="50800" marR="50800" marT="25400" marB="25400">
                    <a:solidFill>
                      <a:srgbClr val="1954A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607557031"/>
                  </a:ext>
                </a:extLst>
              </a:tr>
              <a:tr h="165100">
                <a:tc>
                  <a:txBody>
                    <a:bodyPr/>
                    <a:lstStyle/>
                    <a:p>
                      <a:pPr algn="l"/>
                      <a:r>
                        <a:rPr lang="sv-SE" sz="119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Bypass, 10 per cell × 4</a:t>
                      </a:r>
                    </a:p>
                  </a:txBody>
                  <a:tcPr marL="50800" marR="50800" marT="25400" marB="25400"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sv-SE" sz="119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40 × 1 µF 0805</a:t>
                      </a:r>
                    </a:p>
                  </a:txBody>
                  <a:tcPr marL="50800" marR="50800" marT="25400" marB="25400"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sv-SE" sz="119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40 µF</a:t>
                      </a:r>
                    </a:p>
                  </a:txBody>
                  <a:tcPr marL="50800" marR="50800" marT="25400" marB="25400"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sv-SE" sz="119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7 µF</a:t>
                      </a:r>
                    </a:p>
                  </a:txBody>
                  <a:tcPr marL="50800" marR="50800" marT="25400" marB="25400">
                    <a:solidFill>
                      <a:srgbClr val="E8EF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776527090"/>
                  </a:ext>
                </a:extLst>
              </a:tr>
              <a:tr h="165100">
                <a:tc>
                  <a:txBody>
                    <a:bodyPr/>
                    <a:lstStyle/>
                    <a:p>
                      <a:pPr algn="l"/>
                      <a:r>
                        <a:rPr lang="en-US" sz="119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Bank, rows A (8) + B (12)</a:t>
                      </a:r>
                      <a:endParaRPr lang="sv-SE" sz="1190">
                        <a:solidFill>
                          <a:srgbClr val="1E1E1E"/>
                        </a:solidFill>
                        <a:latin typeface="Arial" panose="020B0604020202020204" pitchFamily="34" charset="0"/>
                      </a:endParaRPr>
                    </a:p>
                  </a:txBody>
                  <a:tcPr marL="50800" marR="508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sv-SE" sz="119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20 × 22 µF 2220</a:t>
                      </a:r>
                    </a:p>
                  </a:txBody>
                  <a:tcPr marL="50800" marR="508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sv-SE" sz="119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440 µF</a:t>
                      </a:r>
                    </a:p>
                  </a:txBody>
                  <a:tcPr marL="50800" marR="508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sv-SE" sz="119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127 µF</a:t>
                      </a:r>
                    </a:p>
                  </a:txBody>
                  <a:tcPr marL="50800" marR="50800" marT="25400" marB="25400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0138473"/>
                  </a:ext>
                </a:extLst>
              </a:tr>
              <a:tr h="165100">
                <a:tc>
                  <a:txBody>
                    <a:bodyPr/>
                    <a:lstStyle/>
                    <a:p>
                      <a:pPr algn="l"/>
                      <a:r>
                        <a:rPr lang="sv-SE" sz="1190" b="1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Total</a:t>
                      </a:r>
                    </a:p>
                  </a:txBody>
                  <a:tcPr marL="50800" marR="50800" marT="25400" marB="25400"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sv-SE" sz="1190" b="1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60</a:t>
                      </a:r>
                    </a:p>
                  </a:txBody>
                  <a:tcPr marL="50800" marR="50800" marT="25400" marB="25400"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sv-SE" sz="1190" b="1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480 µF</a:t>
                      </a:r>
                    </a:p>
                  </a:txBody>
                  <a:tcPr marL="50800" marR="50800" marT="25400" marB="25400"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sv-SE" sz="1190" b="1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134 µF</a:t>
                      </a:r>
                    </a:p>
                  </a:txBody>
                  <a:tcPr marL="50800" marR="50800" marT="25400" marB="25400">
                    <a:solidFill>
                      <a:srgbClr val="E8EF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667187575"/>
                  </a:ext>
                </a:extLst>
              </a:tr>
            </a:tbl>
          </a:graphicData>
        </a:graphic>
      </p:graphicFrame>
      <p:sp>
        <p:nvSpPr>
          <p:cNvPr id="7" name="TextBox 6">
            <a:extLst>
              <a:ext uri="{FF2B5EF4-FFF2-40B4-BE49-F238E27FC236}">
                <a16:creationId xmlns:a16="http://schemas.microsoft.com/office/drawing/2014/main" id="{F72C833C-B52F-6031-A460-33666BACB5A6}"/>
              </a:ext>
            </a:extLst>
          </p:cNvPr>
          <p:cNvSpPr txBox="1"/>
          <p:nvPr/>
        </p:nvSpPr>
        <p:spPr>
          <a:xfrm>
            <a:off x="238125" y="2381250"/>
            <a:ext cx="4953000" cy="307777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pPr marL="406400" indent="-177800">
              <a:spcAft>
                <a:spcPts val="400"/>
              </a:spcAft>
              <a:buFont typeface="+mj-lt"/>
              <a:buChar char="•"/>
            </a:pPr>
            <a:r>
              <a:rPr lang="en-US" sz="1470">
                <a:solidFill>
                  <a:srgbClr val="1E1E1E"/>
                </a:solidFill>
                <a:latin typeface="Arial" panose="020B0604020202020204" pitchFamily="34" charset="0"/>
              </a:rPr>
              <a:t>Ripple at 50 kHz with the three legs of a level sharing: </a:t>
            </a:r>
            <a:r>
              <a:rPr lang="en-US" sz="1470" b="1">
                <a:solidFill>
                  <a:srgbClr val="1E1E1E"/>
                </a:solidFill>
                <a:latin typeface="Arial" panose="020B0604020202020204" pitchFamily="34" charset="0"/>
              </a:rPr>
              <a:t>2.1 V (2.9 %)</a:t>
            </a:r>
          </a:p>
          <a:p>
            <a:pPr marL="406400" indent="-177800">
              <a:spcAft>
                <a:spcPts val="400"/>
              </a:spcAft>
              <a:buFont typeface="+mj-lt"/>
              <a:buChar char="•"/>
            </a:pPr>
            <a:r>
              <a:rPr lang="en-US" sz="1470">
                <a:solidFill>
                  <a:srgbClr val="1E1E1E"/>
                </a:solidFill>
                <a:latin typeface="Arial" panose="020B0604020202020204" pitchFamily="34" charset="0"/>
              </a:rPr>
              <a:t>Leg alone (DPT, back-to-back test without the busbar): ≈ 2× higher, acceptable for the lab tests</a:t>
            </a:r>
          </a:p>
          <a:p>
            <a:pPr marL="406400" indent="-177800">
              <a:spcAft>
                <a:spcPts val="400"/>
              </a:spcAft>
              <a:buFont typeface="+mj-lt"/>
              <a:buChar char="•"/>
            </a:pPr>
            <a:r>
              <a:rPr lang="en-US" sz="1470">
                <a:solidFill>
                  <a:srgbClr val="1E1E1E"/>
                </a:solidFill>
                <a:latin typeface="Arial" panose="020B0604020202020204" pitchFamily="34" charset="0"/>
              </a:rPr>
              <a:t>Bank ≥ 10 × bypass (127 vs 7 µF eff.): fulfilled</a:t>
            </a:r>
          </a:p>
          <a:p>
            <a:pPr marL="406400" indent="-177800">
              <a:spcAft>
                <a:spcPts val="400"/>
              </a:spcAft>
              <a:buFont typeface="+mj-lt"/>
              <a:buChar char="•"/>
            </a:pPr>
            <a:r>
              <a:rPr lang="en-US" sz="1470">
                <a:solidFill>
                  <a:srgbClr val="1E1E1E"/>
                </a:solidFill>
                <a:latin typeface="Arial" panose="020B0604020202020204" pitchFamily="34" charset="0"/>
              </a:rPr>
              <a:t>Row A leaves the board centre free for the DC terminal pins</a:t>
            </a:r>
            <a:endParaRPr lang="sv-SE" sz="1470" dirty="0" err="1">
              <a:solidFill>
                <a:srgbClr val="1E1E1E"/>
              </a:solidFill>
              <a:latin typeface="Arial" panose="020B0604020202020204" pitchFamily="34" charset="0"/>
            </a:endParaRPr>
          </a:p>
        </p:txBody>
      </p:sp>
      <p:pic>
        <p:nvPicPr>
          <p:cNvPr id="9" name="Picture 8">
            <a:extLst>
              <a:ext uri="{FF2B5EF4-FFF2-40B4-BE49-F238E27FC236}">
                <a16:creationId xmlns:a16="http://schemas.microsoft.com/office/drawing/2014/main" id="{877F9891-6E36-5348-CBB0-1A3C8DA188E8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381625" y="952500"/>
            <a:ext cx="3524250" cy="2476688"/>
          </a:xfrm>
          <a:prstGeom prst="rect">
            <a:avLst/>
          </a:prstGeom>
        </p:spPr>
      </p:pic>
      <p:sp>
        <p:nvSpPr>
          <p:cNvPr id="10" name="decision">
            <a:extLst>
              <a:ext uri="{FF2B5EF4-FFF2-40B4-BE49-F238E27FC236}">
                <a16:creationId xmlns:a16="http://schemas.microsoft.com/office/drawing/2014/main" id="{093B429F-351F-5BB1-9B58-EB70B502E0F0}"/>
              </a:ext>
            </a:extLst>
          </p:cNvPr>
          <p:cNvSpPr/>
          <p:nvPr/>
        </p:nvSpPr>
        <p:spPr>
          <a:xfrm>
            <a:off x="238125" y="4400550"/>
            <a:ext cx="8667750" cy="381000"/>
          </a:xfrm>
          <a:prstGeom prst="roundRect">
            <a:avLst/>
          </a:prstGeom>
          <a:solidFill>
            <a:srgbClr val="EEF4FB"/>
          </a:solidFill>
          <a:ln w="158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101600" tIns="25400" bIns="25400" rtlCol="0" anchor="ctr">
            <a:noAutofit/>
          </a:bodyPr>
          <a:lstStyle/>
          <a:p>
            <a:r>
              <a:rPr lang="en-US" sz="1380" b="1">
                <a:solidFill>
                  <a:srgbClr val="1E1E1E"/>
                </a:solidFill>
                <a:latin typeface="Arial" panose="020B0604020202020204" pitchFamily="34" charset="0"/>
              </a:rPr>
              <a:t>Decision:</a:t>
            </a:r>
            <a:r>
              <a:rPr lang="en-US" sz="1380">
                <a:solidFill>
                  <a:srgbClr val="1E1E1E"/>
                </a:solidFill>
                <a:latin typeface="Arial" panose="020B0604020202020204" pitchFamily="34" charset="0"/>
              </a:rPr>
              <a:t> Same DC link on the DPT and load-test boards</a:t>
            </a:r>
            <a:endParaRPr lang="sv-SE" sz="1380" dirty="0">
              <a:solidFill>
                <a:srgbClr val="1E1E1E"/>
              </a:solidFill>
              <a:latin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4130396991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D71EEE9-1FF6-DCBF-99F3-BBE67CB06AB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z="2100"/>
              <a:t>Can one driver drive all four?</a:t>
            </a:r>
            <a:endParaRPr lang="sv-SE" sz="210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A90820BA-58F3-BB48-6AD0-5C403C0C12A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sv-SE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033EFDDF-F896-93C0-E9D8-313D0FB6845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422A9A3-8636-4A04-BD48-3153280FB086}" type="slidenum">
              <a:rPr lang="sv-SE" smtClean="0"/>
              <a:pPr/>
              <a:t>20</a:t>
            </a:fld>
            <a:endParaRPr lang="sv-SE"/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B3BA240B-735E-22E1-AD8E-8FCC818F1E67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60425" y="952500"/>
            <a:ext cx="7423150" cy="2333625"/>
          </a:xfrm>
          <a:prstGeom prst="rect">
            <a:avLst/>
          </a:prstGeom>
        </p:spPr>
      </p:pic>
      <p:sp>
        <p:nvSpPr>
          <p:cNvPr id="8" name="TextBox 7">
            <a:extLst>
              <a:ext uri="{FF2B5EF4-FFF2-40B4-BE49-F238E27FC236}">
                <a16:creationId xmlns:a16="http://schemas.microsoft.com/office/drawing/2014/main" id="{8B517DFD-F329-C24D-B7C8-BB422FDE2E7F}"/>
              </a:ext>
            </a:extLst>
          </p:cNvPr>
          <p:cNvSpPr txBox="1"/>
          <p:nvPr/>
        </p:nvSpPr>
        <p:spPr>
          <a:xfrm>
            <a:off x="238125" y="3333750"/>
            <a:ext cx="8667750" cy="307777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pPr marL="406400" indent="-177800">
              <a:spcAft>
                <a:spcPts val="400"/>
              </a:spcAft>
              <a:buFont typeface="+mj-lt"/>
              <a:buChar char="•"/>
            </a:pPr>
            <a:r>
              <a:rPr lang="en-US" sz="1280">
                <a:solidFill>
                  <a:srgbClr val="1E1E1E"/>
                </a:solidFill>
                <a:latin typeface="Arial" panose="020B0604020202020204" pitchFamily="34" charset="0"/>
              </a:rPr>
              <a:t>Why E</a:t>
            </a:r>
            <a:r>
              <a:rPr lang="en-US" sz="1280" baseline="-25000">
                <a:solidFill>
                  <a:srgbClr val="1E1E1E"/>
                </a:solidFill>
                <a:latin typeface="Arial" panose="020B0604020202020204" pitchFamily="34" charset="0"/>
              </a:rPr>
              <a:t>on</a:t>
            </a:r>
            <a:r>
              <a:rPr lang="en-US" sz="1280">
                <a:solidFill>
                  <a:srgbClr val="1E1E1E"/>
                </a:solidFill>
                <a:latin typeface="Arial" panose="020B0604020202020204" pitchFamily="34" charset="0"/>
              </a:rPr>
              <a:t> per transistor rises with n per channel: the n gate capacitances (n × 3.6 nF C</a:t>
            </a:r>
            <a:r>
              <a:rPr lang="en-US" sz="1280" baseline="-25000">
                <a:solidFill>
                  <a:srgbClr val="1E1E1E"/>
                </a:solidFill>
                <a:latin typeface="Arial" panose="020B0604020202020204" pitchFamily="34" charset="0"/>
              </a:rPr>
              <a:t>iss</a:t>
            </a:r>
            <a:r>
              <a:rPr lang="en-US" sz="1280">
                <a:solidFill>
                  <a:srgbClr val="1E1E1E"/>
                </a:solidFill>
                <a:latin typeface="Arial" panose="020B0604020202020204" pitchFamily="34" charset="0"/>
              </a:rPr>
              <a:t>) charge through one driver output (4 A source, 0.85 Ω) and a longer shared gate trace ⇒ v</a:t>
            </a:r>
            <a:r>
              <a:rPr lang="en-US" sz="1280" baseline="-25000">
                <a:solidFill>
                  <a:srgbClr val="1E1E1E"/>
                </a:solidFill>
                <a:latin typeface="Arial" panose="020B0604020202020204" pitchFamily="34" charset="0"/>
              </a:rPr>
              <a:t>GS</a:t>
            </a:r>
            <a:r>
              <a:rPr lang="en-US" sz="1280">
                <a:solidFill>
                  <a:srgbClr val="1E1E1E"/>
                </a:solidFill>
                <a:latin typeface="Arial" panose="020B0604020202020204" pitchFamily="34" charset="0"/>
              </a:rPr>
              <a:t> rises n× slower ⇒ lower di/dt and dv/dt at turn-on ⇒ longer V–I overlap: </a:t>
            </a:r>
            <a:r>
              <a:rPr lang="en-US" sz="1280" b="1">
                <a:solidFill>
                  <a:srgbClr val="1E1E1E"/>
                </a:solidFill>
                <a:latin typeface="Arial" panose="020B0604020202020204" pitchFamily="34" charset="0"/>
              </a:rPr>
              <a:t>+16 / +31 / +60 %</a:t>
            </a:r>
            <a:r>
              <a:rPr lang="en-US" sz="1280">
                <a:solidFill>
                  <a:srgbClr val="1E1E1E"/>
                </a:solidFill>
                <a:latin typeface="Arial" panose="020B0604020202020204" pitchFamily="34" charset="0"/>
              </a:rPr>
              <a:t> E</a:t>
            </a:r>
            <a:r>
              <a:rPr lang="en-US" sz="1280" baseline="-25000">
                <a:solidFill>
                  <a:srgbClr val="1E1E1E"/>
                </a:solidFill>
                <a:latin typeface="Arial" panose="020B0604020202020204" pitchFamily="34" charset="0"/>
              </a:rPr>
              <a:t>on</a:t>
            </a:r>
            <a:r>
              <a:rPr lang="en-US" sz="1280">
                <a:solidFill>
                  <a:srgbClr val="1E1E1E"/>
                </a:solidFill>
                <a:latin typeface="Arial" panose="020B0604020202020204" pitchFamily="34" charset="0"/>
              </a:rPr>
              <a:t> for 3 / 4 / 6</a:t>
            </a:r>
          </a:p>
          <a:p>
            <a:pPr marL="406400" indent="-177800">
              <a:spcAft>
                <a:spcPts val="400"/>
              </a:spcAft>
              <a:buFont typeface="+mj-lt"/>
              <a:buChar char="•"/>
            </a:pPr>
            <a:r>
              <a:rPr lang="en-US" sz="1280">
                <a:solidFill>
                  <a:srgbClr val="1E1E1E"/>
                </a:solidFill>
                <a:latin typeface="Arial" panose="020B0604020202020204" pitchFamily="34" charset="0"/>
              </a:rPr>
              <a:t>(b) Extra gate-loop inductance of the longer tree raises the gate bump; (a) peak sink current 12–14 A for 4–6 devices exceeds the 8 A rating</a:t>
            </a:r>
          </a:p>
          <a:p>
            <a:pPr marL="406400" indent="-177800">
              <a:spcAft>
                <a:spcPts val="400"/>
              </a:spcAft>
              <a:buFont typeface="+mj-lt"/>
              <a:buChar char="•"/>
            </a:pPr>
            <a:r>
              <a:rPr lang="en-US" sz="1280">
                <a:solidFill>
                  <a:srgbClr val="1E1E1E"/>
                </a:solidFill>
                <a:latin typeface="Arial" panose="020B0604020202020204" pitchFamily="34" charset="0"/>
              </a:rPr>
              <a:t>(c) One channel per device is symmetric but needs 4 channels and supplies per switch</a:t>
            </a:r>
            <a:endParaRPr lang="sv-SE" sz="1280" dirty="0" err="1">
              <a:solidFill>
                <a:srgbClr val="1E1E1E"/>
              </a:solidFill>
              <a:latin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4235969660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3F057D5-77E0-F367-3C00-76488DC1F4E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z="2100"/>
              <a:t>Driver arrangement for 1 … 4 EPC2361 per switch</a:t>
            </a:r>
            <a:endParaRPr lang="sv-SE" sz="210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5BC9E7FC-07A4-E611-4B47-7A0717BF59F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sv-SE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06AC1242-E78D-5A64-94BA-2F6CA241BA0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422A9A3-8636-4A04-BD48-3153280FB086}" type="slidenum">
              <a:rPr lang="sv-SE" smtClean="0"/>
              <a:pPr/>
              <a:t>21</a:t>
            </a:fld>
            <a:endParaRPr lang="sv-SE"/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10A8E24B-4672-3D60-3063-B3AA86356479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38125" y="952500"/>
            <a:ext cx="5334000" cy="2931367"/>
          </a:xfrm>
          <a:prstGeom prst="rect">
            <a:avLst/>
          </a:prstGeom>
        </p:spPr>
      </p:pic>
      <p:sp>
        <p:nvSpPr>
          <p:cNvPr id="8" name="TextBox 7">
            <a:extLst>
              <a:ext uri="{FF2B5EF4-FFF2-40B4-BE49-F238E27FC236}">
                <a16:creationId xmlns:a16="http://schemas.microsoft.com/office/drawing/2014/main" id="{280CE8C6-4CBA-AF0D-A93C-B78515DC2D10}"/>
              </a:ext>
            </a:extLst>
          </p:cNvPr>
          <p:cNvSpPr txBox="1"/>
          <p:nvPr/>
        </p:nvSpPr>
        <p:spPr>
          <a:xfrm>
            <a:off x="5715000" y="952500"/>
            <a:ext cx="3190875" cy="307777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pPr marL="406400" indent="-177800">
              <a:spcAft>
                <a:spcPts val="400"/>
              </a:spcAft>
              <a:buFont typeface="+mj-lt"/>
              <a:buChar char="•"/>
            </a:pPr>
            <a:r>
              <a:rPr lang="en-US" sz="1470">
                <a:solidFill>
                  <a:srgbClr val="1E1E1E"/>
                </a:solidFill>
                <a:latin typeface="Arial" panose="020B0604020202020204" pitchFamily="34" charset="0"/>
              </a:rPr>
              <a:t>One dual-channel driver (HS + LS) between two cells: both gate loops equal and with their own Kelvin return (design value ≈ 1.7 nH; extracted on the routed board: step 11)</a:t>
            </a:r>
          </a:p>
          <a:p>
            <a:pPr marL="406400" indent="-177800">
              <a:spcAft>
                <a:spcPts val="400"/>
              </a:spcAft>
              <a:buFont typeface="+mj-lt"/>
              <a:buChar char="•"/>
            </a:pPr>
            <a:r>
              <a:rPr lang="en-US" sz="1470">
                <a:solidFill>
                  <a:srgbClr val="1E1E1E"/>
                </a:solidFill>
                <a:latin typeface="Arial" panose="020B0604020202020204" pitchFamily="34" charset="0"/>
              </a:rPr>
              <a:t>n = 3 breaks the symmetry (pair + single)</a:t>
            </a:r>
          </a:p>
          <a:p>
            <a:pPr marL="406400" indent="-177800">
              <a:spcAft>
                <a:spcPts val="400"/>
              </a:spcAft>
              <a:buFont typeface="+mj-lt"/>
              <a:buChar char="•"/>
            </a:pPr>
            <a:r>
              <a:rPr lang="en-US" sz="1470">
                <a:solidFill>
                  <a:srgbClr val="1E1E1E"/>
                </a:solidFill>
                <a:latin typeface="Arial" panose="020B0604020202020204" pitchFamily="34" charset="0"/>
              </a:rPr>
              <a:t>n = 4: two pairs, two drivers, one star per pair ⇒ the building block of two point-symmetric cells</a:t>
            </a:r>
            <a:endParaRPr lang="sv-SE" sz="1470" dirty="0" err="1">
              <a:solidFill>
                <a:srgbClr val="1E1E1E"/>
              </a:solidFill>
              <a:latin typeface="Arial" panose="020B0604020202020204" pitchFamily="34" charset="0"/>
            </a:endParaRPr>
          </a:p>
        </p:txBody>
      </p:sp>
      <p:sp>
        <p:nvSpPr>
          <p:cNvPr id="9" name="decision">
            <a:extLst>
              <a:ext uri="{FF2B5EF4-FFF2-40B4-BE49-F238E27FC236}">
                <a16:creationId xmlns:a16="http://schemas.microsoft.com/office/drawing/2014/main" id="{BE148D71-D79B-6A55-5FA6-8C3617CEB20E}"/>
              </a:ext>
            </a:extLst>
          </p:cNvPr>
          <p:cNvSpPr/>
          <p:nvPr/>
        </p:nvSpPr>
        <p:spPr>
          <a:xfrm>
            <a:off x="238125" y="4400550"/>
            <a:ext cx="8667750" cy="381000"/>
          </a:xfrm>
          <a:prstGeom prst="roundRect">
            <a:avLst/>
          </a:prstGeom>
          <a:solidFill>
            <a:srgbClr val="EEF4FB"/>
          </a:solidFill>
          <a:ln w="158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101600" tIns="25400" bIns="25400" rtlCol="0" anchor="ctr">
            <a:noAutofit/>
          </a:bodyPr>
          <a:lstStyle/>
          <a:p>
            <a:r>
              <a:rPr lang="en-US" sz="1380" b="1">
                <a:solidFill>
                  <a:srgbClr val="1E1E1E"/>
                </a:solidFill>
                <a:latin typeface="Arial" panose="020B0604020202020204" pitchFamily="34" charset="0"/>
              </a:rPr>
              <a:t>Decision:</a:t>
            </a:r>
            <a:r>
              <a:rPr lang="en-US" sz="1380">
                <a:solidFill>
                  <a:srgbClr val="1E1E1E"/>
                </a:solidFill>
                <a:latin typeface="Arial" panose="020B0604020202020204" pitchFamily="34" charset="0"/>
              </a:rPr>
              <a:t> 2 × EPC2361 per driver channel; 4 per switch = two pairs = two drivers</a:t>
            </a:r>
            <a:endParaRPr lang="sv-SE" sz="1380" dirty="0">
              <a:solidFill>
                <a:srgbClr val="1E1E1E"/>
              </a:solidFill>
              <a:latin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965793827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27F42BC-4C14-C538-C117-0FB3A081E8F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z="2100"/>
              <a:t>Gate driver selection: why the 2EDF7275K</a:t>
            </a:r>
            <a:endParaRPr lang="sv-SE" sz="210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B9B0AB06-27CF-7745-4327-CCD09C41458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sv-SE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0AEA055A-C198-9B6C-144B-818A973E6A5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422A9A3-8636-4A04-BD48-3153280FB086}" type="slidenum">
              <a:rPr lang="sv-SE" smtClean="0"/>
              <a:pPr/>
              <a:t>22</a:t>
            </a:fld>
            <a:endParaRPr lang="sv-SE"/>
          </a:p>
        </p:txBody>
      </p:sp>
      <p:graphicFrame>
        <p:nvGraphicFramePr>
          <p:cNvPr id="6" name="Table 5">
            <a:extLst>
              <a:ext uri="{FF2B5EF4-FFF2-40B4-BE49-F238E27FC236}">
                <a16:creationId xmlns:a16="http://schemas.microsoft.com/office/drawing/2014/main" id="{524A3092-FFFD-D2A7-028D-60696C71BD5C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79380564"/>
              </p:ext>
            </p:extLst>
          </p:nvPr>
        </p:nvGraphicFramePr>
        <p:xfrm>
          <a:off x="238125" y="952500"/>
          <a:ext cx="8667750" cy="146685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95500">
                  <a:extLst>
                    <a:ext uri="{9D8B030D-6E8A-4147-A177-3AD203B41FA5}">
                      <a16:colId xmlns:a16="http://schemas.microsoft.com/office/drawing/2014/main" val="3154466105"/>
                    </a:ext>
                  </a:extLst>
                </a:gridCol>
                <a:gridCol w="2286000">
                  <a:extLst>
                    <a:ext uri="{9D8B030D-6E8A-4147-A177-3AD203B41FA5}">
                      <a16:colId xmlns:a16="http://schemas.microsoft.com/office/drawing/2014/main" val="750685402"/>
                    </a:ext>
                  </a:extLst>
                </a:gridCol>
                <a:gridCol w="2143125">
                  <a:extLst>
                    <a:ext uri="{9D8B030D-6E8A-4147-A177-3AD203B41FA5}">
                      <a16:colId xmlns:a16="http://schemas.microsoft.com/office/drawing/2014/main" val="3793469488"/>
                    </a:ext>
                  </a:extLst>
                </a:gridCol>
                <a:gridCol w="2143125">
                  <a:extLst>
                    <a:ext uri="{9D8B030D-6E8A-4147-A177-3AD203B41FA5}">
                      <a16:colId xmlns:a16="http://schemas.microsoft.com/office/drawing/2014/main" val="1532161266"/>
                    </a:ext>
                  </a:extLst>
                </a:gridCol>
              </a:tblGrid>
              <a:tr h="165100">
                <a:tc>
                  <a:txBody>
                    <a:bodyPr/>
                    <a:lstStyle/>
                    <a:p>
                      <a:pPr algn="l"/>
                      <a:endParaRPr lang="sv-SE" sz="1190" b="1">
                        <a:solidFill>
                          <a:srgbClr val="FFFFFF"/>
                        </a:solidFill>
                        <a:latin typeface="Arial" panose="020B0604020202020204" pitchFamily="34" charset="0"/>
                      </a:endParaRPr>
                    </a:p>
                  </a:txBody>
                  <a:tcPr marL="50800" marR="50800" marT="25400" marB="25400">
                    <a:solidFill>
                      <a:srgbClr val="1954A6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sv-SE" sz="1190" b="1">
                          <a:solidFill>
                            <a:srgbClr val="FFFFFF"/>
                          </a:solidFill>
                          <a:latin typeface="Arial" panose="020B0604020202020204" pitchFamily="34" charset="0"/>
                        </a:rPr>
                        <a:t>2EDF7275K (Infineon)</a:t>
                      </a:r>
                    </a:p>
                  </a:txBody>
                  <a:tcPr marL="50800" marR="50800" marT="25400" marB="25400">
                    <a:solidFill>
                      <a:srgbClr val="1954A6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sv-SE" sz="1190" b="1">
                          <a:solidFill>
                            <a:srgbClr val="FFFFFF"/>
                          </a:solidFill>
                          <a:latin typeface="Arial" panose="020B0604020202020204" pitchFamily="34" charset="0"/>
                        </a:rPr>
                        <a:t>1EDF5673K (Infineon)</a:t>
                      </a:r>
                    </a:p>
                  </a:txBody>
                  <a:tcPr marL="50800" marR="50800" marT="25400" marB="25400">
                    <a:solidFill>
                      <a:srgbClr val="1954A6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sv-SE" sz="1190" b="1">
                          <a:solidFill>
                            <a:srgbClr val="FFFFFF"/>
                          </a:solidFill>
                          <a:latin typeface="Arial" panose="020B0604020202020204" pitchFamily="34" charset="0"/>
                        </a:rPr>
                        <a:t>LMG1210 (TI)</a:t>
                      </a:r>
                    </a:p>
                  </a:txBody>
                  <a:tcPr marL="50800" marR="50800" marT="25400" marB="25400">
                    <a:solidFill>
                      <a:srgbClr val="1954A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842641108"/>
                  </a:ext>
                </a:extLst>
              </a:tr>
              <a:tr h="165100">
                <a:tc>
                  <a:txBody>
                    <a:bodyPr/>
                    <a:lstStyle/>
                    <a:p>
                      <a:pPr algn="l"/>
                      <a:r>
                        <a:rPr lang="sv-SE" sz="119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Channels / isolation</a:t>
                      </a:r>
                    </a:p>
                  </a:txBody>
                  <a:tcPr marL="50800" marR="50800" marT="25400" marB="25400"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19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2, each output isolated (functional)</a:t>
                      </a:r>
                      <a:endParaRPr lang="sv-SE" sz="1190">
                        <a:solidFill>
                          <a:srgbClr val="1E1E1E"/>
                        </a:solidFill>
                        <a:latin typeface="Arial" panose="020B0604020202020204" pitchFamily="34" charset="0"/>
                      </a:endParaRPr>
                    </a:p>
                  </a:txBody>
                  <a:tcPr marL="50800" marR="50800" marT="25400" marB="25400"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sv-SE" sz="119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1, isolated</a:t>
                      </a:r>
                    </a:p>
                  </a:txBody>
                  <a:tcPr marL="50800" marR="50800" marT="25400" marB="25400"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sv-SE" sz="119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half bridge, bootstrap HS</a:t>
                      </a:r>
                    </a:p>
                  </a:txBody>
                  <a:tcPr marL="50800" marR="50800" marT="25400" marB="25400">
                    <a:solidFill>
                      <a:srgbClr val="E8EF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643348436"/>
                  </a:ext>
                </a:extLst>
              </a:tr>
              <a:tr h="165100">
                <a:tc>
                  <a:txBody>
                    <a:bodyPr/>
                    <a:lstStyle/>
                    <a:p>
                      <a:pPr algn="l"/>
                      <a:r>
                        <a:rPr lang="sv-SE" sz="119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Peak source / sink</a:t>
                      </a:r>
                    </a:p>
                  </a:txBody>
                  <a:tcPr marL="50800" marR="508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sv-SE" sz="119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4 A / 8 A</a:t>
                      </a:r>
                    </a:p>
                  </a:txBody>
                  <a:tcPr marL="50800" marR="508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19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0.85 Ω / 0.35 Ω output</a:t>
                      </a:r>
                      <a:endParaRPr lang="sv-SE" sz="1190">
                        <a:solidFill>
                          <a:srgbClr val="1E1E1E"/>
                        </a:solidFill>
                        <a:latin typeface="Arial" panose="020B0604020202020204" pitchFamily="34" charset="0"/>
                      </a:endParaRPr>
                    </a:p>
                  </a:txBody>
                  <a:tcPr marL="50800" marR="508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19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1.5 A / 3 A class</a:t>
                      </a:r>
                      <a:endParaRPr lang="sv-SE" sz="1190">
                        <a:solidFill>
                          <a:srgbClr val="1E1E1E"/>
                        </a:solidFill>
                        <a:latin typeface="Arial" panose="020B0604020202020204" pitchFamily="34" charset="0"/>
                      </a:endParaRPr>
                    </a:p>
                  </a:txBody>
                  <a:tcPr marL="50800" marR="50800" marT="25400" marB="25400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316439285"/>
                  </a:ext>
                </a:extLst>
              </a:tr>
              <a:tr h="165100">
                <a:tc>
                  <a:txBody>
                    <a:bodyPr/>
                    <a:lstStyle/>
                    <a:p>
                      <a:pPr algn="l"/>
                      <a:r>
                        <a:rPr lang="sv-SE" sz="119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Prop. delay / mismatch</a:t>
                      </a:r>
                    </a:p>
                  </a:txBody>
                  <a:tcPr marL="50800" marR="50800" marT="25400" marB="25400"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19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37 ns / ≤ 3 ns ch-ch</a:t>
                      </a:r>
                      <a:endParaRPr lang="sv-SE" sz="1190">
                        <a:solidFill>
                          <a:srgbClr val="1E1E1E"/>
                        </a:solidFill>
                        <a:latin typeface="Arial" panose="020B0604020202020204" pitchFamily="34" charset="0"/>
                      </a:endParaRPr>
                    </a:p>
                  </a:txBody>
                  <a:tcPr marL="50800" marR="50800" marT="25400" marB="25400"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sv-SE" sz="119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37 ns</a:t>
                      </a:r>
                    </a:p>
                  </a:txBody>
                  <a:tcPr marL="50800" marR="50800" marT="25400" marB="25400"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sv-SE" sz="119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≤ 21 ns / ≤ 3.4 ns</a:t>
                      </a:r>
                    </a:p>
                  </a:txBody>
                  <a:tcPr marL="50800" marR="50800" marT="25400" marB="25400">
                    <a:solidFill>
                      <a:srgbClr val="E8EF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71469307"/>
                  </a:ext>
                </a:extLst>
              </a:tr>
              <a:tr h="165100">
                <a:tc>
                  <a:txBody>
                    <a:bodyPr/>
                    <a:lstStyle/>
                    <a:p>
                      <a:pPr algn="l"/>
                      <a:r>
                        <a:rPr lang="sv-SE" sz="119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CMTI</a:t>
                      </a:r>
                    </a:p>
                  </a:txBody>
                  <a:tcPr marL="50800" marR="508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sv-SE" sz="119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150 V/ns</a:t>
                      </a:r>
                    </a:p>
                  </a:txBody>
                  <a:tcPr marL="50800" marR="508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sv-SE" sz="119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&gt; 200 V/ns</a:t>
                      </a:r>
                    </a:p>
                  </a:txBody>
                  <a:tcPr marL="50800" marR="508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de-DE" sz="119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300 V/ns (HS dv/dt)</a:t>
                      </a:r>
                      <a:endParaRPr lang="sv-SE" sz="1190">
                        <a:solidFill>
                          <a:srgbClr val="1E1E1E"/>
                        </a:solidFill>
                        <a:latin typeface="Arial" panose="020B0604020202020204" pitchFamily="34" charset="0"/>
                      </a:endParaRPr>
                    </a:p>
                  </a:txBody>
                  <a:tcPr marL="50800" marR="50800" marT="25400" marB="25400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815204103"/>
                  </a:ext>
                </a:extLst>
              </a:tr>
              <a:tr h="165100">
                <a:tc>
                  <a:txBody>
                    <a:bodyPr/>
                    <a:lstStyle/>
                    <a:p>
                      <a:pPr algn="l"/>
                      <a:r>
                        <a:rPr lang="sv-SE" sz="119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Off-voltage</a:t>
                      </a:r>
                    </a:p>
                  </a:txBody>
                  <a:tcPr marL="50800" marR="50800" marT="25400" marB="25400"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sv-SE" sz="119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external (Zener split)</a:t>
                      </a:r>
                    </a:p>
                  </a:txBody>
                  <a:tcPr marL="50800" marR="50800" marT="25400" marB="25400"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sv-SE" sz="119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built-in negative (RC)</a:t>
                      </a:r>
                    </a:p>
                  </a:txBody>
                  <a:tcPr marL="50800" marR="50800" marT="25400" marB="25400"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sv-SE" sz="119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0 V only</a:t>
                      </a:r>
                    </a:p>
                  </a:txBody>
                  <a:tcPr marL="50800" marR="50800" marT="25400" marB="25400">
                    <a:solidFill>
                      <a:srgbClr val="E8EF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573735287"/>
                  </a:ext>
                </a:extLst>
              </a:tr>
              <a:tr h="165100">
                <a:tc>
                  <a:txBody>
                    <a:bodyPr/>
                    <a:lstStyle/>
                    <a:p>
                      <a:pPr algn="l"/>
                      <a:r>
                        <a:rPr lang="en-US" sz="119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ICs per switch (4 EPC2361)</a:t>
                      </a:r>
                      <a:endParaRPr lang="sv-SE" sz="1190">
                        <a:solidFill>
                          <a:srgbClr val="1E1E1E"/>
                        </a:solidFill>
                        <a:latin typeface="Arial" panose="020B0604020202020204" pitchFamily="34" charset="0"/>
                      </a:endParaRPr>
                    </a:p>
                  </a:txBody>
                  <a:tcPr marL="50800" marR="508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sv-SE" sz="1190" b="1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2</a:t>
                      </a:r>
                      <a:r>
                        <a:rPr lang="sv-SE" sz="119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 (one per pair)</a:t>
                      </a:r>
                    </a:p>
                  </a:txBody>
                  <a:tcPr marL="50800" marR="508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sv-SE" sz="119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4</a:t>
                      </a:r>
                    </a:p>
                  </a:txBody>
                  <a:tcPr marL="50800" marR="508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19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2 (weak for a pair)</a:t>
                      </a:r>
                      <a:endParaRPr lang="sv-SE" sz="1190">
                        <a:solidFill>
                          <a:srgbClr val="1E1E1E"/>
                        </a:solidFill>
                        <a:latin typeface="Arial" panose="020B0604020202020204" pitchFamily="34" charset="0"/>
                      </a:endParaRPr>
                    </a:p>
                  </a:txBody>
                  <a:tcPr marL="50800" marR="50800" marT="25400" marB="25400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373143994"/>
                  </a:ext>
                </a:extLst>
              </a:tr>
            </a:tbl>
          </a:graphicData>
        </a:graphic>
      </p:graphicFrame>
      <p:sp>
        <p:nvSpPr>
          <p:cNvPr id="7" name="TextBox 6">
            <a:extLst>
              <a:ext uri="{FF2B5EF4-FFF2-40B4-BE49-F238E27FC236}">
                <a16:creationId xmlns:a16="http://schemas.microsoft.com/office/drawing/2014/main" id="{56487589-FF64-6231-3DDA-6049CA44670C}"/>
              </a:ext>
            </a:extLst>
          </p:cNvPr>
          <p:cNvSpPr txBox="1"/>
          <p:nvPr/>
        </p:nvSpPr>
        <p:spPr>
          <a:xfrm>
            <a:off x="238125" y="3095625"/>
            <a:ext cx="8667750" cy="307777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pPr marL="406400" indent="-177800">
              <a:spcAft>
                <a:spcPts val="400"/>
              </a:spcAft>
              <a:buFont typeface="+mj-lt"/>
              <a:buChar char="•"/>
            </a:pPr>
            <a:r>
              <a:rPr lang="en-US" sz="1380">
                <a:solidFill>
                  <a:srgbClr val="1E1E1E"/>
                </a:solidFill>
                <a:latin typeface="Arial" panose="020B0604020202020204" pitchFamily="34" charset="0"/>
              </a:rPr>
              <a:t>A pair needs ≈ 2 × 3.6 nF: 4 A / 8 A drives it at the single-device speed; the 1.5 A / 3 A half-bridge driver does not</a:t>
            </a:r>
          </a:p>
          <a:p>
            <a:pPr marL="406400" indent="-177800">
              <a:spcAft>
                <a:spcPts val="400"/>
              </a:spcAft>
              <a:buFont typeface="+mj-lt"/>
              <a:buChar char="•"/>
            </a:pPr>
            <a:r>
              <a:rPr lang="en-US" sz="1380">
                <a:solidFill>
                  <a:srgbClr val="1E1E1E"/>
                </a:solidFill>
                <a:latin typeface="Arial" panose="020B0604020202020204" pitchFamily="34" charset="0"/>
              </a:rPr>
              <a:t>Two isolated outputs in one 5 × 5 mm LGA: HS and LS of the same pair from one IC, ≤ 3 ns channel mismatch</a:t>
            </a:r>
          </a:p>
          <a:p>
            <a:pPr marL="406400" indent="-177800">
              <a:spcAft>
                <a:spcPts val="400"/>
              </a:spcAft>
              <a:buFont typeface="+mj-lt"/>
              <a:buChar char="•"/>
            </a:pPr>
            <a:r>
              <a:rPr lang="en-US" sz="1380">
                <a:solidFill>
                  <a:srgbClr val="1E1E1E"/>
                </a:solidFill>
                <a:latin typeface="Arial" panose="020B0604020202020204" pitchFamily="34" charset="0"/>
              </a:rPr>
              <a:t>Floating outputs: each output gets its own supply split (5.1 V Zener on, −1.9 V off) for the bump margin (next)</a:t>
            </a:r>
            <a:endParaRPr lang="sv-SE" sz="1380" dirty="0" err="1">
              <a:solidFill>
                <a:srgbClr val="1E1E1E"/>
              </a:solidFill>
              <a:latin typeface="Arial" panose="020B0604020202020204" pitchFamily="34" charset="0"/>
            </a:endParaRP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3610D72C-5059-B882-E105-D79AE33C58D4}"/>
              </a:ext>
            </a:extLst>
          </p:cNvPr>
          <p:cNvSpPr txBox="1"/>
          <p:nvPr/>
        </p:nvSpPr>
        <p:spPr>
          <a:xfrm>
            <a:off x="228600" y="4597400"/>
            <a:ext cx="7874000" cy="307777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n-US" sz="730">
                <a:solidFill>
                  <a:srgbClr val="787878"/>
                </a:solidFill>
                <a:latin typeface="Arial" panose="020B0604020202020204" pitchFamily="34" charset="0"/>
              </a:rPr>
              <a:t>Data: Infineon / TI product pages and datasheets (2EDF7275K, 1EDF5673K, LMG1210); check the current revision.</a:t>
            </a:r>
            <a:endParaRPr lang="sv-SE" sz="730" dirty="0" err="1">
              <a:solidFill>
                <a:srgbClr val="787878"/>
              </a:solidFill>
              <a:latin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96350482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99F311A-4086-0104-817B-284405DB9D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z="2100"/>
              <a:t>Why symmetry: what sets the current sharing</a:t>
            </a:r>
            <a:endParaRPr lang="sv-SE" sz="210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21EB6AAB-42B8-0610-254B-9F58B7A8A2B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sv-SE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6CF83A3D-F312-909F-A28A-D3DE9C518F6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422A9A3-8636-4A04-BD48-3153280FB086}" type="slidenum">
              <a:rPr lang="sv-SE" smtClean="0"/>
              <a:pPr/>
              <a:t>23</a:t>
            </a:fld>
            <a:endParaRPr lang="sv-SE"/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3E40FBA8-E924-A3D2-51B2-34F7F6FCA496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26688" y="952500"/>
            <a:ext cx="6890624" cy="1666875"/>
          </a:xfrm>
          <a:prstGeom prst="rect">
            <a:avLst/>
          </a:prstGeom>
        </p:spPr>
      </p:pic>
      <p:graphicFrame>
        <p:nvGraphicFramePr>
          <p:cNvPr id="8" name="Table 7">
            <a:extLst>
              <a:ext uri="{FF2B5EF4-FFF2-40B4-BE49-F238E27FC236}">
                <a16:creationId xmlns:a16="http://schemas.microsoft.com/office/drawing/2014/main" id="{709EBA62-F2F1-AABE-F28D-239894E0638D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24740474"/>
              </p:ext>
            </p:extLst>
          </p:nvPr>
        </p:nvGraphicFramePr>
        <p:xfrm>
          <a:off x="238125" y="2667000"/>
          <a:ext cx="8667750" cy="146685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857500">
                  <a:extLst>
                    <a:ext uri="{9D8B030D-6E8A-4147-A177-3AD203B41FA5}">
                      <a16:colId xmlns:a16="http://schemas.microsoft.com/office/drawing/2014/main" val="2382293797"/>
                    </a:ext>
                  </a:extLst>
                </a:gridCol>
                <a:gridCol w="1238250">
                  <a:extLst>
                    <a:ext uri="{9D8B030D-6E8A-4147-A177-3AD203B41FA5}">
                      <a16:colId xmlns:a16="http://schemas.microsoft.com/office/drawing/2014/main" val="739776401"/>
                    </a:ext>
                  </a:extLst>
                </a:gridCol>
                <a:gridCol w="2000250">
                  <a:extLst>
                    <a:ext uri="{9D8B030D-6E8A-4147-A177-3AD203B41FA5}">
                      <a16:colId xmlns:a16="http://schemas.microsoft.com/office/drawing/2014/main" val="1660083797"/>
                    </a:ext>
                  </a:extLst>
                </a:gridCol>
                <a:gridCol w="2571750">
                  <a:extLst>
                    <a:ext uri="{9D8B030D-6E8A-4147-A177-3AD203B41FA5}">
                      <a16:colId xmlns:a16="http://schemas.microsoft.com/office/drawing/2014/main" val="4192408957"/>
                    </a:ext>
                  </a:extLst>
                </a:gridCol>
              </a:tblGrid>
              <a:tr h="165100">
                <a:tc>
                  <a:txBody>
                    <a:bodyPr/>
                    <a:lstStyle/>
                    <a:p>
                      <a:pPr algn="l"/>
                      <a:r>
                        <a:rPr lang="en-US" sz="1100" b="1">
                          <a:solidFill>
                            <a:srgbClr val="FFFFFF"/>
                          </a:solidFill>
                          <a:latin typeface="Arial" panose="020B0604020202020204" pitchFamily="34" charset="0"/>
                        </a:rPr>
                        <a:t>Asymmetry (LTspice, two EPC2361 in parallel)</a:t>
                      </a:r>
                      <a:endParaRPr lang="sv-SE" sz="1100" b="1">
                        <a:solidFill>
                          <a:srgbClr val="FFFFFF"/>
                        </a:solidFill>
                        <a:latin typeface="Arial" panose="020B0604020202020204" pitchFamily="34" charset="0"/>
                      </a:endParaRPr>
                    </a:p>
                  </a:txBody>
                  <a:tcPr marL="50800" marR="50800" marT="25400" marB="25400">
                    <a:solidFill>
                      <a:srgbClr val="1954A6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sv-SE" sz="1100" b="1">
                          <a:solidFill>
                            <a:srgbClr val="FFFFFF"/>
                          </a:solidFill>
                          <a:latin typeface="Arial" panose="020B0604020202020204" pitchFamily="34" charset="0"/>
                        </a:rPr>
                        <a:t>Case</a:t>
                      </a:r>
                    </a:p>
                  </a:txBody>
                  <a:tcPr marL="50800" marR="50800" marT="25400" marB="25400">
                    <a:solidFill>
                      <a:srgbClr val="1954A6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sv-SE" sz="1100" b="1">
                          <a:solidFill>
                            <a:srgbClr val="FFFFFF"/>
                          </a:solidFill>
                          <a:latin typeface="Arial" panose="020B0604020202020204" pitchFamily="34" charset="0"/>
                        </a:rPr>
                        <a:t>E</a:t>
                      </a:r>
                      <a:r>
                        <a:rPr lang="sv-SE" sz="1100" b="1" baseline="-25000">
                          <a:solidFill>
                            <a:srgbClr val="FFFFFF"/>
                          </a:solidFill>
                          <a:latin typeface="Arial" panose="020B0604020202020204" pitchFamily="34" charset="0"/>
                        </a:rPr>
                        <a:t>on</a:t>
                      </a:r>
                      <a:r>
                        <a:rPr lang="sv-SE" sz="1100" b="1">
                          <a:solidFill>
                            <a:srgbClr val="FFFFFF"/>
                          </a:solidFill>
                          <a:latin typeface="Arial" panose="020B0604020202020204" pitchFamily="34" charset="0"/>
                        </a:rPr>
                        <a:t>+E</a:t>
                      </a:r>
                      <a:r>
                        <a:rPr lang="sv-SE" sz="1100" b="1" baseline="-25000">
                          <a:solidFill>
                            <a:srgbClr val="FFFFFF"/>
                          </a:solidFill>
                          <a:latin typeface="Arial" panose="020B0604020202020204" pitchFamily="34" charset="0"/>
                        </a:rPr>
                        <a:t>off</a:t>
                      </a:r>
                      <a:r>
                        <a:rPr lang="sv-SE" sz="1100" b="1">
                          <a:solidFill>
                            <a:srgbClr val="FFFFFF"/>
                          </a:solidFill>
                          <a:latin typeface="Arial" panose="020B0604020202020204" pitchFamily="34" charset="0"/>
                        </a:rPr>
                        <a:t> imbalance</a:t>
                      </a:r>
                    </a:p>
                  </a:txBody>
                  <a:tcPr marL="50800" marR="50800" marT="25400" marB="25400">
                    <a:solidFill>
                      <a:srgbClr val="1954A6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sv-SE" sz="1100" b="1">
                          <a:solidFill>
                            <a:srgbClr val="FFFFFF"/>
                          </a:solidFill>
                          <a:latin typeface="Arial" panose="020B0604020202020204" pitchFamily="34" charset="0"/>
                        </a:rPr>
                        <a:t>Layout measure</a:t>
                      </a:r>
                    </a:p>
                  </a:txBody>
                  <a:tcPr marL="50800" marR="50800" marT="25400" marB="25400">
                    <a:solidFill>
                      <a:srgbClr val="1954A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390215763"/>
                  </a:ext>
                </a:extLst>
              </a:tr>
              <a:tr h="165100">
                <a:tc>
                  <a:txBody>
                    <a:bodyPr/>
                    <a:lstStyle/>
                    <a:p>
                      <a:pPr algn="l"/>
                      <a:r>
                        <a:rPr lang="sv-SE" sz="110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Power-loop inductance mismatch</a:t>
                      </a:r>
                    </a:p>
                  </a:txBody>
                  <a:tcPr marL="50800" marR="50800" marT="25400" marB="25400"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sv-SE" sz="110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L</a:t>
                      </a:r>
                      <a:r>
                        <a:rPr lang="sv-SE" sz="1100" baseline="-2500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D</a:t>
                      </a:r>
                      <a:r>
                        <a:rPr lang="sv-SE" sz="110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 +0.3 nH</a:t>
                      </a:r>
                    </a:p>
                  </a:txBody>
                  <a:tcPr marL="50800" marR="50800" marT="25400" marB="25400"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sv-SE" sz="110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2 %</a:t>
                      </a:r>
                    </a:p>
                  </a:txBody>
                  <a:tcPr marL="50800" marR="50800" marT="25400" marB="25400"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sv-SE" sz="110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symmetric cells, identical via sets</a:t>
                      </a:r>
                    </a:p>
                  </a:txBody>
                  <a:tcPr marL="50800" marR="50800" marT="25400" marB="25400">
                    <a:solidFill>
                      <a:srgbClr val="E8EF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00012176"/>
                  </a:ext>
                </a:extLst>
              </a:tr>
              <a:tr h="165100">
                <a:tc>
                  <a:txBody>
                    <a:bodyPr/>
                    <a:lstStyle/>
                    <a:p>
                      <a:pPr algn="l"/>
                      <a:r>
                        <a:rPr lang="sv-SE" sz="110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Gate-loop inductance mismatch</a:t>
                      </a:r>
                    </a:p>
                  </a:txBody>
                  <a:tcPr marL="50800" marR="508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sv-SE" sz="110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L</a:t>
                      </a:r>
                      <a:r>
                        <a:rPr lang="sv-SE" sz="1100" baseline="-2500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G</a:t>
                      </a:r>
                      <a:r>
                        <a:rPr lang="sv-SE" sz="110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 2 vs 8 nH</a:t>
                      </a:r>
                    </a:p>
                  </a:txBody>
                  <a:tcPr marL="50800" marR="508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sv-SE" sz="1100" b="1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19 %</a:t>
                      </a:r>
                      <a:r>
                        <a:rPr lang="sv-SE" sz="110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 (E</a:t>
                      </a:r>
                      <a:r>
                        <a:rPr lang="sv-SE" sz="1100" baseline="-2500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on</a:t>
                      </a:r>
                      <a:r>
                        <a:rPr lang="sv-SE" sz="110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 4 : 1)</a:t>
                      </a:r>
                    </a:p>
                  </a:txBody>
                  <a:tcPr marL="50800" marR="508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10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star network, equal gate traces</a:t>
                      </a:r>
                      <a:endParaRPr lang="sv-SE" sz="1100">
                        <a:solidFill>
                          <a:srgbClr val="1E1E1E"/>
                        </a:solidFill>
                        <a:latin typeface="Arial" panose="020B0604020202020204" pitchFamily="34" charset="0"/>
                      </a:endParaRPr>
                    </a:p>
                  </a:txBody>
                  <a:tcPr marL="50800" marR="50800" marT="25400" marB="25400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845355872"/>
                  </a:ext>
                </a:extLst>
              </a:tr>
              <a:tr h="165100">
                <a:tc>
                  <a:txBody>
                    <a:bodyPr/>
                    <a:lstStyle/>
                    <a:p>
                      <a:pPr algn="l"/>
                      <a:r>
                        <a:rPr lang="sv-SE" sz="110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Common-source inductance, no Kelvin</a:t>
                      </a:r>
                    </a:p>
                  </a:txBody>
                  <a:tcPr marL="50800" marR="50800" marT="25400" marB="25400"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sv-SE" sz="110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symmetric</a:t>
                      </a:r>
                    </a:p>
                  </a:txBody>
                  <a:tcPr marL="50800" marR="50800" marT="25400" marB="25400"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sv-SE" sz="110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0 %, both +47 % E</a:t>
                      </a:r>
                      <a:r>
                        <a:rPr lang="sv-SE" sz="1100" baseline="-2500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on</a:t>
                      </a:r>
                    </a:p>
                  </a:txBody>
                  <a:tcPr marL="50800" marR="50800" marT="25400" marB="25400"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sv-SE" sz="110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Kelvin pad per device</a:t>
                      </a:r>
                    </a:p>
                  </a:txBody>
                  <a:tcPr marL="50800" marR="50800" marT="25400" marB="25400">
                    <a:solidFill>
                      <a:srgbClr val="E8EF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244004501"/>
                  </a:ext>
                </a:extLst>
              </a:tr>
              <a:tr h="165100">
                <a:tc>
                  <a:txBody>
                    <a:bodyPr/>
                    <a:lstStyle/>
                    <a:p>
                      <a:pPr algn="l"/>
                      <a:r>
                        <a:rPr lang="sv-SE" sz="110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Common-source mismatch, no Kelvin</a:t>
                      </a:r>
                    </a:p>
                  </a:txBody>
                  <a:tcPr marL="50800" marR="508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sv-SE" sz="110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L</a:t>
                      </a:r>
                      <a:r>
                        <a:rPr lang="sv-SE" sz="1100" baseline="-2500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CS</a:t>
                      </a:r>
                      <a:r>
                        <a:rPr lang="sv-SE" sz="110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 +0.2 nH</a:t>
                      </a:r>
                    </a:p>
                  </a:txBody>
                  <a:tcPr marL="50800" marR="508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sv-SE" sz="1100" b="1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29 %</a:t>
                      </a:r>
                    </a:p>
                  </a:txBody>
                  <a:tcPr marL="50800" marR="508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sv-SE" sz="110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Kelvin return per device</a:t>
                      </a:r>
                    </a:p>
                  </a:txBody>
                  <a:tcPr marL="50800" marR="50800" marT="25400" marB="25400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810094702"/>
                  </a:ext>
                </a:extLst>
              </a:tr>
              <a:tr h="165100">
                <a:tc>
                  <a:txBody>
                    <a:bodyPr/>
                    <a:lstStyle/>
                    <a:p>
                      <a:pPr algn="l"/>
                      <a:r>
                        <a:rPr lang="sv-SE" sz="110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Threshold spread</a:t>
                      </a:r>
                    </a:p>
                  </a:txBody>
                  <a:tcPr marL="50800" marR="50800" marT="25400" marB="25400"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sv-SE" sz="110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V</a:t>
                      </a:r>
                      <a:r>
                        <a:rPr lang="sv-SE" sz="1100" baseline="-2500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th</a:t>
                      </a:r>
                      <a:r>
                        <a:rPr lang="sv-SE" sz="110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 +0.3 V</a:t>
                      </a:r>
                    </a:p>
                  </a:txBody>
                  <a:tcPr marL="50800" marR="50800" marT="25400" marB="25400"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sv-SE" sz="110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7 %</a:t>
                      </a:r>
                    </a:p>
                  </a:txBody>
                  <a:tcPr marL="50800" marR="50800" marT="25400" marB="25400"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10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same driver channel per pair</a:t>
                      </a:r>
                      <a:endParaRPr lang="sv-SE" sz="1100">
                        <a:solidFill>
                          <a:srgbClr val="1E1E1E"/>
                        </a:solidFill>
                        <a:latin typeface="Arial" panose="020B0604020202020204" pitchFamily="34" charset="0"/>
                      </a:endParaRPr>
                    </a:p>
                  </a:txBody>
                  <a:tcPr marL="50800" marR="50800" marT="25400" marB="25400">
                    <a:solidFill>
                      <a:srgbClr val="E8EF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612746702"/>
                  </a:ext>
                </a:extLst>
              </a:tr>
              <a:tr h="165100">
                <a:tc>
                  <a:txBody>
                    <a:bodyPr/>
                    <a:lstStyle/>
                    <a:p>
                      <a:pPr algn="l"/>
                      <a:r>
                        <a:rPr lang="en-US" sz="110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Static (conduction): copper / R</a:t>
                      </a:r>
                      <a:r>
                        <a:rPr lang="en-US" sz="1100" baseline="-2500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DS(on)</a:t>
                      </a:r>
                      <a:endParaRPr lang="sv-SE" sz="1100" baseline="-25000">
                        <a:solidFill>
                          <a:srgbClr val="1E1E1E"/>
                        </a:solidFill>
                        <a:latin typeface="Arial" panose="020B0604020202020204" pitchFamily="34" charset="0"/>
                      </a:endParaRPr>
                    </a:p>
                  </a:txBody>
                  <a:tcPr marL="50800" marR="508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sv-SE" sz="110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–</a:t>
                      </a:r>
                    </a:p>
                  </a:txBody>
                  <a:tcPr marL="50800" marR="508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sv-SE" sz="110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self-limiting (positive TC)</a:t>
                      </a:r>
                    </a:p>
                  </a:txBody>
                  <a:tcPr marL="50800" marR="508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10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symmetric copper (Q3D, step 11)</a:t>
                      </a:r>
                      <a:endParaRPr lang="sv-SE" sz="1100">
                        <a:solidFill>
                          <a:srgbClr val="1E1E1E"/>
                        </a:solidFill>
                        <a:latin typeface="Arial" panose="020B0604020202020204" pitchFamily="34" charset="0"/>
                      </a:endParaRPr>
                    </a:p>
                  </a:txBody>
                  <a:tcPr marL="50800" marR="50800" marT="25400" marB="25400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925076362"/>
                  </a:ext>
                </a:extLst>
              </a:tr>
            </a:tbl>
          </a:graphicData>
        </a:graphic>
      </p:graphicFrame>
      <p:sp>
        <p:nvSpPr>
          <p:cNvPr id="9" name="decision">
            <a:extLst>
              <a:ext uri="{FF2B5EF4-FFF2-40B4-BE49-F238E27FC236}">
                <a16:creationId xmlns:a16="http://schemas.microsoft.com/office/drawing/2014/main" id="{88525E96-B0D7-1D2E-72F0-5B36B6B06756}"/>
              </a:ext>
            </a:extLst>
          </p:cNvPr>
          <p:cNvSpPr/>
          <p:nvPr/>
        </p:nvSpPr>
        <p:spPr>
          <a:xfrm>
            <a:off x="238125" y="4400550"/>
            <a:ext cx="8667750" cy="381000"/>
          </a:xfrm>
          <a:prstGeom prst="roundRect">
            <a:avLst/>
          </a:prstGeom>
          <a:solidFill>
            <a:srgbClr val="EEF4FB"/>
          </a:solidFill>
          <a:ln w="158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101600" tIns="25400" bIns="25400" rtlCol="0" anchor="ctr">
            <a:noAutofit/>
          </a:bodyPr>
          <a:lstStyle/>
          <a:p>
            <a:r>
              <a:rPr lang="en-US" sz="1380" b="1">
                <a:solidFill>
                  <a:srgbClr val="1E1E1E"/>
                </a:solidFill>
                <a:latin typeface="Arial" panose="020B0604020202020204" pitchFamily="34" charset="0"/>
              </a:rPr>
              <a:t>Decision:</a:t>
            </a:r>
            <a:r>
              <a:rPr lang="en-US" sz="1380">
                <a:solidFill>
                  <a:srgbClr val="1E1E1E"/>
                </a:solidFill>
                <a:latin typeface="Arial" panose="020B0604020202020204" pitchFamily="34" charset="0"/>
              </a:rPr>
              <a:t> Star gate network with Kelvin returns, one driver channel per pair, point-symmetric cells</a:t>
            </a:r>
            <a:endParaRPr lang="sv-SE" sz="1380" dirty="0">
              <a:solidFill>
                <a:srgbClr val="1E1E1E"/>
              </a:solidFill>
              <a:latin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663409168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6838448-6F1D-D0D1-9F33-D524E9C2DD9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z="2100"/>
              <a:t>Gate bump and negative off-voltage</a:t>
            </a:r>
            <a:endParaRPr lang="sv-SE" sz="210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E30D3CE0-2817-27D1-589A-7D5A035DAD0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sv-SE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1A7088D6-FB7B-3162-B6AD-E64FB85E50B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422A9A3-8636-4A04-BD48-3153280FB086}" type="slidenum">
              <a:rPr lang="sv-SE" smtClean="0"/>
              <a:pPr/>
              <a:t>24</a:t>
            </a:fld>
            <a:endParaRPr lang="sv-SE"/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B0316415-64E5-A9EB-3F85-BAE81D18CF40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38125" y="952500"/>
            <a:ext cx="5334000" cy="1357313"/>
          </a:xfrm>
          <a:prstGeom prst="rect">
            <a:avLst/>
          </a:prstGeom>
        </p:spPr>
      </p:pic>
      <p:pic>
        <p:nvPicPr>
          <p:cNvPr id="9" name="Picture 8">
            <a:extLst>
              <a:ext uri="{FF2B5EF4-FFF2-40B4-BE49-F238E27FC236}">
                <a16:creationId xmlns:a16="http://schemas.microsoft.com/office/drawing/2014/main" id="{70896838-1CF5-5F8D-8F76-E40E6B0128AF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38125" y="2857500"/>
            <a:ext cx="5334000" cy="1832934"/>
          </a:xfrm>
          <a:prstGeom prst="rect">
            <a:avLst/>
          </a:prstGeom>
        </p:spPr>
      </p:pic>
      <p:sp>
        <p:nvSpPr>
          <p:cNvPr id="10" name="TextBox 9">
            <a:extLst>
              <a:ext uri="{FF2B5EF4-FFF2-40B4-BE49-F238E27FC236}">
                <a16:creationId xmlns:a16="http://schemas.microsoft.com/office/drawing/2014/main" id="{7A5C9291-7AE6-9E31-2148-58F8AE5C2C20}"/>
              </a:ext>
            </a:extLst>
          </p:cNvPr>
          <p:cNvSpPr txBox="1"/>
          <p:nvPr/>
        </p:nvSpPr>
        <p:spPr>
          <a:xfrm>
            <a:off x="5715000" y="952500"/>
            <a:ext cx="3190875" cy="307777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pPr marL="406400" indent="-177800">
              <a:spcAft>
                <a:spcPts val="400"/>
              </a:spcAft>
              <a:buFont typeface="+mj-lt"/>
              <a:buChar char="•"/>
            </a:pPr>
            <a:r>
              <a:rPr lang="en-US" sz="1190" b="1">
                <a:solidFill>
                  <a:srgbClr val="1E1E1E"/>
                </a:solidFill>
                <a:latin typeface="Arial" panose="020B0604020202020204" pitchFamily="34" charset="0"/>
              </a:rPr>
              <a:t>Bump:</a:t>
            </a:r>
            <a:r>
              <a:rPr lang="en-US" sz="1190">
                <a:solidFill>
                  <a:srgbClr val="1E1E1E"/>
                </a:solidFill>
                <a:latin typeface="Arial" panose="020B0604020202020204" pitchFamily="34" charset="0"/>
              </a:rPr>
              <a:t> when the other device of the leg turns on, the off device sees dv/dt; C</a:t>
            </a:r>
            <a:r>
              <a:rPr lang="en-US" sz="1190" baseline="-25000">
                <a:solidFill>
                  <a:srgbClr val="1E1E1E"/>
                </a:solidFill>
                <a:latin typeface="Arial" panose="020B0604020202020204" pitchFamily="34" charset="0"/>
              </a:rPr>
              <a:t>GD</a:t>
            </a:r>
            <a:r>
              <a:rPr lang="en-US" sz="1190">
                <a:solidFill>
                  <a:srgbClr val="1E1E1E"/>
                </a:solidFill>
                <a:latin typeface="Arial" panose="020B0604020202020204" pitchFamily="34" charset="0"/>
              </a:rPr>
              <a:t>·dv/dt flows through its gate loop and lifts v</a:t>
            </a:r>
            <a:r>
              <a:rPr lang="en-US" sz="1190" baseline="-25000">
                <a:solidFill>
                  <a:srgbClr val="1E1E1E"/>
                </a:solidFill>
                <a:latin typeface="Arial" panose="020B0604020202020204" pitchFamily="34" charset="0"/>
              </a:rPr>
              <a:t>GS</a:t>
            </a:r>
            <a:r>
              <a:rPr lang="en-US" sz="1190">
                <a:solidFill>
                  <a:srgbClr val="1E1E1E"/>
                </a:solidFill>
                <a:latin typeface="Arial" panose="020B0604020202020204" pitchFamily="34" charset="0"/>
              </a:rPr>
              <a:t> by ≈ Q</a:t>
            </a:r>
            <a:r>
              <a:rPr lang="en-US" sz="1190" baseline="-25000">
                <a:solidFill>
                  <a:srgbClr val="1E1E1E"/>
                </a:solidFill>
                <a:latin typeface="Arial" panose="020B0604020202020204" pitchFamily="34" charset="0"/>
              </a:rPr>
              <a:t>GD</a:t>
            </a:r>
            <a:r>
              <a:rPr lang="en-US" sz="1190">
                <a:solidFill>
                  <a:srgbClr val="1E1E1E"/>
                </a:solidFill>
                <a:latin typeface="Arial" panose="020B0604020202020204" pitchFamily="34" charset="0"/>
              </a:rPr>
              <a:t>/C</a:t>
            </a:r>
            <a:r>
              <a:rPr lang="en-US" sz="1190" baseline="-25000">
                <a:solidFill>
                  <a:srgbClr val="1E1E1E"/>
                </a:solidFill>
                <a:latin typeface="Arial" panose="020B0604020202020204" pitchFamily="34" charset="0"/>
              </a:rPr>
              <a:t>GS</a:t>
            </a:r>
            <a:r>
              <a:rPr lang="en-US" sz="1190">
                <a:solidFill>
                  <a:srgbClr val="1E1E1E"/>
                </a:solidFill>
                <a:latin typeface="Arial" panose="020B0604020202020204" pitchFamily="34" charset="0"/>
              </a:rPr>
              <a:t> ≈ 1.06 V</a:t>
            </a:r>
          </a:p>
          <a:p>
            <a:pPr marL="406400" indent="-177800">
              <a:spcAft>
                <a:spcPts val="400"/>
              </a:spcAft>
              <a:buFont typeface="+mj-lt"/>
              <a:buChar char="•"/>
            </a:pPr>
            <a:r>
              <a:rPr lang="en-US" sz="1190">
                <a:solidFill>
                  <a:srgbClr val="1E1E1E"/>
                </a:solidFill>
                <a:latin typeface="Arial" panose="020B0604020202020204" pitchFamily="34" charset="0"/>
              </a:rPr>
              <a:t>Independent of load current and bus voltage (top b, c); close to the 0.8 V minimum threshold ⇒ shoot-through risk</a:t>
            </a:r>
          </a:p>
          <a:p>
            <a:pPr marL="406400" indent="-177800">
              <a:spcAft>
                <a:spcPts val="400"/>
              </a:spcAft>
              <a:buFont typeface="+mj-lt"/>
              <a:buChar char="•"/>
            </a:pPr>
            <a:r>
              <a:rPr lang="en-US" sz="1190" b="1">
                <a:solidFill>
                  <a:srgbClr val="1E1E1E"/>
                </a:solidFill>
                <a:latin typeface="Arial" panose="020B0604020202020204" pitchFamily="34" charset="0"/>
              </a:rPr>
              <a:t>Negative off-voltage</a:t>
            </a:r>
            <a:r>
              <a:rPr lang="en-US" sz="1190">
                <a:solidFill>
                  <a:srgbClr val="1E1E1E"/>
                </a:solidFill>
                <a:latin typeface="Arial" panose="020B0604020202020204" pitchFamily="34" charset="0"/>
              </a:rPr>
              <a:t> shifts the whole bump down: −1 V ⇒ peak ≈ 0 V; extra C</a:t>
            </a:r>
            <a:r>
              <a:rPr lang="en-US" sz="1190" baseline="-25000">
                <a:solidFill>
                  <a:srgbClr val="1E1E1E"/>
                </a:solidFill>
                <a:latin typeface="Arial" panose="020B0604020202020204" pitchFamily="34" charset="0"/>
              </a:rPr>
              <a:t>GS</a:t>
            </a:r>
            <a:r>
              <a:rPr lang="en-US" sz="1190">
                <a:solidFill>
                  <a:srgbClr val="1E1E1E"/>
                </a:solidFill>
                <a:latin typeface="Arial" panose="020B0604020202020204" pitchFamily="34" charset="0"/>
              </a:rPr>
              <a:t> divides it further (bottom)</a:t>
            </a:r>
          </a:p>
          <a:p>
            <a:pPr marL="406400" indent="-177800">
              <a:spcAft>
                <a:spcPts val="400"/>
              </a:spcAft>
              <a:buFont typeface="+mj-lt"/>
              <a:buChar char="•"/>
            </a:pPr>
            <a:r>
              <a:rPr lang="en-US" sz="1190">
                <a:solidFill>
                  <a:srgbClr val="1E1E1E"/>
                </a:solidFill>
                <a:latin typeface="Arial" panose="020B0604020202020204" pitchFamily="34" charset="0"/>
              </a:rPr>
              <a:t>Cost: reverse conduction in the dead time at V</a:t>
            </a:r>
            <a:r>
              <a:rPr lang="en-US" sz="1190" baseline="-25000">
                <a:solidFill>
                  <a:srgbClr val="1E1E1E"/>
                </a:solidFill>
                <a:latin typeface="Arial" panose="020B0604020202020204" pitchFamily="34" charset="0"/>
              </a:rPr>
              <a:t>SD</a:t>
            </a:r>
            <a:r>
              <a:rPr lang="en-US" sz="1190">
                <a:solidFill>
                  <a:srgbClr val="1E1E1E"/>
                </a:solidFill>
                <a:latin typeface="Arial" panose="020B0604020202020204" pitchFamily="34" charset="0"/>
              </a:rPr>
              <a:t> + |V</a:t>
            </a:r>
            <a:r>
              <a:rPr lang="en-US" sz="1190" baseline="-25000">
                <a:solidFill>
                  <a:srgbClr val="1E1E1E"/>
                </a:solidFill>
                <a:latin typeface="Arial" panose="020B0604020202020204" pitchFamily="34" charset="0"/>
              </a:rPr>
              <a:t>off</a:t>
            </a:r>
            <a:r>
              <a:rPr lang="en-US" sz="1190">
                <a:solidFill>
                  <a:srgbClr val="1E1E1E"/>
                </a:solidFill>
                <a:latin typeface="Arial" panose="020B0604020202020204" pitchFamily="34" charset="0"/>
              </a:rPr>
              <a:t>|; off-state ringing must stay above the −4 V limit</a:t>
            </a:r>
          </a:p>
          <a:p>
            <a:pPr marL="406400" indent="-177800">
              <a:spcAft>
                <a:spcPts val="400"/>
              </a:spcAft>
              <a:buFont typeface="+mj-lt"/>
              <a:buChar char="•"/>
            </a:pPr>
            <a:r>
              <a:rPr lang="en-US" sz="1190">
                <a:solidFill>
                  <a:srgbClr val="1E1E1E"/>
                </a:solidFill>
                <a:latin typeface="Arial" panose="020B0604020202020204" pitchFamily="34" charset="0"/>
              </a:rPr>
              <a:t>Implemented: V</a:t>
            </a:r>
            <a:r>
              <a:rPr lang="en-US" sz="1190" baseline="-25000">
                <a:solidFill>
                  <a:srgbClr val="1E1E1E"/>
                </a:solidFill>
                <a:latin typeface="Arial" panose="020B0604020202020204" pitchFamily="34" charset="0"/>
              </a:rPr>
              <a:t>GS,off</a:t>
            </a:r>
            <a:r>
              <a:rPr lang="en-US" sz="1190">
                <a:solidFill>
                  <a:srgbClr val="1E1E1E"/>
                </a:solidFill>
                <a:latin typeface="Arial" panose="020B0604020202020204" pitchFamily="34" charset="0"/>
              </a:rPr>
              <a:t> = −(V</a:t>
            </a:r>
            <a:r>
              <a:rPr lang="en-US" sz="1190" baseline="-25000">
                <a:solidFill>
                  <a:srgbClr val="1E1E1E"/>
                </a:solidFill>
                <a:latin typeface="Arial" panose="020B0604020202020204" pitchFamily="34" charset="0"/>
              </a:rPr>
              <a:t>ISO</a:t>
            </a:r>
            <a:r>
              <a:rPr lang="en-US" sz="1190">
                <a:solidFill>
                  <a:srgbClr val="1E1E1E"/>
                </a:solidFill>
                <a:latin typeface="Arial" panose="020B0604020202020204" pitchFamily="34" charset="0"/>
              </a:rPr>
              <a:t> − 5.1 V) = </a:t>
            </a:r>
            <a:r>
              <a:rPr lang="en-US" sz="1190" b="1">
                <a:solidFill>
                  <a:srgbClr val="1E1E1E"/>
                </a:solidFill>
                <a:latin typeface="Arial" panose="020B0604020202020204" pitchFamily="34" charset="0"/>
              </a:rPr>
              <a:t>−1.9 V</a:t>
            </a:r>
            <a:r>
              <a:rPr lang="en-US" sz="1190">
                <a:solidFill>
                  <a:srgbClr val="1E1E1E"/>
                </a:solidFill>
                <a:latin typeface="Arial" panose="020B0604020202020204" pitchFamily="34" charset="0"/>
              </a:rPr>
              <a:t> (V</a:t>
            </a:r>
            <a:r>
              <a:rPr lang="en-US" sz="1190" baseline="-25000">
                <a:solidFill>
                  <a:srgbClr val="1E1E1E"/>
                </a:solidFill>
                <a:latin typeface="Arial" panose="020B0604020202020204" pitchFamily="34" charset="0"/>
              </a:rPr>
              <a:t>ISO</a:t>
            </a:r>
            <a:r>
              <a:rPr lang="en-US" sz="1190">
                <a:solidFill>
                  <a:srgbClr val="1E1E1E"/>
                </a:solidFill>
                <a:latin typeface="Arial" panose="020B0604020202020204" pitchFamily="34" charset="0"/>
              </a:rPr>
              <a:t> = 7 V), set with the extracted gate loop (step 11): bump ≤ −0.5 V, ringing ≈ −3.4 V</a:t>
            </a:r>
            <a:endParaRPr lang="sv-SE" sz="1190" dirty="0" err="1">
              <a:solidFill>
                <a:srgbClr val="1E1E1E"/>
              </a:solidFill>
              <a:latin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58296282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F8818AD-5F29-5346-E82A-0C001AA49CE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z="1800"/>
              <a:t>Building block: two point-symmetric cells, one centre driver</a:t>
            </a:r>
            <a:endParaRPr lang="sv-SE" sz="180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C53A0FA9-8F00-04D1-6AA6-6552214C9FD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sv-SE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993FD5A3-6B91-D5DD-F47E-946E826A9D7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422A9A3-8636-4A04-BD48-3153280FB086}" type="slidenum">
              <a:rPr lang="sv-SE" smtClean="0"/>
              <a:pPr/>
              <a:t>25</a:t>
            </a:fld>
            <a:endParaRPr lang="sv-SE"/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B465BB2E-DE55-35C0-5457-D93EEDB50F85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38125" y="952500"/>
            <a:ext cx="5143500" cy="3214688"/>
          </a:xfrm>
          <a:prstGeom prst="rect">
            <a:avLst/>
          </a:prstGeom>
        </p:spPr>
      </p:pic>
      <p:sp>
        <p:nvSpPr>
          <p:cNvPr id="8" name="TextBox 7">
            <a:extLst>
              <a:ext uri="{FF2B5EF4-FFF2-40B4-BE49-F238E27FC236}">
                <a16:creationId xmlns:a16="http://schemas.microsoft.com/office/drawing/2014/main" id="{BAFC07B0-4693-C21F-9C8B-04EA633366B8}"/>
              </a:ext>
            </a:extLst>
          </p:cNvPr>
          <p:cNvSpPr txBox="1"/>
          <p:nvPr/>
        </p:nvSpPr>
        <p:spPr>
          <a:xfrm>
            <a:off x="5524500" y="952500"/>
            <a:ext cx="3381375" cy="307777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pPr marL="406400" indent="-177800">
              <a:spcAft>
                <a:spcPts val="400"/>
              </a:spcAft>
              <a:buFont typeface="+mj-lt"/>
              <a:buChar char="•"/>
            </a:pPr>
            <a:r>
              <a:rPr lang="en-US" sz="1380">
                <a:solidFill>
                  <a:srgbClr val="1E1E1E"/>
                </a:solidFill>
                <a:latin typeface="Arial" panose="020B0604020202020204" pitchFamily="34" charset="0"/>
              </a:rPr>
              <a:t>Q3D model of the final board (cell band): copper per net, vias, FET pads and bypass terminals</a:t>
            </a:r>
          </a:p>
          <a:p>
            <a:pPr marL="406400" indent="-177800">
              <a:spcAft>
                <a:spcPts val="400"/>
              </a:spcAft>
              <a:buFont typeface="+mj-lt"/>
              <a:buChar char="•"/>
            </a:pPr>
            <a:r>
              <a:rPr lang="en-US" sz="1380">
                <a:solidFill>
                  <a:srgbClr val="1E1E1E"/>
                </a:solidFill>
                <a:latin typeface="Arial" panose="020B0604020202020204" pitchFamily="34" charset="0"/>
              </a:rPr>
              <a:t>Two cells rotated by 180° about the driver (point symmetry): identical gate loops and Kelvin returns</a:t>
            </a:r>
          </a:p>
          <a:p>
            <a:pPr marL="406400" indent="-177800">
              <a:spcAft>
                <a:spcPts val="400"/>
              </a:spcAft>
              <a:buFont typeface="+mj-lt"/>
              <a:buChar char="•"/>
            </a:pPr>
            <a:r>
              <a:rPr lang="en-US" sz="1380">
                <a:solidFill>
                  <a:srgbClr val="1E1E1E"/>
                </a:solidFill>
                <a:latin typeface="Arial" panose="020B0604020202020204" pitchFamily="34" charset="0"/>
              </a:rPr>
              <a:t>One 2EDF7275K channel drives a </a:t>
            </a:r>
            <a:r>
              <a:rPr lang="en-US" sz="1380" b="1">
                <a:solidFill>
                  <a:srgbClr val="1E1E1E"/>
                </a:solidFill>
                <a:latin typeface="Arial" panose="020B0604020202020204" pitchFamily="34" charset="0"/>
              </a:rPr>
              <a:t>pair</a:t>
            </a:r>
            <a:r>
              <a:rPr lang="en-US" sz="1380">
                <a:solidFill>
                  <a:srgbClr val="1E1E1E"/>
                </a:solidFill>
                <a:latin typeface="Arial" panose="020B0604020202020204" pitchFamily="34" charset="0"/>
              </a:rPr>
              <a:t> (star network, R</a:t>
            </a:r>
            <a:r>
              <a:rPr lang="en-US" sz="1380" baseline="-25000">
                <a:solidFill>
                  <a:srgbClr val="1E1E1E"/>
                </a:solidFill>
                <a:latin typeface="Arial" panose="020B0604020202020204" pitchFamily="34" charset="0"/>
              </a:rPr>
              <a:t>G</a:t>
            </a:r>
            <a:r>
              <a:rPr lang="en-US" sz="1380">
                <a:solidFill>
                  <a:srgbClr val="1E1E1E"/>
                </a:solidFill>
                <a:latin typeface="Arial" panose="020B0604020202020204" pitchFamily="34" charset="0"/>
              </a:rPr>
              <a:t> 0.5 Ω per transistor)</a:t>
            </a:r>
          </a:p>
          <a:p>
            <a:pPr marL="406400" indent="-177800">
              <a:spcAft>
                <a:spcPts val="400"/>
              </a:spcAft>
              <a:buFont typeface="+mj-lt"/>
              <a:buChar char="•"/>
            </a:pPr>
            <a:r>
              <a:rPr lang="en-US" sz="1380">
                <a:solidFill>
                  <a:srgbClr val="1E1E1E"/>
                </a:solidFill>
                <a:latin typeface="Arial" panose="020B0604020202020204" pitchFamily="34" charset="0"/>
              </a:rPr>
              <a:t>Each cell keeps its own commutation loop (step 11: 0.41 nH load board, 0.65 nH DPT board)</a:t>
            </a:r>
            <a:endParaRPr lang="sv-SE" sz="1380" dirty="0" err="1">
              <a:solidFill>
                <a:srgbClr val="1E1E1E"/>
              </a:solidFill>
              <a:latin typeface="Arial" panose="020B0604020202020204" pitchFamily="34" charset="0"/>
            </a:endParaRPr>
          </a:p>
        </p:txBody>
      </p:sp>
      <p:sp>
        <p:nvSpPr>
          <p:cNvPr id="9" name="decision">
            <a:extLst>
              <a:ext uri="{FF2B5EF4-FFF2-40B4-BE49-F238E27FC236}">
                <a16:creationId xmlns:a16="http://schemas.microsoft.com/office/drawing/2014/main" id="{FB68BE6B-ED17-7113-B54A-D7516165448C}"/>
              </a:ext>
            </a:extLst>
          </p:cNvPr>
          <p:cNvSpPr/>
          <p:nvPr/>
        </p:nvSpPr>
        <p:spPr>
          <a:xfrm>
            <a:off x="238125" y="4400550"/>
            <a:ext cx="8667750" cy="381000"/>
          </a:xfrm>
          <a:prstGeom prst="roundRect">
            <a:avLst/>
          </a:prstGeom>
          <a:solidFill>
            <a:srgbClr val="EEF4FB"/>
          </a:solidFill>
          <a:ln w="158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101600" tIns="25400" bIns="25400" rtlCol="0" anchor="ctr">
            <a:noAutofit/>
          </a:bodyPr>
          <a:lstStyle/>
          <a:p>
            <a:r>
              <a:rPr lang="en-US" sz="1380" b="1">
                <a:solidFill>
                  <a:srgbClr val="1E1E1E"/>
                </a:solidFill>
                <a:latin typeface="Arial" panose="020B0604020202020204" pitchFamily="34" charset="0"/>
              </a:rPr>
              <a:t>Decision:</a:t>
            </a:r>
            <a:r>
              <a:rPr lang="en-US" sz="1380">
                <a:solidFill>
                  <a:srgbClr val="1E1E1E"/>
                </a:solidFill>
                <a:latin typeface="Arial" panose="020B0604020202020204" pitchFamily="34" charset="0"/>
              </a:rPr>
              <a:t> 2 × EPC2361 per channel; </a:t>
            </a:r>
            <a:r>
              <a:rPr lang="en-US" sz="1380" b="1">
                <a:solidFill>
                  <a:srgbClr val="1E1E1E"/>
                </a:solidFill>
                <a:latin typeface="Arial" panose="020B0604020202020204" pitchFamily="34" charset="0"/>
              </a:rPr>
              <a:t>4 per switch = two pairs, two drivers, one leg board</a:t>
            </a:r>
            <a:endParaRPr lang="sv-SE" sz="1380" b="1" dirty="0">
              <a:solidFill>
                <a:srgbClr val="1E1E1E"/>
              </a:solidFill>
              <a:latin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76793936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8692D05-3025-58F2-D111-310AE49FB44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z="2100"/>
              <a:t>Rev B: four cells per switch, two drivers, one leg</a:t>
            </a:r>
            <a:endParaRPr lang="sv-SE" sz="210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7C45A907-25F5-C86F-4465-5C741BCBC2B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sv-SE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237A061C-0AD2-37BC-B308-950950B372D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422A9A3-8636-4A04-BD48-3153280FB086}" type="slidenum">
              <a:rPr lang="sv-SE" smtClean="0"/>
              <a:pPr/>
              <a:t>26</a:t>
            </a:fld>
            <a:endParaRPr lang="sv-SE"/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67C9690E-7708-7EE1-4DA9-C515187E2081}"/>
              </a:ext>
            </a:extLst>
          </p:cNvPr>
          <p:cNvSpPr/>
          <p:nvPr/>
        </p:nvSpPr>
        <p:spPr>
          <a:xfrm>
            <a:off x="333375" y="1143000"/>
            <a:ext cx="4476750" cy="3143250"/>
          </a:xfrm>
          <a:prstGeom prst="rect">
            <a:avLst/>
          </a:prstGeom>
          <a:solidFill>
            <a:srgbClr val="FFFFFF"/>
          </a:solidFill>
          <a:ln w="158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25400" rIns="25400" rtlCol="0" anchor="ctr"/>
          <a:lstStyle/>
          <a:p>
            <a:pPr algn="ctr"/>
            <a:endParaRPr lang="sv-SE" sz="2000" dirty="0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1B735D5E-6A35-56B5-3AF3-77EC2A31FA6E}"/>
              </a:ext>
            </a:extLst>
          </p:cNvPr>
          <p:cNvSpPr txBox="1"/>
          <p:nvPr/>
        </p:nvSpPr>
        <p:spPr>
          <a:xfrm>
            <a:off x="381000" y="1171575"/>
            <a:ext cx="2857500" cy="307777"/>
          </a:xfrm>
          <a:prstGeom prst="rect">
            <a:avLst/>
          </a:prstGeom>
          <a:noFill/>
        </p:spPr>
        <p:txBody>
          <a:bodyPr vert="horz" wrap="square" lIns="25400" tIns="0" rIns="0" bIns="0" rtlCol="0">
            <a:noAutofit/>
          </a:bodyPr>
          <a:lstStyle/>
          <a:p>
            <a:r>
              <a:rPr lang="en-US" sz="1010" b="1">
                <a:solidFill>
                  <a:srgbClr val="787878"/>
                </a:solidFill>
                <a:latin typeface="Arial" panose="020B0604020202020204" pitchFamily="34" charset="0"/>
              </a:rPr>
              <a:t>Rev B leg board, 89.5 × 85.2 mm, 4 layers</a:t>
            </a:r>
            <a:endParaRPr lang="sv-SE" sz="1010" b="1" dirty="0" err="1">
              <a:solidFill>
                <a:srgbClr val="787878"/>
              </a:solidFill>
              <a:latin typeface="Arial" panose="020B0604020202020204" pitchFamily="34" charset="0"/>
            </a:endParaRPr>
          </a:p>
        </p:txBody>
      </p:sp>
      <p:sp>
        <p:nvSpPr>
          <p:cNvPr id="8" name="Rectangle: Rounded Corners 7">
            <a:extLst>
              <a:ext uri="{FF2B5EF4-FFF2-40B4-BE49-F238E27FC236}">
                <a16:creationId xmlns:a16="http://schemas.microsoft.com/office/drawing/2014/main" id="{94D6A2EE-4311-D18E-F439-5B74CFCF483C}"/>
              </a:ext>
            </a:extLst>
          </p:cNvPr>
          <p:cNvSpPr/>
          <p:nvPr/>
        </p:nvSpPr>
        <p:spPr>
          <a:xfrm>
            <a:off x="2095500" y="1352550"/>
            <a:ext cx="428625" cy="209550"/>
          </a:xfrm>
          <a:prstGeom prst="roundRect">
            <a:avLst/>
          </a:prstGeom>
          <a:solidFill>
            <a:srgbClr val="FAE9E6"/>
          </a:solidFill>
          <a:ln w="158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25400" rIns="25400" rtlCol="0" anchor="ctr">
            <a:noAutofit/>
          </a:bodyPr>
          <a:lstStyle/>
          <a:p>
            <a:pPr algn="ctr"/>
            <a:r>
              <a:rPr lang="sv-SE" sz="920" b="1">
                <a:solidFill>
                  <a:srgbClr val="1E1E1E"/>
                </a:solidFill>
                <a:latin typeface="Arial" panose="020B0604020202020204" pitchFamily="34" charset="0"/>
              </a:rPr>
              <a:t>DC+</a:t>
            </a:r>
            <a:endParaRPr lang="sv-SE" sz="920" b="1" dirty="0">
              <a:solidFill>
                <a:srgbClr val="1E1E1E"/>
              </a:solidFill>
              <a:latin typeface="Arial" panose="020B0604020202020204" pitchFamily="34" charset="0"/>
            </a:endParaRPr>
          </a:p>
        </p:txBody>
      </p:sp>
      <p:sp>
        <p:nvSpPr>
          <p:cNvPr id="9" name="Rectangle: Rounded Corners 8">
            <a:extLst>
              <a:ext uri="{FF2B5EF4-FFF2-40B4-BE49-F238E27FC236}">
                <a16:creationId xmlns:a16="http://schemas.microsoft.com/office/drawing/2014/main" id="{A2FE2C7D-67BC-0AC6-2625-699679D87873}"/>
              </a:ext>
            </a:extLst>
          </p:cNvPr>
          <p:cNvSpPr/>
          <p:nvPr/>
        </p:nvSpPr>
        <p:spPr>
          <a:xfrm>
            <a:off x="2619375" y="1352550"/>
            <a:ext cx="428625" cy="209550"/>
          </a:xfrm>
          <a:prstGeom prst="roundRect">
            <a:avLst/>
          </a:prstGeom>
          <a:solidFill>
            <a:srgbClr val="E8EFF8"/>
          </a:solidFill>
          <a:ln w="158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25400" rIns="25400" rtlCol="0" anchor="ctr">
            <a:noAutofit/>
          </a:bodyPr>
          <a:lstStyle/>
          <a:p>
            <a:pPr algn="ctr"/>
            <a:r>
              <a:rPr lang="sv-SE" sz="920" b="1">
                <a:solidFill>
                  <a:srgbClr val="1E1E1E"/>
                </a:solidFill>
                <a:latin typeface="Arial" panose="020B0604020202020204" pitchFamily="34" charset="0"/>
              </a:rPr>
              <a:t>DC−</a:t>
            </a:r>
            <a:endParaRPr lang="sv-SE" sz="920" b="1" dirty="0">
              <a:solidFill>
                <a:srgbClr val="1E1E1E"/>
              </a:solidFill>
              <a:latin typeface="Arial" panose="020B0604020202020204" pitchFamily="34" charset="0"/>
            </a:endParaRPr>
          </a:p>
        </p:txBody>
      </p:sp>
      <p:cxnSp>
        <p:nvCxnSpPr>
          <p:cNvPr id="10" name="Straight Connector 9">
            <a:extLst>
              <a:ext uri="{FF2B5EF4-FFF2-40B4-BE49-F238E27FC236}">
                <a16:creationId xmlns:a16="http://schemas.microsoft.com/office/drawing/2014/main" id="{6173DEA2-9E81-9388-B5EE-7EB93C29B4E9}"/>
              </a:ext>
            </a:extLst>
          </p:cNvPr>
          <p:cNvCxnSpPr/>
          <p:nvPr/>
        </p:nvCxnSpPr>
        <p:spPr>
          <a:xfrm>
            <a:off x="523875" y="1638300"/>
            <a:ext cx="4095750" cy="0"/>
          </a:xfrm>
          <a:prstGeom prst="line">
            <a:avLst/>
          </a:prstGeom>
          <a:ln w="50800">
            <a:solidFill>
              <a:srgbClr val="C8463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" name="Straight Connector 10">
            <a:extLst>
              <a:ext uri="{FF2B5EF4-FFF2-40B4-BE49-F238E27FC236}">
                <a16:creationId xmlns:a16="http://schemas.microsoft.com/office/drawing/2014/main" id="{264ED378-88B0-A90D-3ACE-6D5E4F05A1BF}"/>
              </a:ext>
            </a:extLst>
          </p:cNvPr>
          <p:cNvCxnSpPr/>
          <p:nvPr/>
        </p:nvCxnSpPr>
        <p:spPr>
          <a:xfrm>
            <a:off x="523875" y="1752600"/>
            <a:ext cx="4095750" cy="0"/>
          </a:xfrm>
          <a:prstGeom prst="line">
            <a:avLst/>
          </a:prstGeom>
          <a:ln w="50800">
            <a:solidFill>
              <a:srgbClr val="3264BE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" name="Straight Connector 11">
            <a:extLst>
              <a:ext uri="{FF2B5EF4-FFF2-40B4-BE49-F238E27FC236}">
                <a16:creationId xmlns:a16="http://schemas.microsoft.com/office/drawing/2014/main" id="{1D2B7E34-5715-7447-FDBE-5433427DF5A9}"/>
              </a:ext>
            </a:extLst>
          </p:cNvPr>
          <p:cNvCxnSpPr/>
          <p:nvPr/>
        </p:nvCxnSpPr>
        <p:spPr>
          <a:xfrm>
            <a:off x="2305050" y="1562100"/>
            <a:ext cx="0" cy="76200"/>
          </a:xfrm>
          <a:prstGeom prst="line">
            <a:avLst/>
          </a:prstGeom>
          <a:ln w="38100">
            <a:solidFill>
              <a:srgbClr val="C8463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" name="Straight Connector 12">
            <a:extLst>
              <a:ext uri="{FF2B5EF4-FFF2-40B4-BE49-F238E27FC236}">
                <a16:creationId xmlns:a16="http://schemas.microsoft.com/office/drawing/2014/main" id="{AB3F4302-F578-6029-76DC-4A7E0F63FD89}"/>
              </a:ext>
            </a:extLst>
          </p:cNvPr>
          <p:cNvCxnSpPr/>
          <p:nvPr/>
        </p:nvCxnSpPr>
        <p:spPr>
          <a:xfrm>
            <a:off x="2828925" y="1562100"/>
            <a:ext cx="0" cy="190500"/>
          </a:xfrm>
          <a:prstGeom prst="line">
            <a:avLst/>
          </a:prstGeom>
          <a:ln w="38100">
            <a:solidFill>
              <a:srgbClr val="3264BE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4" name="TextBox 13">
            <a:extLst>
              <a:ext uri="{FF2B5EF4-FFF2-40B4-BE49-F238E27FC236}">
                <a16:creationId xmlns:a16="http://schemas.microsoft.com/office/drawing/2014/main" id="{87B7D111-270A-6ABE-ED73-8F1A5C92D2EC}"/>
              </a:ext>
            </a:extLst>
          </p:cNvPr>
          <p:cNvSpPr txBox="1"/>
          <p:nvPr/>
        </p:nvSpPr>
        <p:spPr>
          <a:xfrm>
            <a:off x="523875" y="1428750"/>
            <a:ext cx="1524000" cy="307777"/>
          </a:xfrm>
          <a:prstGeom prst="rect">
            <a:avLst/>
          </a:prstGeom>
          <a:noFill/>
        </p:spPr>
        <p:txBody>
          <a:bodyPr vert="horz" wrap="square" lIns="25400" tIns="0" rIns="0" bIns="0" rtlCol="0">
            <a:noAutofit/>
          </a:bodyPr>
          <a:lstStyle/>
          <a:p>
            <a:r>
              <a:rPr lang="en-US" sz="830">
                <a:solidFill>
                  <a:srgbClr val="787878"/>
                </a:solidFill>
                <a:latin typeface="Arial" panose="020B0604020202020204" pitchFamily="34" charset="0"/>
              </a:rPr>
              <a:t>laminated terminal row + one bank</a:t>
            </a:r>
            <a:endParaRPr lang="sv-SE" sz="830" dirty="0" err="1">
              <a:solidFill>
                <a:srgbClr val="787878"/>
              </a:solidFill>
              <a:latin typeface="Arial" panose="020B0604020202020204" pitchFamily="34" charset="0"/>
            </a:endParaRPr>
          </a:p>
        </p:txBody>
      </p:sp>
      <p:sp>
        <p:nvSpPr>
          <p:cNvPr id="15" name="Rectangle: Rounded Corners 14">
            <a:extLst>
              <a:ext uri="{FF2B5EF4-FFF2-40B4-BE49-F238E27FC236}">
                <a16:creationId xmlns:a16="http://schemas.microsoft.com/office/drawing/2014/main" id="{0CF8AB16-20B6-2A08-A6FB-224DB1FAAB24}"/>
              </a:ext>
            </a:extLst>
          </p:cNvPr>
          <p:cNvSpPr/>
          <p:nvPr/>
        </p:nvSpPr>
        <p:spPr>
          <a:xfrm>
            <a:off x="619125" y="1952625"/>
            <a:ext cx="857250" cy="619125"/>
          </a:xfrm>
          <a:prstGeom prst="roundRect">
            <a:avLst/>
          </a:prstGeom>
          <a:solidFill>
            <a:srgbClr val="FAE9E6"/>
          </a:solidFill>
          <a:ln w="158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25400" rIns="25400" rtlCol="0" anchor="ctr">
            <a:noAutofit/>
          </a:bodyPr>
          <a:lstStyle/>
          <a:p>
            <a:pPr algn="ctr"/>
            <a:r>
              <a:rPr lang="en-US" sz="920">
                <a:solidFill>
                  <a:srgbClr val="1E1E1E"/>
                </a:solidFill>
                <a:latin typeface="Arial" panose="020B0604020202020204" pitchFamily="34" charset="0"/>
              </a:rPr>
              <a:t>cell 1</a:t>
            </a:r>
          </a:p>
          <a:p>
            <a:pPr algn="ctr"/>
            <a:r>
              <a:rPr lang="en-US" sz="920">
                <a:solidFill>
                  <a:srgbClr val="1E1E1E"/>
                </a:solidFill>
                <a:latin typeface="Arial" panose="020B0604020202020204" pitchFamily="34" charset="0"/>
              </a:rPr>
              <a:t>HS + LS</a:t>
            </a:r>
          </a:p>
          <a:p>
            <a:pPr algn="ctr"/>
            <a:r>
              <a:rPr lang="en-US" sz="920">
                <a:solidFill>
                  <a:srgbClr val="1E1E1E"/>
                </a:solidFill>
                <a:latin typeface="Arial" panose="020B0604020202020204" pitchFamily="34" charset="0"/>
              </a:rPr>
              <a:t>EPC2361</a:t>
            </a:r>
            <a:endParaRPr lang="sv-SE" sz="920" dirty="0">
              <a:solidFill>
                <a:srgbClr val="1E1E1E"/>
              </a:solidFill>
              <a:latin typeface="Arial" panose="020B0604020202020204" pitchFamily="34" charset="0"/>
            </a:endParaRPr>
          </a:p>
        </p:txBody>
      </p:sp>
      <p:sp>
        <p:nvSpPr>
          <p:cNvPr id="16" name="Rectangle: Rounded Corners 15">
            <a:extLst>
              <a:ext uri="{FF2B5EF4-FFF2-40B4-BE49-F238E27FC236}">
                <a16:creationId xmlns:a16="http://schemas.microsoft.com/office/drawing/2014/main" id="{29D7BD86-3B65-86BA-7306-BE1397D4D7E7}"/>
              </a:ext>
            </a:extLst>
          </p:cNvPr>
          <p:cNvSpPr/>
          <p:nvPr/>
        </p:nvSpPr>
        <p:spPr>
          <a:xfrm>
            <a:off x="666750" y="2667000"/>
            <a:ext cx="762000" cy="247650"/>
          </a:xfrm>
          <a:prstGeom prst="roundRect">
            <a:avLst/>
          </a:prstGeom>
          <a:solidFill>
            <a:srgbClr val="E2F3E8"/>
          </a:solidFill>
          <a:ln w="158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25400" rIns="25400" rtlCol="0" anchor="ctr">
            <a:noAutofit/>
          </a:bodyPr>
          <a:lstStyle/>
          <a:p>
            <a:pPr algn="ctr"/>
            <a:r>
              <a:rPr lang="sv-SE" sz="730">
                <a:solidFill>
                  <a:srgbClr val="1E1E1E"/>
                </a:solidFill>
                <a:latin typeface="Arial" panose="020B0604020202020204" pitchFamily="34" charset="0"/>
              </a:rPr>
              <a:t>UFCS (DPT only)</a:t>
            </a:r>
            <a:endParaRPr lang="sv-SE" sz="730" dirty="0">
              <a:solidFill>
                <a:srgbClr val="1E1E1E"/>
              </a:solidFill>
              <a:latin typeface="Arial" panose="020B0604020202020204" pitchFamily="34" charset="0"/>
            </a:endParaRPr>
          </a:p>
        </p:txBody>
      </p:sp>
      <p:cxnSp>
        <p:nvCxnSpPr>
          <p:cNvPr id="17" name="Straight Connector 16">
            <a:extLst>
              <a:ext uri="{FF2B5EF4-FFF2-40B4-BE49-F238E27FC236}">
                <a16:creationId xmlns:a16="http://schemas.microsoft.com/office/drawing/2014/main" id="{FDDFE03B-27D2-3587-89F1-A40A57E104B8}"/>
              </a:ext>
            </a:extLst>
          </p:cNvPr>
          <p:cNvCxnSpPr/>
          <p:nvPr/>
        </p:nvCxnSpPr>
        <p:spPr>
          <a:xfrm>
            <a:off x="904875" y="1638300"/>
            <a:ext cx="0" cy="314325"/>
          </a:xfrm>
          <a:prstGeom prst="line">
            <a:avLst/>
          </a:prstGeom>
          <a:ln w="25400">
            <a:solidFill>
              <a:srgbClr val="C8463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8" name="Straight Connector 17">
            <a:extLst>
              <a:ext uri="{FF2B5EF4-FFF2-40B4-BE49-F238E27FC236}">
                <a16:creationId xmlns:a16="http://schemas.microsoft.com/office/drawing/2014/main" id="{46BC326B-3801-C7F6-4F82-4F52C00B26BC}"/>
              </a:ext>
            </a:extLst>
          </p:cNvPr>
          <p:cNvCxnSpPr/>
          <p:nvPr/>
        </p:nvCxnSpPr>
        <p:spPr>
          <a:xfrm>
            <a:off x="1190625" y="1752600"/>
            <a:ext cx="0" cy="200025"/>
          </a:xfrm>
          <a:prstGeom prst="line">
            <a:avLst/>
          </a:prstGeom>
          <a:ln w="25400">
            <a:solidFill>
              <a:srgbClr val="3264BE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9" name="Straight Connector 18">
            <a:extLst>
              <a:ext uri="{FF2B5EF4-FFF2-40B4-BE49-F238E27FC236}">
                <a16:creationId xmlns:a16="http://schemas.microsoft.com/office/drawing/2014/main" id="{61F2A56E-77E2-142D-49D2-CD2B3FCF7C31}"/>
              </a:ext>
            </a:extLst>
          </p:cNvPr>
          <p:cNvCxnSpPr/>
          <p:nvPr/>
        </p:nvCxnSpPr>
        <p:spPr>
          <a:xfrm>
            <a:off x="1047750" y="2571750"/>
            <a:ext cx="0" cy="95250"/>
          </a:xfrm>
          <a:prstGeom prst="line">
            <a:avLst/>
          </a:prstGeom>
          <a:ln w="19050">
            <a:solidFill>
              <a:srgbClr val="1E1E1E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0" name="Straight Connector 19">
            <a:extLst>
              <a:ext uri="{FF2B5EF4-FFF2-40B4-BE49-F238E27FC236}">
                <a16:creationId xmlns:a16="http://schemas.microsoft.com/office/drawing/2014/main" id="{93355C15-2ABA-CDEE-0267-885EECFD8F8B}"/>
              </a:ext>
            </a:extLst>
          </p:cNvPr>
          <p:cNvCxnSpPr/>
          <p:nvPr/>
        </p:nvCxnSpPr>
        <p:spPr>
          <a:xfrm>
            <a:off x="1047750" y="3286125"/>
            <a:ext cx="0" cy="190500"/>
          </a:xfrm>
          <a:prstGeom prst="line">
            <a:avLst/>
          </a:prstGeom>
          <a:ln w="38100">
            <a:solidFill>
              <a:srgbClr val="1E1E1E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1" name="Rectangle: Rounded Corners 20">
            <a:extLst>
              <a:ext uri="{FF2B5EF4-FFF2-40B4-BE49-F238E27FC236}">
                <a16:creationId xmlns:a16="http://schemas.microsoft.com/office/drawing/2014/main" id="{5D4DE1F2-2D66-3295-2E6A-D4BF02377A9A}"/>
              </a:ext>
            </a:extLst>
          </p:cNvPr>
          <p:cNvSpPr/>
          <p:nvPr/>
        </p:nvSpPr>
        <p:spPr>
          <a:xfrm>
            <a:off x="1666875" y="1952625"/>
            <a:ext cx="857250" cy="619125"/>
          </a:xfrm>
          <a:prstGeom prst="roundRect">
            <a:avLst/>
          </a:prstGeom>
          <a:solidFill>
            <a:srgbClr val="FAE9E6"/>
          </a:solidFill>
          <a:ln w="158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25400" rIns="25400" rtlCol="0" anchor="ctr">
            <a:noAutofit/>
          </a:bodyPr>
          <a:lstStyle/>
          <a:p>
            <a:pPr algn="ctr"/>
            <a:r>
              <a:rPr lang="en-US" sz="920">
                <a:solidFill>
                  <a:srgbClr val="1E1E1E"/>
                </a:solidFill>
                <a:latin typeface="Arial" panose="020B0604020202020204" pitchFamily="34" charset="0"/>
              </a:rPr>
              <a:t>cell 2</a:t>
            </a:r>
          </a:p>
          <a:p>
            <a:pPr algn="ctr"/>
            <a:r>
              <a:rPr lang="en-US" sz="920">
                <a:solidFill>
                  <a:srgbClr val="1E1E1E"/>
                </a:solidFill>
                <a:latin typeface="Arial" panose="020B0604020202020204" pitchFamily="34" charset="0"/>
              </a:rPr>
              <a:t>HS + LS</a:t>
            </a:r>
          </a:p>
          <a:p>
            <a:pPr algn="ctr"/>
            <a:r>
              <a:rPr lang="en-US" sz="920">
                <a:solidFill>
                  <a:srgbClr val="1E1E1E"/>
                </a:solidFill>
                <a:latin typeface="Arial" panose="020B0604020202020204" pitchFamily="34" charset="0"/>
              </a:rPr>
              <a:t>EPC2361</a:t>
            </a:r>
            <a:endParaRPr lang="sv-SE" sz="920" dirty="0">
              <a:solidFill>
                <a:srgbClr val="1E1E1E"/>
              </a:solidFill>
              <a:latin typeface="Arial" panose="020B0604020202020204" pitchFamily="34" charset="0"/>
            </a:endParaRPr>
          </a:p>
        </p:txBody>
      </p:sp>
      <p:sp>
        <p:nvSpPr>
          <p:cNvPr id="22" name="Rectangle: Rounded Corners 21">
            <a:extLst>
              <a:ext uri="{FF2B5EF4-FFF2-40B4-BE49-F238E27FC236}">
                <a16:creationId xmlns:a16="http://schemas.microsoft.com/office/drawing/2014/main" id="{A8020B09-D1CC-AE02-B6F0-B54C0A60C35B}"/>
              </a:ext>
            </a:extLst>
          </p:cNvPr>
          <p:cNvSpPr/>
          <p:nvPr/>
        </p:nvSpPr>
        <p:spPr>
          <a:xfrm>
            <a:off x="1714500" y="2667000"/>
            <a:ext cx="762000" cy="247650"/>
          </a:xfrm>
          <a:prstGeom prst="roundRect">
            <a:avLst/>
          </a:prstGeom>
          <a:solidFill>
            <a:srgbClr val="E2F3E8"/>
          </a:solidFill>
          <a:ln w="158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25400" rIns="25400" rtlCol="0" anchor="ctr">
            <a:noAutofit/>
          </a:bodyPr>
          <a:lstStyle/>
          <a:p>
            <a:pPr algn="ctr"/>
            <a:r>
              <a:rPr lang="sv-SE" sz="730">
                <a:solidFill>
                  <a:srgbClr val="1E1E1E"/>
                </a:solidFill>
                <a:latin typeface="Arial" panose="020B0604020202020204" pitchFamily="34" charset="0"/>
              </a:rPr>
              <a:t>UFCS (DPT only)</a:t>
            </a:r>
            <a:endParaRPr lang="sv-SE" sz="730" dirty="0">
              <a:solidFill>
                <a:srgbClr val="1E1E1E"/>
              </a:solidFill>
              <a:latin typeface="Arial" panose="020B0604020202020204" pitchFamily="34" charset="0"/>
            </a:endParaRPr>
          </a:p>
        </p:txBody>
      </p:sp>
      <p:cxnSp>
        <p:nvCxnSpPr>
          <p:cNvPr id="23" name="Straight Connector 22">
            <a:extLst>
              <a:ext uri="{FF2B5EF4-FFF2-40B4-BE49-F238E27FC236}">
                <a16:creationId xmlns:a16="http://schemas.microsoft.com/office/drawing/2014/main" id="{AA1E3840-37A7-DEC2-08FB-078F9409F54E}"/>
              </a:ext>
            </a:extLst>
          </p:cNvPr>
          <p:cNvCxnSpPr/>
          <p:nvPr/>
        </p:nvCxnSpPr>
        <p:spPr>
          <a:xfrm>
            <a:off x="1952625" y="1638300"/>
            <a:ext cx="0" cy="314325"/>
          </a:xfrm>
          <a:prstGeom prst="line">
            <a:avLst/>
          </a:prstGeom>
          <a:ln w="25400">
            <a:solidFill>
              <a:srgbClr val="C8463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4" name="Straight Connector 23">
            <a:extLst>
              <a:ext uri="{FF2B5EF4-FFF2-40B4-BE49-F238E27FC236}">
                <a16:creationId xmlns:a16="http://schemas.microsoft.com/office/drawing/2014/main" id="{2EC98234-F9EF-4894-5D91-52592D0D44C8}"/>
              </a:ext>
            </a:extLst>
          </p:cNvPr>
          <p:cNvCxnSpPr/>
          <p:nvPr/>
        </p:nvCxnSpPr>
        <p:spPr>
          <a:xfrm>
            <a:off x="2238375" y="1752600"/>
            <a:ext cx="0" cy="200025"/>
          </a:xfrm>
          <a:prstGeom prst="line">
            <a:avLst/>
          </a:prstGeom>
          <a:ln w="25400">
            <a:solidFill>
              <a:srgbClr val="3264BE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5" name="Straight Connector 24">
            <a:extLst>
              <a:ext uri="{FF2B5EF4-FFF2-40B4-BE49-F238E27FC236}">
                <a16:creationId xmlns:a16="http://schemas.microsoft.com/office/drawing/2014/main" id="{36722FF4-5EA3-758C-ED07-261A8ECA7118}"/>
              </a:ext>
            </a:extLst>
          </p:cNvPr>
          <p:cNvCxnSpPr/>
          <p:nvPr/>
        </p:nvCxnSpPr>
        <p:spPr>
          <a:xfrm>
            <a:off x="2095500" y="2571750"/>
            <a:ext cx="0" cy="95250"/>
          </a:xfrm>
          <a:prstGeom prst="line">
            <a:avLst/>
          </a:prstGeom>
          <a:ln w="19050">
            <a:solidFill>
              <a:srgbClr val="1E1E1E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6" name="Straight Connector 25">
            <a:extLst>
              <a:ext uri="{FF2B5EF4-FFF2-40B4-BE49-F238E27FC236}">
                <a16:creationId xmlns:a16="http://schemas.microsoft.com/office/drawing/2014/main" id="{8232BF47-DF22-9204-BE9C-E204AAC2E6BC}"/>
              </a:ext>
            </a:extLst>
          </p:cNvPr>
          <p:cNvCxnSpPr/>
          <p:nvPr/>
        </p:nvCxnSpPr>
        <p:spPr>
          <a:xfrm>
            <a:off x="2095500" y="3286125"/>
            <a:ext cx="0" cy="190500"/>
          </a:xfrm>
          <a:prstGeom prst="line">
            <a:avLst/>
          </a:prstGeom>
          <a:ln w="38100">
            <a:solidFill>
              <a:srgbClr val="1E1E1E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7" name="Rectangle: Rounded Corners 26">
            <a:extLst>
              <a:ext uri="{FF2B5EF4-FFF2-40B4-BE49-F238E27FC236}">
                <a16:creationId xmlns:a16="http://schemas.microsoft.com/office/drawing/2014/main" id="{94B82818-FBEB-108B-D728-56FB4904F627}"/>
              </a:ext>
            </a:extLst>
          </p:cNvPr>
          <p:cNvSpPr/>
          <p:nvPr/>
        </p:nvSpPr>
        <p:spPr>
          <a:xfrm>
            <a:off x="2714625" y="1952625"/>
            <a:ext cx="857250" cy="619125"/>
          </a:xfrm>
          <a:prstGeom prst="roundRect">
            <a:avLst/>
          </a:prstGeom>
          <a:solidFill>
            <a:srgbClr val="FAE9E6"/>
          </a:solidFill>
          <a:ln w="158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25400" rIns="25400" rtlCol="0" anchor="ctr">
            <a:noAutofit/>
          </a:bodyPr>
          <a:lstStyle/>
          <a:p>
            <a:pPr algn="ctr"/>
            <a:r>
              <a:rPr lang="en-US" sz="920">
                <a:solidFill>
                  <a:srgbClr val="1E1E1E"/>
                </a:solidFill>
                <a:latin typeface="Arial" panose="020B0604020202020204" pitchFamily="34" charset="0"/>
              </a:rPr>
              <a:t>cell 3</a:t>
            </a:r>
          </a:p>
          <a:p>
            <a:pPr algn="ctr"/>
            <a:r>
              <a:rPr lang="en-US" sz="920">
                <a:solidFill>
                  <a:srgbClr val="1E1E1E"/>
                </a:solidFill>
                <a:latin typeface="Arial" panose="020B0604020202020204" pitchFamily="34" charset="0"/>
              </a:rPr>
              <a:t>HS + LS</a:t>
            </a:r>
          </a:p>
          <a:p>
            <a:pPr algn="ctr"/>
            <a:r>
              <a:rPr lang="en-US" sz="920">
                <a:solidFill>
                  <a:srgbClr val="1E1E1E"/>
                </a:solidFill>
                <a:latin typeface="Arial" panose="020B0604020202020204" pitchFamily="34" charset="0"/>
              </a:rPr>
              <a:t>EPC2361</a:t>
            </a:r>
            <a:endParaRPr lang="sv-SE" sz="920" dirty="0">
              <a:solidFill>
                <a:srgbClr val="1E1E1E"/>
              </a:solidFill>
              <a:latin typeface="Arial" panose="020B0604020202020204" pitchFamily="34" charset="0"/>
            </a:endParaRPr>
          </a:p>
        </p:txBody>
      </p:sp>
      <p:sp>
        <p:nvSpPr>
          <p:cNvPr id="28" name="Rectangle: Rounded Corners 27">
            <a:extLst>
              <a:ext uri="{FF2B5EF4-FFF2-40B4-BE49-F238E27FC236}">
                <a16:creationId xmlns:a16="http://schemas.microsoft.com/office/drawing/2014/main" id="{31EEBF40-4AD1-AAC3-CD6E-27ABB9B0C083}"/>
              </a:ext>
            </a:extLst>
          </p:cNvPr>
          <p:cNvSpPr/>
          <p:nvPr/>
        </p:nvSpPr>
        <p:spPr>
          <a:xfrm>
            <a:off x="2762250" y="2667000"/>
            <a:ext cx="762000" cy="247650"/>
          </a:xfrm>
          <a:prstGeom prst="roundRect">
            <a:avLst/>
          </a:prstGeom>
          <a:solidFill>
            <a:srgbClr val="E2F3E8"/>
          </a:solidFill>
          <a:ln w="158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25400" rIns="25400" rtlCol="0" anchor="ctr">
            <a:noAutofit/>
          </a:bodyPr>
          <a:lstStyle/>
          <a:p>
            <a:pPr algn="ctr"/>
            <a:r>
              <a:rPr lang="sv-SE" sz="730">
                <a:solidFill>
                  <a:srgbClr val="1E1E1E"/>
                </a:solidFill>
                <a:latin typeface="Arial" panose="020B0604020202020204" pitchFamily="34" charset="0"/>
              </a:rPr>
              <a:t>UFCS (DPT only)</a:t>
            </a:r>
            <a:endParaRPr lang="sv-SE" sz="730" dirty="0">
              <a:solidFill>
                <a:srgbClr val="1E1E1E"/>
              </a:solidFill>
              <a:latin typeface="Arial" panose="020B0604020202020204" pitchFamily="34" charset="0"/>
            </a:endParaRPr>
          </a:p>
        </p:txBody>
      </p:sp>
      <p:cxnSp>
        <p:nvCxnSpPr>
          <p:cNvPr id="29" name="Straight Connector 28">
            <a:extLst>
              <a:ext uri="{FF2B5EF4-FFF2-40B4-BE49-F238E27FC236}">
                <a16:creationId xmlns:a16="http://schemas.microsoft.com/office/drawing/2014/main" id="{2DB41BF0-FC6E-42B5-4ADE-5FA347CA5FB4}"/>
              </a:ext>
            </a:extLst>
          </p:cNvPr>
          <p:cNvCxnSpPr/>
          <p:nvPr/>
        </p:nvCxnSpPr>
        <p:spPr>
          <a:xfrm>
            <a:off x="3000375" y="1638300"/>
            <a:ext cx="0" cy="314325"/>
          </a:xfrm>
          <a:prstGeom prst="line">
            <a:avLst/>
          </a:prstGeom>
          <a:ln w="25400">
            <a:solidFill>
              <a:srgbClr val="C8463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0" name="Straight Connector 29">
            <a:extLst>
              <a:ext uri="{FF2B5EF4-FFF2-40B4-BE49-F238E27FC236}">
                <a16:creationId xmlns:a16="http://schemas.microsoft.com/office/drawing/2014/main" id="{CABD6B31-1483-6153-4CC8-AA3F5A581054}"/>
              </a:ext>
            </a:extLst>
          </p:cNvPr>
          <p:cNvCxnSpPr/>
          <p:nvPr/>
        </p:nvCxnSpPr>
        <p:spPr>
          <a:xfrm>
            <a:off x="3286125" y="1752600"/>
            <a:ext cx="0" cy="200025"/>
          </a:xfrm>
          <a:prstGeom prst="line">
            <a:avLst/>
          </a:prstGeom>
          <a:ln w="25400">
            <a:solidFill>
              <a:srgbClr val="3264BE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1" name="Straight Connector 30">
            <a:extLst>
              <a:ext uri="{FF2B5EF4-FFF2-40B4-BE49-F238E27FC236}">
                <a16:creationId xmlns:a16="http://schemas.microsoft.com/office/drawing/2014/main" id="{E0135835-17BA-89EE-CC14-C6E4C2F5D106}"/>
              </a:ext>
            </a:extLst>
          </p:cNvPr>
          <p:cNvCxnSpPr/>
          <p:nvPr/>
        </p:nvCxnSpPr>
        <p:spPr>
          <a:xfrm>
            <a:off x="3143250" y="2571750"/>
            <a:ext cx="0" cy="95250"/>
          </a:xfrm>
          <a:prstGeom prst="line">
            <a:avLst/>
          </a:prstGeom>
          <a:ln w="19050">
            <a:solidFill>
              <a:srgbClr val="1E1E1E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2" name="Straight Connector 31">
            <a:extLst>
              <a:ext uri="{FF2B5EF4-FFF2-40B4-BE49-F238E27FC236}">
                <a16:creationId xmlns:a16="http://schemas.microsoft.com/office/drawing/2014/main" id="{3E680052-AEE8-4A55-07FD-245BE8B1AA42}"/>
              </a:ext>
            </a:extLst>
          </p:cNvPr>
          <p:cNvCxnSpPr/>
          <p:nvPr/>
        </p:nvCxnSpPr>
        <p:spPr>
          <a:xfrm>
            <a:off x="3143250" y="3286125"/>
            <a:ext cx="0" cy="190500"/>
          </a:xfrm>
          <a:prstGeom prst="line">
            <a:avLst/>
          </a:prstGeom>
          <a:ln w="38100">
            <a:solidFill>
              <a:srgbClr val="1E1E1E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3" name="Rectangle: Rounded Corners 32">
            <a:extLst>
              <a:ext uri="{FF2B5EF4-FFF2-40B4-BE49-F238E27FC236}">
                <a16:creationId xmlns:a16="http://schemas.microsoft.com/office/drawing/2014/main" id="{EE345BDE-7CE6-997F-E925-5DC05502320B}"/>
              </a:ext>
            </a:extLst>
          </p:cNvPr>
          <p:cNvSpPr/>
          <p:nvPr/>
        </p:nvSpPr>
        <p:spPr>
          <a:xfrm>
            <a:off x="3762375" y="1952625"/>
            <a:ext cx="857250" cy="619125"/>
          </a:xfrm>
          <a:prstGeom prst="roundRect">
            <a:avLst/>
          </a:prstGeom>
          <a:solidFill>
            <a:srgbClr val="FAE9E6"/>
          </a:solidFill>
          <a:ln w="158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25400" rIns="25400" rtlCol="0" anchor="ctr">
            <a:noAutofit/>
          </a:bodyPr>
          <a:lstStyle/>
          <a:p>
            <a:pPr algn="ctr"/>
            <a:r>
              <a:rPr lang="en-US" sz="920">
                <a:solidFill>
                  <a:srgbClr val="1E1E1E"/>
                </a:solidFill>
                <a:latin typeface="Arial" panose="020B0604020202020204" pitchFamily="34" charset="0"/>
              </a:rPr>
              <a:t>cell 4</a:t>
            </a:r>
          </a:p>
          <a:p>
            <a:pPr algn="ctr"/>
            <a:r>
              <a:rPr lang="en-US" sz="920">
                <a:solidFill>
                  <a:srgbClr val="1E1E1E"/>
                </a:solidFill>
                <a:latin typeface="Arial" panose="020B0604020202020204" pitchFamily="34" charset="0"/>
              </a:rPr>
              <a:t>HS + LS</a:t>
            </a:r>
          </a:p>
          <a:p>
            <a:pPr algn="ctr"/>
            <a:r>
              <a:rPr lang="en-US" sz="920">
                <a:solidFill>
                  <a:srgbClr val="1E1E1E"/>
                </a:solidFill>
                <a:latin typeface="Arial" panose="020B0604020202020204" pitchFamily="34" charset="0"/>
              </a:rPr>
              <a:t>EPC2361</a:t>
            </a:r>
            <a:endParaRPr lang="sv-SE" sz="920" dirty="0">
              <a:solidFill>
                <a:srgbClr val="1E1E1E"/>
              </a:solidFill>
              <a:latin typeface="Arial" panose="020B0604020202020204" pitchFamily="34" charset="0"/>
            </a:endParaRPr>
          </a:p>
        </p:txBody>
      </p:sp>
      <p:sp>
        <p:nvSpPr>
          <p:cNvPr id="34" name="Rectangle: Rounded Corners 33">
            <a:extLst>
              <a:ext uri="{FF2B5EF4-FFF2-40B4-BE49-F238E27FC236}">
                <a16:creationId xmlns:a16="http://schemas.microsoft.com/office/drawing/2014/main" id="{489EEF3C-6C80-CA8D-8662-69EFF084DA64}"/>
              </a:ext>
            </a:extLst>
          </p:cNvPr>
          <p:cNvSpPr/>
          <p:nvPr/>
        </p:nvSpPr>
        <p:spPr>
          <a:xfrm>
            <a:off x="3810000" y="2667000"/>
            <a:ext cx="762000" cy="247650"/>
          </a:xfrm>
          <a:prstGeom prst="roundRect">
            <a:avLst/>
          </a:prstGeom>
          <a:solidFill>
            <a:srgbClr val="E2F3E8"/>
          </a:solidFill>
          <a:ln w="158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25400" rIns="25400" rtlCol="0" anchor="ctr">
            <a:noAutofit/>
          </a:bodyPr>
          <a:lstStyle/>
          <a:p>
            <a:pPr algn="ctr"/>
            <a:r>
              <a:rPr lang="sv-SE" sz="730">
                <a:solidFill>
                  <a:srgbClr val="1E1E1E"/>
                </a:solidFill>
                <a:latin typeface="Arial" panose="020B0604020202020204" pitchFamily="34" charset="0"/>
              </a:rPr>
              <a:t>UFCS (DPT only)</a:t>
            </a:r>
            <a:endParaRPr lang="sv-SE" sz="730" dirty="0">
              <a:solidFill>
                <a:srgbClr val="1E1E1E"/>
              </a:solidFill>
              <a:latin typeface="Arial" panose="020B0604020202020204" pitchFamily="34" charset="0"/>
            </a:endParaRPr>
          </a:p>
        </p:txBody>
      </p:sp>
      <p:cxnSp>
        <p:nvCxnSpPr>
          <p:cNvPr id="35" name="Straight Connector 34">
            <a:extLst>
              <a:ext uri="{FF2B5EF4-FFF2-40B4-BE49-F238E27FC236}">
                <a16:creationId xmlns:a16="http://schemas.microsoft.com/office/drawing/2014/main" id="{A49D07E1-2624-EF62-27C4-D0D067F1C73C}"/>
              </a:ext>
            </a:extLst>
          </p:cNvPr>
          <p:cNvCxnSpPr/>
          <p:nvPr/>
        </p:nvCxnSpPr>
        <p:spPr>
          <a:xfrm>
            <a:off x="4048125" y="1638300"/>
            <a:ext cx="0" cy="314325"/>
          </a:xfrm>
          <a:prstGeom prst="line">
            <a:avLst/>
          </a:prstGeom>
          <a:ln w="25400">
            <a:solidFill>
              <a:srgbClr val="C8463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6" name="Straight Connector 35">
            <a:extLst>
              <a:ext uri="{FF2B5EF4-FFF2-40B4-BE49-F238E27FC236}">
                <a16:creationId xmlns:a16="http://schemas.microsoft.com/office/drawing/2014/main" id="{6615E71A-651D-685E-78F0-42B46495F6F7}"/>
              </a:ext>
            </a:extLst>
          </p:cNvPr>
          <p:cNvCxnSpPr/>
          <p:nvPr/>
        </p:nvCxnSpPr>
        <p:spPr>
          <a:xfrm>
            <a:off x="4333875" y="1752600"/>
            <a:ext cx="0" cy="200025"/>
          </a:xfrm>
          <a:prstGeom prst="line">
            <a:avLst/>
          </a:prstGeom>
          <a:ln w="25400">
            <a:solidFill>
              <a:srgbClr val="3264BE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7" name="Straight Connector 36">
            <a:extLst>
              <a:ext uri="{FF2B5EF4-FFF2-40B4-BE49-F238E27FC236}">
                <a16:creationId xmlns:a16="http://schemas.microsoft.com/office/drawing/2014/main" id="{02B336E5-3E66-6897-A6ED-47C18BDE8450}"/>
              </a:ext>
            </a:extLst>
          </p:cNvPr>
          <p:cNvCxnSpPr/>
          <p:nvPr/>
        </p:nvCxnSpPr>
        <p:spPr>
          <a:xfrm>
            <a:off x="4191000" y="2571750"/>
            <a:ext cx="0" cy="95250"/>
          </a:xfrm>
          <a:prstGeom prst="line">
            <a:avLst/>
          </a:prstGeom>
          <a:ln w="19050">
            <a:solidFill>
              <a:srgbClr val="1E1E1E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8" name="Straight Connector 37">
            <a:extLst>
              <a:ext uri="{FF2B5EF4-FFF2-40B4-BE49-F238E27FC236}">
                <a16:creationId xmlns:a16="http://schemas.microsoft.com/office/drawing/2014/main" id="{3948FF85-AC8D-8C91-BBDD-224CAFCE9723}"/>
              </a:ext>
            </a:extLst>
          </p:cNvPr>
          <p:cNvCxnSpPr/>
          <p:nvPr/>
        </p:nvCxnSpPr>
        <p:spPr>
          <a:xfrm>
            <a:off x="4191000" y="3286125"/>
            <a:ext cx="0" cy="190500"/>
          </a:xfrm>
          <a:prstGeom prst="line">
            <a:avLst/>
          </a:prstGeom>
          <a:ln w="38100">
            <a:solidFill>
              <a:srgbClr val="1E1E1E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9" name="Rectangle: Rounded Corners 38">
            <a:extLst>
              <a:ext uri="{FF2B5EF4-FFF2-40B4-BE49-F238E27FC236}">
                <a16:creationId xmlns:a16="http://schemas.microsoft.com/office/drawing/2014/main" id="{078BD936-6FBC-5A4C-967F-91E7B741A56A}"/>
              </a:ext>
            </a:extLst>
          </p:cNvPr>
          <p:cNvSpPr/>
          <p:nvPr/>
        </p:nvSpPr>
        <p:spPr>
          <a:xfrm>
            <a:off x="1000125" y="2981325"/>
            <a:ext cx="1047750" cy="266700"/>
          </a:xfrm>
          <a:prstGeom prst="roundRect">
            <a:avLst/>
          </a:prstGeom>
          <a:solidFill>
            <a:srgbClr val="E6F3E9"/>
          </a:solidFill>
          <a:ln w="158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25400" rIns="25400" rtlCol="0" anchor="ctr">
            <a:noAutofit/>
          </a:bodyPr>
          <a:lstStyle/>
          <a:p>
            <a:pPr algn="ctr"/>
            <a:r>
              <a:rPr lang="nn-NO" sz="830">
                <a:solidFill>
                  <a:srgbClr val="1E1E1E"/>
                </a:solidFill>
                <a:latin typeface="Arial" panose="020B0604020202020204" pitchFamily="34" charset="0"/>
              </a:rPr>
              <a:t>2EDF7275K #1</a:t>
            </a:r>
          </a:p>
          <a:p>
            <a:pPr algn="ctr"/>
            <a:r>
              <a:rPr lang="nn-NO" sz="830">
                <a:solidFill>
                  <a:srgbClr val="1E1E1E"/>
                </a:solidFill>
                <a:latin typeface="Arial" panose="020B0604020202020204" pitchFamily="34" charset="0"/>
              </a:rPr>
              <a:t>HS + LS, star</a:t>
            </a:r>
            <a:endParaRPr lang="sv-SE" sz="830" dirty="0">
              <a:solidFill>
                <a:srgbClr val="1E1E1E"/>
              </a:solidFill>
              <a:latin typeface="Arial" panose="020B0604020202020204" pitchFamily="34" charset="0"/>
            </a:endParaRPr>
          </a:p>
        </p:txBody>
      </p:sp>
      <p:sp>
        <p:nvSpPr>
          <p:cNvPr id="40" name="Rectangle: Rounded Corners 39">
            <a:extLst>
              <a:ext uri="{FF2B5EF4-FFF2-40B4-BE49-F238E27FC236}">
                <a16:creationId xmlns:a16="http://schemas.microsoft.com/office/drawing/2014/main" id="{825BA96F-23EC-AE7C-BF72-6597179A0C2A}"/>
              </a:ext>
            </a:extLst>
          </p:cNvPr>
          <p:cNvSpPr/>
          <p:nvPr/>
        </p:nvSpPr>
        <p:spPr>
          <a:xfrm>
            <a:off x="3095625" y="2981325"/>
            <a:ext cx="1047750" cy="266700"/>
          </a:xfrm>
          <a:prstGeom prst="roundRect">
            <a:avLst/>
          </a:prstGeom>
          <a:solidFill>
            <a:srgbClr val="E6F3E9"/>
          </a:solidFill>
          <a:ln w="158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25400" rIns="25400" rtlCol="0" anchor="ctr">
            <a:noAutofit/>
          </a:bodyPr>
          <a:lstStyle/>
          <a:p>
            <a:pPr algn="ctr"/>
            <a:r>
              <a:rPr lang="nn-NO" sz="830">
                <a:solidFill>
                  <a:srgbClr val="1E1E1E"/>
                </a:solidFill>
                <a:latin typeface="Arial" panose="020B0604020202020204" pitchFamily="34" charset="0"/>
              </a:rPr>
              <a:t>2EDF7275K #2</a:t>
            </a:r>
          </a:p>
          <a:p>
            <a:pPr algn="ctr"/>
            <a:r>
              <a:rPr lang="nn-NO" sz="830">
                <a:solidFill>
                  <a:srgbClr val="1E1E1E"/>
                </a:solidFill>
                <a:latin typeface="Arial" panose="020B0604020202020204" pitchFamily="34" charset="0"/>
              </a:rPr>
              <a:t>HS + LS, star</a:t>
            </a:r>
            <a:endParaRPr lang="sv-SE" sz="830" dirty="0">
              <a:solidFill>
                <a:srgbClr val="1E1E1E"/>
              </a:solidFill>
              <a:latin typeface="Arial" panose="020B0604020202020204" pitchFamily="34" charset="0"/>
            </a:endParaRPr>
          </a:p>
        </p:txBody>
      </p:sp>
      <p:cxnSp>
        <p:nvCxnSpPr>
          <p:cNvPr id="41" name="Straight Connector 40">
            <a:extLst>
              <a:ext uri="{FF2B5EF4-FFF2-40B4-BE49-F238E27FC236}">
                <a16:creationId xmlns:a16="http://schemas.microsoft.com/office/drawing/2014/main" id="{390CC9F2-FB85-D3C0-7955-BF3CE2705B58}"/>
              </a:ext>
            </a:extLst>
          </p:cNvPr>
          <p:cNvCxnSpPr/>
          <p:nvPr/>
        </p:nvCxnSpPr>
        <p:spPr>
          <a:xfrm>
            <a:off x="809625" y="3476625"/>
            <a:ext cx="3381375" cy="0"/>
          </a:xfrm>
          <a:prstGeom prst="line">
            <a:avLst/>
          </a:prstGeom>
          <a:ln w="63500">
            <a:solidFill>
              <a:srgbClr val="1E1E1E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2" name="TextBox 41">
            <a:extLst>
              <a:ext uri="{FF2B5EF4-FFF2-40B4-BE49-F238E27FC236}">
                <a16:creationId xmlns:a16="http://schemas.microsoft.com/office/drawing/2014/main" id="{318428AB-0D10-30D3-7C38-5481C1D8BE90}"/>
              </a:ext>
            </a:extLst>
          </p:cNvPr>
          <p:cNvSpPr txBox="1"/>
          <p:nvPr/>
        </p:nvSpPr>
        <p:spPr>
          <a:xfrm>
            <a:off x="714375" y="3524250"/>
            <a:ext cx="1714500" cy="307777"/>
          </a:xfrm>
          <a:prstGeom prst="rect">
            <a:avLst/>
          </a:prstGeom>
          <a:noFill/>
        </p:spPr>
        <p:txBody>
          <a:bodyPr vert="horz" wrap="square" lIns="25400" tIns="0" rIns="0" bIns="0" rtlCol="0">
            <a:noAutofit/>
          </a:bodyPr>
          <a:lstStyle/>
          <a:p>
            <a:r>
              <a:rPr lang="en-US" sz="920" b="1">
                <a:solidFill>
                  <a:srgbClr val="1E1E1E"/>
                </a:solidFill>
                <a:latin typeface="Arial" panose="020B0604020202020204" pitchFamily="34" charset="0"/>
              </a:rPr>
              <a:t>AC joined in copper (all layers)</a:t>
            </a:r>
            <a:endParaRPr lang="sv-SE" sz="920" b="1" dirty="0" err="1">
              <a:solidFill>
                <a:srgbClr val="1E1E1E"/>
              </a:solidFill>
              <a:latin typeface="Arial" panose="020B0604020202020204" pitchFamily="34" charset="0"/>
            </a:endParaRPr>
          </a:p>
        </p:txBody>
      </p:sp>
      <p:cxnSp>
        <p:nvCxnSpPr>
          <p:cNvPr id="43" name="Straight Connector 42">
            <a:extLst>
              <a:ext uri="{FF2B5EF4-FFF2-40B4-BE49-F238E27FC236}">
                <a16:creationId xmlns:a16="http://schemas.microsoft.com/office/drawing/2014/main" id="{FF6E0B24-DBAB-A70E-8924-76532D47F589}"/>
              </a:ext>
            </a:extLst>
          </p:cNvPr>
          <p:cNvCxnSpPr/>
          <p:nvPr/>
        </p:nvCxnSpPr>
        <p:spPr>
          <a:xfrm>
            <a:off x="2571750" y="3476625"/>
            <a:ext cx="0" cy="428625"/>
          </a:xfrm>
          <a:prstGeom prst="line">
            <a:avLst/>
          </a:prstGeom>
          <a:ln w="63500">
            <a:solidFill>
              <a:srgbClr val="1E1E1E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4" name="TextBox 43">
            <a:extLst>
              <a:ext uri="{FF2B5EF4-FFF2-40B4-BE49-F238E27FC236}">
                <a16:creationId xmlns:a16="http://schemas.microsoft.com/office/drawing/2014/main" id="{C6E9BEBF-F96E-7A51-E722-780C5DC6DD26}"/>
              </a:ext>
            </a:extLst>
          </p:cNvPr>
          <p:cNvSpPr txBox="1"/>
          <p:nvPr/>
        </p:nvSpPr>
        <p:spPr>
          <a:xfrm>
            <a:off x="2667000" y="3714750"/>
            <a:ext cx="2095500" cy="307777"/>
          </a:xfrm>
          <a:prstGeom prst="rect">
            <a:avLst/>
          </a:prstGeom>
          <a:noFill/>
        </p:spPr>
        <p:txBody>
          <a:bodyPr vert="horz" wrap="square" lIns="25400" tIns="0" rIns="0" bIns="0" rtlCol="0">
            <a:noAutofit/>
          </a:bodyPr>
          <a:lstStyle/>
          <a:p>
            <a:r>
              <a:rPr lang="en-US" sz="920">
                <a:solidFill>
                  <a:srgbClr val="1E1E1E"/>
                </a:solidFill>
                <a:latin typeface="Arial" panose="020B0604020202020204" pitchFamily="34" charset="0"/>
              </a:rPr>
              <a:t>ONE M6 AC bolt pad → Cu bar</a:t>
            </a:r>
          </a:p>
          <a:p>
            <a:r>
              <a:rPr lang="en-US" sz="920">
                <a:solidFill>
                  <a:srgbClr val="1E1E1E"/>
                </a:solidFill>
                <a:latin typeface="Arial" panose="020B0604020202020204" pitchFamily="34" charset="0"/>
              </a:rPr>
              <a:t>→ LEM HO 250-S → load</a:t>
            </a:r>
            <a:endParaRPr lang="sv-SE" sz="920" dirty="0" err="1">
              <a:solidFill>
                <a:srgbClr val="1E1E1E"/>
              </a:solidFill>
              <a:latin typeface="Arial" panose="020B0604020202020204" pitchFamily="34" charset="0"/>
            </a:endParaRPr>
          </a:p>
        </p:txBody>
      </p:sp>
      <p:sp>
        <p:nvSpPr>
          <p:cNvPr id="45" name="TextBox 44">
            <a:extLst>
              <a:ext uri="{FF2B5EF4-FFF2-40B4-BE49-F238E27FC236}">
                <a16:creationId xmlns:a16="http://schemas.microsoft.com/office/drawing/2014/main" id="{650E7244-4D91-8721-B372-F6AE9E826BC7}"/>
              </a:ext>
            </a:extLst>
          </p:cNvPr>
          <p:cNvSpPr txBox="1"/>
          <p:nvPr/>
        </p:nvSpPr>
        <p:spPr>
          <a:xfrm>
            <a:off x="5000625" y="952500"/>
            <a:ext cx="3810000" cy="307777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pPr marL="406400" indent="-177800">
              <a:spcAft>
                <a:spcPts val="400"/>
              </a:spcAft>
              <a:buFont typeface="+mj-lt"/>
              <a:buChar char="•"/>
            </a:pPr>
            <a:r>
              <a:rPr lang="en-US" sz="1380">
                <a:solidFill>
                  <a:srgbClr val="1E1E1E"/>
                </a:solidFill>
                <a:latin typeface="Arial" panose="020B0604020202020204" pitchFamily="34" charset="0"/>
              </a:rPr>
              <a:t>One leg: 4 EPC2361 per switch, </a:t>
            </a:r>
            <a:r>
              <a:rPr lang="en-US" sz="1380" b="1">
                <a:solidFill>
                  <a:srgbClr val="1E1E1E"/>
                </a:solidFill>
                <a:latin typeface="Arial" panose="020B0604020202020204" pitchFamily="34" charset="0"/>
              </a:rPr>
              <a:t>two 2EDF7275K</a:t>
            </a:r>
            <a:r>
              <a:rPr lang="en-US" sz="1380">
                <a:solidFill>
                  <a:srgbClr val="1E1E1E"/>
                </a:solidFill>
                <a:latin typeface="Arial" panose="020B0604020202020204" pitchFamily="34" charset="0"/>
              </a:rPr>
              <a:t>, each drives one pair (HS + LS channel) through a star</a:t>
            </a:r>
          </a:p>
          <a:p>
            <a:pPr marL="406400" indent="-177800">
              <a:spcAft>
                <a:spcPts val="400"/>
              </a:spcAft>
              <a:buFont typeface="+mj-lt"/>
              <a:buChar char="•"/>
            </a:pPr>
            <a:r>
              <a:rPr lang="en-US" sz="1380">
                <a:solidFill>
                  <a:srgbClr val="1E1E1E"/>
                </a:solidFill>
                <a:latin typeface="Arial" panose="020B0604020202020204" pitchFamily="34" charset="0"/>
              </a:rPr>
              <a:t>Why one driver per pair: the driver sits between its two cells ⇒ short, identical gate loops; one HS + one LS isolated supply, split per driver</a:t>
            </a:r>
          </a:p>
          <a:p>
            <a:pPr marL="406400" indent="-177800">
              <a:spcAft>
                <a:spcPts val="400"/>
              </a:spcAft>
              <a:buFont typeface="+mj-lt"/>
              <a:buChar char="•"/>
            </a:pPr>
            <a:r>
              <a:rPr lang="en-US" sz="1380" b="1">
                <a:solidFill>
                  <a:srgbClr val="1E1E1E"/>
                </a:solidFill>
                <a:latin typeface="Arial" panose="020B0604020202020204" pitchFamily="34" charset="0"/>
              </a:rPr>
              <a:t>One DC+ / DC− pair</a:t>
            </a:r>
            <a:r>
              <a:rPr lang="en-US" sz="1380">
                <a:solidFill>
                  <a:srgbClr val="1E1E1E"/>
                </a:solidFill>
                <a:latin typeface="Arial" panose="020B0604020202020204" pitchFamily="34" charset="0"/>
              </a:rPr>
              <a:t> at the centre: laminated terminal row (L1/L3 +, L2/L4 −) feeds one continuous bank</a:t>
            </a:r>
          </a:p>
          <a:p>
            <a:pPr marL="406400" indent="-177800">
              <a:spcAft>
                <a:spcPts val="400"/>
              </a:spcAft>
              <a:buFont typeface="+mj-lt"/>
              <a:buChar char="•"/>
            </a:pPr>
            <a:r>
              <a:rPr lang="en-US" sz="1380" b="1">
                <a:solidFill>
                  <a:srgbClr val="1E1E1E"/>
                </a:solidFill>
                <a:latin typeface="Arial" panose="020B0604020202020204" pitchFamily="34" charset="0"/>
              </a:rPr>
              <a:t>One AC output</a:t>
            </a:r>
            <a:r>
              <a:rPr lang="en-US" sz="1380">
                <a:solidFill>
                  <a:srgbClr val="1E1E1E"/>
                </a:solidFill>
                <a:latin typeface="Arial" panose="020B0604020202020204" pitchFamily="34" charset="0"/>
              </a:rPr>
              <a:t>: all four switch nodes joined, one M6 bolt pad, Cu bar through the HO 250-S</a:t>
            </a:r>
          </a:p>
          <a:p>
            <a:pPr marL="406400" indent="-177800">
              <a:spcAft>
                <a:spcPts val="400"/>
              </a:spcAft>
              <a:buFont typeface="+mj-lt"/>
              <a:buChar char="•"/>
            </a:pPr>
            <a:r>
              <a:rPr lang="en-US" sz="1380">
                <a:solidFill>
                  <a:srgbClr val="1E1E1E"/>
                </a:solidFill>
                <a:latin typeface="Arial" panose="020B0604020202020204" pitchFamily="34" charset="0"/>
              </a:rPr>
              <a:t>Built as </a:t>
            </a:r>
            <a:r>
              <a:rPr lang="en-US" sz="1380" b="1">
                <a:solidFill>
                  <a:srgbClr val="1E1E1E"/>
                </a:solidFill>
                <a:latin typeface="Arial" panose="020B0604020202020204" pitchFamily="34" charset="0"/>
              </a:rPr>
              <a:t>two boards</a:t>
            </a:r>
            <a:r>
              <a:rPr lang="en-US" sz="1380">
                <a:solidFill>
                  <a:srgbClr val="1E1E1E"/>
                </a:solidFill>
                <a:latin typeface="Arial" panose="020B0604020202020204" pitchFamily="34" charset="0"/>
              </a:rPr>
              <a:t> from the same generator: DPT (UFCS shunt per cell) and load test (no shunt)</a:t>
            </a:r>
            <a:endParaRPr lang="sv-SE" sz="1380" dirty="0" err="1">
              <a:solidFill>
                <a:srgbClr val="1E1E1E"/>
              </a:solidFill>
              <a:latin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833152637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8E20D1C-04A5-32B4-32F5-E328E2FA7D0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z="1800"/>
              <a:t>Two boards from one design: double-pulse test and load test</a:t>
            </a:r>
            <a:endParaRPr lang="sv-SE" sz="180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E06F1DB2-4C06-20CE-277A-BB8EC6B97F7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sv-SE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F74D6F05-FE5F-8A07-AE56-3B3B13A8592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422A9A3-8636-4A04-BD48-3153280FB086}" type="slidenum">
              <a:rPr lang="sv-SE" smtClean="0"/>
              <a:pPr/>
              <a:t>27</a:t>
            </a:fld>
            <a:endParaRPr lang="sv-SE"/>
          </a:p>
        </p:txBody>
      </p:sp>
      <p:graphicFrame>
        <p:nvGraphicFramePr>
          <p:cNvPr id="6" name="Table 5">
            <a:extLst>
              <a:ext uri="{FF2B5EF4-FFF2-40B4-BE49-F238E27FC236}">
                <a16:creationId xmlns:a16="http://schemas.microsoft.com/office/drawing/2014/main" id="{2F627363-5D8E-A4B8-7B77-56B9A802E201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729891547"/>
              </p:ext>
            </p:extLst>
          </p:nvPr>
        </p:nvGraphicFramePr>
        <p:xfrm>
          <a:off x="238125" y="952500"/>
          <a:ext cx="8667750" cy="16764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619250">
                  <a:extLst>
                    <a:ext uri="{9D8B030D-6E8A-4147-A177-3AD203B41FA5}">
                      <a16:colId xmlns:a16="http://schemas.microsoft.com/office/drawing/2014/main" val="3217661032"/>
                    </a:ext>
                  </a:extLst>
                </a:gridCol>
                <a:gridCol w="3476625">
                  <a:extLst>
                    <a:ext uri="{9D8B030D-6E8A-4147-A177-3AD203B41FA5}">
                      <a16:colId xmlns:a16="http://schemas.microsoft.com/office/drawing/2014/main" val="1633892184"/>
                    </a:ext>
                  </a:extLst>
                </a:gridCol>
                <a:gridCol w="3476625">
                  <a:extLst>
                    <a:ext uri="{9D8B030D-6E8A-4147-A177-3AD203B41FA5}">
                      <a16:colId xmlns:a16="http://schemas.microsoft.com/office/drawing/2014/main" val="682134673"/>
                    </a:ext>
                  </a:extLst>
                </a:gridCol>
              </a:tblGrid>
              <a:tr h="165100">
                <a:tc>
                  <a:txBody>
                    <a:bodyPr/>
                    <a:lstStyle/>
                    <a:p>
                      <a:pPr algn="l"/>
                      <a:endParaRPr lang="sv-SE" sz="1190" b="1">
                        <a:solidFill>
                          <a:srgbClr val="FFFFFF"/>
                        </a:solidFill>
                        <a:latin typeface="Arial" panose="020B0604020202020204" pitchFamily="34" charset="0"/>
                      </a:endParaRPr>
                    </a:p>
                  </a:txBody>
                  <a:tcPr marL="50800" marR="50800" marT="25400" marB="25400">
                    <a:solidFill>
                      <a:srgbClr val="1954A6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sv-SE" sz="1190" b="1">
                          <a:solidFill>
                            <a:srgbClr val="FFFFFF"/>
                          </a:solidFill>
                          <a:latin typeface="Arial" panose="020B0604020202020204" pitchFamily="34" charset="0"/>
                        </a:rPr>
                        <a:t>DPT board (spb-bb-revb-dpt)</a:t>
                      </a:r>
                    </a:p>
                  </a:txBody>
                  <a:tcPr marL="50800" marR="50800" marT="25400" marB="25400">
                    <a:solidFill>
                      <a:srgbClr val="1954A6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sv-SE" sz="1190" b="1">
                          <a:solidFill>
                            <a:srgbClr val="FFFFFF"/>
                          </a:solidFill>
                          <a:latin typeface="Arial" panose="020B0604020202020204" pitchFamily="34" charset="0"/>
                        </a:rPr>
                        <a:t>Load-test board (spb-bb-revb-load)</a:t>
                      </a:r>
                    </a:p>
                  </a:txBody>
                  <a:tcPr marL="50800" marR="50800" marT="25400" marB="25400">
                    <a:solidFill>
                      <a:srgbClr val="1954A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929721958"/>
                  </a:ext>
                </a:extLst>
              </a:tr>
              <a:tr h="165100">
                <a:tc>
                  <a:txBody>
                    <a:bodyPr/>
                    <a:lstStyle/>
                    <a:p>
                      <a:pPr algn="l"/>
                      <a:r>
                        <a:rPr lang="sv-SE" sz="119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Purpose</a:t>
                      </a:r>
                    </a:p>
                  </a:txBody>
                  <a:tcPr marL="50800" marR="50800" marT="25400" marB="25400"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19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switching energies, per-cell current, overshoot</a:t>
                      </a:r>
                      <a:endParaRPr lang="sv-SE" sz="1190">
                        <a:solidFill>
                          <a:srgbClr val="1E1E1E"/>
                        </a:solidFill>
                        <a:latin typeface="Arial" panose="020B0604020202020204" pitchFamily="34" charset="0"/>
                      </a:endParaRPr>
                    </a:p>
                  </a:txBody>
                  <a:tcPr marL="50800" marR="50800" marT="25400" marB="25400"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sv-SE" sz="119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back-to-back / three-phase load test</a:t>
                      </a:r>
                    </a:p>
                  </a:txBody>
                  <a:tcPr marL="50800" marR="50800" marT="25400" marB="25400">
                    <a:solidFill>
                      <a:srgbClr val="E8EF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553067345"/>
                  </a:ext>
                </a:extLst>
              </a:tr>
              <a:tr h="165100">
                <a:tc>
                  <a:txBody>
                    <a:bodyPr/>
                    <a:lstStyle/>
                    <a:p>
                      <a:pPr algn="l"/>
                      <a:r>
                        <a:rPr lang="sv-SE" sz="119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LS source path</a:t>
                      </a:r>
                    </a:p>
                  </a:txBody>
                  <a:tcPr marL="50800" marR="508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19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PMK UFCS-R001 per cell (1 mΩ, 120 pH)</a:t>
                      </a:r>
                      <a:endParaRPr lang="sv-SE" sz="1190">
                        <a:solidFill>
                          <a:srgbClr val="1E1E1E"/>
                        </a:solidFill>
                        <a:latin typeface="Arial" panose="020B0604020202020204" pitchFamily="34" charset="0"/>
                      </a:endParaRPr>
                    </a:p>
                  </a:txBody>
                  <a:tcPr marL="50800" marR="508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19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source stripes via-in-pad (blind L1–L2) to DC−</a:t>
                      </a:r>
                      <a:endParaRPr lang="sv-SE" sz="1190">
                        <a:solidFill>
                          <a:srgbClr val="1E1E1E"/>
                        </a:solidFill>
                        <a:latin typeface="Arial" panose="020B0604020202020204" pitchFamily="34" charset="0"/>
                      </a:endParaRPr>
                    </a:p>
                  </a:txBody>
                  <a:tcPr marL="50800" marR="50800" marT="25400" marB="25400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602666927"/>
                  </a:ext>
                </a:extLst>
              </a:tr>
              <a:tr h="165100">
                <a:tc>
                  <a:txBody>
                    <a:bodyPr/>
                    <a:lstStyle/>
                    <a:p>
                      <a:pPr algn="l"/>
                      <a:r>
                        <a:rPr lang="sv-SE" sz="119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UFCS land</a:t>
                      </a:r>
                    </a:p>
                  </a:txBody>
                  <a:tcPr marL="50800" marR="50800" marT="25400" marB="25400"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19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IN land shortened to 1.2 mm: blade 1.45 mm from the source</a:t>
                      </a:r>
                      <a:endParaRPr lang="sv-SE" sz="1190">
                        <a:solidFill>
                          <a:srgbClr val="1E1E1E"/>
                        </a:solidFill>
                        <a:latin typeface="Arial" panose="020B0604020202020204" pitchFamily="34" charset="0"/>
                      </a:endParaRPr>
                    </a:p>
                  </a:txBody>
                  <a:tcPr marL="50800" marR="50800" marT="25400" marB="25400"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sv-SE" sz="119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–</a:t>
                      </a:r>
                    </a:p>
                  </a:txBody>
                  <a:tcPr marL="50800" marR="50800" marT="25400" marB="25400">
                    <a:solidFill>
                      <a:srgbClr val="E8EF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271585178"/>
                  </a:ext>
                </a:extLst>
              </a:tr>
              <a:tr h="165100">
                <a:tc>
                  <a:txBody>
                    <a:bodyPr/>
                    <a:lstStyle/>
                    <a:p>
                      <a:pPr algn="l"/>
                      <a:r>
                        <a:rPr lang="sv-SE" sz="119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Cooling</a:t>
                      </a:r>
                    </a:p>
                  </a:txBody>
                  <a:tcPr marL="50800" marR="508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sv-SE" sz="119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none (pulsed test)</a:t>
                      </a:r>
                    </a:p>
                  </a:txBody>
                  <a:tcPr marL="50800" marR="508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19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Fischer LAM 4 K 50 12 on an Al spreader</a:t>
                      </a:r>
                      <a:endParaRPr lang="sv-SE" sz="1190">
                        <a:solidFill>
                          <a:srgbClr val="1E1E1E"/>
                        </a:solidFill>
                        <a:latin typeface="Arial" panose="020B0604020202020204" pitchFamily="34" charset="0"/>
                      </a:endParaRPr>
                    </a:p>
                  </a:txBody>
                  <a:tcPr marL="50800" marR="50800" marT="25400" marB="25400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909816564"/>
                  </a:ext>
                </a:extLst>
              </a:tr>
              <a:tr h="165100">
                <a:tc>
                  <a:txBody>
                    <a:bodyPr/>
                    <a:lstStyle/>
                    <a:p>
                      <a:pPr algn="l"/>
                      <a:r>
                        <a:rPr lang="sv-SE" sz="119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Loop per cell (Q3D)</a:t>
                      </a:r>
                    </a:p>
                  </a:txBody>
                  <a:tcPr marL="50800" marR="50800" marT="25400" marB="25400"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sv-SE" sz="119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0.65 nH (mean)</a:t>
                      </a:r>
                    </a:p>
                  </a:txBody>
                  <a:tcPr marL="50800" marR="50800" marT="25400" marB="25400"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sv-SE" sz="119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0.41 nH (mean)</a:t>
                      </a:r>
                    </a:p>
                  </a:txBody>
                  <a:tcPr marL="50800" marR="50800" marT="25400" marB="25400">
                    <a:solidFill>
                      <a:srgbClr val="E8EF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15795212"/>
                  </a:ext>
                </a:extLst>
              </a:tr>
              <a:tr h="165100">
                <a:tc>
                  <a:txBody>
                    <a:bodyPr/>
                    <a:lstStyle/>
                    <a:p>
                      <a:pPr algn="l"/>
                      <a:r>
                        <a:rPr lang="sv-SE" sz="119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v̂</a:t>
                      </a:r>
                      <a:r>
                        <a:rPr lang="sv-SE" sz="1190" baseline="-2500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DS</a:t>
                      </a:r>
                      <a:r>
                        <a:rPr lang="sv-SE" sz="119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 at 30 A/ns</a:t>
                      </a:r>
                    </a:p>
                  </a:txBody>
                  <a:tcPr marL="50800" marR="508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sv-SE" sz="119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94 V</a:t>
                      </a:r>
                    </a:p>
                  </a:txBody>
                  <a:tcPr marL="50800" marR="508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sv-SE" sz="119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87 V</a:t>
                      </a:r>
                    </a:p>
                  </a:txBody>
                  <a:tcPr marL="50800" marR="50800" marT="25400" marB="25400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893775592"/>
                  </a:ext>
                </a:extLst>
              </a:tr>
              <a:tr h="165100">
                <a:tc>
                  <a:txBody>
                    <a:bodyPr/>
                    <a:lstStyle/>
                    <a:p>
                      <a:pPr algn="l"/>
                      <a:r>
                        <a:rPr lang="sv-SE" sz="119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Parts / DRC / schematic</a:t>
                      </a:r>
                    </a:p>
                  </a:txBody>
                  <a:tcPr marL="50800" marR="50800" marT="25400" marB="25400"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19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200 footprints, DRC 0 / 0 / 0, schematic = PCB</a:t>
                      </a:r>
                      <a:endParaRPr lang="sv-SE" sz="1190">
                        <a:solidFill>
                          <a:srgbClr val="1E1E1E"/>
                        </a:solidFill>
                        <a:latin typeface="Arial" panose="020B0604020202020204" pitchFamily="34" charset="0"/>
                      </a:endParaRPr>
                    </a:p>
                  </a:txBody>
                  <a:tcPr marL="50800" marR="50800" marT="25400" marB="25400"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19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200 footprints, DRC 0 / 0 / 0, schematic = PCB</a:t>
                      </a:r>
                      <a:endParaRPr lang="sv-SE" sz="1190">
                        <a:solidFill>
                          <a:srgbClr val="1E1E1E"/>
                        </a:solidFill>
                        <a:latin typeface="Arial" panose="020B0604020202020204" pitchFamily="34" charset="0"/>
                      </a:endParaRPr>
                    </a:p>
                  </a:txBody>
                  <a:tcPr marL="50800" marR="50800" marT="25400" marB="25400">
                    <a:solidFill>
                      <a:srgbClr val="E8EF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986285888"/>
                  </a:ext>
                </a:extLst>
              </a:tr>
            </a:tbl>
          </a:graphicData>
        </a:graphic>
      </p:graphicFrame>
      <p:sp>
        <p:nvSpPr>
          <p:cNvPr id="7" name="decision">
            <a:extLst>
              <a:ext uri="{FF2B5EF4-FFF2-40B4-BE49-F238E27FC236}">
                <a16:creationId xmlns:a16="http://schemas.microsoft.com/office/drawing/2014/main" id="{9A4C7C40-95EF-5152-C560-3892E53CD031}"/>
              </a:ext>
            </a:extLst>
          </p:cNvPr>
          <p:cNvSpPr/>
          <p:nvPr/>
        </p:nvSpPr>
        <p:spPr>
          <a:xfrm>
            <a:off x="238125" y="4400550"/>
            <a:ext cx="8667750" cy="381000"/>
          </a:xfrm>
          <a:prstGeom prst="roundRect">
            <a:avLst/>
          </a:prstGeom>
          <a:solidFill>
            <a:srgbClr val="EEF4FB"/>
          </a:solidFill>
          <a:ln w="158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101600" tIns="25400" bIns="25400" rtlCol="0" anchor="ctr">
            <a:noAutofit/>
          </a:bodyPr>
          <a:lstStyle/>
          <a:p>
            <a:r>
              <a:rPr lang="en-US" sz="1380" b="1">
                <a:solidFill>
                  <a:srgbClr val="1E1E1E"/>
                </a:solidFill>
                <a:latin typeface="Arial" panose="020B0604020202020204" pitchFamily="34" charset="0"/>
              </a:rPr>
              <a:t>Decision:</a:t>
            </a:r>
            <a:r>
              <a:rPr lang="en-US" sz="1380">
                <a:solidFill>
                  <a:srgbClr val="1E1E1E"/>
                </a:solidFill>
                <a:latin typeface="Arial" panose="020B0604020202020204" pitchFamily="34" charset="0"/>
              </a:rPr>
              <a:t> Same copper, drivers, bank and terminals; only the LS source path and the cooling differ</a:t>
            </a:r>
            <a:endParaRPr lang="sv-SE" sz="1380" dirty="0">
              <a:solidFill>
                <a:srgbClr val="1E1E1E"/>
              </a:solidFill>
              <a:latin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601391098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5DE6C4F-A0BC-85C9-ACCD-005FD38A7D1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z="2100"/>
              <a:t>DPT board layout (UFCS shunts, no heatsink)</a:t>
            </a:r>
            <a:endParaRPr lang="sv-SE" sz="210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9DC56481-2055-D72E-B1C0-AFA2CE30734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sv-SE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68264AC0-5814-DA0D-FC28-3CBF9A29538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422A9A3-8636-4A04-BD48-3153280FB086}" type="slidenum">
              <a:rPr lang="sv-SE" smtClean="0"/>
              <a:pPr/>
              <a:t>28</a:t>
            </a:fld>
            <a:endParaRPr lang="sv-SE"/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A9966700-5C61-5214-2204-4DDE2F9A4142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85386" y="952500"/>
            <a:ext cx="3896478" cy="3714750"/>
          </a:xfrm>
          <a:prstGeom prst="rect">
            <a:avLst/>
          </a:prstGeom>
        </p:spPr>
      </p:pic>
      <p:pic>
        <p:nvPicPr>
          <p:cNvPr id="9" name="Picture 8">
            <a:extLst>
              <a:ext uri="{FF2B5EF4-FFF2-40B4-BE49-F238E27FC236}">
                <a16:creationId xmlns:a16="http://schemas.microsoft.com/office/drawing/2014/main" id="{2379FCFD-6C24-C32F-D0A5-65037BBBAB7F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524375" y="952500"/>
            <a:ext cx="2190750" cy="2091444"/>
          </a:xfrm>
          <a:prstGeom prst="rect">
            <a:avLst/>
          </a:prstGeom>
        </p:spPr>
      </p:pic>
      <p:sp>
        <p:nvSpPr>
          <p:cNvPr id="10" name="TextBox 9">
            <a:extLst>
              <a:ext uri="{FF2B5EF4-FFF2-40B4-BE49-F238E27FC236}">
                <a16:creationId xmlns:a16="http://schemas.microsoft.com/office/drawing/2014/main" id="{2B2532C7-26BE-C705-1D1D-A8E32907A013}"/>
              </a:ext>
            </a:extLst>
          </p:cNvPr>
          <p:cNvSpPr txBox="1"/>
          <p:nvPr/>
        </p:nvSpPr>
        <p:spPr>
          <a:xfrm>
            <a:off x="6810375" y="952500"/>
            <a:ext cx="2000250" cy="307777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pPr marL="406400" indent="-177800">
              <a:spcAft>
                <a:spcPts val="400"/>
              </a:spcAft>
              <a:buFont typeface="+mj-lt"/>
              <a:buChar char="•"/>
            </a:pPr>
            <a:r>
              <a:rPr lang="en-US" sz="1280">
                <a:solidFill>
                  <a:srgbClr val="1E1E1E"/>
                </a:solidFill>
                <a:latin typeface="Arial" panose="020B0604020202020204" pitchFamily="34" charset="0"/>
              </a:rPr>
              <a:t>89.5 × 85.2 mm, 4 layers</a:t>
            </a:r>
          </a:p>
          <a:p>
            <a:pPr marL="406400" indent="-177800">
              <a:spcAft>
                <a:spcPts val="400"/>
              </a:spcAft>
              <a:buFont typeface="+mj-lt"/>
              <a:buChar char="•"/>
            </a:pPr>
            <a:r>
              <a:rPr lang="en-US" sz="1280">
                <a:solidFill>
                  <a:srgbClr val="1E1E1E"/>
                </a:solidFill>
                <a:latin typeface="Arial" panose="020B0604020202020204" pitchFamily="34" charset="0"/>
              </a:rPr>
              <a:t>UFCS-R001 per cell, IN land 1.2 mm (blade at the source edge), return vias in the SHLD pad</a:t>
            </a:r>
          </a:p>
          <a:p>
            <a:pPr marL="406400" indent="-177800">
              <a:spcAft>
                <a:spcPts val="400"/>
              </a:spcAft>
              <a:buFont typeface="+mj-lt"/>
              <a:buChar char="•"/>
            </a:pPr>
            <a:r>
              <a:rPr lang="en-US" sz="1280">
                <a:solidFill>
                  <a:srgbClr val="1E1E1E"/>
                </a:solidFill>
                <a:latin typeface="Arial" panose="020B0604020202020204" pitchFamily="34" charset="0"/>
              </a:rPr>
              <a:t>No heatsink, no spreader holes</a:t>
            </a:r>
          </a:p>
          <a:p>
            <a:pPr marL="406400" indent="-177800">
              <a:spcAft>
                <a:spcPts val="400"/>
              </a:spcAft>
              <a:buFont typeface="+mj-lt"/>
              <a:buChar char="•"/>
            </a:pPr>
            <a:r>
              <a:rPr lang="en-US" sz="1280">
                <a:solidFill>
                  <a:srgbClr val="1E1E1E"/>
                </a:solidFill>
                <a:latin typeface="Arial" panose="020B0604020202020204" pitchFamily="34" charset="0"/>
              </a:rPr>
              <a:t>DRC 0 / 0 / 0, schematic = PCB</a:t>
            </a:r>
            <a:endParaRPr lang="sv-SE" sz="1280" dirty="0" err="1">
              <a:solidFill>
                <a:srgbClr val="1E1E1E"/>
              </a:solidFill>
              <a:latin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4229799742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8EF63EA-9B57-D908-B4E9-43C1ABA05EF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z="2100"/>
              <a:t>Load-test board layout (no shunt, heatsink)</a:t>
            </a:r>
            <a:endParaRPr lang="sv-SE" sz="210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CBA34FC6-3371-8DA2-F775-95D2C559042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sv-SE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D27A8CD7-75CB-9249-5D6C-A587F8606EA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422A9A3-8636-4A04-BD48-3153280FB086}" type="slidenum">
              <a:rPr lang="sv-SE" smtClean="0"/>
              <a:pPr/>
              <a:t>29</a:t>
            </a:fld>
            <a:endParaRPr lang="sv-SE"/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998F181E-FE63-430F-1B2F-C3DC58BDB9D6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85386" y="952500"/>
            <a:ext cx="3896478" cy="3714750"/>
          </a:xfrm>
          <a:prstGeom prst="rect">
            <a:avLst/>
          </a:prstGeom>
        </p:spPr>
      </p:pic>
      <p:pic>
        <p:nvPicPr>
          <p:cNvPr id="9" name="Picture 8">
            <a:extLst>
              <a:ext uri="{FF2B5EF4-FFF2-40B4-BE49-F238E27FC236}">
                <a16:creationId xmlns:a16="http://schemas.microsoft.com/office/drawing/2014/main" id="{80031288-CC39-0427-C95F-DF210429C51C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524375" y="952500"/>
            <a:ext cx="2190750" cy="2091444"/>
          </a:xfrm>
          <a:prstGeom prst="rect">
            <a:avLst/>
          </a:prstGeom>
        </p:spPr>
      </p:pic>
      <p:sp>
        <p:nvSpPr>
          <p:cNvPr id="10" name="TextBox 9">
            <a:extLst>
              <a:ext uri="{FF2B5EF4-FFF2-40B4-BE49-F238E27FC236}">
                <a16:creationId xmlns:a16="http://schemas.microsoft.com/office/drawing/2014/main" id="{F88C87C6-45CF-4D56-31C6-D73C76B7E9F8}"/>
              </a:ext>
            </a:extLst>
          </p:cNvPr>
          <p:cNvSpPr txBox="1"/>
          <p:nvPr/>
        </p:nvSpPr>
        <p:spPr>
          <a:xfrm>
            <a:off x="6810375" y="952500"/>
            <a:ext cx="2000250" cy="307777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pPr marL="406400" indent="-177800">
              <a:spcAft>
                <a:spcPts val="400"/>
              </a:spcAft>
              <a:buFont typeface="+mj-lt"/>
              <a:buChar char="•"/>
            </a:pPr>
            <a:r>
              <a:rPr lang="en-US" sz="1280">
                <a:solidFill>
                  <a:srgbClr val="1E1E1E"/>
                </a:solidFill>
                <a:latin typeface="Arial" panose="020B0604020202020204" pitchFamily="34" charset="0"/>
              </a:rPr>
              <a:t>89.5 × 85.2 mm, 4 layers</a:t>
            </a:r>
          </a:p>
          <a:p>
            <a:pPr marL="406400" indent="-177800">
              <a:spcAft>
                <a:spcPts val="400"/>
              </a:spcAft>
              <a:buFont typeface="+mj-lt"/>
              <a:buChar char="•"/>
            </a:pPr>
            <a:r>
              <a:rPr lang="en-US" sz="1280">
                <a:solidFill>
                  <a:srgbClr val="1E1E1E"/>
                </a:solidFill>
                <a:latin typeface="Arial" panose="020B0604020202020204" pitchFamily="34" charset="0"/>
              </a:rPr>
              <a:t>LS source stripes: 3 blind L1–L2 vias each (filled, capped) into the DC− plane</a:t>
            </a:r>
          </a:p>
          <a:p>
            <a:pPr marL="406400" indent="-177800">
              <a:spcAft>
                <a:spcPts val="400"/>
              </a:spcAft>
              <a:buFont typeface="+mj-lt"/>
              <a:buChar char="•"/>
            </a:pPr>
            <a:r>
              <a:rPr lang="en-US" sz="1280">
                <a:solidFill>
                  <a:srgbClr val="1E1E1E"/>
                </a:solidFill>
                <a:latin typeface="Arial" panose="020B0604020202020204" pitchFamily="34" charset="0"/>
              </a:rPr>
              <a:t>LAM 4 K 50 12 over the cells, 3 spreader holes (H5–H7)</a:t>
            </a:r>
          </a:p>
          <a:p>
            <a:pPr marL="406400" indent="-177800">
              <a:spcAft>
                <a:spcPts val="400"/>
              </a:spcAft>
              <a:buFont typeface="+mj-lt"/>
              <a:buChar char="•"/>
            </a:pPr>
            <a:r>
              <a:rPr lang="en-US" sz="1280">
                <a:solidFill>
                  <a:srgbClr val="1E1E1E"/>
                </a:solidFill>
                <a:latin typeface="Arial" panose="020B0604020202020204" pitchFamily="34" charset="0"/>
              </a:rPr>
              <a:t>DRC 0 / 0 / 0, schematic = PCB</a:t>
            </a:r>
            <a:endParaRPr lang="sv-SE" sz="1280" dirty="0" err="1">
              <a:solidFill>
                <a:srgbClr val="1E1E1E"/>
              </a:solidFill>
              <a:latin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35885629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3FF9708-C713-EEE1-78E8-34A8D8BBE83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z="2100"/>
              <a:t>The two boards in 3D (KiCad models)</a:t>
            </a:r>
            <a:endParaRPr lang="sv-SE" sz="210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C4A06EB6-818F-407D-BD47-04C679102C6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sv-SE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F388E378-1D25-147B-01D5-8FDAC4CC296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422A9A3-8636-4A04-BD48-3153280FB086}" type="slidenum">
              <a:rPr lang="sv-SE" smtClean="0"/>
              <a:pPr/>
              <a:t>30</a:t>
            </a:fld>
            <a:endParaRPr lang="sv-SE"/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758E0181-9450-D6B1-158F-8E7AC7B6CA8F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24371" y="952500"/>
            <a:ext cx="4066134" cy="2857500"/>
          </a:xfrm>
          <a:prstGeom prst="rect">
            <a:avLst/>
          </a:prstGeom>
        </p:spPr>
      </p:pic>
      <p:pic>
        <p:nvPicPr>
          <p:cNvPr id="9" name="Picture 8">
            <a:extLst>
              <a:ext uri="{FF2B5EF4-FFF2-40B4-BE49-F238E27FC236}">
                <a16:creationId xmlns:a16="http://schemas.microsoft.com/office/drawing/2014/main" id="{170C56E1-A402-F400-9342-02198E2C8ADF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207048" y="952500"/>
            <a:ext cx="2968528" cy="2857500"/>
          </a:xfrm>
          <a:prstGeom prst="rect">
            <a:avLst/>
          </a:prstGeom>
        </p:spPr>
      </p:pic>
      <p:sp>
        <p:nvSpPr>
          <p:cNvPr id="10" name="TextBox 9">
            <a:extLst>
              <a:ext uri="{FF2B5EF4-FFF2-40B4-BE49-F238E27FC236}">
                <a16:creationId xmlns:a16="http://schemas.microsoft.com/office/drawing/2014/main" id="{A7B2C10F-CD9E-1E78-8FB6-3655BDBA21F9}"/>
              </a:ext>
            </a:extLst>
          </p:cNvPr>
          <p:cNvSpPr txBox="1"/>
          <p:nvPr/>
        </p:nvSpPr>
        <p:spPr>
          <a:xfrm>
            <a:off x="238125" y="3810000"/>
            <a:ext cx="4238625" cy="307777"/>
          </a:xfrm>
          <a:prstGeom prst="rect">
            <a:avLst/>
          </a:prstGeom>
          <a:noFill/>
        </p:spPr>
        <p:txBody>
          <a:bodyPr vert="horz" wrap="square" lIns="25400" tIns="0" rIns="0" bIns="0" rtlCol="0">
            <a:noAutofit/>
          </a:bodyPr>
          <a:lstStyle/>
          <a:p>
            <a:pPr algn="ctr"/>
            <a:r>
              <a:rPr lang="en-US" sz="1010">
                <a:solidFill>
                  <a:srgbClr val="787878"/>
                </a:solidFill>
                <a:latin typeface="Arial" panose="020B0604020202020204" pitchFamily="34" charset="0"/>
              </a:rPr>
              <a:t>DPT board: UFCS shunts over the LS FETs, M6 AC bolt + Cu bar</a:t>
            </a:r>
            <a:endParaRPr lang="sv-SE" sz="1010" dirty="0" err="1">
              <a:solidFill>
                <a:srgbClr val="787878"/>
              </a:solidFill>
              <a:latin typeface="Arial" panose="020B0604020202020204" pitchFamily="34" charset="0"/>
            </a:endParaRP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E0DEBC84-AD3C-5FD3-9DE8-E917C9E97212}"/>
              </a:ext>
            </a:extLst>
          </p:cNvPr>
          <p:cNvSpPr txBox="1"/>
          <p:nvPr/>
        </p:nvSpPr>
        <p:spPr>
          <a:xfrm>
            <a:off x="4572000" y="3810000"/>
            <a:ext cx="4238625" cy="307777"/>
          </a:xfrm>
          <a:prstGeom prst="rect">
            <a:avLst/>
          </a:prstGeom>
          <a:noFill/>
        </p:spPr>
        <p:txBody>
          <a:bodyPr vert="horz" wrap="square" lIns="25400" tIns="0" rIns="0" bIns="0" rtlCol="0">
            <a:noAutofit/>
          </a:bodyPr>
          <a:lstStyle/>
          <a:p>
            <a:pPr algn="ctr"/>
            <a:r>
              <a:rPr lang="en-US" sz="1010">
                <a:solidFill>
                  <a:srgbClr val="787878"/>
                </a:solidFill>
                <a:latin typeface="Arial" panose="020B0604020202020204" pitchFamily="34" charset="0"/>
              </a:rPr>
              <a:t>Load-test board: LAM 4 K 50 12 + Al spreader</a:t>
            </a:r>
            <a:endParaRPr lang="sv-SE" sz="1010" dirty="0" err="1">
              <a:solidFill>
                <a:srgbClr val="787878"/>
              </a:solidFill>
              <a:latin typeface="Arial" panose="020B0604020202020204" pitchFamily="34" charset="0"/>
            </a:endParaRP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E4059A2C-B4ED-B0C8-4D79-32C5F68D311B}"/>
              </a:ext>
            </a:extLst>
          </p:cNvPr>
          <p:cNvSpPr txBox="1"/>
          <p:nvPr/>
        </p:nvSpPr>
        <p:spPr>
          <a:xfrm>
            <a:off x="238125" y="4048125"/>
            <a:ext cx="8667750" cy="307777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pPr marL="406400" indent="-177800">
              <a:spcAft>
                <a:spcPts val="400"/>
              </a:spcAft>
              <a:buFont typeface="+mj-lt"/>
              <a:buChar char="•"/>
            </a:pPr>
            <a:r>
              <a:rPr lang="sv-SE" sz="1280">
                <a:solidFill>
                  <a:srgbClr val="1E1E1E"/>
                </a:solidFill>
                <a:latin typeface="Arial" panose="020B0604020202020204" pitchFamily="34" charset="0"/>
              </a:rPr>
              <a:t>Every footprint has a 3D model (KiCad library + box models: EPC2361, 2EDF7275K, UFCS, TDK 2220, WE-CNSW, M6 bolt + bar, heatsink); board STEPs in hardware/spb-bb-revb-*/fab; rendered with pyvista (scripts/render_3d.py)</a:t>
            </a:r>
            <a:endParaRPr lang="sv-SE" sz="1280" dirty="0" err="1">
              <a:solidFill>
                <a:srgbClr val="1E1E1E"/>
              </a:solidFill>
              <a:latin typeface="Arial" panose="020B0604020202020204" pitchFamily="34" charset="0"/>
            </a:endParaRP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404FC62A-7B2A-48CA-5475-D3C2F743185A}"/>
              </a:ext>
            </a:extLst>
          </p:cNvPr>
          <p:cNvSpPr txBox="1"/>
          <p:nvPr/>
        </p:nvSpPr>
        <p:spPr>
          <a:xfrm>
            <a:off x="228600" y="4597400"/>
            <a:ext cx="7874000" cy="307777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n-US" sz="730">
                <a:solidFill>
                  <a:srgbClr val="787878"/>
                </a:solidFill>
                <a:latin typeface="Arial" panose="020B0604020202020204" pitchFamily="34" charset="0"/>
              </a:rPr>
              <a:t>Box models are dimensioned envelopes, not manufacturer CAD (UFCS SMA jack position approximate).</a:t>
            </a:r>
            <a:endParaRPr lang="sv-SE" sz="730" dirty="0" err="1">
              <a:solidFill>
                <a:srgbClr val="787878"/>
              </a:solidFill>
              <a:latin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4137298682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FB5BA79-A3E8-5221-23D2-60EF1AD1386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z="2100"/>
              <a:t>Top view with the silkscreen: DPT and load-test boards</a:t>
            </a:r>
            <a:endParaRPr lang="sv-SE" sz="210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22863A99-95AC-12A5-320D-86F19C29696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sv-SE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648D9A8F-2BDF-8C41-014B-20EE919B585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422A9A3-8636-4A04-BD48-3153280FB086}" type="slidenum">
              <a:rPr lang="sv-SE" smtClean="0"/>
              <a:pPr/>
              <a:t>31</a:t>
            </a:fld>
            <a:endParaRPr lang="sv-SE"/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C208CBEA-29A1-188F-85B8-F01ACEFA6679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31467" y="952500"/>
            <a:ext cx="3499566" cy="3429000"/>
          </a:xfrm>
          <a:prstGeom prst="rect">
            <a:avLst/>
          </a:prstGeom>
        </p:spPr>
      </p:pic>
      <p:pic>
        <p:nvPicPr>
          <p:cNvPr id="9" name="Picture 8">
            <a:extLst>
              <a:ext uri="{FF2B5EF4-FFF2-40B4-BE49-F238E27FC236}">
                <a16:creationId xmlns:a16="http://schemas.microsoft.com/office/drawing/2014/main" id="{EDB07BFB-C44E-E2A9-AA42-42E798BB2A5E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099214" y="952500"/>
            <a:ext cx="3327071" cy="3429000"/>
          </a:xfrm>
          <a:prstGeom prst="rect">
            <a:avLst/>
          </a:prstGeom>
        </p:spPr>
      </p:pic>
      <p:sp>
        <p:nvSpPr>
          <p:cNvPr id="10" name="TextBox 9">
            <a:extLst>
              <a:ext uri="{FF2B5EF4-FFF2-40B4-BE49-F238E27FC236}">
                <a16:creationId xmlns:a16="http://schemas.microsoft.com/office/drawing/2014/main" id="{EECC3FD9-161E-169F-1B39-D1E834554104}"/>
              </a:ext>
            </a:extLst>
          </p:cNvPr>
          <p:cNvSpPr txBox="1"/>
          <p:nvPr/>
        </p:nvSpPr>
        <p:spPr>
          <a:xfrm>
            <a:off x="238125" y="4429125"/>
            <a:ext cx="4286250" cy="307777"/>
          </a:xfrm>
          <a:prstGeom prst="rect">
            <a:avLst/>
          </a:prstGeom>
          <a:noFill/>
        </p:spPr>
        <p:txBody>
          <a:bodyPr vert="horz" wrap="square" lIns="25400" tIns="0" rIns="0" bIns="0" rtlCol="0">
            <a:noAutofit/>
          </a:bodyPr>
          <a:lstStyle/>
          <a:p>
            <a:pPr algn="ctr"/>
            <a:r>
              <a:rPr lang="en-US" sz="1190">
                <a:solidFill>
                  <a:srgbClr val="787878"/>
                </a:solidFill>
                <a:latin typeface="Arial" panose="020B0604020202020204" pitchFamily="34" charset="0"/>
              </a:rPr>
              <a:t>DPT board (UFCS shunts over the LS FETs)</a:t>
            </a:r>
            <a:endParaRPr lang="sv-SE" sz="1190" dirty="0" err="1">
              <a:solidFill>
                <a:srgbClr val="787878"/>
              </a:solidFill>
              <a:latin typeface="Arial" panose="020B0604020202020204" pitchFamily="34" charset="0"/>
            </a:endParaRP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14F729FA-8DDD-5E3A-FA70-ADF5E59AFB23}"/>
              </a:ext>
            </a:extLst>
          </p:cNvPr>
          <p:cNvSpPr txBox="1"/>
          <p:nvPr/>
        </p:nvSpPr>
        <p:spPr>
          <a:xfrm>
            <a:off x="4619625" y="4429125"/>
            <a:ext cx="4286250" cy="307777"/>
          </a:xfrm>
          <a:prstGeom prst="rect">
            <a:avLst/>
          </a:prstGeom>
          <a:noFill/>
        </p:spPr>
        <p:txBody>
          <a:bodyPr vert="horz" wrap="square" lIns="25400" tIns="0" rIns="0" bIns="0" rtlCol="0">
            <a:noAutofit/>
          </a:bodyPr>
          <a:lstStyle/>
          <a:p>
            <a:pPr algn="ctr"/>
            <a:r>
              <a:rPr lang="en-US" sz="1190">
                <a:solidFill>
                  <a:srgbClr val="787878"/>
                </a:solidFill>
                <a:latin typeface="Arial" panose="020B0604020202020204" pitchFamily="34" charset="0"/>
              </a:rPr>
              <a:t>load-test board (heatsink removed for the view)</a:t>
            </a:r>
            <a:endParaRPr lang="sv-SE" sz="1190" dirty="0" err="1">
              <a:solidFill>
                <a:srgbClr val="787878"/>
              </a:solidFill>
              <a:latin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891434202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3318466-45F3-D38A-74F6-81456B75FA0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z="2100"/>
              <a:t>Bottom side and the load board without heatsink</a:t>
            </a:r>
            <a:endParaRPr lang="sv-SE" sz="210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BDB02F71-331C-112A-B71A-DE84557C521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sv-SE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6B758CE9-0393-A6C1-E9C8-AA1D3258B49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422A9A3-8636-4A04-BD48-3153280FB086}" type="slidenum">
              <a:rPr lang="sv-SE" smtClean="0"/>
              <a:pPr/>
              <a:t>32</a:t>
            </a:fld>
            <a:endParaRPr lang="sv-SE"/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39AB775C-1552-4417-1797-B17B63872615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29759" y="952500"/>
            <a:ext cx="3855357" cy="2857500"/>
          </a:xfrm>
          <a:prstGeom prst="rect">
            <a:avLst/>
          </a:prstGeom>
        </p:spPr>
      </p:pic>
      <p:pic>
        <p:nvPicPr>
          <p:cNvPr id="9" name="Picture 8">
            <a:extLst>
              <a:ext uri="{FF2B5EF4-FFF2-40B4-BE49-F238E27FC236}">
                <a16:creationId xmlns:a16="http://schemas.microsoft.com/office/drawing/2014/main" id="{388653B6-BF61-4D7D-8AE3-E0E7825D0736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658246" y="952500"/>
            <a:ext cx="4066134" cy="2857500"/>
          </a:xfrm>
          <a:prstGeom prst="rect">
            <a:avLst/>
          </a:prstGeom>
        </p:spPr>
      </p:pic>
      <p:sp>
        <p:nvSpPr>
          <p:cNvPr id="10" name="TextBox 9">
            <a:extLst>
              <a:ext uri="{FF2B5EF4-FFF2-40B4-BE49-F238E27FC236}">
                <a16:creationId xmlns:a16="http://schemas.microsoft.com/office/drawing/2014/main" id="{1EEEEC86-1933-2B43-5351-305D83AB8823}"/>
              </a:ext>
            </a:extLst>
          </p:cNvPr>
          <p:cNvSpPr txBox="1"/>
          <p:nvPr/>
        </p:nvSpPr>
        <p:spPr>
          <a:xfrm>
            <a:off x="238125" y="3905250"/>
            <a:ext cx="8667750" cy="307777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pPr marL="406400" indent="-177800">
              <a:spcAft>
                <a:spcPts val="400"/>
              </a:spcAft>
              <a:buFont typeface="+mj-lt"/>
              <a:buChar char="•"/>
            </a:pPr>
            <a:r>
              <a:rPr lang="en-US" sz="1280">
                <a:solidFill>
                  <a:srgbClr val="1E1E1E"/>
                </a:solidFill>
                <a:latin typeface="Arial" panose="020B0604020202020204" pitchFamily="34" charset="0"/>
              </a:rPr>
              <a:t>Bottom: REDCUBE M4 DC terminals (the leg stands on the busbar), 4 bypass 0805 per cell, U.FL V</a:t>
            </a:r>
            <a:r>
              <a:rPr lang="en-US" sz="1280" baseline="-25000">
                <a:solidFill>
                  <a:srgbClr val="1E1E1E"/>
                </a:solidFill>
                <a:latin typeface="Arial" panose="020B0604020202020204" pitchFamily="34" charset="0"/>
              </a:rPr>
              <a:t>GS</a:t>
            </a:r>
            <a:r>
              <a:rPr lang="en-US" sz="1280">
                <a:solidFill>
                  <a:srgbClr val="1E1E1E"/>
                </a:solidFill>
                <a:latin typeface="Arial" panose="020B0604020202020204" pitchFamily="34" charset="0"/>
              </a:rPr>
              <a:t> and MMCX V</a:t>
            </a:r>
            <a:r>
              <a:rPr lang="en-US" sz="1280" baseline="-25000">
                <a:solidFill>
                  <a:srgbClr val="1E1E1E"/>
                </a:solidFill>
                <a:latin typeface="Arial" panose="020B0604020202020204" pitchFamily="34" charset="0"/>
              </a:rPr>
              <a:t>DS</a:t>
            </a:r>
            <a:r>
              <a:rPr lang="en-US" sz="1280">
                <a:solidFill>
                  <a:srgbClr val="1E1E1E"/>
                </a:solidFill>
                <a:latin typeface="Arial" panose="020B0604020202020204" pitchFamily="34" charset="0"/>
              </a:rPr>
              <a:t> ports, M6 AC nut</a:t>
            </a:r>
          </a:p>
          <a:p>
            <a:pPr marL="406400" indent="-177800">
              <a:spcAft>
                <a:spcPts val="400"/>
              </a:spcAft>
              <a:buFont typeface="+mj-lt"/>
              <a:buChar char="•"/>
            </a:pPr>
            <a:r>
              <a:rPr lang="en-US" sz="1280">
                <a:solidFill>
                  <a:srgbClr val="1E1E1E"/>
                </a:solidFill>
                <a:latin typeface="Arial" panose="020B0604020202020204" pitchFamily="34" charset="0"/>
              </a:rPr>
              <a:t>Top without heatsink: 20 × 2220 bank in two rows, 8 EPC2361 under the spreader pedestals, 2 drivers</a:t>
            </a:r>
            <a:endParaRPr lang="sv-SE" sz="1280" dirty="0" err="1">
              <a:solidFill>
                <a:srgbClr val="1E1E1E"/>
              </a:solidFill>
              <a:latin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4059622124"/>
      </p:ext>
    </p:extLst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1CC9D10-0ADA-91B3-A679-7E6AC35F1CE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z="2100"/>
              <a:t>Two driver pairs on one switch node: driver skew</a:t>
            </a:r>
            <a:endParaRPr lang="sv-SE" sz="210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E22A5D8D-6C94-AC26-6F07-F07749ED847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sv-SE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AA873C5C-AB32-3489-0D16-DB58857E429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422A9A3-8636-4A04-BD48-3153280FB086}" type="slidenum">
              <a:rPr lang="sv-SE" smtClean="0"/>
              <a:pPr/>
              <a:t>33</a:t>
            </a:fld>
            <a:endParaRPr lang="sv-SE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D7B0A1AC-2BF3-C897-DB5D-72195EA4B9E3}"/>
              </a:ext>
            </a:extLst>
          </p:cNvPr>
          <p:cNvSpPr txBox="1"/>
          <p:nvPr/>
        </p:nvSpPr>
        <p:spPr>
          <a:xfrm>
            <a:off x="238125" y="952500"/>
            <a:ext cx="4953000" cy="307777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pPr marL="406400" indent="-177800">
              <a:spcAft>
                <a:spcPts val="400"/>
              </a:spcAft>
              <a:buFont typeface="+mj-lt"/>
              <a:buChar char="•"/>
            </a:pPr>
            <a:r>
              <a:rPr lang="en-US" sz="1280">
                <a:solidFill>
                  <a:srgbClr val="1E1E1E"/>
                </a:solidFill>
                <a:latin typeface="Arial" panose="020B0604020202020204" pitchFamily="34" charset="0"/>
              </a:rPr>
              <a:t>The four switch nodes are joined in copper; L</a:t>
            </a:r>
            <a:r>
              <a:rPr lang="en-US" sz="1280" baseline="-25000">
                <a:solidFill>
                  <a:srgbClr val="1E1E1E"/>
                </a:solidFill>
                <a:latin typeface="Arial" panose="020B0604020202020204" pitchFamily="34" charset="0"/>
              </a:rPr>
              <a:t>x</a:t>
            </a:r>
            <a:r>
              <a:rPr lang="en-US" sz="1280">
                <a:solidFill>
                  <a:srgbClr val="1E1E1E"/>
                </a:solidFill>
                <a:latin typeface="Arial" panose="020B0604020202020204" pitchFamily="34" charset="0"/>
              </a:rPr>
              <a:t> = inductance between the switch nodes of the two driver pairs</a:t>
            </a:r>
          </a:p>
          <a:p>
            <a:pPr marL="406400" indent="-177800">
              <a:spcAft>
                <a:spcPts val="400"/>
              </a:spcAft>
              <a:buFont typeface="+mj-lt"/>
              <a:buChar char="•"/>
            </a:pPr>
            <a:r>
              <a:rPr lang="en-US" sz="1280">
                <a:solidFill>
                  <a:srgbClr val="1E1E1E"/>
                </a:solidFill>
                <a:latin typeface="Arial" panose="020B0604020202020204" pitchFamily="34" charset="0"/>
              </a:rPr>
              <a:t>If driver 2 switches Δt later, pair 1 takes ΔI ≈ V</a:t>
            </a:r>
            <a:r>
              <a:rPr lang="en-US" sz="1280" baseline="-25000">
                <a:solidFill>
                  <a:srgbClr val="1E1E1E"/>
                </a:solidFill>
                <a:latin typeface="Arial" panose="020B0604020202020204" pitchFamily="34" charset="0"/>
              </a:rPr>
              <a:t>m</a:t>
            </a:r>
            <a:r>
              <a:rPr lang="en-US" sz="1280">
                <a:solidFill>
                  <a:srgbClr val="1E1E1E"/>
                </a:solidFill>
                <a:latin typeface="Arial" panose="020B0604020202020204" pitchFamily="34" charset="0"/>
              </a:rPr>
              <a:t>·Δt / L</a:t>
            </a:r>
            <a:r>
              <a:rPr lang="en-US" sz="1280" baseline="-25000">
                <a:solidFill>
                  <a:srgbClr val="1E1E1E"/>
                </a:solidFill>
                <a:latin typeface="Arial" panose="020B0604020202020204" pitchFamily="34" charset="0"/>
              </a:rPr>
              <a:t>x</a:t>
            </a:r>
            <a:r>
              <a:rPr lang="en-US" sz="1280">
                <a:solidFill>
                  <a:srgbClr val="1E1E1E"/>
                </a:solidFill>
                <a:latin typeface="Arial" panose="020B0604020202020204" pitchFamily="34" charset="0"/>
              </a:rPr>
              <a:t> until pair 2 follows</a:t>
            </a:r>
          </a:p>
          <a:p>
            <a:pPr marL="406400" indent="-177800">
              <a:spcAft>
                <a:spcPts val="400"/>
              </a:spcAft>
              <a:buFont typeface="+mj-lt"/>
              <a:buChar char="•"/>
            </a:pPr>
            <a:r>
              <a:rPr lang="en-US" sz="1280">
                <a:solidFill>
                  <a:srgbClr val="1E1E1E"/>
                </a:solidFill>
                <a:latin typeface="Arial" panose="020B0604020202020204" pitchFamily="34" charset="0"/>
              </a:rPr>
              <a:t>Q3D (fast lx model, final boards): L</a:t>
            </a:r>
            <a:r>
              <a:rPr lang="en-US" sz="1280" baseline="-25000">
                <a:solidFill>
                  <a:srgbClr val="1E1E1E"/>
                </a:solidFill>
                <a:latin typeface="Arial" panose="020B0604020202020204" pitchFamily="34" charset="0"/>
              </a:rPr>
              <a:t>x</a:t>
            </a:r>
            <a:r>
              <a:rPr lang="en-US" sz="1280">
                <a:solidFill>
                  <a:srgbClr val="1E1E1E"/>
                </a:solidFill>
                <a:latin typeface="Arial" panose="020B0604020202020204" pitchFamily="34" charset="0"/>
              </a:rPr>
              <a:t> = </a:t>
            </a:r>
            <a:r>
              <a:rPr lang="en-US" sz="1280" b="1">
                <a:solidFill>
                  <a:srgbClr val="1E1E1E"/>
                </a:solidFill>
                <a:latin typeface="Arial" panose="020B0604020202020204" pitchFamily="34" charset="0"/>
              </a:rPr>
              <a:t>6.77 nH</a:t>
            </a:r>
            <a:r>
              <a:rPr lang="en-US" sz="1280">
                <a:solidFill>
                  <a:srgbClr val="1E1E1E"/>
                </a:solidFill>
                <a:latin typeface="Arial" panose="020B0604020202020204" pitchFamily="34" charset="0"/>
              </a:rPr>
              <a:t> (HS on) / </a:t>
            </a:r>
            <a:r>
              <a:rPr lang="en-US" sz="1280" b="1">
                <a:solidFill>
                  <a:srgbClr val="1E1E1E"/>
                </a:solidFill>
                <a:latin typeface="Arial" panose="020B0604020202020204" pitchFamily="34" charset="0"/>
              </a:rPr>
              <a:t>5.44 nH</a:t>
            </a:r>
            <a:r>
              <a:rPr lang="en-US" sz="1280">
                <a:solidFill>
                  <a:srgbClr val="1E1E1E"/>
                </a:solidFill>
                <a:latin typeface="Arial" panose="020B0604020202020204" pitchFamily="34" charset="0"/>
              </a:rPr>
              <a:t> (LS on) on the load board, 4.91 / 2.68 nH on the DPT board</a:t>
            </a:r>
          </a:p>
          <a:p>
            <a:pPr marL="406400" indent="-177800">
              <a:spcAft>
                <a:spcPts val="400"/>
              </a:spcAft>
              <a:buFont typeface="+mj-lt"/>
              <a:buChar char="•"/>
            </a:pPr>
            <a:r>
              <a:rPr lang="en-US" sz="1280">
                <a:solidFill>
                  <a:srgbClr val="1E1E1E"/>
                </a:solidFill>
                <a:latin typeface="Arial" panose="020B0604020202020204" pitchFamily="34" charset="0"/>
              </a:rPr>
              <a:t>⇒ </a:t>
            </a:r>
            <a:r>
              <a:rPr lang="en-US" sz="1280" b="1">
                <a:solidFill>
                  <a:srgbClr val="1E1E1E"/>
                </a:solidFill>
                <a:latin typeface="Arial" panose="020B0604020202020204" pitchFamily="34" charset="0"/>
              </a:rPr>
              <a:t>≈ 14 A per ns of skew</a:t>
            </a:r>
            <a:r>
              <a:rPr lang="en-US" sz="1280">
                <a:solidFill>
                  <a:srgbClr val="1E1E1E"/>
                </a:solidFill>
                <a:latin typeface="Arial" panose="020B0604020202020204" pitchFamily="34" charset="0"/>
              </a:rPr>
              <a:t> (load board)</a:t>
            </a:r>
            <a:endParaRPr lang="sv-SE" sz="1280" dirty="0" err="1">
              <a:solidFill>
                <a:srgbClr val="1E1E1E"/>
              </a:solidFill>
              <a:latin typeface="Arial" panose="020B0604020202020204" pitchFamily="34" charset="0"/>
            </a:endParaRPr>
          </a:p>
        </p:txBody>
      </p:sp>
      <p:graphicFrame>
        <p:nvGraphicFramePr>
          <p:cNvPr id="7" name="Table 6">
            <a:extLst>
              <a:ext uri="{FF2B5EF4-FFF2-40B4-BE49-F238E27FC236}">
                <a16:creationId xmlns:a16="http://schemas.microsoft.com/office/drawing/2014/main" id="{1B846C60-4132-BB82-EB14-9C48747C6CCE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875945454"/>
              </p:ext>
            </p:extLst>
          </p:nvPr>
        </p:nvGraphicFramePr>
        <p:xfrm>
          <a:off x="5429251" y="1047750"/>
          <a:ext cx="3381375" cy="104775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238250">
                  <a:extLst>
                    <a:ext uri="{9D8B030D-6E8A-4147-A177-3AD203B41FA5}">
                      <a16:colId xmlns:a16="http://schemas.microsoft.com/office/drawing/2014/main" val="1219934432"/>
                    </a:ext>
                  </a:extLst>
                </a:gridCol>
                <a:gridCol w="2143125">
                  <a:extLst>
                    <a:ext uri="{9D8B030D-6E8A-4147-A177-3AD203B41FA5}">
                      <a16:colId xmlns:a16="http://schemas.microsoft.com/office/drawing/2014/main" val="262689833"/>
                    </a:ext>
                  </a:extLst>
                </a:gridCol>
              </a:tblGrid>
              <a:tr h="165100">
                <a:tc>
                  <a:txBody>
                    <a:bodyPr/>
                    <a:lstStyle/>
                    <a:p>
                      <a:pPr algn="l"/>
                      <a:r>
                        <a:rPr lang="sv-SE" sz="1190" b="1">
                          <a:solidFill>
                            <a:srgbClr val="FFFFFF"/>
                          </a:solidFill>
                          <a:latin typeface="Arial" panose="020B0604020202020204" pitchFamily="34" charset="0"/>
                        </a:rPr>
                        <a:t>Measure</a:t>
                      </a:r>
                    </a:p>
                  </a:txBody>
                  <a:tcPr marL="50800" marR="50800" marT="25400" marB="25400">
                    <a:solidFill>
                      <a:srgbClr val="1954A6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sv-SE" sz="1190" b="1">
                          <a:solidFill>
                            <a:srgbClr val="FFFFFF"/>
                          </a:solidFill>
                          <a:latin typeface="Arial" panose="020B0604020202020204" pitchFamily="34" charset="0"/>
                        </a:rPr>
                        <a:t>Rev B</a:t>
                      </a:r>
                    </a:p>
                  </a:txBody>
                  <a:tcPr marL="50800" marR="50800" marT="25400" marB="25400">
                    <a:solidFill>
                      <a:srgbClr val="1954A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656982927"/>
                  </a:ext>
                </a:extLst>
              </a:tr>
              <a:tr h="165100">
                <a:tc>
                  <a:txBody>
                    <a:bodyPr/>
                    <a:lstStyle/>
                    <a:p>
                      <a:pPr algn="l"/>
                      <a:r>
                        <a:rPr lang="sv-SE" sz="119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One PWM source</a:t>
                      </a:r>
                    </a:p>
                  </a:txBody>
                  <a:tcPr marL="50800" marR="50800" marT="25400" marB="25400"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sv-SE" sz="119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C2000 drives both headers</a:t>
                      </a:r>
                    </a:p>
                  </a:txBody>
                  <a:tcPr marL="50800" marR="50800" marT="25400" marB="25400">
                    <a:solidFill>
                      <a:srgbClr val="E8EF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814665759"/>
                  </a:ext>
                </a:extLst>
              </a:tr>
              <a:tr h="165100">
                <a:tc>
                  <a:txBody>
                    <a:bodyPr/>
                    <a:lstStyle/>
                    <a:p>
                      <a:pPr algn="l"/>
                      <a:r>
                        <a:rPr lang="sv-SE" sz="119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Matched traces</a:t>
                      </a:r>
                    </a:p>
                  </a:txBody>
                  <a:tcPr marL="50800" marR="508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19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same PCB, same CMC per block</a:t>
                      </a:r>
                      <a:endParaRPr lang="sv-SE" sz="1190">
                        <a:solidFill>
                          <a:srgbClr val="1E1E1E"/>
                        </a:solidFill>
                        <a:latin typeface="Arial" panose="020B0604020202020204" pitchFamily="34" charset="0"/>
                      </a:endParaRPr>
                    </a:p>
                  </a:txBody>
                  <a:tcPr marL="50800" marR="50800" marT="25400" marB="25400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876844846"/>
                  </a:ext>
                </a:extLst>
              </a:tr>
              <a:tr h="165100">
                <a:tc>
                  <a:txBody>
                    <a:bodyPr/>
                    <a:lstStyle/>
                    <a:p>
                      <a:pPr algn="l"/>
                      <a:r>
                        <a:rPr lang="sv-SE" sz="119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Driver skew</a:t>
                      </a:r>
                    </a:p>
                  </a:txBody>
                  <a:tcPr marL="50800" marR="50800" marT="25400" marB="25400"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sv-SE" sz="119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2EDF7275K part-to-part: check datasheet</a:t>
                      </a:r>
                    </a:p>
                  </a:txBody>
                  <a:tcPr marL="50800" marR="50800" marT="25400" marB="25400">
                    <a:solidFill>
                      <a:srgbClr val="E8EF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433022612"/>
                  </a:ext>
                </a:extLst>
              </a:tr>
              <a:tr h="165100">
                <a:tc>
                  <a:txBody>
                    <a:bodyPr/>
                    <a:lstStyle/>
                    <a:p>
                      <a:pPr algn="l"/>
                      <a:r>
                        <a:rPr lang="sv-SE" sz="119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Verify</a:t>
                      </a:r>
                    </a:p>
                  </a:txBody>
                  <a:tcPr marL="50800" marR="508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19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U.FL V</a:t>
                      </a:r>
                      <a:r>
                        <a:rPr lang="en-US" sz="1190" baseline="-2500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GS</a:t>
                      </a:r>
                      <a:r>
                        <a:rPr lang="en-US" sz="119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 of both blocks, UFCS per cell (DPT)</a:t>
                      </a:r>
                      <a:endParaRPr lang="sv-SE" sz="1190">
                        <a:solidFill>
                          <a:srgbClr val="1E1E1E"/>
                        </a:solidFill>
                        <a:latin typeface="Arial" panose="020B0604020202020204" pitchFamily="34" charset="0"/>
                      </a:endParaRPr>
                    </a:p>
                  </a:txBody>
                  <a:tcPr marL="50800" marR="50800" marT="25400" marB="25400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584614073"/>
                  </a:ext>
                </a:extLst>
              </a:tr>
            </a:tbl>
          </a:graphicData>
        </a:graphic>
      </p:graphicFrame>
      <p:pic>
        <p:nvPicPr>
          <p:cNvPr id="9" name="Picture 8">
            <a:extLst>
              <a:ext uri="{FF2B5EF4-FFF2-40B4-BE49-F238E27FC236}">
                <a16:creationId xmlns:a16="http://schemas.microsoft.com/office/drawing/2014/main" id="{4FA08C90-A863-B08B-1F1E-0D6624FE5E44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429250" y="2905125"/>
            <a:ext cx="3476625" cy="2172891"/>
          </a:xfrm>
          <a:prstGeom prst="rect">
            <a:avLst/>
          </a:prstGeom>
        </p:spPr>
      </p:pic>
      <p:sp>
        <p:nvSpPr>
          <p:cNvPr id="10" name="decision">
            <a:extLst>
              <a:ext uri="{FF2B5EF4-FFF2-40B4-BE49-F238E27FC236}">
                <a16:creationId xmlns:a16="http://schemas.microsoft.com/office/drawing/2014/main" id="{22306037-A63D-1CF9-BF2F-792D7CC437F0}"/>
              </a:ext>
            </a:extLst>
          </p:cNvPr>
          <p:cNvSpPr/>
          <p:nvPr/>
        </p:nvSpPr>
        <p:spPr>
          <a:xfrm>
            <a:off x="238125" y="4400550"/>
            <a:ext cx="5048250" cy="381000"/>
          </a:xfrm>
          <a:prstGeom prst="roundRect">
            <a:avLst/>
          </a:prstGeom>
          <a:solidFill>
            <a:srgbClr val="EEF4FB"/>
          </a:solidFill>
          <a:ln w="158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101600" tIns="25400" bIns="25400" rtlCol="0" anchor="ctr">
            <a:noAutofit/>
          </a:bodyPr>
          <a:lstStyle/>
          <a:p>
            <a:r>
              <a:rPr lang="en-US" sz="1380" b="1">
                <a:solidFill>
                  <a:srgbClr val="1E1E1E"/>
                </a:solidFill>
                <a:latin typeface="Arial" panose="020B0604020202020204" pitchFamily="34" charset="0"/>
              </a:rPr>
              <a:t>Decision:</a:t>
            </a:r>
            <a:r>
              <a:rPr lang="en-US" sz="1380">
                <a:solidFill>
                  <a:srgbClr val="1E1E1E"/>
                </a:solidFill>
                <a:latin typeface="Arial" panose="020B0604020202020204" pitchFamily="34" charset="0"/>
              </a:rPr>
              <a:t> Measure the per-cell current (UFCS) with both drivers switching; delay trim in the C2000 if needed</a:t>
            </a:r>
            <a:endParaRPr lang="sv-SE" sz="1380" dirty="0">
              <a:solidFill>
                <a:srgbClr val="1E1E1E"/>
              </a:solidFill>
              <a:latin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780730996"/>
      </p:ext>
    </p:extLst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74E7CD9-4E03-C001-EDA0-6647A540A23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z="2100"/>
              <a:t>Gate supplies: two isolated supplies, Zener split</a:t>
            </a:r>
            <a:endParaRPr lang="sv-SE" sz="210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DD601924-9F18-3DE1-6BF1-F8F70B43FA0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sv-SE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F394C82D-3DBD-9DCA-1199-AF8A5F453FE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422A9A3-8636-4A04-BD48-3153280FB086}" type="slidenum">
              <a:rPr lang="sv-SE" smtClean="0"/>
              <a:pPr/>
              <a:t>34</a:t>
            </a:fld>
            <a:endParaRPr lang="sv-SE"/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3DF3D53F-1DC9-43DA-BF75-B3E545BB849C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38125" y="952500"/>
            <a:ext cx="5334000" cy="1576157"/>
          </a:xfrm>
          <a:prstGeom prst="rect">
            <a:avLst/>
          </a:prstGeom>
        </p:spPr>
      </p:pic>
      <p:sp>
        <p:nvSpPr>
          <p:cNvPr id="8" name="TextBox 7">
            <a:extLst>
              <a:ext uri="{FF2B5EF4-FFF2-40B4-BE49-F238E27FC236}">
                <a16:creationId xmlns:a16="http://schemas.microsoft.com/office/drawing/2014/main" id="{2DD39E57-34AA-EEC8-4283-9A99C9BD4E7C}"/>
              </a:ext>
            </a:extLst>
          </p:cNvPr>
          <p:cNvSpPr txBox="1"/>
          <p:nvPr/>
        </p:nvSpPr>
        <p:spPr>
          <a:xfrm>
            <a:off x="5381625" y="952500"/>
            <a:ext cx="3429000" cy="307777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pPr marL="406400" indent="-177800">
              <a:spcAft>
                <a:spcPts val="400"/>
              </a:spcAft>
              <a:buFont typeface="+mj-lt"/>
              <a:buChar char="•"/>
            </a:pPr>
            <a:r>
              <a:rPr lang="sv-SE" sz="1380">
                <a:solidFill>
                  <a:srgbClr val="1E1E1E"/>
                </a:solidFill>
                <a:latin typeface="Arial" panose="020B0604020202020204" pitchFamily="34" charset="0"/>
              </a:rPr>
              <a:t>One external isolated supply for all HS drivers and one for all LS drivers; each splits per driver through a WE-CNSW common-mode choke</a:t>
            </a:r>
          </a:p>
          <a:p>
            <a:pPr marL="406400" indent="-177800">
              <a:spcAft>
                <a:spcPts val="400"/>
              </a:spcAft>
              <a:buFont typeface="+mj-lt"/>
              <a:buChar char="•"/>
            </a:pPr>
            <a:r>
              <a:rPr lang="sv-SE" sz="1380">
                <a:solidFill>
                  <a:srgbClr val="1E1E1E"/>
                </a:solidFill>
                <a:latin typeface="Arial" panose="020B0604020202020204" pitchFamily="34" charset="0"/>
              </a:rPr>
              <a:t>5.1 V Zener VDD–S and 150 </a:t>
            </a:r>
            <a:r>
              <a:rPr lang="el-GR" sz="1380">
                <a:solidFill>
                  <a:srgbClr val="1E1E1E"/>
                </a:solidFill>
                <a:latin typeface="Arial" panose="020B0604020202020204" pitchFamily="34" charset="0"/>
              </a:rPr>
              <a:t>Ω </a:t>
            </a:r>
            <a:r>
              <a:rPr lang="sv-SE" sz="1380">
                <a:solidFill>
                  <a:srgbClr val="1E1E1E"/>
                </a:solidFill>
                <a:latin typeface="Arial" panose="020B0604020202020204" pitchFamily="34" charset="0"/>
              </a:rPr>
              <a:t>bias resistor S–VEE (Karakaya, METU 2020, Fig. 4.1): V</a:t>
            </a:r>
            <a:r>
              <a:rPr lang="sv-SE" sz="1380" baseline="-25000">
                <a:solidFill>
                  <a:srgbClr val="1E1E1E"/>
                </a:solidFill>
                <a:latin typeface="Arial" panose="020B0604020202020204" pitchFamily="34" charset="0"/>
              </a:rPr>
              <a:t>GS,on</a:t>
            </a:r>
            <a:r>
              <a:rPr lang="sv-SE" sz="1380">
                <a:solidFill>
                  <a:srgbClr val="1E1E1E"/>
                </a:solidFill>
                <a:latin typeface="Arial" panose="020B0604020202020204" pitchFamily="34" charset="0"/>
              </a:rPr>
              <a:t> = +5.1 V, V</a:t>
            </a:r>
            <a:r>
              <a:rPr lang="sv-SE" sz="1380" baseline="-25000">
                <a:solidFill>
                  <a:srgbClr val="1E1E1E"/>
                </a:solidFill>
                <a:latin typeface="Arial" panose="020B0604020202020204" pitchFamily="34" charset="0"/>
              </a:rPr>
              <a:t>GS,off</a:t>
            </a:r>
            <a:r>
              <a:rPr lang="sv-SE" sz="1380">
                <a:solidFill>
                  <a:srgbClr val="1E1E1E"/>
                </a:solidFill>
                <a:latin typeface="Arial" panose="020B0604020202020204" pitchFamily="34" charset="0"/>
              </a:rPr>
              <a:t> = −(V</a:t>
            </a:r>
            <a:r>
              <a:rPr lang="sv-SE" sz="1380" baseline="-25000">
                <a:solidFill>
                  <a:srgbClr val="1E1E1E"/>
                </a:solidFill>
                <a:latin typeface="Arial" panose="020B0604020202020204" pitchFamily="34" charset="0"/>
              </a:rPr>
              <a:t>ISO</a:t>
            </a:r>
            <a:r>
              <a:rPr lang="sv-SE" sz="1380">
                <a:solidFill>
                  <a:srgbClr val="1E1E1E"/>
                </a:solidFill>
                <a:latin typeface="Arial" panose="020B0604020202020204" pitchFamily="34" charset="0"/>
              </a:rPr>
              <a:t> − 5.1 V)</a:t>
            </a:r>
          </a:p>
          <a:p>
            <a:pPr marL="406400" indent="-177800">
              <a:spcAft>
                <a:spcPts val="400"/>
              </a:spcAft>
              <a:buFont typeface="+mj-lt"/>
              <a:buChar char="•"/>
            </a:pPr>
            <a:r>
              <a:rPr lang="sv-SE" sz="1380">
                <a:solidFill>
                  <a:srgbClr val="1E1E1E"/>
                </a:solidFill>
                <a:latin typeface="Arial" panose="020B0604020202020204" pitchFamily="34" charset="0"/>
              </a:rPr>
              <a:t>V</a:t>
            </a:r>
            <a:r>
              <a:rPr lang="sv-SE" sz="1380" baseline="-25000">
                <a:solidFill>
                  <a:srgbClr val="1E1E1E"/>
                </a:solidFill>
                <a:latin typeface="Arial" panose="020B0604020202020204" pitchFamily="34" charset="0"/>
              </a:rPr>
              <a:t>ISO</a:t>
            </a:r>
            <a:r>
              <a:rPr lang="sv-SE" sz="1380">
                <a:solidFill>
                  <a:srgbClr val="1E1E1E"/>
                </a:solidFill>
                <a:latin typeface="Arial" panose="020B0604020202020204" pitchFamily="34" charset="0"/>
              </a:rPr>
              <a:t> = 7.0 V ⇒ −1.9 V off (bump mitigation, inside the −4 V limit); island decoupling 1 µF + 4.7 µF per rail</a:t>
            </a:r>
            <a:endParaRPr lang="sv-SE" sz="1380" dirty="0" err="1">
              <a:solidFill>
                <a:srgbClr val="1E1E1E"/>
              </a:solidFill>
              <a:latin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4190679857"/>
      </p:ext>
    </p:extLst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E1A1B5E-34FD-5FF5-741F-C9F2C6C204C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z="1800"/>
              <a:t>Driver block: input filters, turn-on / turn-off paths, star</a:t>
            </a:r>
            <a:endParaRPr lang="sv-SE" sz="180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68C05F4C-FF6C-8C54-A5CA-B2AC5B23989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sv-SE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EC31E377-B56D-5A37-E2B9-9F3D02B0C7A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422A9A3-8636-4A04-BD48-3153280FB086}" type="slidenum">
              <a:rPr lang="sv-SE" smtClean="0"/>
              <a:pPr/>
              <a:t>35</a:t>
            </a:fld>
            <a:endParaRPr lang="sv-SE"/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95231357-4A51-9B38-4AE9-44AC18A36D5A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06105" y="952500"/>
            <a:ext cx="7531789" cy="2476500"/>
          </a:xfrm>
          <a:prstGeom prst="rect">
            <a:avLst/>
          </a:prstGeom>
        </p:spPr>
      </p:pic>
      <p:sp>
        <p:nvSpPr>
          <p:cNvPr id="8" name="TextBox 7">
            <a:extLst>
              <a:ext uri="{FF2B5EF4-FFF2-40B4-BE49-F238E27FC236}">
                <a16:creationId xmlns:a16="http://schemas.microsoft.com/office/drawing/2014/main" id="{E2DC0782-2128-BDCD-7993-86C5ECDF9D90}"/>
              </a:ext>
            </a:extLst>
          </p:cNvPr>
          <p:cNvSpPr txBox="1"/>
          <p:nvPr/>
        </p:nvSpPr>
        <p:spPr>
          <a:xfrm>
            <a:off x="238125" y="3524250"/>
            <a:ext cx="8667750" cy="307777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pPr marL="406400" indent="-177800">
              <a:spcAft>
                <a:spcPts val="400"/>
              </a:spcAft>
              <a:buFont typeface="+mj-lt"/>
              <a:buChar char="•"/>
            </a:pPr>
            <a:r>
              <a:rPr lang="sv-SE" sz="1380">
                <a:solidFill>
                  <a:srgbClr val="1E1E1E"/>
                </a:solidFill>
                <a:latin typeface="Arial" panose="020B0604020202020204" pitchFamily="34" charset="0"/>
              </a:rPr>
              <a:t>Per block a 2×3 control header (12 V, GND, PWM_H, PWM_L, DIS) with common-mode chokes on each pair</a:t>
            </a:r>
          </a:p>
          <a:p>
            <a:pPr marL="406400" indent="-177800">
              <a:spcAft>
                <a:spcPts val="400"/>
              </a:spcAft>
              <a:buFont typeface="+mj-lt"/>
              <a:buChar char="•"/>
            </a:pPr>
            <a:r>
              <a:rPr lang="sv-SE" sz="1380">
                <a:solidFill>
                  <a:srgbClr val="1E1E1E"/>
                </a:solidFill>
                <a:latin typeface="Arial" panose="020B0604020202020204" pitchFamily="34" charset="0"/>
              </a:rPr>
              <a:t>47 </a:t>
            </a:r>
            <a:r>
              <a:rPr lang="el-GR" sz="1380">
                <a:solidFill>
                  <a:srgbClr val="1E1E1E"/>
                </a:solidFill>
                <a:latin typeface="Arial" panose="020B0604020202020204" pitchFamily="34" charset="0"/>
              </a:rPr>
              <a:t>Ω / 100 </a:t>
            </a:r>
            <a:r>
              <a:rPr lang="sv-SE" sz="1380">
                <a:solidFill>
                  <a:srgbClr val="1E1E1E"/>
                </a:solidFill>
                <a:latin typeface="Arial" panose="020B0604020202020204" pitchFamily="34" charset="0"/>
              </a:rPr>
              <a:t>pF input filters, 10 k pull-downs, R</a:t>
            </a:r>
            <a:r>
              <a:rPr lang="sv-SE" sz="1380" baseline="-25000">
                <a:solidFill>
                  <a:srgbClr val="1E1E1E"/>
                </a:solidFill>
                <a:latin typeface="Arial" panose="020B0604020202020204" pitchFamily="34" charset="0"/>
              </a:rPr>
              <a:t>ON</a:t>
            </a:r>
            <a:r>
              <a:rPr lang="sv-SE" sz="1380">
                <a:solidFill>
                  <a:srgbClr val="1E1E1E"/>
                </a:solidFill>
                <a:latin typeface="Arial" panose="020B0604020202020204" pitchFamily="34" charset="0"/>
              </a:rPr>
              <a:t> 1.5 </a:t>
            </a:r>
            <a:r>
              <a:rPr lang="el-GR" sz="1380">
                <a:solidFill>
                  <a:srgbClr val="1E1E1E"/>
                </a:solidFill>
                <a:latin typeface="Arial" panose="020B0604020202020204" pitchFamily="34" charset="0"/>
              </a:rPr>
              <a:t>Ω (</a:t>
            </a:r>
            <a:r>
              <a:rPr lang="sv-SE" sz="1380">
                <a:solidFill>
                  <a:srgbClr val="1E1E1E"/>
                </a:solidFill>
                <a:latin typeface="Arial" panose="020B0604020202020204" pitchFamily="34" charset="0"/>
              </a:rPr>
              <a:t>shared by the pair), R</a:t>
            </a:r>
            <a:r>
              <a:rPr lang="sv-SE" sz="1380" baseline="-25000">
                <a:solidFill>
                  <a:srgbClr val="1E1E1E"/>
                </a:solidFill>
                <a:latin typeface="Arial" panose="020B0604020202020204" pitchFamily="34" charset="0"/>
              </a:rPr>
              <a:t>OFF</a:t>
            </a:r>
            <a:r>
              <a:rPr lang="sv-SE" sz="1380">
                <a:solidFill>
                  <a:srgbClr val="1E1E1E"/>
                </a:solidFill>
                <a:latin typeface="Arial" panose="020B0604020202020204" pitchFamily="34" charset="0"/>
              </a:rPr>
              <a:t> 0 </a:t>
            </a:r>
            <a:r>
              <a:rPr lang="el-GR" sz="1380">
                <a:solidFill>
                  <a:srgbClr val="1E1E1E"/>
                </a:solidFill>
                <a:latin typeface="Arial" panose="020B0604020202020204" pitchFamily="34" charset="0"/>
              </a:rPr>
              <a:t>Ω + </a:t>
            </a:r>
            <a:r>
              <a:rPr lang="sv-SE" sz="1380">
                <a:solidFill>
                  <a:srgbClr val="1E1E1E"/>
                </a:solidFill>
                <a:latin typeface="Arial" panose="020B0604020202020204" pitchFamily="34" charset="0"/>
              </a:rPr>
              <a:t>Schottky, R</a:t>
            </a:r>
            <a:r>
              <a:rPr lang="sv-SE" sz="1380" baseline="-25000">
                <a:solidFill>
                  <a:srgbClr val="1E1E1E"/>
                </a:solidFill>
                <a:latin typeface="Arial" panose="020B0604020202020204" pitchFamily="34" charset="0"/>
              </a:rPr>
              <a:t>G</a:t>
            </a:r>
            <a:r>
              <a:rPr lang="sv-SE" sz="1380">
                <a:solidFill>
                  <a:srgbClr val="1E1E1E"/>
                </a:solidFill>
                <a:latin typeface="Arial" panose="020B0604020202020204" pitchFamily="34" charset="0"/>
              </a:rPr>
              <a:t> 0.5 </a:t>
            </a:r>
            <a:r>
              <a:rPr lang="el-GR" sz="1380">
                <a:solidFill>
                  <a:srgbClr val="1E1E1E"/>
                </a:solidFill>
                <a:latin typeface="Arial" panose="020B0604020202020204" pitchFamily="34" charset="0"/>
              </a:rPr>
              <a:t>Ω </a:t>
            </a:r>
            <a:r>
              <a:rPr lang="sv-SE" sz="1380">
                <a:solidFill>
                  <a:srgbClr val="1E1E1E"/>
                </a:solidFill>
                <a:latin typeface="Arial" panose="020B0604020202020204" pitchFamily="34" charset="0"/>
              </a:rPr>
              <a:t>per transistor ⇒ R</a:t>
            </a:r>
            <a:r>
              <a:rPr lang="sv-SE" sz="1380" baseline="-25000">
                <a:solidFill>
                  <a:srgbClr val="1E1E1E"/>
                </a:solidFill>
                <a:latin typeface="Arial" panose="020B0604020202020204" pitchFamily="34" charset="0"/>
              </a:rPr>
              <a:t>g,on</a:t>
            </a:r>
            <a:r>
              <a:rPr lang="sv-SE" sz="1380">
                <a:solidFill>
                  <a:srgbClr val="1E1E1E"/>
                </a:solidFill>
                <a:latin typeface="Arial" panose="020B0604020202020204" pitchFamily="34" charset="0"/>
              </a:rPr>
              <a:t> = 3.5 </a:t>
            </a:r>
            <a:r>
              <a:rPr lang="el-GR" sz="1380">
                <a:solidFill>
                  <a:srgbClr val="1E1E1E"/>
                </a:solidFill>
                <a:latin typeface="Arial" panose="020B0604020202020204" pitchFamily="34" charset="0"/>
              </a:rPr>
              <a:t>Ω </a:t>
            </a:r>
            <a:r>
              <a:rPr lang="sv-SE" sz="1380">
                <a:solidFill>
                  <a:srgbClr val="1E1E1E"/>
                </a:solidFill>
                <a:latin typeface="Arial" panose="020B0604020202020204" pitchFamily="34" charset="0"/>
              </a:rPr>
              <a:t>per device</a:t>
            </a:r>
            <a:endParaRPr lang="sv-SE" sz="1380" dirty="0" err="1">
              <a:solidFill>
                <a:srgbClr val="1E1E1E"/>
              </a:solidFill>
              <a:latin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453422052"/>
      </p:ext>
    </p:extLst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195C944-FDAC-4521-D39F-380D29F1263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sv-SE" sz="2100"/>
              <a:t>Measurement and control</a:t>
            </a: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F592277C-3DF0-282E-6696-28FAE162157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sv-SE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213E093A-2769-BEF7-400C-9C363F7DD61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422A9A3-8636-4A04-BD48-3153280FB086}" type="slidenum">
              <a:rPr lang="sv-SE" smtClean="0"/>
              <a:pPr/>
              <a:t>36</a:t>
            </a:fld>
            <a:endParaRPr lang="sv-SE"/>
          </a:p>
        </p:txBody>
      </p:sp>
      <p:graphicFrame>
        <p:nvGraphicFramePr>
          <p:cNvPr id="6" name="Table 5">
            <a:extLst>
              <a:ext uri="{FF2B5EF4-FFF2-40B4-BE49-F238E27FC236}">
                <a16:creationId xmlns:a16="http://schemas.microsoft.com/office/drawing/2014/main" id="{B3B0EDB8-FA73-60F5-409D-D2BEF908E86E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116367791"/>
              </p:ext>
            </p:extLst>
          </p:nvPr>
        </p:nvGraphicFramePr>
        <p:xfrm>
          <a:off x="238125" y="952500"/>
          <a:ext cx="4953000" cy="146685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428750">
                  <a:extLst>
                    <a:ext uri="{9D8B030D-6E8A-4147-A177-3AD203B41FA5}">
                      <a16:colId xmlns:a16="http://schemas.microsoft.com/office/drawing/2014/main" val="3412177674"/>
                    </a:ext>
                  </a:extLst>
                </a:gridCol>
                <a:gridCol w="1905000">
                  <a:extLst>
                    <a:ext uri="{9D8B030D-6E8A-4147-A177-3AD203B41FA5}">
                      <a16:colId xmlns:a16="http://schemas.microsoft.com/office/drawing/2014/main" val="1357388870"/>
                    </a:ext>
                  </a:extLst>
                </a:gridCol>
                <a:gridCol w="1619250">
                  <a:extLst>
                    <a:ext uri="{9D8B030D-6E8A-4147-A177-3AD203B41FA5}">
                      <a16:colId xmlns:a16="http://schemas.microsoft.com/office/drawing/2014/main" val="505076890"/>
                    </a:ext>
                  </a:extLst>
                </a:gridCol>
              </a:tblGrid>
              <a:tr h="165100">
                <a:tc>
                  <a:txBody>
                    <a:bodyPr/>
                    <a:lstStyle/>
                    <a:p>
                      <a:pPr algn="l"/>
                      <a:r>
                        <a:rPr lang="sv-SE" sz="1190" b="1">
                          <a:solidFill>
                            <a:srgbClr val="FFFFFF"/>
                          </a:solidFill>
                          <a:latin typeface="Arial" panose="020B0604020202020204" pitchFamily="34" charset="0"/>
                        </a:rPr>
                        <a:t>Quantity</a:t>
                      </a:r>
                    </a:p>
                  </a:txBody>
                  <a:tcPr marL="50800" marR="50800" marT="25400" marB="25400">
                    <a:solidFill>
                      <a:srgbClr val="1954A6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sv-SE" sz="1190" b="1">
                          <a:solidFill>
                            <a:srgbClr val="FFFFFF"/>
                          </a:solidFill>
                          <a:latin typeface="Arial" panose="020B0604020202020204" pitchFamily="34" charset="0"/>
                        </a:rPr>
                        <a:t>How</a:t>
                      </a:r>
                    </a:p>
                  </a:txBody>
                  <a:tcPr marL="50800" marR="50800" marT="25400" marB="25400">
                    <a:solidFill>
                      <a:srgbClr val="1954A6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sv-SE" sz="1190" b="1">
                          <a:solidFill>
                            <a:srgbClr val="FFFFFF"/>
                          </a:solidFill>
                          <a:latin typeface="Arial" panose="020B0604020202020204" pitchFamily="34" charset="0"/>
                        </a:rPr>
                        <a:t>Where</a:t>
                      </a:r>
                    </a:p>
                  </a:txBody>
                  <a:tcPr marL="50800" marR="50800" marT="25400" marB="25400">
                    <a:solidFill>
                      <a:srgbClr val="1954A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234542565"/>
                  </a:ext>
                </a:extLst>
              </a:tr>
              <a:tr h="165100">
                <a:tc>
                  <a:txBody>
                    <a:bodyPr/>
                    <a:lstStyle/>
                    <a:p>
                      <a:pPr algn="l"/>
                      <a:r>
                        <a:rPr lang="sv-SE" sz="119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Cell current (DPT)</a:t>
                      </a:r>
                    </a:p>
                  </a:txBody>
                  <a:tcPr marL="50800" marR="50800" marT="25400" marB="25400"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pt-BR" sz="119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PMK UFCS-R001, 1 mΩ, 120 pH</a:t>
                      </a:r>
                      <a:endParaRPr lang="sv-SE" sz="1190">
                        <a:solidFill>
                          <a:srgbClr val="1E1E1E"/>
                        </a:solidFill>
                        <a:latin typeface="Arial" panose="020B0604020202020204" pitchFamily="34" charset="0"/>
                      </a:endParaRPr>
                    </a:p>
                  </a:txBody>
                  <a:tcPr marL="50800" marR="50800" marT="25400" marB="25400"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19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LS source of each cell, DPT board</a:t>
                      </a:r>
                      <a:endParaRPr lang="sv-SE" sz="1190">
                        <a:solidFill>
                          <a:srgbClr val="1E1E1E"/>
                        </a:solidFill>
                        <a:latin typeface="Arial" panose="020B0604020202020204" pitchFamily="34" charset="0"/>
                      </a:endParaRPr>
                    </a:p>
                  </a:txBody>
                  <a:tcPr marL="50800" marR="50800" marT="25400" marB="25400">
                    <a:solidFill>
                      <a:srgbClr val="E8EF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852887393"/>
                  </a:ext>
                </a:extLst>
              </a:tr>
              <a:tr h="165100">
                <a:tc>
                  <a:txBody>
                    <a:bodyPr/>
                    <a:lstStyle/>
                    <a:p>
                      <a:pPr algn="l"/>
                      <a:r>
                        <a:rPr lang="sv-SE" sz="119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Phase current (control)</a:t>
                      </a:r>
                    </a:p>
                  </a:txBody>
                  <a:tcPr marL="50800" marR="508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pt-BR" sz="119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LEM HO 250-S, ±625 A, 3.2 mV/A</a:t>
                      </a:r>
                      <a:endParaRPr lang="sv-SE" sz="1190">
                        <a:solidFill>
                          <a:srgbClr val="1E1E1E"/>
                        </a:solidFill>
                        <a:latin typeface="Arial" panose="020B0604020202020204" pitchFamily="34" charset="0"/>
                      </a:endParaRPr>
                    </a:p>
                  </a:txBody>
                  <a:tcPr marL="50800" marR="508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19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Cu bar on the M6 AC pad</a:t>
                      </a:r>
                      <a:endParaRPr lang="sv-SE" sz="1190">
                        <a:solidFill>
                          <a:srgbClr val="1E1E1E"/>
                        </a:solidFill>
                        <a:latin typeface="Arial" panose="020B0604020202020204" pitchFamily="34" charset="0"/>
                      </a:endParaRPr>
                    </a:p>
                  </a:txBody>
                  <a:tcPr marL="50800" marR="50800" marT="25400" marB="25400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284307453"/>
                  </a:ext>
                </a:extLst>
              </a:tr>
              <a:tr h="165100">
                <a:tc>
                  <a:txBody>
                    <a:bodyPr/>
                    <a:lstStyle/>
                    <a:p>
                      <a:pPr algn="l"/>
                      <a:r>
                        <a:rPr lang="sv-SE" sz="119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V</a:t>
                      </a:r>
                      <a:r>
                        <a:rPr lang="sv-SE" sz="1190" baseline="-2500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GS</a:t>
                      </a:r>
                      <a:r>
                        <a:rPr lang="sv-SE" sz="119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 HS / LS</a:t>
                      </a:r>
                    </a:p>
                  </a:txBody>
                  <a:tcPr marL="50800" marR="50800" marT="25400" marB="25400"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sv-SE" sz="119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U.FL, 0 </a:t>
                      </a:r>
                      <a:r>
                        <a:rPr lang="el-GR" sz="119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Ω, </a:t>
                      </a:r>
                      <a:r>
                        <a:rPr lang="sv-SE" sz="119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shield = Kelvin</a:t>
                      </a:r>
                    </a:p>
                  </a:txBody>
                  <a:tcPr marL="50800" marR="50800" marT="25400" marB="25400"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19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bottom, at each cell (both boards)</a:t>
                      </a:r>
                      <a:endParaRPr lang="sv-SE" sz="1190">
                        <a:solidFill>
                          <a:srgbClr val="1E1E1E"/>
                        </a:solidFill>
                        <a:latin typeface="Arial" panose="020B0604020202020204" pitchFamily="34" charset="0"/>
                      </a:endParaRPr>
                    </a:p>
                  </a:txBody>
                  <a:tcPr marL="50800" marR="50800" marT="25400" marB="25400">
                    <a:solidFill>
                      <a:srgbClr val="E8EF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414039242"/>
                  </a:ext>
                </a:extLst>
              </a:tr>
              <a:tr h="165100">
                <a:tc>
                  <a:txBody>
                    <a:bodyPr/>
                    <a:lstStyle/>
                    <a:p>
                      <a:pPr algn="l"/>
                      <a:r>
                        <a:rPr lang="sv-SE" sz="119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V</a:t>
                      </a:r>
                      <a:r>
                        <a:rPr lang="sv-SE" sz="1190" baseline="-2500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DS</a:t>
                      </a:r>
                      <a:r>
                        <a:rPr lang="sv-SE" sz="119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 LS (DPT)</a:t>
                      </a:r>
                    </a:p>
                  </a:txBody>
                  <a:tcPr marL="50800" marR="508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sv-SE" sz="119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MMCX (WR-MMCX, 170 V rms): SW / LSRC, rated isolated probe (e.g. IsoVu TIVPMX50X)</a:t>
                      </a:r>
                    </a:p>
                  </a:txBody>
                  <a:tcPr marL="50800" marR="508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19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bottom, next to each LS FET</a:t>
                      </a:r>
                      <a:endParaRPr lang="sv-SE" sz="1190">
                        <a:solidFill>
                          <a:srgbClr val="1E1E1E"/>
                        </a:solidFill>
                        <a:latin typeface="Arial" panose="020B0604020202020204" pitchFamily="34" charset="0"/>
                      </a:endParaRPr>
                    </a:p>
                  </a:txBody>
                  <a:tcPr marL="50800" marR="50800" marT="25400" marB="25400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948563561"/>
                  </a:ext>
                </a:extLst>
              </a:tr>
              <a:tr h="165100">
                <a:tc>
                  <a:txBody>
                    <a:bodyPr/>
                    <a:lstStyle/>
                    <a:p>
                      <a:pPr algn="l"/>
                      <a:r>
                        <a:rPr lang="sv-SE" sz="119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Bring-up</a:t>
                      </a:r>
                    </a:p>
                  </a:txBody>
                  <a:tcPr marL="50800" marR="50800" marT="25400" marB="25400"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19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test points + spring-tip pads (V</a:t>
                      </a:r>
                      <a:r>
                        <a:rPr lang="en-US" sz="1190" baseline="-2500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GS</a:t>
                      </a:r>
                      <a:r>
                        <a:rPr lang="en-US" sz="119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, V</a:t>
                      </a:r>
                      <a:r>
                        <a:rPr lang="en-US" sz="1190" baseline="-2500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DS</a:t>
                      </a:r>
                      <a:r>
                        <a:rPr lang="en-US" sz="119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), list in fab/testpoints.csv</a:t>
                      </a:r>
                      <a:endParaRPr lang="sv-SE" sz="1190">
                        <a:solidFill>
                          <a:srgbClr val="1E1E1E"/>
                        </a:solidFill>
                        <a:latin typeface="Arial" panose="020B0604020202020204" pitchFamily="34" charset="0"/>
                      </a:endParaRPr>
                    </a:p>
                  </a:txBody>
                  <a:tcPr marL="50800" marR="50800" marT="25400" marB="25400"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sv-SE" sz="119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both sides</a:t>
                      </a:r>
                    </a:p>
                  </a:txBody>
                  <a:tcPr marL="50800" marR="50800" marT="25400" marB="25400">
                    <a:solidFill>
                      <a:srgbClr val="E8EF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97663235"/>
                  </a:ext>
                </a:extLst>
              </a:tr>
              <a:tr h="165100">
                <a:tc>
                  <a:txBody>
                    <a:bodyPr/>
                    <a:lstStyle/>
                    <a:p>
                      <a:pPr algn="l"/>
                      <a:r>
                        <a:rPr lang="sv-SE" sz="119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Board temperature</a:t>
                      </a:r>
                    </a:p>
                  </a:txBody>
                  <a:tcPr marL="50800" marR="508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19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NTC 10 k at the driver</a:t>
                      </a:r>
                      <a:endParaRPr lang="sv-SE" sz="1190">
                        <a:solidFill>
                          <a:srgbClr val="1E1E1E"/>
                        </a:solidFill>
                        <a:latin typeface="Arial" panose="020B0604020202020204" pitchFamily="34" charset="0"/>
                      </a:endParaRPr>
                    </a:p>
                  </a:txBody>
                  <a:tcPr marL="50800" marR="508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sv-SE" sz="119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control side (GNDI)</a:t>
                      </a:r>
                    </a:p>
                  </a:txBody>
                  <a:tcPr marL="50800" marR="50800" marT="25400" marB="25400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887494256"/>
                  </a:ext>
                </a:extLst>
              </a:tr>
            </a:tbl>
          </a:graphicData>
        </a:graphic>
      </p:graphicFrame>
      <p:pic>
        <p:nvPicPr>
          <p:cNvPr id="8" name="Picture 7">
            <a:extLst>
              <a:ext uri="{FF2B5EF4-FFF2-40B4-BE49-F238E27FC236}">
                <a16:creationId xmlns:a16="http://schemas.microsoft.com/office/drawing/2014/main" id="{C4F4DEA2-FBDB-28A9-954E-698BF5767118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38125" y="3667125"/>
            <a:ext cx="5143500" cy="700846"/>
          </a:xfrm>
          <a:prstGeom prst="rect">
            <a:avLst/>
          </a:prstGeom>
        </p:spPr>
      </p:pic>
      <p:sp>
        <p:nvSpPr>
          <p:cNvPr id="9" name="TextBox 8">
            <a:extLst>
              <a:ext uri="{FF2B5EF4-FFF2-40B4-BE49-F238E27FC236}">
                <a16:creationId xmlns:a16="http://schemas.microsoft.com/office/drawing/2014/main" id="{8561BC51-972E-3B36-0710-4D329A7F80DF}"/>
              </a:ext>
            </a:extLst>
          </p:cNvPr>
          <p:cNvSpPr txBox="1"/>
          <p:nvPr/>
        </p:nvSpPr>
        <p:spPr>
          <a:xfrm>
            <a:off x="5429250" y="2381250"/>
            <a:ext cx="3381375" cy="307777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pPr marL="406400" indent="-177800">
              <a:spcAft>
                <a:spcPts val="400"/>
              </a:spcAft>
              <a:buFont typeface="+mj-lt"/>
              <a:buChar char="•"/>
            </a:pPr>
            <a:r>
              <a:rPr lang="en-US" sz="1380">
                <a:solidFill>
                  <a:srgbClr val="1E1E1E"/>
                </a:solidFill>
                <a:latin typeface="Arial" panose="020B0604020202020204" pitchFamily="34" charset="0"/>
              </a:rPr>
              <a:t>Back-to-back load test, closed loop on a TI TMS320F28379D</a:t>
            </a:r>
          </a:p>
          <a:p>
            <a:pPr marL="406400" indent="-177800">
              <a:spcAft>
                <a:spcPts val="400"/>
              </a:spcAft>
              <a:buFont typeface="+mj-lt"/>
              <a:buChar char="•"/>
            </a:pPr>
            <a:r>
              <a:rPr lang="en-US" sz="1380">
                <a:solidFill>
                  <a:srgbClr val="1E1E1E"/>
                </a:solidFill>
                <a:latin typeface="Arial" panose="020B0604020202020204" pitchFamily="34" charset="0"/>
              </a:rPr>
              <a:t>Load board: no shunt ⇒ phase current from the HO 250-S, cell sharing from the DPT board</a:t>
            </a:r>
          </a:p>
          <a:p>
            <a:pPr marL="406400" indent="-177800">
              <a:spcAft>
                <a:spcPts val="400"/>
              </a:spcAft>
              <a:buFont typeface="+mj-lt"/>
              <a:buChar char="•"/>
            </a:pPr>
            <a:r>
              <a:rPr lang="en-US" sz="1380">
                <a:solidFill>
                  <a:srgbClr val="1E1E1E"/>
                </a:solidFill>
                <a:latin typeface="Arial" panose="020B0604020202020204" pitchFamily="34" charset="0"/>
              </a:rPr>
              <a:t>No short-circuit protection on the boards</a:t>
            </a:r>
            <a:endParaRPr lang="sv-SE" sz="1380" dirty="0" err="1">
              <a:solidFill>
                <a:srgbClr val="1E1E1E"/>
              </a:solidFill>
              <a:latin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831503892"/>
      </p:ext>
    </p:extLst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2E2009A-F110-2174-650E-09532CFD120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z="2100"/>
              <a:t>Power stage schematics (generated, identical to the PCBs)</a:t>
            </a:r>
            <a:endParaRPr lang="sv-SE" sz="210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0AE08210-123C-C019-1DCC-4A5655A26FE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sv-SE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02B6E4CF-7851-B2C8-F28A-4D6A2B37030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422A9A3-8636-4A04-BD48-3153280FB086}" type="slidenum">
              <a:rPr lang="sv-SE" smtClean="0"/>
              <a:pPr/>
              <a:t>37</a:t>
            </a:fld>
            <a:endParaRPr lang="sv-SE"/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41AE4CCE-8124-75DD-CD7A-AEE3974DDC09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318477" y="952500"/>
            <a:ext cx="4507046" cy="1666875"/>
          </a:xfrm>
          <a:prstGeom prst="rect">
            <a:avLst/>
          </a:prstGeom>
        </p:spPr>
      </p:pic>
      <p:pic>
        <p:nvPicPr>
          <p:cNvPr id="9" name="Picture 8">
            <a:extLst>
              <a:ext uri="{FF2B5EF4-FFF2-40B4-BE49-F238E27FC236}">
                <a16:creationId xmlns:a16="http://schemas.microsoft.com/office/drawing/2014/main" id="{B90D9619-34BA-704B-8EA7-7C08B044B4CB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318477" y="2714625"/>
            <a:ext cx="4507046" cy="1666875"/>
          </a:xfrm>
          <a:prstGeom prst="rect">
            <a:avLst/>
          </a:prstGeom>
        </p:spPr>
      </p:pic>
      <p:sp>
        <p:nvSpPr>
          <p:cNvPr id="10" name="TextBox 9">
            <a:extLst>
              <a:ext uri="{FF2B5EF4-FFF2-40B4-BE49-F238E27FC236}">
                <a16:creationId xmlns:a16="http://schemas.microsoft.com/office/drawing/2014/main" id="{026E38A2-C9DB-7CC3-E82E-D950E4025324}"/>
              </a:ext>
            </a:extLst>
          </p:cNvPr>
          <p:cNvSpPr txBox="1"/>
          <p:nvPr/>
        </p:nvSpPr>
        <p:spPr>
          <a:xfrm>
            <a:off x="228600" y="4597400"/>
            <a:ext cx="7874000" cy="307777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n-US" sz="730">
                <a:solidFill>
                  <a:srgbClr val="787878"/>
                </a:solidFill>
                <a:latin typeface="Arial" panose="020B0604020202020204" pitchFamily="34" charset="0"/>
              </a:rPr>
              <a:t>Top: DPT board (UFCS in each LS source). Bottom: load-test board (LS source to DC−). make_kicad_sch_revb.py; check_sch_vs_pcb.py: 0 problems on both</a:t>
            </a:r>
            <a:endParaRPr lang="sv-SE" sz="730" dirty="0" err="1">
              <a:solidFill>
                <a:srgbClr val="787878"/>
              </a:solidFill>
              <a:latin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029344464"/>
      </p:ext>
    </p:extLst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976D4D8-2403-AF31-7B8E-32ED45C982D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z="2100"/>
              <a:t>Three legs on one 75 V bus: what the bus must do</a:t>
            </a:r>
            <a:endParaRPr lang="sv-SE" sz="210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C586AB05-8FFE-75F9-7215-DC3CDC44CE0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sv-SE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2FB02667-7393-414E-7A07-08D80CB68C3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422A9A3-8636-4A04-BD48-3153280FB086}" type="slidenum">
              <a:rPr lang="sv-SE" smtClean="0"/>
              <a:pPr/>
              <a:t>38</a:t>
            </a:fld>
            <a:endParaRPr lang="sv-SE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A9E4AAAD-0FAC-6D49-41B2-C6DC8F3F21C9}"/>
              </a:ext>
            </a:extLst>
          </p:cNvPr>
          <p:cNvSpPr txBox="1"/>
          <p:nvPr/>
        </p:nvSpPr>
        <p:spPr>
          <a:xfrm>
            <a:off x="238125" y="952500"/>
            <a:ext cx="4953000" cy="307777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pPr marL="406400" indent="-177800">
              <a:spcAft>
                <a:spcPts val="400"/>
              </a:spcAft>
              <a:buFont typeface="+mj-lt"/>
              <a:buChar char="•"/>
            </a:pPr>
            <a:r>
              <a:rPr lang="sv-SE" sz="1280">
                <a:solidFill>
                  <a:srgbClr val="1E1E1E"/>
                </a:solidFill>
                <a:latin typeface="Arial" panose="020B0604020202020204" pitchFamily="34" charset="0"/>
              </a:rPr>
              <a:t>The switching edge closes on each board (bypass + bank); the bus only carries the f</a:t>
            </a:r>
            <a:r>
              <a:rPr lang="sv-SE" sz="1280" baseline="-25000">
                <a:solidFill>
                  <a:srgbClr val="1E1E1E"/>
                </a:solidFill>
                <a:latin typeface="Arial" panose="020B0604020202020204" pitchFamily="34" charset="0"/>
              </a:rPr>
              <a:t>sw</a:t>
            </a:r>
            <a:r>
              <a:rPr lang="sv-SE" sz="1280">
                <a:solidFill>
                  <a:srgbClr val="1E1E1E"/>
                </a:solidFill>
                <a:latin typeface="Arial" panose="020B0604020202020204" pitchFamily="34" charset="0"/>
              </a:rPr>
              <a:t> ripple between the leg banks</a:t>
            </a:r>
          </a:p>
          <a:p>
            <a:pPr marL="406400" indent="-177800">
              <a:spcAft>
                <a:spcPts val="400"/>
              </a:spcAft>
              <a:buFont typeface="+mj-lt"/>
              <a:buChar char="•"/>
            </a:pPr>
            <a:r>
              <a:rPr lang="sv-SE" sz="1280">
                <a:solidFill>
                  <a:srgbClr val="1E1E1E"/>
                </a:solidFill>
                <a:latin typeface="Arial" panose="020B0604020202020204" pitchFamily="34" charset="0"/>
              </a:rPr>
              <a:t>Sharing needs </a:t>
            </a:r>
            <a:r>
              <a:rPr lang="el-GR" sz="1280">
                <a:solidFill>
                  <a:srgbClr val="1E1E1E"/>
                </a:solidFill>
                <a:latin typeface="Arial" panose="020B0604020202020204" pitchFamily="34" charset="0"/>
              </a:rPr>
              <a:t>ω</a:t>
            </a:r>
            <a:r>
              <a:rPr lang="sv-SE" sz="1280">
                <a:solidFill>
                  <a:srgbClr val="1E1E1E"/>
                </a:solidFill>
                <a:latin typeface="Arial" panose="020B0604020202020204" pitchFamily="34" charset="0"/>
              </a:rPr>
              <a:t>L</a:t>
            </a:r>
            <a:r>
              <a:rPr lang="sv-SE" sz="1280" baseline="-25000">
                <a:solidFill>
                  <a:srgbClr val="1E1E1E"/>
                </a:solidFill>
                <a:latin typeface="Arial" panose="020B0604020202020204" pitchFamily="34" charset="0"/>
              </a:rPr>
              <a:t>bus</a:t>
            </a:r>
            <a:r>
              <a:rPr lang="sv-SE" sz="1280">
                <a:solidFill>
                  <a:srgbClr val="1E1E1E"/>
                </a:solidFill>
                <a:latin typeface="Arial" panose="020B0604020202020204" pitchFamily="34" charset="0"/>
              </a:rPr>
              <a:t> ≪ 1/(</a:t>
            </a:r>
            <a:r>
              <a:rPr lang="el-GR" sz="1280">
                <a:solidFill>
                  <a:srgbClr val="1E1E1E"/>
                </a:solidFill>
                <a:latin typeface="Arial" panose="020B0604020202020204" pitchFamily="34" charset="0"/>
              </a:rPr>
              <a:t>ω</a:t>
            </a:r>
            <a:r>
              <a:rPr lang="sv-SE" sz="1280">
                <a:solidFill>
                  <a:srgbClr val="1E1E1E"/>
                </a:solidFill>
                <a:latin typeface="Arial" panose="020B0604020202020204" pitchFamily="34" charset="0"/>
              </a:rPr>
              <a:t>C): at 50 kHz and ≈ 127 µF eff. per leg L ≪ 80 nH ⇒ </a:t>
            </a:r>
            <a:r>
              <a:rPr lang="sv-SE" sz="1280" b="1">
                <a:solidFill>
                  <a:srgbClr val="1E1E1E"/>
                </a:solidFill>
                <a:latin typeface="Arial" panose="020B0604020202020204" pitchFamily="34" charset="0"/>
              </a:rPr>
              <a:t>target ≤ 5 nH leg to leg</a:t>
            </a:r>
          </a:p>
          <a:p>
            <a:pPr marL="406400" indent="-177800">
              <a:spcAft>
                <a:spcPts val="400"/>
              </a:spcAft>
              <a:buFont typeface="+mj-lt"/>
              <a:buChar char="•"/>
            </a:pPr>
            <a:r>
              <a:rPr lang="sv-SE" sz="1280">
                <a:solidFill>
                  <a:srgbClr val="1E1E1E"/>
                </a:solidFill>
                <a:latin typeface="Arial" panose="020B0604020202020204" pitchFamily="34" charset="0"/>
              </a:rPr>
              <a:t>DC: 250 A stack current enters the level, 83 A per leg</a:t>
            </a:r>
          </a:p>
          <a:p>
            <a:pPr marL="406400" indent="-177800">
              <a:spcAft>
                <a:spcPts val="400"/>
              </a:spcAft>
              <a:buFont typeface="+mj-lt"/>
              <a:buChar char="•"/>
            </a:pPr>
            <a:r>
              <a:rPr lang="sv-SE" sz="1280">
                <a:solidFill>
                  <a:srgbClr val="1E1E1E"/>
                </a:solidFill>
                <a:latin typeface="Arial" panose="020B0604020202020204" pitchFamily="34" charset="0"/>
              </a:rPr>
              <a:t>All-MLCC banks joined by nH copper form a high-Q resonator ⇒ damping footprints</a:t>
            </a:r>
            <a:endParaRPr lang="sv-SE" sz="1280" dirty="0" err="1">
              <a:solidFill>
                <a:srgbClr val="1E1E1E"/>
              </a:solidFill>
              <a:latin typeface="Arial" panose="020B0604020202020204" pitchFamily="34" charset="0"/>
            </a:endParaRPr>
          </a:p>
        </p:txBody>
      </p:sp>
      <p:sp>
        <p:nvSpPr>
          <p:cNvPr id="7" name="Rectangle: Rounded Corners 6">
            <a:extLst>
              <a:ext uri="{FF2B5EF4-FFF2-40B4-BE49-F238E27FC236}">
                <a16:creationId xmlns:a16="http://schemas.microsoft.com/office/drawing/2014/main" id="{5287926A-EEA6-5498-45F5-0DC2E477BED3}"/>
              </a:ext>
            </a:extLst>
          </p:cNvPr>
          <p:cNvSpPr/>
          <p:nvPr/>
        </p:nvSpPr>
        <p:spPr>
          <a:xfrm>
            <a:off x="5429250" y="1143000"/>
            <a:ext cx="1000125" cy="857250"/>
          </a:xfrm>
          <a:prstGeom prst="roundRect">
            <a:avLst/>
          </a:prstGeom>
          <a:solidFill>
            <a:srgbClr val="E8EFF8"/>
          </a:solidFill>
          <a:ln w="158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25400" rIns="25400" rtlCol="0" anchor="ctr">
            <a:noAutofit/>
          </a:bodyPr>
          <a:lstStyle/>
          <a:p>
            <a:pPr algn="ctr"/>
            <a:r>
              <a:rPr lang="en-US" sz="920">
                <a:solidFill>
                  <a:srgbClr val="1E1E1E"/>
                </a:solidFill>
                <a:latin typeface="Arial" panose="020B0604020202020204" pitchFamily="34" charset="0"/>
              </a:rPr>
              <a:t>leg a</a:t>
            </a:r>
          </a:p>
          <a:p>
            <a:pPr algn="ctr"/>
            <a:r>
              <a:rPr lang="en-US" sz="920">
                <a:solidFill>
                  <a:srgbClr val="1E1E1E"/>
                </a:solidFill>
                <a:latin typeface="Arial" panose="020B0604020202020204" pitchFamily="34" charset="0"/>
              </a:rPr>
              <a:t>(phase a)</a:t>
            </a:r>
          </a:p>
          <a:p>
            <a:pPr algn="ctr"/>
            <a:r>
              <a:rPr lang="en-US" sz="920">
                <a:solidFill>
                  <a:srgbClr val="1E1E1E"/>
                </a:solidFill>
                <a:latin typeface="Arial" panose="020B0604020202020204" pitchFamily="34" charset="0"/>
              </a:rPr>
              <a:t>load board</a:t>
            </a:r>
            <a:endParaRPr lang="sv-SE" sz="920" dirty="0">
              <a:solidFill>
                <a:srgbClr val="1E1E1E"/>
              </a:solidFill>
              <a:latin typeface="Arial" panose="020B0604020202020204" pitchFamily="34" charset="0"/>
            </a:endParaRPr>
          </a:p>
        </p:txBody>
      </p:sp>
      <p:cxnSp>
        <p:nvCxnSpPr>
          <p:cNvPr id="8" name="Straight Connector 7">
            <a:extLst>
              <a:ext uri="{FF2B5EF4-FFF2-40B4-BE49-F238E27FC236}">
                <a16:creationId xmlns:a16="http://schemas.microsoft.com/office/drawing/2014/main" id="{22A1D2DE-EE74-5BCD-2F2A-E8E88875FB63}"/>
              </a:ext>
            </a:extLst>
          </p:cNvPr>
          <p:cNvCxnSpPr/>
          <p:nvPr/>
        </p:nvCxnSpPr>
        <p:spPr>
          <a:xfrm>
            <a:off x="5715000" y="2000250"/>
            <a:ext cx="0" cy="381000"/>
          </a:xfrm>
          <a:prstGeom prst="line">
            <a:avLst/>
          </a:prstGeom>
          <a:ln w="38100">
            <a:solidFill>
              <a:srgbClr val="C8463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" name="Straight Connector 8">
            <a:extLst>
              <a:ext uri="{FF2B5EF4-FFF2-40B4-BE49-F238E27FC236}">
                <a16:creationId xmlns:a16="http://schemas.microsoft.com/office/drawing/2014/main" id="{AE213F25-3F15-1DBC-4102-78EBBFA7226F}"/>
              </a:ext>
            </a:extLst>
          </p:cNvPr>
          <p:cNvCxnSpPr/>
          <p:nvPr/>
        </p:nvCxnSpPr>
        <p:spPr>
          <a:xfrm>
            <a:off x="6143625" y="2000250"/>
            <a:ext cx="0" cy="476250"/>
          </a:xfrm>
          <a:prstGeom prst="line">
            <a:avLst/>
          </a:prstGeom>
          <a:ln w="38100">
            <a:solidFill>
              <a:srgbClr val="3264BE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" name="Rectangle: Rounded Corners 9">
            <a:extLst>
              <a:ext uri="{FF2B5EF4-FFF2-40B4-BE49-F238E27FC236}">
                <a16:creationId xmlns:a16="http://schemas.microsoft.com/office/drawing/2014/main" id="{A3C5827D-E067-417F-8F00-D714D8AE15F3}"/>
              </a:ext>
            </a:extLst>
          </p:cNvPr>
          <p:cNvSpPr/>
          <p:nvPr/>
        </p:nvSpPr>
        <p:spPr>
          <a:xfrm>
            <a:off x="6572250" y="1143000"/>
            <a:ext cx="1000125" cy="857250"/>
          </a:xfrm>
          <a:prstGeom prst="roundRect">
            <a:avLst/>
          </a:prstGeom>
          <a:solidFill>
            <a:srgbClr val="E8EFF8"/>
          </a:solidFill>
          <a:ln w="158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25400" rIns="25400" rtlCol="0" anchor="ctr">
            <a:noAutofit/>
          </a:bodyPr>
          <a:lstStyle/>
          <a:p>
            <a:pPr algn="ctr"/>
            <a:r>
              <a:rPr lang="en-US" sz="920">
                <a:solidFill>
                  <a:srgbClr val="1E1E1E"/>
                </a:solidFill>
                <a:latin typeface="Arial" panose="020B0604020202020204" pitchFamily="34" charset="0"/>
              </a:rPr>
              <a:t>leg b</a:t>
            </a:r>
          </a:p>
          <a:p>
            <a:pPr algn="ctr"/>
            <a:r>
              <a:rPr lang="en-US" sz="920">
                <a:solidFill>
                  <a:srgbClr val="1E1E1E"/>
                </a:solidFill>
                <a:latin typeface="Arial" panose="020B0604020202020204" pitchFamily="34" charset="0"/>
              </a:rPr>
              <a:t>(phase b)</a:t>
            </a:r>
          </a:p>
          <a:p>
            <a:pPr algn="ctr"/>
            <a:r>
              <a:rPr lang="en-US" sz="920">
                <a:solidFill>
                  <a:srgbClr val="1E1E1E"/>
                </a:solidFill>
                <a:latin typeface="Arial" panose="020B0604020202020204" pitchFamily="34" charset="0"/>
              </a:rPr>
              <a:t>load board</a:t>
            </a:r>
            <a:endParaRPr lang="sv-SE" sz="920" dirty="0">
              <a:solidFill>
                <a:srgbClr val="1E1E1E"/>
              </a:solidFill>
              <a:latin typeface="Arial" panose="020B0604020202020204" pitchFamily="34" charset="0"/>
            </a:endParaRPr>
          </a:p>
        </p:txBody>
      </p:sp>
      <p:cxnSp>
        <p:nvCxnSpPr>
          <p:cNvPr id="11" name="Straight Connector 10">
            <a:extLst>
              <a:ext uri="{FF2B5EF4-FFF2-40B4-BE49-F238E27FC236}">
                <a16:creationId xmlns:a16="http://schemas.microsoft.com/office/drawing/2014/main" id="{D9266D18-419A-9D73-AECD-6F615281E052}"/>
              </a:ext>
            </a:extLst>
          </p:cNvPr>
          <p:cNvCxnSpPr/>
          <p:nvPr/>
        </p:nvCxnSpPr>
        <p:spPr>
          <a:xfrm>
            <a:off x="6858000" y="2000250"/>
            <a:ext cx="0" cy="381000"/>
          </a:xfrm>
          <a:prstGeom prst="line">
            <a:avLst/>
          </a:prstGeom>
          <a:ln w="38100">
            <a:solidFill>
              <a:srgbClr val="C8463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" name="Straight Connector 11">
            <a:extLst>
              <a:ext uri="{FF2B5EF4-FFF2-40B4-BE49-F238E27FC236}">
                <a16:creationId xmlns:a16="http://schemas.microsoft.com/office/drawing/2014/main" id="{F09FA5E2-554F-D931-3520-BA2727D51F9E}"/>
              </a:ext>
            </a:extLst>
          </p:cNvPr>
          <p:cNvCxnSpPr/>
          <p:nvPr/>
        </p:nvCxnSpPr>
        <p:spPr>
          <a:xfrm>
            <a:off x="7286625" y="2000250"/>
            <a:ext cx="0" cy="476250"/>
          </a:xfrm>
          <a:prstGeom prst="line">
            <a:avLst/>
          </a:prstGeom>
          <a:ln w="38100">
            <a:solidFill>
              <a:srgbClr val="3264BE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3" name="Rectangle: Rounded Corners 12">
            <a:extLst>
              <a:ext uri="{FF2B5EF4-FFF2-40B4-BE49-F238E27FC236}">
                <a16:creationId xmlns:a16="http://schemas.microsoft.com/office/drawing/2014/main" id="{20AE7186-FACF-2189-05DD-E6B9FD9674C2}"/>
              </a:ext>
            </a:extLst>
          </p:cNvPr>
          <p:cNvSpPr/>
          <p:nvPr/>
        </p:nvSpPr>
        <p:spPr>
          <a:xfrm>
            <a:off x="7715250" y="1143000"/>
            <a:ext cx="1000125" cy="857250"/>
          </a:xfrm>
          <a:prstGeom prst="roundRect">
            <a:avLst/>
          </a:prstGeom>
          <a:solidFill>
            <a:srgbClr val="E8EFF8"/>
          </a:solidFill>
          <a:ln w="158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25400" rIns="25400" rtlCol="0" anchor="ctr">
            <a:noAutofit/>
          </a:bodyPr>
          <a:lstStyle/>
          <a:p>
            <a:pPr algn="ctr"/>
            <a:r>
              <a:rPr lang="en-US" sz="920">
                <a:solidFill>
                  <a:srgbClr val="1E1E1E"/>
                </a:solidFill>
                <a:latin typeface="Arial" panose="020B0604020202020204" pitchFamily="34" charset="0"/>
              </a:rPr>
              <a:t>leg c</a:t>
            </a:r>
          </a:p>
          <a:p>
            <a:pPr algn="ctr"/>
            <a:r>
              <a:rPr lang="en-US" sz="920">
                <a:solidFill>
                  <a:srgbClr val="1E1E1E"/>
                </a:solidFill>
                <a:latin typeface="Arial" panose="020B0604020202020204" pitchFamily="34" charset="0"/>
              </a:rPr>
              <a:t>(phase c)</a:t>
            </a:r>
          </a:p>
          <a:p>
            <a:pPr algn="ctr"/>
            <a:r>
              <a:rPr lang="en-US" sz="920">
                <a:solidFill>
                  <a:srgbClr val="1E1E1E"/>
                </a:solidFill>
                <a:latin typeface="Arial" panose="020B0604020202020204" pitchFamily="34" charset="0"/>
              </a:rPr>
              <a:t>load board</a:t>
            </a:r>
            <a:endParaRPr lang="sv-SE" sz="920" dirty="0">
              <a:solidFill>
                <a:srgbClr val="1E1E1E"/>
              </a:solidFill>
              <a:latin typeface="Arial" panose="020B0604020202020204" pitchFamily="34" charset="0"/>
            </a:endParaRPr>
          </a:p>
        </p:txBody>
      </p:sp>
      <p:cxnSp>
        <p:nvCxnSpPr>
          <p:cNvPr id="14" name="Straight Connector 13">
            <a:extLst>
              <a:ext uri="{FF2B5EF4-FFF2-40B4-BE49-F238E27FC236}">
                <a16:creationId xmlns:a16="http://schemas.microsoft.com/office/drawing/2014/main" id="{6399B20C-8C7F-E003-CB86-839A00FFBA3F}"/>
              </a:ext>
            </a:extLst>
          </p:cNvPr>
          <p:cNvCxnSpPr/>
          <p:nvPr/>
        </p:nvCxnSpPr>
        <p:spPr>
          <a:xfrm>
            <a:off x="8001000" y="2000250"/>
            <a:ext cx="0" cy="381000"/>
          </a:xfrm>
          <a:prstGeom prst="line">
            <a:avLst/>
          </a:prstGeom>
          <a:ln w="38100">
            <a:solidFill>
              <a:srgbClr val="C8463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" name="Straight Connector 14">
            <a:extLst>
              <a:ext uri="{FF2B5EF4-FFF2-40B4-BE49-F238E27FC236}">
                <a16:creationId xmlns:a16="http://schemas.microsoft.com/office/drawing/2014/main" id="{C5C270E1-166D-2C76-FEDC-A6402D7B3355}"/>
              </a:ext>
            </a:extLst>
          </p:cNvPr>
          <p:cNvCxnSpPr/>
          <p:nvPr/>
        </p:nvCxnSpPr>
        <p:spPr>
          <a:xfrm>
            <a:off x="8429625" y="2000250"/>
            <a:ext cx="0" cy="476250"/>
          </a:xfrm>
          <a:prstGeom prst="line">
            <a:avLst/>
          </a:prstGeom>
          <a:ln w="38100">
            <a:solidFill>
              <a:srgbClr val="3264BE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6" name="Straight Connector 15">
            <a:extLst>
              <a:ext uri="{FF2B5EF4-FFF2-40B4-BE49-F238E27FC236}">
                <a16:creationId xmlns:a16="http://schemas.microsoft.com/office/drawing/2014/main" id="{DF481A63-ED98-018E-9FEE-7EC46ACBFACA}"/>
              </a:ext>
            </a:extLst>
          </p:cNvPr>
          <p:cNvCxnSpPr/>
          <p:nvPr/>
        </p:nvCxnSpPr>
        <p:spPr>
          <a:xfrm>
            <a:off x="5381625" y="2381250"/>
            <a:ext cx="3381375" cy="0"/>
          </a:xfrm>
          <a:prstGeom prst="line">
            <a:avLst/>
          </a:prstGeom>
          <a:ln w="63500">
            <a:solidFill>
              <a:srgbClr val="C8463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7" name="Straight Connector 16">
            <a:extLst>
              <a:ext uri="{FF2B5EF4-FFF2-40B4-BE49-F238E27FC236}">
                <a16:creationId xmlns:a16="http://schemas.microsoft.com/office/drawing/2014/main" id="{601437C5-F66A-CCA8-B47B-95E5BE0A7F93}"/>
              </a:ext>
            </a:extLst>
          </p:cNvPr>
          <p:cNvCxnSpPr/>
          <p:nvPr/>
        </p:nvCxnSpPr>
        <p:spPr>
          <a:xfrm>
            <a:off x="5381625" y="2476500"/>
            <a:ext cx="3381375" cy="0"/>
          </a:xfrm>
          <a:prstGeom prst="line">
            <a:avLst/>
          </a:prstGeom>
          <a:ln w="63500">
            <a:solidFill>
              <a:srgbClr val="3264BE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8" name="TextBox 17">
            <a:extLst>
              <a:ext uri="{FF2B5EF4-FFF2-40B4-BE49-F238E27FC236}">
                <a16:creationId xmlns:a16="http://schemas.microsoft.com/office/drawing/2014/main" id="{1CD97430-E03A-2700-C12B-F4891AB29702}"/>
              </a:ext>
            </a:extLst>
          </p:cNvPr>
          <p:cNvSpPr txBox="1"/>
          <p:nvPr/>
        </p:nvSpPr>
        <p:spPr>
          <a:xfrm>
            <a:off x="5429250" y="2552700"/>
            <a:ext cx="3333750" cy="307777"/>
          </a:xfrm>
          <a:prstGeom prst="rect">
            <a:avLst/>
          </a:prstGeom>
          <a:noFill/>
        </p:spPr>
        <p:txBody>
          <a:bodyPr vert="horz" wrap="square" lIns="25400" tIns="0" rIns="0" bIns="0" rtlCol="0">
            <a:noAutofit/>
          </a:bodyPr>
          <a:lstStyle/>
          <a:p>
            <a:pPr algn="ctr"/>
            <a:r>
              <a:rPr lang="en-US" sz="920" b="1">
                <a:solidFill>
                  <a:srgbClr val="1E1E1E"/>
                </a:solidFill>
                <a:latin typeface="Arial" panose="020B0604020202020204" pitchFamily="34" charset="0"/>
              </a:rPr>
              <a:t>laminated PCB busbar (L1 + / L2 − / L3 + / L4 −)</a:t>
            </a:r>
            <a:endParaRPr lang="sv-SE" sz="920" b="1" dirty="0" err="1">
              <a:solidFill>
                <a:srgbClr val="1E1E1E"/>
              </a:solidFill>
              <a:latin typeface="Arial" panose="020B0604020202020204" pitchFamily="34" charset="0"/>
            </a:endParaRPr>
          </a:p>
        </p:txBody>
      </p:sp>
      <p:cxnSp>
        <p:nvCxnSpPr>
          <p:cNvPr id="19" name="Straight Connector 18">
            <a:extLst>
              <a:ext uri="{FF2B5EF4-FFF2-40B4-BE49-F238E27FC236}">
                <a16:creationId xmlns:a16="http://schemas.microsoft.com/office/drawing/2014/main" id="{73A5ECCF-E3A3-F58C-0BB9-2D8A00C50C11}"/>
              </a:ext>
            </a:extLst>
          </p:cNvPr>
          <p:cNvCxnSpPr/>
          <p:nvPr/>
        </p:nvCxnSpPr>
        <p:spPr>
          <a:xfrm>
            <a:off x="6953250" y="2476500"/>
            <a:ext cx="0" cy="571500"/>
          </a:xfrm>
          <a:prstGeom prst="line">
            <a:avLst/>
          </a:prstGeom>
          <a:ln w="38100">
            <a:solidFill>
              <a:srgbClr val="1E1E1E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0" name="TextBox 19">
            <a:extLst>
              <a:ext uri="{FF2B5EF4-FFF2-40B4-BE49-F238E27FC236}">
                <a16:creationId xmlns:a16="http://schemas.microsoft.com/office/drawing/2014/main" id="{E6A99C2B-BD21-0B4B-E8B0-572A64CD21C2}"/>
              </a:ext>
            </a:extLst>
          </p:cNvPr>
          <p:cNvSpPr txBox="1"/>
          <p:nvPr/>
        </p:nvSpPr>
        <p:spPr>
          <a:xfrm>
            <a:off x="6000750" y="3095625"/>
            <a:ext cx="2095500" cy="307777"/>
          </a:xfrm>
          <a:prstGeom prst="rect">
            <a:avLst/>
          </a:prstGeom>
          <a:noFill/>
        </p:spPr>
        <p:txBody>
          <a:bodyPr vert="horz" wrap="square" lIns="25400" tIns="0" rIns="0" bIns="0" rtlCol="0">
            <a:noAutofit/>
          </a:bodyPr>
          <a:lstStyle/>
          <a:p>
            <a:pPr algn="ctr"/>
            <a:r>
              <a:rPr lang="en-US" sz="920">
                <a:solidFill>
                  <a:srgbClr val="787878"/>
                </a:solidFill>
                <a:latin typeface="Arial" panose="020B0604020202020204" pitchFamily="34" charset="0"/>
              </a:rPr>
              <a:t>stack lugs at the centre leg</a:t>
            </a:r>
          </a:p>
          <a:p>
            <a:pPr algn="ctr"/>
            <a:r>
              <a:rPr lang="en-US" sz="920">
                <a:solidFill>
                  <a:srgbClr val="787878"/>
                </a:solidFill>
                <a:latin typeface="Arial" panose="020B0604020202020204" pitchFamily="34" charset="0"/>
              </a:rPr>
              <a:t>to the levels above / below</a:t>
            </a:r>
            <a:endParaRPr lang="sv-SE" sz="920" dirty="0" err="1">
              <a:solidFill>
                <a:srgbClr val="787878"/>
              </a:solidFill>
              <a:latin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516430779"/>
      </p:ext>
    </p:extLst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E204981-8B63-C372-A025-E581B454CB4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z="2100"/>
              <a:t>PCB busbar: easy to manufacture</a:t>
            </a:r>
            <a:endParaRPr lang="sv-SE" sz="210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4EFE7F13-2C61-14E0-ED05-85B1340759A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sv-SE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BB1AADAA-A38E-2320-4D36-294723E4ABD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422A9A3-8636-4A04-BD48-3153280FB086}" type="slidenum">
              <a:rPr lang="sv-SE" smtClean="0"/>
              <a:pPr/>
              <a:t>39</a:t>
            </a:fld>
            <a:endParaRPr lang="sv-SE"/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8968D9D7-FC9C-24CA-76A5-3F4CF0844AEB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713697" y="952500"/>
            <a:ext cx="3716606" cy="1333500"/>
          </a:xfrm>
          <a:prstGeom prst="rect">
            <a:avLst/>
          </a:prstGeom>
        </p:spPr>
      </p:pic>
      <p:graphicFrame>
        <p:nvGraphicFramePr>
          <p:cNvPr id="8" name="Table 7">
            <a:extLst>
              <a:ext uri="{FF2B5EF4-FFF2-40B4-BE49-F238E27FC236}">
                <a16:creationId xmlns:a16="http://schemas.microsoft.com/office/drawing/2014/main" id="{6B245A45-0001-872A-C508-B7CA3A989D9A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493522482"/>
              </p:ext>
            </p:extLst>
          </p:nvPr>
        </p:nvGraphicFramePr>
        <p:xfrm>
          <a:off x="238125" y="2428875"/>
          <a:ext cx="4095750" cy="146685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047750">
                  <a:extLst>
                    <a:ext uri="{9D8B030D-6E8A-4147-A177-3AD203B41FA5}">
                      <a16:colId xmlns:a16="http://schemas.microsoft.com/office/drawing/2014/main" val="3432376315"/>
                    </a:ext>
                  </a:extLst>
                </a:gridCol>
                <a:gridCol w="3048000">
                  <a:extLst>
                    <a:ext uri="{9D8B030D-6E8A-4147-A177-3AD203B41FA5}">
                      <a16:colId xmlns:a16="http://schemas.microsoft.com/office/drawing/2014/main" val="100113859"/>
                    </a:ext>
                  </a:extLst>
                </a:gridCol>
              </a:tblGrid>
              <a:tr h="165100">
                <a:tc>
                  <a:txBody>
                    <a:bodyPr/>
                    <a:lstStyle/>
                    <a:p>
                      <a:pPr algn="l"/>
                      <a:r>
                        <a:rPr lang="sv-SE" sz="1100" b="1">
                          <a:solidFill>
                            <a:srgbClr val="FFFFFF"/>
                          </a:solidFill>
                          <a:latin typeface="Arial" panose="020B0604020202020204" pitchFamily="34" charset="0"/>
                        </a:rPr>
                        <a:t>Item</a:t>
                      </a:r>
                    </a:p>
                  </a:txBody>
                  <a:tcPr marL="50800" marR="50800" marT="25400" marB="25400">
                    <a:solidFill>
                      <a:srgbClr val="1954A6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sv-SE" sz="1100" b="1">
                          <a:solidFill>
                            <a:srgbClr val="FFFFFF"/>
                          </a:solidFill>
                          <a:latin typeface="Arial" panose="020B0604020202020204" pitchFamily="34" charset="0"/>
                        </a:rPr>
                        <a:t>Value</a:t>
                      </a:r>
                    </a:p>
                  </a:txBody>
                  <a:tcPr marL="50800" marR="50800" marT="25400" marB="25400">
                    <a:solidFill>
                      <a:srgbClr val="1954A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155248128"/>
                  </a:ext>
                </a:extLst>
              </a:tr>
              <a:tr h="165100">
                <a:tc>
                  <a:txBody>
                    <a:bodyPr/>
                    <a:lstStyle/>
                    <a:p>
                      <a:pPr algn="l"/>
                      <a:r>
                        <a:rPr lang="sv-SE" sz="110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Size</a:t>
                      </a:r>
                    </a:p>
                  </a:txBody>
                  <a:tcPr marL="50800" marR="50800" marT="25400" marB="25400"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10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298.5 × 45 mm, 1.6 mm, 4 layers</a:t>
                      </a:r>
                      <a:endParaRPr lang="sv-SE" sz="1100">
                        <a:solidFill>
                          <a:srgbClr val="1E1E1E"/>
                        </a:solidFill>
                        <a:latin typeface="Arial" panose="020B0604020202020204" pitchFamily="34" charset="0"/>
                      </a:endParaRPr>
                    </a:p>
                  </a:txBody>
                  <a:tcPr marL="50800" marR="50800" marT="25400" marB="25400">
                    <a:solidFill>
                      <a:srgbClr val="E8EF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682218469"/>
                  </a:ext>
                </a:extLst>
              </a:tr>
              <a:tr h="165100">
                <a:tc>
                  <a:txBody>
                    <a:bodyPr/>
                    <a:lstStyle/>
                    <a:p>
                      <a:pPr algn="l"/>
                      <a:r>
                        <a:rPr lang="sv-SE" sz="110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Copper</a:t>
                      </a:r>
                    </a:p>
                  </a:txBody>
                  <a:tcPr marL="50800" marR="508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10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2 oz all layers (JLCPCB JLC3313); 3–4 oz option</a:t>
                      </a:r>
                      <a:endParaRPr lang="sv-SE" sz="1100">
                        <a:solidFill>
                          <a:srgbClr val="1E1E1E"/>
                        </a:solidFill>
                        <a:latin typeface="Arial" panose="020B0604020202020204" pitchFamily="34" charset="0"/>
                      </a:endParaRPr>
                    </a:p>
                  </a:txBody>
                  <a:tcPr marL="50800" marR="50800" marT="25400" marB="25400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031861494"/>
                  </a:ext>
                </a:extLst>
              </a:tr>
              <a:tr h="165100">
                <a:tc>
                  <a:txBody>
                    <a:bodyPr/>
                    <a:lstStyle/>
                    <a:p>
                      <a:pPr algn="l"/>
                      <a:r>
                        <a:rPr lang="sv-SE" sz="110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Stack-up</a:t>
                      </a:r>
                    </a:p>
                  </a:txBody>
                  <a:tcPr marL="50800" marR="50800" marT="25400" marB="25400"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sv-SE" sz="110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L1 DC+ / ≤ 0.2 mm / L2 DC− / core / L3 DC+ / ≤ 0.2 mm / L4 DC−</a:t>
                      </a:r>
                    </a:p>
                  </a:txBody>
                  <a:tcPr marL="50800" marR="50800" marT="25400" marB="25400">
                    <a:solidFill>
                      <a:srgbClr val="E8EF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560123453"/>
                  </a:ext>
                </a:extLst>
              </a:tr>
              <a:tr h="165100">
                <a:tc>
                  <a:txBody>
                    <a:bodyPr/>
                    <a:lstStyle/>
                    <a:p>
                      <a:pPr algn="l"/>
                      <a:r>
                        <a:rPr lang="sv-SE" sz="110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Leg contact</a:t>
                      </a:r>
                    </a:p>
                  </a:txBody>
                  <a:tcPr marL="50800" marR="508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10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6 × M4: one DC pair per leg (REDCUBE, 6.5 mm)</a:t>
                      </a:r>
                      <a:endParaRPr lang="sv-SE" sz="1100">
                        <a:solidFill>
                          <a:srgbClr val="1E1E1E"/>
                        </a:solidFill>
                        <a:latin typeface="Arial" panose="020B0604020202020204" pitchFamily="34" charset="0"/>
                      </a:endParaRPr>
                    </a:p>
                  </a:txBody>
                  <a:tcPr marL="50800" marR="50800" marT="25400" marB="25400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714835588"/>
                  </a:ext>
                </a:extLst>
              </a:tr>
              <a:tr h="165100">
                <a:tc>
                  <a:txBody>
                    <a:bodyPr/>
                    <a:lstStyle/>
                    <a:p>
                      <a:pPr algn="l"/>
                      <a:r>
                        <a:rPr lang="sv-SE" sz="110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Stack contact</a:t>
                      </a:r>
                    </a:p>
                  </a:txBody>
                  <a:tcPr marL="50800" marR="50800" marT="25400" marB="25400"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10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2 × M6 lug pads at the centre leg</a:t>
                      </a:r>
                      <a:endParaRPr lang="sv-SE" sz="1100">
                        <a:solidFill>
                          <a:srgbClr val="1E1E1E"/>
                        </a:solidFill>
                        <a:latin typeface="Arial" panose="020B0604020202020204" pitchFamily="34" charset="0"/>
                      </a:endParaRPr>
                    </a:p>
                  </a:txBody>
                  <a:tcPr marL="50800" marR="50800" marT="25400" marB="25400">
                    <a:solidFill>
                      <a:srgbClr val="E8EF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31435842"/>
                  </a:ext>
                </a:extLst>
              </a:tr>
              <a:tr h="165100">
                <a:tc>
                  <a:txBody>
                    <a:bodyPr/>
                    <a:lstStyle/>
                    <a:p>
                      <a:pPr algn="l"/>
                      <a:r>
                        <a:rPr lang="sv-SE" sz="110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Insulation</a:t>
                      </a:r>
                    </a:p>
                  </a:txBody>
                  <a:tcPr marL="50800" marR="508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10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frame holes with 8 mm Cu keep-out (1200 V)</a:t>
                      </a:r>
                      <a:endParaRPr lang="sv-SE" sz="1100">
                        <a:solidFill>
                          <a:srgbClr val="1E1E1E"/>
                        </a:solidFill>
                        <a:latin typeface="Arial" panose="020B0604020202020204" pitchFamily="34" charset="0"/>
                      </a:endParaRPr>
                    </a:p>
                  </a:txBody>
                  <a:tcPr marL="50800" marR="50800" marT="25400" marB="25400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886703033"/>
                  </a:ext>
                </a:extLst>
              </a:tr>
            </a:tbl>
          </a:graphicData>
        </a:graphic>
      </p:graphicFrame>
      <p:sp>
        <p:nvSpPr>
          <p:cNvPr id="9" name="TextBox 8">
            <a:extLst>
              <a:ext uri="{FF2B5EF4-FFF2-40B4-BE49-F238E27FC236}">
                <a16:creationId xmlns:a16="http://schemas.microsoft.com/office/drawing/2014/main" id="{CDD73C8B-B846-2784-E336-EB3257716459}"/>
              </a:ext>
            </a:extLst>
          </p:cNvPr>
          <p:cNvSpPr txBox="1"/>
          <p:nvPr/>
        </p:nvSpPr>
        <p:spPr>
          <a:xfrm>
            <a:off x="4572000" y="2428875"/>
            <a:ext cx="4238625" cy="307777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pPr marL="406400" indent="-177800">
              <a:spcAft>
                <a:spcPts val="400"/>
              </a:spcAft>
              <a:buFont typeface="+mj-lt"/>
              <a:buChar char="•"/>
            </a:pPr>
            <a:r>
              <a:rPr lang="sv-SE" sz="1380">
                <a:solidFill>
                  <a:srgbClr val="1E1E1E"/>
                </a:solidFill>
                <a:latin typeface="Arial" panose="020B0604020202020204" pitchFamily="34" charset="0"/>
              </a:rPr>
              <a:t>Q3D (step 11): leg-to-leg loop </a:t>
            </a:r>
            <a:r>
              <a:rPr lang="sv-SE" sz="1380" b="1">
                <a:solidFill>
                  <a:srgbClr val="1E1E1E"/>
                </a:solidFill>
                <a:latin typeface="Arial" panose="020B0604020202020204" pitchFamily="34" charset="0"/>
              </a:rPr>
              <a:t>1.46 nH</a:t>
            </a:r>
            <a:r>
              <a:rPr lang="sv-SE" sz="1380">
                <a:solidFill>
                  <a:srgbClr val="1E1E1E"/>
                </a:solidFill>
                <a:latin typeface="Arial" panose="020B0604020202020204" pitchFamily="34" charset="0"/>
              </a:rPr>
              <a:t> at 1 MHz (a–b), DC busbar loss </a:t>
            </a:r>
            <a:r>
              <a:rPr lang="sv-SE" sz="1380" b="1">
                <a:solidFill>
                  <a:srgbClr val="1E1E1E"/>
                </a:solidFill>
                <a:latin typeface="Arial" panose="020B0604020202020204" pitchFamily="34" charset="0"/>
              </a:rPr>
              <a:t>(pending) W</a:t>
            </a:r>
          </a:p>
          <a:p>
            <a:pPr marL="406400" indent="-177800">
              <a:spcAft>
                <a:spcPts val="400"/>
              </a:spcAft>
              <a:buFont typeface="+mj-lt"/>
              <a:buChar char="•"/>
            </a:pPr>
            <a:r>
              <a:rPr lang="sv-SE" sz="1380">
                <a:solidFill>
                  <a:srgbClr val="1E1E1E"/>
                </a:solidFill>
                <a:latin typeface="Arial" panose="020B0604020202020204" pitchFamily="34" charset="0"/>
              </a:rPr>
              <a:t>Damping caps (100 V hybrid polymer) as DNP footprints; nylon standoffs at the leg corner holes</a:t>
            </a:r>
          </a:p>
          <a:p>
            <a:pPr marL="406400" indent="-177800">
              <a:spcAft>
                <a:spcPts val="400"/>
              </a:spcAft>
              <a:buFont typeface="+mj-lt"/>
              <a:buChar char="•"/>
            </a:pPr>
            <a:r>
              <a:rPr lang="sv-SE" sz="1380">
                <a:solidFill>
                  <a:srgbClr val="1E1E1E"/>
                </a:solidFill>
                <a:latin typeface="Arial" panose="020B0604020202020204" pitchFamily="34" charset="0"/>
              </a:rPr>
              <a:t>Generated: scripts/make_kicad_busbar.py, DRC clean; fab files in hardware/spb-busbar/fab</a:t>
            </a:r>
            <a:endParaRPr lang="sv-SE" sz="1380" dirty="0" err="1">
              <a:solidFill>
                <a:srgbClr val="1E1E1E"/>
              </a:solidFill>
              <a:latin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437047264"/>
      </p:ext>
    </p:extLst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9D6AA88-0394-0D93-BFEC-9A3B72D9075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z="2100"/>
              <a:t>One 75 V level in 3D: busbar + three load-test legs</a:t>
            </a:r>
            <a:endParaRPr lang="sv-SE" sz="210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2DE0748E-CFFE-1DEC-08C1-E624DFCD0C7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sv-SE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D7ABC3A5-E390-5919-4382-EF2F9E04CCD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422A9A3-8636-4A04-BD48-3153280FB086}" type="slidenum">
              <a:rPr lang="sv-SE" smtClean="0"/>
              <a:pPr/>
              <a:t>40</a:t>
            </a:fld>
            <a:endParaRPr lang="sv-SE"/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AA7DFBAD-9AAE-692A-3390-0708F884C38C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750453" y="952500"/>
            <a:ext cx="5643093" cy="3143250"/>
          </a:xfrm>
          <a:prstGeom prst="rect">
            <a:avLst/>
          </a:prstGeom>
        </p:spPr>
      </p:pic>
      <p:sp>
        <p:nvSpPr>
          <p:cNvPr id="8" name="TextBox 7">
            <a:extLst>
              <a:ext uri="{FF2B5EF4-FFF2-40B4-BE49-F238E27FC236}">
                <a16:creationId xmlns:a16="http://schemas.microsoft.com/office/drawing/2014/main" id="{6BBEE2BB-F326-98E4-BCE8-663F065A6709}"/>
              </a:ext>
            </a:extLst>
          </p:cNvPr>
          <p:cNvSpPr txBox="1"/>
          <p:nvPr/>
        </p:nvSpPr>
        <p:spPr>
          <a:xfrm>
            <a:off x="238125" y="4143375"/>
            <a:ext cx="8667750" cy="307777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pPr marL="406400" indent="-177800">
              <a:spcAft>
                <a:spcPts val="400"/>
              </a:spcAft>
              <a:buFont typeface="+mj-lt"/>
              <a:buChar char="•"/>
            </a:pPr>
            <a:r>
              <a:rPr lang="en-US" sz="1280">
                <a:solidFill>
                  <a:srgbClr val="1E1E1E"/>
                </a:solidFill>
                <a:latin typeface="Arial" panose="020B0604020202020204" pitchFamily="34" charset="0"/>
              </a:rPr>
              <a:t>Legs a, b, c (pitch 94.5 mm, 5 mm gaps) stand on their REDCUBE DC terminals (6.5 mm) on the PCB busbar; M4 × 8 screws from below; AC bar of each leg through its LEM HO 250-S; heatsinks stay inside each board outline</a:t>
            </a:r>
            <a:endParaRPr lang="sv-SE" sz="1280" dirty="0" err="1">
              <a:solidFill>
                <a:srgbClr val="1E1E1E"/>
              </a:solidFill>
              <a:latin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344757959"/>
      </p:ext>
    </p:extLst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48F7C9E-7E31-2D37-546B-CF1E8B6BA27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z="2100"/>
              <a:t>Level assembly: busbar side and DC connection</a:t>
            </a:r>
            <a:endParaRPr lang="sv-SE" sz="210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CB111423-0753-931C-FB85-55755CE11D6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sv-SE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27EF269F-7B17-BA5D-4DFC-538F1DE45AF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422A9A3-8636-4A04-BD48-3153280FB086}" type="slidenum">
              <a:rPr lang="sv-SE" smtClean="0"/>
              <a:pPr/>
              <a:t>41</a:t>
            </a:fld>
            <a:endParaRPr lang="sv-SE"/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CD17A06C-82E6-1A00-DE7D-F1B4D1371E50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38125" y="952500"/>
            <a:ext cx="4238625" cy="1729359"/>
          </a:xfrm>
          <a:prstGeom prst="rect">
            <a:avLst/>
          </a:prstGeom>
        </p:spPr>
      </p:pic>
      <p:pic>
        <p:nvPicPr>
          <p:cNvPr id="9" name="Picture 8">
            <a:extLst>
              <a:ext uri="{FF2B5EF4-FFF2-40B4-BE49-F238E27FC236}">
                <a16:creationId xmlns:a16="http://schemas.microsoft.com/office/drawing/2014/main" id="{FACB74BF-2871-54BE-BE33-CA0201C09F49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572000" y="952500"/>
            <a:ext cx="4238625" cy="1808480"/>
          </a:xfrm>
          <a:prstGeom prst="rect">
            <a:avLst/>
          </a:prstGeom>
        </p:spPr>
      </p:pic>
      <p:pic>
        <p:nvPicPr>
          <p:cNvPr id="11" name="Picture 10">
            <a:extLst>
              <a:ext uri="{FF2B5EF4-FFF2-40B4-BE49-F238E27FC236}">
                <a16:creationId xmlns:a16="http://schemas.microsoft.com/office/drawing/2014/main" id="{D0216F36-B38A-3C46-D948-1A2F8F0B9167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33438" y="3429000"/>
            <a:ext cx="3048000" cy="1238250"/>
          </a:xfrm>
          <a:prstGeom prst="rect">
            <a:avLst/>
          </a:prstGeom>
        </p:spPr>
      </p:pic>
      <p:sp>
        <p:nvSpPr>
          <p:cNvPr id="12" name="TextBox 11">
            <a:extLst>
              <a:ext uri="{FF2B5EF4-FFF2-40B4-BE49-F238E27FC236}">
                <a16:creationId xmlns:a16="http://schemas.microsoft.com/office/drawing/2014/main" id="{6EF21E4F-6FB5-21B7-EA5A-69EE77D30254}"/>
              </a:ext>
            </a:extLst>
          </p:cNvPr>
          <p:cNvSpPr txBox="1"/>
          <p:nvPr/>
        </p:nvSpPr>
        <p:spPr>
          <a:xfrm>
            <a:off x="4572000" y="3429000"/>
            <a:ext cx="4238625" cy="307777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pPr marL="406400" indent="-177800">
              <a:spcAft>
                <a:spcPts val="400"/>
              </a:spcAft>
              <a:buFont typeface="+mj-lt"/>
              <a:buChar char="•"/>
            </a:pPr>
            <a:r>
              <a:rPr lang="sv-SE" sz="1280">
                <a:solidFill>
                  <a:srgbClr val="1E1E1E"/>
                </a:solidFill>
                <a:latin typeface="Arial" panose="020B0604020202020204" pitchFamily="34" charset="0"/>
              </a:rPr>
              <a:t>Right: middle leg on the bus: REDCUBE + M4, nylon standoffs, M6 stack lugs, DNP damping caps, level header</a:t>
            </a:r>
          </a:p>
          <a:p>
            <a:pPr marL="406400" indent="-177800">
              <a:spcAft>
                <a:spcPts val="400"/>
              </a:spcAft>
              <a:buFont typeface="+mj-lt"/>
              <a:buChar char="•"/>
            </a:pPr>
            <a:r>
              <a:rPr lang="sv-SE" sz="1280">
                <a:solidFill>
                  <a:srgbClr val="1E1E1E"/>
                </a:solidFill>
                <a:latin typeface="Arial" panose="020B0604020202020204" pitchFamily="34" charset="0"/>
              </a:rPr>
              <a:t>Left bottom: side view (z stack): busbar top z = 0, leg bottom 6.5 mm, heatsink top 52.8 mm</a:t>
            </a:r>
            <a:endParaRPr lang="sv-SE" sz="1280" dirty="0" err="1">
              <a:solidFill>
                <a:srgbClr val="1E1E1E"/>
              </a:solidFill>
              <a:latin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885210784"/>
      </p:ext>
    </p:extLst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0D23E79-6D96-2E1B-2EA0-927FD3D1CAD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z="2100"/>
              <a:t>Mechanics: heatsink length fixed by the leg pitch</a:t>
            </a:r>
            <a:endParaRPr lang="sv-SE" sz="210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8E3931DC-F4B1-A9C8-A26D-B9E840D8ADB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sv-SE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EE95C8B0-79AD-D009-A5E0-D5611A85788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422A9A3-8636-4A04-BD48-3153280FB086}" type="slidenum">
              <a:rPr lang="sv-SE" smtClean="0"/>
              <a:pPr/>
              <a:t>42</a:t>
            </a:fld>
            <a:endParaRPr lang="sv-SE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DDD241C5-CD30-E020-87F9-D05A8AF17071}"/>
              </a:ext>
            </a:extLst>
          </p:cNvPr>
          <p:cNvSpPr txBox="1"/>
          <p:nvPr/>
        </p:nvSpPr>
        <p:spPr>
          <a:xfrm>
            <a:off x="238125" y="952500"/>
            <a:ext cx="4953000" cy="307777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pPr marL="406400" indent="-177800">
              <a:spcAft>
                <a:spcPts val="400"/>
              </a:spcAft>
              <a:buFont typeface="+mj-lt"/>
              <a:buChar char="•"/>
            </a:pPr>
            <a:r>
              <a:rPr lang="en-US" sz="1380">
                <a:solidFill>
                  <a:srgbClr val="1E1E1E"/>
                </a:solidFill>
                <a:latin typeface="Arial" panose="020B0604020202020204" pitchFamily="34" charset="0"/>
              </a:rPr>
              <a:t>LAM 4 (100 mm) + fan = 110 mm: wider than the 89.5 mm board ⇒ with 5 mm gaps the heatsinks of neighbouring legs would overlap by ≈ 15 mm</a:t>
            </a:r>
          </a:p>
          <a:p>
            <a:pPr marL="406400" indent="-177800">
              <a:spcAft>
                <a:spcPts val="400"/>
              </a:spcAft>
              <a:buFont typeface="+mj-lt"/>
              <a:buChar char="•"/>
            </a:pPr>
            <a:r>
              <a:rPr lang="en-US" sz="1380" b="1">
                <a:solidFill>
                  <a:srgbClr val="1E1E1E"/>
                </a:solidFill>
                <a:latin typeface="Arial" panose="020B0604020202020204" pitchFamily="34" charset="0"/>
              </a:rPr>
              <a:t>LAM 4 K 50 12</a:t>
            </a:r>
            <a:r>
              <a:rPr lang="en-US" sz="1380">
                <a:solidFill>
                  <a:srgbClr val="1E1E1E"/>
                </a:solidFill>
                <a:latin typeface="Arial" panose="020B0604020202020204" pitchFamily="34" charset="0"/>
              </a:rPr>
              <a:t> (Farnell 4708974, 0.65 K/W): 50 mm tube + fan centred over the cells (x −35 … 25 mm), inside the board outline</a:t>
            </a:r>
          </a:p>
          <a:p>
            <a:pPr marL="406400" indent="-177800">
              <a:spcAft>
                <a:spcPts val="400"/>
              </a:spcAft>
              <a:buFont typeface="+mj-lt"/>
              <a:buChar char="•"/>
            </a:pPr>
            <a:r>
              <a:rPr lang="en-US" sz="1380">
                <a:solidFill>
                  <a:srgbClr val="1E1E1E"/>
                </a:solidFill>
                <a:latin typeface="Arial" panose="020B0604020202020204" pitchFamily="34" charset="0"/>
              </a:rPr>
              <a:t>Al spreader 89.5 × 12.8 × 3 mm carries the outer cells (x ±33 mm) to the tube; ≈ 18 W FET loss per leg ⇒ ≈ 12 K heatsink rise</a:t>
            </a:r>
          </a:p>
          <a:p>
            <a:pPr marL="406400" indent="-177800">
              <a:spcAft>
                <a:spcPts val="400"/>
              </a:spcAft>
              <a:buFont typeface="+mj-lt"/>
              <a:buChar char="•"/>
            </a:pPr>
            <a:r>
              <a:rPr lang="en-US" sz="1380">
                <a:solidFill>
                  <a:srgbClr val="1E1E1E"/>
                </a:solidFill>
                <a:latin typeface="Arial" panose="020B0604020202020204" pitchFamily="34" charset="0"/>
              </a:rPr>
              <a:t>Spreader underside 1.68 mm, top 4.68 mm: clears the 2.8 mm bank and all bypass parts</a:t>
            </a:r>
            <a:endParaRPr lang="sv-SE" sz="1380" dirty="0" err="1">
              <a:solidFill>
                <a:srgbClr val="1E1E1E"/>
              </a:solidFill>
              <a:latin typeface="Arial" panose="020B0604020202020204" pitchFamily="34" charset="0"/>
            </a:endParaRPr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E78264B1-E1BC-3366-95EC-BE458301B1BA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809763" y="952500"/>
            <a:ext cx="2572724" cy="2476500"/>
          </a:xfrm>
          <a:prstGeom prst="rect">
            <a:avLst/>
          </a:prstGeom>
        </p:spPr>
      </p:pic>
      <p:sp>
        <p:nvSpPr>
          <p:cNvPr id="9" name="decision">
            <a:extLst>
              <a:ext uri="{FF2B5EF4-FFF2-40B4-BE49-F238E27FC236}">
                <a16:creationId xmlns:a16="http://schemas.microsoft.com/office/drawing/2014/main" id="{31217431-0E80-BFB5-498B-343C6C8C2766}"/>
              </a:ext>
            </a:extLst>
          </p:cNvPr>
          <p:cNvSpPr/>
          <p:nvPr/>
        </p:nvSpPr>
        <p:spPr>
          <a:xfrm>
            <a:off x="238125" y="4400550"/>
            <a:ext cx="8667750" cy="381000"/>
          </a:xfrm>
          <a:prstGeom prst="roundRect">
            <a:avLst/>
          </a:prstGeom>
          <a:solidFill>
            <a:srgbClr val="EEF4FB"/>
          </a:solidFill>
          <a:ln w="158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101600" tIns="25400" bIns="25400" rtlCol="0" anchor="ctr">
            <a:noAutofit/>
          </a:bodyPr>
          <a:lstStyle/>
          <a:p>
            <a:r>
              <a:rPr lang="en-US" sz="1380" b="1">
                <a:solidFill>
                  <a:srgbClr val="1E1E1E"/>
                </a:solidFill>
                <a:latin typeface="Arial" panose="020B0604020202020204" pitchFamily="34" charset="0"/>
              </a:rPr>
              <a:t>Decision:</a:t>
            </a:r>
            <a:r>
              <a:rPr lang="en-US" sz="1380">
                <a:solidFill>
                  <a:srgbClr val="1E1E1E"/>
                </a:solidFill>
                <a:latin typeface="Arial" panose="020B0604020202020204" pitchFamily="34" charset="0"/>
              </a:rPr>
              <a:t> Load board heatsink: LAM 4 K 50 12, centred; leg pitch stays 94.5 mm (busbar unchanged)</a:t>
            </a:r>
            <a:endParaRPr lang="sv-SE" sz="1380" dirty="0">
              <a:solidFill>
                <a:srgbClr val="1E1E1E"/>
              </a:solidFill>
              <a:latin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916624856"/>
      </p:ext>
    </p:extLst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B3F3A98-BEDE-9C56-1DCE-97C7E6965F7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z="2100"/>
              <a:t>Full inverter: 16 levels on one 1200 V stack</a:t>
            </a:r>
            <a:endParaRPr lang="sv-SE" sz="210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F756ACF4-DDEA-10F6-8C9F-82075CEB23A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sv-SE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E29942BF-27EC-0349-8414-EDB778E4E51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422A9A3-8636-4A04-BD48-3153280FB086}" type="slidenum">
              <a:rPr lang="sv-SE" smtClean="0"/>
              <a:pPr/>
              <a:t>43</a:t>
            </a:fld>
            <a:endParaRPr lang="sv-SE"/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1F67294B-FCF0-3C17-A6C9-9C9FBA521714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21236" y="952500"/>
            <a:ext cx="1091278" cy="3810001"/>
          </a:xfrm>
          <a:prstGeom prst="rect">
            <a:avLst/>
          </a:prstGeom>
        </p:spPr>
      </p:pic>
      <p:sp>
        <p:nvSpPr>
          <p:cNvPr id="8" name="TextBox 7">
            <a:extLst>
              <a:ext uri="{FF2B5EF4-FFF2-40B4-BE49-F238E27FC236}">
                <a16:creationId xmlns:a16="http://schemas.microsoft.com/office/drawing/2014/main" id="{9EFE6125-F097-F692-61D5-29333E72A121}"/>
              </a:ext>
            </a:extLst>
          </p:cNvPr>
          <p:cNvSpPr txBox="1"/>
          <p:nvPr/>
        </p:nvSpPr>
        <p:spPr>
          <a:xfrm>
            <a:off x="3286125" y="952500"/>
            <a:ext cx="5524500" cy="307777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pPr marL="406400" indent="-177800">
              <a:spcAft>
                <a:spcPts val="400"/>
              </a:spcAft>
              <a:buFont typeface="+mj-lt"/>
              <a:buChar char="•"/>
            </a:pPr>
            <a:r>
              <a:rPr lang="en-US" sz="1380">
                <a:solidFill>
                  <a:srgbClr val="1E1E1E"/>
                </a:solidFill>
                <a:latin typeface="Arial" panose="020B0604020202020204" pitchFamily="34" charset="0"/>
              </a:rPr>
              <a:t>16 identical levels (75 V each) stacked in z, pitch 72 mm ⇒ ≈ 1.15 m</a:t>
            </a:r>
          </a:p>
          <a:p>
            <a:pPr marL="406400" indent="-177800">
              <a:spcAft>
                <a:spcPts val="400"/>
              </a:spcAft>
              <a:buFont typeface="+mj-lt"/>
              <a:buChar char="•"/>
            </a:pPr>
            <a:r>
              <a:rPr lang="en-US" sz="1380">
                <a:solidFill>
                  <a:srgbClr val="1E1E1E"/>
                </a:solidFill>
                <a:latin typeface="Arial" panose="020B0604020202020204" pitchFamily="34" charset="0"/>
              </a:rPr>
              <a:t>DC+ lug of level k ↔ DC− lug of level k + 1 by a Cu braid (8 × 1.5 mm in the model); stack ends = 1200 V DC+ / DC−</a:t>
            </a:r>
          </a:p>
          <a:p>
            <a:pPr marL="406400" indent="-177800">
              <a:spcAft>
                <a:spcPts val="400"/>
              </a:spcAft>
              <a:buFont typeface="+mj-lt"/>
              <a:buChar char="•"/>
            </a:pPr>
            <a:r>
              <a:rPr lang="en-US" sz="1380">
                <a:solidFill>
                  <a:srgbClr val="1E1E1E"/>
                </a:solidFill>
                <a:latin typeface="Arial" panose="020B0604020202020204" pitchFamily="34" charset="0"/>
              </a:rPr>
              <a:t>Each level: 3 legs = one three-phase winding set; AC bars + HO 250-S per leg</a:t>
            </a:r>
          </a:p>
          <a:p>
            <a:pPr marL="406400" indent="-177800">
              <a:spcAft>
                <a:spcPts val="400"/>
              </a:spcAft>
              <a:buFont typeface="+mj-lt"/>
              <a:buChar char="•"/>
            </a:pPr>
            <a:r>
              <a:rPr lang="en-US" sz="1380">
                <a:solidFill>
                  <a:srgbClr val="1E1E1E"/>
                </a:solidFill>
                <a:latin typeface="Arial" panose="020B0604020202020204" pitchFamily="34" charset="0"/>
              </a:rPr>
              <a:t>Every level floats up to 1200 V above the frame: insulating standoffs with 8 mm Cu keep-out on the busbar</a:t>
            </a:r>
          </a:p>
          <a:p>
            <a:pPr marL="406400" indent="-177800">
              <a:spcAft>
                <a:spcPts val="400"/>
              </a:spcAft>
              <a:buFont typeface="+mj-lt"/>
              <a:buChar char="•"/>
            </a:pPr>
            <a:r>
              <a:rPr lang="en-US" sz="1380">
                <a:solidFill>
                  <a:srgbClr val="1E1E1E"/>
                </a:solidFill>
                <a:latin typeface="Arial" panose="020B0604020202020204" pitchFamily="34" charset="0"/>
              </a:rPr>
              <a:t>Assembly STEP: hardware/assembly/spb-level-assembly.step (1 level), spb-stack-assembly.step (16 levels), scripts/make_assembly_step.py (OpenCascade)</a:t>
            </a:r>
            <a:endParaRPr lang="sv-SE" sz="1380" dirty="0" err="1">
              <a:solidFill>
                <a:srgbClr val="1E1E1E"/>
              </a:solidFill>
              <a:latin typeface="Arial" panose="020B0604020202020204" pitchFamily="34" charset="0"/>
            </a:endParaRP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AD89D5AD-3EB0-6038-096C-95EBB0AD0CB5}"/>
              </a:ext>
            </a:extLst>
          </p:cNvPr>
          <p:cNvSpPr txBox="1"/>
          <p:nvPr/>
        </p:nvSpPr>
        <p:spPr>
          <a:xfrm>
            <a:off x="228600" y="4597400"/>
            <a:ext cx="7874000" cy="307777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n-US" sz="730">
                <a:solidFill>
                  <a:srgbClr val="787878"/>
                </a:solidFill>
                <a:latin typeface="Arial" panose="020B0604020202020204" pitchFamily="34" charset="0"/>
              </a:rPr>
              <a:t>Stack direction and frame are illustrative: the machine-side layout (winding terminals) sets the final arrangement.</a:t>
            </a:r>
            <a:endParaRPr lang="sv-SE" sz="730" dirty="0" err="1">
              <a:solidFill>
                <a:srgbClr val="787878"/>
              </a:solidFill>
              <a:latin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270952539"/>
      </p:ext>
    </p:extLst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D0696FD-9A9A-5F12-F586-F9AA0B8A2DC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z="2100"/>
              <a:t>Fast Q3D set on the final boards</a:t>
            </a:r>
            <a:endParaRPr lang="sv-SE" sz="210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B12F21A0-2A85-BED8-0E86-3E8F8D51521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sv-SE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97B293E0-DD3C-3ABE-6027-674DD72BD2E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422A9A3-8636-4A04-BD48-3153280FB086}" type="slidenum">
              <a:rPr lang="sv-SE" smtClean="0"/>
              <a:pPr/>
              <a:t>44</a:t>
            </a:fld>
            <a:endParaRPr lang="sv-SE"/>
          </a:p>
        </p:txBody>
      </p:sp>
      <p:graphicFrame>
        <p:nvGraphicFramePr>
          <p:cNvPr id="6" name="Table 5">
            <a:extLst>
              <a:ext uri="{FF2B5EF4-FFF2-40B4-BE49-F238E27FC236}">
                <a16:creationId xmlns:a16="http://schemas.microsoft.com/office/drawing/2014/main" id="{F1ACB91E-3F3B-0FB8-DA11-67AEE7DF931E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958695844"/>
              </p:ext>
            </p:extLst>
          </p:nvPr>
        </p:nvGraphicFramePr>
        <p:xfrm>
          <a:off x="238125" y="952500"/>
          <a:ext cx="8667750" cy="146685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143000">
                  <a:extLst>
                    <a:ext uri="{9D8B030D-6E8A-4147-A177-3AD203B41FA5}">
                      <a16:colId xmlns:a16="http://schemas.microsoft.com/office/drawing/2014/main" val="1722189077"/>
                    </a:ext>
                  </a:extLst>
                </a:gridCol>
                <a:gridCol w="2571750">
                  <a:extLst>
                    <a:ext uri="{9D8B030D-6E8A-4147-A177-3AD203B41FA5}">
                      <a16:colId xmlns:a16="http://schemas.microsoft.com/office/drawing/2014/main" val="2955942678"/>
                    </a:ext>
                  </a:extLst>
                </a:gridCol>
                <a:gridCol w="1143000">
                  <a:extLst>
                    <a:ext uri="{9D8B030D-6E8A-4147-A177-3AD203B41FA5}">
                      <a16:colId xmlns:a16="http://schemas.microsoft.com/office/drawing/2014/main" val="1725143680"/>
                    </a:ext>
                  </a:extLst>
                </a:gridCol>
                <a:gridCol w="2571750">
                  <a:extLst>
                    <a:ext uri="{9D8B030D-6E8A-4147-A177-3AD203B41FA5}">
                      <a16:colId xmlns:a16="http://schemas.microsoft.com/office/drawing/2014/main" val="1364292412"/>
                    </a:ext>
                  </a:extLst>
                </a:gridCol>
                <a:gridCol w="1143000">
                  <a:extLst>
                    <a:ext uri="{9D8B030D-6E8A-4147-A177-3AD203B41FA5}">
                      <a16:colId xmlns:a16="http://schemas.microsoft.com/office/drawing/2014/main" val="2722093484"/>
                    </a:ext>
                  </a:extLst>
                </a:gridCol>
              </a:tblGrid>
              <a:tr h="165100">
                <a:tc>
                  <a:txBody>
                    <a:bodyPr/>
                    <a:lstStyle/>
                    <a:p>
                      <a:pPr algn="l"/>
                      <a:r>
                        <a:rPr lang="sv-SE" sz="1100" b="1">
                          <a:solidFill>
                            <a:srgbClr val="FFFFFF"/>
                          </a:solidFill>
                          <a:latin typeface="Arial" panose="020B0604020202020204" pitchFamily="34" charset="0"/>
                        </a:rPr>
                        <a:t>Model</a:t>
                      </a:r>
                    </a:p>
                  </a:txBody>
                  <a:tcPr marL="50800" marR="50800" marT="25400" marB="25400">
                    <a:solidFill>
                      <a:srgbClr val="1954A6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sv-SE" sz="1100" b="1">
                          <a:solidFill>
                            <a:srgbClr val="FFFFFF"/>
                          </a:solidFill>
                          <a:latin typeface="Arial" panose="020B0604020202020204" pitchFamily="34" charset="0"/>
                        </a:rPr>
                        <a:t>Region</a:t>
                      </a:r>
                    </a:p>
                  </a:txBody>
                  <a:tcPr marL="50800" marR="50800" marT="25400" marB="25400">
                    <a:solidFill>
                      <a:srgbClr val="1954A6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sv-SE" sz="1100" b="1">
                          <a:solidFill>
                            <a:srgbClr val="FFFFFF"/>
                          </a:solidFill>
                          <a:latin typeface="Arial" panose="020B0604020202020204" pitchFamily="34" charset="0"/>
                        </a:rPr>
                        <a:t>Solve</a:t>
                      </a:r>
                    </a:p>
                  </a:txBody>
                  <a:tcPr marL="50800" marR="50800" marT="25400" marB="25400">
                    <a:solidFill>
                      <a:srgbClr val="1954A6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sv-SE" sz="1100" b="1">
                          <a:solidFill>
                            <a:srgbClr val="FFFFFF"/>
                          </a:solidFill>
                          <a:latin typeface="Arial" panose="020B0604020202020204" pitchFamily="34" charset="0"/>
                        </a:rPr>
                        <a:t>Gives</a:t>
                      </a:r>
                    </a:p>
                  </a:txBody>
                  <a:tcPr marL="50800" marR="50800" marT="25400" marB="25400">
                    <a:solidFill>
                      <a:srgbClr val="1954A6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sv-SE" sz="1100" b="1">
                          <a:solidFill>
                            <a:srgbClr val="FFFFFF"/>
                          </a:solidFill>
                          <a:latin typeface="Arial" panose="020B0604020202020204" pitchFamily="34" charset="0"/>
                        </a:rPr>
                        <a:t>Run time</a:t>
                      </a:r>
                    </a:p>
                  </a:txBody>
                  <a:tcPr marL="50800" marR="50800" marT="25400" marB="25400">
                    <a:solidFill>
                      <a:srgbClr val="1954A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807163223"/>
                  </a:ext>
                </a:extLst>
              </a:tr>
              <a:tr h="165100">
                <a:tc>
                  <a:txBody>
                    <a:bodyPr/>
                    <a:lstStyle/>
                    <a:p>
                      <a:pPr algn="l"/>
                      <a:r>
                        <a:rPr lang="sv-SE" sz="110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loop (per board)</a:t>
                      </a:r>
                    </a:p>
                  </a:txBody>
                  <a:tcPr marL="50800" marR="50800" marT="25400" marB="25400"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10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cell band y −4.6 … 20.6 mm, AC split per cell</a:t>
                      </a:r>
                      <a:endParaRPr lang="sv-SE" sz="1100">
                        <a:solidFill>
                          <a:srgbClr val="1E1E1E"/>
                        </a:solidFill>
                        <a:latin typeface="Arial" panose="020B0604020202020204" pitchFamily="34" charset="0"/>
                      </a:endParaRPr>
                    </a:p>
                  </a:txBody>
                  <a:tcPr marL="50800" marR="50800" marT="25400" marB="25400"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sv-SE" sz="110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AC 100 MHz</a:t>
                      </a:r>
                    </a:p>
                  </a:txBody>
                  <a:tcPr marL="50800" marR="50800" marT="25400" marB="25400"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sv-SE" sz="110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commutation loop per cell</a:t>
                      </a:r>
                    </a:p>
                  </a:txBody>
                  <a:tcPr marL="50800" marR="50800" marT="25400" marB="25400"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sv-SE" sz="110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787 / 30 min</a:t>
                      </a:r>
                    </a:p>
                  </a:txBody>
                  <a:tcPr marL="50800" marR="50800" marT="25400" marB="25400">
                    <a:solidFill>
                      <a:srgbClr val="E8EF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264561969"/>
                  </a:ext>
                </a:extLst>
              </a:tr>
              <a:tr h="165100">
                <a:tc>
                  <a:txBody>
                    <a:bodyPr/>
                    <a:lstStyle/>
                    <a:p>
                      <a:pPr algn="l"/>
                      <a:r>
                        <a:rPr lang="sv-SE" sz="110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full board</a:t>
                      </a:r>
                    </a:p>
                  </a:txBody>
                  <a:tcPr marL="50800" marR="508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sv-SE" sz="110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whole board, all terminals</a:t>
                      </a:r>
                    </a:p>
                  </a:txBody>
                  <a:tcPr marL="50800" marR="508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sv-SE" sz="110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DC R only</a:t>
                      </a:r>
                    </a:p>
                  </a:txBody>
                  <a:tcPr marL="50800" marR="508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sv-SE" sz="110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current sharing, copper loss</a:t>
                      </a:r>
                    </a:p>
                  </a:txBody>
                  <a:tcPr marL="50800" marR="508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sv-SE" sz="110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26 / 22 min</a:t>
                      </a:r>
                    </a:p>
                  </a:txBody>
                  <a:tcPr marL="50800" marR="50800" marT="25400" marB="25400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657842002"/>
                  </a:ext>
                </a:extLst>
              </a:tr>
              <a:tr h="165100">
                <a:tc>
                  <a:txBody>
                    <a:bodyPr/>
                    <a:lstStyle/>
                    <a:p>
                      <a:pPr algn="l"/>
                      <a:r>
                        <a:rPr lang="sv-SE" sz="110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bank</a:t>
                      </a:r>
                    </a:p>
                  </a:txBody>
                  <a:tcPr marL="50800" marR="50800" marT="25400" marB="25400"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10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DC terminals + bank + bypass (y −25 … 4.3 mm)</a:t>
                      </a:r>
                      <a:endParaRPr lang="sv-SE" sz="1100">
                        <a:solidFill>
                          <a:srgbClr val="1E1E1E"/>
                        </a:solidFill>
                        <a:latin typeface="Arial" panose="020B0604020202020204" pitchFamily="34" charset="0"/>
                      </a:endParaRPr>
                    </a:p>
                  </a:txBody>
                  <a:tcPr marL="50800" marR="50800" marT="25400" marB="25400"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sv-SE" sz="110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AC 1 MHz</a:t>
                      </a:r>
                    </a:p>
                  </a:txBody>
                  <a:tcPr marL="50800" marR="50800" marT="25400" marB="25400"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sv-SE" sz="110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leg DC-link port, L</a:t>
                      </a:r>
                      <a:r>
                        <a:rPr lang="sv-SE" sz="1100" baseline="-2500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b</a:t>
                      </a:r>
                      <a:r>
                        <a:rPr lang="sv-SE" sz="110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 bypass → bank</a:t>
                      </a:r>
                    </a:p>
                  </a:txBody>
                  <a:tcPr marL="50800" marR="50800" marT="25400" marB="25400"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sv-SE" sz="110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6 min</a:t>
                      </a:r>
                    </a:p>
                  </a:txBody>
                  <a:tcPr marL="50800" marR="50800" marT="25400" marB="25400">
                    <a:solidFill>
                      <a:srgbClr val="E8EF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970984340"/>
                  </a:ext>
                </a:extLst>
              </a:tr>
              <a:tr h="165100">
                <a:tc>
                  <a:txBody>
                    <a:bodyPr/>
                    <a:lstStyle/>
                    <a:p>
                      <a:pPr algn="l"/>
                      <a:r>
                        <a:rPr lang="sv-SE" sz="110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lx</a:t>
                      </a:r>
                    </a:p>
                  </a:txBody>
                  <a:tcPr marL="50800" marR="508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10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cells + AC columns + AC bus, no bank / terminals</a:t>
                      </a:r>
                      <a:endParaRPr lang="sv-SE" sz="1100">
                        <a:solidFill>
                          <a:srgbClr val="1E1E1E"/>
                        </a:solidFill>
                        <a:latin typeface="Arial" panose="020B0604020202020204" pitchFamily="34" charset="0"/>
                      </a:endParaRPr>
                    </a:p>
                  </a:txBody>
                  <a:tcPr marL="50800" marR="508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sv-SE" sz="110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AC 100 MHz</a:t>
                      </a:r>
                    </a:p>
                  </a:txBody>
                  <a:tcPr marL="50800" marR="508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10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L</a:t>
                      </a:r>
                      <a:r>
                        <a:rPr lang="en-US" sz="1100" baseline="-2500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x</a:t>
                      </a:r>
                      <a:r>
                        <a:rPr lang="en-US" sz="110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 between the driver pairs</a:t>
                      </a:r>
                      <a:endParaRPr lang="sv-SE" sz="1100">
                        <a:solidFill>
                          <a:srgbClr val="1E1E1E"/>
                        </a:solidFill>
                        <a:latin typeface="Arial" panose="020B0604020202020204" pitchFamily="34" charset="0"/>
                      </a:endParaRPr>
                    </a:p>
                  </a:txBody>
                  <a:tcPr marL="50800" marR="508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sv-SE" sz="110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138 / 113 min</a:t>
                      </a:r>
                    </a:p>
                  </a:txBody>
                  <a:tcPr marL="50800" marR="50800" marT="25400" marB="25400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730163179"/>
                  </a:ext>
                </a:extLst>
              </a:tr>
              <a:tr h="165100">
                <a:tc>
                  <a:txBody>
                    <a:bodyPr/>
                    <a:lstStyle/>
                    <a:p>
                      <a:pPr algn="l"/>
                      <a:r>
                        <a:rPr lang="sv-SE" sz="110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busbar</a:t>
                      </a:r>
                    </a:p>
                  </a:txBody>
                  <a:tcPr marL="50800" marR="50800" marT="25400" marB="25400"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10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PCB busbar, stitching vias every 2nd</a:t>
                      </a:r>
                      <a:endParaRPr lang="sv-SE" sz="1100">
                        <a:solidFill>
                          <a:srgbClr val="1E1E1E"/>
                        </a:solidFill>
                        <a:latin typeface="Arial" panose="020B0604020202020204" pitchFamily="34" charset="0"/>
                      </a:endParaRPr>
                    </a:p>
                  </a:txBody>
                  <a:tcPr marL="50800" marR="50800" marT="25400" marB="25400"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fr-FR" sz="110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DC + AC 1 MHz, 2 %</a:t>
                      </a:r>
                      <a:endParaRPr lang="sv-SE" sz="1100">
                        <a:solidFill>
                          <a:srgbClr val="1E1E1E"/>
                        </a:solidFill>
                        <a:latin typeface="Arial" panose="020B0604020202020204" pitchFamily="34" charset="0"/>
                      </a:endParaRPr>
                    </a:p>
                  </a:txBody>
                  <a:tcPr marL="50800" marR="50800" marT="25400" marB="25400"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sv-SE" sz="110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leg-to-leg loop, DC distribution</a:t>
                      </a:r>
                    </a:p>
                  </a:txBody>
                  <a:tcPr marL="50800" marR="50800" marT="25400" marB="25400"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sv-SE" sz="110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43 min</a:t>
                      </a:r>
                    </a:p>
                  </a:txBody>
                  <a:tcPr marL="50800" marR="50800" marT="25400" marB="25400">
                    <a:solidFill>
                      <a:srgbClr val="E8EF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773575226"/>
                  </a:ext>
                </a:extLst>
              </a:tr>
              <a:tr h="165100">
                <a:tc>
                  <a:txBody>
                    <a:bodyPr/>
                    <a:lstStyle/>
                    <a:p>
                      <a:pPr algn="l"/>
                      <a:r>
                        <a:rPr lang="sv-SE" sz="110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three-phase level</a:t>
                      </a:r>
                    </a:p>
                  </a:txBody>
                  <a:tcPr marL="50800" marR="508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sv-SE" sz="110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3 × bank model + busbar matrices</a:t>
                      </a:r>
                    </a:p>
                  </a:txBody>
                  <a:tcPr marL="50800" marR="508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sv-SE" sz="110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network (MNA)</a:t>
                      </a:r>
                    </a:p>
                  </a:txBody>
                  <a:tcPr marL="50800" marR="508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10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ripple sharing, |Z|, terminal currents</a:t>
                      </a:r>
                      <a:endParaRPr lang="sv-SE" sz="1100">
                        <a:solidFill>
                          <a:srgbClr val="1E1E1E"/>
                        </a:solidFill>
                        <a:latin typeface="Arial" panose="020B0604020202020204" pitchFamily="34" charset="0"/>
                      </a:endParaRPr>
                    </a:p>
                  </a:txBody>
                  <a:tcPr marL="50800" marR="508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sv-SE" sz="110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seconds</a:t>
                      </a:r>
                    </a:p>
                  </a:txBody>
                  <a:tcPr marL="50800" marR="50800" marT="25400" marB="25400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397030354"/>
                  </a:ext>
                </a:extLst>
              </a:tr>
            </a:tbl>
          </a:graphicData>
        </a:graphic>
      </p:graphicFrame>
      <p:sp>
        <p:nvSpPr>
          <p:cNvPr id="7" name="TextBox 6">
            <a:extLst>
              <a:ext uri="{FF2B5EF4-FFF2-40B4-BE49-F238E27FC236}">
                <a16:creationId xmlns:a16="http://schemas.microsoft.com/office/drawing/2014/main" id="{83F49EF0-3750-3273-6A82-2362C158BC1E}"/>
              </a:ext>
            </a:extLst>
          </p:cNvPr>
          <p:cNvSpPr txBox="1"/>
          <p:nvPr/>
        </p:nvSpPr>
        <p:spPr>
          <a:xfrm>
            <a:off x="238125" y="3714750"/>
            <a:ext cx="8667750" cy="307777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pPr marL="406400" indent="-177800">
              <a:spcAft>
                <a:spcPts val="400"/>
              </a:spcAft>
              <a:buFont typeface="+mj-lt"/>
              <a:buChar char="•"/>
            </a:pPr>
            <a:r>
              <a:rPr lang="en-US" sz="1280">
                <a:solidFill>
                  <a:srgbClr val="1E1E1E"/>
                </a:solidFill>
                <a:latin typeface="Arial" panose="020B0604020202020204" pitchFamily="34" charset="0"/>
              </a:rPr>
              <a:t>Instead of one large model (&gt; 3 h, not converged): small models, each solved only for what it is used for; DC is solved for R only (the DC-inductance solve alone ran &gt; 19 h on the first attempt)</a:t>
            </a:r>
          </a:p>
          <a:p>
            <a:pPr marL="406400" indent="-177800">
              <a:spcAft>
                <a:spcPts val="400"/>
              </a:spcAft>
              <a:buFont typeface="+mj-lt"/>
              <a:buChar char="•"/>
            </a:pPr>
            <a:r>
              <a:rPr lang="en-US" sz="1280">
                <a:solidFill>
                  <a:srgbClr val="1E1E1E"/>
                </a:solidFill>
                <a:latin typeface="Arial" panose="020B0604020202020204" pitchFamily="34" charset="0"/>
              </a:rPr>
              <a:t>Run: simulation/bb_q3d/run_bb_q3d_final.cmd (KTH licence) → final_post.py → reports/slides/data/final_numbers.json</a:t>
            </a:r>
          </a:p>
          <a:p>
            <a:pPr marL="406400" indent="-177800">
              <a:spcAft>
                <a:spcPts val="400"/>
              </a:spcAft>
              <a:buFont typeface="+mj-lt"/>
              <a:buChar char="•"/>
            </a:pPr>
            <a:r>
              <a:rPr lang="en-US" sz="1280">
                <a:solidFill>
                  <a:srgbClr val="1E1E1E"/>
                </a:solidFill>
                <a:latin typeface="Arial" panose="020B0604020202020204" pitchFamily="34" charset="0"/>
              </a:rPr>
              <a:t>Run times: DPT / load board</a:t>
            </a:r>
            <a:endParaRPr lang="sv-SE" sz="1280" dirty="0" err="1">
              <a:solidFill>
                <a:srgbClr val="1E1E1E"/>
              </a:solidFill>
              <a:latin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515773914"/>
      </p:ext>
    </p:extLst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D508916-7A62-3AED-442F-93E7BF19B66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z="2100"/>
              <a:t>Q3D: commutation loop per cell, final boards</a:t>
            </a:r>
            <a:endParaRPr lang="sv-SE" sz="210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248358C1-53EC-321E-3CE0-63554A715AF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sv-SE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33009221-4176-0884-BBC4-66FEA8F0F74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422A9A3-8636-4A04-BD48-3153280FB086}" type="slidenum">
              <a:rPr lang="sv-SE" smtClean="0"/>
              <a:pPr/>
              <a:t>45</a:t>
            </a:fld>
            <a:endParaRPr lang="sv-SE"/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19103A03-BE36-27CD-237D-0A9C44D37906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41987" y="952500"/>
            <a:ext cx="5135777" cy="2714625"/>
          </a:xfrm>
          <a:prstGeom prst="rect">
            <a:avLst/>
          </a:prstGeom>
        </p:spPr>
      </p:pic>
      <p:graphicFrame>
        <p:nvGraphicFramePr>
          <p:cNvPr id="8" name="Table 7">
            <a:extLst>
              <a:ext uri="{FF2B5EF4-FFF2-40B4-BE49-F238E27FC236}">
                <a16:creationId xmlns:a16="http://schemas.microsoft.com/office/drawing/2014/main" id="{E3FCC9E3-8EF3-3835-F6DC-6795BE536EAC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11110199"/>
              </p:ext>
            </p:extLst>
          </p:nvPr>
        </p:nvGraphicFramePr>
        <p:xfrm>
          <a:off x="5524501" y="952500"/>
          <a:ext cx="3286125" cy="104775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285875">
                  <a:extLst>
                    <a:ext uri="{9D8B030D-6E8A-4147-A177-3AD203B41FA5}">
                      <a16:colId xmlns:a16="http://schemas.microsoft.com/office/drawing/2014/main" val="2058577693"/>
                    </a:ext>
                  </a:extLst>
                </a:gridCol>
                <a:gridCol w="1000125">
                  <a:extLst>
                    <a:ext uri="{9D8B030D-6E8A-4147-A177-3AD203B41FA5}">
                      <a16:colId xmlns:a16="http://schemas.microsoft.com/office/drawing/2014/main" val="1604485309"/>
                    </a:ext>
                  </a:extLst>
                </a:gridCol>
                <a:gridCol w="1000125">
                  <a:extLst>
                    <a:ext uri="{9D8B030D-6E8A-4147-A177-3AD203B41FA5}">
                      <a16:colId xmlns:a16="http://schemas.microsoft.com/office/drawing/2014/main" val="913491216"/>
                    </a:ext>
                  </a:extLst>
                </a:gridCol>
              </a:tblGrid>
              <a:tr h="165100">
                <a:tc>
                  <a:txBody>
                    <a:bodyPr/>
                    <a:lstStyle/>
                    <a:p>
                      <a:pPr algn="l"/>
                      <a:r>
                        <a:rPr lang="sv-SE" sz="1190" b="1">
                          <a:solidFill>
                            <a:srgbClr val="FFFFFF"/>
                          </a:solidFill>
                          <a:latin typeface="Arial" panose="020B0604020202020204" pitchFamily="34" charset="0"/>
                        </a:rPr>
                        <a:t>Loop per cell (nH)</a:t>
                      </a:r>
                    </a:p>
                  </a:txBody>
                  <a:tcPr marL="50800" marR="50800" marT="25400" marB="25400">
                    <a:solidFill>
                      <a:srgbClr val="1954A6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sv-SE" sz="1190" b="1">
                          <a:solidFill>
                            <a:srgbClr val="FFFFFF"/>
                          </a:solidFill>
                          <a:latin typeface="Arial" panose="020B0604020202020204" pitchFamily="34" charset="0"/>
                        </a:rPr>
                        <a:t>DPT</a:t>
                      </a:r>
                    </a:p>
                  </a:txBody>
                  <a:tcPr marL="50800" marR="50800" marT="25400" marB="25400">
                    <a:solidFill>
                      <a:srgbClr val="1954A6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sv-SE" sz="1190" b="1">
                          <a:solidFill>
                            <a:srgbClr val="FFFFFF"/>
                          </a:solidFill>
                          <a:latin typeface="Arial" panose="020B0604020202020204" pitchFamily="34" charset="0"/>
                        </a:rPr>
                        <a:t>load test</a:t>
                      </a:r>
                    </a:p>
                  </a:txBody>
                  <a:tcPr marL="50800" marR="50800" marT="25400" marB="25400">
                    <a:solidFill>
                      <a:srgbClr val="1954A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117631918"/>
                  </a:ext>
                </a:extLst>
              </a:tr>
              <a:tr h="165100">
                <a:tc>
                  <a:txBody>
                    <a:bodyPr/>
                    <a:lstStyle/>
                    <a:p>
                      <a:pPr algn="l"/>
                      <a:r>
                        <a:rPr lang="sv-SE" sz="119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cell 1 / 2</a:t>
                      </a:r>
                    </a:p>
                  </a:txBody>
                  <a:tcPr marL="50800" marR="50800" marT="25400" marB="25400"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sv-SE" sz="119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0.652 / 0.652</a:t>
                      </a:r>
                    </a:p>
                  </a:txBody>
                  <a:tcPr marL="50800" marR="50800" marT="25400" marB="25400"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sv-SE" sz="119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0.408 / 0.408</a:t>
                      </a:r>
                    </a:p>
                  </a:txBody>
                  <a:tcPr marL="50800" marR="50800" marT="25400" marB="25400">
                    <a:solidFill>
                      <a:srgbClr val="E8EF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791290236"/>
                  </a:ext>
                </a:extLst>
              </a:tr>
              <a:tr h="165100">
                <a:tc>
                  <a:txBody>
                    <a:bodyPr/>
                    <a:lstStyle/>
                    <a:p>
                      <a:pPr algn="l"/>
                      <a:r>
                        <a:rPr lang="sv-SE" sz="119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cell 3 / 4</a:t>
                      </a:r>
                    </a:p>
                  </a:txBody>
                  <a:tcPr marL="50800" marR="508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sv-SE" sz="119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0.647 / 0.653</a:t>
                      </a:r>
                    </a:p>
                  </a:txBody>
                  <a:tcPr marL="50800" marR="508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sv-SE" sz="119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0.406 / 0.412</a:t>
                      </a:r>
                    </a:p>
                  </a:txBody>
                  <a:tcPr marL="50800" marR="50800" marT="25400" marB="25400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906810909"/>
                  </a:ext>
                </a:extLst>
              </a:tr>
              <a:tr h="165100">
                <a:tc>
                  <a:txBody>
                    <a:bodyPr/>
                    <a:lstStyle/>
                    <a:p>
                      <a:pPr algn="l"/>
                      <a:r>
                        <a:rPr lang="sv-SE" sz="1190" b="1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mean</a:t>
                      </a:r>
                    </a:p>
                  </a:txBody>
                  <a:tcPr marL="50800" marR="50800" marT="25400" marB="25400"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sv-SE" sz="1190" b="1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0.65</a:t>
                      </a:r>
                    </a:p>
                  </a:txBody>
                  <a:tcPr marL="50800" marR="50800" marT="25400" marB="25400"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sv-SE" sz="1190" b="1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0.41</a:t>
                      </a:r>
                    </a:p>
                  </a:txBody>
                  <a:tcPr marL="50800" marR="50800" marT="25400" marB="25400">
                    <a:solidFill>
                      <a:srgbClr val="E8EF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06705926"/>
                  </a:ext>
                </a:extLst>
              </a:tr>
              <a:tr h="165100">
                <a:tc>
                  <a:txBody>
                    <a:bodyPr/>
                    <a:lstStyle/>
                    <a:p>
                      <a:pPr algn="l"/>
                      <a:r>
                        <a:rPr lang="sv-SE" sz="119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v̂</a:t>
                      </a:r>
                      <a:r>
                        <a:rPr lang="sv-SE" sz="1190" baseline="-2500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DS</a:t>
                      </a:r>
                      <a:r>
                        <a:rPr lang="sv-SE" sz="119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 at 30 A/ns</a:t>
                      </a:r>
                    </a:p>
                  </a:txBody>
                  <a:tcPr marL="50800" marR="508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sv-SE" sz="1190" b="1">
                          <a:solidFill>
                            <a:srgbClr val="C84632"/>
                          </a:solidFill>
                          <a:latin typeface="Arial" panose="020B0604020202020204" pitchFamily="34" charset="0"/>
                        </a:rPr>
                        <a:t>94 V</a:t>
                      </a:r>
                    </a:p>
                  </a:txBody>
                  <a:tcPr marL="50800" marR="508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sv-SE" sz="119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87 V</a:t>
                      </a:r>
                    </a:p>
                  </a:txBody>
                  <a:tcPr marL="50800" marR="50800" marT="25400" marB="25400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140344200"/>
                  </a:ext>
                </a:extLst>
              </a:tr>
            </a:tbl>
          </a:graphicData>
        </a:graphic>
      </p:graphicFrame>
      <p:sp>
        <p:nvSpPr>
          <p:cNvPr id="9" name="TextBox 8">
            <a:extLst>
              <a:ext uri="{FF2B5EF4-FFF2-40B4-BE49-F238E27FC236}">
                <a16:creationId xmlns:a16="http://schemas.microsoft.com/office/drawing/2014/main" id="{9410F924-027B-F1B8-DBA8-22978598A7B4}"/>
              </a:ext>
            </a:extLst>
          </p:cNvPr>
          <p:cNvSpPr txBox="1"/>
          <p:nvPr/>
        </p:nvSpPr>
        <p:spPr>
          <a:xfrm>
            <a:off x="5524500" y="2667000"/>
            <a:ext cx="3286125" cy="307777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pPr marL="406400" indent="-177800">
              <a:spcAft>
                <a:spcPts val="400"/>
              </a:spcAft>
              <a:buFont typeface="+mj-lt"/>
              <a:buChar char="•"/>
            </a:pPr>
            <a:r>
              <a:rPr lang="en-US" sz="1280">
                <a:solidFill>
                  <a:srgbClr val="1E1E1E"/>
                </a:solidFill>
                <a:latin typeface="Arial" panose="020B0604020202020204" pitchFamily="34" charset="0"/>
              </a:rPr>
              <a:t>All four LS switching together; HS shorted, bypass as its ESL, UFCS 120 pH</a:t>
            </a:r>
          </a:p>
          <a:p>
            <a:pPr marL="406400" indent="-177800">
              <a:spcAft>
                <a:spcPts val="400"/>
              </a:spcAft>
              <a:buFont typeface="+mj-lt"/>
              <a:buChar char="•"/>
            </a:pPr>
            <a:r>
              <a:rPr lang="en-US" sz="1280">
                <a:solidFill>
                  <a:srgbClr val="1E1E1E"/>
                </a:solidFill>
                <a:latin typeface="Arial" panose="020B0604020202020204" pitchFamily="34" charset="0"/>
              </a:rPr>
              <a:t>Cells within 1 % (DPT) and 2 % (load): left/right symmetric by layout (power vias pruned in mirror pairs)</a:t>
            </a:r>
          </a:p>
          <a:p>
            <a:pPr marL="406400" indent="-177800">
              <a:spcAft>
                <a:spcPts val="400"/>
              </a:spcAft>
              <a:buFont typeface="+mj-lt"/>
              <a:buChar char="•"/>
            </a:pPr>
            <a:r>
              <a:rPr lang="en-US" sz="1280">
                <a:solidFill>
                  <a:srgbClr val="1E1E1E"/>
                </a:solidFill>
                <a:latin typeface="Arial" panose="020B0604020202020204" pitchFamily="34" charset="0"/>
              </a:rPr>
              <a:t>DPT ≤ 90 V: turn-on ≤ </a:t>
            </a:r>
            <a:r>
              <a:rPr lang="en-US" sz="1280" b="1">
                <a:solidFill>
                  <a:srgbClr val="1E1E1E"/>
                </a:solidFill>
                <a:latin typeface="Arial" panose="020B0604020202020204" pitchFamily="34" charset="0"/>
              </a:rPr>
              <a:t>23 A/ns</a:t>
            </a:r>
            <a:endParaRPr lang="sv-SE" sz="1280" b="1" dirty="0" err="1">
              <a:solidFill>
                <a:srgbClr val="1E1E1E"/>
              </a:solidFill>
              <a:latin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59586234"/>
      </p:ext>
    </p:extLst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F78A9E3-CE8C-F624-CAE6-D4C9D55F4AE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z="1800"/>
              <a:t>Q3D: coupling between the cells and the gate loops (DPT board)</a:t>
            </a:r>
            <a:endParaRPr lang="sv-SE" sz="180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CF191417-95A4-D9C0-B3D8-FF7D70E0524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sv-SE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0AF0BAC5-A74C-B1F9-CCC1-B132C753C0D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422A9A3-8636-4A04-BD48-3153280FB086}" type="slidenum">
              <a:rPr lang="sv-SE" smtClean="0"/>
              <a:pPr/>
              <a:t>46</a:t>
            </a:fld>
            <a:endParaRPr lang="sv-SE"/>
          </a:p>
        </p:txBody>
      </p:sp>
      <p:graphicFrame>
        <p:nvGraphicFramePr>
          <p:cNvPr id="6" name="Table 5">
            <a:extLst>
              <a:ext uri="{FF2B5EF4-FFF2-40B4-BE49-F238E27FC236}">
                <a16:creationId xmlns:a16="http://schemas.microsoft.com/office/drawing/2014/main" id="{71A3F72F-DDE0-C071-97B1-42CE0F9EAE14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682736112"/>
              </p:ext>
            </p:extLst>
          </p:nvPr>
        </p:nvGraphicFramePr>
        <p:xfrm>
          <a:off x="238125" y="952500"/>
          <a:ext cx="3810000" cy="8382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809625">
                  <a:extLst>
                    <a:ext uri="{9D8B030D-6E8A-4147-A177-3AD203B41FA5}">
                      <a16:colId xmlns:a16="http://schemas.microsoft.com/office/drawing/2014/main" val="122096674"/>
                    </a:ext>
                  </a:extLst>
                </a:gridCol>
                <a:gridCol w="1000125">
                  <a:extLst>
                    <a:ext uri="{9D8B030D-6E8A-4147-A177-3AD203B41FA5}">
                      <a16:colId xmlns:a16="http://schemas.microsoft.com/office/drawing/2014/main" val="1652059946"/>
                    </a:ext>
                  </a:extLst>
                </a:gridCol>
                <a:gridCol w="1000125">
                  <a:extLst>
                    <a:ext uri="{9D8B030D-6E8A-4147-A177-3AD203B41FA5}">
                      <a16:colId xmlns:a16="http://schemas.microsoft.com/office/drawing/2014/main" val="3795744836"/>
                    </a:ext>
                  </a:extLst>
                </a:gridCol>
                <a:gridCol w="1000125">
                  <a:extLst>
                    <a:ext uri="{9D8B030D-6E8A-4147-A177-3AD203B41FA5}">
                      <a16:colId xmlns:a16="http://schemas.microsoft.com/office/drawing/2014/main" val="2918917488"/>
                    </a:ext>
                  </a:extLst>
                </a:gridCol>
              </a:tblGrid>
              <a:tr h="165100">
                <a:tc>
                  <a:txBody>
                    <a:bodyPr/>
                    <a:lstStyle/>
                    <a:p>
                      <a:pPr algn="l"/>
                      <a:r>
                        <a:rPr lang="sv-SE" sz="1100" b="1">
                          <a:solidFill>
                            <a:srgbClr val="FFFFFF"/>
                          </a:solidFill>
                          <a:latin typeface="Arial" panose="020B0604020202020204" pitchFamily="34" charset="0"/>
                        </a:rPr>
                        <a:t>M (pH), k</a:t>
                      </a:r>
                    </a:p>
                  </a:txBody>
                  <a:tcPr marL="50800" marR="50800" marT="25400" marB="25400">
                    <a:solidFill>
                      <a:srgbClr val="1954A6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sv-SE" sz="1100" b="1">
                          <a:solidFill>
                            <a:srgbClr val="FFFFFF"/>
                          </a:solidFill>
                          <a:latin typeface="Arial" panose="020B0604020202020204" pitchFamily="34" charset="0"/>
                        </a:rPr>
                        <a:t>cell 2</a:t>
                      </a:r>
                    </a:p>
                  </a:txBody>
                  <a:tcPr marL="50800" marR="50800" marT="25400" marB="25400">
                    <a:solidFill>
                      <a:srgbClr val="1954A6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sv-SE" sz="1100" b="1">
                          <a:solidFill>
                            <a:srgbClr val="FFFFFF"/>
                          </a:solidFill>
                          <a:latin typeface="Arial" panose="020B0604020202020204" pitchFamily="34" charset="0"/>
                        </a:rPr>
                        <a:t>cell 3</a:t>
                      </a:r>
                    </a:p>
                  </a:txBody>
                  <a:tcPr marL="50800" marR="50800" marT="25400" marB="25400">
                    <a:solidFill>
                      <a:srgbClr val="1954A6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sv-SE" sz="1100" b="1">
                          <a:solidFill>
                            <a:srgbClr val="FFFFFF"/>
                          </a:solidFill>
                          <a:latin typeface="Arial" panose="020B0604020202020204" pitchFamily="34" charset="0"/>
                        </a:rPr>
                        <a:t>cell 4</a:t>
                      </a:r>
                    </a:p>
                  </a:txBody>
                  <a:tcPr marL="50800" marR="50800" marT="25400" marB="25400">
                    <a:solidFill>
                      <a:srgbClr val="1954A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66672290"/>
                  </a:ext>
                </a:extLst>
              </a:tr>
              <a:tr h="165100">
                <a:tc>
                  <a:txBody>
                    <a:bodyPr/>
                    <a:lstStyle/>
                    <a:p>
                      <a:pPr algn="l"/>
                      <a:r>
                        <a:rPr lang="sv-SE" sz="110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cell 1</a:t>
                      </a:r>
                    </a:p>
                  </a:txBody>
                  <a:tcPr marL="50800" marR="50800" marT="25400" marB="25400"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sv-SE" sz="110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7, 0.011</a:t>
                      </a:r>
                    </a:p>
                  </a:txBody>
                  <a:tcPr marL="50800" marR="50800" marT="25400" marB="25400"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sv-SE" sz="110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1, 0.002</a:t>
                      </a:r>
                    </a:p>
                  </a:txBody>
                  <a:tcPr marL="50800" marR="50800" marT="25400" marB="25400"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sv-SE" sz="110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0, 0.001</a:t>
                      </a:r>
                    </a:p>
                  </a:txBody>
                  <a:tcPr marL="50800" marR="50800" marT="25400" marB="25400">
                    <a:solidFill>
                      <a:srgbClr val="E8EF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693691066"/>
                  </a:ext>
                </a:extLst>
              </a:tr>
              <a:tr h="165100">
                <a:tc>
                  <a:txBody>
                    <a:bodyPr/>
                    <a:lstStyle/>
                    <a:p>
                      <a:pPr algn="l"/>
                      <a:r>
                        <a:rPr lang="sv-SE" sz="110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cell 2</a:t>
                      </a:r>
                    </a:p>
                  </a:txBody>
                  <a:tcPr marL="50800" marR="508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endParaRPr lang="sv-SE" sz="1100">
                        <a:solidFill>
                          <a:srgbClr val="1E1E1E"/>
                        </a:solidFill>
                        <a:latin typeface="Arial" panose="020B0604020202020204" pitchFamily="34" charset="0"/>
                      </a:endParaRPr>
                    </a:p>
                  </a:txBody>
                  <a:tcPr marL="50800" marR="508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sv-SE" sz="110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21, 0.034</a:t>
                      </a:r>
                    </a:p>
                  </a:txBody>
                  <a:tcPr marL="50800" marR="508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sv-SE" sz="110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1, 0.002</a:t>
                      </a:r>
                    </a:p>
                  </a:txBody>
                  <a:tcPr marL="50800" marR="50800" marT="25400" marB="25400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966261157"/>
                  </a:ext>
                </a:extLst>
              </a:tr>
              <a:tr h="165100">
                <a:tc>
                  <a:txBody>
                    <a:bodyPr/>
                    <a:lstStyle/>
                    <a:p>
                      <a:pPr algn="l"/>
                      <a:r>
                        <a:rPr lang="sv-SE" sz="110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cell 3</a:t>
                      </a:r>
                    </a:p>
                  </a:txBody>
                  <a:tcPr marL="50800" marR="50800" marT="25400" marB="25400"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endParaRPr lang="sv-SE" sz="1100">
                        <a:solidFill>
                          <a:srgbClr val="1E1E1E"/>
                        </a:solidFill>
                        <a:latin typeface="Arial" panose="020B0604020202020204" pitchFamily="34" charset="0"/>
                      </a:endParaRPr>
                    </a:p>
                  </a:txBody>
                  <a:tcPr marL="50800" marR="50800" marT="25400" marB="25400"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endParaRPr lang="sv-SE" sz="1100">
                        <a:solidFill>
                          <a:srgbClr val="1E1E1E"/>
                        </a:solidFill>
                        <a:latin typeface="Arial" panose="020B0604020202020204" pitchFamily="34" charset="0"/>
                      </a:endParaRPr>
                    </a:p>
                  </a:txBody>
                  <a:tcPr marL="50800" marR="50800" marT="25400" marB="25400"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sv-SE" sz="110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7, 0.011</a:t>
                      </a:r>
                    </a:p>
                  </a:txBody>
                  <a:tcPr marL="50800" marR="50800" marT="25400" marB="25400">
                    <a:solidFill>
                      <a:srgbClr val="E8EF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232163811"/>
                  </a:ext>
                </a:extLst>
              </a:tr>
            </a:tbl>
          </a:graphicData>
        </a:graphic>
      </p:graphicFrame>
      <p:graphicFrame>
        <p:nvGraphicFramePr>
          <p:cNvPr id="7" name="Table 6">
            <a:extLst>
              <a:ext uri="{FF2B5EF4-FFF2-40B4-BE49-F238E27FC236}">
                <a16:creationId xmlns:a16="http://schemas.microsoft.com/office/drawing/2014/main" id="{2C4C40D1-E449-D3D5-3A53-7E0B8C7C99B8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013239778"/>
              </p:ext>
            </p:extLst>
          </p:nvPr>
        </p:nvGraphicFramePr>
        <p:xfrm>
          <a:off x="238125" y="2381250"/>
          <a:ext cx="3810000" cy="104775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619250">
                  <a:extLst>
                    <a:ext uri="{9D8B030D-6E8A-4147-A177-3AD203B41FA5}">
                      <a16:colId xmlns:a16="http://schemas.microsoft.com/office/drawing/2014/main" val="1862955043"/>
                    </a:ext>
                  </a:extLst>
                </a:gridCol>
                <a:gridCol w="1095375">
                  <a:extLst>
                    <a:ext uri="{9D8B030D-6E8A-4147-A177-3AD203B41FA5}">
                      <a16:colId xmlns:a16="http://schemas.microsoft.com/office/drawing/2014/main" val="3942204888"/>
                    </a:ext>
                  </a:extLst>
                </a:gridCol>
                <a:gridCol w="1095375">
                  <a:extLst>
                    <a:ext uri="{9D8B030D-6E8A-4147-A177-3AD203B41FA5}">
                      <a16:colId xmlns:a16="http://schemas.microsoft.com/office/drawing/2014/main" val="1803874212"/>
                    </a:ext>
                  </a:extLst>
                </a:gridCol>
              </a:tblGrid>
              <a:tr h="165100">
                <a:tc>
                  <a:txBody>
                    <a:bodyPr/>
                    <a:lstStyle/>
                    <a:p>
                      <a:pPr algn="l"/>
                      <a:r>
                        <a:rPr lang="sv-SE" sz="1100" b="1">
                          <a:solidFill>
                            <a:srgbClr val="FFFFFF"/>
                          </a:solidFill>
                          <a:latin typeface="Arial" panose="020B0604020202020204" pitchFamily="34" charset="0"/>
                        </a:rPr>
                        <a:t>Gate loop (nH, copper)</a:t>
                      </a:r>
                    </a:p>
                  </a:txBody>
                  <a:tcPr marL="50800" marR="50800" marT="25400" marB="25400">
                    <a:solidFill>
                      <a:srgbClr val="1954A6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sv-SE" sz="1100" b="1">
                          <a:solidFill>
                            <a:srgbClr val="FFFFFF"/>
                          </a:solidFill>
                          <a:latin typeface="Arial" panose="020B0604020202020204" pitchFamily="34" charset="0"/>
                        </a:rPr>
                        <a:t>HS Q1 / Q2</a:t>
                      </a:r>
                    </a:p>
                  </a:txBody>
                  <a:tcPr marL="50800" marR="50800" marT="25400" marB="25400">
                    <a:solidFill>
                      <a:srgbClr val="1954A6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sv-SE" sz="1100" b="1">
                          <a:solidFill>
                            <a:srgbClr val="FFFFFF"/>
                          </a:solidFill>
                          <a:latin typeface="Arial" panose="020B0604020202020204" pitchFamily="34" charset="0"/>
                        </a:rPr>
                        <a:t>LS Q3 / Q4</a:t>
                      </a:r>
                    </a:p>
                  </a:txBody>
                  <a:tcPr marL="50800" marR="50800" marT="25400" marB="25400">
                    <a:solidFill>
                      <a:srgbClr val="1954A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205792662"/>
                  </a:ext>
                </a:extLst>
              </a:tr>
              <a:tr h="165100">
                <a:tc>
                  <a:txBody>
                    <a:bodyPr/>
                    <a:lstStyle/>
                    <a:p>
                      <a:pPr algn="l"/>
                      <a:r>
                        <a:rPr lang="sv-SE" sz="110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one device driven</a:t>
                      </a:r>
                    </a:p>
                  </a:txBody>
                  <a:tcPr marL="50800" marR="50800" marT="25400" marB="25400"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sv-SE" sz="110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12.53 / 12.56</a:t>
                      </a:r>
                    </a:p>
                  </a:txBody>
                  <a:tcPr marL="50800" marR="50800" marT="25400" marB="25400"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sv-SE" sz="110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7.61 / 7.62</a:t>
                      </a:r>
                    </a:p>
                  </a:txBody>
                  <a:tcPr marL="50800" marR="50800" marT="25400" marB="25400">
                    <a:solidFill>
                      <a:srgbClr val="E8EF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041137638"/>
                  </a:ext>
                </a:extLst>
              </a:tr>
              <a:tr h="165100">
                <a:tc>
                  <a:txBody>
                    <a:bodyPr/>
                    <a:lstStyle/>
                    <a:p>
                      <a:pPr algn="l"/>
                      <a:r>
                        <a:rPr lang="sv-SE" sz="110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pair driven (operation)</a:t>
                      </a:r>
                    </a:p>
                  </a:txBody>
                  <a:tcPr marL="50800" marR="508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sv-SE" sz="110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20.6 / 20.6</a:t>
                      </a:r>
                    </a:p>
                  </a:txBody>
                  <a:tcPr marL="50800" marR="508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sv-SE" sz="110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12.3 / 12.3</a:t>
                      </a:r>
                    </a:p>
                  </a:txBody>
                  <a:tcPr marL="50800" marR="50800" marT="25400" marB="25400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124483413"/>
                  </a:ext>
                </a:extLst>
              </a:tr>
              <a:tr h="165100">
                <a:tc>
                  <a:txBody>
                    <a:bodyPr/>
                    <a:lstStyle/>
                    <a:p>
                      <a:pPr algn="l"/>
                      <a:r>
                        <a:rPr lang="sv-SE" sz="110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branch / shared star-driver</a:t>
                      </a:r>
                    </a:p>
                  </a:txBody>
                  <a:tcPr marL="50800" marR="50800" marT="25400" marB="25400"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sv-SE" sz="110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4.5 / 8.0</a:t>
                      </a:r>
                    </a:p>
                  </a:txBody>
                  <a:tcPr marL="50800" marR="50800" marT="25400" marB="25400"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sv-SE" sz="110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2.9 / 4.7</a:t>
                      </a:r>
                    </a:p>
                  </a:txBody>
                  <a:tcPr marL="50800" marR="50800" marT="25400" marB="25400">
                    <a:solidFill>
                      <a:srgbClr val="E8EF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613600367"/>
                  </a:ext>
                </a:extLst>
              </a:tr>
              <a:tr h="165100">
                <a:tc>
                  <a:txBody>
                    <a:bodyPr/>
                    <a:lstStyle/>
                    <a:p>
                      <a:pPr algn="l"/>
                      <a:r>
                        <a:rPr lang="sv-SE" sz="110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gate-power coupling, both cells</a:t>
                      </a:r>
                    </a:p>
                  </a:txBody>
                  <a:tcPr marL="50800" marR="508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sv-SE" sz="110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max 9 pH</a:t>
                      </a:r>
                    </a:p>
                  </a:txBody>
                  <a:tcPr marL="50800" marR="508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10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max 0.26 V at 30 A/ns</a:t>
                      </a:r>
                      <a:endParaRPr lang="sv-SE" sz="1100">
                        <a:solidFill>
                          <a:srgbClr val="1E1E1E"/>
                        </a:solidFill>
                        <a:latin typeface="Arial" panose="020B0604020202020204" pitchFamily="34" charset="0"/>
                      </a:endParaRPr>
                    </a:p>
                  </a:txBody>
                  <a:tcPr marL="50800" marR="50800" marT="25400" marB="25400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869603735"/>
                  </a:ext>
                </a:extLst>
              </a:tr>
            </a:tbl>
          </a:graphicData>
        </a:graphic>
      </p:graphicFrame>
      <p:pic>
        <p:nvPicPr>
          <p:cNvPr id="9" name="Picture 8">
            <a:extLst>
              <a:ext uri="{FF2B5EF4-FFF2-40B4-BE49-F238E27FC236}">
                <a16:creationId xmlns:a16="http://schemas.microsoft.com/office/drawing/2014/main" id="{5DF1ACBD-C0DE-35CE-7D41-D52ECFE4E0E5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556125" y="952500"/>
            <a:ext cx="3937000" cy="2952750"/>
          </a:xfrm>
          <a:prstGeom prst="rect">
            <a:avLst/>
          </a:prstGeom>
        </p:spPr>
      </p:pic>
      <p:sp>
        <p:nvSpPr>
          <p:cNvPr id="10" name="TextBox 9">
            <a:extLst>
              <a:ext uri="{FF2B5EF4-FFF2-40B4-BE49-F238E27FC236}">
                <a16:creationId xmlns:a16="http://schemas.microsoft.com/office/drawing/2014/main" id="{B6590E5D-F6FF-E6CB-2AFC-CF43E1E86D7F}"/>
              </a:ext>
            </a:extLst>
          </p:cNvPr>
          <p:cNvSpPr txBox="1"/>
          <p:nvPr/>
        </p:nvSpPr>
        <p:spPr>
          <a:xfrm>
            <a:off x="238125" y="3905250"/>
            <a:ext cx="8667750" cy="307777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pPr marL="406400" indent="-177800">
              <a:spcAft>
                <a:spcPts val="400"/>
              </a:spcAft>
              <a:buFont typeface="+mj-lt"/>
              <a:buChar char="•"/>
            </a:pPr>
            <a:r>
              <a:rPr lang="en-US" sz="1190">
                <a:solidFill>
                  <a:srgbClr val="1E1E1E"/>
                </a:solidFill>
                <a:latin typeface="Arial" panose="020B0604020202020204" pitchFamily="34" charset="0"/>
              </a:rPr>
              <a:t>Cells: at most 21 pH between neighbours (k ≤ 0.034) ⇒ each cell commutates through its own loop</a:t>
            </a:r>
          </a:p>
          <a:p>
            <a:pPr marL="406400" indent="-177800">
              <a:spcAft>
                <a:spcPts val="400"/>
              </a:spcAft>
              <a:buFont typeface="+mj-lt"/>
              <a:buChar char="•"/>
            </a:pPr>
            <a:r>
              <a:rPr lang="en-US" sz="1190">
                <a:solidFill>
                  <a:srgbClr val="1E1E1E"/>
                </a:solidFill>
                <a:latin typeface="Arial" panose="020B0604020202020204" pitchFamily="34" charset="0"/>
              </a:rPr>
              <a:t>Gate: Kelvin return on the adjacent layer from every gate pad to the driver caps; Q1 = Q2, Q3 = Q4 within 0.3 %, block 2 an identical copy ⇒ all four paralleled devices equal; but ≈ 10× the 1.7 nH design value (driver behind the barrier)</a:t>
            </a:r>
            <a:endParaRPr lang="sv-SE" sz="1190" dirty="0" err="1">
              <a:solidFill>
                <a:srgbClr val="1E1E1E"/>
              </a:solidFill>
              <a:latin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987240943"/>
      </p:ext>
    </p:extLst>
  </p:cSld>
  <p:clrMapOvr>
    <a:masterClrMapping/>
  </p:clrMapOvr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6E6B46A-91D1-3AC5-64AF-84649A52738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z="1800"/>
              <a:t>Gate drive from the extracted gate network (SPICE, DPT board, 75 V, 322 A)</a:t>
            </a:r>
            <a:endParaRPr lang="sv-SE" sz="180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57EE844D-4962-BE12-C54C-EA773DA38D9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sv-SE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00E5254E-0A8E-697A-B254-3C19699E207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422A9A3-8636-4A04-BD48-3153280FB086}" type="slidenum">
              <a:rPr lang="sv-SE" smtClean="0"/>
              <a:pPr/>
              <a:t>47</a:t>
            </a:fld>
            <a:endParaRPr lang="sv-SE"/>
          </a:p>
        </p:txBody>
      </p:sp>
      <p:graphicFrame>
        <p:nvGraphicFramePr>
          <p:cNvPr id="6" name="Table 5">
            <a:extLst>
              <a:ext uri="{FF2B5EF4-FFF2-40B4-BE49-F238E27FC236}">
                <a16:creationId xmlns:a16="http://schemas.microsoft.com/office/drawing/2014/main" id="{4853C39C-7C3C-3E90-E4FD-C0E9F1F541B8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340722784"/>
              </p:ext>
            </p:extLst>
          </p:nvPr>
        </p:nvGraphicFramePr>
        <p:xfrm>
          <a:off x="238125" y="952500"/>
          <a:ext cx="8667750" cy="8382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381250">
                  <a:extLst>
                    <a:ext uri="{9D8B030D-6E8A-4147-A177-3AD203B41FA5}">
                      <a16:colId xmlns:a16="http://schemas.microsoft.com/office/drawing/2014/main" val="1114158027"/>
                    </a:ext>
                  </a:extLst>
                </a:gridCol>
                <a:gridCol w="762000">
                  <a:extLst>
                    <a:ext uri="{9D8B030D-6E8A-4147-A177-3AD203B41FA5}">
                      <a16:colId xmlns:a16="http://schemas.microsoft.com/office/drawing/2014/main" val="771867033"/>
                    </a:ext>
                  </a:extLst>
                </a:gridCol>
                <a:gridCol w="571500">
                  <a:extLst>
                    <a:ext uri="{9D8B030D-6E8A-4147-A177-3AD203B41FA5}">
                      <a16:colId xmlns:a16="http://schemas.microsoft.com/office/drawing/2014/main" val="2153843887"/>
                    </a:ext>
                  </a:extLst>
                </a:gridCol>
                <a:gridCol w="904875">
                  <a:extLst>
                    <a:ext uri="{9D8B030D-6E8A-4147-A177-3AD203B41FA5}">
                      <a16:colId xmlns:a16="http://schemas.microsoft.com/office/drawing/2014/main" val="4157473108"/>
                    </a:ext>
                  </a:extLst>
                </a:gridCol>
                <a:gridCol w="1524000">
                  <a:extLst>
                    <a:ext uri="{9D8B030D-6E8A-4147-A177-3AD203B41FA5}">
                      <a16:colId xmlns:a16="http://schemas.microsoft.com/office/drawing/2014/main" val="3003141598"/>
                    </a:ext>
                  </a:extLst>
                </a:gridCol>
                <a:gridCol w="857250">
                  <a:extLst>
                    <a:ext uri="{9D8B030D-6E8A-4147-A177-3AD203B41FA5}">
                      <a16:colId xmlns:a16="http://schemas.microsoft.com/office/drawing/2014/main" val="678494371"/>
                    </a:ext>
                  </a:extLst>
                </a:gridCol>
                <a:gridCol w="1666875">
                  <a:extLst>
                    <a:ext uri="{9D8B030D-6E8A-4147-A177-3AD203B41FA5}">
                      <a16:colId xmlns:a16="http://schemas.microsoft.com/office/drawing/2014/main" val="2503514912"/>
                    </a:ext>
                  </a:extLst>
                </a:gridCol>
              </a:tblGrid>
              <a:tr h="165100">
                <a:tc>
                  <a:txBody>
                    <a:bodyPr/>
                    <a:lstStyle/>
                    <a:p>
                      <a:pPr algn="l"/>
                      <a:r>
                        <a:rPr lang="sv-SE" sz="1100" b="1">
                          <a:solidFill>
                            <a:srgbClr val="FFFFFF"/>
                          </a:solidFill>
                          <a:latin typeface="Arial" panose="020B0604020202020204" pitchFamily="34" charset="0"/>
                        </a:rPr>
                        <a:t>Case</a:t>
                      </a:r>
                    </a:p>
                  </a:txBody>
                  <a:tcPr marL="50800" marR="50800" marT="25400" marB="25400">
                    <a:solidFill>
                      <a:srgbClr val="1954A6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sv-SE" sz="1100" b="1">
                          <a:solidFill>
                            <a:srgbClr val="FFFFFF"/>
                          </a:solidFill>
                          <a:latin typeface="Arial" panose="020B0604020202020204" pitchFamily="34" charset="0"/>
                        </a:rPr>
                        <a:t>R</a:t>
                      </a:r>
                      <a:r>
                        <a:rPr lang="sv-SE" sz="1100" b="1" baseline="-25000">
                          <a:solidFill>
                            <a:srgbClr val="FFFFFF"/>
                          </a:solidFill>
                          <a:latin typeface="Arial" panose="020B0604020202020204" pitchFamily="34" charset="0"/>
                        </a:rPr>
                        <a:t>g,on</a:t>
                      </a:r>
                    </a:p>
                  </a:txBody>
                  <a:tcPr marL="50800" marR="50800" marT="25400" marB="25400">
                    <a:solidFill>
                      <a:srgbClr val="1954A6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sv-SE" sz="1100" b="1">
                          <a:solidFill>
                            <a:srgbClr val="FFFFFF"/>
                          </a:solidFill>
                          <a:latin typeface="Arial" panose="020B0604020202020204" pitchFamily="34" charset="0"/>
                        </a:rPr>
                        <a:t>off</a:t>
                      </a:r>
                    </a:p>
                  </a:txBody>
                  <a:tcPr marL="50800" marR="50800" marT="25400" marB="25400">
                    <a:solidFill>
                      <a:srgbClr val="1954A6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sv-SE" sz="1100" b="1">
                          <a:solidFill>
                            <a:srgbClr val="FFFFFF"/>
                          </a:solidFill>
                          <a:latin typeface="Arial" panose="020B0604020202020204" pitchFamily="34" charset="0"/>
                        </a:rPr>
                        <a:t>v̂</a:t>
                      </a:r>
                      <a:r>
                        <a:rPr lang="sv-SE" sz="1100" b="1" baseline="-25000">
                          <a:solidFill>
                            <a:srgbClr val="FFFFFF"/>
                          </a:solidFill>
                          <a:latin typeface="Arial" panose="020B0604020202020204" pitchFamily="34" charset="0"/>
                        </a:rPr>
                        <a:t>DS</a:t>
                      </a:r>
                      <a:r>
                        <a:rPr lang="sv-SE" sz="1100" b="1">
                          <a:solidFill>
                            <a:srgbClr val="FFFFFF"/>
                          </a:solidFill>
                          <a:latin typeface="Arial" panose="020B0604020202020204" pitchFamily="34" charset="0"/>
                        </a:rPr>
                        <a:t> HS</a:t>
                      </a:r>
                    </a:p>
                  </a:txBody>
                  <a:tcPr marL="50800" marR="50800" marT="25400" marB="25400">
                    <a:solidFill>
                      <a:srgbClr val="1954A6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sv-SE" sz="1100" b="1">
                          <a:solidFill>
                            <a:srgbClr val="FFFFFF"/>
                          </a:solidFill>
                          <a:latin typeface="Arial" panose="020B0604020202020204" pitchFamily="34" charset="0"/>
                        </a:rPr>
                        <a:t>E</a:t>
                      </a:r>
                      <a:r>
                        <a:rPr lang="sv-SE" sz="1100" b="1" baseline="-25000">
                          <a:solidFill>
                            <a:srgbClr val="FFFFFF"/>
                          </a:solidFill>
                          <a:latin typeface="Arial" panose="020B0604020202020204" pitchFamily="34" charset="0"/>
                        </a:rPr>
                        <a:t>on</a:t>
                      </a:r>
                      <a:r>
                        <a:rPr lang="sv-SE" sz="1100" b="1">
                          <a:solidFill>
                            <a:srgbClr val="FFFFFF"/>
                          </a:solidFill>
                          <a:latin typeface="Arial" panose="020B0604020202020204" pitchFamily="34" charset="0"/>
                        </a:rPr>
                        <a:t> / E</a:t>
                      </a:r>
                      <a:r>
                        <a:rPr lang="sv-SE" sz="1100" b="1" baseline="-25000">
                          <a:solidFill>
                            <a:srgbClr val="FFFFFF"/>
                          </a:solidFill>
                          <a:latin typeface="Arial" panose="020B0604020202020204" pitchFamily="34" charset="0"/>
                        </a:rPr>
                        <a:t>off</a:t>
                      </a:r>
                      <a:r>
                        <a:rPr lang="sv-SE" sz="1100" b="1">
                          <a:solidFill>
                            <a:srgbClr val="FFFFFF"/>
                          </a:solidFill>
                          <a:latin typeface="Arial" panose="020B0604020202020204" pitchFamily="34" charset="0"/>
                        </a:rPr>
                        <a:t> (4 cells)</a:t>
                      </a:r>
                    </a:p>
                  </a:txBody>
                  <a:tcPr marL="50800" marR="50800" marT="25400" marB="25400">
                    <a:solidFill>
                      <a:srgbClr val="1954A6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sv-SE" sz="1100" b="1">
                          <a:solidFill>
                            <a:srgbClr val="FFFFFF"/>
                          </a:solidFill>
                          <a:latin typeface="Arial" panose="020B0604020202020204" pitchFamily="34" charset="0"/>
                        </a:rPr>
                        <a:t>di/dt on</a:t>
                      </a:r>
                    </a:p>
                  </a:txBody>
                  <a:tcPr marL="50800" marR="50800" marT="25400" marB="25400">
                    <a:solidFill>
                      <a:srgbClr val="1954A6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sv-SE" sz="1100" b="1">
                          <a:solidFill>
                            <a:srgbClr val="FFFFFF"/>
                          </a:solidFill>
                          <a:latin typeface="Arial" panose="020B0604020202020204" pitchFamily="34" charset="0"/>
                        </a:rPr>
                        <a:t>bump, held-off gate</a:t>
                      </a:r>
                    </a:p>
                  </a:txBody>
                  <a:tcPr marL="50800" marR="50800" marT="25400" marB="25400">
                    <a:solidFill>
                      <a:srgbClr val="1954A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320628014"/>
                  </a:ext>
                </a:extLst>
              </a:tr>
              <a:tr h="165100">
                <a:tc>
                  <a:txBody>
                    <a:bodyPr/>
                    <a:lstStyle/>
                    <a:p>
                      <a:pPr algn="l"/>
                      <a:r>
                        <a:rPr lang="en-US" sz="110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lumped 1.7 nH gate, R</a:t>
                      </a:r>
                      <a:r>
                        <a:rPr lang="en-US" sz="1100" baseline="-2500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ON</a:t>
                      </a:r>
                      <a:r>
                        <a:rPr lang="en-US" sz="110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 1.5 Ω</a:t>
                      </a:r>
                      <a:endParaRPr lang="sv-SE" sz="1100">
                        <a:solidFill>
                          <a:srgbClr val="1E1E1E"/>
                        </a:solidFill>
                        <a:latin typeface="Arial" panose="020B0604020202020204" pitchFamily="34" charset="0"/>
                      </a:endParaRPr>
                    </a:p>
                  </a:txBody>
                  <a:tcPr marL="50800" marR="50800" marT="25400" marB="25400"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l-GR" sz="110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3.5 Ω</a:t>
                      </a:r>
                      <a:endParaRPr lang="sv-SE" sz="1100">
                        <a:solidFill>
                          <a:srgbClr val="1E1E1E"/>
                        </a:solidFill>
                        <a:latin typeface="Arial" panose="020B0604020202020204" pitchFamily="34" charset="0"/>
                      </a:endParaRPr>
                    </a:p>
                  </a:txBody>
                  <a:tcPr marL="50800" marR="50800" marT="25400" marB="25400"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sv-SE" sz="110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−1.9 V</a:t>
                      </a:r>
                    </a:p>
                  </a:txBody>
                  <a:tcPr marL="50800" marR="50800" marT="25400" marB="25400"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sv-SE" sz="110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89.8 V</a:t>
                      </a:r>
                    </a:p>
                  </a:txBody>
                  <a:tcPr marL="50800" marR="50800" marT="25400" marB="25400"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sv-SE" sz="110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136 / 17 µJ</a:t>
                      </a:r>
                    </a:p>
                  </a:txBody>
                  <a:tcPr marL="50800" marR="50800" marT="25400" marB="25400"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sv-SE" sz="110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31 A/ns</a:t>
                      </a:r>
                    </a:p>
                  </a:txBody>
                  <a:tcPr marL="50800" marR="50800" marT="25400" marB="25400"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sv-SE" sz="110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-1.04 … -1.00 V</a:t>
                      </a:r>
                    </a:p>
                  </a:txBody>
                  <a:tcPr marL="50800" marR="50800" marT="25400" marB="25400">
                    <a:solidFill>
                      <a:srgbClr val="E8EF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752177474"/>
                  </a:ext>
                </a:extLst>
              </a:tr>
              <a:tr h="165100">
                <a:tc>
                  <a:txBody>
                    <a:bodyPr/>
                    <a:lstStyle/>
                    <a:p>
                      <a:pPr algn="l"/>
                      <a:r>
                        <a:rPr lang="sv-SE" sz="110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extracted, R</a:t>
                      </a:r>
                      <a:r>
                        <a:rPr lang="sv-SE" sz="1100" baseline="-2500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ON</a:t>
                      </a:r>
                      <a:r>
                        <a:rPr lang="sv-SE" sz="110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 1.0 </a:t>
                      </a:r>
                      <a:r>
                        <a:rPr lang="el-GR" sz="110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Ω</a:t>
                      </a:r>
                      <a:endParaRPr lang="sv-SE" sz="1100">
                        <a:solidFill>
                          <a:srgbClr val="1E1E1E"/>
                        </a:solidFill>
                        <a:latin typeface="Arial" panose="020B0604020202020204" pitchFamily="34" charset="0"/>
                      </a:endParaRPr>
                    </a:p>
                  </a:txBody>
                  <a:tcPr marL="50800" marR="508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l-GR" sz="110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2.5 Ω</a:t>
                      </a:r>
                      <a:endParaRPr lang="sv-SE" sz="1100">
                        <a:solidFill>
                          <a:srgbClr val="1E1E1E"/>
                        </a:solidFill>
                        <a:latin typeface="Arial" panose="020B0604020202020204" pitchFamily="34" charset="0"/>
                      </a:endParaRPr>
                    </a:p>
                  </a:txBody>
                  <a:tcPr marL="50800" marR="508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sv-SE" sz="110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−1.9 V</a:t>
                      </a:r>
                    </a:p>
                  </a:txBody>
                  <a:tcPr marL="50800" marR="508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sv-SE" sz="110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105.3 V</a:t>
                      </a:r>
                    </a:p>
                  </a:txBody>
                  <a:tcPr marL="50800" marR="508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sv-SE" sz="110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97 / 20 µJ</a:t>
                      </a:r>
                    </a:p>
                  </a:txBody>
                  <a:tcPr marL="50800" marR="508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sv-SE" sz="110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49 A/ns</a:t>
                      </a:r>
                    </a:p>
                  </a:txBody>
                  <a:tcPr marL="50800" marR="508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sv-SE" sz="110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-0.72 … -0.46 V</a:t>
                      </a:r>
                    </a:p>
                  </a:txBody>
                  <a:tcPr marL="50800" marR="50800" marT="25400" marB="25400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314310351"/>
                  </a:ext>
                </a:extLst>
              </a:tr>
              <a:tr h="165100">
                <a:tc>
                  <a:txBody>
                    <a:bodyPr/>
                    <a:lstStyle/>
                    <a:p>
                      <a:pPr algn="l"/>
                      <a:r>
                        <a:rPr lang="en-US" sz="1100" b="1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extracted, RON 1.5 Ω (board)</a:t>
                      </a:r>
                      <a:endParaRPr lang="sv-SE" sz="1100" b="1">
                        <a:solidFill>
                          <a:srgbClr val="1E1E1E"/>
                        </a:solidFill>
                        <a:latin typeface="Arial" panose="020B0604020202020204" pitchFamily="34" charset="0"/>
                      </a:endParaRPr>
                    </a:p>
                  </a:txBody>
                  <a:tcPr marL="50800" marR="50800" marT="25400" marB="25400"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l-GR" sz="110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3.5 Ω</a:t>
                      </a:r>
                      <a:endParaRPr lang="sv-SE" sz="1100">
                        <a:solidFill>
                          <a:srgbClr val="1E1E1E"/>
                        </a:solidFill>
                        <a:latin typeface="Arial" panose="020B0604020202020204" pitchFamily="34" charset="0"/>
                      </a:endParaRPr>
                    </a:p>
                  </a:txBody>
                  <a:tcPr marL="50800" marR="50800" marT="25400" marB="25400"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sv-SE" sz="110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−1.9 V</a:t>
                      </a:r>
                    </a:p>
                  </a:txBody>
                  <a:tcPr marL="50800" marR="50800" marT="25400" marB="25400"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sv-SE" sz="110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92.9 V</a:t>
                      </a:r>
                    </a:p>
                  </a:txBody>
                  <a:tcPr marL="50800" marR="50800" marT="25400" marB="25400"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sv-SE" sz="110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125 / 20 µJ</a:t>
                      </a:r>
                    </a:p>
                  </a:txBody>
                  <a:tcPr marL="50800" marR="50800" marT="25400" marB="25400"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sv-SE" sz="110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36 A/ns</a:t>
                      </a:r>
                    </a:p>
                  </a:txBody>
                  <a:tcPr marL="50800" marR="50800" marT="25400" marB="25400"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sv-SE" sz="110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-0.76 … -0.50 V</a:t>
                      </a:r>
                    </a:p>
                  </a:txBody>
                  <a:tcPr marL="50800" marR="50800" marT="25400" marB="25400">
                    <a:solidFill>
                      <a:srgbClr val="E8EF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913933447"/>
                  </a:ext>
                </a:extLst>
              </a:tr>
            </a:tbl>
          </a:graphicData>
        </a:graphic>
      </p:graphicFrame>
      <p:sp>
        <p:nvSpPr>
          <p:cNvPr id="7" name="TextBox 6">
            <a:extLst>
              <a:ext uri="{FF2B5EF4-FFF2-40B4-BE49-F238E27FC236}">
                <a16:creationId xmlns:a16="http://schemas.microsoft.com/office/drawing/2014/main" id="{2A0AFA1A-8F49-DD20-CD81-C158823A6E0C}"/>
              </a:ext>
            </a:extLst>
          </p:cNvPr>
          <p:cNvSpPr txBox="1"/>
          <p:nvPr/>
        </p:nvSpPr>
        <p:spPr>
          <a:xfrm>
            <a:off x="238125" y="2428875"/>
            <a:ext cx="8667750" cy="307777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pPr marL="406400" indent="-177800">
              <a:spcAft>
                <a:spcPts val="400"/>
              </a:spcAft>
              <a:buFont typeface="+mj-lt"/>
              <a:buChar char="•"/>
            </a:pPr>
            <a:r>
              <a:rPr lang="en-US" sz="1280">
                <a:solidFill>
                  <a:srgbClr val="1E1E1E"/>
                </a:solidFill>
                <a:latin typeface="Arial" panose="020B0604020202020204" pitchFamily="34" charset="0"/>
              </a:rPr>
              <a:t>Extracted gate network: Q3D copper + 0.4 nH per 0603 resistor body + 1 nH D</a:t>
            </a:r>
            <a:r>
              <a:rPr lang="en-US" sz="1280" baseline="-25000">
                <a:solidFill>
                  <a:srgbClr val="1E1E1E"/>
                </a:solidFill>
                <a:latin typeface="Arial" panose="020B0604020202020204" pitchFamily="34" charset="0"/>
              </a:rPr>
              <a:t>OFF</a:t>
            </a:r>
            <a:r>
              <a:rPr lang="en-US" sz="1280">
                <a:solidFill>
                  <a:srgbClr val="1E1E1E"/>
                </a:solidFill>
                <a:latin typeface="Arial" panose="020B0604020202020204" pitchFamily="34" charset="0"/>
              </a:rPr>
              <a:t>; UFCS 120 pH as its own inductor</a:t>
            </a:r>
          </a:p>
          <a:p>
            <a:pPr marL="406400" indent="-177800">
              <a:spcAft>
                <a:spcPts val="400"/>
              </a:spcAft>
              <a:buFont typeface="+mj-lt"/>
              <a:buChar char="•"/>
            </a:pPr>
            <a:r>
              <a:rPr lang="en-US" sz="1280">
                <a:solidFill>
                  <a:srgbClr val="1E1E1E"/>
                </a:solidFill>
                <a:latin typeface="Arial" panose="020B0604020202020204" pitchFamily="34" charset="0"/>
              </a:rPr>
              <a:t>The larger gate loop </a:t>
            </a:r>
            <a:r>
              <a:rPr lang="en-US" sz="1280" b="1">
                <a:solidFill>
                  <a:srgbClr val="1E1E1E"/>
                </a:solidFill>
                <a:latin typeface="Arial" panose="020B0604020202020204" pitchFamily="34" charset="0"/>
              </a:rPr>
              <a:t>speeds up</a:t>
            </a:r>
            <a:r>
              <a:rPr lang="en-US" sz="1280">
                <a:solidFill>
                  <a:srgbClr val="1E1E1E"/>
                </a:solidFill>
                <a:latin typeface="Arial" panose="020B0604020202020204" pitchFamily="34" charset="0"/>
              </a:rPr>
              <a:t> the turn-on ⇒ HS overshoot ≈ 75 V + 0.65 nH × di/dt: R</a:t>
            </a:r>
            <a:r>
              <a:rPr lang="en-US" sz="1280" baseline="-25000">
                <a:solidFill>
                  <a:srgbClr val="1E1E1E"/>
                </a:solidFill>
                <a:latin typeface="Arial" panose="020B0604020202020204" pitchFamily="34" charset="0"/>
              </a:rPr>
              <a:t>ON</a:t>
            </a:r>
            <a:r>
              <a:rPr lang="en-US" sz="1280">
                <a:solidFill>
                  <a:srgbClr val="1E1E1E"/>
                </a:solidFill>
                <a:latin typeface="Arial" panose="020B0604020202020204" pitchFamily="34" charset="0"/>
              </a:rPr>
              <a:t> 1.0 Ω gives 105 V</a:t>
            </a:r>
          </a:p>
          <a:p>
            <a:pPr marL="406400" indent="-177800">
              <a:spcAft>
                <a:spcPts val="400"/>
              </a:spcAft>
              <a:buFont typeface="+mj-lt"/>
              <a:buChar char="•"/>
            </a:pPr>
            <a:r>
              <a:rPr lang="en-US" sz="1280">
                <a:solidFill>
                  <a:srgbClr val="1E1E1E"/>
                </a:solidFill>
                <a:latin typeface="Arial" panose="020B0604020202020204" pitchFamily="34" charset="0"/>
              </a:rPr>
              <a:t>−1.9 V off: bump of the held-off gate ≤ −0.5 V (≥ 1.3 V below V</a:t>
            </a:r>
            <a:r>
              <a:rPr lang="en-US" sz="1280" baseline="-25000">
                <a:solidFill>
                  <a:srgbClr val="1E1E1E"/>
                </a:solidFill>
                <a:latin typeface="Arial" panose="020B0604020202020204" pitchFamily="34" charset="0"/>
              </a:rPr>
              <a:t>th,min</a:t>
            </a:r>
            <a:r>
              <a:rPr lang="en-US" sz="1280">
                <a:solidFill>
                  <a:srgbClr val="1E1E1E"/>
                </a:solidFill>
                <a:latin typeface="Arial" panose="020B0604020202020204" pitchFamily="34" charset="0"/>
              </a:rPr>
              <a:t> 0.8 V); with 0 V off it was +1.2 … +1.4 V</a:t>
            </a:r>
          </a:p>
          <a:p>
            <a:pPr marL="406400" indent="-177800">
              <a:spcAft>
                <a:spcPts val="400"/>
              </a:spcAft>
              <a:buFont typeface="+mj-lt"/>
              <a:buChar char="•"/>
            </a:pPr>
            <a:r>
              <a:rPr lang="en-US" sz="1280">
                <a:solidFill>
                  <a:srgbClr val="1E1E1E"/>
                </a:solidFill>
                <a:latin typeface="Arial" panose="020B0604020202020204" pitchFamily="34" charset="0"/>
              </a:rPr>
              <a:t>Off-state ringing ≈ −3.4 V against the −4 V limit (EPC2361) ⇒ no larger negative bias</a:t>
            </a:r>
          </a:p>
          <a:p>
            <a:pPr marL="406400" indent="-177800">
              <a:spcAft>
                <a:spcPts val="400"/>
              </a:spcAft>
              <a:buFont typeface="+mj-lt"/>
              <a:buChar char="•"/>
            </a:pPr>
            <a:r>
              <a:rPr lang="en-US" sz="1280">
                <a:solidFill>
                  <a:srgbClr val="1E1E1E"/>
                </a:solidFill>
                <a:latin typeface="Arial" panose="020B0604020202020204" pitchFamily="34" charset="0"/>
              </a:rPr>
              <a:t>Turn-on of the four cells within 0.2 %; turn-off current inner vs outer cells ±1.5 % (power side)</a:t>
            </a:r>
            <a:endParaRPr lang="sv-SE" sz="1280" dirty="0" err="1">
              <a:solidFill>
                <a:srgbClr val="1E1E1E"/>
              </a:solidFill>
              <a:latin typeface="Arial" panose="020B0604020202020204" pitchFamily="34" charset="0"/>
            </a:endParaRPr>
          </a:p>
        </p:txBody>
      </p:sp>
      <p:sp>
        <p:nvSpPr>
          <p:cNvPr id="8" name="decision">
            <a:extLst>
              <a:ext uri="{FF2B5EF4-FFF2-40B4-BE49-F238E27FC236}">
                <a16:creationId xmlns:a16="http://schemas.microsoft.com/office/drawing/2014/main" id="{23862DFF-7A72-0274-164F-1F0B93C5CE8E}"/>
              </a:ext>
            </a:extLst>
          </p:cNvPr>
          <p:cNvSpPr/>
          <p:nvPr/>
        </p:nvSpPr>
        <p:spPr>
          <a:xfrm>
            <a:off x="238125" y="4400550"/>
            <a:ext cx="8667750" cy="381000"/>
          </a:xfrm>
          <a:prstGeom prst="roundRect">
            <a:avLst/>
          </a:prstGeom>
          <a:solidFill>
            <a:srgbClr val="EEF4FB"/>
          </a:solidFill>
          <a:ln w="158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101600" tIns="25400" bIns="25400" rtlCol="0" anchor="ctr">
            <a:noAutofit/>
          </a:bodyPr>
          <a:lstStyle/>
          <a:p>
            <a:r>
              <a:rPr lang="en-US" sz="1380" b="1">
                <a:solidFill>
                  <a:srgbClr val="1E1E1E"/>
                </a:solidFill>
                <a:latin typeface="Arial" panose="020B0604020202020204" pitchFamily="34" charset="0"/>
              </a:rPr>
              <a:t>Decision:</a:t>
            </a:r>
            <a:r>
              <a:rPr lang="en-US" sz="1380">
                <a:solidFill>
                  <a:srgbClr val="1E1E1E"/>
                </a:solidFill>
                <a:latin typeface="Arial" panose="020B0604020202020204" pitchFamily="34" charset="0"/>
              </a:rPr>
              <a:t> DPT: R</a:t>
            </a:r>
            <a:r>
              <a:rPr lang="en-US" sz="1380" baseline="-25000">
                <a:solidFill>
                  <a:srgbClr val="1E1E1E"/>
                </a:solidFill>
                <a:latin typeface="Arial" panose="020B0604020202020204" pitchFamily="34" charset="0"/>
              </a:rPr>
              <a:t>ON</a:t>
            </a:r>
            <a:r>
              <a:rPr lang="en-US" sz="1380">
                <a:solidFill>
                  <a:srgbClr val="1E1E1E"/>
                </a:solidFill>
                <a:latin typeface="Arial" panose="020B0604020202020204" pitchFamily="34" charset="0"/>
              </a:rPr>
              <a:t> 1.5 Ω (R</a:t>
            </a:r>
            <a:r>
              <a:rPr lang="en-US" sz="1380" baseline="-25000">
                <a:solidFill>
                  <a:srgbClr val="1E1E1E"/>
                </a:solidFill>
                <a:latin typeface="Arial" panose="020B0604020202020204" pitchFamily="34" charset="0"/>
              </a:rPr>
              <a:t>g,on</a:t>
            </a:r>
            <a:r>
              <a:rPr lang="en-US" sz="1380">
                <a:solidFill>
                  <a:srgbClr val="1E1E1E"/>
                </a:solidFill>
                <a:latin typeface="Arial" panose="020B0604020202020204" pitchFamily="34" charset="0"/>
              </a:rPr>
              <a:t> 3.5 Ω), V</a:t>
            </a:r>
            <a:r>
              <a:rPr lang="en-US" sz="1380" baseline="-25000">
                <a:solidFill>
                  <a:srgbClr val="1E1E1E"/>
                </a:solidFill>
                <a:latin typeface="Arial" panose="020B0604020202020204" pitchFamily="34" charset="0"/>
              </a:rPr>
              <a:t>ISO</a:t>
            </a:r>
            <a:r>
              <a:rPr lang="en-US" sz="1380">
                <a:solidFill>
                  <a:srgbClr val="1E1E1E"/>
                </a:solidFill>
                <a:latin typeface="Arial" panose="020B0604020202020204" pitchFamily="34" charset="0"/>
              </a:rPr>
              <a:t> 7 V (−1.9 / +5.1 V); next revision: driver stage next to each pair</a:t>
            </a:r>
            <a:endParaRPr lang="sv-SE" sz="1380" dirty="0">
              <a:solidFill>
                <a:srgbClr val="1E1E1E"/>
              </a:solidFill>
              <a:latin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848302455"/>
      </p:ext>
    </p:extLst>
  </p:cSld>
  <p:clrMapOvr>
    <a:masterClrMapping/>
  </p:clrMapOvr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C520F19-A19B-5685-6CD5-97E20B3B720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z="2100"/>
              <a:t>Q3D model of the cell band (fast loop model)</a:t>
            </a:r>
            <a:endParaRPr lang="sv-SE" sz="210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4F1BBFB2-705A-FBD2-9D05-6575753EF0A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sv-SE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B2900CF4-A66B-D440-6FB9-A978579E66F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422A9A3-8636-4A04-BD48-3153280FB086}" type="slidenum">
              <a:rPr lang="sv-SE" smtClean="0"/>
              <a:pPr/>
              <a:t>48</a:t>
            </a:fld>
            <a:endParaRPr lang="sv-SE"/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1A846450-6937-D2AE-E9EB-6F0C3D6935D6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38125" y="952500"/>
            <a:ext cx="4286250" cy="2678906"/>
          </a:xfrm>
          <a:prstGeom prst="rect">
            <a:avLst/>
          </a:prstGeom>
        </p:spPr>
      </p:pic>
      <p:pic>
        <p:nvPicPr>
          <p:cNvPr id="9" name="Picture 8">
            <a:extLst>
              <a:ext uri="{FF2B5EF4-FFF2-40B4-BE49-F238E27FC236}">
                <a16:creationId xmlns:a16="http://schemas.microsoft.com/office/drawing/2014/main" id="{E8D97C65-096E-41E2-822E-5AEC57794888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619625" y="952500"/>
            <a:ext cx="4286250" cy="2678906"/>
          </a:xfrm>
          <a:prstGeom prst="rect">
            <a:avLst/>
          </a:prstGeom>
        </p:spPr>
      </p:pic>
      <p:sp>
        <p:nvSpPr>
          <p:cNvPr id="10" name="TextBox 9">
            <a:extLst>
              <a:ext uri="{FF2B5EF4-FFF2-40B4-BE49-F238E27FC236}">
                <a16:creationId xmlns:a16="http://schemas.microsoft.com/office/drawing/2014/main" id="{39FCD3D6-2A5B-F0D8-372B-A2507B45B851}"/>
              </a:ext>
            </a:extLst>
          </p:cNvPr>
          <p:cNvSpPr txBox="1"/>
          <p:nvPr/>
        </p:nvSpPr>
        <p:spPr>
          <a:xfrm>
            <a:off x="238125" y="3810000"/>
            <a:ext cx="4286250" cy="307777"/>
          </a:xfrm>
          <a:prstGeom prst="rect">
            <a:avLst/>
          </a:prstGeom>
          <a:noFill/>
        </p:spPr>
        <p:txBody>
          <a:bodyPr vert="horz" wrap="square" lIns="25400" tIns="0" rIns="0" bIns="0" rtlCol="0">
            <a:noAutofit/>
          </a:bodyPr>
          <a:lstStyle/>
          <a:p>
            <a:pPr algn="ctr"/>
            <a:r>
              <a:rPr lang="en-US" sz="1190">
                <a:solidFill>
                  <a:srgbClr val="787878"/>
                </a:solidFill>
                <a:latin typeface="Arial" panose="020B0604020202020204" pitchFamily="34" charset="0"/>
              </a:rPr>
              <a:t>DPT board: LS source (green) to the UFCS land</a:t>
            </a:r>
            <a:endParaRPr lang="sv-SE" sz="1190" dirty="0" err="1">
              <a:solidFill>
                <a:srgbClr val="787878"/>
              </a:solidFill>
              <a:latin typeface="Arial" panose="020B0604020202020204" pitchFamily="34" charset="0"/>
            </a:endParaRP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CEAFFECE-2B39-0B15-E280-3DB8D7E0AB07}"/>
              </a:ext>
            </a:extLst>
          </p:cNvPr>
          <p:cNvSpPr txBox="1"/>
          <p:nvPr/>
        </p:nvSpPr>
        <p:spPr>
          <a:xfrm>
            <a:off x="4619625" y="3810000"/>
            <a:ext cx="4286250" cy="307777"/>
          </a:xfrm>
          <a:prstGeom prst="rect">
            <a:avLst/>
          </a:prstGeom>
          <a:noFill/>
        </p:spPr>
        <p:txBody>
          <a:bodyPr vert="horz" wrap="square" lIns="25400" tIns="0" rIns="0" bIns="0" rtlCol="0">
            <a:noAutofit/>
          </a:bodyPr>
          <a:lstStyle/>
          <a:p>
            <a:pPr algn="ctr"/>
            <a:r>
              <a:rPr lang="en-US" sz="1190">
                <a:solidFill>
                  <a:srgbClr val="787878"/>
                </a:solidFill>
                <a:latin typeface="Arial" panose="020B0604020202020204" pitchFamily="34" charset="0"/>
              </a:rPr>
              <a:t>load-test board: LS source straight to DC−</a:t>
            </a:r>
            <a:endParaRPr lang="sv-SE" sz="1190" dirty="0" err="1">
              <a:solidFill>
                <a:srgbClr val="787878"/>
              </a:solidFill>
              <a:latin typeface="Arial" panose="020B0604020202020204" pitchFamily="34" charset="0"/>
            </a:endParaRP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ABBA2003-E919-AB82-671D-215364F17BB7}"/>
              </a:ext>
            </a:extLst>
          </p:cNvPr>
          <p:cNvSpPr txBox="1"/>
          <p:nvPr/>
        </p:nvSpPr>
        <p:spPr>
          <a:xfrm>
            <a:off x="238125" y="4095750"/>
            <a:ext cx="8667750" cy="307777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pPr marL="406400" indent="-177800">
              <a:spcAft>
                <a:spcPts val="400"/>
              </a:spcAft>
              <a:buFont typeface="+mj-lt"/>
              <a:buChar char="•"/>
            </a:pPr>
            <a:r>
              <a:rPr lang="en-US" sz="1280">
                <a:solidFill>
                  <a:srgbClr val="1E1E1E"/>
                </a:solidFill>
                <a:latin typeface="Arial" panose="020B0604020202020204" pitchFamily="34" charset="0"/>
              </a:rPr>
              <a:t>Geometry exported from the routed KiCad boards (revb_export.py): copper per net and layer with clearance holes, vias with their layer span (blind L1–L2 on the load board), FET and bypass terminal pads; z stretched 4×</a:t>
            </a:r>
            <a:endParaRPr lang="sv-SE" sz="1280" dirty="0" err="1">
              <a:solidFill>
                <a:srgbClr val="1E1E1E"/>
              </a:solidFill>
              <a:latin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676627720"/>
      </p:ext>
    </p:extLst>
  </p:cSld>
  <p:clrMapOvr>
    <a:masterClrMapping/>
  </p:clrMapOvr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529D16C-1001-2DAA-9093-EACBCA97EF4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z="2100"/>
              <a:t>Q3D: static current sharing and copper loss</a:t>
            </a:r>
            <a:endParaRPr lang="sv-SE" sz="210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3AE45570-44D3-784E-64B9-F714146B8A6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sv-SE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0CA12FA8-54F5-6A1F-3439-B8F31EC9808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422A9A3-8636-4A04-BD48-3153280FB086}" type="slidenum">
              <a:rPr lang="sv-SE" smtClean="0"/>
              <a:pPr/>
              <a:t>49</a:t>
            </a:fld>
            <a:endParaRPr lang="sv-SE"/>
          </a:p>
        </p:txBody>
      </p:sp>
      <p:graphicFrame>
        <p:nvGraphicFramePr>
          <p:cNvPr id="6" name="Table 5">
            <a:extLst>
              <a:ext uri="{FF2B5EF4-FFF2-40B4-BE49-F238E27FC236}">
                <a16:creationId xmlns:a16="http://schemas.microsoft.com/office/drawing/2014/main" id="{4889CFD5-A712-81E6-1E3D-5C04480864A2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642830287"/>
              </p:ext>
            </p:extLst>
          </p:nvPr>
        </p:nvGraphicFramePr>
        <p:xfrm>
          <a:off x="238125" y="952500"/>
          <a:ext cx="8667750" cy="104775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476500">
                  <a:extLst>
                    <a:ext uri="{9D8B030D-6E8A-4147-A177-3AD203B41FA5}">
                      <a16:colId xmlns:a16="http://schemas.microsoft.com/office/drawing/2014/main" val="664821055"/>
                    </a:ext>
                  </a:extLst>
                </a:gridCol>
                <a:gridCol w="1047750">
                  <a:extLst>
                    <a:ext uri="{9D8B030D-6E8A-4147-A177-3AD203B41FA5}">
                      <a16:colId xmlns:a16="http://schemas.microsoft.com/office/drawing/2014/main" val="3689188806"/>
                    </a:ext>
                  </a:extLst>
                </a:gridCol>
                <a:gridCol w="1143000">
                  <a:extLst>
                    <a:ext uri="{9D8B030D-6E8A-4147-A177-3AD203B41FA5}">
                      <a16:colId xmlns:a16="http://schemas.microsoft.com/office/drawing/2014/main" val="2934862616"/>
                    </a:ext>
                  </a:extLst>
                </a:gridCol>
                <a:gridCol w="2762250">
                  <a:extLst>
                    <a:ext uri="{9D8B030D-6E8A-4147-A177-3AD203B41FA5}">
                      <a16:colId xmlns:a16="http://schemas.microsoft.com/office/drawing/2014/main" val="4152507324"/>
                    </a:ext>
                  </a:extLst>
                </a:gridCol>
                <a:gridCol w="1143000">
                  <a:extLst>
                    <a:ext uri="{9D8B030D-6E8A-4147-A177-3AD203B41FA5}">
                      <a16:colId xmlns:a16="http://schemas.microsoft.com/office/drawing/2014/main" val="4019466818"/>
                    </a:ext>
                  </a:extLst>
                </a:gridCol>
              </a:tblGrid>
              <a:tr h="165100">
                <a:tc>
                  <a:txBody>
                    <a:bodyPr/>
                    <a:lstStyle/>
                    <a:p>
                      <a:pPr algn="l"/>
                      <a:r>
                        <a:rPr lang="sv-SE" sz="1190" b="1">
                          <a:solidFill>
                            <a:srgbClr val="FFFFFF"/>
                          </a:solidFill>
                          <a:latin typeface="Arial" panose="020B0604020202020204" pitchFamily="34" charset="0"/>
                        </a:rPr>
                        <a:t>Board, path (DC)</a:t>
                      </a:r>
                    </a:p>
                  </a:txBody>
                  <a:tcPr marL="50800" marR="50800" marT="25400" marB="25400">
                    <a:solidFill>
                      <a:srgbClr val="1954A6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sv-SE" sz="1190" b="1">
                          <a:solidFill>
                            <a:srgbClr val="FFFFFF"/>
                          </a:solidFill>
                          <a:latin typeface="Arial" panose="020B0604020202020204" pitchFamily="34" charset="0"/>
                        </a:rPr>
                        <a:t>R total (m</a:t>
                      </a:r>
                      <a:r>
                        <a:rPr lang="el-GR" sz="1190" b="1">
                          <a:solidFill>
                            <a:srgbClr val="FFFFFF"/>
                          </a:solidFill>
                          <a:latin typeface="Arial" panose="020B0604020202020204" pitchFamily="34" charset="0"/>
                        </a:rPr>
                        <a:t>Ω)</a:t>
                      </a:r>
                      <a:endParaRPr lang="sv-SE" sz="1190" b="1">
                        <a:solidFill>
                          <a:srgbClr val="FFFFFF"/>
                        </a:solidFill>
                        <a:latin typeface="Arial" panose="020B0604020202020204" pitchFamily="34" charset="0"/>
                      </a:endParaRPr>
                    </a:p>
                  </a:txBody>
                  <a:tcPr marL="50800" marR="50800" marT="25400" marB="25400">
                    <a:solidFill>
                      <a:srgbClr val="1954A6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sv-SE" sz="1190" b="1">
                          <a:solidFill>
                            <a:srgbClr val="FFFFFF"/>
                          </a:solidFill>
                          <a:latin typeface="Arial" panose="020B0604020202020204" pitchFamily="34" charset="0"/>
                        </a:rPr>
                        <a:t>R copper (m</a:t>
                      </a:r>
                      <a:r>
                        <a:rPr lang="el-GR" sz="1190" b="1">
                          <a:solidFill>
                            <a:srgbClr val="FFFFFF"/>
                          </a:solidFill>
                          <a:latin typeface="Arial" panose="020B0604020202020204" pitchFamily="34" charset="0"/>
                        </a:rPr>
                        <a:t>Ω)</a:t>
                      </a:r>
                      <a:endParaRPr lang="sv-SE" sz="1190" b="1">
                        <a:solidFill>
                          <a:srgbClr val="FFFFFF"/>
                        </a:solidFill>
                        <a:latin typeface="Arial" panose="020B0604020202020204" pitchFamily="34" charset="0"/>
                      </a:endParaRPr>
                    </a:p>
                  </a:txBody>
                  <a:tcPr marL="50800" marR="50800" marT="25400" marB="25400">
                    <a:solidFill>
                      <a:srgbClr val="1954A6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190" b="1">
                          <a:solidFill>
                            <a:srgbClr val="FFFFFF"/>
                          </a:solidFill>
                          <a:latin typeface="Arial" panose="020B0604020202020204" pitchFamily="34" charset="0"/>
                        </a:rPr>
                        <a:t>share cell 1 / 2 / 3 / 4</a:t>
                      </a:r>
                      <a:endParaRPr lang="sv-SE" sz="1190" b="1">
                        <a:solidFill>
                          <a:srgbClr val="FFFFFF"/>
                        </a:solidFill>
                        <a:latin typeface="Arial" panose="020B0604020202020204" pitchFamily="34" charset="0"/>
                      </a:endParaRPr>
                    </a:p>
                  </a:txBody>
                  <a:tcPr marL="50800" marR="50800" marT="25400" marB="25400">
                    <a:solidFill>
                      <a:srgbClr val="1954A6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sv-SE" sz="1190" b="1">
                          <a:solidFill>
                            <a:srgbClr val="FFFFFF"/>
                          </a:solidFill>
                          <a:latin typeface="Arial" panose="020B0604020202020204" pitchFamily="34" charset="0"/>
                        </a:rPr>
                        <a:t>max/min</a:t>
                      </a:r>
                    </a:p>
                  </a:txBody>
                  <a:tcPr marL="50800" marR="50800" marT="25400" marB="25400">
                    <a:solidFill>
                      <a:srgbClr val="1954A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198814782"/>
                  </a:ext>
                </a:extLst>
              </a:tr>
              <a:tr h="165100">
                <a:tc>
                  <a:txBody>
                    <a:bodyPr/>
                    <a:lstStyle/>
                    <a:p>
                      <a:pPr algn="l"/>
                      <a:r>
                        <a:rPr lang="sv-SE" sz="119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DPT: DC+ → HS FETs → AC</a:t>
                      </a:r>
                    </a:p>
                  </a:txBody>
                  <a:tcPr marL="50800" marR="50800" marT="25400" marB="25400"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sv-SE" sz="119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–</a:t>
                      </a:r>
                    </a:p>
                  </a:txBody>
                  <a:tcPr marL="50800" marR="50800" marT="25400" marB="25400"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sv-SE" sz="119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–</a:t>
                      </a:r>
                    </a:p>
                  </a:txBody>
                  <a:tcPr marL="50800" marR="50800" marT="25400" marB="25400"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sv-SE" sz="119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–</a:t>
                      </a:r>
                    </a:p>
                  </a:txBody>
                  <a:tcPr marL="50800" marR="50800" marT="25400" marB="25400"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sv-SE" sz="119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–</a:t>
                      </a:r>
                    </a:p>
                  </a:txBody>
                  <a:tcPr marL="50800" marR="50800" marT="25400" marB="25400">
                    <a:solidFill>
                      <a:srgbClr val="E8EF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519579588"/>
                  </a:ext>
                </a:extLst>
              </a:tr>
              <a:tr h="165100">
                <a:tc>
                  <a:txBody>
                    <a:bodyPr/>
                    <a:lstStyle/>
                    <a:p>
                      <a:pPr algn="l"/>
                      <a:r>
                        <a:rPr lang="sv-SE" sz="119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DPT: AC → LS FETs → shunts → DC−</a:t>
                      </a:r>
                    </a:p>
                  </a:txBody>
                  <a:tcPr marL="50800" marR="508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sv-SE" sz="119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–</a:t>
                      </a:r>
                    </a:p>
                  </a:txBody>
                  <a:tcPr marL="50800" marR="508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sv-SE" sz="119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–</a:t>
                      </a:r>
                    </a:p>
                  </a:txBody>
                  <a:tcPr marL="50800" marR="508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sv-SE" sz="119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–</a:t>
                      </a:r>
                    </a:p>
                  </a:txBody>
                  <a:tcPr marL="50800" marR="508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sv-SE" sz="119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–</a:t>
                      </a:r>
                    </a:p>
                  </a:txBody>
                  <a:tcPr marL="50800" marR="50800" marT="25400" marB="25400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571400999"/>
                  </a:ext>
                </a:extLst>
              </a:tr>
              <a:tr h="165100">
                <a:tc>
                  <a:txBody>
                    <a:bodyPr/>
                    <a:lstStyle/>
                    <a:p>
                      <a:pPr algn="l"/>
                      <a:r>
                        <a:rPr lang="en-US" sz="119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load: DC+ → HS FETs → AC</a:t>
                      </a:r>
                      <a:endParaRPr lang="sv-SE" sz="1190">
                        <a:solidFill>
                          <a:srgbClr val="1E1E1E"/>
                        </a:solidFill>
                        <a:latin typeface="Arial" panose="020B0604020202020204" pitchFamily="34" charset="0"/>
                      </a:endParaRPr>
                    </a:p>
                  </a:txBody>
                  <a:tcPr marL="50800" marR="50800" marT="25400" marB="25400"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sv-SE" sz="119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–</a:t>
                      </a:r>
                    </a:p>
                  </a:txBody>
                  <a:tcPr marL="50800" marR="50800" marT="25400" marB="25400"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sv-SE" sz="119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–</a:t>
                      </a:r>
                    </a:p>
                  </a:txBody>
                  <a:tcPr marL="50800" marR="50800" marT="25400" marB="25400"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sv-SE" sz="119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–</a:t>
                      </a:r>
                    </a:p>
                  </a:txBody>
                  <a:tcPr marL="50800" marR="50800" marT="25400" marB="25400"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sv-SE" sz="119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–</a:t>
                      </a:r>
                    </a:p>
                  </a:txBody>
                  <a:tcPr marL="50800" marR="50800" marT="25400" marB="25400">
                    <a:solidFill>
                      <a:srgbClr val="E8EF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734112315"/>
                  </a:ext>
                </a:extLst>
              </a:tr>
              <a:tr h="165100">
                <a:tc>
                  <a:txBody>
                    <a:bodyPr/>
                    <a:lstStyle/>
                    <a:p>
                      <a:pPr algn="l"/>
                      <a:r>
                        <a:rPr lang="en-US" sz="119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load: AC → LS FETs → DC−</a:t>
                      </a:r>
                      <a:endParaRPr lang="sv-SE" sz="1190">
                        <a:solidFill>
                          <a:srgbClr val="1E1E1E"/>
                        </a:solidFill>
                        <a:latin typeface="Arial" panose="020B0604020202020204" pitchFamily="34" charset="0"/>
                      </a:endParaRPr>
                    </a:p>
                  </a:txBody>
                  <a:tcPr marL="50800" marR="508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sv-SE" sz="119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–</a:t>
                      </a:r>
                    </a:p>
                  </a:txBody>
                  <a:tcPr marL="50800" marR="508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sv-SE" sz="119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–</a:t>
                      </a:r>
                    </a:p>
                  </a:txBody>
                  <a:tcPr marL="50800" marR="508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sv-SE" sz="119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–</a:t>
                      </a:r>
                    </a:p>
                  </a:txBody>
                  <a:tcPr marL="50800" marR="508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sv-SE" sz="119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–</a:t>
                      </a:r>
                    </a:p>
                  </a:txBody>
                  <a:tcPr marL="50800" marR="50800" marT="25400" marB="25400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121131237"/>
                  </a:ext>
                </a:extLst>
              </a:tr>
            </a:tbl>
          </a:graphicData>
        </a:graphic>
      </p:graphicFrame>
      <p:sp>
        <p:nvSpPr>
          <p:cNvPr id="7" name="TextBox 6">
            <a:extLst>
              <a:ext uri="{FF2B5EF4-FFF2-40B4-BE49-F238E27FC236}">
                <a16:creationId xmlns:a16="http://schemas.microsoft.com/office/drawing/2014/main" id="{A86D4029-A76C-0542-04B3-6E7D0B99B6D4}"/>
              </a:ext>
            </a:extLst>
          </p:cNvPr>
          <p:cNvSpPr txBox="1"/>
          <p:nvPr/>
        </p:nvSpPr>
        <p:spPr>
          <a:xfrm>
            <a:off x="238125" y="2524125"/>
            <a:ext cx="8667750" cy="307777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pPr marL="406400" indent="-177800">
              <a:spcAft>
                <a:spcPts val="400"/>
              </a:spcAft>
              <a:buFont typeface="+mj-lt"/>
              <a:buChar char="•"/>
            </a:pPr>
            <a:r>
              <a:rPr lang="en-US" sz="1380" b="1">
                <a:solidFill>
                  <a:srgbClr val="1E1E1E"/>
                </a:solidFill>
                <a:latin typeface="Arial" panose="020B0604020202020204" pitchFamily="34" charset="0"/>
              </a:rPr>
              <a:t>Static sharing</a:t>
            </a:r>
            <a:r>
              <a:rPr lang="en-US" sz="1380">
                <a:solidFill>
                  <a:srgbClr val="1E1E1E"/>
                </a:solidFill>
                <a:latin typeface="Arial" panose="020B0604020202020204" pitchFamily="34" charset="0"/>
              </a:rPr>
              <a:t> = how the conduction (DC) current splits between the four parallel cells: set by each cell's copper path (DC terminals → cell → AC pad) plus R</a:t>
            </a:r>
            <a:r>
              <a:rPr lang="en-US" sz="1380" baseline="-25000">
                <a:solidFill>
                  <a:srgbClr val="1E1E1E"/>
                </a:solidFill>
                <a:latin typeface="Arial" panose="020B0604020202020204" pitchFamily="34" charset="0"/>
              </a:rPr>
              <a:t>DS(on)</a:t>
            </a:r>
            <a:r>
              <a:rPr lang="en-US" sz="1380">
                <a:solidFill>
                  <a:srgbClr val="1E1E1E"/>
                </a:solidFill>
                <a:latin typeface="Arial" panose="020B0604020202020204" pitchFamily="34" charset="0"/>
              </a:rPr>
              <a:t>; dynamic sharing during the edges is set by the gate loops (step 7)</a:t>
            </a:r>
          </a:p>
          <a:p>
            <a:pPr marL="406400" indent="-177800">
              <a:spcAft>
                <a:spcPts val="400"/>
              </a:spcAft>
              <a:buFont typeface="+mj-lt"/>
              <a:buChar char="•"/>
            </a:pPr>
            <a:r>
              <a:rPr lang="en-US" sz="1380">
                <a:solidFill>
                  <a:srgbClr val="1E1E1E"/>
                </a:solidFill>
                <a:latin typeface="Arial" panose="020B0604020202020204" pitchFamily="34" charset="0"/>
              </a:rPr>
              <a:t>Full-board DC model; FET 0.75 mΩ × 1.49 (100 °C), UFCS 1 mΩ; DC terminals as one pair, AC at the M6 bolt pad</a:t>
            </a:r>
          </a:p>
          <a:p>
            <a:pPr marL="406400" indent="-177800">
              <a:spcAft>
                <a:spcPts val="400"/>
              </a:spcAft>
              <a:buFont typeface="+mj-lt"/>
              <a:buChar char="•"/>
            </a:pPr>
            <a:r>
              <a:rPr lang="en-US" sz="1380">
                <a:solidFill>
                  <a:srgbClr val="1E1E1E"/>
                </a:solidFill>
                <a:latin typeface="Arial" panose="020B0604020202020204" pitchFamily="34" charset="0"/>
              </a:rPr>
              <a:t>Board copper loss at 228 A</a:t>
            </a:r>
            <a:r>
              <a:rPr lang="en-US" sz="1380" baseline="-25000">
                <a:solidFill>
                  <a:srgbClr val="1E1E1E"/>
                </a:solidFill>
                <a:latin typeface="Arial" panose="020B0604020202020204" pitchFamily="34" charset="0"/>
              </a:rPr>
              <a:t>rms</a:t>
            </a:r>
            <a:r>
              <a:rPr lang="en-US" sz="1380">
                <a:solidFill>
                  <a:srgbClr val="1E1E1E"/>
                </a:solidFill>
                <a:latin typeface="Arial" panose="020B0604020202020204" pitchFamily="34" charset="0"/>
              </a:rPr>
              <a:t>: </a:t>
            </a:r>
            <a:r>
              <a:rPr lang="en-US" sz="1380" b="1">
                <a:solidFill>
                  <a:srgbClr val="1E1E1E"/>
                </a:solidFill>
                <a:latin typeface="Arial" panose="020B0604020202020204" pitchFamily="34" charset="0"/>
              </a:rPr>
              <a:t>(pending) W</a:t>
            </a:r>
            <a:r>
              <a:rPr lang="en-US" sz="1380">
                <a:solidFill>
                  <a:srgbClr val="1E1E1E"/>
                </a:solidFill>
                <a:latin typeface="Arial" panose="020B0604020202020204" pitchFamily="34" charset="0"/>
              </a:rPr>
              <a:t> (DPT, + (pending) W in the shunts) / </a:t>
            </a:r>
            <a:r>
              <a:rPr lang="en-US" sz="1380" b="1">
                <a:solidFill>
                  <a:srgbClr val="1E1E1E"/>
                </a:solidFill>
                <a:latin typeface="Arial" panose="020B0604020202020204" pitchFamily="34" charset="0"/>
              </a:rPr>
              <a:t>(pending) W</a:t>
            </a:r>
            <a:r>
              <a:rPr lang="en-US" sz="1380">
                <a:solidFill>
                  <a:srgbClr val="1E1E1E"/>
                </a:solidFill>
                <a:latin typeface="Arial" panose="020B0604020202020204" pitchFamily="34" charset="0"/>
              </a:rPr>
              <a:t> (load board)</a:t>
            </a:r>
          </a:p>
          <a:p>
            <a:pPr marL="406400" indent="-177800">
              <a:spcAft>
                <a:spcPts val="400"/>
              </a:spcAft>
              <a:buFont typeface="+mj-lt"/>
              <a:buChar char="•"/>
            </a:pPr>
            <a:r>
              <a:rPr lang="en-US" sz="1380">
                <a:solidFill>
                  <a:srgbClr val="1E1E1E"/>
                </a:solidFill>
                <a:latin typeface="Arial" panose="020B0604020202020204" pitchFamily="34" charset="0"/>
              </a:rPr>
              <a:t>Hand-over inductance bypass → bank L</a:t>
            </a:r>
            <a:r>
              <a:rPr lang="en-US" sz="1380" baseline="-25000">
                <a:solidFill>
                  <a:srgbClr val="1E1E1E"/>
                </a:solidFill>
                <a:latin typeface="Arial" panose="020B0604020202020204" pitchFamily="34" charset="0"/>
              </a:rPr>
              <a:t>b</a:t>
            </a:r>
            <a:r>
              <a:rPr lang="en-US" sz="1380">
                <a:solidFill>
                  <a:srgbClr val="1E1E1E"/>
                </a:solidFill>
                <a:latin typeface="Arial" panose="020B0604020202020204" pitchFamily="34" charset="0"/>
              </a:rPr>
              <a:t> = (pending) (bank model, 1 MHz) ⇒ used for the bypass sizing (step 6)</a:t>
            </a:r>
            <a:endParaRPr lang="sv-SE" sz="1380" dirty="0" err="1">
              <a:solidFill>
                <a:srgbClr val="1E1E1E"/>
              </a:solidFill>
              <a:latin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444957901"/>
      </p:ext>
    </p:extLst>
  </p:cSld>
  <p:clrMapOvr>
    <a:masterClrMapping/>
  </p:clrMapOvr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F6A9677-4DFD-AE93-C4BC-CD3DAF483D0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z="2100"/>
              <a:t>Q3D: three load-test legs on the PCB busbar</a:t>
            </a:r>
            <a:endParaRPr lang="sv-SE" sz="210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4C43C6A7-4FC5-4D0E-92C4-96AF0417123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sv-SE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5B706B94-2577-9B8A-2F07-009FE281B4A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422A9A3-8636-4A04-BD48-3153280FB086}" type="slidenum">
              <a:rPr lang="sv-SE" smtClean="0"/>
              <a:pPr/>
              <a:t>50</a:t>
            </a:fld>
            <a:endParaRPr lang="sv-SE"/>
          </a:p>
        </p:txBody>
      </p:sp>
      <p:graphicFrame>
        <p:nvGraphicFramePr>
          <p:cNvPr id="6" name="Table 5">
            <a:extLst>
              <a:ext uri="{FF2B5EF4-FFF2-40B4-BE49-F238E27FC236}">
                <a16:creationId xmlns:a16="http://schemas.microsoft.com/office/drawing/2014/main" id="{1B9C9F1C-E0DC-542A-FA4F-68BB947800B9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893904570"/>
              </p:ext>
            </p:extLst>
          </p:nvPr>
        </p:nvGraphicFramePr>
        <p:xfrm>
          <a:off x="238125" y="952500"/>
          <a:ext cx="4476750" cy="12573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857500">
                  <a:extLst>
                    <a:ext uri="{9D8B030D-6E8A-4147-A177-3AD203B41FA5}">
                      <a16:colId xmlns:a16="http://schemas.microsoft.com/office/drawing/2014/main" val="4268846566"/>
                    </a:ext>
                  </a:extLst>
                </a:gridCol>
                <a:gridCol w="1619250">
                  <a:extLst>
                    <a:ext uri="{9D8B030D-6E8A-4147-A177-3AD203B41FA5}">
                      <a16:colId xmlns:a16="http://schemas.microsoft.com/office/drawing/2014/main" val="1504875002"/>
                    </a:ext>
                  </a:extLst>
                </a:gridCol>
              </a:tblGrid>
              <a:tr h="165100">
                <a:tc>
                  <a:txBody>
                    <a:bodyPr/>
                    <a:lstStyle/>
                    <a:p>
                      <a:pPr algn="l"/>
                      <a:r>
                        <a:rPr lang="sv-SE" sz="1190" b="1">
                          <a:solidFill>
                            <a:srgbClr val="FFFFFF"/>
                          </a:solidFill>
                          <a:latin typeface="Arial" panose="020B0604020202020204" pitchFamily="34" charset="0"/>
                        </a:rPr>
                        <a:t>Quantity</a:t>
                      </a:r>
                    </a:p>
                  </a:txBody>
                  <a:tcPr marL="50800" marR="50800" marT="25400" marB="25400">
                    <a:solidFill>
                      <a:srgbClr val="1954A6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sv-SE" sz="1190" b="1">
                          <a:solidFill>
                            <a:srgbClr val="FFFFFF"/>
                          </a:solidFill>
                          <a:latin typeface="Arial" panose="020B0604020202020204" pitchFamily="34" charset="0"/>
                        </a:rPr>
                        <a:t>Value</a:t>
                      </a:r>
                    </a:p>
                  </a:txBody>
                  <a:tcPr marL="50800" marR="50800" marT="25400" marB="25400">
                    <a:solidFill>
                      <a:srgbClr val="1954A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283830092"/>
                  </a:ext>
                </a:extLst>
              </a:tr>
              <a:tr h="165100">
                <a:tc>
                  <a:txBody>
                    <a:bodyPr/>
                    <a:lstStyle/>
                    <a:p>
                      <a:pPr algn="l"/>
                      <a:r>
                        <a:rPr lang="en-US" sz="119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Leg-to-leg loop a–b / a–c, 1 MHz</a:t>
                      </a:r>
                      <a:endParaRPr lang="sv-SE" sz="1190">
                        <a:solidFill>
                          <a:srgbClr val="1E1E1E"/>
                        </a:solidFill>
                        <a:latin typeface="Arial" panose="020B0604020202020204" pitchFamily="34" charset="0"/>
                      </a:endParaRPr>
                    </a:p>
                  </a:txBody>
                  <a:tcPr marL="50800" marR="50800" marT="25400" marB="25400"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sv-SE" sz="119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1.46 / 1.98 nH</a:t>
                      </a:r>
                    </a:p>
                  </a:txBody>
                  <a:tcPr marL="50800" marR="50800" marT="25400" marB="25400">
                    <a:solidFill>
                      <a:srgbClr val="E8EF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455345344"/>
                  </a:ext>
                </a:extLst>
              </a:tr>
              <a:tr h="165100">
                <a:tc>
                  <a:txBody>
                    <a:bodyPr/>
                    <a:lstStyle/>
                    <a:p>
                      <a:pPr algn="l"/>
                      <a:r>
                        <a:rPr lang="en-US" sz="119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Leg-to-leg loop a–b / a–c, DC</a:t>
                      </a:r>
                      <a:endParaRPr lang="sv-SE" sz="1190">
                        <a:solidFill>
                          <a:srgbClr val="1E1E1E"/>
                        </a:solidFill>
                        <a:latin typeface="Arial" panose="020B0604020202020204" pitchFamily="34" charset="0"/>
                      </a:endParaRPr>
                    </a:p>
                  </a:txBody>
                  <a:tcPr marL="50800" marR="508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sv-SE" sz="119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7.41 / 10.01 nH</a:t>
                      </a:r>
                    </a:p>
                  </a:txBody>
                  <a:tcPr marL="50800" marR="50800" marT="25400" marB="25400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107923720"/>
                  </a:ext>
                </a:extLst>
              </a:tr>
              <a:tr h="165100">
                <a:tc>
                  <a:txBody>
                    <a:bodyPr/>
                    <a:lstStyle/>
                    <a:p>
                      <a:pPr algn="l"/>
                      <a:r>
                        <a:rPr lang="en-US" sz="119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Ripple of leg a at 50 kHz from banks a / b / c</a:t>
                      </a:r>
                      <a:endParaRPr lang="sv-SE" sz="1190">
                        <a:solidFill>
                          <a:srgbClr val="1E1E1E"/>
                        </a:solidFill>
                        <a:latin typeface="Arial" panose="020B0604020202020204" pitchFamily="34" charset="0"/>
                      </a:endParaRPr>
                    </a:p>
                  </a:txBody>
                  <a:tcPr marL="50800" marR="50800" marT="25400" marB="25400"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sv-SE" sz="119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(pending)</a:t>
                      </a:r>
                    </a:p>
                  </a:txBody>
                  <a:tcPr marL="50800" marR="50800" marT="25400" marB="25400">
                    <a:solidFill>
                      <a:srgbClr val="E8EF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896122616"/>
                  </a:ext>
                </a:extLst>
              </a:tr>
              <a:tr h="165100">
                <a:tc>
                  <a:txBody>
                    <a:bodyPr/>
                    <a:lstStyle/>
                    <a:p>
                      <a:pPr algn="l"/>
                      <a:r>
                        <a:rPr lang="en-US" sz="119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Busbar DC loss (250 A in, 3 × 83 A)</a:t>
                      </a:r>
                      <a:endParaRPr lang="sv-SE" sz="1190">
                        <a:solidFill>
                          <a:srgbClr val="1E1E1E"/>
                        </a:solidFill>
                        <a:latin typeface="Arial" panose="020B0604020202020204" pitchFamily="34" charset="0"/>
                      </a:endParaRPr>
                    </a:p>
                  </a:txBody>
                  <a:tcPr marL="50800" marR="508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sv-SE" sz="119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(pending) W</a:t>
                      </a:r>
                    </a:p>
                  </a:txBody>
                  <a:tcPr marL="50800" marR="50800" marT="25400" marB="25400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38565826"/>
                  </a:ext>
                </a:extLst>
              </a:tr>
              <a:tr h="165100">
                <a:tc>
                  <a:txBody>
                    <a:bodyPr/>
                    <a:lstStyle/>
                    <a:p>
                      <a:pPr algn="l"/>
                      <a:r>
                        <a:rPr lang="sv-SE" sz="119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Highest REDCUBE terminal current</a:t>
                      </a:r>
                    </a:p>
                  </a:txBody>
                  <a:tcPr marL="50800" marR="50800" marT="25400" marB="25400"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sv-SE" sz="119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(pending) A</a:t>
                      </a:r>
                    </a:p>
                  </a:txBody>
                  <a:tcPr marL="50800" marR="50800" marT="25400" marB="25400">
                    <a:solidFill>
                      <a:srgbClr val="E8EF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010423080"/>
                  </a:ext>
                </a:extLst>
              </a:tr>
            </a:tbl>
          </a:graphicData>
        </a:graphic>
      </p:graphicFrame>
      <p:sp>
        <p:nvSpPr>
          <p:cNvPr id="7" name="TextBox 6">
            <a:extLst>
              <a:ext uri="{FF2B5EF4-FFF2-40B4-BE49-F238E27FC236}">
                <a16:creationId xmlns:a16="http://schemas.microsoft.com/office/drawing/2014/main" id="{A8B1000F-AE06-3A8C-8F91-33021CA17047}"/>
              </a:ext>
            </a:extLst>
          </p:cNvPr>
          <p:cNvSpPr txBox="1"/>
          <p:nvPr/>
        </p:nvSpPr>
        <p:spPr>
          <a:xfrm>
            <a:off x="238125" y="3381375"/>
            <a:ext cx="8667750" cy="307777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pPr marL="406400" indent="-177800">
              <a:spcAft>
                <a:spcPts val="400"/>
              </a:spcAft>
              <a:buFont typeface="+mj-lt"/>
              <a:buChar char="•"/>
            </a:pPr>
            <a:r>
              <a:rPr lang="sv-SE" sz="1380">
                <a:solidFill>
                  <a:srgbClr val="1E1E1E"/>
                </a:solidFill>
                <a:latin typeface="Arial" panose="020B0604020202020204" pitchFamily="34" charset="0"/>
              </a:rPr>
              <a:t>Network: Q3D bank-model matrices of three load-test legs (cells draw at their bypass; MLCCs with ESR/ESL, C at 75 V) + busbar (DC below 1 MHz, AC above); peaks in |Z| = inter-leg resonance</a:t>
            </a:r>
          </a:p>
          <a:p>
            <a:pPr marL="406400" indent="-177800">
              <a:spcAft>
                <a:spcPts val="400"/>
              </a:spcAft>
              <a:buFont typeface="+mj-lt"/>
              <a:buChar char="•"/>
            </a:pPr>
            <a:r>
              <a:rPr lang="sv-SE" sz="1380">
                <a:solidFill>
                  <a:srgbClr val="1E1E1E"/>
                </a:solidFill>
                <a:latin typeface="Arial" panose="020B0604020202020204" pitchFamily="34" charset="0"/>
              </a:rPr>
              <a:t>Target ≤ 5 nH leg to leg (step 10)</a:t>
            </a:r>
            <a:endParaRPr lang="sv-SE" sz="1380" dirty="0" err="1">
              <a:solidFill>
                <a:srgbClr val="1E1E1E"/>
              </a:solidFill>
              <a:latin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184548452"/>
      </p:ext>
    </p:extLst>
  </p:cSld>
  <p:clrMapOvr>
    <a:masterClrMapping/>
  </p:clrMapOvr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CA10839-459C-7606-C98C-E196892870A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z="2100"/>
              <a:t>Main findings on the final boards</a:t>
            </a:r>
            <a:endParaRPr lang="sv-SE" sz="210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0CA0DD94-661A-7E6A-208F-0682BD0BDCF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sv-SE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C02B98FA-33D3-F749-B130-1CA267E63EF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422A9A3-8636-4A04-BD48-3153280FB086}" type="slidenum">
              <a:rPr lang="sv-SE" smtClean="0"/>
              <a:pPr/>
              <a:t>51</a:t>
            </a:fld>
            <a:endParaRPr lang="sv-SE"/>
          </a:p>
        </p:txBody>
      </p:sp>
      <p:graphicFrame>
        <p:nvGraphicFramePr>
          <p:cNvPr id="6" name="Table 5">
            <a:extLst>
              <a:ext uri="{FF2B5EF4-FFF2-40B4-BE49-F238E27FC236}">
                <a16:creationId xmlns:a16="http://schemas.microsoft.com/office/drawing/2014/main" id="{804101DA-0BA6-5699-B299-A34E2094135D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348443249"/>
              </p:ext>
            </p:extLst>
          </p:nvPr>
        </p:nvGraphicFramePr>
        <p:xfrm>
          <a:off x="238125" y="952500"/>
          <a:ext cx="8667750" cy="12573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90750">
                  <a:extLst>
                    <a:ext uri="{9D8B030D-6E8A-4147-A177-3AD203B41FA5}">
                      <a16:colId xmlns:a16="http://schemas.microsoft.com/office/drawing/2014/main" val="454774804"/>
                    </a:ext>
                  </a:extLst>
                </a:gridCol>
                <a:gridCol w="1714500">
                  <a:extLst>
                    <a:ext uri="{9D8B030D-6E8A-4147-A177-3AD203B41FA5}">
                      <a16:colId xmlns:a16="http://schemas.microsoft.com/office/drawing/2014/main" val="2145659565"/>
                    </a:ext>
                  </a:extLst>
                </a:gridCol>
                <a:gridCol w="1714500">
                  <a:extLst>
                    <a:ext uri="{9D8B030D-6E8A-4147-A177-3AD203B41FA5}">
                      <a16:colId xmlns:a16="http://schemas.microsoft.com/office/drawing/2014/main" val="1904587770"/>
                    </a:ext>
                  </a:extLst>
                </a:gridCol>
                <a:gridCol w="2952750">
                  <a:extLst>
                    <a:ext uri="{9D8B030D-6E8A-4147-A177-3AD203B41FA5}">
                      <a16:colId xmlns:a16="http://schemas.microsoft.com/office/drawing/2014/main" val="991055845"/>
                    </a:ext>
                  </a:extLst>
                </a:gridCol>
              </a:tblGrid>
              <a:tr h="165100">
                <a:tc>
                  <a:txBody>
                    <a:bodyPr/>
                    <a:lstStyle/>
                    <a:p>
                      <a:pPr algn="l"/>
                      <a:r>
                        <a:rPr lang="sv-SE" sz="1190" b="1">
                          <a:solidFill>
                            <a:srgbClr val="FFFFFF"/>
                          </a:solidFill>
                          <a:latin typeface="Arial" panose="020B0604020202020204" pitchFamily="34" charset="0"/>
                        </a:rPr>
                        <a:t>Quantity</a:t>
                      </a:r>
                    </a:p>
                  </a:txBody>
                  <a:tcPr marL="50800" marR="50800" marT="25400" marB="25400">
                    <a:solidFill>
                      <a:srgbClr val="1954A6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sv-SE" sz="1190" b="1">
                          <a:solidFill>
                            <a:srgbClr val="FFFFFF"/>
                          </a:solidFill>
                          <a:latin typeface="Arial" panose="020B0604020202020204" pitchFamily="34" charset="0"/>
                        </a:rPr>
                        <a:t>DPT board</a:t>
                      </a:r>
                    </a:p>
                  </a:txBody>
                  <a:tcPr marL="50800" marR="50800" marT="25400" marB="25400">
                    <a:solidFill>
                      <a:srgbClr val="1954A6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sv-SE" sz="1190" b="1">
                          <a:solidFill>
                            <a:srgbClr val="FFFFFF"/>
                          </a:solidFill>
                          <a:latin typeface="Arial" panose="020B0604020202020204" pitchFamily="34" charset="0"/>
                        </a:rPr>
                        <a:t>Load-test board</a:t>
                      </a:r>
                    </a:p>
                  </a:txBody>
                  <a:tcPr marL="50800" marR="50800" marT="25400" marB="25400">
                    <a:solidFill>
                      <a:srgbClr val="1954A6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sv-SE" sz="1190" b="1">
                          <a:solidFill>
                            <a:srgbClr val="FFFFFF"/>
                          </a:solidFill>
                          <a:latin typeface="Arial" panose="020B0604020202020204" pitchFamily="34" charset="0"/>
                        </a:rPr>
                        <a:t>Consequence</a:t>
                      </a:r>
                    </a:p>
                  </a:txBody>
                  <a:tcPr marL="50800" marR="50800" marT="25400" marB="25400">
                    <a:solidFill>
                      <a:srgbClr val="1954A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705023424"/>
                  </a:ext>
                </a:extLst>
              </a:tr>
              <a:tr h="165100">
                <a:tc>
                  <a:txBody>
                    <a:bodyPr/>
                    <a:lstStyle/>
                    <a:p>
                      <a:pPr algn="l"/>
                      <a:r>
                        <a:rPr lang="sv-SE" sz="119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Loop per cell</a:t>
                      </a:r>
                    </a:p>
                  </a:txBody>
                  <a:tcPr marL="50800" marR="50800" marT="25400" marB="25400"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sv-SE" sz="119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0.65 nH</a:t>
                      </a:r>
                    </a:p>
                  </a:txBody>
                  <a:tcPr marL="50800" marR="50800" marT="25400" marB="25400"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sv-SE" sz="119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0.41 nH</a:t>
                      </a:r>
                    </a:p>
                  </a:txBody>
                  <a:tcPr marL="50800" marR="50800" marT="25400" marB="25400"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sv-SE" sz="119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DPT: limit di/dt; load: 30 A/ns ok</a:t>
                      </a:r>
                    </a:p>
                  </a:txBody>
                  <a:tcPr marL="50800" marR="50800" marT="25400" marB="25400">
                    <a:solidFill>
                      <a:srgbClr val="E8EF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850735836"/>
                  </a:ext>
                </a:extLst>
              </a:tr>
              <a:tr h="165100">
                <a:tc>
                  <a:txBody>
                    <a:bodyPr/>
                    <a:lstStyle/>
                    <a:p>
                      <a:pPr algn="l"/>
                      <a:r>
                        <a:rPr lang="en-US" sz="119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Static sharing, max/min (HS / LS)</a:t>
                      </a:r>
                      <a:endParaRPr lang="sv-SE" sz="1190">
                        <a:solidFill>
                          <a:srgbClr val="1E1E1E"/>
                        </a:solidFill>
                        <a:latin typeface="Arial" panose="020B0604020202020204" pitchFamily="34" charset="0"/>
                      </a:endParaRPr>
                    </a:p>
                  </a:txBody>
                  <a:tcPr marL="50800" marR="508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sv-SE" sz="119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(pending) / (pending)</a:t>
                      </a:r>
                    </a:p>
                  </a:txBody>
                  <a:tcPr marL="50800" marR="508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sv-SE" sz="119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(pending) / (pending)</a:t>
                      </a:r>
                    </a:p>
                  </a:txBody>
                  <a:tcPr marL="50800" marR="508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19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verify with the UFCS per cell</a:t>
                      </a:r>
                      <a:endParaRPr lang="sv-SE" sz="1190">
                        <a:solidFill>
                          <a:srgbClr val="1E1E1E"/>
                        </a:solidFill>
                        <a:latin typeface="Arial" panose="020B0604020202020204" pitchFamily="34" charset="0"/>
                      </a:endParaRPr>
                    </a:p>
                  </a:txBody>
                  <a:tcPr marL="50800" marR="50800" marT="25400" marB="25400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941451841"/>
                  </a:ext>
                </a:extLst>
              </a:tr>
              <a:tr h="165100">
                <a:tc>
                  <a:txBody>
                    <a:bodyPr/>
                    <a:lstStyle/>
                    <a:p>
                      <a:pPr algn="l"/>
                      <a:r>
                        <a:rPr lang="en-US" sz="119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Board copper loss at 228 A</a:t>
                      </a:r>
                      <a:r>
                        <a:rPr lang="en-US" sz="1190" baseline="-2500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rms</a:t>
                      </a:r>
                      <a:endParaRPr lang="sv-SE" sz="1190" baseline="-25000">
                        <a:solidFill>
                          <a:srgbClr val="1E1E1E"/>
                        </a:solidFill>
                        <a:latin typeface="Arial" panose="020B0604020202020204" pitchFamily="34" charset="0"/>
                      </a:endParaRPr>
                    </a:p>
                  </a:txBody>
                  <a:tcPr marL="50800" marR="50800" marT="25400" marB="25400"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sv-SE" sz="119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(pending) W</a:t>
                      </a:r>
                    </a:p>
                  </a:txBody>
                  <a:tcPr marL="50800" marR="50800" marT="25400" marB="25400"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sv-SE" sz="119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(pending) W</a:t>
                      </a:r>
                    </a:p>
                  </a:txBody>
                  <a:tcPr marL="50800" marR="50800" marT="25400" marB="25400"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19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heats the board, not the FETs</a:t>
                      </a:r>
                      <a:endParaRPr lang="sv-SE" sz="1190">
                        <a:solidFill>
                          <a:srgbClr val="1E1E1E"/>
                        </a:solidFill>
                        <a:latin typeface="Arial" panose="020B0604020202020204" pitchFamily="34" charset="0"/>
                      </a:endParaRPr>
                    </a:p>
                  </a:txBody>
                  <a:tcPr marL="50800" marR="50800" marT="25400" marB="25400">
                    <a:solidFill>
                      <a:srgbClr val="E8EF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724622576"/>
                  </a:ext>
                </a:extLst>
              </a:tr>
              <a:tr h="165100">
                <a:tc>
                  <a:txBody>
                    <a:bodyPr/>
                    <a:lstStyle/>
                    <a:p>
                      <a:pPr algn="l"/>
                      <a:r>
                        <a:rPr lang="en-US" sz="119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L</a:t>
                      </a:r>
                      <a:r>
                        <a:rPr lang="en-US" sz="1190" baseline="-2500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x</a:t>
                      </a:r>
                      <a:r>
                        <a:rPr lang="en-US" sz="119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 between driver pairs (HS / LS)</a:t>
                      </a:r>
                      <a:endParaRPr lang="sv-SE" sz="1190">
                        <a:solidFill>
                          <a:srgbClr val="1E1E1E"/>
                        </a:solidFill>
                        <a:latin typeface="Arial" panose="020B0604020202020204" pitchFamily="34" charset="0"/>
                      </a:endParaRPr>
                    </a:p>
                  </a:txBody>
                  <a:tcPr marL="50800" marR="508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sv-SE" sz="119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4.91 / 2.68 nH</a:t>
                      </a:r>
                    </a:p>
                  </a:txBody>
                  <a:tcPr marL="50800" marR="508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sv-SE" sz="119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6.77 / 5.44 nH</a:t>
                      </a:r>
                    </a:p>
                  </a:txBody>
                  <a:tcPr marL="50800" marR="508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sv-SE" sz="119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skew → </a:t>
                      </a:r>
                      <a:r>
                        <a:rPr lang="el-GR" sz="119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Δ</a:t>
                      </a:r>
                      <a:r>
                        <a:rPr lang="sv-SE" sz="119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I = V</a:t>
                      </a:r>
                      <a:r>
                        <a:rPr lang="sv-SE" sz="1190" baseline="-2500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m</a:t>
                      </a:r>
                      <a:r>
                        <a:rPr lang="el-GR" sz="119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Δ</a:t>
                      </a:r>
                      <a:r>
                        <a:rPr lang="sv-SE" sz="119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t / L</a:t>
                      </a:r>
                      <a:r>
                        <a:rPr lang="sv-SE" sz="1190" baseline="-2500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x</a:t>
                      </a:r>
                    </a:p>
                  </a:txBody>
                  <a:tcPr marL="50800" marR="50800" marT="25400" marB="25400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292648670"/>
                  </a:ext>
                </a:extLst>
              </a:tr>
              <a:tr h="165100">
                <a:tc>
                  <a:txBody>
                    <a:bodyPr/>
                    <a:lstStyle/>
                    <a:p>
                      <a:pPr algn="l"/>
                      <a:r>
                        <a:rPr lang="sv-SE" sz="119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Bus leg-to-leg loop (1 MHz)</a:t>
                      </a:r>
                    </a:p>
                  </a:txBody>
                  <a:tcPr marL="50800" marR="50800" marT="25400" marB="25400"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sv-SE" sz="119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–</a:t>
                      </a:r>
                    </a:p>
                  </a:txBody>
                  <a:tcPr marL="50800" marR="50800" marT="25400" marB="25400"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sv-SE" sz="119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1.46 nH</a:t>
                      </a:r>
                    </a:p>
                  </a:txBody>
                  <a:tcPr marL="50800" marR="50800" marT="25400" marB="25400"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sv-SE" sz="119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target ≤ 5 nH</a:t>
                      </a:r>
                    </a:p>
                  </a:txBody>
                  <a:tcPr marL="50800" marR="50800" marT="25400" marB="25400">
                    <a:solidFill>
                      <a:srgbClr val="E8EF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579256589"/>
                  </a:ext>
                </a:extLst>
              </a:tr>
            </a:tbl>
          </a:graphicData>
        </a:graphic>
      </p:graphicFrame>
      <p:pic>
        <p:nvPicPr>
          <p:cNvPr id="8" name="Picture 7">
            <a:extLst>
              <a:ext uri="{FF2B5EF4-FFF2-40B4-BE49-F238E27FC236}">
                <a16:creationId xmlns:a16="http://schemas.microsoft.com/office/drawing/2014/main" id="{889693AC-43DE-48D4-B9EE-7202B614C5B7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667000" y="2905125"/>
            <a:ext cx="3810000" cy="2381250"/>
          </a:xfrm>
          <a:prstGeom prst="rect">
            <a:avLst/>
          </a:prstGeom>
        </p:spPr>
      </p:pic>
      <p:sp>
        <p:nvSpPr>
          <p:cNvPr id="9" name="TextBox 8">
            <a:extLst>
              <a:ext uri="{FF2B5EF4-FFF2-40B4-BE49-F238E27FC236}">
                <a16:creationId xmlns:a16="http://schemas.microsoft.com/office/drawing/2014/main" id="{50553F7D-CF6B-1F94-15DE-CF724F7DCA20}"/>
              </a:ext>
            </a:extLst>
          </p:cNvPr>
          <p:cNvSpPr txBox="1"/>
          <p:nvPr/>
        </p:nvSpPr>
        <p:spPr>
          <a:xfrm>
            <a:off x="228600" y="4597400"/>
            <a:ext cx="7874000" cy="307777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n-US" sz="730">
                <a:solidFill>
                  <a:srgbClr val="787878"/>
                </a:solidFill>
                <a:latin typeface="Arial" panose="020B0604020202020204" pitchFamily="34" charset="0"/>
              </a:rPr>
              <a:t>All values from the fast Q3D set on the final layouts (run_bb_q3d_final.cmd, final_post.py).</a:t>
            </a:r>
            <a:endParaRPr lang="sv-SE" sz="730" dirty="0" err="1">
              <a:solidFill>
                <a:srgbClr val="787878"/>
              </a:solidFill>
              <a:latin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122980925"/>
      </p:ext>
    </p:extLst>
  </p:cSld>
  <p:clrMapOvr>
    <a:masterClrMapping/>
  </p:clrMapOvr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14E107D-02B1-FB0A-935D-35EAC9AA008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sv-SE" sz="2100"/>
              <a:t>Fabrication files</a:t>
            </a: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48896389-BC05-A62F-5E56-10373C90E27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sv-SE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DAD79BBC-DB25-1F2D-C0AB-6FFFA067B6B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422A9A3-8636-4A04-BD48-3153280FB086}" type="slidenum">
              <a:rPr lang="sv-SE" smtClean="0"/>
              <a:pPr/>
              <a:t>52</a:t>
            </a:fld>
            <a:endParaRPr lang="sv-SE"/>
          </a:p>
        </p:txBody>
      </p:sp>
      <p:graphicFrame>
        <p:nvGraphicFramePr>
          <p:cNvPr id="6" name="Table 5">
            <a:extLst>
              <a:ext uri="{FF2B5EF4-FFF2-40B4-BE49-F238E27FC236}">
                <a16:creationId xmlns:a16="http://schemas.microsoft.com/office/drawing/2014/main" id="{2D24C1DE-D68D-A739-2C8D-FB538FFF186F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766311678"/>
              </p:ext>
            </p:extLst>
          </p:nvPr>
        </p:nvGraphicFramePr>
        <p:xfrm>
          <a:off x="238125" y="952500"/>
          <a:ext cx="8667750" cy="104775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524000">
                  <a:extLst>
                    <a:ext uri="{9D8B030D-6E8A-4147-A177-3AD203B41FA5}">
                      <a16:colId xmlns:a16="http://schemas.microsoft.com/office/drawing/2014/main" val="2060121001"/>
                    </a:ext>
                  </a:extLst>
                </a:gridCol>
                <a:gridCol w="3619500">
                  <a:extLst>
                    <a:ext uri="{9D8B030D-6E8A-4147-A177-3AD203B41FA5}">
                      <a16:colId xmlns:a16="http://schemas.microsoft.com/office/drawing/2014/main" val="1017746667"/>
                    </a:ext>
                  </a:extLst>
                </a:gridCol>
                <a:gridCol w="3429000">
                  <a:extLst>
                    <a:ext uri="{9D8B030D-6E8A-4147-A177-3AD203B41FA5}">
                      <a16:colId xmlns:a16="http://schemas.microsoft.com/office/drawing/2014/main" val="1441183631"/>
                    </a:ext>
                  </a:extLst>
                </a:gridCol>
              </a:tblGrid>
              <a:tr h="165100">
                <a:tc>
                  <a:txBody>
                    <a:bodyPr/>
                    <a:lstStyle/>
                    <a:p>
                      <a:pPr algn="l"/>
                      <a:r>
                        <a:rPr lang="sv-SE" sz="1190" b="1">
                          <a:solidFill>
                            <a:srgbClr val="FFFFFF"/>
                          </a:solidFill>
                          <a:latin typeface="Arial" panose="020B0604020202020204" pitchFamily="34" charset="0"/>
                        </a:rPr>
                        <a:t>Board</a:t>
                      </a:r>
                    </a:p>
                  </a:txBody>
                  <a:tcPr marL="50800" marR="50800" marT="25400" marB="25400">
                    <a:solidFill>
                      <a:srgbClr val="1954A6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190" b="1">
                          <a:solidFill>
                            <a:srgbClr val="FFFFFF"/>
                          </a:solidFill>
                          <a:latin typeface="Arial" panose="020B0604020202020204" pitchFamily="34" charset="0"/>
                        </a:rPr>
                        <a:t>Fab set (hardware/&lt;board&gt;/fab)</a:t>
                      </a:r>
                      <a:endParaRPr lang="sv-SE" sz="1190" b="1">
                        <a:solidFill>
                          <a:srgbClr val="FFFFFF"/>
                        </a:solidFill>
                        <a:latin typeface="Arial" panose="020B0604020202020204" pitchFamily="34" charset="0"/>
                      </a:endParaRPr>
                    </a:p>
                  </a:txBody>
                  <a:tcPr marL="50800" marR="50800" marT="25400" marB="25400">
                    <a:solidFill>
                      <a:srgbClr val="1954A6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190" b="1">
                          <a:solidFill>
                            <a:srgbClr val="FFFFFF"/>
                          </a:solidFill>
                          <a:latin typeface="Arial" panose="020B0604020202020204" pitchFamily="34" charset="0"/>
                        </a:rPr>
                        <a:t>Notes for the fab house</a:t>
                      </a:r>
                      <a:endParaRPr lang="sv-SE" sz="1190" b="1">
                        <a:solidFill>
                          <a:srgbClr val="FFFFFF"/>
                        </a:solidFill>
                        <a:latin typeface="Arial" panose="020B0604020202020204" pitchFamily="34" charset="0"/>
                      </a:endParaRPr>
                    </a:p>
                  </a:txBody>
                  <a:tcPr marL="50800" marR="50800" marT="25400" marB="25400">
                    <a:solidFill>
                      <a:srgbClr val="1954A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062477253"/>
                  </a:ext>
                </a:extLst>
              </a:tr>
              <a:tr h="165100">
                <a:tc>
                  <a:txBody>
                    <a:bodyPr/>
                    <a:lstStyle/>
                    <a:p>
                      <a:pPr algn="l"/>
                      <a:r>
                        <a:rPr lang="sv-SE" sz="119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spb-bb-revb-dpt</a:t>
                      </a:r>
                    </a:p>
                  </a:txBody>
                  <a:tcPr marL="50800" marR="50800" marT="25400" marB="25400"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19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Gerber zip, drill, pos, BOM, STEP, assembly + schematic PDF</a:t>
                      </a:r>
                      <a:endParaRPr lang="sv-SE" sz="1190">
                        <a:solidFill>
                          <a:srgbClr val="1E1E1E"/>
                        </a:solidFill>
                        <a:latin typeface="Arial" panose="020B0604020202020204" pitchFamily="34" charset="0"/>
                      </a:endParaRPr>
                    </a:p>
                  </a:txBody>
                  <a:tcPr marL="50800" marR="50800" marT="25400" marB="25400"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19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2 oz all layers, 0.1 mm prepreg, via-in-pad filled + capped</a:t>
                      </a:r>
                      <a:endParaRPr lang="sv-SE" sz="1190">
                        <a:solidFill>
                          <a:srgbClr val="1E1E1E"/>
                        </a:solidFill>
                        <a:latin typeface="Arial" panose="020B0604020202020204" pitchFamily="34" charset="0"/>
                      </a:endParaRPr>
                    </a:p>
                  </a:txBody>
                  <a:tcPr marL="50800" marR="50800" marT="25400" marB="25400">
                    <a:solidFill>
                      <a:srgbClr val="E8EF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430921439"/>
                  </a:ext>
                </a:extLst>
              </a:tr>
              <a:tr h="165100">
                <a:tc>
                  <a:txBody>
                    <a:bodyPr/>
                    <a:lstStyle/>
                    <a:p>
                      <a:pPr algn="l"/>
                      <a:r>
                        <a:rPr lang="sv-SE" sz="119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spb-bb-revb-load</a:t>
                      </a:r>
                    </a:p>
                  </a:txBody>
                  <a:tcPr marL="50800" marR="508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sv-SE" sz="119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same</a:t>
                      </a:r>
                    </a:p>
                  </a:txBody>
                  <a:tcPr marL="50800" marR="508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19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+ blind vias L1–L2 (0.25 mm) filled + capped</a:t>
                      </a:r>
                      <a:endParaRPr lang="sv-SE" sz="1190">
                        <a:solidFill>
                          <a:srgbClr val="1E1E1E"/>
                        </a:solidFill>
                        <a:latin typeface="Arial" panose="020B0604020202020204" pitchFamily="34" charset="0"/>
                      </a:endParaRPr>
                    </a:p>
                  </a:txBody>
                  <a:tcPr marL="50800" marR="50800" marT="25400" marB="25400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972161894"/>
                  </a:ext>
                </a:extLst>
              </a:tr>
              <a:tr h="165100">
                <a:tc>
                  <a:txBody>
                    <a:bodyPr/>
                    <a:lstStyle/>
                    <a:p>
                      <a:pPr algn="l"/>
                      <a:r>
                        <a:rPr lang="sv-SE" sz="119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spb-busbar</a:t>
                      </a:r>
                    </a:p>
                  </a:txBody>
                  <a:tcPr marL="50800" marR="50800" marT="25400" marB="25400"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sv-SE" sz="119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Gerber zip, drill, pos, BOM, STEP</a:t>
                      </a:r>
                    </a:p>
                  </a:txBody>
                  <a:tcPr marL="50800" marR="50800" marT="25400" marB="25400"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19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2 oz all layers (JLC3313), bolt pads without mask</a:t>
                      </a:r>
                      <a:endParaRPr lang="sv-SE" sz="1190">
                        <a:solidFill>
                          <a:srgbClr val="1E1E1E"/>
                        </a:solidFill>
                        <a:latin typeface="Arial" panose="020B0604020202020204" pitchFamily="34" charset="0"/>
                      </a:endParaRPr>
                    </a:p>
                  </a:txBody>
                  <a:tcPr marL="50800" marR="50800" marT="25400" marB="25400">
                    <a:solidFill>
                      <a:srgbClr val="E8EF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902975042"/>
                  </a:ext>
                </a:extLst>
              </a:tr>
              <a:tr h="165100">
                <a:tc>
                  <a:txBody>
                    <a:bodyPr/>
                    <a:lstStyle/>
                    <a:p>
                      <a:pPr algn="l"/>
                      <a:r>
                        <a:rPr lang="sv-SE" sz="119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assembly</a:t>
                      </a:r>
                    </a:p>
                  </a:txBody>
                  <a:tcPr marL="50800" marR="508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sv-SE" sz="119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spb-level-assembly.step, spb-stack-assembly.step</a:t>
                      </a:r>
                    </a:p>
                  </a:txBody>
                  <a:tcPr marL="50800" marR="508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sv-SE" sz="119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mechanics / frame design</a:t>
                      </a:r>
                    </a:p>
                  </a:txBody>
                  <a:tcPr marL="50800" marR="50800" marT="25400" marB="25400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746261990"/>
                  </a:ext>
                </a:extLst>
              </a:tr>
            </a:tbl>
          </a:graphicData>
        </a:graphic>
      </p:graphicFrame>
      <p:sp>
        <p:nvSpPr>
          <p:cNvPr id="7" name="TextBox 6">
            <a:extLst>
              <a:ext uri="{FF2B5EF4-FFF2-40B4-BE49-F238E27FC236}">
                <a16:creationId xmlns:a16="http://schemas.microsoft.com/office/drawing/2014/main" id="{3E27F91B-2821-8FDE-249B-A8774793ABF1}"/>
              </a:ext>
            </a:extLst>
          </p:cNvPr>
          <p:cNvSpPr txBox="1"/>
          <p:nvPr/>
        </p:nvSpPr>
        <p:spPr>
          <a:xfrm>
            <a:off x="238125" y="2286000"/>
            <a:ext cx="8667750" cy="307777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pPr marL="406400" indent="-177800">
              <a:spcAft>
                <a:spcPts val="400"/>
              </a:spcAft>
              <a:buFont typeface="+mj-lt"/>
              <a:buChar char="•"/>
            </a:pPr>
            <a:r>
              <a:rPr lang="sv-SE" sz="1280">
                <a:solidFill>
                  <a:srgbClr val="1E1E1E"/>
                </a:solidFill>
                <a:latin typeface="Arial" panose="020B0604020202020204" pitchFamily="34" charset="0"/>
              </a:rPr>
              <a:t>Generated: make_kicad_bb_revb.py (BOARD=dpt | load), make_kicad_sch_revb.py, make_kicad_busbar.py, make_3d_models_revb.py, make_fab_outputs_revb.py, make_assembly_step.py, render_3d.py</a:t>
            </a:r>
          </a:p>
          <a:p>
            <a:pPr marL="406400" indent="-177800">
              <a:spcAft>
                <a:spcPts val="400"/>
              </a:spcAft>
              <a:buFont typeface="+mj-lt"/>
              <a:buChar char="•"/>
            </a:pPr>
            <a:r>
              <a:rPr lang="sv-SE" sz="1280">
                <a:solidFill>
                  <a:srgbClr val="1E1E1E"/>
                </a:solidFill>
                <a:latin typeface="Arial" panose="020B0604020202020204" pitchFamily="34" charset="0"/>
              </a:rPr>
              <a:t>Mechanical items (screws, spreader, gap pads, heatsink, lugs) are listed at the end of each BOM</a:t>
            </a:r>
            <a:endParaRPr lang="sv-SE" sz="1280" dirty="0" err="1">
              <a:solidFill>
                <a:srgbClr val="1E1E1E"/>
              </a:solidFill>
              <a:latin typeface="Arial" panose="020B0604020202020204" pitchFamily="34" charset="0"/>
            </a:endParaRPr>
          </a:p>
        </p:txBody>
      </p:sp>
      <p:pic>
        <p:nvPicPr>
          <p:cNvPr id="9" name="Picture 8">
            <a:extLst>
              <a:ext uri="{FF2B5EF4-FFF2-40B4-BE49-F238E27FC236}">
                <a16:creationId xmlns:a16="http://schemas.microsoft.com/office/drawing/2014/main" id="{143DA51D-962F-EFB7-F4FA-F075C6EC95DE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36733" y="3000375"/>
            <a:ext cx="1898285" cy="1809751"/>
          </a:xfrm>
          <a:prstGeom prst="rect">
            <a:avLst/>
          </a:prstGeom>
        </p:spPr>
      </p:pic>
      <p:pic>
        <p:nvPicPr>
          <p:cNvPr id="11" name="Picture 10">
            <a:extLst>
              <a:ext uri="{FF2B5EF4-FFF2-40B4-BE49-F238E27FC236}">
                <a16:creationId xmlns:a16="http://schemas.microsoft.com/office/drawing/2014/main" id="{EED1F2AB-FE89-9A2E-ACB1-7D025BE106AD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527483" y="3000375"/>
            <a:ext cx="1898285" cy="1809751"/>
          </a:xfrm>
          <a:prstGeom prst="rect">
            <a:avLst/>
          </a:prstGeom>
        </p:spPr>
      </p:pic>
      <p:pic>
        <p:nvPicPr>
          <p:cNvPr id="13" name="Picture 12">
            <a:extLst>
              <a:ext uri="{FF2B5EF4-FFF2-40B4-BE49-F238E27FC236}">
                <a16:creationId xmlns:a16="http://schemas.microsoft.com/office/drawing/2014/main" id="{9EA36B15-7F81-FE13-6B0D-EB6F785230C3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619625" y="3000375"/>
            <a:ext cx="4286250" cy="153788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28478292"/>
      </p:ext>
    </p:extLst>
  </p:cSld>
  <p:clrMapOvr>
    <a:masterClrMapping/>
  </p:clrMapOvr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61E4EE8-40D9-2B86-1FDA-B35109BCA4F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sv-SE" sz="2100"/>
              <a:t>Status and next steps</a:t>
            </a: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80E82E1E-6C56-99E4-B943-4ECC6C588E8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sv-SE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A7BDB0AF-D26A-2169-9B6C-76234D7A01B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422A9A3-8636-4A04-BD48-3153280FB086}" type="slidenum">
              <a:rPr lang="sv-SE" smtClean="0"/>
              <a:pPr/>
              <a:t>53</a:t>
            </a:fld>
            <a:endParaRPr lang="sv-SE"/>
          </a:p>
        </p:txBody>
      </p:sp>
      <p:graphicFrame>
        <p:nvGraphicFramePr>
          <p:cNvPr id="6" name="Table 5">
            <a:extLst>
              <a:ext uri="{FF2B5EF4-FFF2-40B4-BE49-F238E27FC236}">
                <a16:creationId xmlns:a16="http://schemas.microsoft.com/office/drawing/2014/main" id="{DB3D1617-38F1-22E0-A0ED-88926241F786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492786639"/>
              </p:ext>
            </p:extLst>
          </p:nvPr>
        </p:nvGraphicFramePr>
        <p:xfrm>
          <a:off x="238125" y="952500"/>
          <a:ext cx="4953000" cy="188595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857500">
                  <a:extLst>
                    <a:ext uri="{9D8B030D-6E8A-4147-A177-3AD203B41FA5}">
                      <a16:colId xmlns:a16="http://schemas.microsoft.com/office/drawing/2014/main" val="3778203801"/>
                    </a:ext>
                  </a:extLst>
                </a:gridCol>
                <a:gridCol w="2095500">
                  <a:extLst>
                    <a:ext uri="{9D8B030D-6E8A-4147-A177-3AD203B41FA5}">
                      <a16:colId xmlns:a16="http://schemas.microsoft.com/office/drawing/2014/main" val="4291252092"/>
                    </a:ext>
                  </a:extLst>
                </a:gridCol>
              </a:tblGrid>
              <a:tr h="165100">
                <a:tc>
                  <a:txBody>
                    <a:bodyPr/>
                    <a:lstStyle/>
                    <a:p>
                      <a:pPr algn="l"/>
                      <a:r>
                        <a:rPr lang="sv-SE" sz="1190" b="1">
                          <a:solidFill>
                            <a:srgbClr val="FFFFFF"/>
                          </a:solidFill>
                          <a:latin typeface="Arial" panose="020B0604020202020204" pitchFamily="34" charset="0"/>
                        </a:rPr>
                        <a:t>Item</a:t>
                      </a:r>
                    </a:p>
                  </a:txBody>
                  <a:tcPr marL="50800" marR="50800" marT="25400" marB="25400">
                    <a:solidFill>
                      <a:srgbClr val="1954A6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sv-SE" sz="1190" b="1">
                          <a:solidFill>
                            <a:srgbClr val="FFFFFF"/>
                          </a:solidFill>
                          <a:latin typeface="Arial" panose="020B0604020202020204" pitchFamily="34" charset="0"/>
                        </a:rPr>
                        <a:t>Status</a:t>
                      </a:r>
                    </a:p>
                  </a:txBody>
                  <a:tcPr marL="50800" marR="50800" marT="25400" marB="25400">
                    <a:solidFill>
                      <a:srgbClr val="1954A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4563489"/>
                  </a:ext>
                </a:extLst>
              </a:tr>
              <a:tr h="165100">
                <a:tc>
                  <a:txBody>
                    <a:bodyPr/>
                    <a:lstStyle/>
                    <a:p>
                      <a:pPr algn="l"/>
                      <a:r>
                        <a:rPr lang="en-US" sz="119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DC link: 20 × 22 µF 2220 + 10 × 1 µF per cell</a:t>
                      </a:r>
                      <a:endParaRPr lang="sv-SE" sz="1190">
                        <a:solidFill>
                          <a:srgbClr val="1E1E1E"/>
                        </a:solidFill>
                        <a:latin typeface="Arial" panose="020B0604020202020204" pitchFamily="34" charset="0"/>
                      </a:endParaRPr>
                    </a:p>
                  </a:txBody>
                  <a:tcPr marL="50800" marR="50800" marT="25400" marB="25400"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sv-SE" sz="119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in both layouts</a:t>
                      </a:r>
                    </a:p>
                  </a:txBody>
                  <a:tcPr marL="50800" marR="50800" marT="25400" marB="25400">
                    <a:solidFill>
                      <a:srgbClr val="E8EF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686360902"/>
                  </a:ext>
                </a:extLst>
              </a:tr>
              <a:tr h="165100">
                <a:tc>
                  <a:txBody>
                    <a:bodyPr/>
                    <a:lstStyle/>
                    <a:p>
                      <a:pPr algn="l"/>
                      <a:r>
                        <a:rPr lang="en-US" sz="119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DPT board (UFCS, no heatsink)</a:t>
                      </a:r>
                      <a:endParaRPr lang="sv-SE" sz="1190">
                        <a:solidFill>
                          <a:srgbClr val="1E1E1E"/>
                        </a:solidFill>
                        <a:latin typeface="Arial" panose="020B0604020202020204" pitchFamily="34" charset="0"/>
                      </a:endParaRPr>
                    </a:p>
                  </a:txBody>
                  <a:tcPr marL="50800" marR="508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sv-SE" sz="119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DRC 0 / 0 / 0, schematic = PCB</a:t>
                      </a:r>
                    </a:p>
                  </a:txBody>
                  <a:tcPr marL="50800" marR="50800" marT="25400" marB="25400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4852375"/>
                  </a:ext>
                </a:extLst>
              </a:tr>
              <a:tr h="165100">
                <a:tc>
                  <a:txBody>
                    <a:bodyPr/>
                    <a:lstStyle/>
                    <a:p>
                      <a:pPr algn="l"/>
                      <a:r>
                        <a:rPr lang="en-US" sz="119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Load-test board (no shunt, LAM 4 K 50)</a:t>
                      </a:r>
                      <a:endParaRPr lang="sv-SE" sz="1190">
                        <a:solidFill>
                          <a:srgbClr val="1E1E1E"/>
                        </a:solidFill>
                        <a:latin typeface="Arial" panose="020B0604020202020204" pitchFamily="34" charset="0"/>
                      </a:endParaRPr>
                    </a:p>
                  </a:txBody>
                  <a:tcPr marL="50800" marR="50800" marT="25400" marB="25400"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sv-SE" sz="119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DRC 0 / 0 / 0, schematic = PCB</a:t>
                      </a:r>
                    </a:p>
                  </a:txBody>
                  <a:tcPr marL="50800" marR="50800" marT="25400" marB="25400">
                    <a:solidFill>
                      <a:srgbClr val="E8EF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16685608"/>
                  </a:ext>
                </a:extLst>
              </a:tr>
              <a:tr h="165100">
                <a:tc>
                  <a:txBody>
                    <a:bodyPr/>
                    <a:lstStyle/>
                    <a:p>
                      <a:pPr algn="l"/>
                      <a:r>
                        <a:rPr lang="sv-SE" sz="119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PCB busbar</a:t>
                      </a:r>
                    </a:p>
                  </a:txBody>
                  <a:tcPr marL="50800" marR="508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sv-SE" sz="119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DRC clean, fab files</a:t>
                      </a:r>
                    </a:p>
                  </a:txBody>
                  <a:tcPr marL="50800" marR="50800" marT="25400" marB="25400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478233121"/>
                  </a:ext>
                </a:extLst>
              </a:tr>
              <a:tr h="165100">
                <a:tc>
                  <a:txBody>
                    <a:bodyPr/>
                    <a:lstStyle/>
                    <a:p>
                      <a:pPr algn="l"/>
                      <a:r>
                        <a:rPr lang="sv-SE" sz="119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Fast Q3D: loop, DC, L</a:t>
                      </a:r>
                      <a:r>
                        <a:rPr lang="sv-SE" sz="1190" baseline="-2500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x</a:t>
                      </a:r>
                      <a:r>
                        <a:rPr lang="sv-SE" sz="119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, busbar, level</a:t>
                      </a:r>
                    </a:p>
                  </a:txBody>
                  <a:tcPr marL="50800" marR="50800" marT="25400" marB="25400"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sv-SE" sz="119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done (this deck)</a:t>
                      </a:r>
                    </a:p>
                  </a:txBody>
                  <a:tcPr marL="50800" marR="50800" marT="25400" marB="25400">
                    <a:solidFill>
                      <a:srgbClr val="E8EF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887790029"/>
                  </a:ext>
                </a:extLst>
              </a:tr>
              <a:tr h="165100">
                <a:tc>
                  <a:txBody>
                    <a:bodyPr/>
                    <a:lstStyle/>
                    <a:p>
                      <a:pPr algn="l"/>
                      <a:r>
                        <a:rPr lang="en-US" sz="119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3D models, board + assembly STEP</a:t>
                      </a:r>
                      <a:endParaRPr lang="sv-SE" sz="1190">
                        <a:solidFill>
                          <a:srgbClr val="1E1E1E"/>
                        </a:solidFill>
                        <a:latin typeface="Arial" panose="020B0604020202020204" pitchFamily="34" charset="0"/>
                      </a:endParaRPr>
                    </a:p>
                  </a:txBody>
                  <a:tcPr marL="50800" marR="508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sv-SE" sz="119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done</a:t>
                      </a:r>
                    </a:p>
                  </a:txBody>
                  <a:tcPr marL="50800" marR="50800" marT="25400" marB="25400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75963195"/>
                  </a:ext>
                </a:extLst>
              </a:tr>
              <a:tr h="165100">
                <a:tc>
                  <a:txBody>
                    <a:bodyPr/>
                    <a:lstStyle/>
                    <a:p>
                      <a:pPr algn="l"/>
                      <a:r>
                        <a:rPr lang="sv-SE" sz="119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Fab outputs + BOMs</a:t>
                      </a:r>
                    </a:p>
                  </a:txBody>
                  <a:tcPr marL="50800" marR="50800" marT="25400" marB="25400"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sv-SE" sz="119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done</a:t>
                      </a:r>
                    </a:p>
                  </a:txBody>
                  <a:tcPr marL="50800" marR="50800" marT="25400" marB="25400">
                    <a:solidFill>
                      <a:srgbClr val="E8EF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210731388"/>
                  </a:ext>
                </a:extLst>
              </a:tr>
              <a:tr h="165100">
                <a:tc>
                  <a:txBody>
                    <a:bodyPr/>
                    <a:lstStyle/>
                    <a:p>
                      <a:pPr algn="l"/>
                      <a:r>
                        <a:rPr lang="en-US" sz="119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DPT and three-phase load test</a:t>
                      </a:r>
                      <a:endParaRPr lang="sv-SE" sz="1190">
                        <a:solidFill>
                          <a:srgbClr val="1E1E1E"/>
                        </a:solidFill>
                        <a:latin typeface="Arial" panose="020B0604020202020204" pitchFamily="34" charset="0"/>
                      </a:endParaRPr>
                    </a:p>
                  </a:txBody>
                  <a:tcPr marL="50800" marR="508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sv-SE" sz="119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after assembly</a:t>
                      </a:r>
                    </a:p>
                  </a:txBody>
                  <a:tcPr marL="50800" marR="50800" marT="25400" marB="25400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768580987"/>
                  </a:ext>
                </a:extLst>
              </a:tr>
            </a:tbl>
          </a:graphicData>
        </a:graphic>
      </p:graphicFrame>
      <p:sp>
        <p:nvSpPr>
          <p:cNvPr id="7" name="TextBox 6">
            <a:extLst>
              <a:ext uri="{FF2B5EF4-FFF2-40B4-BE49-F238E27FC236}">
                <a16:creationId xmlns:a16="http://schemas.microsoft.com/office/drawing/2014/main" id="{DCE7493A-DBAC-13DB-2EDF-A8F050873A14}"/>
              </a:ext>
            </a:extLst>
          </p:cNvPr>
          <p:cNvSpPr txBox="1"/>
          <p:nvPr/>
        </p:nvSpPr>
        <p:spPr>
          <a:xfrm>
            <a:off x="5429250" y="952500"/>
            <a:ext cx="3381375" cy="307777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pPr marL="406400" indent="-177800">
              <a:spcAft>
                <a:spcPts val="400"/>
              </a:spcAft>
              <a:buFont typeface="+mj-lt"/>
              <a:buChar char="•"/>
            </a:pPr>
            <a:r>
              <a:rPr lang="sv-SE" sz="1380">
                <a:solidFill>
                  <a:srgbClr val="1E1E1E"/>
                </a:solidFill>
                <a:latin typeface="Arial" panose="020B0604020202020204" pitchFamily="34" charset="0"/>
              </a:rPr>
              <a:t>Order: DPT board first (switching energies, per-cell current, overshoot vs di/dt), then 3 load boards + busbar</a:t>
            </a:r>
          </a:p>
          <a:p>
            <a:pPr marL="406400" indent="-177800">
              <a:spcAft>
                <a:spcPts val="400"/>
              </a:spcAft>
              <a:buFont typeface="+mj-lt"/>
              <a:buChar char="•"/>
            </a:pPr>
            <a:r>
              <a:rPr lang="sv-SE" sz="1380">
                <a:solidFill>
                  <a:srgbClr val="1E1E1E"/>
                </a:solidFill>
                <a:latin typeface="Arial" panose="020B0604020202020204" pitchFamily="34" charset="0"/>
              </a:rPr>
              <a:t>Mechanics: spreader drawing, frame and stack insulation from the assembly STEP</a:t>
            </a:r>
          </a:p>
          <a:p>
            <a:pPr marL="406400" indent="-177800">
              <a:spcAft>
                <a:spcPts val="400"/>
              </a:spcAft>
              <a:buFont typeface="+mj-lt"/>
              <a:buChar char="•"/>
            </a:pPr>
            <a:r>
              <a:rPr lang="sv-SE" sz="1380">
                <a:solidFill>
                  <a:srgbClr val="1E1E1E"/>
                </a:solidFill>
                <a:latin typeface="Arial" panose="020B0604020202020204" pitchFamily="34" charset="0"/>
              </a:rPr>
              <a:t>Decide after measurement: bank depopulation, damping caps, busbar copper weight</a:t>
            </a:r>
          </a:p>
          <a:p>
            <a:pPr marL="406400" indent="-177800">
              <a:spcAft>
                <a:spcPts val="400"/>
              </a:spcAft>
              <a:buFont typeface="+mj-lt"/>
              <a:buChar char="•"/>
            </a:pPr>
            <a:r>
              <a:rPr lang="sv-SE" sz="1380">
                <a:solidFill>
                  <a:srgbClr val="1E1E1E"/>
                </a:solidFill>
                <a:latin typeface="Arial" panose="020B0604020202020204" pitchFamily="34" charset="0"/>
              </a:rPr>
              <a:t>Machine: L</a:t>
            </a:r>
            <a:r>
              <a:rPr lang="el-GR" sz="1380" baseline="-25000">
                <a:solidFill>
                  <a:srgbClr val="1E1E1E"/>
                </a:solidFill>
                <a:latin typeface="Arial" panose="020B0604020202020204" pitchFamily="34" charset="0"/>
              </a:rPr>
              <a:t>σ</a:t>
            </a:r>
            <a:r>
              <a:rPr lang="el-GR" sz="1380">
                <a:solidFill>
                  <a:srgbClr val="1E1E1E"/>
                </a:solidFill>
                <a:latin typeface="Arial" panose="020B0604020202020204" pitchFamily="34" charset="0"/>
              </a:rPr>
              <a:t>, </a:t>
            </a:r>
            <a:r>
              <a:rPr lang="sv-SE" sz="1380">
                <a:solidFill>
                  <a:srgbClr val="1E1E1E"/>
                </a:solidFill>
                <a:latin typeface="Arial" panose="020B0604020202020204" pitchFamily="34" charset="0"/>
              </a:rPr>
              <a:t>cos </a:t>
            </a:r>
            <a:r>
              <a:rPr lang="el-GR" sz="1380">
                <a:solidFill>
                  <a:srgbClr val="1E1E1E"/>
                </a:solidFill>
                <a:latin typeface="Arial" panose="020B0604020202020204" pitchFamily="34" charset="0"/>
              </a:rPr>
              <a:t>φ </a:t>
            </a:r>
            <a:r>
              <a:rPr lang="sv-SE" sz="1380">
                <a:solidFill>
                  <a:srgbClr val="1E1E1E"/>
                </a:solidFill>
                <a:latin typeface="Arial" panose="020B0604020202020204" pitchFamily="34" charset="0"/>
              </a:rPr>
              <a:t>and the final f</a:t>
            </a:r>
            <a:r>
              <a:rPr lang="sv-SE" sz="1380" baseline="-25000">
                <a:solidFill>
                  <a:srgbClr val="1E1E1E"/>
                </a:solidFill>
                <a:latin typeface="Arial" panose="020B0604020202020204" pitchFamily="34" charset="0"/>
              </a:rPr>
              <a:t>sw</a:t>
            </a:r>
            <a:endParaRPr lang="sv-SE" sz="1380" baseline="-25000" dirty="0" err="1">
              <a:solidFill>
                <a:srgbClr val="1E1E1E"/>
              </a:solidFill>
              <a:latin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007370284"/>
      </p:ext>
    </p:extLst>
  </p:cSld>
  <p:clrMapOvr>
    <a:masterClrMapping/>
  </p:clrMapOvr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B987E06-52FB-F6F8-D416-64FA261D71B5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sv-SE"/>
              <a:t>Thank you - questions?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527555E4-7EAF-D2AA-FE17-8BCF83DB535E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en-US"/>
              <a:t>Enes Ayaz, KTH Royal Institute of Technology</a:t>
            </a:r>
            <a:endParaRPr lang="sv-SE"/>
          </a:p>
        </p:txBody>
      </p:sp>
    </p:spTree>
    <p:extLst>
      <p:ext uri="{BB962C8B-B14F-4D97-AF65-F5344CB8AC3E}">
        <p14:creationId xmlns:p14="http://schemas.microsoft.com/office/powerpoint/2010/main" val="244186807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-tema">
  <a:themeElements>
    <a:clrScheme name="KTH">
      <a:dk1>
        <a:srgbClr val="000000"/>
      </a:dk1>
      <a:lt1>
        <a:srgbClr val="FFFFFF"/>
      </a:lt1>
      <a:dk2>
        <a:srgbClr val="65656C"/>
      </a:dk2>
      <a:lt2>
        <a:srgbClr val="838389"/>
      </a:lt2>
      <a:accent1>
        <a:srgbClr val="1954A6"/>
      </a:accent1>
      <a:accent2>
        <a:srgbClr val="5E87C0"/>
      </a:accent2>
      <a:accent3>
        <a:srgbClr val="2091C3"/>
      </a:accent3>
      <a:accent4>
        <a:srgbClr val="D02F80"/>
      </a:accent4>
      <a:accent5>
        <a:srgbClr val="D95999"/>
      </a:accent5>
      <a:accent6>
        <a:srgbClr val="61922E"/>
      </a:accent6>
      <a:hlink>
        <a:srgbClr val="65656C"/>
      </a:hlink>
      <a:folHlink>
        <a:srgbClr val="838389"/>
      </a:folHlink>
    </a:clrScheme>
    <a:fontScheme name="Arial">
      <a:majorFont>
        <a:latin typeface="Arial" panose="020B0604020202020204"/>
        <a:ea typeface=""/>
        <a:cs typeface=""/>
        <a:font script="Jpan" typeface="ＭＳ Ｐゴシック"/>
        <a:font script="Hang" typeface="굴림"/>
        <a:font script="Hans" typeface="黑体"/>
        <a:font script="Hant" typeface="微軟正黑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ajorFont>
      <a:minorFont>
        <a:latin typeface="Arial" panose="020B0604020202020204"/>
        <a:ea typeface=""/>
        <a:cs typeface=""/>
        <a:font script="Jpan" typeface="ＭＳ Ｐゴシック"/>
        <a:font script="Hang" typeface="굴림"/>
        <a:font script="Hans" typeface="黑体"/>
        <a:font script="Hant" typeface="微軟正黑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spDef>
      <a:spPr>
        <a:solidFill>
          <a:schemeClr val="accent3"/>
        </a:solidFill>
        <a:ln>
          <a:noFill/>
        </a:ln>
      </a:spPr>
      <a:bodyPr rtlCol="0" anchor="ctr"/>
      <a:lstStyle>
        <a:defPPr algn="ctr">
          <a:defRPr sz="2000" dirty="0"/>
        </a:defPPr>
      </a:lstStyle>
      <a:style>
        <a:lnRef idx="2">
          <a:schemeClr val="accent1">
            <a:shade val="50000"/>
          </a:schemeClr>
        </a:lnRef>
        <a:fillRef idx="1">
          <a:schemeClr val="accent1"/>
        </a:fillRef>
        <a:effectRef idx="0">
          <a:schemeClr val="accent1"/>
        </a:effectRef>
        <a:fontRef idx="minor">
          <a:schemeClr val="lt1"/>
        </a:fontRef>
      </a:style>
    </a:spDef>
    <a:txDef>
      <a:spPr>
        <a:noFill/>
      </a:spPr>
      <a:bodyPr wrap="square" lIns="0" tIns="0" rIns="0" bIns="0" rtlCol="0">
        <a:spAutoFit/>
      </a:bodyPr>
      <a:lstStyle>
        <a:defPPr algn="l">
          <a:defRPr sz="2000" dirty="0" err="1"/>
        </a:defPPr>
      </a:lstStyle>
    </a:txDef>
  </a:objectDefaults>
  <a:extraClrSchemeLst/>
  <a:extLst>
    <a:ext uri="{05A4C25C-085E-4340-85A3-A5531E510DB2}">
      <thm15:themeFamily xmlns:thm15="http://schemas.microsoft.com/office/thememl/2012/main" name="Presentation1" id="{97121384-D8C6-FA41-9A6B-F4615C0099B0}" vid="{DF4435B0-2EFE-BF49-8755-0024FDD40B6B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Office-tema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KTH_16_9</Template>
  <TotalTime>2</TotalTime>
  <Words>7413</Words>
  <Application>Microsoft Office PowerPoint</Application>
  <PresentationFormat>On-screen Show (16:9)</PresentationFormat>
  <Paragraphs>896</Paragraphs>
  <Slides>54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54</vt:i4>
      </vt:variant>
    </vt:vector>
  </HeadingPairs>
  <TitlesOfParts>
    <vt:vector size="57" baseType="lpstr">
      <vt:lpstr>Arial</vt:lpstr>
      <vt:lpstr>Calibri</vt:lpstr>
      <vt:lpstr>Office-tema</vt:lpstr>
      <vt:lpstr>SPB Leg Building Block: Design Flow</vt:lpstr>
      <vt:lpstr>Design flow</vt:lpstr>
      <vt:lpstr>Design inputs</vt:lpstr>
      <vt:lpstr>Phase current follows from the inputs</vt:lpstr>
      <vt:lpstr>Voltage class: why 100 V GaN</vt:lpstr>
      <vt:lpstr>EPC2361: key data and the Kelvin source</vt:lpstr>
      <vt:lpstr>Submodule voltage from L·di/dt</vt:lpstr>
      <vt:lpstr>Why not lower: every submodule costs parts and loss</vt:lpstr>
      <vt:lpstr>Power loop of one cell: copper, bypass ESL and shunt</vt:lpstr>
      <vt:lpstr>One EPC2361 per switch: how fast and how much overshoot</vt:lpstr>
      <vt:lpstr>Thermal path per device: load-test board</vt:lpstr>
      <vt:lpstr>n identical cells per switch (one device and one driver each)</vt:lpstr>
      <vt:lpstr>Where the loss comes from: line period and junction temperature</vt:lpstr>
      <vt:lpstr>Losses vs number in parallel</vt:lpstr>
      <vt:lpstr>Switching frequency: losses, DC-link capacitors, current ripple</vt:lpstr>
      <vt:lpstr>DC-link sizing for a three-phase level</vt:lpstr>
      <vt:lpstr>Capacitor selection: effective capacitance at 75 V</vt:lpstr>
      <vt:lpstr>Bypass capacitors: how many and how large</vt:lpstr>
      <vt:lpstr>DC link of one leg board</vt:lpstr>
      <vt:lpstr>Can one driver drive all four?</vt:lpstr>
      <vt:lpstr>Driver arrangement for 1 … 4 EPC2361 per switch</vt:lpstr>
      <vt:lpstr>Gate driver selection: why the 2EDF7275K</vt:lpstr>
      <vt:lpstr>Why symmetry: what sets the current sharing</vt:lpstr>
      <vt:lpstr>Gate bump and negative off-voltage</vt:lpstr>
      <vt:lpstr>Building block: two point-symmetric cells, one centre driver</vt:lpstr>
      <vt:lpstr>Rev B: four cells per switch, two drivers, one leg</vt:lpstr>
      <vt:lpstr>Two boards from one design: double-pulse test and load test</vt:lpstr>
      <vt:lpstr>DPT board layout (UFCS shunts, no heatsink)</vt:lpstr>
      <vt:lpstr>Load-test board layout (no shunt, heatsink)</vt:lpstr>
      <vt:lpstr>The two boards in 3D (KiCad models)</vt:lpstr>
      <vt:lpstr>Top view with the silkscreen: DPT and load-test boards</vt:lpstr>
      <vt:lpstr>Bottom side and the load board without heatsink</vt:lpstr>
      <vt:lpstr>Two driver pairs on one switch node: driver skew</vt:lpstr>
      <vt:lpstr>Gate supplies: two isolated supplies, Zener split</vt:lpstr>
      <vt:lpstr>Driver block: input filters, turn-on / turn-off paths, star</vt:lpstr>
      <vt:lpstr>Measurement and control</vt:lpstr>
      <vt:lpstr>Power stage schematics (generated, identical to the PCBs)</vt:lpstr>
      <vt:lpstr>Three legs on one 75 V bus: what the bus must do</vt:lpstr>
      <vt:lpstr>PCB busbar: easy to manufacture</vt:lpstr>
      <vt:lpstr>One 75 V level in 3D: busbar + three load-test legs</vt:lpstr>
      <vt:lpstr>Level assembly: busbar side and DC connection</vt:lpstr>
      <vt:lpstr>Mechanics: heatsink length fixed by the leg pitch</vt:lpstr>
      <vt:lpstr>Full inverter: 16 levels on one 1200 V stack</vt:lpstr>
      <vt:lpstr>Fast Q3D set on the final boards</vt:lpstr>
      <vt:lpstr>Q3D: commutation loop per cell, final boards</vt:lpstr>
      <vt:lpstr>Q3D: coupling between the cells and the gate loops (DPT board)</vt:lpstr>
      <vt:lpstr>Gate drive from the extracted gate network (SPICE, DPT board, 75 V, 322 A)</vt:lpstr>
      <vt:lpstr>Q3D model of the cell band (fast loop model)</vt:lpstr>
      <vt:lpstr>Q3D: static current sharing and copper loss</vt:lpstr>
      <vt:lpstr>Q3D: three load-test legs on the PCB busbar</vt:lpstr>
      <vt:lpstr>Main findings on the final boards</vt:lpstr>
      <vt:lpstr>Fabrication files</vt:lpstr>
      <vt:lpstr>Status and next steps</vt:lpstr>
      <vt:lpstr>Thank you - questions?</vt:lpstr>
    </vt:vector>
  </TitlesOfParts>
  <Company>KTH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creator>Malin Modig</dc:creator>
  <cp:lastModifiedBy>Enes Ayaz</cp:lastModifiedBy>
  <cp:revision>2</cp:revision>
  <dcterms:created xsi:type="dcterms:W3CDTF">2019-12-10T08:55:59Z</dcterms:created>
  <dcterms:modified xsi:type="dcterms:W3CDTF">2026-10-23T12:47:39Z</dcterms:modified>
</cp:coreProperties>
</file>