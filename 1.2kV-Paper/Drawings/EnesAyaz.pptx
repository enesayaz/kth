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sldIdLst>
    <p:sldId id="292" r:id="rId5"/>
    <p:sldId id="294" r:id="rId6"/>
    <p:sldId id="295" r:id="rId7"/>
    <p:sldId id="296" r:id="rId8"/>
    <p:sldId id="298" r:id="rId9"/>
    <p:sldId id="299" r:id="rId10"/>
    <p:sldId id="300" r:id="rId11"/>
    <p:sldId id="297" r:id="rId12"/>
  </p:sldIdLst>
  <p:sldSz cx="12192000" cy="6858000"/>
  <p:notesSz cx="7104063" cy="10234613"/>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81C0"/>
    <a:srgbClr val="00009A"/>
    <a:srgbClr val="0000DA"/>
    <a:srgbClr val="0317D3"/>
    <a:srgbClr val="203A5A"/>
    <a:srgbClr val="0081C0"/>
    <a:srgbClr val="0000FF"/>
    <a:srgbClr val="0047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80" autoAdjust="0"/>
    <p:restoredTop sz="97459" autoAdjust="0"/>
  </p:normalViewPr>
  <p:slideViewPr>
    <p:cSldViewPr snapToGrid="0">
      <p:cViewPr>
        <p:scale>
          <a:sx n="100" d="100"/>
          <a:sy n="100" d="100"/>
        </p:scale>
        <p:origin x="2142" y="14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sv-SE"/>
          </a:p>
        </p:txBody>
      </p:sp>
      <p:sp>
        <p:nvSpPr>
          <p:cNvPr id="3" name="Platshållare för datum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71BACA97-DCC5-D741-8303-D68B06D997A0}" type="datetimeFigureOut">
              <a:rPr lang="sv-SE" smtClean="0"/>
              <a:t>2026-01-23</a:t>
            </a:fld>
            <a:endParaRPr lang="sv-SE"/>
          </a:p>
        </p:txBody>
      </p:sp>
      <p:sp>
        <p:nvSpPr>
          <p:cNvPr id="4" name="Platshållare för bildobjekt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sv-SE"/>
          </a:p>
        </p:txBody>
      </p:sp>
      <p:sp>
        <p:nvSpPr>
          <p:cNvPr id="5" name="Platshållare för anteckningar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sv-SE"/>
          </a:p>
        </p:txBody>
      </p:sp>
      <p:sp>
        <p:nvSpPr>
          <p:cNvPr id="7" name="Platshållare för bildnummer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5.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a:extLs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smtClean="0"/>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smtClean="0"/>
              <a:t>Subtitle</a:t>
            </a:r>
            <a:r>
              <a:rPr lang="sv-SE" dirty="0" smtClean="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2026-01-23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a:extLs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2026-01-23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2026-01-23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image">
    <p:bg>
      <p:bgPr>
        <a:solidFill>
          <a:schemeClr val="accent4"/>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rgbClr val="00479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2026-01-23</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rgbClr val="00479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smtClean="0">
                <a:ln>
                  <a:noFill/>
                </a:ln>
                <a:solidFill>
                  <a:srgbClr val="004791"/>
                </a:solidFill>
                <a:effectLst/>
                <a:uLnTx/>
                <a:uFillTx/>
                <a:latin typeface="Figtree" panose="020F0502020204030204"/>
                <a:ea typeface="+mn-ea"/>
                <a:cs typeface="+mn-cs"/>
              </a:rPr>
              <a:t>Presentation </a:t>
            </a:r>
            <a:r>
              <a:rPr kumimoji="0" lang="sv-SE" sz="700" b="0" i="0" u="none" strike="noStrike" kern="1200" cap="none" spc="0" normalizeH="0" baseline="0" noProof="0" dirty="0" err="1" smtClean="0">
                <a:ln>
                  <a:noFill/>
                </a:ln>
                <a:solidFill>
                  <a:srgbClr val="004791"/>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rgbClr val="00479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1"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pic>
        <p:nvPicPr>
          <p:cNvPr id="12"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4"/>
              </a:ext>
            </a:extLst>
          </a:blip>
          <a:stretch>
            <a:fillRect/>
          </a:stretch>
        </p:blipFill>
        <p:spPr>
          <a:xfrm>
            <a:off x="-795" y="0"/>
            <a:ext cx="12192000" cy="6858000"/>
          </a:xfrm>
          <a:prstGeom prst="rect">
            <a:avLst/>
          </a:prstGeom>
        </p:spPr>
      </p:pic>
      <p:sp>
        <p:nvSpPr>
          <p:cNvPr id="13" name="Text Placeholder 8"/>
          <p:cNvSpPr>
            <a:spLocks noGrp="1"/>
          </p:cNvSpPr>
          <p:nvPr>
            <p:ph type="body" sz="quarter" idx="14" hasCustomPrompt="1"/>
          </p:nvPr>
        </p:nvSpPr>
        <p:spPr>
          <a:xfrm>
            <a:off x="596322" y="3333750"/>
            <a:ext cx="7218363" cy="1742546"/>
          </a:xfrm>
        </p:spPr>
        <p:txBody>
          <a:bodyPr anchor="b"/>
          <a:lstStyle>
            <a:lvl1pPr marL="0" indent="0">
              <a:buNone/>
              <a:defRPr sz="6000" b="1">
                <a:solidFill>
                  <a:srgbClr val="000061"/>
                </a:solidFill>
              </a:defRPr>
            </a:lvl1pPr>
          </a:lstStyle>
          <a:p>
            <a:r>
              <a:rPr lang="en-US" dirty="0" smtClean="0"/>
              <a:t>Click to edit Master title style</a:t>
            </a:r>
            <a:endParaRPr lang="sv-SE" dirty="0"/>
          </a:p>
        </p:txBody>
      </p:sp>
      <p:pic>
        <p:nvPicPr>
          <p:cNvPr id="14"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77330" y="226116"/>
            <a:ext cx="960463" cy="1076212"/>
          </a:xfrm>
          <a:prstGeom prst="rect">
            <a:avLst/>
          </a:prstGeom>
        </p:spPr>
      </p:pic>
    </p:spTree>
    <p:extLst>
      <p:ext uri="{BB962C8B-B14F-4D97-AF65-F5344CB8AC3E}">
        <p14:creationId xmlns:p14="http://schemas.microsoft.com/office/powerpoint/2010/main" val="3281607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Title, image">
    <p:bg>
      <p:bgPr>
        <a:solidFill>
          <a:schemeClr val="accent4"/>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rgbClr val="00479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2026-01-23</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rgbClr val="00479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smtClean="0">
                <a:ln>
                  <a:noFill/>
                </a:ln>
                <a:solidFill>
                  <a:srgbClr val="004791"/>
                </a:solidFill>
                <a:effectLst/>
                <a:uLnTx/>
                <a:uFillTx/>
                <a:latin typeface="Figtree" panose="020F0502020204030204"/>
                <a:ea typeface="+mn-ea"/>
                <a:cs typeface="+mn-cs"/>
              </a:rPr>
              <a:t>Presentation </a:t>
            </a:r>
            <a:r>
              <a:rPr kumimoji="0" lang="sv-SE" sz="700" b="0" i="0" u="none" strike="noStrike" kern="1200" cap="none" spc="0" normalizeH="0" baseline="0" noProof="0" dirty="0" err="1" smtClean="0">
                <a:ln>
                  <a:noFill/>
                </a:ln>
                <a:solidFill>
                  <a:srgbClr val="004791"/>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rgbClr val="00479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3"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5205"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15"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pic>
        <p:nvPicPr>
          <p:cNvPr id="11"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330" y="226116"/>
            <a:ext cx="960463" cy="1076212"/>
          </a:xfrm>
          <a:prstGeom prst="rect">
            <a:avLst/>
          </a:prstGeom>
        </p:spPr>
      </p:pic>
    </p:spTree>
    <p:extLst>
      <p:ext uri="{BB962C8B-B14F-4D97-AF65-F5344CB8AC3E}">
        <p14:creationId xmlns:p14="http://schemas.microsoft.com/office/powerpoint/2010/main" val="1598055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_Title, image">
    <p:bg>
      <p:bgPr>
        <a:solidFill>
          <a:srgbClr val="EBE5E0"/>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rgbClr val="00479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2026-01-23</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rgbClr val="00479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smtClean="0">
                <a:ln>
                  <a:noFill/>
                </a:ln>
                <a:solidFill>
                  <a:srgbClr val="004791"/>
                </a:solidFill>
                <a:effectLst/>
                <a:uLnTx/>
                <a:uFillTx/>
                <a:latin typeface="Figtree" panose="020F0502020204030204"/>
                <a:ea typeface="+mn-ea"/>
                <a:cs typeface="+mn-cs"/>
              </a:rPr>
              <a:t>Presentation </a:t>
            </a:r>
            <a:r>
              <a:rPr kumimoji="0" lang="sv-SE" sz="700" b="0" i="0" u="none" strike="noStrike" kern="1200" cap="none" spc="0" normalizeH="0" baseline="0" noProof="0" dirty="0" err="1" smtClean="0">
                <a:ln>
                  <a:noFill/>
                </a:ln>
                <a:solidFill>
                  <a:srgbClr val="004791"/>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rgbClr val="00479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pic>
        <p:nvPicPr>
          <p:cNvPr id="12"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13"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14"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pic>
        <p:nvPicPr>
          <p:cNvPr id="11"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7330" y="226116"/>
            <a:ext cx="960463" cy="1076212"/>
          </a:xfrm>
          <a:prstGeom prst="rect">
            <a:avLst/>
          </a:prstGeom>
        </p:spPr>
      </p:pic>
    </p:spTree>
    <p:extLst>
      <p:ext uri="{BB962C8B-B14F-4D97-AF65-F5344CB8AC3E}">
        <p14:creationId xmlns:p14="http://schemas.microsoft.com/office/powerpoint/2010/main" val="3057597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_Title, image">
    <p:bg>
      <p:bgPr>
        <a:solidFill>
          <a:srgbClr val="EBE5E0"/>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rgbClr val="00479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2026-01-23</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rgbClr val="00479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smtClean="0">
                <a:ln>
                  <a:noFill/>
                </a:ln>
                <a:solidFill>
                  <a:srgbClr val="004791"/>
                </a:solidFill>
                <a:effectLst/>
                <a:uLnTx/>
                <a:uFillTx/>
                <a:latin typeface="Figtree" panose="020F0502020204030204"/>
                <a:ea typeface="+mn-ea"/>
                <a:cs typeface="+mn-cs"/>
              </a:rPr>
              <a:t>Presentation </a:t>
            </a:r>
            <a:r>
              <a:rPr kumimoji="0" lang="sv-SE" sz="700" b="0" i="0" u="none" strike="noStrike" kern="1200" cap="none" spc="0" normalizeH="0" baseline="0" noProof="0" dirty="0" err="1" smtClean="0">
                <a:ln>
                  <a:noFill/>
                </a:ln>
                <a:solidFill>
                  <a:srgbClr val="004791"/>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rgbClr val="00479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004791"/>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sv-SE" sz="700" b="0" i="0" u="none" strike="noStrike" kern="1200" cap="none" spc="0" normalizeH="0" baseline="0" noProof="0" dirty="0">
              <a:ln>
                <a:noFill/>
              </a:ln>
              <a:solidFill>
                <a:srgbClr val="004791"/>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3"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5205"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15"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pic>
        <p:nvPicPr>
          <p:cNvPr id="10"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330" y="226116"/>
            <a:ext cx="960463" cy="1076212"/>
          </a:xfrm>
          <a:prstGeom prst="rect">
            <a:avLst/>
          </a:prstGeom>
        </p:spPr>
      </p:pic>
    </p:spTree>
    <p:extLst>
      <p:ext uri="{BB962C8B-B14F-4D97-AF65-F5344CB8AC3E}">
        <p14:creationId xmlns:p14="http://schemas.microsoft.com/office/powerpoint/2010/main" val="2902983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7_Title, image">
    <p:bg>
      <p:bgPr>
        <a:solidFill>
          <a:srgbClr val="004791"/>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2026-01-23</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smtClean="0">
                <a:ln>
                  <a:noFill/>
                </a:ln>
                <a:solidFill>
                  <a:srgbClr val="FFFFFF"/>
                </a:solidFill>
                <a:effectLst/>
                <a:uLnTx/>
                <a:uFillTx/>
                <a:latin typeface="Figtree" panose="020F0502020204030204"/>
                <a:ea typeface="+mn-ea"/>
                <a:cs typeface="+mn-cs"/>
              </a:rPr>
              <a:t>Presentation </a:t>
            </a:r>
            <a:r>
              <a:rPr kumimoji="0" lang="sv-SE" sz="700" b="0" i="0" u="none" strike="noStrike" kern="1200" cap="none" spc="0" normalizeH="0" baseline="0" noProof="0" dirty="0" err="1" smtClean="0">
                <a:ln>
                  <a:noFill/>
                </a:ln>
                <a:solidFill>
                  <a:srgbClr val="FFFFFF"/>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1"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pic>
        <p:nvPicPr>
          <p:cNvPr id="12"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795" y="0"/>
            <a:ext cx="12192000" cy="6858000"/>
          </a:xfrm>
          <a:prstGeom prst="rect">
            <a:avLst/>
          </a:prstGeom>
        </p:spPr>
      </p:pic>
      <p:sp>
        <p:nvSpPr>
          <p:cNvPr id="15" name="Text Placeholder 8"/>
          <p:cNvSpPr>
            <a:spLocks noGrp="1"/>
          </p:cNvSpPr>
          <p:nvPr>
            <p:ph type="body" sz="quarter" idx="14" hasCustomPrompt="1"/>
          </p:nvPr>
        </p:nvSpPr>
        <p:spPr>
          <a:xfrm>
            <a:off x="596322" y="3248025"/>
            <a:ext cx="7218363" cy="1828273"/>
          </a:xfrm>
        </p:spPr>
        <p:txBody>
          <a:bodyPr anchor="b"/>
          <a:lstStyle>
            <a:lvl1pPr marL="0" indent="0">
              <a:buNone/>
              <a:defRPr sz="6000" b="1">
                <a:solidFill>
                  <a:schemeClr val="bg1"/>
                </a:solidFill>
              </a:defRPr>
            </a:lvl1pPr>
          </a:lstStyle>
          <a:p>
            <a:r>
              <a:rPr lang="en-US" dirty="0" smtClean="0"/>
              <a:t>Click to edit Master title style</a:t>
            </a:r>
            <a:endParaRPr lang="sv-SE" dirty="0"/>
          </a:p>
        </p:txBody>
      </p:sp>
      <p:pic>
        <p:nvPicPr>
          <p:cNvPr id="10"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7330" y="226116"/>
            <a:ext cx="960462" cy="1076212"/>
          </a:xfrm>
          <a:prstGeom prst="rect">
            <a:avLst/>
          </a:prstGeom>
        </p:spPr>
      </p:pic>
    </p:spTree>
    <p:extLst>
      <p:ext uri="{BB962C8B-B14F-4D97-AF65-F5344CB8AC3E}">
        <p14:creationId xmlns:p14="http://schemas.microsoft.com/office/powerpoint/2010/main" val="3131368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8_Title, image">
    <p:bg>
      <p:bgPr>
        <a:solidFill>
          <a:srgbClr val="004791"/>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2026-01-23</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smtClean="0">
                <a:ln>
                  <a:noFill/>
                </a:ln>
                <a:solidFill>
                  <a:srgbClr val="FFFFFF"/>
                </a:solidFill>
                <a:effectLst/>
                <a:uLnTx/>
                <a:uFillTx/>
                <a:latin typeface="Figtree" panose="020F0502020204030204"/>
                <a:ea typeface="+mn-ea"/>
                <a:cs typeface="+mn-cs"/>
              </a:rPr>
              <a:t>Presentation </a:t>
            </a:r>
            <a:r>
              <a:rPr kumimoji="0" lang="sv-SE" sz="700" b="0" i="0" u="none" strike="noStrike" kern="1200" cap="none" spc="0" normalizeH="0" baseline="0" noProof="0" dirty="0" err="1" smtClean="0">
                <a:ln>
                  <a:noFill/>
                </a:ln>
                <a:solidFill>
                  <a:srgbClr val="FFFFFF"/>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3"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5205"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15"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pic>
        <p:nvPicPr>
          <p:cNvPr id="10"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330" y="226116"/>
            <a:ext cx="960462" cy="1076212"/>
          </a:xfrm>
          <a:prstGeom prst="rect">
            <a:avLst/>
          </a:prstGeom>
        </p:spPr>
      </p:pic>
    </p:spTree>
    <p:extLst>
      <p:ext uri="{BB962C8B-B14F-4D97-AF65-F5344CB8AC3E}">
        <p14:creationId xmlns:p14="http://schemas.microsoft.com/office/powerpoint/2010/main" val="1149291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0_Title, image">
    <p:bg>
      <p:bgPr>
        <a:solidFill>
          <a:srgbClr val="000061"/>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2026-01-23</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smtClean="0">
                <a:ln>
                  <a:noFill/>
                </a:ln>
                <a:solidFill>
                  <a:srgbClr val="FFFFFF"/>
                </a:solidFill>
                <a:effectLst/>
                <a:uLnTx/>
                <a:uFillTx/>
                <a:latin typeface="Figtree" panose="020F0502020204030204"/>
                <a:ea typeface="+mn-ea"/>
                <a:cs typeface="+mn-cs"/>
              </a:rPr>
              <a:t>Presentation </a:t>
            </a:r>
            <a:r>
              <a:rPr kumimoji="0" lang="sv-SE" sz="700" b="0" i="0" u="none" strike="noStrike" kern="1200" cap="none" spc="0" normalizeH="0" baseline="0" noProof="0" dirty="0" err="1" smtClean="0">
                <a:ln>
                  <a:noFill/>
                </a:ln>
                <a:solidFill>
                  <a:srgbClr val="FFFFFF"/>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1"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pic>
        <p:nvPicPr>
          <p:cNvPr id="12"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a:noFill/>
        </p:spPr>
      </p:pic>
      <p:sp>
        <p:nvSpPr>
          <p:cNvPr id="15" name="Text Placeholder 8"/>
          <p:cNvSpPr>
            <a:spLocks noGrp="1"/>
          </p:cNvSpPr>
          <p:nvPr>
            <p:ph type="body" sz="quarter" idx="14" hasCustomPrompt="1"/>
          </p:nvPr>
        </p:nvSpPr>
        <p:spPr>
          <a:xfrm>
            <a:off x="596322" y="3257550"/>
            <a:ext cx="7218363" cy="1818747"/>
          </a:xfrm>
        </p:spPr>
        <p:txBody>
          <a:bodyPr anchor="b"/>
          <a:lstStyle>
            <a:lvl1pPr marL="0" indent="0">
              <a:buNone/>
              <a:defRPr sz="6000" b="1">
                <a:solidFill>
                  <a:schemeClr val="bg1"/>
                </a:solidFill>
              </a:defRPr>
            </a:lvl1pPr>
          </a:lstStyle>
          <a:p>
            <a:r>
              <a:rPr lang="en-US" dirty="0" smtClean="0"/>
              <a:t>Click to edit Master title style</a:t>
            </a:r>
            <a:endParaRPr lang="sv-SE" dirty="0"/>
          </a:p>
        </p:txBody>
      </p:sp>
      <p:pic>
        <p:nvPicPr>
          <p:cNvPr id="13"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7330" y="226116"/>
            <a:ext cx="960462" cy="1076212"/>
          </a:xfrm>
          <a:prstGeom prst="rect">
            <a:avLst/>
          </a:prstGeom>
        </p:spPr>
      </p:pic>
    </p:spTree>
    <p:extLst>
      <p:ext uri="{BB962C8B-B14F-4D97-AF65-F5344CB8AC3E}">
        <p14:creationId xmlns:p14="http://schemas.microsoft.com/office/powerpoint/2010/main" val="1231361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9_Title, image">
    <p:bg>
      <p:bgPr>
        <a:solidFill>
          <a:srgbClr val="000061"/>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a:xfrm>
            <a:off x="600075" y="6473327"/>
            <a:ext cx="2743200" cy="94775"/>
          </a:xfrm>
        </p:spPr>
        <p:txBody>
          <a:bodyPr/>
          <a:lstStyle>
            <a:lvl1pPr>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A0D637-CC39-0F47-97F1-76AAE59A5700}" type="datetime1">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2026-01-23</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a:xfrm>
            <a:off x="4037805" y="6470364"/>
            <a:ext cx="4114800" cy="97738"/>
          </a:xfrm>
        </p:spPr>
        <p:txBody>
          <a:bodyPr/>
          <a:lstStyle>
            <a:lvl1pPr>
              <a:defRPr>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700" b="0" i="0" u="none" strike="noStrike" kern="1200" cap="none" spc="0" normalizeH="0" baseline="0" noProof="0" dirty="0" smtClean="0">
                <a:ln>
                  <a:noFill/>
                </a:ln>
                <a:solidFill>
                  <a:srgbClr val="FFFFFF"/>
                </a:solidFill>
                <a:effectLst/>
                <a:uLnTx/>
                <a:uFillTx/>
                <a:latin typeface="Figtree" panose="020F0502020204030204"/>
                <a:ea typeface="+mn-ea"/>
                <a:cs typeface="+mn-cs"/>
              </a:rPr>
              <a:t>Presentation </a:t>
            </a:r>
            <a:r>
              <a:rPr kumimoji="0" lang="sv-SE" sz="700" b="0" i="0" u="none" strike="noStrike" kern="1200" cap="none" spc="0" normalizeH="0" baseline="0" noProof="0" dirty="0" err="1" smtClean="0">
                <a:ln>
                  <a:noFill/>
                </a:ln>
                <a:solidFill>
                  <a:srgbClr val="FFFFFF"/>
                </a:solidFill>
                <a:effectLst/>
                <a:uLnTx/>
                <a:uFillTx/>
                <a:latin typeface="Figtree" panose="020F0502020204030204"/>
                <a:ea typeface="+mn-ea"/>
                <a:cs typeface="+mn-cs"/>
              </a:rPr>
              <a:t>footer</a:t>
            </a:r>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a:xfrm>
            <a:off x="8848725" y="6473328"/>
            <a:ext cx="2743200" cy="94774"/>
          </a:xfrm>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16C8F4-20CD-364A-8A8E-DE130115B178}" type="slidenum">
              <a:rPr kumimoji="0" lang="sv-SE" sz="700" b="0" i="0" u="none" strike="noStrike" kern="1200" cap="none" spc="0" normalizeH="0" baseline="0" noProof="0" smtClean="0">
                <a:ln>
                  <a:noFill/>
                </a:ln>
                <a:solidFill>
                  <a:srgbClr val="FFFFFF"/>
                </a:solidFill>
                <a:effectLst/>
                <a:uLnTx/>
                <a:uFillTx/>
                <a:latin typeface="Figtree"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sv-SE" sz="700" b="0" i="0" u="none" strike="noStrike" kern="1200" cap="none" spc="0" normalizeH="0" baseline="0" noProof="0" dirty="0">
              <a:ln>
                <a:noFill/>
              </a:ln>
              <a:solidFill>
                <a:srgbClr val="FFFFFF"/>
              </a:solidFill>
              <a:effectLst/>
              <a:uLnTx/>
              <a:uFillTx/>
              <a:latin typeface="Figtree" panose="020F0502020204030204"/>
              <a:ea typeface="+mn-ea"/>
              <a:cs typeface="+mn-cs"/>
            </a:endParaRPr>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Figtree" panose="020F0302020204030204"/>
                <a:ea typeface="+mn-ea"/>
                <a:cs typeface="+mn-cs"/>
              </a:rPr>
              <a:t>Change background image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Design &gt; Format Background.</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Format Background pane, select Picture or texture fill.</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Select File.</a:t>
            </a:r>
          </a:p>
          <a:p>
            <a:pPr marL="162900" marR="0" lvl="0" indent="-162900"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u="none" strike="noStrike" kern="1200" cap="none" spc="0" normalizeH="0" baseline="0" noProof="0" dirty="0">
                <a:ln>
                  <a:noFill/>
                </a:ln>
                <a:solidFill>
                  <a:srgbClr val="FFFFFF"/>
                </a:solidFill>
                <a:effectLst/>
                <a:uLnTx/>
                <a:uFillTx/>
                <a:latin typeface="Figtree" panose="020F0502020204030204"/>
                <a:ea typeface="+mn-ea"/>
                <a:cs typeface="+mn-cs"/>
              </a:rPr>
              <a:t>In the Insert Picture dialog box, choose the picture you want to use and then select Insert.</a:t>
            </a:r>
          </a:p>
        </p:txBody>
      </p:sp>
      <p:sp>
        <p:nvSpPr>
          <p:cNvPr id="13"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5205"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15"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pic>
        <p:nvPicPr>
          <p:cNvPr id="10"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330" y="226116"/>
            <a:ext cx="960462" cy="1076212"/>
          </a:xfrm>
          <a:prstGeom prst="rect">
            <a:avLst/>
          </a:prstGeom>
        </p:spPr>
      </p:pic>
    </p:spTree>
    <p:extLst>
      <p:ext uri="{BB962C8B-B14F-4D97-AF65-F5344CB8AC3E}">
        <p14:creationId xmlns:p14="http://schemas.microsoft.com/office/powerpoint/2010/main" val="26466911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2026-01-23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600075" y="1095632"/>
            <a:ext cx="8830253" cy="568412"/>
          </a:xfrm>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30252" cy="4530302"/>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2026-01-23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600076" y="1095632"/>
            <a:ext cx="8922616" cy="568412"/>
          </a:xfrm>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30252" cy="4530302"/>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2026-01-23</a:t>
            </a:fld>
            <a:endParaRPr lang="sv-SE" dirty="0"/>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600075" y="1095632"/>
            <a:ext cx="8821017" cy="568412"/>
          </a:xfrm>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21016" cy="4530302"/>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2026-01-23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600075" y="1095632"/>
            <a:ext cx="8848725" cy="568412"/>
          </a:xfrm>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48725" cy="4530302"/>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2026-01-23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2026-01-23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2026-01-23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2026-01-23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2026-01-23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2026-01-23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2026-01-23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2026-01-23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2026-01-23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2026-01-23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2026-01-23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8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2026-01-23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2026-01-23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2026-01-23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2026-01-23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2026-01-23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2026-01-23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2026-01-23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2026-01-23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2026-01-23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2026-01-23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2026-01-23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2026-01-23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2026-01-23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2026-01-23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2026-01-23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2026-01-23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2026-01-23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a:extLs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2026-01-23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a:extLs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2026-01-23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2026-01-23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a:t>
            </a:r>
            <a:r>
              <a:rPr lang="en-US" sz="1600" b="1" baseline="0" noProof="0" dirty="0" smtClean="0">
                <a:solidFill>
                  <a:schemeClr val="tx2"/>
                </a:solidFill>
                <a:latin typeface="+mj-lt"/>
              </a:rPr>
              <a: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2026-01-23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2026-01-23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a:extLst>
              <a:ext uri="{96DAC541-7B7A-43D3-8B79-37D633B846F1}">
                <asvg:svgBlip xmlns:asvg="http://schemas.microsoft.com/office/drawing/2016/SVG/main" xmlns="" r:embed="rId50"/>
              </a:ext>
            </a:extLst>
          </a:blip>
          <a:stretch>
            <a:fillRect/>
          </a:stretch>
        </p:blipFill>
        <p:spPr>
          <a:xfrm>
            <a:off x="182680"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8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sv-SE"/>
          </a:p>
        </p:txBody>
      </p:sp>
      <p:sp>
        <p:nvSpPr>
          <p:cNvPr id="3" name="Subtitle 2"/>
          <p:cNvSpPr>
            <a:spLocks noGrp="1"/>
          </p:cNvSpPr>
          <p:nvPr>
            <p:ph type="subTitle" idx="1"/>
          </p:nvPr>
        </p:nvSpPr>
        <p:spPr/>
        <p:txBody>
          <a:bodyPr/>
          <a:lstStyle/>
          <a:p>
            <a:endParaRPr lang="sv-SE"/>
          </a:p>
        </p:txBody>
      </p:sp>
    </p:spTree>
    <p:extLst>
      <p:ext uri="{BB962C8B-B14F-4D97-AF65-F5344CB8AC3E}">
        <p14:creationId xmlns:p14="http://schemas.microsoft.com/office/powerpoint/2010/main" val="1947573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Rounded Rectangle 151"/>
          <p:cNvSpPr/>
          <p:nvPr/>
        </p:nvSpPr>
        <p:spPr>
          <a:xfrm>
            <a:off x="2267266" y="1864624"/>
            <a:ext cx="3781234" cy="3416036"/>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396855" y="2202862"/>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Battery </a:t>
            </a:r>
          </a:p>
          <a:p>
            <a:pPr algn="ctr"/>
            <a:r>
              <a:rPr lang="en-US" dirty="0" smtClean="0">
                <a:solidFill>
                  <a:schemeClr val="tx1"/>
                </a:solidFill>
                <a:latin typeface="Times New Roman" panose="02020603050405020304" pitchFamily="18" charset="0"/>
                <a:cs typeface="Times New Roman" panose="02020603050405020304" pitchFamily="18" charset="0"/>
              </a:rPr>
              <a:t>Modules</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7" name="Rounded Rectangle 6"/>
          <p:cNvSpPr/>
          <p:nvPr/>
        </p:nvSpPr>
        <p:spPr>
          <a:xfrm>
            <a:off x="6512721" y="3044228"/>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Traction </a:t>
            </a:r>
          </a:p>
          <a:p>
            <a:pPr algn="ctr"/>
            <a:r>
              <a:rPr lang="en-US" dirty="0" smtClean="0">
                <a:solidFill>
                  <a:schemeClr val="tx1"/>
                </a:solidFill>
                <a:latin typeface="Times New Roman" panose="02020603050405020304" pitchFamily="18" charset="0"/>
                <a:cs typeface="Times New Roman" panose="02020603050405020304" pitchFamily="18" charset="0"/>
              </a:rPr>
              <a:t>Inverter</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14" name="Oval 13"/>
          <p:cNvSpPr/>
          <p:nvPr/>
        </p:nvSpPr>
        <p:spPr>
          <a:xfrm>
            <a:off x="6801479" y="1779646"/>
            <a:ext cx="1094874" cy="1051760"/>
          </a:xfrm>
          <a:prstGeom prst="ellipse">
            <a:avLst/>
          </a:prstGeom>
          <a:solidFill>
            <a:schemeClr val="accent6">
              <a:lumMod val="60000"/>
              <a:lumOff val="40000"/>
              <a:alpha val="50196"/>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Motor</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17" name="Rounded Rectangle 16"/>
          <p:cNvSpPr/>
          <p:nvPr/>
        </p:nvSpPr>
        <p:spPr>
          <a:xfrm>
            <a:off x="8251045" y="1926531"/>
            <a:ext cx="1146328"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Gear Box</a:t>
            </a:r>
            <a:endParaRPr lang="sv-SE" dirty="0">
              <a:solidFill>
                <a:schemeClr val="tx1"/>
              </a:solidFill>
              <a:latin typeface="Times New Roman" panose="02020603050405020304" pitchFamily="18" charset="0"/>
              <a:cs typeface="Times New Roman" panose="02020603050405020304" pitchFamily="18" charset="0"/>
            </a:endParaRPr>
          </a:p>
        </p:txBody>
      </p:sp>
      <p:cxnSp>
        <p:nvCxnSpPr>
          <p:cNvPr id="19" name="Straight Arrow Connector 18"/>
          <p:cNvCxnSpPr>
            <a:stCxn id="5" idx="3"/>
            <a:endCxn id="6" idx="1"/>
          </p:cNvCxnSpPr>
          <p:nvPr/>
        </p:nvCxnSpPr>
        <p:spPr>
          <a:xfrm>
            <a:off x="9924717" y="1431839"/>
            <a:ext cx="0" cy="3982768"/>
          </a:xfrm>
          <a:prstGeom prst="straightConnector1">
            <a:avLst/>
          </a:prstGeom>
          <a:ln w="76200">
            <a:tailEnd type="none"/>
          </a:ln>
        </p:spPr>
        <p:style>
          <a:lnRef idx="1">
            <a:schemeClr val="accent1"/>
          </a:lnRef>
          <a:fillRef idx="0">
            <a:schemeClr val="accent1"/>
          </a:fillRef>
          <a:effectRef idx="0">
            <a:schemeClr val="accent1"/>
          </a:effectRef>
          <a:fontRef idx="minor">
            <a:schemeClr val="tx1"/>
          </a:fontRef>
        </p:style>
      </p:cxnSp>
      <p:sp>
        <p:nvSpPr>
          <p:cNvPr id="28" name="Rounded Rectangle 27"/>
          <p:cNvSpPr/>
          <p:nvPr/>
        </p:nvSpPr>
        <p:spPr>
          <a:xfrm>
            <a:off x="1790699" y="1203158"/>
            <a:ext cx="9534526" cy="4426114"/>
          </a:xfrm>
          <a:prstGeom prst="roundRect">
            <a:avLst/>
          </a:prstGeom>
          <a:noFill/>
          <a:ln w="19050">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 name="Rounded Rectangle 4"/>
          <p:cNvSpPr/>
          <p:nvPr/>
        </p:nvSpPr>
        <p:spPr>
          <a:xfrm rot="5400000">
            <a:off x="9690101" y="394115"/>
            <a:ext cx="469232" cy="160621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sv-SE" dirty="0"/>
          </a:p>
        </p:txBody>
      </p:sp>
      <p:sp>
        <p:nvSpPr>
          <p:cNvPr id="6" name="Rounded Rectangle 5"/>
          <p:cNvSpPr/>
          <p:nvPr/>
        </p:nvSpPr>
        <p:spPr>
          <a:xfrm rot="5400000">
            <a:off x="9690101" y="4846115"/>
            <a:ext cx="469232" cy="160621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6" name="Rounded Rectangle 45"/>
          <p:cNvSpPr/>
          <p:nvPr/>
        </p:nvSpPr>
        <p:spPr>
          <a:xfrm>
            <a:off x="6512721" y="4368144"/>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On Board </a:t>
            </a:r>
          </a:p>
          <a:p>
            <a:pPr algn="ctr"/>
            <a:r>
              <a:rPr lang="en-US" dirty="0" smtClean="0">
                <a:solidFill>
                  <a:schemeClr val="tx1"/>
                </a:solidFill>
                <a:latin typeface="Times New Roman" panose="02020603050405020304" pitchFamily="18" charset="0"/>
                <a:cs typeface="Times New Roman" panose="02020603050405020304" pitchFamily="18" charset="0"/>
              </a:rPr>
              <a:t>Charger</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69" name="Rounded Rectangle 68"/>
          <p:cNvSpPr/>
          <p:nvPr/>
        </p:nvSpPr>
        <p:spPr>
          <a:xfrm>
            <a:off x="2396855" y="3244075"/>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Battery </a:t>
            </a:r>
          </a:p>
          <a:p>
            <a:pPr algn="ctr"/>
            <a:r>
              <a:rPr lang="en-US" dirty="0" smtClean="0">
                <a:solidFill>
                  <a:schemeClr val="tx1"/>
                </a:solidFill>
                <a:latin typeface="Times New Roman" panose="02020603050405020304" pitchFamily="18" charset="0"/>
                <a:cs typeface="Times New Roman" panose="02020603050405020304" pitchFamily="18" charset="0"/>
              </a:rPr>
              <a:t>Modules</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70" name="Rounded Rectangle 69"/>
          <p:cNvSpPr/>
          <p:nvPr/>
        </p:nvSpPr>
        <p:spPr>
          <a:xfrm>
            <a:off x="2396000" y="4297433"/>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Battery </a:t>
            </a:r>
          </a:p>
          <a:p>
            <a:pPr algn="ctr"/>
            <a:r>
              <a:rPr lang="en-US" dirty="0" smtClean="0">
                <a:solidFill>
                  <a:schemeClr val="tx1"/>
                </a:solidFill>
                <a:latin typeface="Times New Roman" panose="02020603050405020304" pitchFamily="18" charset="0"/>
                <a:cs typeface="Times New Roman" panose="02020603050405020304" pitchFamily="18" charset="0"/>
              </a:rPr>
              <a:t>Modules</a:t>
            </a:r>
            <a:endParaRPr lang="sv-SE" dirty="0">
              <a:solidFill>
                <a:schemeClr val="tx1"/>
              </a:solidFill>
              <a:latin typeface="Times New Roman" panose="02020603050405020304" pitchFamily="18" charset="0"/>
              <a:cs typeface="Times New Roman" panose="02020603050405020304" pitchFamily="18" charset="0"/>
            </a:endParaRPr>
          </a:p>
        </p:txBody>
      </p:sp>
      <p:cxnSp>
        <p:nvCxnSpPr>
          <p:cNvPr id="72" name="Straight Arrow Connector 71"/>
          <p:cNvCxnSpPr>
            <a:stCxn id="4" idx="2"/>
            <a:endCxn id="69" idx="0"/>
          </p:cNvCxnSpPr>
          <p:nvPr/>
        </p:nvCxnSpPr>
        <p:spPr>
          <a:xfrm>
            <a:off x="3233050" y="2960852"/>
            <a:ext cx="0" cy="283223"/>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a:off x="3246591" y="4014210"/>
            <a:ext cx="0" cy="283223"/>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sp>
        <p:nvSpPr>
          <p:cNvPr id="77" name="Rounded Rectangle 76"/>
          <p:cNvSpPr/>
          <p:nvPr/>
        </p:nvSpPr>
        <p:spPr>
          <a:xfrm>
            <a:off x="4244709" y="2202862"/>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Battery </a:t>
            </a:r>
          </a:p>
          <a:p>
            <a:pPr algn="ctr"/>
            <a:r>
              <a:rPr lang="en-US" dirty="0" smtClean="0">
                <a:solidFill>
                  <a:schemeClr val="tx1"/>
                </a:solidFill>
                <a:latin typeface="Times New Roman" panose="02020603050405020304" pitchFamily="18" charset="0"/>
                <a:cs typeface="Times New Roman" panose="02020603050405020304" pitchFamily="18" charset="0"/>
              </a:rPr>
              <a:t>Modules</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78" name="Rounded Rectangle 77"/>
          <p:cNvSpPr/>
          <p:nvPr/>
        </p:nvSpPr>
        <p:spPr>
          <a:xfrm>
            <a:off x="4244709" y="3244075"/>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Battery </a:t>
            </a:r>
          </a:p>
          <a:p>
            <a:pPr algn="ctr"/>
            <a:r>
              <a:rPr lang="en-US" dirty="0" smtClean="0">
                <a:solidFill>
                  <a:schemeClr val="tx1"/>
                </a:solidFill>
                <a:latin typeface="Times New Roman" panose="02020603050405020304" pitchFamily="18" charset="0"/>
                <a:cs typeface="Times New Roman" panose="02020603050405020304" pitchFamily="18" charset="0"/>
              </a:rPr>
              <a:t>Modules</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79" name="Rounded Rectangle 78"/>
          <p:cNvSpPr/>
          <p:nvPr/>
        </p:nvSpPr>
        <p:spPr>
          <a:xfrm>
            <a:off x="4243854" y="4297433"/>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Battery </a:t>
            </a:r>
          </a:p>
          <a:p>
            <a:pPr algn="ctr"/>
            <a:r>
              <a:rPr lang="en-US" dirty="0" smtClean="0">
                <a:solidFill>
                  <a:schemeClr val="tx1"/>
                </a:solidFill>
                <a:latin typeface="Times New Roman" panose="02020603050405020304" pitchFamily="18" charset="0"/>
                <a:cs typeface="Times New Roman" panose="02020603050405020304" pitchFamily="18" charset="0"/>
              </a:rPr>
              <a:t>Modules</a:t>
            </a:r>
            <a:endParaRPr lang="sv-SE" dirty="0">
              <a:solidFill>
                <a:schemeClr val="tx1"/>
              </a:solidFill>
              <a:latin typeface="Times New Roman" panose="02020603050405020304" pitchFamily="18" charset="0"/>
              <a:cs typeface="Times New Roman" panose="02020603050405020304" pitchFamily="18" charset="0"/>
            </a:endParaRPr>
          </a:p>
        </p:txBody>
      </p:sp>
      <p:cxnSp>
        <p:nvCxnSpPr>
          <p:cNvPr id="80" name="Straight Arrow Connector 79"/>
          <p:cNvCxnSpPr>
            <a:stCxn id="77" idx="2"/>
            <a:endCxn id="78" idx="0"/>
          </p:cNvCxnSpPr>
          <p:nvPr/>
        </p:nvCxnSpPr>
        <p:spPr>
          <a:xfrm>
            <a:off x="5080904" y="2960852"/>
            <a:ext cx="0" cy="283223"/>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5094445" y="4014210"/>
            <a:ext cx="0" cy="283223"/>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77" idx="1"/>
            <a:endCxn id="4" idx="3"/>
          </p:cNvCxnSpPr>
          <p:nvPr/>
        </p:nvCxnSpPr>
        <p:spPr>
          <a:xfrm flipH="1">
            <a:off x="4069245" y="2581857"/>
            <a:ext cx="175464" cy="0"/>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flipH="1">
            <a:off x="4074118" y="3623070"/>
            <a:ext cx="175464" cy="0"/>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flipH="1">
            <a:off x="4068390" y="4719298"/>
            <a:ext cx="175464" cy="0"/>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stCxn id="17" idx="3"/>
            <a:endCxn id="150" idx="1"/>
          </p:cNvCxnSpPr>
          <p:nvPr/>
        </p:nvCxnSpPr>
        <p:spPr>
          <a:xfrm>
            <a:off x="9397373" y="2305526"/>
            <a:ext cx="292728" cy="0"/>
          </a:xfrm>
          <a:prstGeom prst="straightConnector1">
            <a:avLst/>
          </a:prstGeom>
          <a:ln w="76200">
            <a:tailEnd type="none"/>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a:stCxn id="151" idx="3"/>
            <a:endCxn id="46" idx="2"/>
          </p:cNvCxnSpPr>
          <p:nvPr/>
        </p:nvCxnSpPr>
        <p:spPr>
          <a:xfrm flipV="1">
            <a:off x="7348916" y="5126134"/>
            <a:ext cx="0" cy="588678"/>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136" name="Straight Arrow Connector 135"/>
          <p:cNvCxnSpPr/>
          <p:nvPr/>
        </p:nvCxnSpPr>
        <p:spPr>
          <a:xfrm>
            <a:off x="7224685" y="5964184"/>
            <a:ext cx="131" cy="172307"/>
          </a:xfrm>
          <a:prstGeom prst="straightConnector1">
            <a:avLst/>
          </a:prstGeom>
          <a:ln w="28575">
            <a:tailEnd type="none"/>
          </a:ln>
        </p:spPr>
        <p:style>
          <a:lnRef idx="1">
            <a:schemeClr val="accent1"/>
          </a:lnRef>
          <a:fillRef idx="0">
            <a:schemeClr val="accent1"/>
          </a:fillRef>
          <a:effectRef idx="0">
            <a:schemeClr val="accent1"/>
          </a:effectRef>
          <a:fontRef idx="minor">
            <a:schemeClr val="tx1"/>
          </a:fontRef>
        </p:style>
      </p:cxnSp>
      <p:sp>
        <p:nvSpPr>
          <p:cNvPr id="150" name="Rounded Rectangle 149"/>
          <p:cNvSpPr/>
          <p:nvPr/>
        </p:nvSpPr>
        <p:spPr>
          <a:xfrm>
            <a:off x="9690101" y="1740162"/>
            <a:ext cx="469232" cy="113072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sv-SE" dirty="0"/>
          </a:p>
        </p:txBody>
      </p:sp>
      <p:sp>
        <p:nvSpPr>
          <p:cNvPr id="151" name="Rounded Rectangle 150"/>
          <p:cNvSpPr/>
          <p:nvPr/>
        </p:nvSpPr>
        <p:spPr>
          <a:xfrm rot="16200000">
            <a:off x="7221634" y="5632257"/>
            <a:ext cx="254564" cy="41967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sv-SE" dirty="0"/>
          </a:p>
        </p:txBody>
      </p:sp>
      <p:cxnSp>
        <p:nvCxnSpPr>
          <p:cNvPr id="171" name="Straight Arrow Connector 170"/>
          <p:cNvCxnSpPr>
            <a:stCxn id="14" idx="4"/>
            <a:endCxn id="7" idx="0"/>
          </p:cNvCxnSpPr>
          <p:nvPr/>
        </p:nvCxnSpPr>
        <p:spPr>
          <a:xfrm>
            <a:off x="7348916" y="2831406"/>
            <a:ext cx="0" cy="212822"/>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183" name="Straight Arrow Connector 182"/>
          <p:cNvCxnSpPr>
            <a:stCxn id="14" idx="6"/>
            <a:endCxn id="17" idx="1"/>
          </p:cNvCxnSpPr>
          <p:nvPr/>
        </p:nvCxnSpPr>
        <p:spPr>
          <a:xfrm>
            <a:off x="7896353" y="2305526"/>
            <a:ext cx="354692" cy="0"/>
          </a:xfrm>
          <a:prstGeom prst="straightConnector1">
            <a:avLst/>
          </a:prstGeom>
          <a:ln w="76200">
            <a:tailEnd type="none"/>
          </a:ln>
        </p:spPr>
        <p:style>
          <a:lnRef idx="1">
            <a:schemeClr val="accent1"/>
          </a:lnRef>
          <a:fillRef idx="0">
            <a:schemeClr val="accent1"/>
          </a:fillRef>
          <a:effectRef idx="0">
            <a:schemeClr val="accent1"/>
          </a:effectRef>
          <a:fontRef idx="minor">
            <a:schemeClr val="tx1"/>
          </a:fontRef>
        </p:style>
      </p:cxnSp>
      <p:cxnSp>
        <p:nvCxnSpPr>
          <p:cNvPr id="226" name="Straight Arrow Connector 225"/>
          <p:cNvCxnSpPr/>
          <p:nvPr/>
        </p:nvCxnSpPr>
        <p:spPr>
          <a:xfrm>
            <a:off x="7348784" y="5960729"/>
            <a:ext cx="131" cy="172307"/>
          </a:xfrm>
          <a:prstGeom prst="straightConnector1">
            <a:avLst/>
          </a:prstGeom>
          <a:ln w="28575">
            <a:tailEnd type="none"/>
          </a:ln>
        </p:spPr>
        <p:style>
          <a:lnRef idx="1">
            <a:schemeClr val="accent1"/>
          </a:lnRef>
          <a:fillRef idx="0">
            <a:schemeClr val="accent1"/>
          </a:fillRef>
          <a:effectRef idx="0">
            <a:schemeClr val="accent1"/>
          </a:effectRef>
          <a:fontRef idx="minor">
            <a:schemeClr val="tx1"/>
          </a:fontRef>
        </p:style>
      </p:cxnSp>
      <p:cxnSp>
        <p:nvCxnSpPr>
          <p:cNvPr id="227" name="Straight Arrow Connector 226"/>
          <p:cNvCxnSpPr/>
          <p:nvPr/>
        </p:nvCxnSpPr>
        <p:spPr>
          <a:xfrm>
            <a:off x="7491906" y="5960728"/>
            <a:ext cx="131" cy="172307"/>
          </a:xfrm>
          <a:prstGeom prst="straightConnector1">
            <a:avLst/>
          </a:prstGeom>
          <a:ln w="28575">
            <a:tailEnd type="none"/>
          </a:ln>
        </p:spPr>
        <p:style>
          <a:lnRef idx="1">
            <a:schemeClr val="accent1"/>
          </a:lnRef>
          <a:fillRef idx="0">
            <a:schemeClr val="accent1"/>
          </a:fillRef>
          <a:effectRef idx="0">
            <a:schemeClr val="accent1"/>
          </a:effectRef>
          <a:fontRef idx="minor">
            <a:schemeClr val="tx1"/>
          </a:fontRef>
        </p:style>
      </p:cxnSp>
      <p:sp>
        <p:nvSpPr>
          <p:cNvPr id="231" name="Rectangle 230"/>
          <p:cNvSpPr/>
          <p:nvPr/>
        </p:nvSpPr>
        <p:spPr>
          <a:xfrm>
            <a:off x="3038761" y="1852668"/>
            <a:ext cx="2104069" cy="369332"/>
          </a:xfrm>
          <a:prstGeom prst="rect">
            <a:avLst/>
          </a:prstGeom>
        </p:spPr>
        <p:txBody>
          <a:bodyPr wrap="square">
            <a:spAutoFit/>
          </a:bodyPr>
          <a:lstStyle/>
          <a:p>
            <a:pPr algn="ctr"/>
            <a:r>
              <a:rPr lang="en-US" dirty="0">
                <a:latin typeface="Times New Roman" panose="02020603050405020304" pitchFamily="18" charset="0"/>
                <a:cs typeface="Times New Roman" panose="02020603050405020304" pitchFamily="18" charset="0"/>
              </a:rPr>
              <a:t>Battery </a:t>
            </a:r>
            <a:r>
              <a:rPr lang="en-US" dirty="0" smtClean="0">
                <a:latin typeface="Times New Roman" panose="02020603050405020304" pitchFamily="18" charset="0"/>
                <a:cs typeface="Times New Roman" panose="02020603050405020304" pitchFamily="18" charset="0"/>
              </a:rPr>
              <a:t>Pack</a:t>
            </a:r>
            <a:endParaRPr lang="sv-SE" dirty="0">
              <a:latin typeface="Times New Roman" panose="02020603050405020304" pitchFamily="18" charset="0"/>
              <a:cs typeface="Times New Roman" panose="02020603050405020304" pitchFamily="18" charset="0"/>
            </a:endParaRPr>
          </a:p>
        </p:txBody>
      </p:sp>
      <p:cxnSp>
        <p:nvCxnSpPr>
          <p:cNvPr id="257" name="Straight Arrow Connector 256"/>
          <p:cNvCxnSpPr/>
          <p:nvPr/>
        </p:nvCxnSpPr>
        <p:spPr>
          <a:xfrm>
            <a:off x="6051005" y="4713239"/>
            <a:ext cx="464221" cy="6059"/>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259" name="Straight Arrow Connector 258"/>
          <p:cNvCxnSpPr/>
          <p:nvPr/>
        </p:nvCxnSpPr>
        <p:spPr>
          <a:xfrm>
            <a:off x="6055107" y="3437913"/>
            <a:ext cx="464221" cy="6059"/>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sp>
        <p:nvSpPr>
          <p:cNvPr id="261" name="Rectangle 260"/>
          <p:cNvSpPr/>
          <p:nvPr/>
        </p:nvSpPr>
        <p:spPr>
          <a:xfrm>
            <a:off x="5637360" y="5624801"/>
            <a:ext cx="1520609" cy="369332"/>
          </a:xfrm>
          <a:prstGeom prst="rect">
            <a:avLst/>
          </a:prstGeom>
        </p:spPr>
        <p:txBody>
          <a:bodyPr wrap="none">
            <a:spAutoFit/>
          </a:bodyPr>
          <a:lstStyle/>
          <a:p>
            <a:pPr algn="ctr"/>
            <a:r>
              <a:rPr lang="en-US" dirty="0" smtClean="0">
                <a:latin typeface="Times New Roman" panose="02020603050405020304" pitchFamily="18" charset="0"/>
                <a:cs typeface="Times New Roman" panose="02020603050405020304" pitchFamily="18" charset="0"/>
              </a:rPr>
              <a:t>Charging Plug</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7648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9310099" y="1495657"/>
            <a:ext cx="5231300" cy="3279046"/>
          </a:xfrm>
          <a:prstGeom prst="roundRect">
            <a:avLst/>
          </a:prstGeom>
          <a:noFill/>
          <a:ln w="19050">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Tree>
    <p:extLst>
      <p:ext uri="{BB962C8B-B14F-4D97-AF65-F5344CB8AC3E}">
        <p14:creationId xmlns:p14="http://schemas.microsoft.com/office/powerpoint/2010/main" val="2012358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Rounded Rectangle 151"/>
          <p:cNvSpPr/>
          <p:nvPr/>
        </p:nvSpPr>
        <p:spPr>
          <a:xfrm>
            <a:off x="-1426834" y="2497352"/>
            <a:ext cx="3781234" cy="271001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297245" y="2816252"/>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Battery </a:t>
            </a:r>
          </a:p>
          <a:p>
            <a:pPr algn="ctr"/>
            <a:r>
              <a:rPr lang="en-US" dirty="0" smtClean="0">
                <a:solidFill>
                  <a:schemeClr val="tx1"/>
                </a:solidFill>
                <a:latin typeface="Times New Roman" panose="02020603050405020304" pitchFamily="18" charset="0"/>
                <a:cs typeface="Times New Roman" panose="02020603050405020304" pitchFamily="18" charset="0"/>
              </a:rPr>
              <a:t>Modules</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7" name="Rounded Rectangle 6"/>
          <p:cNvSpPr/>
          <p:nvPr/>
        </p:nvSpPr>
        <p:spPr>
          <a:xfrm>
            <a:off x="3940869" y="3395876"/>
            <a:ext cx="2227714" cy="914602"/>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Traction Inverter</a:t>
            </a:r>
          </a:p>
          <a:p>
            <a:pPr algn="ctr"/>
            <a:r>
              <a:rPr lang="en-US" dirty="0" smtClean="0">
                <a:solidFill>
                  <a:schemeClr val="tx1"/>
                </a:solidFill>
                <a:latin typeface="Times New Roman" panose="02020603050405020304" pitchFamily="18" charset="0"/>
                <a:cs typeface="Times New Roman" panose="02020603050405020304" pitchFamily="18" charset="0"/>
              </a:rPr>
              <a:t>(1.2kV / 2kV </a:t>
            </a:r>
            <a:r>
              <a:rPr lang="en-US" dirty="0" err="1" smtClean="0">
                <a:solidFill>
                  <a:schemeClr val="tx1"/>
                </a:solidFill>
                <a:latin typeface="Times New Roman" panose="02020603050405020304" pitchFamily="18" charset="0"/>
                <a:cs typeface="Times New Roman" panose="02020603050405020304" pitchFamily="18" charset="0"/>
              </a:rPr>
              <a:t>SiC</a:t>
            </a:r>
            <a:r>
              <a:rPr lang="en-US" dirty="0" smtClean="0">
                <a:solidFill>
                  <a:schemeClr val="tx1"/>
                </a:solidFill>
                <a:latin typeface="Times New Roman" panose="02020603050405020304" pitchFamily="18" charset="0"/>
                <a:cs typeface="Times New Roman" panose="02020603050405020304" pitchFamily="18" charset="0"/>
              </a:rPr>
              <a:t>)</a:t>
            </a:r>
          </a:p>
          <a:p>
            <a:pPr algn="ctr"/>
            <a:endParaRPr lang="sv-SE" dirty="0">
              <a:solidFill>
                <a:schemeClr val="tx1"/>
              </a:solidFill>
              <a:latin typeface="Times New Roman" panose="02020603050405020304" pitchFamily="18" charset="0"/>
              <a:cs typeface="Times New Roman" panose="02020603050405020304" pitchFamily="18" charset="0"/>
            </a:endParaRPr>
          </a:p>
        </p:txBody>
      </p:sp>
      <p:sp>
        <p:nvSpPr>
          <p:cNvPr id="14" name="Oval 13"/>
          <p:cNvSpPr/>
          <p:nvPr/>
        </p:nvSpPr>
        <p:spPr>
          <a:xfrm>
            <a:off x="7312523" y="3322945"/>
            <a:ext cx="1094874" cy="1051760"/>
          </a:xfrm>
          <a:prstGeom prst="ellipse">
            <a:avLst/>
          </a:prstGeom>
          <a:solidFill>
            <a:schemeClr val="accent6">
              <a:lumMod val="60000"/>
              <a:lumOff val="40000"/>
              <a:alpha val="50196"/>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Motor</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17" name="Rounded Rectangle 16"/>
          <p:cNvSpPr/>
          <p:nvPr/>
        </p:nvSpPr>
        <p:spPr>
          <a:xfrm>
            <a:off x="9049793" y="3467185"/>
            <a:ext cx="1146328"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Gear Box</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5" name="Rounded Rectangle 4"/>
          <p:cNvSpPr/>
          <p:nvPr/>
        </p:nvSpPr>
        <p:spPr>
          <a:xfrm rot="5400000">
            <a:off x="11066893" y="672823"/>
            <a:ext cx="469232" cy="171364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sv-SE" dirty="0"/>
          </a:p>
        </p:txBody>
      </p:sp>
      <p:sp>
        <p:nvSpPr>
          <p:cNvPr id="6" name="Rounded Rectangle 5"/>
          <p:cNvSpPr/>
          <p:nvPr/>
        </p:nvSpPr>
        <p:spPr>
          <a:xfrm rot="5400000">
            <a:off x="11066893" y="5374998"/>
            <a:ext cx="469232" cy="171364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6" name="Rounded Rectangle 45"/>
          <p:cNvSpPr/>
          <p:nvPr/>
        </p:nvSpPr>
        <p:spPr>
          <a:xfrm>
            <a:off x="-364704" y="5284810"/>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On Board </a:t>
            </a:r>
          </a:p>
          <a:p>
            <a:pPr algn="ctr"/>
            <a:r>
              <a:rPr lang="en-US" dirty="0" smtClean="0">
                <a:solidFill>
                  <a:schemeClr val="tx1"/>
                </a:solidFill>
                <a:latin typeface="Times New Roman" panose="02020603050405020304" pitchFamily="18" charset="0"/>
                <a:cs typeface="Times New Roman" panose="02020603050405020304" pitchFamily="18" charset="0"/>
              </a:rPr>
              <a:t>Charger</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69" name="Rounded Rectangle 68"/>
          <p:cNvSpPr/>
          <p:nvPr/>
        </p:nvSpPr>
        <p:spPr>
          <a:xfrm>
            <a:off x="-1297494" y="3882132"/>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Battery </a:t>
            </a:r>
          </a:p>
          <a:p>
            <a:pPr algn="ctr"/>
            <a:r>
              <a:rPr lang="en-US" dirty="0" smtClean="0">
                <a:solidFill>
                  <a:schemeClr val="tx1"/>
                </a:solidFill>
                <a:latin typeface="Times New Roman" panose="02020603050405020304" pitchFamily="18" charset="0"/>
                <a:cs typeface="Times New Roman" panose="02020603050405020304" pitchFamily="18" charset="0"/>
              </a:rPr>
              <a:t>Modules</a:t>
            </a:r>
            <a:endParaRPr lang="sv-SE" dirty="0">
              <a:solidFill>
                <a:schemeClr val="tx1"/>
              </a:solidFill>
              <a:latin typeface="Times New Roman" panose="02020603050405020304" pitchFamily="18" charset="0"/>
              <a:cs typeface="Times New Roman" panose="02020603050405020304" pitchFamily="18" charset="0"/>
            </a:endParaRPr>
          </a:p>
        </p:txBody>
      </p:sp>
      <p:cxnSp>
        <p:nvCxnSpPr>
          <p:cNvPr id="76" name="Straight Arrow Connector 75"/>
          <p:cNvCxnSpPr>
            <a:stCxn id="4" idx="2"/>
            <a:endCxn id="69" idx="0"/>
          </p:cNvCxnSpPr>
          <p:nvPr/>
        </p:nvCxnSpPr>
        <p:spPr>
          <a:xfrm flipH="1">
            <a:off x="-461299" y="3574242"/>
            <a:ext cx="249" cy="307890"/>
          </a:xfrm>
          <a:prstGeom prst="straightConnector1">
            <a:avLst/>
          </a:prstGeom>
          <a:ln w="19050">
            <a:prstDash val="sysDot"/>
            <a:tailEnd type="none"/>
          </a:ln>
        </p:spPr>
        <p:style>
          <a:lnRef idx="1">
            <a:schemeClr val="accent1"/>
          </a:lnRef>
          <a:fillRef idx="0">
            <a:schemeClr val="accent1"/>
          </a:fillRef>
          <a:effectRef idx="0">
            <a:schemeClr val="accent1"/>
          </a:effectRef>
          <a:fontRef idx="minor">
            <a:schemeClr val="tx1"/>
          </a:fontRef>
        </p:style>
      </p:cxnSp>
      <p:sp>
        <p:nvSpPr>
          <p:cNvPr id="77" name="Rounded Rectangle 76"/>
          <p:cNvSpPr/>
          <p:nvPr/>
        </p:nvSpPr>
        <p:spPr>
          <a:xfrm>
            <a:off x="550609" y="2816252"/>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Battery </a:t>
            </a:r>
          </a:p>
          <a:p>
            <a:pPr algn="ctr"/>
            <a:r>
              <a:rPr lang="en-US" dirty="0" smtClean="0">
                <a:solidFill>
                  <a:schemeClr val="tx1"/>
                </a:solidFill>
                <a:latin typeface="Times New Roman" panose="02020603050405020304" pitchFamily="18" charset="0"/>
                <a:cs typeface="Times New Roman" panose="02020603050405020304" pitchFamily="18" charset="0"/>
              </a:rPr>
              <a:t>Modules</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78" name="Rounded Rectangle 77"/>
          <p:cNvSpPr/>
          <p:nvPr/>
        </p:nvSpPr>
        <p:spPr>
          <a:xfrm>
            <a:off x="557757" y="3888386"/>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Battery </a:t>
            </a:r>
          </a:p>
          <a:p>
            <a:pPr algn="ctr"/>
            <a:r>
              <a:rPr lang="en-US" dirty="0" smtClean="0">
                <a:solidFill>
                  <a:schemeClr val="tx1"/>
                </a:solidFill>
                <a:latin typeface="Times New Roman" panose="02020603050405020304" pitchFamily="18" charset="0"/>
                <a:cs typeface="Times New Roman" panose="02020603050405020304" pitchFamily="18" charset="0"/>
              </a:rPr>
              <a:t>Modules</a:t>
            </a:r>
            <a:endParaRPr lang="sv-SE" dirty="0">
              <a:solidFill>
                <a:schemeClr val="tx1"/>
              </a:solidFill>
              <a:latin typeface="Times New Roman" panose="02020603050405020304" pitchFamily="18" charset="0"/>
              <a:cs typeface="Times New Roman" panose="02020603050405020304" pitchFamily="18" charset="0"/>
            </a:endParaRPr>
          </a:p>
        </p:txBody>
      </p:sp>
      <p:cxnSp>
        <p:nvCxnSpPr>
          <p:cNvPr id="105" name="Straight Arrow Connector 104"/>
          <p:cNvCxnSpPr>
            <a:stCxn id="17" idx="3"/>
            <a:endCxn id="150" idx="1"/>
          </p:cNvCxnSpPr>
          <p:nvPr/>
        </p:nvCxnSpPr>
        <p:spPr>
          <a:xfrm>
            <a:off x="10196121" y="3846180"/>
            <a:ext cx="854337" cy="0"/>
          </a:xfrm>
          <a:prstGeom prst="straightConnector1">
            <a:avLst/>
          </a:prstGeom>
          <a:ln w="76200">
            <a:tailEnd type="none"/>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a:endCxn id="46" idx="2"/>
          </p:cNvCxnSpPr>
          <p:nvPr/>
        </p:nvCxnSpPr>
        <p:spPr>
          <a:xfrm flipV="1">
            <a:off x="471491" y="6042800"/>
            <a:ext cx="0" cy="368964"/>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sp>
        <p:nvSpPr>
          <p:cNvPr id="150" name="Rounded Rectangle 149"/>
          <p:cNvSpPr/>
          <p:nvPr/>
        </p:nvSpPr>
        <p:spPr>
          <a:xfrm>
            <a:off x="11050458" y="3280816"/>
            <a:ext cx="500616" cy="113072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sv-SE" dirty="0"/>
          </a:p>
        </p:txBody>
      </p:sp>
      <p:sp>
        <p:nvSpPr>
          <p:cNvPr id="151" name="Rounded Rectangle 150"/>
          <p:cNvSpPr/>
          <p:nvPr/>
        </p:nvSpPr>
        <p:spPr>
          <a:xfrm rot="16200000">
            <a:off x="335595" y="6305136"/>
            <a:ext cx="254564" cy="41967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sv-SE" dirty="0"/>
          </a:p>
        </p:txBody>
      </p:sp>
      <p:cxnSp>
        <p:nvCxnSpPr>
          <p:cNvPr id="171" name="Straight Arrow Connector 170"/>
          <p:cNvCxnSpPr>
            <a:stCxn id="7" idx="3"/>
            <a:endCxn id="14" idx="2"/>
          </p:cNvCxnSpPr>
          <p:nvPr/>
        </p:nvCxnSpPr>
        <p:spPr>
          <a:xfrm flipV="1">
            <a:off x="6168583" y="3848825"/>
            <a:ext cx="1143940" cy="4352"/>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183" name="Straight Arrow Connector 182"/>
          <p:cNvCxnSpPr>
            <a:stCxn id="14" idx="6"/>
            <a:endCxn id="17" idx="1"/>
          </p:cNvCxnSpPr>
          <p:nvPr/>
        </p:nvCxnSpPr>
        <p:spPr>
          <a:xfrm flipV="1">
            <a:off x="8407397" y="3846180"/>
            <a:ext cx="642396" cy="2645"/>
          </a:xfrm>
          <a:prstGeom prst="straightConnector1">
            <a:avLst/>
          </a:prstGeom>
          <a:ln w="76200">
            <a:tailEnd type="none"/>
          </a:ln>
        </p:spPr>
        <p:style>
          <a:lnRef idx="1">
            <a:schemeClr val="accent1"/>
          </a:lnRef>
          <a:fillRef idx="0">
            <a:schemeClr val="accent1"/>
          </a:fillRef>
          <a:effectRef idx="0">
            <a:schemeClr val="accent1"/>
          </a:effectRef>
          <a:fontRef idx="minor">
            <a:schemeClr val="tx1"/>
          </a:fontRef>
        </p:style>
      </p:cxnSp>
      <p:sp>
        <p:nvSpPr>
          <p:cNvPr id="231" name="Rectangle 230"/>
          <p:cNvSpPr/>
          <p:nvPr/>
        </p:nvSpPr>
        <p:spPr>
          <a:xfrm>
            <a:off x="-655339" y="2466058"/>
            <a:ext cx="2104069" cy="369332"/>
          </a:xfrm>
          <a:prstGeom prst="rect">
            <a:avLst/>
          </a:prstGeom>
        </p:spPr>
        <p:txBody>
          <a:bodyPr wrap="square">
            <a:spAutoFit/>
          </a:bodyPr>
          <a:lstStyle/>
          <a:p>
            <a:pPr algn="ctr"/>
            <a:r>
              <a:rPr lang="en-US" dirty="0">
                <a:latin typeface="Times New Roman" panose="02020603050405020304" pitchFamily="18" charset="0"/>
                <a:cs typeface="Times New Roman" panose="02020603050405020304" pitchFamily="18" charset="0"/>
              </a:rPr>
              <a:t>Battery </a:t>
            </a:r>
            <a:r>
              <a:rPr lang="en-US" dirty="0" smtClean="0">
                <a:latin typeface="Times New Roman" panose="02020603050405020304" pitchFamily="18" charset="0"/>
                <a:cs typeface="Times New Roman" panose="02020603050405020304" pitchFamily="18" charset="0"/>
              </a:rPr>
              <a:t>Pack</a:t>
            </a:r>
            <a:endParaRPr lang="sv-SE" dirty="0">
              <a:latin typeface="Times New Roman" panose="02020603050405020304" pitchFamily="18" charset="0"/>
              <a:cs typeface="Times New Roman" panose="02020603050405020304" pitchFamily="18" charset="0"/>
            </a:endParaRPr>
          </a:p>
        </p:txBody>
      </p:sp>
      <p:cxnSp>
        <p:nvCxnSpPr>
          <p:cNvPr id="257" name="Straight Arrow Connector 256"/>
          <p:cNvCxnSpPr>
            <a:stCxn id="152" idx="2"/>
            <a:endCxn id="46" idx="0"/>
          </p:cNvCxnSpPr>
          <p:nvPr/>
        </p:nvCxnSpPr>
        <p:spPr>
          <a:xfrm>
            <a:off x="463783" y="5207362"/>
            <a:ext cx="7708" cy="77448"/>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259" name="Straight Arrow Connector 258"/>
          <p:cNvCxnSpPr>
            <a:stCxn id="152" idx="3"/>
            <a:endCxn id="7" idx="1"/>
          </p:cNvCxnSpPr>
          <p:nvPr/>
        </p:nvCxnSpPr>
        <p:spPr>
          <a:xfrm>
            <a:off x="2354400" y="3852357"/>
            <a:ext cx="1586469" cy="820"/>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sp>
        <p:nvSpPr>
          <p:cNvPr id="261" name="Rectangle 260"/>
          <p:cNvSpPr/>
          <p:nvPr/>
        </p:nvSpPr>
        <p:spPr>
          <a:xfrm>
            <a:off x="672714" y="6346866"/>
            <a:ext cx="1520609" cy="369332"/>
          </a:xfrm>
          <a:prstGeom prst="rect">
            <a:avLst/>
          </a:prstGeom>
        </p:spPr>
        <p:txBody>
          <a:bodyPr wrap="none">
            <a:spAutoFit/>
          </a:bodyPr>
          <a:lstStyle/>
          <a:p>
            <a:pPr algn="ctr"/>
            <a:r>
              <a:rPr lang="en-US" dirty="0" smtClean="0">
                <a:latin typeface="Times New Roman" panose="02020603050405020304" pitchFamily="18" charset="0"/>
                <a:cs typeface="Times New Roman" panose="02020603050405020304" pitchFamily="18" charset="0"/>
              </a:rPr>
              <a:t>Charging Plug</a:t>
            </a:r>
            <a:endParaRPr lang="en-US" dirty="0">
              <a:latin typeface="Times New Roman" panose="02020603050405020304" pitchFamily="18" charset="0"/>
              <a:cs typeface="Times New Roman" panose="02020603050405020304" pitchFamily="18" charset="0"/>
            </a:endParaRPr>
          </a:p>
        </p:txBody>
      </p:sp>
      <p:sp>
        <p:nvSpPr>
          <p:cNvPr id="40" name="Rounded Rectangle 39"/>
          <p:cNvSpPr/>
          <p:nvPr/>
        </p:nvSpPr>
        <p:spPr>
          <a:xfrm>
            <a:off x="-1531710" y="1936778"/>
            <a:ext cx="4015237" cy="4184014"/>
          </a:xfrm>
          <a:prstGeom prst="roundRect">
            <a:avLst/>
          </a:prstGeom>
          <a:noFill/>
          <a:ln w="19050">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 name="Rectangle 10"/>
          <p:cNvSpPr/>
          <p:nvPr/>
        </p:nvSpPr>
        <p:spPr>
          <a:xfrm>
            <a:off x="-979163" y="1974015"/>
            <a:ext cx="2751715" cy="369332"/>
          </a:xfrm>
          <a:prstGeom prst="rect">
            <a:avLst/>
          </a:prstGeom>
        </p:spPr>
        <p:txBody>
          <a:bodyPr wrap="none">
            <a:spAutoFit/>
          </a:bodyPr>
          <a:lstStyle/>
          <a:p>
            <a:pPr algn="ctr"/>
            <a:r>
              <a:rPr lang="en-US" dirty="0" smtClean="0">
                <a:solidFill>
                  <a:schemeClr val="tx2">
                    <a:lumMod val="50000"/>
                    <a:lumOff val="50000"/>
                  </a:schemeClr>
                </a:solidFill>
                <a:latin typeface="Times New Roman" panose="02020603050405020304" pitchFamily="18" charset="0"/>
                <a:cs typeface="Times New Roman" panose="02020603050405020304" pitchFamily="18" charset="0"/>
              </a:rPr>
              <a:t>Energy Storage &amp; Charging</a:t>
            </a:r>
            <a:endParaRPr lang="sv-SE" dirty="0">
              <a:solidFill>
                <a:schemeClr val="tx2">
                  <a:lumMod val="50000"/>
                  <a:lumOff val="50000"/>
                </a:schemeClr>
              </a:solidFill>
              <a:latin typeface="Times New Roman" panose="02020603050405020304" pitchFamily="18" charset="0"/>
              <a:cs typeface="Times New Roman" panose="02020603050405020304" pitchFamily="18" charset="0"/>
            </a:endParaRPr>
          </a:p>
        </p:txBody>
      </p:sp>
      <p:sp>
        <p:nvSpPr>
          <p:cNvPr id="22" name="Rectangle 21"/>
          <p:cNvSpPr/>
          <p:nvPr/>
        </p:nvSpPr>
        <p:spPr>
          <a:xfrm>
            <a:off x="2304214" y="3236317"/>
            <a:ext cx="1720574" cy="646331"/>
          </a:xfrm>
          <a:prstGeom prst="rect">
            <a:avLst/>
          </a:prstGeom>
        </p:spPr>
        <p:txBody>
          <a:bodyPr wrap="square">
            <a:spAutoFit/>
          </a:bodyPr>
          <a:lstStyle/>
          <a:p>
            <a:pPr algn="ctr"/>
            <a:r>
              <a:rPr lang="en-US" dirty="0" smtClean="0">
                <a:latin typeface="Times New Roman" panose="02020603050405020304" pitchFamily="18" charset="0"/>
                <a:cs typeface="Times New Roman" panose="02020603050405020304" pitchFamily="18" charset="0"/>
              </a:rPr>
              <a:t>DC-Link</a:t>
            </a:r>
          </a:p>
          <a:p>
            <a:pPr algn="ctr"/>
            <a:r>
              <a:rPr lang="en-US" dirty="0" smtClean="0">
                <a:latin typeface="Times New Roman" panose="02020603050405020304" pitchFamily="18" charset="0"/>
                <a:cs typeface="Times New Roman" panose="02020603050405020304" pitchFamily="18" charset="0"/>
              </a:rPr>
              <a:t>800V/1200V</a:t>
            </a:r>
            <a:endParaRPr lang="sv-SE" dirty="0">
              <a:latin typeface="Times New Roman" panose="02020603050405020304" pitchFamily="18" charset="0"/>
              <a:cs typeface="Times New Roman" panose="02020603050405020304" pitchFamily="18" charset="0"/>
            </a:endParaRPr>
          </a:p>
        </p:txBody>
      </p:sp>
      <p:cxnSp>
        <p:nvCxnSpPr>
          <p:cNvPr id="60" name="Straight Arrow Connector 59"/>
          <p:cNvCxnSpPr/>
          <p:nvPr/>
        </p:nvCxnSpPr>
        <p:spPr>
          <a:xfrm>
            <a:off x="5064157" y="4307694"/>
            <a:ext cx="0" cy="212822"/>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sp>
        <p:nvSpPr>
          <p:cNvPr id="62" name="Rectangle 61"/>
          <p:cNvSpPr/>
          <p:nvPr/>
        </p:nvSpPr>
        <p:spPr>
          <a:xfrm>
            <a:off x="3950300" y="4481003"/>
            <a:ext cx="2208371" cy="646331"/>
          </a:xfrm>
          <a:prstGeom prst="rect">
            <a:avLst/>
          </a:prstGeom>
        </p:spPr>
        <p:txBody>
          <a:bodyPr wrap="square">
            <a:spAutoFit/>
          </a:bodyPr>
          <a:lstStyle/>
          <a:p>
            <a:pPr algn="ctr"/>
            <a:r>
              <a:rPr lang="en-US" dirty="0" smtClean="0">
                <a:latin typeface="Times New Roman" panose="02020603050405020304" pitchFamily="18" charset="0"/>
                <a:cs typeface="Times New Roman" panose="02020603050405020304" pitchFamily="18" charset="0"/>
              </a:rPr>
              <a:t>DC-Link Capacitors</a:t>
            </a:r>
          </a:p>
          <a:p>
            <a:pPr algn="ctr"/>
            <a:r>
              <a:rPr lang="en-US" dirty="0" smtClean="0">
                <a:latin typeface="Times New Roman" panose="02020603050405020304" pitchFamily="18" charset="0"/>
                <a:cs typeface="Times New Roman" panose="02020603050405020304" pitchFamily="18" charset="0"/>
              </a:rPr>
              <a:t>Liquid-Cooled Plates</a:t>
            </a:r>
          </a:p>
        </p:txBody>
      </p:sp>
      <p:sp>
        <p:nvSpPr>
          <p:cNvPr id="66" name="Rectangle 65"/>
          <p:cNvSpPr/>
          <p:nvPr/>
        </p:nvSpPr>
        <p:spPr>
          <a:xfrm>
            <a:off x="6234650" y="3199849"/>
            <a:ext cx="1127704" cy="646331"/>
          </a:xfrm>
          <a:prstGeom prst="rect">
            <a:avLst/>
          </a:prstGeom>
        </p:spPr>
        <p:txBody>
          <a:bodyPr wrap="square">
            <a:spAutoFit/>
          </a:bodyPr>
          <a:lstStyle/>
          <a:p>
            <a:pPr algn="ctr"/>
            <a:r>
              <a:rPr lang="en-US" dirty="0" smtClean="0">
                <a:latin typeface="Times New Roman" panose="02020603050405020304" pitchFamily="18" charset="0"/>
                <a:cs typeface="Times New Roman" panose="02020603050405020304" pitchFamily="18" charset="0"/>
              </a:rPr>
              <a:t>3-Phase</a:t>
            </a:r>
          </a:p>
          <a:p>
            <a:pPr algn="ctr"/>
            <a:r>
              <a:rPr lang="en-US" dirty="0" smtClean="0">
                <a:latin typeface="Times New Roman" panose="02020603050405020304" pitchFamily="18" charset="0"/>
                <a:cs typeface="Times New Roman" panose="02020603050405020304" pitchFamily="18" charset="0"/>
              </a:rPr>
              <a:t>AC</a:t>
            </a:r>
            <a:endParaRPr lang="sv-SE" dirty="0">
              <a:latin typeface="Times New Roman" panose="02020603050405020304" pitchFamily="18" charset="0"/>
              <a:cs typeface="Times New Roman" panose="02020603050405020304" pitchFamily="18" charset="0"/>
            </a:endParaRPr>
          </a:p>
        </p:txBody>
      </p:sp>
      <p:sp>
        <p:nvSpPr>
          <p:cNvPr id="71" name="Rectangle 70"/>
          <p:cNvSpPr/>
          <p:nvPr/>
        </p:nvSpPr>
        <p:spPr>
          <a:xfrm>
            <a:off x="8176248" y="3155590"/>
            <a:ext cx="1127704" cy="646331"/>
          </a:xfrm>
          <a:prstGeom prst="rect">
            <a:avLst/>
          </a:prstGeom>
        </p:spPr>
        <p:txBody>
          <a:bodyPr wrap="square">
            <a:spAutoFit/>
          </a:bodyPr>
          <a:lstStyle/>
          <a:p>
            <a:pPr algn="ctr"/>
            <a:r>
              <a:rPr lang="en-US" dirty="0" smtClean="0">
                <a:latin typeface="Times New Roman" panose="02020603050405020304" pitchFamily="18" charset="0"/>
                <a:cs typeface="Times New Roman" panose="02020603050405020304" pitchFamily="18" charset="0"/>
              </a:rPr>
              <a:t>Shaft Power</a:t>
            </a:r>
            <a:endParaRPr lang="sv-SE" dirty="0">
              <a:latin typeface="Times New Roman" panose="02020603050405020304" pitchFamily="18" charset="0"/>
              <a:cs typeface="Times New Roman" panose="02020603050405020304" pitchFamily="18" charset="0"/>
            </a:endParaRPr>
          </a:p>
        </p:txBody>
      </p:sp>
      <p:sp>
        <p:nvSpPr>
          <p:cNvPr id="83" name="Rectangle 82"/>
          <p:cNvSpPr/>
          <p:nvPr/>
        </p:nvSpPr>
        <p:spPr>
          <a:xfrm>
            <a:off x="10000220" y="3169971"/>
            <a:ext cx="1127704" cy="646331"/>
          </a:xfrm>
          <a:prstGeom prst="rect">
            <a:avLst/>
          </a:prstGeom>
        </p:spPr>
        <p:txBody>
          <a:bodyPr wrap="square">
            <a:spAutoFit/>
          </a:bodyPr>
          <a:lstStyle/>
          <a:p>
            <a:pPr algn="ctr"/>
            <a:r>
              <a:rPr lang="en-US" dirty="0" smtClean="0">
                <a:latin typeface="Times New Roman" panose="02020603050405020304" pitchFamily="18" charset="0"/>
                <a:cs typeface="Times New Roman" panose="02020603050405020304" pitchFamily="18" charset="0"/>
              </a:rPr>
              <a:t>To Drive Axle</a:t>
            </a:r>
            <a:endParaRPr lang="sv-SE" dirty="0">
              <a:latin typeface="Times New Roman" panose="02020603050405020304" pitchFamily="18" charset="0"/>
              <a:cs typeface="Times New Roman" panose="02020603050405020304" pitchFamily="18" charset="0"/>
            </a:endParaRPr>
          </a:p>
        </p:txBody>
      </p:sp>
      <p:sp>
        <p:nvSpPr>
          <p:cNvPr id="84" name="Rounded Rectangle 83"/>
          <p:cNvSpPr/>
          <p:nvPr/>
        </p:nvSpPr>
        <p:spPr>
          <a:xfrm>
            <a:off x="3846345" y="2783022"/>
            <a:ext cx="2417483" cy="2568669"/>
          </a:xfrm>
          <a:prstGeom prst="roundRect">
            <a:avLst/>
          </a:prstGeom>
          <a:noFill/>
          <a:ln w="19050">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5" name="Rectangle 84"/>
          <p:cNvSpPr/>
          <p:nvPr/>
        </p:nvSpPr>
        <p:spPr>
          <a:xfrm>
            <a:off x="4155025" y="2777184"/>
            <a:ext cx="1871026" cy="369332"/>
          </a:xfrm>
          <a:prstGeom prst="rect">
            <a:avLst/>
          </a:prstGeom>
        </p:spPr>
        <p:txBody>
          <a:bodyPr wrap="none">
            <a:spAutoFit/>
          </a:bodyPr>
          <a:lstStyle/>
          <a:p>
            <a:pPr algn="ctr"/>
            <a:r>
              <a:rPr lang="en-US" dirty="0" smtClean="0">
                <a:solidFill>
                  <a:schemeClr val="tx2">
                    <a:lumMod val="50000"/>
                    <a:lumOff val="50000"/>
                  </a:schemeClr>
                </a:solidFill>
                <a:latin typeface="Times New Roman" panose="02020603050405020304" pitchFamily="18" charset="0"/>
                <a:cs typeface="Times New Roman" panose="02020603050405020304" pitchFamily="18" charset="0"/>
              </a:rPr>
              <a:t>Power Electronics</a:t>
            </a:r>
            <a:endParaRPr lang="sv-SE" dirty="0">
              <a:solidFill>
                <a:schemeClr val="tx2">
                  <a:lumMod val="50000"/>
                  <a:lumOff val="50000"/>
                </a:schemeClr>
              </a:solidFill>
              <a:latin typeface="Times New Roman" panose="02020603050405020304" pitchFamily="18" charset="0"/>
              <a:cs typeface="Times New Roman" panose="02020603050405020304" pitchFamily="18" charset="0"/>
            </a:endParaRPr>
          </a:p>
        </p:txBody>
      </p:sp>
      <p:sp>
        <p:nvSpPr>
          <p:cNvPr id="89" name="Rounded Rectangle 88"/>
          <p:cNvSpPr/>
          <p:nvPr/>
        </p:nvSpPr>
        <p:spPr>
          <a:xfrm>
            <a:off x="7291871" y="2732336"/>
            <a:ext cx="4424951" cy="2178936"/>
          </a:xfrm>
          <a:prstGeom prst="roundRect">
            <a:avLst/>
          </a:prstGeom>
          <a:noFill/>
          <a:ln w="19050">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91" name="Rectangle 90"/>
          <p:cNvSpPr/>
          <p:nvPr/>
        </p:nvSpPr>
        <p:spPr>
          <a:xfrm>
            <a:off x="8937523" y="2732336"/>
            <a:ext cx="1133645" cy="369332"/>
          </a:xfrm>
          <a:prstGeom prst="rect">
            <a:avLst/>
          </a:prstGeom>
        </p:spPr>
        <p:txBody>
          <a:bodyPr wrap="none">
            <a:spAutoFit/>
          </a:bodyPr>
          <a:lstStyle/>
          <a:p>
            <a:pPr algn="ctr"/>
            <a:r>
              <a:rPr lang="en-US" dirty="0" smtClean="0">
                <a:solidFill>
                  <a:schemeClr val="tx2">
                    <a:lumMod val="50000"/>
                    <a:lumOff val="50000"/>
                  </a:schemeClr>
                </a:solidFill>
                <a:latin typeface="Times New Roman" panose="02020603050405020304" pitchFamily="18" charset="0"/>
                <a:cs typeface="Times New Roman" panose="02020603050405020304" pitchFamily="18" charset="0"/>
              </a:rPr>
              <a:t>Drivetrain</a:t>
            </a:r>
            <a:endParaRPr lang="sv-SE" dirty="0">
              <a:solidFill>
                <a:schemeClr val="tx2">
                  <a:lumMod val="50000"/>
                  <a:lumOff val="50000"/>
                </a:schemeClr>
              </a:solidFill>
              <a:latin typeface="Times New Roman" panose="02020603050405020304" pitchFamily="18" charset="0"/>
              <a:cs typeface="Times New Roman" panose="02020603050405020304" pitchFamily="18" charset="0"/>
            </a:endParaRPr>
          </a:p>
        </p:txBody>
      </p:sp>
      <p:sp>
        <p:nvSpPr>
          <p:cNvPr id="97" name="Rounded Rectangle 96"/>
          <p:cNvSpPr/>
          <p:nvPr/>
        </p:nvSpPr>
        <p:spPr>
          <a:xfrm>
            <a:off x="-1846035" y="1542597"/>
            <a:ext cx="14925675" cy="4702175"/>
          </a:xfrm>
          <a:prstGeom prst="roundRect">
            <a:avLst/>
          </a:prstGeom>
          <a:noFill/>
          <a:ln w="19050">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cxnSp>
        <p:nvCxnSpPr>
          <p:cNvPr id="68" name="Straight Arrow Connector 67"/>
          <p:cNvCxnSpPr/>
          <p:nvPr/>
        </p:nvCxnSpPr>
        <p:spPr>
          <a:xfrm flipH="1">
            <a:off x="1404314" y="3573729"/>
            <a:ext cx="249" cy="307890"/>
          </a:xfrm>
          <a:prstGeom prst="straightConnector1">
            <a:avLst/>
          </a:prstGeom>
          <a:ln w="19050">
            <a:prstDash val="sysDot"/>
            <a:tailEnd type="non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4" idx="3"/>
            <a:endCxn id="77" idx="1"/>
          </p:cNvCxnSpPr>
          <p:nvPr/>
        </p:nvCxnSpPr>
        <p:spPr>
          <a:xfrm>
            <a:off x="375145" y="3195247"/>
            <a:ext cx="175464" cy="0"/>
          </a:xfrm>
          <a:prstGeom prst="straightConnector1">
            <a:avLst/>
          </a:prstGeom>
          <a:ln w="19050">
            <a:prstDash val="sysDot"/>
            <a:tailEnd type="non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a:off x="375145" y="4285865"/>
            <a:ext cx="175464" cy="0"/>
          </a:xfrm>
          <a:prstGeom prst="straightConnector1">
            <a:avLst/>
          </a:prstGeom>
          <a:ln w="19050">
            <a:prstDash val="sysDot"/>
            <a:tailEnd type="non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stCxn id="150" idx="2"/>
            <a:endCxn id="6" idx="1"/>
          </p:cNvCxnSpPr>
          <p:nvPr/>
        </p:nvCxnSpPr>
        <p:spPr>
          <a:xfrm>
            <a:off x="11300766" y="4411544"/>
            <a:ext cx="743" cy="1585661"/>
          </a:xfrm>
          <a:prstGeom prst="straightConnector1">
            <a:avLst/>
          </a:prstGeom>
          <a:ln w="76200">
            <a:tailEnd type="non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p:nvPr/>
        </p:nvCxnSpPr>
        <p:spPr>
          <a:xfrm>
            <a:off x="11300766" y="1754598"/>
            <a:ext cx="743" cy="1585661"/>
          </a:xfrm>
          <a:prstGeom prst="straightConnector1">
            <a:avLst/>
          </a:prstGeom>
          <a:ln w="762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017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Rounded Rectangle 151"/>
          <p:cNvSpPr/>
          <p:nvPr/>
        </p:nvSpPr>
        <p:spPr>
          <a:xfrm>
            <a:off x="-1426834" y="2497352"/>
            <a:ext cx="3781234" cy="271001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297245" y="2816252"/>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Battery </a:t>
            </a:r>
          </a:p>
          <a:p>
            <a:pPr algn="ctr"/>
            <a:r>
              <a:rPr lang="en-US" dirty="0" smtClean="0">
                <a:solidFill>
                  <a:schemeClr val="tx1"/>
                </a:solidFill>
                <a:latin typeface="Times New Roman" panose="02020603050405020304" pitchFamily="18" charset="0"/>
                <a:cs typeface="Times New Roman" panose="02020603050405020304" pitchFamily="18" charset="0"/>
              </a:rPr>
              <a:t>Modules</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7" name="Rounded Rectangle 6"/>
          <p:cNvSpPr/>
          <p:nvPr/>
        </p:nvSpPr>
        <p:spPr>
          <a:xfrm>
            <a:off x="3940869" y="3395876"/>
            <a:ext cx="2227714" cy="914602"/>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Traction </a:t>
            </a:r>
            <a:r>
              <a:rPr lang="en-US" dirty="0" smtClean="0">
                <a:solidFill>
                  <a:schemeClr val="tx1"/>
                </a:solidFill>
                <a:latin typeface="Times New Roman" panose="02020603050405020304" pitchFamily="18" charset="0"/>
                <a:cs typeface="Times New Roman" panose="02020603050405020304" pitchFamily="18" charset="0"/>
              </a:rPr>
              <a:t>Inverter</a:t>
            </a:r>
            <a:endParaRPr lang="en-US" dirty="0" smtClean="0">
              <a:solidFill>
                <a:schemeClr val="tx1"/>
              </a:solidFill>
              <a:latin typeface="Times New Roman" panose="02020603050405020304" pitchFamily="18" charset="0"/>
              <a:cs typeface="Times New Roman" panose="02020603050405020304" pitchFamily="18" charset="0"/>
            </a:endParaRPr>
          </a:p>
        </p:txBody>
      </p:sp>
      <p:sp>
        <p:nvSpPr>
          <p:cNvPr id="14" name="Oval 13"/>
          <p:cNvSpPr/>
          <p:nvPr/>
        </p:nvSpPr>
        <p:spPr>
          <a:xfrm>
            <a:off x="7362354" y="3320300"/>
            <a:ext cx="1094874" cy="1051760"/>
          </a:xfrm>
          <a:prstGeom prst="ellipse">
            <a:avLst/>
          </a:prstGeom>
          <a:solidFill>
            <a:schemeClr val="accent6">
              <a:lumMod val="60000"/>
              <a:lumOff val="40000"/>
              <a:alpha val="50196"/>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Motor</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17" name="Rounded Rectangle 16"/>
          <p:cNvSpPr/>
          <p:nvPr/>
        </p:nvSpPr>
        <p:spPr>
          <a:xfrm>
            <a:off x="9049793" y="3467185"/>
            <a:ext cx="1146328"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Gear Box</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5" name="Rounded Rectangle 4"/>
          <p:cNvSpPr/>
          <p:nvPr/>
        </p:nvSpPr>
        <p:spPr>
          <a:xfrm rot="5400000">
            <a:off x="11066893" y="672823"/>
            <a:ext cx="469232" cy="171364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sv-SE" dirty="0"/>
          </a:p>
        </p:txBody>
      </p:sp>
      <p:sp>
        <p:nvSpPr>
          <p:cNvPr id="6" name="Rounded Rectangle 5"/>
          <p:cNvSpPr/>
          <p:nvPr/>
        </p:nvSpPr>
        <p:spPr>
          <a:xfrm rot="5400000">
            <a:off x="11066893" y="5374998"/>
            <a:ext cx="469232" cy="171364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6" name="Rounded Rectangle 45"/>
          <p:cNvSpPr/>
          <p:nvPr/>
        </p:nvSpPr>
        <p:spPr>
          <a:xfrm>
            <a:off x="-364704" y="5284810"/>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On Board </a:t>
            </a:r>
          </a:p>
          <a:p>
            <a:pPr algn="ctr"/>
            <a:r>
              <a:rPr lang="en-US" dirty="0" smtClean="0">
                <a:solidFill>
                  <a:schemeClr val="tx1"/>
                </a:solidFill>
                <a:latin typeface="Times New Roman" panose="02020603050405020304" pitchFamily="18" charset="0"/>
                <a:cs typeface="Times New Roman" panose="02020603050405020304" pitchFamily="18" charset="0"/>
              </a:rPr>
              <a:t>Charger</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69" name="Rounded Rectangle 68"/>
          <p:cNvSpPr/>
          <p:nvPr/>
        </p:nvSpPr>
        <p:spPr>
          <a:xfrm>
            <a:off x="-1297494" y="3882132"/>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Battery </a:t>
            </a:r>
          </a:p>
          <a:p>
            <a:pPr algn="ctr"/>
            <a:r>
              <a:rPr lang="en-US" dirty="0" smtClean="0">
                <a:solidFill>
                  <a:schemeClr val="tx1"/>
                </a:solidFill>
                <a:latin typeface="Times New Roman" panose="02020603050405020304" pitchFamily="18" charset="0"/>
                <a:cs typeface="Times New Roman" panose="02020603050405020304" pitchFamily="18" charset="0"/>
              </a:rPr>
              <a:t>Modules</a:t>
            </a:r>
            <a:endParaRPr lang="sv-SE" dirty="0">
              <a:solidFill>
                <a:schemeClr val="tx1"/>
              </a:solidFill>
              <a:latin typeface="Times New Roman" panose="02020603050405020304" pitchFamily="18" charset="0"/>
              <a:cs typeface="Times New Roman" panose="02020603050405020304" pitchFamily="18" charset="0"/>
            </a:endParaRPr>
          </a:p>
        </p:txBody>
      </p:sp>
      <p:cxnSp>
        <p:nvCxnSpPr>
          <p:cNvPr id="76" name="Straight Arrow Connector 75"/>
          <p:cNvCxnSpPr>
            <a:stCxn id="4" idx="2"/>
            <a:endCxn id="69" idx="0"/>
          </p:cNvCxnSpPr>
          <p:nvPr/>
        </p:nvCxnSpPr>
        <p:spPr>
          <a:xfrm flipH="1">
            <a:off x="-461299" y="3574242"/>
            <a:ext cx="249" cy="307890"/>
          </a:xfrm>
          <a:prstGeom prst="straightConnector1">
            <a:avLst/>
          </a:prstGeom>
          <a:ln w="19050">
            <a:prstDash val="sysDot"/>
            <a:tailEnd type="none"/>
          </a:ln>
        </p:spPr>
        <p:style>
          <a:lnRef idx="1">
            <a:schemeClr val="accent1"/>
          </a:lnRef>
          <a:fillRef idx="0">
            <a:schemeClr val="accent1"/>
          </a:fillRef>
          <a:effectRef idx="0">
            <a:schemeClr val="accent1"/>
          </a:effectRef>
          <a:fontRef idx="minor">
            <a:schemeClr val="tx1"/>
          </a:fontRef>
        </p:style>
      </p:cxnSp>
      <p:sp>
        <p:nvSpPr>
          <p:cNvPr id="77" name="Rounded Rectangle 76"/>
          <p:cNvSpPr/>
          <p:nvPr/>
        </p:nvSpPr>
        <p:spPr>
          <a:xfrm>
            <a:off x="550609" y="2816252"/>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Battery </a:t>
            </a:r>
          </a:p>
          <a:p>
            <a:pPr algn="ctr"/>
            <a:r>
              <a:rPr lang="en-US" dirty="0" smtClean="0">
                <a:solidFill>
                  <a:schemeClr val="tx1"/>
                </a:solidFill>
                <a:latin typeface="Times New Roman" panose="02020603050405020304" pitchFamily="18" charset="0"/>
                <a:cs typeface="Times New Roman" panose="02020603050405020304" pitchFamily="18" charset="0"/>
              </a:rPr>
              <a:t>Modules</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78" name="Rounded Rectangle 77"/>
          <p:cNvSpPr/>
          <p:nvPr/>
        </p:nvSpPr>
        <p:spPr>
          <a:xfrm>
            <a:off x="557757" y="3888386"/>
            <a:ext cx="1672390" cy="757990"/>
          </a:xfrm>
          <a:prstGeom prst="roundRect">
            <a:avLst/>
          </a:prstGeom>
          <a:solidFill>
            <a:schemeClr val="accent6">
              <a:lumMod val="60000"/>
              <a:lumOff val="40000"/>
              <a:alpha val="50196"/>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Battery </a:t>
            </a:r>
          </a:p>
          <a:p>
            <a:pPr algn="ctr"/>
            <a:r>
              <a:rPr lang="en-US" dirty="0" smtClean="0">
                <a:solidFill>
                  <a:schemeClr val="tx1"/>
                </a:solidFill>
                <a:latin typeface="Times New Roman" panose="02020603050405020304" pitchFamily="18" charset="0"/>
                <a:cs typeface="Times New Roman" panose="02020603050405020304" pitchFamily="18" charset="0"/>
              </a:rPr>
              <a:t>Modules</a:t>
            </a:r>
            <a:endParaRPr lang="sv-SE" dirty="0">
              <a:solidFill>
                <a:schemeClr val="tx1"/>
              </a:solidFill>
              <a:latin typeface="Times New Roman" panose="02020603050405020304" pitchFamily="18" charset="0"/>
              <a:cs typeface="Times New Roman" panose="02020603050405020304" pitchFamily="18" charset="0"/>
            </a:endParaRPr>
          </a:p>
        </p:txBody>
      </p:sp>
      <p:cxnSp>
        <p:nvCxnSpPr>
          <p:cNvPr id="105" name="Straight Arrow Connector 104"/>
          <p:cNvCxnSpPr>
            <a:stCxn id="17" idx="3"/>
            <a:endCxn id="150" idx="1"/>
          </p:cNvCxnSpPr>
          <p:nvPr/>
        </p:nvCxnSpPr>
        <p:spPr>
          <a:xfrm>
            <a:off x="10196121" y="3846180"/>
            <a:ext cx="854337" cy="0"/>
          </a:xfrm>
          <a:prstGeom prst="straightConnector1">
            <a:avLst/>
          </a:prstGeom>
          <a:ln w="76200">
            <a:tailEnd type="none"/>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a:endCxn id="46" idx="2"/>
          </p:cNvCxnSpPr>
          <p:nvPr/>
        </p:nvCxnSpPr>
        <p:spPr>
          <a:xfrm flipV="1">
            <a:off x="471491" y="6042800"/>
            <a:ext cx="0" cy="368964"/>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sp>
        <p:nvSpPr>
          <p:cNvPr id="150" name="Rounded Rectangle 149"/>
          <p:cNvSpPr/>
          <p:nvPr/>
        </p:nvSpPr>
        <p:spPr>
          <a:xfrm>
            <a:off x="11050458" y="3280816"/>
            <a:ext cx="500616" cy="113072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sv-SE" dirty="0"/>
          </a:p>
        </p:txBody>
      </p:sp>
      <p:sp>
        <p:nvSpPr>
          <p:cNvPr id="151" name="Rounded Rectangle 150"/>
          <p:cNvSpPr/>
          <p:nvPr/>
        </p:nvSpPr>
        <p:spPr>
          <a:xfrm rot="16200000">
            <a:off x="335595" y="6305136"/>
            <a:ext cx="254564" cy="41967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sv-SE" dirty="0"/>
          </a:p>
        </p:txBody>
      </p:sp>
      <p:cxnSp>
        <p:nvCxnSpPr>
          <p:cNvPr id="171" name="Straight Arrow Connector 170"/>
          <p:cNvCxnSpPr>
            <a:stCxn id="7" idx="3"/>
            <a:endCxn id="14" idx="2"/>
          </p:cNvCxnSpPr>
          <p:nvPr/>
        </p:nvCxnSpPr>
        <p:spPr>
          <a:xfrm flipV="1">
            <a:off x="6168583" y="3846180"/>
            <a:ext cx="1193771" cy="6997"/>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183" name="Straight Arrow Connector 182"/>
          <p:cNvCxnSpPr>
            <a:stCxn id="14" idx="6"/>
            <a:endCxn id="17" idx="1"/>
          </p:cNvCxnSpPr>
          <p:nvPr/>
        </p:nvCxnSpPr>
        <p:spPr>
          <a:xfrm>
            <a:off x="8457228" y="3846180"/>
            <a:ext cx="592565" cy="0"/>
          </a:xfrm>
          <a:prstGeom prst="straightConnector1">
            <a:avLst/>
          </a:prstGeom>
          <a:ln w="76200">
            <a:tailEnd type="none"/>
          </a:ln>
        </p:spPr>
        <p:style>
          <a:lnRef idx="1">
            <a:schemeClr val="accent1"/>
          </a:lnRef>
          <a:fillRef idx="0">
            <a:schemeClr val="accent1"/>
          </a:fillRef>
          <a:effectRef idx="0">
            <a:schemeClr val="accent1"/>
          </a:effectRef>
          <a:fontRef idx="minor">
            <a:schemeClr val="tx1"/>
          </a:fontRef>
        </p:style>
      </p:cxnSp>
      <p:sp>
        <p:nvSpPr>
          <p:cNvPr id="231" name="Rectangle 230"/>
          <p:cNvSpPr/>
          <p:nvPr/>
        </p:nvSpPr>
        <p:spPr>
          <a:xfrm>
            <a:off x="-655339" y="2466058"/>
            <a:ext cx="2104069" cy="369332"/>
          </a:xfrm>
          <a:prstGeom prst="rect">
            <a:avLst/>
          </a:prstGeom>
        </p:spPr>
        <p:txBody>
          <a:bodyPr wrap="square">
            <a:spAutoFit/>
          </a:bodyPr>
          <a:lstStyle/>
          <a:p>
            <a:pPr algn="ctr"/>
            <a:r>
              <a:rPr lang="en-US" dirty="0">
                <a:latin typeface="Times New Roman" panose="02020603050405020304" pitchFamily="18" charset="0"/>
                <a:cs typeface="Times New Roman" panose="02020603050405020304" pitchFamily="18" charset="0"/>
              </a:rPr>
              <a:t>Battery </a:t>
            </a:r>
            <a:r>
              <a:rPr lang="en-US" dirty="0" smtClean="0">
                <a:latin typeface="Times New Roman" panose="02020603050405020304" pitchFamily="18" charset="0"/>
                <a:cs typeface="Times New Roman" panose="02020603050405020304" pitchFamily="18" charset="0"/>
              </a:rPr>
              <a:t>Pack</a:t>
            </a:r>
            <a:endParaRPr lang="sv-SE" dirty="0">
              <a:latin typeface="Times New Roman" panose="02020603050405020304" pitchFamily="18" charset="0"/>
              <a:cs typeface="Times New Roman" panose="02020603050405020304" pitchFamily="18" charset="0"/>
            </a:endParaRPr>
          </a:p>
        </p:txBody>
      </p:sp>
      <p:cxnSp>
        <p:nvCxnSpPr>
          <p:cNvPr id="257" name="Straight Arrow Connector 256"/>
          <p:cNvCxnSpPr>
            <a:stCxn id="152" idx="2"/>
            <a:endCxn id="46" idx="0"/>
          </p:cNvCxnSpPr>
          <p:nvPr/>
        </p:nvCxnSpPr>
        <p:spPr>
          <a:xfrm>
            <a:off x="463783" y="5207362"/>
            <a:ext cx="7708" cy="77448"/>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259" name="Straight Arrow Connector 258"/>
          <p:cNvCxnSpPr/>
          <p:nvPr/>
        </p:nvCxnSpPr>
        <p:spPr>
          <a:xfrm>
            <a:off x="2342684" y="3706727"/>
            <a:ext cx="1586469" cy="820"/>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sp>
        <p:nvSpPr>
          <p:cNvPr id="261" name="Rectangle 260"/>
          <p:cNvSpPr/>
          <p:nvPr/>
        </p:nvSpPr>
        <p:spPr>
          <a:xfrm>
            <a:off x="672714" y="6346866"/>
            <a:ext cx="1520609" cy="369332"/>
          </a:xfrm>
          <a:prstGeom prst="rect">
            <a:avLst/>
          </a:prstGeom>
        </p:spPr>
        <p:txBody>
          <a:bodyPr wrap="none">
            <a:spAutoFit/>
          </a:bodyPr>
          <a:lstStyle/>
          <a:p>
            <a:pPr algn="ctr"/>
            <a:r>
              <a:rPr lang="en-US" dirty="0" smtClean="0">
                <a:latin typeface="Times New Roman" panose="02020603050405020304" pitchFamily="18" charset="0"/>
                <a:cs typeface="Times New Roman" panose="02020603050405020304" pitchFamily="18" charset="0"/>
              </a:rPr>
              <a:t>Charging Plug</a:t>
            </a:r>
            <a:endParaRPr lang="en-US" dirty="0">
              <a:latin typeface="Times New Roman" panose="02020603050405020304" pitchFamily="18" charset="0"/>
              <a:cs typeface="Times New Roman" panose="02020603050405020304" pitchFamily="18" charset="0"/>
            </a:endParaRPr>
          </a:p>
        </p:txBody>
      </p:sp>
      <p:sp>
        <p:nvSpPr>
          <p:cNvPr id="40" name="Rounded Rectangle 39"/>
          <p:cNvSpPr/>
          <p:nvPr/>
        </p:nvSpPr>
        <p:spPr>
          <a:xfrm>
            <a:off x="-1531710" y="1936778"/>
            <a:ext cx="4015237" cy="4184014"/>
          </a:xfrm>
          <a:prstGeom prst="roundRect">
            <a:avLst/>
          </a:prstGeom>
          <a:noFill/>
          <a:ln w="19050">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 name="Rectangle 10"/>
          <p:cNvSpPr/>
          <p:nvPr/>
        </p:nvSpPr>
        <p:spPr>
          <a:xfrm>
            <a:off x="-979163" y="1974015"/>
            <a:ext cx="2751715" cy="369332"/>
          </a:xfrm>
          <a:prstGeom prst="rect">
            <a:avLst/>
          </a:prstGeom>
        </p:spPr>
        <p:txBody>
          <a:bodyPr wrap="none">
            <a:spAutoFit/>
          </a:bodyPr>
          <a:lstStyle/>
          <a:p>
            <a:pPr algn="ctr"/>
            <a:r>
              <a:rPr lang="en-US" dirty="0" smtClean="0">
                <a:solidFill>
                  <a:schemeClr val="tx2">
                    <a:lumMod val="50000"/>
                    <a:lumOff val="50000"/>
                  </a:schemeClr>
                </a:solidFill>
                <a:latin typeface="Times New Roman" panose="02020603050405020304" pitchFamily="18" charset="0"/>
                <a:cs typeface="Times New Roman" panose="02020603050405020304" pitchFamily="18" charset="0"/>
              </a:rPr>
              <a:t>Energy Storage &amp; Charging</a:t>
            </a:r>
            <a:endParaRPr lang="sv-SE" dirty="0">
              <a:solidFill>
                <a:schemeClr val="tx2">
                  <a:lumMod val="50000"/>
                  <a:lumOff val="50000"/>
                </a:schemeClr>
              </a:solidFill>
              <a:latin typeface="Times New Roman" panose="02020603050405020304" pitchFamily="18" charset="0"/>
              <a:cs typeface="Times New Roman" panose="02020603050405020304" pitchFamily="18" charset="0"/>
            </a:endParaRPr>
          </a:p>
        </p:txBody>
      </p:sp>
      <p:sp>
        <p:nvSpPr>
          <p:cNvPr id="22" name="Rectangle 21"/>
          <p:cNvSpPr/>
          <p:nvPr/>
        </p:nvSpPr>
        <p:spPr>
          <a:xfrm>
            <a:off x="2337407" y="3019255"/>
            <a:ext cx="1720574" cy="646331"/>
          </a:xfrm>
          <a:prstGeom prst="rect">
            <a:avLst/>
          </a:prstGeom>
        </p:spPr>
        <p:txBody>
          <a:bodyPr wrap="square">
            <a:spAutoFit/>
          </a:bodyPr>
          <a:lstStyle/>
          <a:p>
            <a:pPr algn="ctr"/>
            <a:r>
              <a:rPr lang="en-US" dirty="0" smtClean="0">
                <a:latin typeface="Times New Roman" panose="02020603050405020304" pitchFamily="18" charset="0"/>
                <a:cs typeface="Times New Roman" panose="02020603050405020304" pitchFamily="18" charset="0"/>
              </a:rPr>
              <a:t>Dc-link</a:t>
            </a:r>
          </a:p>
          <a:p>
            <a:pPr algn="ctr"/>
            <a:r>
              <a:rPr lang="en-US" dirty="0" smtClean="0">
                <a:latin typeface="Times New Roman" panose="02020603050405020304" pitchFamily="18" charset="0"/>
                <a:cs typeface="Times New Roman" panose="02020603050405020304" pitchFamily="18" charset="0"/>
              </a:rPr>
              <a:t>800V/1200V</a:t>
            </a:r>
            <a:endParaRPr lang="sv-SE" dirty="0">
              <a:latin typeface="Times New Roman" panose="02020603050405020304" pitchFamily="18" charset="0"/>
              <a:cs typeface="Times New Roman" panose="02020603050405020304" pitchFamily="18" charset="0"/>
            </a:endParaRPr>
          </a:p>
        </p:txBody>
      </p:sp>
      <p:sp>
        <p:nvSpPr>
          <p:cNvPr id="62" name="Rectangle 61"/>
          <p:cNvSpPr/>
          <p:nvPr/>
        </p:nvSpPr>
        <p:spPr>
          <a:xfrm>
            <a:off x="3854229" y="4343216"/>
            <a:ext cx="2540050" cy="1200329"/>
          </a:xfrm>
          <a:prstGeom prst="rect">
            <a:avLst/>
          </a:prstGeom>
        </p:spPr>
        <p:txBody>
          <a:bodyPr wrap="square">
            <a:spAutoFit/>
          </a:bodyPr>
          <a:lstStyle/>
          <a:p>
            <a:pPr marL="28575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SiC</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MOSFETs</a:t>
            </a:r>
            <a:endParaRPr lang="en-US"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DC-Link </a:t>
            </a:r>
            <a:r>
              <a:rPr lang="en-US" dirty="0" smtClean="0">
                <a:latin typeface="Times New Roman" panose="02020603050405020304" pitchFamily="18" charset="0"/>
                <a:cs typeface="Times New Roman" panose="02020603050405020304" pitchFamily="18" charset="0"/>
              </a:rPr>
              <a:t>Capacitors</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Liquid-Cooled </a:t>
            </a:r>
            <a:r>
              <a:rPr lang="en-US" dirty="0" smtClean="0">
                <a:latin typeface="Times New Roman" panose="02020603050405020304" pitchFamily="18" charset="0"/>
                <a:cs typeface="Times New Roman" panose="02020603050405020304" pitchFamily="18" charset="0"/>
              </a:rPr>
              <a:t>Plates</a:t>
            </a:r>
          </a:p>
          <a:p>
            <a:pPr algn="ctr"/>
            <a:endParaRPr lang="en-US" dirty="0" smtClean="0">
              <a:latin typeface="Times New Roman" panose="02020603050405020304" pitchFamily="18" charset="0"/>
              <a:cs typeface="Times New Roman" panose="02020603050405020304" pitchFamily="18" charset="0"/>
            </a:endParaRPr>
          </a:p>
        </p:txBody>
      </p:sp>
      <p:sp>
        <p:nvSpPr>
          <p:cNvPr id="66" name="Rectangle 65"/>
          <p:cNvSpPr/>
          <p:nvPr/>
        </p:nvSpPr>
        <p:spPr>
          <a:xfrm>
            <a:off x="6180299" y="2965125"/>
            <a:ext cx="1127704" cy="646331"/>
          </a:xfrm>
          <a:prstGeom prst="rect">
            <a:avLst/>
          </a:prstGeom>
        </p:spPr>
        <p:txBody>
          <a:bodyPr wrap="square">
            <a:spAutoFit/>
          </a:bodyPr>
          <a:lstStyle/>
          <a:p>
            <a:pPr algn="ctr"/>
            <a:r>
              <a:rPr lang="en-US" dirty="0">
                <a:latin typeface="Times New Roman" panose="02020603050405020304" pitchFamily="18" charset="0"/>
                <a:cs typeface="Times New Roman" panose="02020603050405020304" pitchFamily="18" charset="0"/>
              </a:rPr>
              <a:t>3</a:t>
            </a:r>
            <a:r>
              <a:rPr lang="en-US" dirty="0" smtClean="0">
                <a:latin typeface="Times New Roman" panose="02020603050405020304" pitchFamily="18" charset="0"/>
                <a:cs typeface="Times New Roman" panose="02020603050405020304" pitchFamily="18" charset="0"/>
              </a:rPr>
              <a:t>-Phase</a:t>
            </a:r>
          </a:p>
          <a:p>
            <a:pPr algn="ctr"/>
            <a:r>
              <a:rPr lang="en-US" dirty="0" smtClean="0">
                <a:latin typeface="Times New Roman" panose="02020603050405020304" pitchFamily="18" charset="0"/>
                <a:cs typeface="Times New Roman" panose="02020603050405020304" pitchFamily="18" charset="0"/>
              </a:rPr>
              <a:t>AC</a:t>
            </a:r>
            <a:endParaRPr lang="sv-SE" dirty="0">
              <a:latin typeface="Times New Roman" panose="02020603050405020304" pitchFamily="18" charset="0"/>
              <a:cs typeface="Times New Roman" panose="02020603050405020304" pitchFamily="18" charset="0"/>
            </a:endParaRPr>
          </a:p>
        </p:txBody>
      </p:sp>
      <p:sp>
        <p:nvSpPr>
          <p:cNvPr id="71" name="Rectangle 70"/>
          <p:cNvSpPr/>
          <p:nvPr/>
        </p:nvSpPr>
        <p:spPr>
          <a:xfrm>
            <a:off x="8144623" y="3157497"/>
            <a:ext cx="1127704" cy="646331"/>
          </a:xfrm>
          <a:prstGeom prst="rect">
            <a:avLst/>
          </a:prstGeom>
        </p:spPr>
        <p:txBody>
          <a:bodyPr wrap="square">
            <a:spAutoFit/>
          </a:bodyPr>
          <a:lstStyle/>
          <a:p>
            <a:pPr algn="ctr"/>
            <a:r>
              <a:rPr lang="en-US" dirty="0" smtClean="0">
                <a:latin typeface="Times New Roman" panose="02020603050405020304" pitchFamily="18" charset="0"/>
                <a:cs typeface="Times New Roman" panose="02020603050405020304" pitchFamily="18" charset="0"/>
              </a:rPr>
              <a:t>Shaft Power</a:t>
            </a:r>
            <a:endParaRPr lang="sv-SE" dirty="0">
              <a:latin typeface="Times New Roman" panose="02020603050405020304" pitchFamily="18" charset="0"/>
              <a:cs typeface="Times New Roman" panose="02020603050405020304" pitchFamily="18" charset="0"/>
            </a:endParaRPr>
          </a:p>
        </p:txBody>
      </p:sp>
      <p:sp>
        <p:nvSpPr>
          <p:cNvPr id="83" name="Rectangle 82"/>
          <p:cNvSpPr/>
          <p:nvPr/>
        </p:nvSpPr>
        <p:spPr>
          <a:xfrm>
            <a:off x="10000220" y="3169971"/>
            <a:ext cx="1127704" cy="646331"/>
          </a:xfrm>
          <a:prstGeom prst="rect">
            <a:avLst/>
          </a:prstGeom>
        </p:spPr>
        <p:txBody>
          <a:bodyPr wrap="square">
            <a:spAutoFit/>
          </a:bodyPr>
          <a:lstStyle/>
          <a:p>
            <a:pPr algn="ctr"/>
            <a:r>
              <a:rPr lang="en-US" dirty="0" smtClean="0">
                <a:latin typeface="Times New Roman" panose="02020603050405020304" pitchFamily="18" charset="0"/>
                <a:cs typeface="Times New Roman" panose="02020603050405020304" pitchFamily="18" charset="0"/>
              </a:rPr>
              <a:t>Driven Axle</a:t>
            </a:r>
            <a:endParaRPr lang="sv-SE" dirty="0">
              <a:latin typeface="Times New Roman" panose="02020603050405020304" pitchFamily="18" charset="0"/>
              <a:cs typeface="Times New Roman" panose="02020603050405020304" pitchFamily="18" charset="0"/>
            </a:endParaRPr>
          </a:p>
        </p:txBody>
      </p:sp>
      <p:sp>
        <p:nvSpPr>
          <p:cNvPr id="84" name="Rounded Rectangle 83"/>
          <p:cNvSpPr/>
          <p:nvPr/>
        </p:nvSpPr>
        <p:spPr>
          <a:xfrm>
            <a:off x="3846345" y="2783022"/>
            <a:ext cx="2417483" cy="2568669"/>
          </a:xfrm>
          <a:prstGeom prst="roundRect">
            <a:avLst/>
          </a:prstGeom>
          <a:noFill/>
          <a:ln w="19050">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5" name="Rectangle 84"/>
          <p:cNvSpPr/>
          <p:nvPr/>
        </p:nvSpPr>
        <p:spPr>
          <a:xfrm>
            <a:off x="4155025" y="2777184"/>
            <a:ext cx="1871026" cy="369332"/>
          </a:xfrm>
          <a:prstGeom prst="rect">
            <a:avLst/>
          </a:prstGeom>
        </p:spPr>
        <p:txBody>
          <a:bodyPr wrap="none">
            <a:spAutoFit/>
          </a:bodyPr>
          <a:lstStyle/>
          <a:p>
            <a:pPr algn="ctr"/>
            <a:r>
              <a:rPr lang="en-US" dirty="0" smtClean="0">
                <a:solidFill>
                  <a:schemeClr val="tx2">
                    <a:lumMod val="50000"/>
                    <a:lumOff val="50000"/>
                  </a:schemeClr>
                </a:solidFill>
                <a:latin typeface="Times New Roman" panose="02020603050405020304" pitchFamily="18" charset="0"/>
                <a:cs typeface="Times New Roman" panose="02020603050405020304" pitchFamily="18" charset="0"/>
              </a:rPr>
              <a:t>Power Electronics</a:t>
            </a:r>
            <a:endParaRPr lang="sv-SE" dirty="0">
              <a:solidFill>
                <a:schemeClr val="tx2">
                  <a:lumMod val="50000"/>
                  <a:lumOff val="50000"/>
                </a:schemeClr>
              </a:solidFill>
              <a:latin typeface="Times New Roman" panose="02020603050405020304" pitchFamily="18" charset="0"/>
              <a:cs typeface="Times New Roman" panose="02020603050405020304" pitchFamily="18" charset="0"/>
            </a:endParaRPr>
          </a:p>
        </p:txBody>
      </p:sp>
      <p:sp>
        <p:nvSpPr>
          <p:cNvPr id="89" name="Rounded Rectangle 88"/>
          <p:cNvSpPr/>
          <p:nvPr/>
        </p:nvSpPr>
        <p:spPr>
          <a:xfrm>
            <a:off x="7291871" y="2732336"/>
            <a:ext cx="4424951" cy="2178936"/>
          </a:xfrm>
          <a:prstGeom prst="roundRect">
            <a:avLst/>
          </a:prstGeom>
          <a:noFill/>
          <a:ln w="19050">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91" name="Rectangle 90"/>
          <p:cNvSpPr/>
          <p:nvPr/>
        </p:nvSpPr>
        <p:spPr>
          <a:xfrm>
            <a:off x="8937523" y="2732336"/>
            <a:ext cx="1133645" cy="369332"/>
          </a:xfrm>
          <a:prstGeom prst="rect">
            <a:avLst/>
          </a:prstGeom>
        </p:spPr>
        <p:txBody>
          <a:bodyPr wrap="none">
            <a:spAutoFit/>
          </a:bodyPr>
          <a:lstStyle/>
          <a:p>
            <a:pPr algn="ctr"/>
            <a:r>
              <a:rPr lang="en-US" dirty="0" smtClean="0">
                <a:solidFill>
                  <a:schemeClr val="tx2">
                    <a:lumMod val="50000"/>
                    <a:lumOff val="50000"/>
                  </a:schemeClr>
                </a:solidFill>
                <a:latin typeface="Times New Roman" panose="02020603050405020304" pitchFamily="18" charset="0"/>
                <a:cs typeface="Times New Roman" panose="02020603050405020304" pitchFamily="18" charset="0"/>
              </a:rPr>
              <a:t>Drivetrain</a:t>
            </a:r>
            <a:endParaRPr lang="sv-SE" dirty="0">
              <a:solidFill>
                <a:schemeClr val="tx2">
                  <a:lumMod val="50000"/>
                  <a:lumOff val="50000"/>
                </a:schemeClr>
              </a:solidFill>
              <a:latin typeface="Times New Roman" panose="02020603050405020304" pitchFamily="18" charset="0"/>
              <a:cs typeface="Times New Roman" panose="02020603050405020304" pitchFamily="18" charset="0"/>
            </a:endParaRPr>
          </a:p>
        </p:txBody>
      </p:sp>
      <p:sp>
        <p:nvSpPr>
          <p:cNvPr id="97" name="Rounded Rectangle 96"/>
          <p:cNvSpPr/>
          <p:nvPr/>
        </p:nvSpPr>
        <p:spPr>
          <a:xfrm>
            <a:off x="-1846035" y="1542597"/>
            <a:ext cx="14925675" cy="4702175"/>
          </a:xfrm>
          <a:prstGeom prst="roundRect">
            <a:avLst/>
          </a:prstGeom>
          <a:noFill/>
          <a:ln w="19050">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cxnSp>
        <p:nvCxnSpPr>
          <p:cNvPr id="68" name="Straight Arrow Connector 67"/>
          <p:cNvCxnSpPr/>
          <p:nvPr/>
        </p:nvCxnSpPr>
        <p:spPr>
          <a:xfrm flipH="1">
            <a:off x="1404314" y="3573729"/>
            <a:ext cx="249" cy="307890"/>
          </a:xfrm>
          <a:prstGeom prst="straightConnector1">
            <a:avLst/>
          </a:prstGeom>
          <a:ln w="19050">
            <a:prstDash val="sysDot"/>
            <a:tailEnd type="non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4" idx="3"/>
            <a:endCxn id="77" idx="1"/>
          </p:cNvCxnSpPr>
          <p:nvPr/>
        </p:nvCxnSpPr>
        <p:spPr>
          <a:xfrm>
            <a:off x="375145" y="3195247"/>
            <a:ext cx="175464" cy="0"/>
          </a:xfrm>
          <a:prstGeom prst="straightConnector1">
            <a:avLst/>
          </a:prstGeom>
          <a:ln w="19050">
            <a:prstDash val="sysDot"/>
            <a:tailEnd type="non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a:off x="375145" y="4285865"/>
            <a:ext cx="175464" cy="0"/>
          </a:xfrm>
          <a:prstGeom prst="straightConnector1">
            <a:avLst/>
          </a:prstGeom>
          <a:ln w="19050">
            <a:prstDash val="sysDot"/>
            <a:tailEnd type="non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stCxn id="150" idx="2"/>
            <a:endCxn id="6" idx="1"/>
          </p:cNvCxnSpPr>
          <p:nvPr/>
        </p:nvCxnSpPr>
        <p:spPr>
          <a:xfrm>
            <a:off x="11300766" y="4411544"/>
            <a:ext cx="743" cy="1585661"/>
          </a:xfrm>
          <a:prstGeom prst="straightConnector1">
            <a:avLst/>
          </a:prstGeom>
          <a:ln w="76200">
            <a:tailEnd type="non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p:nvPr/>
        </p:nvCxnSpPr>
        <p:spPr>
          <a:xfrm>
            <a:off x="11300766" y="1754598"/>
            <a:ext cx="743" cy="1585661"/>
          </a:xfrm>
          <a:prstGeom prst="straightConnector1">
            <a:avLst/>
          </a:prstGeom>
          <a:ln w="76200">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flipV="1">
            <a:off x="6168582" y="3711005"/>
            <a:ext cx="1193771" cy="6997"/>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V="1">
            <a:off x="6167443" y="3981355"/>
            <a:ext cx="1193771" cy="6997"/>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2342684" y="4093138"/>
            <a:ext cx="1586469" cy="820"/>
          </a:xfrm>
          <a:prstGeom prst="straightConnector1">
            <a:avLst/>
          </a:prstGeom>
          <a:ln w="1905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8061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Can 69"/>
          <p:cNvSpPr/>
          <p:nvPr/>
        </p:nvSpPr>
        <p:spPr>
          <a:xfrm rot="5400000">
            <a:off x="1293151" y="6105694"/>
            <a:ext cx="123274" cy="389974"/>
          </a:xfrm>
          <a:prstGeom prst="can">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3" name="Rounded Rectangle 42"/>
          <p:cNvSpPr/>
          <p:nvPr/>
        </p:nvSpPr>
        <p:spPr>
          <a:xfrm>
            <a:off x="4944778" y="4292220"/>
            <a:ext cx="1909935" cy="1273974"/>
          </a:xfrm>
          <a:prstGeom prst="round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1200" b="1" dirty="0" smtClean="0">
              <a:solidFill>
                <a:schemeClr val="tx1"/>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b="1" dirty="0" err="1" smtClean="0">
                <a:solidFill>
                  <a:schemeClr val="tx1"/>
                </a:solidFill>
                <a:latin typeface="Times New Roman" panose="02020603050405020304" pitchFamily="18" charset="0"/>
                <a:cs typeface="Times New Roman" panose="02020603050405020304" pitchFamily="18" charset="0"/>
              </a:rPr>
              <a:t>SiC</a:t>
            </a:r>
            <a:r>
              <a:rPr lang="en-US" sz="1200" b="1" dirty="0" smtClean="0">
                <a:solidFill>
                  <a:schemeClr val="tx1"/>
                </a:solidFill>
                <a:latin typeface="Times New Roman" panose="02020603050405020304" pitchFamily="18" charset="0"/>
                <a:cs typeface="Times New Roman" panose="02020603050405020304" pitchFamily="18" charset="0"/>
              </a:rPr>
              <a:t> MOSFETs</a:t>
            </a:r>
          </a:p>
          <a:p>
            <a:pPr marL="171450" indent="-171450">
              <a:buFont typeface="Arial" panose="020B0604020202020204" pitchFamily="34" charset="0"/>
              <a:buChar char="•"/>
            </a:pPr>
            <a:r>
              <a:rPr lang="en-US" sz="1200" b="1" dirty="0" smtClean="0">
                <a:solidFill>
                  <a:schemeClr val="tx1"/>
                </a:solidFill>
                <a:latin typeface="Times New Roman" panose="02020603050405020304" pitchFamily="18" charset="0"/>
                <a:cs typeface="Times New Roman" panose="02020603050405020304" pitchFamily="18" charset="0"/>
              </a:rPr>
              <a:t>DC-link Capacitors</a:t>
            </a:r>
          </a:p>
          <a:p>
            <a:pPr marL="171450" indent="-171450">
              <a:buFont typeface="Arial" panose="020B0604020202020204" pitchFamily="34" charset="0"/>
              <a:buChar char="•"/>
            </a:pPr>
            <a:r>
              <a:rPr lang="en-US" sz="1200" b="1" dirty="0" smtClean="0">
                <a:solidFill>
                  <a:schemeClr val="tx1"/>
                </a:solidFill>
                <a:latin typeface="Times New Roman" panose="02020603050405020304" pitchFamily="18" charset="0"/>
                <a:cs typeface="Times New Roman" panose="02020603050405020304" pitchFamily="18" charset="0"/>
              </a:rPr>
              <a:t>Liquid-Cooled Plates</a:t>
            </a:r>
            <a:endParaRPr lang="sv-SE" sz="1200" b="1"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1116" b="28051"/>
          <a:stretch/>
        </p:blipFill>
        <p:spPr>
          <a:xfrm>
            <a:off x="1141337" y="-930399"/>
            <a:ext cx="10287000" cy="3486150"/>
          </a:xfrm>
          <a:prstGeom prst="rect">
            <a:avLst/>
          </a:prstGeom>
        </p:spPr>
      </p:pic>
      <p:sp>
        <p:nvSpPr>
          <p:cNvPr id="6" name="Rounded Rectangle 5"/>
          <p:cNvSpPr/>
          <p:nvPr/>
        </p:nvSpPr>
        <p:spPr>
          <a:xfrm>
            <a:off x="962229" y="3486150"/>
            <a:ext cx="3018822" cy="2611718"/>
          </a:xfrm>
          <a:prstGeom prst="roundRect">
            <a:avLst/>
          </a:prstGeom>
          <a:noFill/>
          <a:ln w="19050">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b="1" dirty="0"/>
          </a:p>
        </p:txBody>
      </p:sp>
      <p:sp>
        <p:nvSpPr>
          <p:cNvPr id="9" name="Rounded Rectangle 8"/>
          <p:cNvSpPr/>
          <p:nvPr/>
        </p:nvSpPr>
        <p:spPr>
          <a:xfrm>
            <a:off x="1105822" y="3854465"/>
            <a:ext cx="2614063" cy="1879250"/>
          </a:xfrm>
          <a:prstGeom prst="round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b="1" dirty="0">
              <a:solidFill>
                <a:schemeClr val="bg1"/>
              </a:solidFill>
              <a:latin typeface="Times New Roman" panose="02020603050405020304" pitchFamily="18" charset="0"/>
              <a:cs typeface="Times New Roman" panose="02020603050405020304" pitchFamily="18" charset="0"/>
            </a:endParaRPr>
          </a:p>
        </p:txBody>
      </p:sp>
      <p:sp>
        <p:nvSpPr>
          <p:cNvPr id="10" name="Rounded Rectangle 9"/>
          <p:cNvSpPr/>
          <p:nvPr/>
        </p:nvSpPr>
        <p:spPr>
          <a:xfrm>
            <a:off x="2460962" y="4130384"/>
            <a:ext cx="1140114" cy="510242"/>
          </a:xfrm>
          <a:prstGeom prst="roundRect">
            <a:avLst/>
          </a:prstGeom>
          <a:solidFill>
            <a:schemeClr val="accent6">
              <a:lumMod val="75000"/>
            </a:schemeClr>
          </a:solidFill>
          <a:ln>
            <a:solidFill>
              <a:srgbClr val="0000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Times New Roman" panose="02020603050405020304" pitchFamily="18" charset="0"/>
                <a:cs typeface="Times New Roman" panose="02020603050405020304" pitchFamily="18" charset="0"/>
              </a:rPr>
              <a:t>Battery </a:t>
            </a:r>
          </a:p>
          <a:p>
            <a:pPr algn="ctr"/>
            <a:r>
              <a:rPr lang="en-US" sz="1600" b="1" dirty="0" smtClean="0">
                <a:solidFill>
                  <a:schemeClr val="bg1"/>
                </a:solidFill>
                <a:latin typeface="Times New Roman" panose="02020603050405020304" pitchFamily="18" charset="0"/>
                <a:cs typeface="Times New Roman" panose="02020603050405020304" pitchFamily="18" charset="0"/>
              </a:rPr>
              <a:t>Modules</a:t>
            </a:r>
            <a:endParaRPr lang="sv-SE" sz="1600" b="1" dirty="0">
              <a:solidFill>
                <a:schemeClr val="bg1"/>
              </a:solidFill>
              <a:latin typeface="Times New Roman" panose="02020603050405020304" pitchFamily="18" charset="0"/>
              <a:cs typeface="Times New Roman" panose="02020603050405020304" pitchFamily="18" charset="0"/>
            </a:endParaRPr>
          </a:p>
        </p:txBody>
      </p:sp>
      <p:sp>
        <p:nvSpPr>
          <p:cNvPr id="13" name="Rounded Rectangle 12"/>
          <p:cNvSpPr/>
          <p:nvPr/>
        </p:nvSpPr>
        <p:spPr>
          <a:xfrm>
            <a:off x="1842796" y="5478594"/>
            <a:ext cx="1140114" cy="510242"/>
          </a:xfrm>
          <a:prstGeom prst="roundRect">
            <a:avLst/>
          </a:prstGeom>
          <a:solidFill>
            <a:schemeClr val="accent6">
              <a:lumMod val="7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Times New Roman" panose="02020603050405020304" pitchFamily="18" charset="0"/>
                <a:cs typeface="Times New Roman" panose="02020603050405020304" pitchFamily="18" charset="0"/>
              </a:rPr>
              <a:t>On Board </a:t>
            </a:r>
          </a:p>
          <a:p>
            <a:pPr algn="ctr"/>
            <a:r>
              <a:rPr lang="en-US" sz="1600" b="1" dirty="0" smtClean="0">
                <a:solidFill>
                  <a:schemeClr val="bg1"/>
                </a:solidFill>
                <a:latin typeface="Times New Roman" panose="02020603050405020304" pitchFamily="18" charset="0"/>
                <a:cs typeface="Times New Roman" panose="02020603050405020304" pitchFamily="18" charset="0"/>
              </a:rPr>
              <a:t>Charger</a:t>
            </a:r>
            <a:endParaRPr lang="sv-SE" sz="1600" b="1" dirty="0">
              <a:solidFill>
                <a:schemeClr val="bg1"/>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1733884" y="3801239"/>
            <a:ext cx="1330814" cy="338554"/>
          </a:xfrm>
          <a:prstGeom prst="rect">
            <a:avLst/>
          </a:prstGeom>
        </p:spPr>
        <p:txBody>
          <a:bodyPr wrap="none">
            <a:spAutoFit/>
          </a:bodyPr>
          <a:lstStyle/>
          <a:p>
            <a:pPr algn="ctr"/>
            <a:r>
              <a:rPr lang="en-US" sz="1600" b="1" dirty="0">
                <a:latin typeface="Times New Roman" panose="02020603050405020304" pitchFamily="18" charset="0"/>
                <a:cs typeface="Times New Roman" panose="02020603050405020304" pitchFamily="18" charset="0"/>
              </a:rPr>
              <a:t>Battery Pack</a:t>
            </a:r>
            <a:endParaRPr lang="sv-SE" sz="1600" b="1" dirty="0">
              <a:latin typeface="Times New Roman" panose="02020603050405020304" pitchFamily="18" charset="0"/>
              <a:cs typeface="Times New Roman" panose="02020603050405020304" pitchFamily="18" charset="0"/>
            </a:endParaRPr>
          </a:p>
        </p:txBody>
      </p:sp>
      <p:sp>
        <p:nvSpPr>
          <p:cNvPr id="15" name="Rectangle 14"/>
          <p:cNvSpPr/>
          <p:nvPr/>
        </p:nvSpPr>
        <p:spPr>
          <a:xfrm>
            <a:off x="1185636" y="3469957"/>
            <a:ext cx="2653291" cy="338554"/>
          </a:xfrm>
          <a:prstGeom prst="rect">
            <a:avLst/>
          </a:prstGeom>
        </p:spPr>
        <p:txBody>
          <a:bodyPr wrap="none">
            <a:spAutoFit/>
          </a:bodyPr>
          <a:lstStyle/>
          <a:p>
            <a:pPr algn="ctr"/>
            <a:r>
              <a:rPr lang="en-US" sz="1600" b="1" dirty="0" smtClean="0">
                <a:solidFill>
                  <a:srgbClr val="00009A"/>
                </a:solidFill>
                <a:latin typeface="Times New Roman" panose="02020603050405020304" pitchFamily="18" charset="0"/>
                <a:cs typeface="Times New Roman" panose="02020603050405020304" pitchFamily="18" charset="0"/>
              </a:rPr>
              <a:t>Energy Storage &amp; Charging</a:t>
            </a:r>
            <a:endParaRPr lang="sv-SE" sz="1600" b="1" dirty="0">
              <a:solidFill>
                <a:srgbClr val="00009A"/>
              </a:solidFill>
              <a:latin typeface="Times New Roman" panose="02020603050405020304" pitchFamily="18" charset="0"/>
              <a:cs typeface="Times New Roman" panose="02020603050405020304" pitchFamily="18" charset="0"/>
            </a:endParaRPr>
          </a:p>
        </p:txBody>
      </p:sp>
      <p:sp>
        <p:nvSpPr>
          <p:cNvPr id="16" name="Rounded Rectangle 15"/>
          <p:cNvSpPr/>
          <p:nvPr/>
        </p:nvSpPr>
        <p:spPr>
          <a:xfrm>
            <a:off x="4841640" y="3854465"/>
            <a:ext cx="2137804" cy="1817692"/>
          </a:xfrm>
          <a:prstGeom prst="roundRect">
            <a:avLst/>
          </a:prstGeom>
          <a:noFill/>
          <a:ln w="19050">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b="1" dirty="0"/>
          </a:p>
        </p:txBody>
      </p:sp>
      <p:cxnSp>
        <p:nvCxnSpPr>
          <p:cNvPr id="19" name="Straight Arrow Connector 18"/>
          <p:cNvCxnSpPr>
            <a:endCxn id="16" idx="1"/>
          </p:cNvCxnSpPr>
          <p:nvPr/>
        </p:nvCxnSpPr>
        <p:spPr>
          <a:xfrm flipV="1">
            <a:off x="4017678" y="4763311"/>
            <a:ext cx="823962" cy="5310"/>
          </a:xfrm>
          <a:prstGeom prst="straightConnector1">
            <a:avLst/>
          </a:prstGeom>
          <a:ln w="76200">
            <a:solidFill>
              <a:schemeClr val="accent6">
                <a:lumMod val="75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3981051" y="4249417"/>
            <a:ext cx="927100" cy="430887"/>
          </a:xfrm>
          <a:prstGeom prst="rect">
            <a:avLst/>
          </a:prstGeom>
        </p:spPr>
        <p:txBody>
          <a:bodyPr wrap="square">
            <a:spAutoFit/>
          </a:bodyPr>
          <a:lstStyle/>
          <a:p>
            <a:pPr algn="ctr"/>
            <a:r>
              <a:rPr lang="en-US" sz="1100" b="1" dirty="0" smtClean="0">
                <a:latin typeface="Times New Roman" panose="02020603050405020304" pitchFamily="18" charset="0"/>
                <a:cs typeface="Times New Roman" panose="02020603050405020304" pitchFamily="18" charset="0"/>
              </a:rPr>
              <a:t>DC-link</a:t>
            </a:r>
          </a:p>
          <a:p>
            <a:pPr algn="ctr"/>
            <a:r>
              <a:rPr lang="en-US" sz="1100" b="1" dirty="0" smtClean="0">
                <a:latin typeface="Times New Roman" panose="02020603050405020304" pitchFamily="18" charset="0"/>
                <a:cs typeface="Times New Roman" panose="02020603050405020304" pitchFamily="18" charset="0"/>
              </a:rPr>
              <a:t>800V/1200V</a:t>
            </a:r>
            <a:endParaRPr lang="sv-SE" sz="1100" b="1" dirty="0">
              <a:latin typeface="Times New Roman" panose="02020603050405020304" pitchFamily="18" charset="0"/>
              <a:cs typeface="Times New Roman" panose="02020603050405020304" pitchFamily="18" charset="0"/>
            </a:endParaRPr>
          </a:p>
        </p:txBody>
      </p:sp>
      <p:sp>
        <p:nvSpPr>
          <p:cNvPr id="39" name="Rounded Rectangle 38"/>
          <p:cNvSpPr/>
          <p:nvPr/>
        </p:nvSpPr>
        <p:spPr>
          <a:xfrm>
            <a:off x="1163827" y="4171133"/>
            <a:ext cx="1140114" cy="510242"/>
          </a:xfrm>
          <a:prstGeom prst="roundRect">
            <a:avLst/>
          </a:prstGeom>
          <a:solidFill>
            <a:schemeClr val="accent6">
              <a:lumMod val="75000"/>
            </a:schemeClr>
          </a:solidFill>
          <a:ln>
            <a:solidFill>
              <a:srgbClr val="0000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Times New Roman" panose="02020603050405020304" pitchFamily="18" charset="0"/>
                <a:cs typeface="Times New Roman" panose="02020603050405020304" pitchFamily="18" charset="0"/>
              </a:rPr>
              <a:t>Battery </a:t>
            </a:r>
          </a:p>
          <a:p>
            <a:pPr algn="ctr"/>
            <a:r>
              <a:rPr lang="en-US" sz="1600" b="1" dirty="0" smtClean="0">
                <a:solidFill>
                  <a:schemeClr val="bg1"/>
                </a:solidFill>
                <a:latin typeface="Times New Roman" panose="02020603050405020304" pitchFamily="18" charset="0"/>
                <a:cs typeface="Times New Roman" panose="02020603050405020304" pitchFamily="18" charset="0"/>
              </a:rPr>
              <a:t>Modules</a:t>
            </a:r>
            <a:endParaRPr lang="sv-SE" sz="1600" b="1" dirty="0">
              <a:solidFill>
                <a:schemeClr val="bg1"/>
              </a:solidFill>
              <a:latin typeface="Times New Roman" panose="02020603050405020304" pitchFamily="18" charset="0"/>
              <a:cs typeface="Times New Roman" panose="02020603050405020304" pitchFamily="18" charset="0"/>
            </a:endParaRPr>
          </a:p>
        </p:txBody>
      </p:sp>
      <p:sp>
        <p:nvSpPr>
          <p:cNvPr id="40" name="Rounded Rectangle 39"/>
          <p:cNvSpPr/>
          <p:nvPr/>
        </p:nvSpPr>
        <p:spPr>
          <a:xfrm>
            <a:off x="2506194" y="4862966"/>
            <a:ext cx="1140114" cy="510242"/>
          </a:xfrm>
          <a:prstGeom prst="roundRect">
            <a:avLst/>
          </a:prstGeom>
          <a:solidFill>
            <a:schemeClr val="accent6">
              <a:lumMod val="75000"/>
            </a:schemeClr>
          </a:solidFill>
          <a:ln>
            <a:solidFill>
              <a:srgbClr val="0000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Times New Roman" panose="02020603050405020304" pitchFamily="18" charset="0"/>
                <a:cs typeface="Times New Roman" panose="02020603050405020304" pitchFamily="18" charset="0"/>
              </a:rPr>
              <a:t>Battery </a:t>
            </a:r>
          </a:p>
          <a:p>
            <a:pPr algn="ctr"/>
            <a:r>
              <a:rPr lang="en-US" sz="1600" b="1" dirty="0" smtClean="0">
                <a:solidFill>
                  <a:schemeClr val="bg1"/>
                </a:solidFill>
                <a:latin typeface="Times New Roman" panose="02020603050405020304" pitchFamily="18" charset="0"/>
                <a:cs typeface="Times New Roman" panose="02020603050405020304" pitchFamily="18" charset="0"/>
              </a:rPr>
              <a:t>Modules</a:t>
            </a:r>
            <a:endParaRPr lang="sv-SE" sz="1600" b="1" dirty="0">
              <a:solidFill>
                <a:schemeClr val="bg1"/>
              </a:solidFill>
              <a:latin typeface="Times New Roman" panose="02020603050405020304" pitchFamily="18" charset="0"/>
              <a:cs typeface="Times New Roman" panose="02020603050405020304" pitchFamily="18" charset="0"/>
            </a:endParaRPr>
          </a:p>
        </p:txBody>
      </p:sp>
      <p:sp>
        <p:nvSpPr>
          <p:cNvPr id="41" name="Rounded Rectangle 40"/>
          <p:cNvSpPr/>
          <p:nvPr/>
        </p:nvSpPr>
        <p:spPr>
          <a:xfrm>
            <a:off x="1163827" y="4875553"/>
            <a:ext cx="1140114" cy="510242"/>
          </a:xfrm>
          <a:prstGeom prst="roundRect">
            <a:avLst/>
          </a:prstGeom>
          <a:solidFill>
            <a:schemeClr val="accent6">
              <a:lumMod val="75000"/>
            </a:schemeClr>
          </a:solidFill>
          <a:ln>
            <a:solidFill>
              <a:srgbClr val="0000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Times New Roman" panose="02020603050405020304" pitchFamily="18" charset="0"/>
                <a:cs typeface="Times New Roman" panose="02020603050405020304" pitchFamily="18" charset="0"/>
              </a:rPr>
              <a:t>Battery </a:t>
            </a:r>
          </a:p>
          <a:p>
            <a:pPr algn="ctr"/>
            <a:r>
              <a:rPr lang="en-US" sz="1600" b="1" dirty="0" smtClean="0">
                <a:solidFill>
                  <a:schemeClr val="bg1"/>
                </a:solidFill>
                <a:latin typeface="Times New Roman" panose="02020603050405020304" pitchFamily="18" charset="0"/>
                <a:cs typeface="Times New Roman" panose="02020603050405020304" pitchFamily="18" charset="0"/>
              </a:rPr>
              <a:t>Modules</a:t>
            </a:r>
            <a:endParaRPr lang="sv-SE" sz="1600" b="1" dirty="0">
              <a:solidFill>
                <a:schemeClr val="bg1"/>
              </a:solidFill>
              <a:latin typeface="Times New Roman" panose="02020603050405020304" pitchFamily="18" charset="0"/>
              <a:cs typeface="Times New Roman" panose="02020603050405020304" pitchFamily="18" charset="0"/>
            </a:endParaRPr>
          </a:p>
        </p:txBody>
      </p:sp>
      <p:sp>
        <p:nvSpPr>
          <p:cNvPr id="42" name="Rounded Rectangle 41"/>
          <p:cNvSpPr/>
          <p:nvPr/>
        </p:nvSpPr>
        <p:spPr>
          <a:xfrm>
            <a:off x="4951167" y="4170062"/>
            <a:ext cx="1903546" cy="510242"/>
          </a:xfrm>
          <a:prstGeom prst="roundRect">
            <a:avLst/>
          </a:prstGeom>
          <a:solidFill>
            <a:schemeClr val="accent6">
              <a:lumMod val="75000"/>
            </a:schemeClr>
          </a:solidFill>
          <a:ln>
            <a:solidFill>
              <a:srgbClr val="0000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Times New Roman" panose="02020603050405020304" pitchFamily="18" charset="0"/>
                <a:cs typeface="Times New Roman" panose="02020603050405020304" pitchFamily="18" charset="0"/>
              </a:rPr>
              <a:t>Traction Inverter</a:t>
            </a:r>
            <a:endParaRPr lang="sv-SE" sz="1600" b="1" dirty="0">
              <a:solidFill>
                <a:schemeClr val="bg1"/>
              </a:solidFill>
              <a:latin typeface="Times New Roman" panose="02020603050405020304" pitchFamily="18" charset="0"/>
              <a:cs typeface="Times New Roman" panose="02020603050405020304" pitchFamily="18" charset="0"/>
            </a:endParaRPr>
          </a:p>
        </p:txBody>
      </p:sp>
      <p:cxnSp>
        <p:nvCxnSpPr>
          <p:cNvPr id="44" name="Straight Arrow Connector 43"/>
          <p:cNvCxnSpPr/>
          <p:nvPr/>
        </p:nvCxnSpPr>
        <p:spPr>
          <a:xfrm>
            <a:off x="6977605" y="4763737"/>
            <a:ext cx="765079" cy="4884"/>
          </a:xfrm>
          <a:prstGeom prst="straightConnector1">
            <a:avLst/>
          </a:prstGeom>
          <a:ln w="76200">
            <a:solidFill>
              <a:schemeClr val="accent6">
                <a:lumMod val="75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6865034" y="4255865"/>
            <a:ext cx="927100" cy="430887"/>
          </a:xfrm>
          <a:prstGeom prst="rect">
            <a:avLst/>
          </a:prstGeom>
        </p:spPr>
        <p:txBody>
          <a:bodyPr wrap="square">
            <a:spAutoFit/>
          </a:bodyPr>
          <a:lstStyle/>
          <a:p>
            <a:pPr algn="ctr"/>
            <a:r>
              <a:rPr lang="en-US" sz="1100" b="1" dirty="0" smtClean="0">
                <a:latin typeface="Times New Roman" panose="02020603050405020304" pitchFamily="18" charset="0"/>
                <a:cs typeface="Times New Roman" panose="02020603050405020304" pitchFamily="18" charset="0"/>
              </a:rPr>
              <a:t>3-Phase</a:t>
            </a:r>
          </a:p>
          <a:p>
            <a:pPr algn="ctr"/>
            <a:r>
              <a:rPr lang="en-US" sz="1100" b="1" dirty="0" smtClean="0">
                <a:latin typeface="Times New Roman" panose="02020603050405020304" pitchFamily="18" charset="0"/>
                <a:cs typeface="Times New Roman" panose="02020603050405020304" pitchFamily="18" charset="0"/>
              </a:rPr>
              <a:t>AC</a:t>
            </a:r>
            <a:endParaRPr lang="sv-SE" sz="1100" b="1" dirty="0">
              <a:latin typeface="Times New Roman" panose="02020603050405020304" pitchFamily="18" charset="0"/>
              <a:cs typeface="Times New Roman" panose="02020603050405020304" pitchFamily="18" charset="0"/>
            </a:endParaRPr>
          </a:p>
        </p:txBody>
      </p:sp>
      <p:sp>
        <p:nvSpPr>
          <p:cNvPr id="47" name="Rounded Rectangle 46"/>
          <p:cNvSpPr/>
          <p:nvPr/>
        </p:nvSpPr>
        <p:spPr>
          <a:xfrm>
            <a:off x="7742684" y="3893973"/>
            <a:ext cx="3639691" cy="1708983"/>
          </a:xfrm>
          <a:prstGeom prst="roundRect">
            <a:avLst/>
          </a:prstGeom>
          <a:noFill/>
          <a:ln w="19050">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b="1" dirty="0"/>
          </a:p>
        </p:txBody>
      </p:sp>
      <p:sp>
        <p:nvSpPr>
          <p:cNvPr id="48" name="Oval 47"/>
          <p:cNvSpPr/>
          <p:nvPr/>
        </p:nvSpPr>
        <p:spPr>
          <a:xfrm>
            <a:off x="7805678" y="4323074"/>
            <a:ext cx="989856" cy="914482"/>
          </a:xfrm>
          <a:prstGeom prst="ellipse">
            <a:avLst/>
          </a:prstGeom>
          <a:solidFill>
            <a:schemeClr val="accent6">
              <a:lumMod val="75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1"/>
                </a:solidFill>
                <a:latin typeface="Times New Roman" panose="02020603050405020304" pitchFamily="18" charset="0"/>
                <a:cs typeface="Times New Roman" panose="02020603050405020304" pitchFamily="18" charset="0"/>
              </a:rPr>
              <a:t>Motor</a:t>
            </a:r>
            <a:endParaRPr lang="sv-SE" sz="1600" dirty="0">
              <a:solidFill>
                <a:schemeClr val="bg1"/>
              </a:solidFill>
              <a:latin typeface="Times New Roman" panose="02020603050405020304" pitchFamily="18" charset="0"/>
              <a:cs typeface="Times New Roman" panose="02020603050405020304" pitchFamily="18" charset="0"/>
            </a:endParaRPr>
          </a:p>
        </p:txBody>
      </p:sp>
      <p:cxnSp>
        <p:nvCxnSpPr>
          <p:cNvPr id="49" name="Straight Arrow Connector 48"/>
          <p:cNvCxnSpPr/>
          <p:nvPr/>
        </p:nvCxnSpPr>
        <p:spPr>
          <a:xfrm flipV="1">
            <a:off x="8795534" y="4753349"/>
            <a:ext cx="418377" cy="7830"/>
          </a:xfrm>
          <a:prstGeom prst="straightConnector1">
            <a:avLst/>
          </a:prstGeom>
          <a:ln w="76200">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sp>
        <p:nvSpPr>
          <p:cNvPr id="52" name="Rounded Rectangle 51"/>
          <p:cNvSpPr/>
          <p:nvPr/>
        </p:nvSpPr>
        <p:spPr>
          <a:xfrm>
            <a:off x="9222189" y="4502143"/>
            <a:ext cx="1140114" cy="510242"/>
          </a:xfrm>
          <a:prstGeom prst="roundRect">
            <a:avLst/>
          </a:prstGeom>
          <a:solidFill>
            <a:schemeClr val="accent6">
              <a:lumMod val="75000"/>
            </a:schemeClr>
          </a:solidFill>
          <a:ln>
            <a:solidFill>
              <a:srgbClr val="0000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Times New Roman" panose="02020603050405020304" pitchFamily="18" charset="0"/>
                <a:cs typeface="Times New Roman" panose="02020603050405020304" pitchFamily="18" charset="0"/>
              </a:rPr>
              <a:t>Gear Box</a:t>
            </a:r>
            <a:endParaRPr lang="sv-SE" sz="1600" b="1" dirty="0">
              <a:solidFill>
                <a:schemeClr val="bg1"/>
              </a:solidFill>
              <a:latin typeface="Times New Roman" panose="02020603050405020304" pitchFamily="18" charset="0"/>
              <a:cs typeface="Times New Roman" panose="02020603050405020304" pitchFamily="18" charset="0"/>
            </a:endParaRPr>
          </a:p>
        </p:txBody>
      </p:sp>
      <p:cxnSp>
        <p:nvCxnSpPr>
          <p:cNvPr id="54" name="Straight Arrow Connector 53"/>
          <p:cNvCxnSpPr/>
          <p:nvPr/>
        </p:nvCxnSpPr>
        <p:spPr>
          <a:xfrm flipV="1">
            <a:off x="10362303" y="4738315"/>
            <a:ext cx="418377" cy="7830"/>
          </a:xfrm>
          <a:prstGeom prst="straightConnector1">
            <a:avLst/>
          </a:prstGeom>
          <a:ln w="76200">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8599950" y="4183979"/>
            <a:ext cx="710786" cy="430887"/>
          </a:xfrm>
          <a:prstGeom prst="rect">
            <a:avLst/>
          </a:prstGeom>
        </p:spPr>
        <p:txBody>
          <a:bodyPr wrap="square">
            <a:spAutoFit/>
          </a:bodyPr>
          <a:lstStyle/>
          <a:p>
            <a:pPr algn="ctr"/>
            <a:r>
              <a:rPr lang="en-US" sz="1100" b="1" dirty="0" smtClean="0">
                <a:latin typeface="Times New Roman" panose="02020603050405020304" pitchFamily="18" charset="0"/>
                <a:cs typeface="Times New Roman" panose="02020603050405020304" pitchFamily="18" charset="0"/>
              </a:rPr>
              <a:t>Shaft </a:t>
            </a:r>
          </a:p>
          <a:p>
            <a:pPr algn="ctr"/>
            <a:r>
              <a:rPr lang="en-US" sz="1100" b="1" dirty="0" smtClean="0">
                <a:latin typeface="Times New Roman" panose="02020603050405020304" pitchFamily="18" charset="0"/>
                <a:cs typeface="Times New Roman" panose="02020603050405020304" pitchFamily="18" charset="0"/>
              </a:rPr>
              <a:t>Power</a:t>
            </a:r>
            <a:endParaRPr lang="sv-SE" sz="1100" b="1" dirty="0">
              <a:latin typeface="Times New Roman" panose="02020603050405020304" pitchFamily="18" charset="0"/>
              <a:cs typeface="Times New Roman" panose="02020603050405020304" pitchFamily="18" charset="0"/>
            </a:endParaRPr>
          </a:p>
        </p:txBody>
      </p:sp>
      <p:sp>
        <p:nvSpPr>
          <p:cNvPr id="56" name="Rectangle 55"/>
          <p:cNvSpPr/>
          <p:nvPr/>
        </p:nvSpPr>
        <p:spPr>
          <a:xfrm>
            <a:off x="10073976" y="4200351"/>
            <a:ext cx="927100" cy="430887"/>
          </a:xfrm>
          <a:prstGeom prst="rect">
            <a:avLst/>
          </a:prstGeom>
        </p:spPr>
        <p:txBody>
          <a:bodyPr wrap="square">
            <a:spAutoFit/>
          </a:bodyPr>
          <a:lstStyle/>
          <a:p>
            <a:pPr algn="ctr"/>
            <a:r>
              <a:rPr lang="en-US" sz="1100" b="1" dirty="0" smtClean="0">
                <a:latin typeface="Times New Roman" panose="02020603050405020304" pitchFamily="18" charset="0"/>
                <a:cs typeface="Times New Roman" panose="02020603050405020304" pitchFamily="18" charset="0"/>
              </a:rPr>
              <a:t>Driven</a:t>
            </a:r>
          </a:p>
          <a:p>
            <a:pPr algn="ctr"/>
            <a:r>
              <a:rPr lang="en-US" sz="1100" b="1" dirty="0" smtClean="0">
                <a:latin typeface="Times New Roman" panose="02020603050405020304" pitchFamily="18" charset="0"/>
                <a:cs typeface="Times New Roman" panose="02020603050405020304" pitchFamily="18" charset="0"/>
              </a:rPr>
              <a:t>Axle</a:t>
            </a:r>
            <a:endParaRPr lang="sv-SE" sz="1100" b="1" dirty="0">
              <a:latin typeface="Times New Roman" panose="02020603050405020304" pitchFamily="18" charset="0"/>
              <a:cs typeface="Times New Roman" panose="02020603050405020304" pitchFamily="18" charset="0"/>
            </a:endParaRPr>
          </a:p>
        </p:txBody>
      </p:sp>
      <p:sp>
        <p:nvSpPr>
          <p:cNvPr id="58" name="Rectangle 57"/>
          <p:cNvSpPr/>
          <p:nvPr/>
        </p:nvSpPr>
        <p:spPr>
          <a:xfrm>
            <a:off x="5055047" y="3816389"/>
            <a:ext cx="1769010" cy="338554"/>
          </a:xfrm>
          <a:prstGeom prst="rect">
            <a:avLst/>
          </a:prstGeom>
        </p:spPr>
        <p:txBody>
          <a:bodyPr wrap="none">
            <a:spAutoFit/>
          </a:bodyPr>
          <a:lstStyle/>
          <a:p>
            <a:pPr algn="ctr"/>
            <a:r>
              <a:rPr lang="en-US" sz="1600" b="1" dirty="0" smtClean="0">
                <a:solidFill>
                  <a:srgbClr val="00009A"/>
                </a:solidFill>
                <a:latin typeface="Times New Roman" panose="02020603050405020304" pitchFamily="18" charset="0"/>
                <a:cs typeface="Times New Roman" panose="02020603050405020304" pitchFamily="18" charset="0"/>
              </a:rPr>
              <a:t>Power Electronics</a:t>
            </a:r>
            <a:endParaRPr lang="sv-SE" sz="1600" b="1" dirty="0">
              <a:solidFill>
                <a:srgbClr val="00009A"/>
              </a:solidFill>
              <a:latin typeface="Times New Roman" panose="02020603050405020304" pitchFamily="18" charset="0"/>
              <a:cs typeface="Times New Roman" panose="02020603050405020304" pitchFamily="18" charset="0"/>
            </a:endParaRPr>
          </a:p>
        </p:txBody>
      </p:sp>
      <p:sp>
        <p:nvSpPr>
          <p:cNvPr id="59" name="Rectangle 58"/>
          <p:cNvSpPr/>
          <p:nvPr/>
        </p:nvSpPr>
        <p:spPr>
          <a:xfrm>
            <a:off x="9062721" y="3878168"/>
            <a:ext cx="1109599" cy="338554"/>
          </a:xfrm>
          <a:prstGeom prst="rect">
            <a:avLst/>
          </a:prstGeom>
        </p:spPr>
        <p:txBody>
          <a:bodyPr wrap="none">
            <a:spAutoFit/>
          </a:bodyPr>
          <a:lstStyle/>
          <a:p>
            <a:pPr algn="ctr"/>
            <a:r>
              <a:rPr lang="en-US" sz="1600" b="1" dirty="0" smtClean="0">
                <a:solidFill>
                  <a:srgbClr val="00009A"/>
                </a:solidFill>
                <a:latin typeface="Times New Roman" panose="02020603050405020304" pitchFamily="18" charset="0"/>
                <a:cs typeface="Times New Roman" panose="02020603050405020304" pitchFamily="18" charset="0"/>
              </a:rPr>
              <a:t>Drivetrain</a:t>
            </a:r>
            <a:endParaRPr lang="sv-SE" sz="1600" b="1" dirty="0">
              <a:solidFill>
                <a:srgbClr val="00009A"/>
              </a:solidFill>
              <a:latin typeface="Times New Roman" panose="02020603050405020304" pitchFamily="18" charset="0"/>
              <a:cs typeface="Times New Roman" panose="02020603050405020304" pitchFamily="18" charset="0"/>
            </a:endParaRPr>
          </a:p>
        </p:txBody>
      </p:sp>
      <p:sp>
        <p:nvSpPr>
          <p:cNvPr id="66" name="Rounded Rectangle 65"/>
          <p:cNvSpPr/>
          <p:nvPr/>
        </p:nvSpPr>
        <p:spPr>
          <a:xfrm>
            <a:off x="1627440" y="6160104"/>
            <a:ext cx="467639" cy="299303"/>
          </a:xfrm>
          <a:prstGeom prst="roundRect">
            <a:avLst/>
          </a:prstGeom>
          <a:solidFill>
            <a:schemeClr val="accent6">
              <a:lumMod val="7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b="1" dirty="0">
              <a:solidFill>
                <a:schemeClr val="bg1"/>
              </a:solidFill>
              <a:latin typeface="Times New Roman" panose="02020603050405020304" pitchFamily="18" charset="0"/>
              <a:cs typeface="Times New Roman" panose="02020603050405020304" pitchFamily="18" charset="0"/>
            </a:endParaRPr>
          </a:p>
        </p:txBody>
      </p:sp>
      <p:sp>
        <p:nvSpPr>
          <p:cNvPr id="67" name="Rounded Rectangle 66"/>
          <p:cNvSpPr/>
          <p:nvPr/>
        </p:nvSpPr>
        <p:spPr>
          <a:xfrm>
            <a:off x="1515959" y="6190548"/>
            <a:ext cx="111481" cy="222230"/>
          </a:xfrm>
          <a:prstGeom prst="roundRect">
            <a:avLst/>
          </a:prstGeom>
          <a:solidFill>
            <a:schemeClr val="accent6">
              <a:lumMod val="7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b="1" dirty="0">
              <a:solidFill>
                <a:schemeClr val="bg1"/>
              </a:solidFill>
              <a:latin typeface="Times New Roman" panose="02020603050405020304" pitchFamily="18" charset="0"/>
              <a:cs typeface="Times New Roman" panose="02020603050405020304" pitchFamily="18" charset="0"/>
            </a:endParaRPr>
          </a:p>
        </p:txBody>
      </p:sp>
      <p:sp>
        <p:nvSpPr>
          <p:cNvPr id="69" name="Rounded Rectangle 68"/>
          <p:cNvSpPr/>
          <p:nvPr/>
        </p:nvSpPr>
        <p:spPr>
          <a:xfrm>
            <a:off x="2095079" y="6198640"/>
            <a:ext cx="111481" cy="222230"/>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b="1" dirty="0">
              <a:solidFill>
                <a:schemeClr val="bg1"/>
              </a:solidFill>
              <a:latin typeface="Times New Roman" panose="02020603050405020304" pitchFamily="18" charset="0"/>
              <a:cs typeface="Times New Roman" panose="02020603050405020304" pitchFamily="18" charset="0"/>
            </a:endParaRPr>
          </a:p>
        </p:txBody>
      </p:sp>
      <p:cxnSp>
        <p:nvCxnSpPr>
          <p:cNvPr id="71" name="Straight Arrow Connector 70"/>
          <p:cNvCxnSpPr/>
          <p:nvPr/>
        </p:nvCxnSpPr>
        <p:spPr>
          <a:xfrm flipH="1" flipV="1">
            <a:off x="2403464" y="6017328"/>
            <a:ext cx="5052" cy="395450"/>
          </a:xfrm>
          <a:prstGeom prst="straightConnector1">
            <a:avLst/>
          </a:prstGeom>
          <a:ln w="76200">
            <a:solidFill>
              <a:schemeClr val="accent6">
                <a:lumMod val="75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2219684" y="6160104"/>
            <a:ext cx="1526451" cy="261610"/>
          </a:xfrm>
          <a:prstGeom prst="rect">
            <a:avLst/>
          </a:prstGeom>
        </p:spPr>
        <p:txBody>
          <a:bodyPr wrap="square">
            <a:spAutoFit/>
          </a:bodyPr>
          <a:lstStyle/>
          <a:p>
            <a:pPr algn="ctr"/>
            <a:r>
              <a:rPr lang="en-US" sz="1100" b="1" dirty="0" smtClean="0">
                <a:latin typeface="Times New Roman" panose="02020603050405020304" pitchFamily="18" charset="0"/>
                <a:cs typeface="Times New Roman" panose="02020603050405020304" pitchFamily="18" charset="0"/>
              </a:rPr>
              <a:t>Charging Plug</a:t>
            </a:r>
            <a:endParaRPr lang="sv-SE" sz="1100" b="1" dirty="0">
              <a:latin typeface="Times New Roman" panose="02020603050405020304" pitchFamily="18" charset="0"/>
              <a:cs typeface="Times New Roman" panose="02020603050405020304" pitchFamily="18" charset="0"/>
            </a:endParaRPr>
          </a:p>
        </p:txBody>
      </p:sp>
      <p:sp>
        <p:nvSpPr>
          <p:cNvPr id="76" name="Freeform 75"/>
          <p:cNvSpPr/>
          <p:nvPr/>
        </p:nvSpPr>
        <p:spPr>
          <a:xfrm>
            <a:off x="396510" y="5920901"/>
            <a:ext cx="777647" cy="386290"/>
          </a:xfrm>
          <a:custGeom>
            <a:avLst/>
            <a:gdLst>
              <a:gd name="connsiteX0" fmla="*/ 838200 w 838200"/>
              <a:gd name="connsiteY0" fmla="*/ 508000 h 508000"/>
              <a:gd name="connsiteX1" fmla="*/ 241300 w 838200"/>
              <a:gd name="connsiteY1" fmla="*/ 330200 h 508000"/>
              <a:gd name="connsiteX2" fmla="*/ 0 w 838200"/>
              <a:gd name="connsiteY2" fmla="*/ 0 h 508000"/>
              <a:gd name="connsiteX0" fmla="*/ 793569 w 793569"/>
              <a:gd name="connsiteY0" fmla="*/ 482856 h 482856"/>
              <a:gd name="connsiteX1" fmla="*/ 241300 w 793569"/>
              <a:gd name="connsiteY1" fmla="*/ 330200 h 482856"/>
              <a:gd name="connsiteX2" fmla="*/ 0 w 793569"/>
              <a:gd name="connsiteY2" fmla="*/ 0 h 482856"/>
              <a:gd name="connsiteX0" fmla="*/ 793569 w 793569"/>
              <a:gd name="connsiteY0" fmla="*/ 482856 h 482987"/>
              <a:gd name="connsiteX1" fmla="*/ 241300 w 793569"/>
              <a:gd name="connsiteY1" fmla="*/ 330200 h 482987"/>
              <a:gd name="connsiteX2" fmla="*/ 0 w 793569"/>
              <a:gd name="connsiteY2" fmla="*/ 0 h 482987"/>
              <a:gd name="connsiteX0" fmla="*/ 812697 w 812697"/>
              <a:gd name="connsiteY0" fmla="*/ 313137 h 313234"/>
              <a:gd name="connsiteX1" fmla="*/ 260428 w 812697"/>
              <a:gd name="connsiteY1" fmla="*/ 160481 h 313234"/>
              <a:gd name="connsiteX2" fmla="*/ 0 w 812697"/>
              <a:gd name="connsiteY2" fmla="*/ 0 h 313234"/>
              <a:gd name="connsiteX0" fmla="*/ 793569 w 793569"/>
              <a:gd name="connsiteY0" fmla="*/ 382282 h 382390"/>
              <a:gd name="connsiteX1" fmla="*/ 241300 w 793569"/>
              <a:gd name="connsiteY1" fmla="*/ 229626 h 382390"/>
              <a:gd name="connsiteX2" fmla="*/ 0 w 793569"/>
              <a:gd name="connsiteY2" fmla="*/ 0 h 382390"/>
              <a:gd name="connsiteX0" fmla="*/ 780817 w 780817"/>
              <a:gd name="connsiteY0" fmla="*/ 382282 h 382390"/>
              <a:gd name="connsiteX1" fmla="*/ 228548 w 780817"/>
              <a:gd name="connsiteY1" fmla="*/ 229626 h 382390"/>
              <a:gd name="connsiteX2" fmla="*/ 0 w 780817"/>
              <a:gd name="connsiteY2" fmla="*/ 0 h 382390"/>
              <a:gd name="connsiteX0" fmla="*/ 780817 w 780817"/>
              <a:gd name="connsiteY0" fmla="*/ 382282 h 382390"/>
              <a:gd name="connsiteX1" fmla="*/ 228548 w 780817"/>
              <a:gd name="connsiteY1" fmla="*/ 229626 h 382390"/>
              <a:gd name="connsiteX2" fmla="*/ 0 w 780817"/>
              <a:gd name="connsiteY2" fmla="*/ 0 h 382390"/>
              <a:gd name="connsiteX0" fmla="*/ 780817 w 780817"/>
              <a:gd name="connsiteY0" fmla="*/ 382282 h 382390"/>
              <a:gd name="connsiteX1" fmla="*/ 228548 w 780817"/>
              <a:gd name="connsiteY1" fmla="*/ 229626 h 382390"/>
              <a:gd name="connsiteX2" fmla="*/ 0 w 780817"/>
              <a:gd name="connsiteY2" fmla="*/ 0 h 382390"/>
            </a:gdLst>
            <a:ahLst/>
            <a:cxnLst>
              <a:cxn ang="0">
                <a:pos x="connsiteX0" y="connsiteY0"/>
              </a:cxn>
              <a:cxn ang="0">
                <a:pos x="connsiteX1" y="connsiteY1"/>
              </a:cxn>
              <a:cxn ang="0">
                <a:pos x="connsiteX2" y="connsiteY2"/>
              </a:cxn>
            </a:cxnLst>
            <a:rect l="l" t="t" r="r" b="b"/>
            <a:pathLst>
              <a:path w="780817" h="382390">
                <a:moveTo>
                  <a:pt x="780817" y="382282"/>
                </a:moveTo>
                <a:cubicBezTo>
                  <a:pt x="571345" y="386002"/>
                  <a:pt x="358684" y="293340"/>
                  <a:pt x="228548" y="229626"/>
                </a:cubicBezTo>
                <a:cubicBezTo>
                  <a:pt x="98412" y="165912"/>
                  <a:pt x="44424" y="110194"/>
                  <a:pt x="0" y="0"/>
                </a:cubicBezTo>
              </a:path>
            </a:pathLst>
          </a:cu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0" name="Can 79"/>
          <p:cNvSpPr/>
          <p:nvPr/>
        </p:nvSpPr>
        <p:spPr>
          <a:xfrm rot="5400000">
            <a:off x="10485747" y="4670179"/>
            <a:ext cx="748916" cy="166339"/>
          </a:xfrm>
          <a:prstGeom prst="can">
            <a:avLst/>
          </a:prstGeom>
          <a:solidFill>
            <a:schemeClr val="bg2">
              <a:lumMod val="2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2" name="Can 81"/>
          <p:cNvSpPr/>
          <p:nvPr/>
        </p:nvSpPr>
        <p:spPr>
          <a:xfrm rot="5400000">
            <a:off x="10609182" y="4670180"/>
            <a:ext cx="748916" cy="166339"/>
          </a:xfrm>
          <a:prstGeom prst="can">
            <a:avLst/>
          </a:prstGeom>
          <a:solidFill>
            <a:schemeClr val="bg2">
              <a:lumMod val="2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3" name="Can 82"/>
          <p:cNvSpPr/>
          <p:nvPr/>
        </p:nvSpPr>
        <p:spPr>
          <a:xfrm rot="5400000">
            <a:off x="10720662" y="4670180"/>
            <a:ext cx="748916" cy="166339"/>
          </a:xfrm>
          <a:prstGeom prst="can">
            <a:avLst/>
          </a:prstGeom>
          <a:solidFill>
            <a:schemeClr val="bg2">
              <a:lumMod val="2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4" name="Can 83"/>
          <p:cNvSpPr/>
          <p:nvPr/>
        </p:nvSpPr>
        <p:spPr>
          <a:xfrm rot="5400000">
            <a:off x="10974279" y="4707068"/>
            <a:ext cx="358581" cy="79277"/>
          </a:xfrm>
          <a:prstGeom prst="can">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6" name="Rectangle 85"/>
          <p:cNvSpPr/>
          <p:nvPr/>
        </p:nvSpPr>
        <p:spPr>
          <a:xfrm>
            <a:off x="10513004" y="5157764"/>
            <a:ext cx="927100" cy="261610"/>
          </a:xfrm>
          <a:prstGeom prst="rect">
            <a:avLst/>
          </a:prstGeom>
        </p:spPr>
        <p:txBody>
          <a:bodyPr wrap="square">
            <a:spAutoFit/>
          </a:bodyPr>
          <a:lstStyle/>
          <a:p>
            <a:pPr algn="ctr"/>
            <a:r>
              <a:rPr lang="en-US" sz="1100" b="1" dirty="0" smtClean="0">
                <a:latin typeface="Times New Roman" panose="02020603050405020304" pitchFamily="18" charset="0"/>
                <a:cs typeface="Times New Roman" panose="02020603050405020304" pitchFamily="18" charset="0"/>
              </a:rPr>
              <a:t>Wheels</a:t>
            </a:r>
            <a:endParaRPr lang="sv-SE" sz="11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0141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Can 69"/>
          <p:cNvSpPr/>
          <p:nvPr/>
        </p:nvSpPr>
        <p:spPr>
          <a:xfrm rot="5400000">
            <a:off x="1664626" y="4200694"/>
            <a:ext cx="123274" cy="389974"/>
          </a:xfrm>
          <a:prstGeom prst="can">
            <a:avLst/>
          </a:prstGeom>
          <a:solidFill>
            <a:srgbClr val="4B81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3" name="Rounded Rectangle 42"/>
          <p:cNvSpPr/>
          <p:nvPr/>
        </p:nvSpPr>
        <p:spPr>
          <a:xfrm>
            <a:off x="5316253" y="2387220"/>
            <a:ext cx="1909935" cy="1273974"/>
          </a:xfrm>
          <a:prstGeom prst="round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1200" b="1" dirty="0" smtClean="0">
              <a:solidFill>
                <a:schemeClr val="tx1"/>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b="1" dirty="0" err="1" smtClean="0">
                <a:solidFill>
                  <a:schemeClr val="tx1"/>
                </a:solidFill>
                <a:latin typeface="Times New Roman" panose="02020603050405020304" pitchFamily="18" charset="0"/>
                <a:cs typeface="Times New Roman" panose="02020603050405020304" pitchFamily="18" charset="0"/>
              </a:rPr>
              <a:t>SiC</a:t>
            </a:r>
            <a:r>
              <a:rPr lang="en-US" sz="1200" b="1" dirty="0" smtClean="0">
                <a:solidFill>
                  <a:schemeClr val="tx1"/>
                </a:solidFill>
                <a:latin typeface="Times New Roman" panose="02020603050405020304" pitchFamily="18" charset="0"/>
                <a:cs typeface="Times New Roman" panose="02020603050405020304" pitchFamily="18" charset="0"/>
              </a:rPr>
              <a:t> MOSFETs</a:t>
            </a:r>
          </a:p>
          <a:p>
            <a:pPr marL="171450" indent="-171450">
              <a:buFont typeface="Arial" panose="020B0604020202020204" pitchFamily="34" charset="0"/>
              <a:buChar char="•"/>
            </a:pPr>
            <a:r>
              <a:rPr lang="en-US" sz="1200" b="1" dirty="0" smtClean="0">
                <a:solidFill>
                  <a:schemeClr val="tx1"/>
                </a:solidFill>
                <a:latin typeface="Times New Roman" panose="02020603050405020304" pitchFamily="18" charset="0"/>
                <a:cs typeface="Times New Roman" panose="02020603050405020304" pitchFamily="18" charset="0"/>
              </a:rPr>
              <a:t>DC-link Capacitors</a:t>
            </a:r>
          </a:p>
          <a:p>
            <a:pPr marL="171450" indent="-171450">
              <a:buFont typeface="Arial" panose="020B0604020202020204" pitchFamily="34" charset="0"/>
              <a:buChar char="•"/>
            </a:pPr>
            <a:r>
              <a:rPr lang="en-US" sz="1200" b="1" dirty="0" smtClean="0">
                <a:solidFill>
                  <a:schemeClr val="tx1"/>
                </a:solidFill>
                <a:latin typeface="Times New Roman" panose="02020603050405020304" pitchFamily="18" charset="0"/>
                <a:cs typeface="Times New Roman" panose="02020603050405020304" pitchFamily="18" charset="0"/>
              </a:rPr>
              <a:t>Liquid-Cooled Plates</a:t>
            </a:r>
            <a:endParaRPr lang="sv-SE" sz="1200" b="1" dirty="0">
              <a:solidFill>
                <a:schemeClr val="tx1"/>
              </a:solidFill>
              <a:latin typeface="Times New Roman" panose="02020603050405020304" pitchFamily="18" charset="0"/>
              <a:cs typeface="Times New Roman" panose="02020603050405020304" pitchFamily="18" charset="0"/>
            </a:endParaRPr>
          </a:p>
        </p:txBody>
      </p:sp>
      <p:sp>
        <p:nvSpPr>
          <p:cNvPr id="6" name="Rounded Rectangle 5"/>
          <p:cNvSpPr/>
          <p:nvPr/>
        </p:nvSpPr>
        <p:spPr>
          <a:xfrm>
            <a:off x="1333704" y="1581150"/>
            <a:ext cx="3018822" cy="2611718"/>
          </a:xfrm>
          <a:prstGeom prst="roundRect">
            <a:avLst/>
          </a:prstGeom>
          <a:noFill/>
          <a:ln w="19050">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b="1" dirty="0"/>
          </a:p>
        </p:txBody>
      </p:sp>
      <p:sp>
        <p:nvSpPr>
          <p:cNvPr id="9" name="Rounded Rectangle 8"/>
          <p:cNvSpPr/>
          <p:nvPr/>
        </p:nvSpPr>
        <p:spPr>
          <a:xfrm>
            <a:off x="1477297" y="1949465"/>
            <a:ext cx="2614063" cy="1879250"/>
          </a:xfrm>
          <a:prstGeom prst="round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b="1" dirty="0">
              <a:solidFill>
                <a:schemeClr val="bg1"/>
              </a:solidFill>
              <a:latin typeface="Times New Roman" panose="02020603050405020304" pitchFamily="18" charset="0"/>
              <a:cs typeface="Times New Roman" panose="02020603050405020304" pitchFamily="18" charset="0"/>
            </a:endParaRPr>
          </a:p>
        </p:txBody>
      </p:sp>
      <p:sp>
        <p:nvSpPr>
          <p:cNvPr id="10" name="Rounded Rectangle 9"/>
          <p:cNvSpPr/>
          <p:nvPr/>
        </p:nvSpPr>
        <p:spPr>
          <a:xfrm>
            <a:off x="2832437" y="2225384"/>
            <a:ext cx="1140114" cy="510242"/>
          </a:xfrm>
          <a:prstGeom prst="roundRect">
            <a:avLst/>
          </a:prstGeom>
          <a:solidFill>
            <a:schemeClr val="accent2">
              <a:lumMod val="75000"/>
            </a:schemeClr>
          </a:solidFill>
          <a:ln>
            <a:solidFill>
              <a:srgbClr val="0000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Times New Roman" panose="02020603050405020304" pitchFamily="18" charset="0"/>
                <a:cs typeface="Times New Roman" panose="02020603050405020304" pitchFamily="18" charset="0"/>
              </a:rPr>
              <a:t>Battery </a:t>
            </a:r>
          </a:p>
          <a:p>
            <a:pPr algn="ctr"/>
            <a:r>
              <a:rPr lang="en-US" sz="1600" b="1" dirty="0" smtClean="0">
                <a:solidFill>
                  <a:schemeClr val="bg1"/>
                </a:solidFill>
                <a:latin typeface="Times New Roman" panose="02020603050405020304" pitchFamily="18" charset="0"/>
                <a:cs typeface="Times New Roman" panose="02020603050405020304" pitchFamily="18" charset="0"/>
              </a:rPr>
              <a:t>Modules</a:t>
            </a:r>
            <a:endParaRPr lang="sv-SE" sz="1600" b="1" dirty="0">
              <a:solidFill>
                <a:schemeClr val="bg1"/>
              </a:solidFill>
              <a:latin typeface="Times New Roman" panose="02020603050405020304" pitchFamily="18" charset="0"/>
              <a:cs typeface="Times New Roman" panose="02020603050405020304" pitchFamily="18" charset="0"/>
            </a:endParaRPr>
          </a:p>
        </p:txBody>
      </p:sp>
      <p:sp>
        <p:nvSpPr>
          <p:cNvPr id="13" name="Rounded Rectangle 12"/>
          <p:cNvSpPr/>
          <p:nvPr/>
        </p:nvSpPr>
        <p:spPr>
          <a:xfrm>
            <a:off x="2214271" y="3573594"/>
            <a:ext cx="1140114" cy="510242"/>
          </a:xfrm>
          <a:prstGeom prst="roundRect">
            <a:avLst/>
          </a:prstGeom>
          <a:solidFill>
            <a:srgbClr val="4B81C0"/>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Times New Roman" panose="02020603050405020304" pitchFamily="18" charset="0"/>
                <a:cs typeface="Times New Roman" panose="02020603050405020304" pitchFamily="18" charset="0"/>
              </a:rPr>
              <a:t>On Board </a:t>
            </a:r>
          </a:p>
          <a:p>
            <a:pPr algn="ctr"/>
            <a:r>
              <a:rPr lang="en-US" sz="1600" b="1" dirty="0" smtClean="0">
                <a:solidFill>
                  <a:schemeClr val="bg1"/>
                </a:solidFill>
                <a:latin typeface="Times New Roman" panose="02020603050405020304" pitchFamily="18" charset="0"/>
                <a:cs typeface="Times New Roman" panose="02020603050405020304" pitchFamily="18" charset="0"/>
              </a:rPr>
              <a:t>Charger</a:t>
            </a:r>
            <a:endParaRPr lang="sv-SE" sz="1600" b="1" dirty="0">
              <a:solidFill>
                <a:schemeClr val="bg1"/>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2105359" y="1896239"/>
            <a:ext cx="1330814" cy="338554"/>
          </a:xfrm>
          <a:prstGeom prst="rect">
            <a:avLst/>
          </a:prstGeom>
        </p:spPr>
        <p:txBody>
          <a:bodyPr wrap="none">
            <a:spAutoFit/>
          </a:bodyPr>
          <a:lstStyle/>
          <a:p>
            <a:pPr algn="ctr"/>
            <a:r>
              <a:rPr lang="en-US" sz="1600" b="1" dirty="0">
                <a:latin typeface="Times New Roman" panose="02020603050405020304" pitchFamily="18" charset="0"/>
                <a:cs typeface="Times New Roman" panose="02020603050405020304" pitchFamily="18" charset="0"/>
              </a:rPr>
              <a:t>Battery Pack</a:t>
            </a:r>
            <a:endParaRPr lang="sv-SE" sz="1600" b="1" dirty="0">
              <a:latin typeface="Times New Roman" panose="02020603050405020304" pitchFamily="18" charset="0"/>
              <a:cs typeface="Times New Roman" panose="02020603050405020304" pitchFamily="18" charset="0"/>
            </a:endParaRPr>
          </a:p>
        </p:txBody>
      </p:sp>
      <p:sp>
        <p:nvSpPr>
          <p:cNvPr id="15" name="Rectangle 14"/>
          <p:cNvSpPr/>
          <p:nvPr/>
        </p:nvSpPr>
        <p:spPr>
          <a:xfrm>
            <a:off x="1557111" y="1564957"/>
            <a:ext cx="2653291" cy="338554"/>
          </a:xfrm>
          <a:prstGeom prst="rect">
            <a:avLst/>
          </a:prstGeom>
        </p:spPr>
        <p:txBody>
          <a:bodyPr wrap="none">
            <a:spAutoFit/>
          </a:bodyPr>
          <a:lstStyle/>
          <a:p>
            <a:pPr algn="ctr"/>
            <a:r>
              <a:rPr lang="en-US" sz="1600" b="1" dirty="0" smtClean="0">
                <a:solidFill>
                  <a:schemeClr val="accent2">
                    <a:lumMod val="50000"/>
                  </a:schemeClr>
                </a:solidFill>
                <a:latin typeface="Times New Roman" panose="02020603050405020304" pitchFamily="18" charset="0"/>
                <a:cs typeface="Times New Roman" panose="02020603050405020304" pitchFamily="18" charset="0"/>
              </a:rPr>
              <a:t>Energy Storage &amp; Charging</a:t>
            </a:r>
            <a:endParaRPr lang="sv-SE" sz="16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16" name="Rounded Rectangle 15"/>
          <p:cNvSpPr/>
          <p:nvPr/>
        </p:nvSpPr>
        <p:spPr>
          <a:xfrm>
            <a:off x="5213115" y="1949465"/>
            <a:ext cx="2137804" cy="1817692"/>
          </a:xfrm>
          <a:prstGeom prst="roundRect">
            <a:avLst/>
          </a:prstGeom>
          <a:noFill/>
          <a:ln w="19050">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b="1" dirty="0"/>
          </a:p>
        </p:txBody>
      </p:sp>
      <p:cxnSp>
        <p:nvCxnSpPr>
          <p:cNvPr id="19" name="Straight Arrow Connector 18"/>
          <p:cNvCxnSpPr>
            <a:endCxn id="16" idx="1"/>
          </p:cNvCxnSpPr>
          <p:nvPr/>
        </p:nvCxnSpPr>
        <p:spPr>
          <a:xfrm flipV="1">
            <a:off x="4389153" y="2858311"/>
            <a:ext cx="823962" cy="5310"/>
          </a:xfrm>
          <a:prstGeom prst="straightConnector1">
            <a:avLst/>
          </a:prstGeom>
          <a:ln w="76200">
            <a:solidFill>
              <a:schemeClr val="accent2">
                <a:lumMod val="75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4352526" y="2344417"/>
            <a:ext cx="927100" cy="430887"/>
          </a:xfrm>
          <a:prstGeom prst="rect">
            <a:avLst/>
          </a:prstGeom>
        </p:spPr>
        <p:txBody>
          <a:bodyPr wrap="square">
            <a:spAutoFit/>
          </a:bodyPr>
          <a:lstStyle/>
          <a:p>
            <a:pPr algn="ctr"/>
            <a:r>
              <a:rPr lang="en-US" sz="1100" b="1" dirty="0" smtClean="0">
                <a:latin typeface="Times New Roman" panose="02020603050405020304" pitchFamily="18" charset="0"/>
                <a:cs typeface="Times New Roman" panose="02020603050405020304" pitchFamily="18" charset="0"/>
              </a:rPr>
              <a:t>DC-link</a:t>
            </a:r>
          </a:p>
          <a:p>
            <a:pPr algn="ctr"/>
            <a:r>
              <a:rPr lang="en-US" sz="1100" b="1" dirty="0" smtClean="0">
                <a:latin typeface="Times New Roman" panose="02020603050405020304" pitchFamily="18" charset="0"/>
                <a:cs typeface="Times New Roman" panose="02020603050405020304" pitchFamily="18" charset="0"/>
              </a:rPr>
              <a:t>800V/1200V</a:t>
            </a:r>
            <a:endParaRPr lang="sv-SE" sz="1100" b="1" dirty="0">
              <a:latin typeface="Times New Roman" panose="02020603050405020304" pitchFamily="18" charset="0"/>
              <a:cs typeface="Times New Roman" panose="02020603050405020304" pitchFamily="18" charset="0"/>
            </a:endParaRPr>
          </a:p>
        </p:txBody>
      </p:sp>
      <p:sp>
        <p:nvSpPr>
          <p:cNvPr id="39" name="Rounded Rectangle 38"/>
          <p:cNvSpPr/>
          <p:nvPr/>
        </p:nvSpPr>
        <p:spPr>
          <a:xfrm>
            <a:off x="1535302" y="2266133"/>
            <a:ext cx="1140114" cy="510242"/>
          </a:xfrm>
          <a:prstGeom prst="roundRect">
            <a:avLst/>
          </a:prstGeom>
          <a:solidFill>
            <a:schemeClr val="accent2">
              <a:lumMod val="75000"/>
            </a:schemeClr>
          </a:solidFill>
          <a:ln>
            <a:solidFill>
              <a:srgbClr val="0000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Times New Roman" panose="02020603050405020304" pitchFamily="18" charset="0"/>
                <a:cs typeface="Times New Roman" panose="02020603050405020304" pitchFamily="18" charset="0"/>
              </a:rPr>
              <a:t>Battery </a:t>
            </a:r>
          </a:p>
          <a:p>
            <a:pPr algn="ctr"/>
            <a:r>
              <a:rPr lang="en-US" sz="1600" b="1" dirty="0" smtClean="0">
                <a:solidFill>
                  <a:schemeClr val="bg1"/>
                </a:solidFill>
                <a:latin typeface="Times New Roman" panose="02020603050405020304" pitchFamily="18" charset="0"/>
                <a:cs typeface="Times New Roman" panose="02020603050405020304" pitchFamily="18" charset="0"/>
              </a:rPr>
              <a:t>Modules</a:t>
            </a:r>
            <a:endParaRPr lang="sv-SE" sz="1600" b="1" dirty="0">
              <a:solidFill>
                <a:schemeClr val="bg1"/>
              </a:solidFill>
              <a:latin typeface="Times New Roman" panose="02020603050405020304" pitchFamily="18" charset="0"/>
              <a:cs typeface="Times New Roman" panose="02020603050405020304" pitchFamily="18" charset="0"/>
            </a:endParaRPr>
          </a:p>
        </p:txBody>
      </p:sp>
      <p:sp>
        <p:nvSpPr>
          <p:cNvPr id="40" name="Rounded Rectangle 39"/>
          <p:cNvSpPr/>
          <p:nvPr/>
        </p:nvSpPr>
        <p:spPr>
          <a:xfrm>
            <a:off x="2877669" y="2957966"/>
            <a:ext cx="1140114" cy="510242"/>
          </a:xfrm>
          <a:prstGeom prst="roundRect">
            <a:avLst/>
          </a:prstGeom>
          <a:solidFill>
            <a:schemeClr val="accent2">
              <a:lumMod val="75000"/>
            </a:schemeClr>
          </a:solidFill>
          <a:ln>
            <a:solidFill>
              <a:srgbClr val="0000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Times New Roman" panose="02020603050405020304" pitchFamily="18" charset="0"/>
                <a:cs typeface="Times New Roman" panose="02020603050405020304" pitchFamily="18" charset="0"/>
              </a:rPr>
              <a:t>Battery </a:t>
            </a:r>
          </a:p>
          <a:p>
            <a:pPr algn="ctr"/>
            <a:r>
              <a:rPr lang="en-US" sz="1600" b="1" dirty="0" smtClean="0">
                <a:solidFill>
                  <a:schemeClr val="bg1"/>
                </a:solidFill>
                <a:latin typeface="Times New Roman" panose="02020603050405020304" pitchFamily="18" charset="0"/>
                <a:cs typeface="Times New Roman" panose="02020603050405020304" pitchFamily="18" charset="0"/>
              </a:rPr>
              <a:t>Modules</a:t>
            </a:r>
            <a:endParaRPr lang="sv-SE" sz="1600" b="1" dirty="0">
              <a:solidFill>
                <a:schemeClr val="bg1"/>
              </a:solidFill>
              <a:latin typeface="Times New Roman" panose="02020603050405020304" pitchFamily="18" charset="0"/>
              <a:cs typeface="Times New Roman" panose="02020603050405020304" pitchFamily="18" charset="0"/>
            </a:endParaRPr>
          </a:p>
        </p:txBody>
      </p:sp>
      <p:sp>
        <p:nvSpPr>
          <p:cNvPr id="41" name="Rounded Rectangle 40"/>
          <p:cNvSpPr/>
          <p:nvPr/>
        </p:nvSpPr>
        <p:spPr>
          <a:xfrm>
            <a:off x="1535302" y="2970553"/>
            <a:ext cx="1140114" cy="510242"/>
          </a:xfrm>
          <a:prstGeom prst="roundRect">
            <a:avLst/>
          </a:prstGeom>
          <a:solidFill>
            <a:schemeClr val="accent2">
              <a:lumMod val="75000"/>
            </a:schemeClr>
          </a:solidFill>
          <a:ln>
            <a:solidFill>
              <a:srgbClr val="0000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Times New Roman" panose="02020603050405020304" pitchFamily="18" charset="0"/>
                <a:cs typeface="Times New Roman" panose="02020603050405020304" pitchFamily="18" charset="0"/>
              </a:rPr>
              <a:t>Battery </a:t>
            </a:r>
          </a:p>
          <a:p>
            <a:pPr algn="ctr"/>
            <a:r>
              <a:rPr lang="en-US" sz="1600" b="1" dirty="0" smtClean="0">
                <a:solidFill>
                  <a:schemeClr val="bg1"/>
                </a:solidFill>
                <a:latin typeface="Times New Roman" panose="02020603050405020304" pitchFamily="18" charset="0"/>
                <a:cs typeface="Times New Roman" panose="02020603050405020304" pitchFamily="18" charset="0"/>
              </a:rPr>
              <a:t>Modules</a:t>
            </a:r>
            <a:endParaRPr lang="sv-SE" sz="1600" b="1" dirty="0">
              <a:solidFill>
                <a:schemeClr val="bg1"/>
              </a:solidFill>
              <a:latin typeface="Times New Roman" panose="02020603050405020304" pitchFamily="18" charset="0"/>
              <a:cs typeface="Times New Roman" panose="02020603050405020304" pitchFamily="18" charset="0"/>
            </a:endParaRPr>
          </a:p>
        </p:txBody>
      </p:sp>
      <p:sp>
        <p:nvSpPr>
          <p:cNvPr id="42" name="Rounded Rectangle 41"/>
          <p:cNvSpPr/>
          <p:nvPr/>
        </p:nvSpPr>
        <p:spPr>
          <a:xfrm>
            <a:off x="5322642" y="2265062"/>
            <a:ext cx="1903546" cy="510242"/>
          </a:xfrm>
          <a:prstGeom prst="roundRect">
            <a:avLst/>
          </a:prstGeom>
          <a:solidFill>
            <a:srgbClr val="4B81C0"/>
          </a:solidFill>
          <a:ln>
            <a:solidFill>
              <a:srgbClr val="0000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Times New Roman" panose="02020603050405020304" pitchFamily="18" charset="0"/>
                <a:cs typeface="Times New Roman" panose="02020603050405020304" pitchFamily="18" charset="0"/>
              </a:rPr>
              <a:t>Traction Inverter</a:t>
            </a:r>
            <a:endParaRPr lang="sv-SE" sz="1600" b="1" dirty="0">
              <a:solidFill>
                <a:schemeClr val="bg1"/>
              </a:solidFill>
              <a:latin typeface="Times New Roman" panose="02020603050405020304" pitchFamily="18" charset="0"/>
              <a:cs typeface="Times New Roman" panose="02020603050405020304" pitchFamily="18" charset="0"/>
            </a:endParaRPr>
          </a:p>
        </p:txBody>
      </p:sp>
      <p:cxnSp>
        <p:nvCxnSpPr>
          <p:cNvPr id="44" name="Straight Arrow Connector 43"/>
          <p:cNvCxnSpPr/>
          <p:nvPr/>
        </p:nvCxnSpPr>
        <p:spPr>
          <a:xfrm>
            <a:off x="7349080" y="2858737"/>
            <a:ext cx="765079" cy="4884"/>
          </a:xfrm>
          <a:prstGeom prst="straightConnector1">
            <a:avLst/>
          </a:prstGeom>
          <a:ln w="76200">
            <a:solidFill>
              <a:srgbClr val="4B81C0"/>
            </a:solidFill>
            <a:tailEnd type="triangle" w="med" len="sm"/>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7236509" y="2350865"/>
            <a:ext cx="927100" cy="430887"/>
          </a:xfrm>
          <a:prstGeom prst="rect">
            <a:avLst/>
          </a:prstGeom>
        </p:spPr>
        <p:txBody>
          <a:bodyPr wrap="square">
            <a:spAutoFit/>
          </a:bodyPr>
          <a:lstStyle/>
          <a:p>
            <a:pPr algn="ctr"/>
            <a:r>
              <a:rPr lang="en-US" sz="1100" b="1" dirty="0" smtClean="0">
                <a:latin typeface="Times New Roman" panose="02020603050405020304" pitchFamily="18" charset="0"/>
                <a:cs typeface="Times New Roman" panose="02020603050405020304" pitchFamily="18" charset="0"/>
              </a:rPr>
              <a:t>3-Phase</a:t>
            </a:r>
          </a:p>
          <a:p>
            <a:pPr algn="ctr"/>
            <a:r>
              <a:rPr lang="en-US" sz="1100" b="1" dirty="0" smtClean="0">
                <a:latin typeface="Times New Roman" panose="02020603050405020304" pitchFamily="18" charset="0"/>
                <a:cs typeface="Times New Roman" panose="02020603050405020304" pitchFamily="18" charset="0"/>
              </a:rPr>
              <a:t>AC</a:t>
            </a:r>
            <a:endParaRPr lang="sv-SE" sz="1100" b="1" dirty="0">
              <a:latin typeface="Times New Roman" panose="02020603050405020304" pitchFamily="18" charset="0"/>
              <a:cs typeface="Times New Roman" panose="02020603050405020304" pitchFamily="18" charset="0"/>
            </a:endParaRPr>
          </a:p>
        </p:txBody>
      </p:sp>
      <p:sp>
        <p:nvSpPr>
          <p:cNvPr id="47" name="Rounded Rectangle 46"/>
          <p:cNvSpPr/>
          <p:nvPr/>
        </p:nvSpPr>
        <p:spPr>
          <a:xfrm>
            <a:off x="8114159" y="1988973"/>
            <a:ext cx="3639691" cy="1708983"/>
          </a:xfrm>
          <a:prstGeom prst="roundRect">
            <a:avLst/>
          </a:prstGeom>
          <a:noFill/>
          <a:ln w="19050">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b="1" dirty="0"/>
          </a:p>
        </p:txBody>
      </p:sp>
      <p:sp>
        <p:nvSpPr>
          <p:cNvPr id="48" name="Oval 47"/>
          <p:cNvSpPr/>
          <p:nvPr/>
        </p:nvSpPr>
        <p:spPr>
          <a:xfrm>
            <a:off x="8177153" y="2418074"/>
            <a:ext cx="989856" cy="914482"/>
          </a:xfrm>
          <a:prstGeom prst="ellipse">
            <a:avLst/>
          </a:prstGeom>
          <a:solidFill>
            <a:srgbClr val="4B81C0"/>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1"/>
                </a:solidFill>
                <a:latin typeface="Times New Roman" panose="02020603050405020304" pitchFamily="18" charset="0"/>
                <a:cs typeface="Times New Roman" panose="02020603050405020304" pitchFamily="18" charset="0"/>
              </a:rPr>
              <a:t>Motor</a:t>
            </a:r>
            <a:endParaRPr lang="sv-SE" sz="1600" dirty="0">
              <a:solidFill>
                <a:schemeClr val="bg1"/>
              </a:solidFill>
              <a:latin typeface="Times New Roman" panose="02020603050405020304" pitchFamily="18" charset="0"/>
              <a:cs typeface="Times New Roman" panose="02020603050405020304" pitchFamily="18" charset="0"/>
            </a:endParaRPr>
          </a:p>
        </p:txBody>
      </p:sp>
      <p:cxnSp>
        <p:nvCxnSpPr>
          <p:cNvPr id="49" name="Straight Arrow Connector 48"/>
          <p:cNvCxnSpPr/>
          <p:nvPr/>
        </p:nvCxnSpPr>
        <p:spPr>
          <a:xfrm flipV="1">
            <a:off x="9167009" y="2848349"/>
            <a:ext cx="418377" cy="7830"/>
          </a:xfrm>
          <a:prstGeom prst="straightConnector1">
            <a:avLst/>
          </a:prstGeom>
          <a:ln w="76200">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sp>
        <p:nvSpPr>
          <p:cNvPr id="52" name="Rounded Rectangle 51"/>
          <p:cNvSpPr/>
          <p:nvPr/>
        </p:nvSpPr>
        <p:spPr>
          <a:xfrm>
            <a:off x="9593664" y="2597143"/>
            <a:ext cx="1140114" cy="510242"/>
          </a:xfrm>
          <a:prstGeom prst="roundRect">
            <a:avLst/>
          </a:prstGeom>
          <a:solidFill>
            <a:srgbClr val="4B81C0"/>
          </a:solidFill>
          <a:ln>
            <a:solidFill>
              <a:srgbClr val="0000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Times New Roman" panose="02020603050405020304" pitchFamily="18" charset="0"/>
                <a:cs typeface="Times New Roman" panose="02020603050405020304" pitchFamily="18" charset="0"/>
              </a:rPr>
              <a:t>Gear Box</a:t>
            </a:r>
            <a:endParaRPr lang="sv-SE" sz="1600" b="1" dirty="0">
              <a:solidFill>
                <a:schemeClr val="bg1"/>
              </a:solidFill>
              <a:latin typeface="Times New Roman" panose="02020603050405020304" pitchFamily="18" charset="0"/>
              <a:cs typeface="Times New Roman" panose="02020603050405020304" pitchFamily="18" charset="0"/>
            </a:endParaRPr>
          </a:p>
        </p:txBody>
      </p:sp>
      <p:cxnSp>
        <p:nvCxnSpPr>
          <p:cNvPr id="54" name="Straight Arrow Connector 53"/>
          <p:cNvCxnSpPr/>
          <p:nvPr/>
        </p:nvCxnSpPr>
        <p:spPr>
          <a:xfrm flipV="1">
            <a:off x="10733778" y="2833315"/>
            <a:ext cx="418377" cy="7830"/>
          </a:xfrm>
          <a:prstGeom prst="straightConnector1">
            <a:avLst/>
          </a:prstGeom>
          <a:ln w="76200">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8971425" y="2278979"/>
            <a:ext cx="710786" cy="430887"/>
          </a:xfrm>
          <a:prstGeom prst="rect">
            <a:avLst/>
          </a:prstGeom>
        </p:spPr>
        <p:txBody>
          <a:bodyPr wrap="square">
            <a:spAutoFit/>
          </a:bodyPr>
          <a:lstStyle/>
          <a:p>
            <a:pPr algn="ctr"/>
            <a:r>
              <a:rPr lang="en-US" sz="1100" b="1" dirty="0" smtClean="0">
                <a:latin typeface="Times New Roman" panose="02020603050405020304" pitchFamily="18" charset="0"/>
                <a:cs typeface="Times New Roman" panose="02020603050405020304" pitchFamily="18" charset="0"/>
              </a:rPr>
              <a:t>Shaft </a:t>
            </a:r>
          </a:p>
          <a:p>
            <a:pPr algn="ctr"/>
            <a:r>
              <a:rPr lang="en-US" sz="1100" b="1" dirty="0" smtClean="0">
                <a:latin typeface="Times New Roman" panose="02020603050405020304" pitchFamily="18" charset="0"/>
                <a:cs typeface="Times New Roman" panose="02020603050405020304" pitchFamily="18" charset="0"/>
              </a:rPr>
              <a:t>Power</a:t>
            </a:r>
            <a:endParaRPr lang="sv-SE" sz="1100" b="1" dirty="0">
              <a:latin typeface="Times New Roman" panose="02020603050405020304" pitchFamily="18" charset="0"/>
              <a:cs typeface="Times New Roman" panose="02020603050405020304" pitchFamily="18" charset="0"/>
            </a:endParaRPr>
          </a:p>
        </p:txBody>
      </p:sp>
      <p:sp>
        <p:nvSpPr>
          <p:cNvPr id="56" name="Rectangle 55"/>
          <p:cNvSpPr/>
          <p:nvPr/>
        </p:nvSpPr>
        <p:spPr>
          <a:xfrm>
            <a:off x="10445451" y="2295351"/>
            <a:ext cx="927100" cy="430887"/>
          </a:xfrm>
          <a:prstGeom prst="rect">
            <a:avLst/>
          </a:prstGeom>
        </p:spPr>
        <p:txBody>
          <a:bodyPr wrap="square">
            <a:spAutoFit/>
          </a:bodyPr>
          <a:lstStyle/>
          <a:p>
            <a:pPr algn="ctr"/>
            <a:r>
              <a:rPr lang="en-US" sz="1100" b="1" dirty="0" smtClean="0">
                <a:latin typeface="Times New Roman" panose="02020603050405020304" pitchFamily="18" charset="0"/>
                <a:cs typeface="Times New Roman" panose="02020603050405020304" pitchFamily="18" charset="0"/>
              </a:rPr>
              <a:t>Driven</a:t>
            </a:r>
          </a:p>
          <a:p>
            <a:pPr algn="ctr"/>
            <a:r>
              <a:rPr lang="en-US" sz="1100" b="1" dirty="0" smtClean="0">
                <a:latin typeface="Times New Roman" panose="02020603050405020304" pitchFamily="18" charset="0"/>
                <a:cs typeface="Times New Roman" panose="02020603050405020304" pitchFamily="18" charset="0"/>
              </a:rPr>
              <a:t>Axle</a:t>
            </a:r>
            <a:endParaRPr lang="sv-SE" sz="1100" b="1" dirty="0">
              <a:latin typeface="Times New Roman" panose="02020603050405020304" pitchFamily="18" charset="0"/>
              <a:cs typeface="Times New Roman" panose="02020603050405020304" pitchFamily="18" charset="0"/>
            </a:endParaRPr>
          </a:p>
        </p:txBody>
      </p:sp>
      <p:sp>
        <p:nvSpPr>
          <p:cNvPr id="58" name="Rectangle 57"/>
          <p:cNvSpPr/>
          <p:nvPr/>
        </p:nvSpPr>
        <p:spPr>
          <a:xfrm>
            <a:off x="5426522" y="1911389"/>
            <a:ext cx="1769010" cy="338554"/>
          </a:xfrm>
          <a:prstGeom prst="rect">
            <a:avLst/>
          </a:prstGeom>
        </p:spPr>
        <p:txBody>
          <a:bodyPr wrap="none">
            <a:spAutoFit/>
          </a:bodyPr>
          <a:lstStyle/>
          <a:p>
            <a:pPr algn="ctr"/>
            <a:r>
              <a:rPr lang="en-US" sz="1600" b="1" dirty="0" smtClean="0">
                <a:solidFill>
                  <a:schemeClr val="accent2">
                    <a:lumMod val="50000"/>
                  </a:schemeClr>
                </a:solidFill>
                <a:latin typeface="Times New Roman" panose="02020603050405020304" pitchFamily="18" charset="0"/>
                <a:cs typeface="Times New Roman" panose="02020603050405020304" pitchFamily="18" charset="0"/>
              </a:rPr>
              <a:t>Power Electronics</a:t>
            </a:r>
            <a:endParaRPr lang="sv-SE" sz="16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59" name="Rectangle 58"/>
          <p:cNvSpPr/>
          <p:nvPr/>
        </p:nvSpPr>
        <p:spPr>
          <a:xfrm>
            <a:off x="9434196" y="1973168"/>
            <a:ext cx="1109599" cy="338554"/>
          </a:xfrm>
          <a:prstGeom prst="rect">
            <a:avLst/>
          </a:prstGeom>
        </p:spPr>
        <p:txBody>
          <a:bodyPr wrap="none">
            <a:spAutoFit/>
          </a:bodyPr>
          <a:lstStyle/>
          <a:p>
            <a:pPr algn="ctr"/>
            <a:r>
              <a:rPr lang="en-US" sz="1600" b="1" dirty="0" smtClean="0">
                <a:solidFill>
                  <a:schemeClr val="accent2">
                    <a:lumMod val="50000"/>
                  </a:schemeClr>
                </a:solidFill>
                <a:latin typeface="Times New Roman" panose="02020603050405020304" pitchFamily="18" charset="0"/>
                <a:cs typeface="Times New Roman" panose="02020603050405020304" pitchFamily="18" charset="0"/>
              </a:rPr>
              <a:t>Drivetrain</a:t>
            </a:r>
            <a:endParaRPr lang="sv-SE" sz="16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66" name="Rounded Rectangle 65"/>
          <p:cNvSpPr/>
          <p:nvPr/>
        </p:nvSpPr>
        <p:spPr>
          <a:xfrm>
            <a:off x="1998915" y="4255104"/>
            <a:ext cx="467639" cy="299303"/>
          </a:xfrm>
          <a:prstGeom prst="roundRect">
            <a:avLst/>
          </a:prstGeom>
          <a:solidFill>
            <a:srgbClr val="4B81C0"/>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b="1" dirty="0">
              <a:solidFill>
                <a:schemeClr val="bg1"/>
              </a:solidFill>
              <a:latin typeface="Times New Roman" panose="02020603050405020304" pitchFamily="18" charset="0"/>
              <a:cs typeface="Times New Roman" panose="02020603050405020304" pitchFamily="18" charset="0"/>
            </a:endParaRPr>
          </a:p>
        </p:txBody>
      </p:sp>
      <p:sp>
        <p:nvSpPr>
          <p:cNvPr id="67" name="Rounded Rectangle 66"/>
          <p:cNvSpPr/>
          <p:nvPr/>
        </p:nvSpPr>
        <p:spPr>
          <a:xfrm>
            <a:off x="1887434" y="4285548"/>
            <a:ext cx="111481" cy="222230"/>
          </a:xfrm>
          <a:prstGeom prst="roundRect">
            <a:avLst/>
          </a:prstGeom>
          <a:solidFill>
            <a:srgbClr val="4B81C0"/>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b="1" dirty="0">
              <a:solidFill>
                <a:schemeClr val="bg1"/>
              </a:solidFill>
              <a:latin typeface="Times New Roman" panose="02020603050405020304" pitchFamily="18" charset="0"/>
              <a:cs typeface="Times New Roman" panose="02020603050405020304" pitchFamily="18" charset="0"/>
            </a:endParaRPr>
          </a:p>
        </p:txBody>
      </p:sp>
      <p:sp>
        <p:nvSpPr>
          <p:cNvPr id="69" name="Rounded Rectangle 68"/>
          <p:cNvSpPr/>
          <p:nvPr/>
        </p:nvSpPr>
        <p:spPr>
          <a:xfrm>
            <a:off x="2466554" y="4293640"/>
            <a:ext cx="111481" cy="222230"/>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600" b="1" dirty="0">
              <a:solidFill>
                <a:schemeClr val="bg1"/>
              </a:solidFill>
              <a:latin typeface="Times New Roman" panose="02020603050405020304" pitchFamily="18" charset="0"/>
              <a:cs typeface="Times New Roman" panose="02020603050405020304" pitchFamily="18" charset="0"/>
            </a:endParaRPr>
          </a:p>
        </p:txBody>
      </p:sp>
      <p:cxnSp>
        <p:nvCxnSpPr>
          <p:cNvPr id="71" name="Straight Arrow Connector 70"/>
          <p:cNvCxnSpPr/>
          <p:nvPr/>
        </p:nvCxnSpPr>
        <p:spPr>
          <a:xfrm flipH="1" flipV="1">
            <a:off x="2774939" y="4112328"/>
            <a:ext cx="5052" cy="395450"/>
          </a:xfrm>
          <a:prstGeom prst="straightConnector1">
            <a:avLst/>
          </a:prstGeom>
          <a:ln w="76200">
            <a:solidFill>
              <a:schemeClr val="accent2">
                <a:lumMod val="75000"/>
              </a:schemeClr>
            </a:solidFill>
            <a:tailEnd type="triangle" w="med" len="sm"/>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2591159" y="4255104"/>
            <a:ext cx="1526451" cy="261610"/>
          </a:xfrm>
          <a:prstGeom prst="rect">
            <a:avLst/>
          </a:prstGeom>
        </p:spPr>
        <p:txBody>
          <a:bodyPr wrap="square">
            <a:spAutoFit/>
          </a:bodyPr>
          <a:lstStyle/>
          <a:p>
            <a:pPr algn="ctr"/>
            <a:r>
              <a:rPr lang="en-US" sz="1100" b="1" dirty="0" smtClean="0">
                <a:latin typeface="Times New Roman" panose="02020603050405020304" pitchFamily="18" charset="0"/>
                <a:cs typeface="Times New Roman" panose="02020603050405020304" pitchFamily="18" charset="0"/>
              </a:rPr>
              <a:t>Charging Plug</a:t>
            </a:r>
            <a:endParaRPr lang="sv-SE" sz="1100" b="1" dirty="0">
              <a:latin typeface="Times New Roman" panose="02020603050405020304" pitchFamily="18" charset="0"/>
              <a:cs typeface="Times New Roman" panose="02020603050405020304" pitchFamily="18" charset="0"/>
            </a:endParaRPr>
          </a:p>
        </p:txBody>
      </p:sp>
      <p:sp>
        <p:nvSpPr>
          <p:cNvPr id="76" name="Freeform 75"/>
          <p:cNvSpPr/>
          <p:nvPr/>
        </p:nvSpPr>
        <p:spPr>
          <a:xfrm>
            <a:off x="767985" y="4015901"/>
            <a:ext cx="777647" cy="386290"/>
          </a:xfrm>
          <a:custGeom>
            <a:avLst/>
            <a:gdLst>
              <a:gd name="connsiteX0" fmla="*/ 838200 w 838200"/>
              <a:gd name="connsiteY0" fmla="*/ 508000 h 508000"/>
              <a:gd name="connsiteX1" fmla="*/ 241300 w 838200"/>
              <a:gd name="connsiteY1" fmla="*/ 330200 h 508000"/>
              <a:gd name="connsiteX2" fmla="*/ 0 w 838200"/>
              <a:gd name="connsiteY2" fmla="*/ 0 h 508000"/>
              <a:gd name="connsiteX0" fmla="*/ 793569 w 793569"/>
              <a:gd name="connsiteY0" fmla="*/ 482856 h 482856"/>
              <a:gd name="connsiteX1" fmla="*/ 241300 w 793569"/>
              <a:gd name="connsiteY1" fmla="*/ 330200 h 482856"/>
              <a:gd name="connsiteX2" fmla="*/ 0 w 793569"/>
              <a:gd name="connsiteY2" fmla="*/ 0 h 482856"/>
              <a:gd name="connsiteX0" fmla="*/ 793569 w 793569"/>
              <a:gd name="connsiteY0" fmla="*/ 482856 h 482987"/>
              <a:gd name="connsiteX1" fmla="*/ 241300 w 793569"/>
              <a:gd name="connsiteY1" fmla="*/ 330200 h 482987"/>
              <a:gd name="connsiteX2" fmla="*/ 0 w 793569"/>
              <a:gd name="connsiteY2" fmla="*/ 0 h 482987"/>
              <a:gd name="connsiteX0" fmla="*/ 812697 w 812697"/>
              <a:gd name="connsiteY0" fmla="*/ 313137 h 313234"/>
              <a:gd name="connsiteX1" fmla="*/ 260428 w 812697"/>
              <a:gd name="connsiteY1" fmla="*/ 160481 h 313234"/>
              <a:gd name="connsiteX2" fmla="*/ 0 w 812697"/>
              <a:gd name="connsiteY2" fmla="*/ 0 h 313234"/>
              <a:gd name="connsiteX0" fmla="*/ 793569 w 793569"/>
              <a:gd name="connsiteY0" fmla="*/ 382282 h 382390"/>
              <a:gd name="connsiteX1" fmla="*/ 241300 w 793569"/>
              <a:gd name="connsiteY1" fmla="*/ 229626 h 382390"/>
              <a:gd name="connsiteX2" fmla="*/ 0 w 793569"/>
              <a:gd name="connsiteY2" fmla="*/ 0 h 382390"/>
              <a:gd name="connsiteX0" fmla="*/ 780817 w 780817"/>
              <a:gd name="connsiteY0" fmla="*/ 382282 h 382390"/>
              <a:gd name="connsiteX1" fmla="*/ 228548 w 780817"/>
              <a:gd name="connsiteY1" fmla="*/ 229626 h 382390"/>
              <a:gd name="connsiteX2" fmla="*/ 0 w 780817"/>
              <a:gd name="connsiteY2" fmla="*/ 0 h 382390"/>
              <a:gd name="connsiteX0" fmla="*/ 780817 w 780817"/>
              <a:gd name="connsiteY0" fmla="*/ 382282 h 382390"/>
              <a:gd name="connsiteX1" fmla="*/ 228548 w 780817"/>
              <a:gd name="connsiteY1" fmla="*/ 229626 h 382390"/>
              <a:gd name="connsiteX2" fmla="*/ 0 w 780817"/>
              <a:gd name="connsiteY2" fmla="*/ 0 h 382390"/>
              <a:gd name="connsiteX0" fmla="*/ 780817 w 780817"/>
              <a:gd name="connsiteY0" fmla="*/ 382282 h 382390"/>
              <a:gd name="connsiteX1" fmla="*/ 228548 w 780817"/>
              <a:gd name="connsiteY1" fmla="*/ 229626 h 382390"/>
              <a:gd name="connsiteX2" fmla="*/ 0 w 780817"/>
              <a:gd name="connsiteY2" fmla="*/ 0 h 382390"/>
            </a:gdLst>
            <a:ahLst/>
            <a:cxnLst>
              <a:cxn ang="0">
                <a:pos x="connsiteX0" y="connsiteY0"/>
              </a:cxn>
              <a:cxn ang="0">
                <a:pos x="connsiteX1" y="connsiteY1"/>
              </a:cxn>
              <a:cxn ang="0">
                <a:pos x="connsiteX2" y="connsiteY2"/>
              </a:cxn>
            </a:cxnLst>
            <a:rect l="l" t="t" r="r" b="b"/>
            <a:pathLst>
              <a:path w="780817" h="382390">
                <a:moveTo>
                  <a:pt x="780817" y="382282"/>
                </a:moveTo>
                <a:cubicBezTo>
                  <a:pt x="571345" y="386002"/>
                  <a:pt x="358684" y="293340"/>
                  <a:pt x="228548" y="229626"/>
                </a:cubicBezTo>
                <a:cubicBezTo>
                  <a:pt x="98412" y="165912"/>
                  <a:pt x="44424" y="110194"/>
                  <a:pt x="0" y="0"/>
                </a:cubicBezTo>
              </a:path>
            </a:pathLst>
          </a:custGeom>
          <a:no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0" name="Can 79"/>
          <p:cNvSpPr/>
          <p:nvPr/>
        </p:nvSpPr>
        <p:spPr>
          <a:xfrm rot="5400000">
            <a:off x="10857222" y="2765179"/>
            <a:ext cx="748916" cy="166339"/>
          </a:xfrm>
          <a:prstGeom prst="can">
            <a:avLst/>
          </a:prstGeom>
          <a:solidFill>
            <a:schemeClr val="bg2">
              <a:lumMod val="2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2" name="Can 81"/>
          <p:cNvSpPr/>
          <p:nvPr/>
        </p:nvSpPr>
        <p:spPr>
          <a:xfrm rot="5400000">
            <a:off x="10980657" y="2765180"/>
            <a:ext cx="748916" cy="166339"/>
          </a:xfrm>
          <a:prstGeom prst="can">
            <a:avLst/>
          </a:prstGeom>
          <a:solidFill>
            <a:schemeClr val="bg2">
              <a:lumMod val="2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3" name="Can 82"/>
          <p:cNvSpPr/>
          <p:nvPr/>
        </p:nvSpPr>
        <p:spPr>
          <a:xfrm rot="5400000">
            <a:off x="11092137" y="2765180"/>
            <a:ext cx="748916" cy="166339"/>
          </a:xfrm>
          <a:prstGeom prst="can">
            <a:avLst/>
          </a:prstGeom>
          <a:solidFill>
            <a:schemeClr val="bg2">
              <a:lumMod val="2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4" name="Can 83"/>
          <p:cNvSpPr/>
          <p:nvPr/>
        </p:nvSpPr>
        <p:spPr>
          <a:xfrm rot="5400000">
            <a:off x="11345754" y="2802068"/>
            <a:ext cx="358581" cy="79277"/>
          </a:xfrm>
          <a:prstGeom prst="can">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6" name="Rectangle 85"/>
          <p:cNvSpPr/>
          <p:nvPr/>
        </p:nvSpPr>
        <p:spPr>
          <a:xfrm>
            <a:off x="10884479" y="3252764"/>
            <a:ext cx="927100" cy="261610"/>
          </a:xfrm>
          <a:prstGeom prst="rect">
            <a:avLst/>
          </a:prstGeom>
        </p:spPr>
        <p:txBody>
          <a:bodyPr wrap="square">
            <a:spAutoFit/>
          </a:bodyPr>
          <a:lstStyle/>
          <a:p>
            <a:pPr algn="ctr"/>
            <a:r>
              <a:rPr lang="en-US" sz="1100" b="1" dirty="0" smtClean="0">
                <a:latin typeface="Times New Roman" panose="02020603050405020304" pitchFamily="18" charset="0"/>
                <a:cs typeface="Times New Roman" panose="02020603050405020304" pitchFamily="18" charset="0"/>
              </a:rPr>
              <a:t>Wheels</a:t>
            </a:r>
            <a:endParaRPr lang="sv-SE" sz="11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3950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22917" t="19889" r="-1916" b="10334"/>
          <a:stretch/>
        </p:blipFill>
        <p:spPr>
          <a:xfrm>
            <a:off x="2964180" y="899160"/>
            <a:ext cx="7223760" cy="4785360"/>
          </a:xfrm>
          <a:prstGeom prst="rect">
            <a:avLst/>
          </a:prstGeom>
        </p:spPr>
      </p:pic>
    </p:spTree>
    <p:extLst>
      <p:ext uri="{BB962C8B-B14F-4D97-AF65-F5344CB8AC3E}">
        <p14:creationId xmlns:p14="http://schemas.microsoft.com/office/powerpoint/2010/main" val="2455385425"/>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resentation25" id="{BADAB07B-2E68-4F48-911A-FC2225F93204}" vid="{784CDC78-43E6-457A-AA90-645E7526676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0F4D0C94E7891C408A70A4AFCBFC4B57" ma:contentTypeVersion="14" ma:contentTypeDescription="Skapa ett nytt dokument." ma:contentTypeScope="" ma:versionID="1c15329974e5927d0c588b03fa07fcbc">
  <xsd:schema xmlns:xsd="http://www.w3.org/2001/XMLSchema" xmlns:xs="http://www.w3.org/2001/XMLSchema" xmlns:p="http://schemas.microsoft.com/office/2006/metadata/properties" xmlns:ns3="a2de62b2-e783-4e30-aa1b-992e53552b81" xmlns:ns4="002d5c55-512d-4532-a45a-a18556eb1389" targetNamespace="http://schemas.microsoft.com/office/2006/metadata/properties" ma:root="true" ma:fieldsID="854722f8476c5e2ca5530bc10c6e1131" ns3:_="" ns4:_="">
    <xsd:import namespace="a2de62b2-e783-4e30-aa1b-992e53552b81"/>
    <xsd:import namespace="002d5c55-512d-4532-a45a-a18556eb1389"/>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element ref="ns3:MediaServiceGenerationTime" minOccurs="0"/>
                <xsd:element ref="ns3:MediaServiceEventHashCode" minOccurs="0"/>
                <xsd:element ref="ns3:MediaServiceAutoTags" minOccurs="0"/>
                <xsd:element ref="ns3:MediaServiceOCR" minOccurs="0"/>
                <xsd:element ref="ns3:MediaServiceDateTaken"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de62b2-e783-4e30-aa1b-992e53552b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Tags" ma:index="18"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02d5c55-512d-4532-a45a-a18556eb1389" elementFormDefault="qualified">
    <xsd:import namespace="http://schemas.microsoft.com/office/2006/documentManagement/types"/>
    <xsd:import namespace="http://schemas.microsoft.com/office/infopath/2007/PartnerControls"/>
    <xsd:element name="SharedWithUsers" ma:index="13" nillable="true" ma:displayName="Dela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Delat med information" ma:internalName="SharedWithDetails" ma:readOnly="true">
      <xsd:simpleType>
        <xsd:restriction base="dms:Note">
          <xsd:maxLength value="255"/>
        </xsd:restriction>
      </xsd:simpleType>
    </xsd:element>
    <xsd:element name="SharingHintHash" ma:index="15" nillable="true" ma:displayName="Delar tips,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ehållstyp"/>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a2de62b2-e783-4e30-aa1b-992e53552b81" xsi:nil="true"/>
  </documentManagement>
</p:properties>
</file>

<file path=customXml/itemProps1.xml><?xml version="1.0" encoding="utf-8"?>
<ds:datastoreItem xmlns:ds="http://schemas.openxmlformats.org/officeDocument/2006/customXml" ds:itemID="{52E6EA5F-FA21-4E5F-BF5E-DA2341512D37}">
  <ds:schemaRefs>
    <ds:schemaRef ds:uri="http://schemas.microsoft.com/sharepoint/v3/contenttype/forms"/>
  </ds:schemaRefs>
</ds:datastoreItem>
</file>

<file path=customXml/itemProps2.xml><?xml version="1.0" encoding="utf-8"?>
<ds:datastoreItem xmlns:ds="http://schemas.openxmlformats.org/officeDocument/2006/customXml" ds:itemID="{1D0FEA76-A6AF-4308-B016-F3D561AD81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2de62b2-e783-4e30-aa1b-992e53552b81"/>
    <ds:schemaRef ds:uri="002d5c55-512d-4532-a45a-a18556eb138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0D6DB84-CF30-47E3-8F07-2C9AFCB98FAD}">
  <ds:schemaRefs>
    <ds:schemaRef ds:uri="http://schemas.openxmlformats.org/package/2006/metadata/core-properties"/>
    <ds:schemaRef ds:uri="http://purl.org/dc/dcmitype/"/>
    <ds:schemaRef ds:uri="http://schemas.microsoft.com/office/infopath/2007/PartnerControls"/>
    <ds:schemaRef ds:uri="a2de62b2-e783-4e30-aa1b-992e53552b81"/>
    <ds:schemaRef ds:uri="http://purl.org/dc/elements/1.1/"/>
    <ds:schemaRef ds:uri="http://schemas.microsoft.com/office/2006/metadata/properties"/>
    <ds:schemaRef ds:uri="http://schemas.microsoft.com/office/2006/documentManagement/types"/>
    <ds:schemaRef ds:uri="002d5c55-512d-4532-a45a-a18556eb1389"/>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KTH_presentation_template_Figtree_(231005)</Template>
  <TotalTime>8934</TotalTime>
  <Words>195</Words>
  <Application>Microsoft Office PowerPoint</Application>
  <PresentationFormat>Widescreen</PresentationFormat>
  <Paragraphs>136</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Figtree</vt:lpstr>
      <vt:lpstr>Times New Roman</vt:lpstr>
      <vt:lpstr>Office-tema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Enes Ayaz</dc:creator>
  <cp:lastModifiedBy>Enes Ayaz</cp:lastModifiedBy>
  <cp:revision>128</cp:revision>
  <cp:lastPrinted>2023-10-17T13:46:00Z</cp:lastPrinted>
  <dcterms:created xsi:type="dcterms:W3CDTF">2023-10-16T13:59:07Z</dcterms:created>
  <dcterms:modified xsi:type="dcterms:W3CDTF">2026-01-23T13:51:20Z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0x0101000F4D0C94E7891C408A70A4AFCBFC4B57</vt:lpwstr>
  </property>
</Properties>
</file>