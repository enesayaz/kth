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0"/>
  </p:notesMasterIdLst>
  <p:sldIdLst>
    <p:sldId id="292" r:id="rId5"/>
    <p:sldId id="294" r:id="rId6"/>
    <p:sldId id="295" r:id="rId7"/>
    <p:sldId id="296" r:id="rId8"/>
    <p:sldId id="297" r:id="rId9"/>
  </p:sldIdLst>
  <p:sldSz cx="12192000" cy="6858000"/>
  <p:notesSz cx="7104063" cy="10234613"/>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7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7459" autoAdjust="0"/>
  </p:normalViewPr>
  <p:slideViewPr>
    <p:cSldViewPr snapToGrid="0">
      <p:cViewPr>
        <p:scale>
          <a:sx n="125" d="100"/>
          <a:sy n="125" d="100"/>
        </p:scale>
        <p:origin x="90"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3078427" cy="513508"/>
          </a:xfrm>
          <a:prstGeom prst="rect">
            <a:avLst/>
          </a:prstGeom>
        </p:spPr>
        <p:txBody>
          <a:bodyPr vert="horz" lIns="99075" tIns="49538" rIns="99075" bIns="49538" rtlCol="0"/>
          <a:lstStyle>
            <a:lvl1pPr algn="l">
              <a:defRPr sz="1300"/>
            </a:lvl1pPr>
          </a:lstStyle>
          <a:p>
            <a:endParaRPr lang="sv-SE"/>
          </a:p>
        </p:txBody>
      </p:sp>
      <p:sp>
        <p:nvSpPr>
          <p:cNvPr id="3" name="Platshållare för datum 2"/>
          <p:cNvSpPr>
            <a:spLocks noGrp="1"/>
          </p:cNvSpPr>
          <p:nvPr>
            <p:ph type="dt" idx="1"/>
          </p:nvPr>
        </p:nvSpPr>
        <p:spPr>
          <a:xfrm>
            <a:off x="4023992" y="0"/>
            <a:ext cx="3078427" cy="513508"/>
          </a:xfrm>
          <a:prstGeom prst="rect">
            <a:avLst/>
          </a:prstGeom>
        </p:spPr>
        <p:txBody>
          <a:bodyPr vert="horz" lIns="99075" tIns="49538" rIns="99075" bIns="49538" rtlCol="0"/>
          <a:lstStyle>
            <a:lvl1pPr algn="r">
              <a:defRPr sz="1300"/>
            </a:lvl1pPr>
          </a:lstStyle>
          <a:p>
            <a:fld id="{71BACA97-DCC5-D741-8303-D68B06D997A0}" type="datetimeFigureOut">
              <a:rPr lang="sv-SE" smtClean="0"/>
              <a:t>2025-10-30</a:t>
            </a:fld>
            <a:endParaRPr lang="sv-SE"/>
          </a:p>
        </p:txBody>
      </p:sp>
      <p:sp>
        <p:nvSpPr>
          <p:cNvPr id="4" name="Platshållare för bildobjekt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9075" tIns="49538" rIns="99075" bIns="49538" rtlCol="0" anchor="ctr"/>
          <a:lstStyle/>
          <a:p>
            <a:endParaRPr lang="sv-SE"/>
          </a:p>
        </p:txBody>
      </p:sp>
      <p:sp>
        <p:nvSpPr>
          <p:cNvPr id="5" name="Platshållare för anteckningar 4"/>
          <p:cNvSpPr>
            <a:spLocks noGrp="1"/>
          </p:cNvSpPr>
          <p:nvPr>
            <p:ph type="body" sz="quarter" idx="3"/>
          </p:nvPr>
        </p:nvSpPr>
        <p:spPr>
          <a:xfrm>
            <a:off x="710407" y="4925407"/>
            <a:ext cx="5683250" cy="4029879"/>
          </a:xfrm>
          <a:prstGeom prst="rect">
            <a:avLst/>
          </a:prstGeom>
        </p:spPr>
        <p:txBody>
          <a:bodyPr vert="horz" lIns="99075" tIns="49538" rIns="99075" bIns="49538"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9721107"/>
            <a:ext cx="3078427" cy="513507"/>
          </a:xfrm>
          <a:prstGeom prst="rect">
            <a:avLst/>
          </a:prstGeom>
        </p:spPr>
        <p:txBody>
          <a:bodyPr vert="horz" lIns="99075" tIns="49538" rIns="99075" bIns="49538" rtlCol="0" anchor="b"/>
          <a:lstStyle>
            <a:lvl1pPr algn="l">
              <a:defRPr sz="1300"/>
            </a:lvl1pPr>
          </a:lstStyle>
          <a:p>
            <a:endParaRPr lang="sv-SE"/>
          </a:p>
        </p:txBody>
      </p:sp>
      <p:sp>
        <p:nvSpPr>
          <p:cNvPr id="7" name="Platshållare för bildnummer 6"/>
          <p:cNvSpPr>
            <a:spLocks noGrp="1"/>
          </p:cNvSpPr>
          <p:nvPr>
            <p:ph type="sldNum" sz="quarter" idx="5"/>
          </p:nvPr>
        </p:nvSpPr>
        <p:spPr>
          <a:xfrm>
            <a:off x="4023992" y="9721107"/>
            <a:ext cx="3078427" cy="513507"/>
          </a:xfrm>
          <a:prstGeom prst="rect">
            <a:avLst/>
          </a:prstGeom>
        </p:spPr>
        <p:txBody>
          <a:bodyPr vert="horz" lIns="99075" tIns="49538" rIns="99075" bIns="49538" rtlCol="0" anchor="b"/>
          <a:lstStyle>
            <a:lvl1pPr algn="r">
              <a:defRPr sz="13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image" Target="../media/image15.sv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Master" Target="../slideMasters/slideMaster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9" Type="http://schemas.openxmlformats.org/officeDocument/2006/relationships/image" Target="../media/image2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a:extLs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a:extLs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smtClean="0"/>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388994"/>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smtClean="0"/>
              <a:t>Subtitle</a:t>
            </a:r>
            <a:r>
              <a:rPr lang="sv-SE" dirty="0" smtClean="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2025-10-30</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a:extLs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a:extLs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2025-10-30</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a:extLst>
              <a:ext uri="{96DAC541-7B7A-43D3-8B79-37D633B846F1}">
                <asvg:svgBlip xmlns=""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2025-10-30</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Title, image">
    <p:bg>
      <p:bgPr>
        <a:solidFill>
          <a:schemeClr val="accent4"/>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rgbClr val="00479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2025-10-30</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rgbClr val="00479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004791"/>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004791"/>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rgbClr val="00479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sp>
        <p:nvSpPr>
          <p:cNvPr id="11"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2"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 xmlns:asvg="http://schemas.microsoft.com/office/drawing/2016/SVG/main" r:embed="rId4"/>
              </a:ext>
            </a:extLst>
          </a:blip>
          <a:stretch>
            <a:fillRect/>
          </a:stretch>
        </p:blipFill>
        <p:spPr>
          <a:xfrm>
            <a:off x="-795" y="0"/>
            <a:ext cx="12192000" cy="6858000"/>
          </a:xfrm>
          <a:prstGeom prst="rect">
            <a:avLst/>
          </a:prstGeom>
        </p:spPr>
      </p:pic>
      <p:sp>
        <p:nvSpPr>
          <p:cNvPr id="13" name="Text Placeholder 8"/>
          <p:cNvSpPr>
            <a:spLocks noGrp="1"/>
          </p:cNvSpPr>
          <p:nvPr>
            <p:ph type="body" sz="quarter" idx="14" hasCustomPrompt="1"/>
          </p:nvPr>
        </p:nvSpPr>
        <p:spPr>
          <a:xfrm>
            <a:off x="596322" y="3333750"/>
            <a:ext cx="7218363" cy="1742546"/>
          </a:xfrm>
        </p:spPr>
        <p:txBody>
          <a:bodyPr anchor="b"/>
          <a:lstStyle>
            <a:lvl1pPr marL="0" indent="0">
              <a:buNone/>
              <a:defRPr sz="6000" b="1">
                <a:solidFill>
                  <a:srgbClr val="000061"/>
                </a:solidFill>
              </a:defRPr>
            </a:lvl1pPr>
          </a:lstStyle>
          <a:p>
            <a:r>
              <a:rPr lang="en-US" dirty="0" smtClean="0"/>
              <a:t>Click to edit Master title style</a:t>
            </a:r>
            <a:endParaRPr lang="sv-SE" dirty="0"/>
          </a:p>
        </p:txBody>
      </p:sp>
      <p:pic>
        <p:nvPicPr>
          <p:cNvPr id="14"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277330" y="226116"/>
            <a:ext cx="960463" cy="1076212"/>
          </a:xfrm>
          <a:prstGeom prst="rect">
            <a:avLst/>
          </a:prstGeom>
        </p:spPr>
      </p:pic>
    </p:spTree>
    <p:extLst>
      <p:ext uri="{BB962C8B-B14F-4D97-AF65-F5344CB8AC3E}">
        <p14:creationId xmlns:p14="http://schemas.microsoft.com/office/powerpoint/2010/main" val="32816073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2_Title, image">
    <p:bg>
      <p:bgPr>
        <a:solidFill>
          <a:schemeClr val="accent4"/>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rgbClr val="00479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2025-10-30</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rgbClr val="00479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004791"/>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004791"/>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rgbClr val="00479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sp>
        <p:nvSpPr>
          <p:cNvPr id="13"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5205"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15"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1"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77330" y="226116"/>
            <a:ext cx="960463" cy="1076212"/>
          </a:xfrm>
          <a:prstGeom prst="rect">
            <a:avLst/>
          </a:prstGeom>
        </p:spPr>
      </p:pic>
    </p:spTree>
    <p:extLst>
      <p:ext uri="{BB962C8B-B14F-4D97-AF65-F5344CB8AC3E}">
        <p14:creationId xmlns:p14="http://schemas.microsoft.com/office/powerpoint/2010/main" val="15980553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3_Title, image">
    <p:bg>
      <p:bgPr>
        <a:solidFill>
          <a:srgbClr val="EBE5E0"/>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rgbClr val="00479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2025-10-30</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rgbClr val="00479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004791"/>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004791"/>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rgbClr val="00479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pic>
        <p:nvPicPr>
          <p:cNvPr id="12"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3"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14"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1"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77330" y="226116"/>
            <a:ext cx="960463" cy="1076212"/>
          </a:xfrm>
          <a:prstGeom prst="rect">
            <a:avLst/>
          </a:prstGeom>
        </p:spPr>
      </p:pic>
    </p:spTree>
    <p:extLst>
      <p:ext uri="{BB962C8B-B14F-4D97-AF65-F5344CB8AC3E}">
        <p14:creationId xmlns:p14="http://schemas.microsoft.com/office/powerpoint/2010/main" val="30575976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4_Title, image">
    <p:bg>
      <p:bgPr>
        <a:solidFill>
          <a:srgbClr val="EBE5E0"/>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rgbClr val="00479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2025-10-30</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rgbClr val="00479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004791"/>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004791"/>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rgbClr val="00479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004791"/>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004791"/>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sp>
        <p:nvSpPr>
          <p:cNvPr id="13"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5205"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15"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0"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77330" y="226116"/>
            <a:ext cx="960463" cy="1076212"/>
          </a:xfrm>
          <a:prstGeom prst="rect">
            <a:avLst/>
          </a:prstGeom>
        </p:spPr>
      </p:pic>
    </p:spTree>
    <p:extLst>
      <p:ext uri="{BB962C8B-B14F-4D97-AF65-F5344CB8AC3E}">
        <p14:creationId xmlns:p14="http://schemas.microsoft.com/office/powerpoint/2010/main" val="29029830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7_Title, image">
    <p:bg>
      <p:bgPr>
        <a:solidFill>
          <a:srgbClr val="004791"/>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2025-10-30</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FFFFFF"/>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FFFFFF"/>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chemeClr val="bg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sp>
        <p:nvSpPr>
          <p:cNvPr id="11"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2"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795" y="0"/>
            <a:ext cx="12192000" cy="6858000"/>
          </a:xfrm>
          <a:prstGeom prst="rect">
            <a:avLst/>
          </a:prstGeom>
        </p:spPr>
      </p:pic>
      <p:sp>
        <p:nvSpPr>
          <p:cNvPr id="15" name="Text Placeholder 8"/>
          <p:cNvSpPr>
            <a:spLocks noGrp="1"/>
          </p:cNvSpPr>
          <p:nvPr>
            <p:ph type="body" sz="quarter" idx="14" hasCustomPrompt="1"/>
          </p:nvPr>
        </p:nvSpPr>
        <p:spPr>
          <a:xfrm>
            <a:off x="596322" y="3248025"/>
            <a:ext cx="7218363" cy="1828273"/>
          </a:xfrm>
        </p:spPr>
        <p:txBody>
          <a:bodyPr anchor="b"/>
          <a:lstStyle>
            <a:lvl1pPr marL="0" indent="0">
              <a:buNone/>
              <a:defRPr sz="6000" b="1">
                <a:solidFill>
                  <a:schemeClr val="bg1"/>
                </a:solidFill>
              </a:defRPr>
            </a:lvl1pPr>
          </a:lstStyle>
          <a:p>
            <a:r>
              <a:rPr lang="en-US" dirty="0" smtClean="0"/>
              <a:t>Click to edit Master title style</a:t>
            </a:r>
            <a:endParaRPr lang="sv-SE" dirty="0"/>
          </a:p>
        </p:txBody>
      </p:sp>
      <p:pic>
        <p:nvPicPr>
          <p:cNvPr id="10"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77330" y="226116"/>
            <a:ext cx="960462" cy="1076212"/>
          </a:xfrm>
          <a:prstGeom prst="rect">
            <a:avLst/>
          </a:prstGeom>
        </p:spPr>
      </p:pic>
    </p:spTree>
    <p:extLst>
      <p:ext uri="{BB962C8B-B14F-4D97-AF65-F5344CB8AC3E}">
        <p14:creationId xmlns:p14="http://schemas.microsoft.com/office/powerpoint/2010/main" val="31313682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8_Title, image">
    <p:bg>
      <p:bgPr>
        <a:solidFill>
          <a:srgbClr val="004791"/>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2025-10-30</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FFFFFF"/>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FFFFFF"/>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chemeClr val="bg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sp>
        <p:nvSpPr>
          <p:cNvPr id="13"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5205"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15"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0"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77330" y="226116"/>
            <a:ext cx="960462" cy="1076212"/>
          </a:xfrm>
          <a:prstGeom prst="rect">
            <a:avLst/>
          </a:prstGeom>
        </p:spPr>
      </p:pic>
    </p:spTree>
    <p:extLst>
      <p:ext uri="{BB962C8B-B14F-4D97-AF65-F5344CB8AC3E}">
        <p14:creationId xmlns:p14="http://schemas.microsoft.com/office/powerpoint/2010/main" val="11492911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10_Title, image">
    <p:bg>
      <p:bgPr>
        <a:solidFill>
          <a:srgbClr val="000061"/>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2025-10-30</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FFFFFF"/>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FFFFFF"/>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chemeClr val="bg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sp>
        <p:nvSpPr>
          <p:cNvPr id="11"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2"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a:noFill/>
        </p:spPr>
      </p:pic>
      <p:sp>
        <p:nvSpPr>
          <p:cNvPr id="15" name="Text Placeholder 8"/>
          <p:cNvSpPr>
            <a:spLocks noGrp="1"/>
          </p:cNvSpPr>
          <p:nvPr>
            <p:ph type="body" sz="quarter" idx="14" hasCustomPrompt="1"/>
          </p:nvPr>
        </p:nvSpPr>
        <p:spPr>
          <a:xfrm>
            <a:off x="596322" y="3257550"/>
            <a:ext cx="7218363" cy="1818747"/>
          </a:xfrm>
        </p:spPr>
        <p:txBody>
          <a:bodyPr anchor="b"/>
          <a:lstStyle>
            <a:lvl1pPr marL="0" indent="0">
              <a:buNone/>
              <a:defRPr sz="6000" b="1">
                <a:solidFill>
                  <a:schemeClr val="bg1"/>
                </a:solidFill>
              </a:defRPr>
            </a:lvl1pPr>
          </a:lstStyle>
          <a:p>
            <a:r>
              <a:rPr lang="en-US" dirty="0" smtClean="0"/>
              <a:t>Click to edit Master title style</a:t>
            </a:r>
            <a:endParaRPr lang="sv-SE" dirty="0"/>
          </a:p>
        </p:txBody>
      </p:sp>
      <p:pic>
        <p:nvPicPr>
          <p:cNvPr id="13"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77330" y="226116"/>
            <a:ext cx="960462" cy="1076212"/>
          </a:xfrm>
          <a:prstGeom prst="rect">
            <a:avLst/>
          </a:prstGeom>
        </p:spPr>
      </p:pic>
    </p:spTree>
    <p:extLst>
      <p:ext uri="{BB962C8B-B14F-4D97-AF65-F5344CB8AC3E}">
        <p14:creationId xmlns:p14="http://schemas.microsoft.com/office/powerpoint/2010/main" val="12313615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9_Title, image">
    <p:bg>
      <p:bgPr>
        <a:solidFill>
          <a:srgbClr val="000061"/>
        </a:solidFill>
        <a:effectLst/>
      </p:bgPr>
    </p:bg>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a:xfrm>
            <a:off x="600075" y="6473327"/>
            <a:ext cx="2743200" cy="94775"/>
          </a:xfrm>
        </p:spPr>
        <p:txBody>
          <a:bodyPr/>
          <a:lstStyle>
            <a:lvl1pPr>
              <a:defRPr>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1A0D637-CC39-0F47-97F1-76AAE59A5700}" type="datetime1">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2025-10-30</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a:xfrm>
            <a:off x="4037805" y="6470364"/>
            <a:ext cx="4114800" cy="97738"/>
          </a:xfrm>
        </p:spPr>
        <p:txBody>
          <a:bodyPr/>
          <a:lstStyle>
            <a:lvl1pPr>
              <a:defRPr>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sv-SE" sz="700" b="0" i="0" u="none" strike="noStrike" kern="1200" cap="none" spc="0" normalizeH="0" baseline="0" noProof="0" dirty="0" smtClean="0">
                <a:ln>
                  <a:noFill/>
                </a:ln>
                <a:solidFill>
                  <a:srgbClr val="FFFFFF"/>
                </a:solidFill>
                <a:effectLst/>
                <a:uLnTx/>
                <a:uFillTx/>
                <a:latin typeface="Figtree" panose="020F0502020204030204"/>
                <a:ea typeface="+mn-ea"/>
                <a:cs typeface="+mn-cs"/>
              </a:rPr>
              <a:t>Presentation </a:t>
            </a:r>
            <a:r>
              <a:rPr kumimoji="0" lang="sv-SE" sz="700" b="0" i="0" u="none" strike="noStrike" kern="1200" cap="none" spc="0" normalizeH="0" baseline="0" noProof="0" dirty="0" err="1" smtClean="0">
                <a:ln>
                  <a:noFill/>
                </a:ln>
                <a:solidFill>
                  <a:srgbClr val="FFFFFF"/>
                </a:solidFill>
                <a:effectLst/>
                <a:uLnTx/>
                <a:uFillTx/>
                <a:latin typeface="Figtree" panose="020F0502020204030204"/>
                <a:ea typeface="+mn-ea"/>
                <a:cs typeface="+mn-cs"/>
              </a:rPr>
              <a:t>footer</a:t>
            </a:r>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a:xfrm>
            <a:off x="8848725" y="6473328"/>
            <a:ext cx="2743200" cy="94774"/>
          </a:xfrm>
        </p:spPr>
        <p:txBody>
          <a:bodyPr/>
          <a:lstStyle>
            <a:lvl1pPr>
              <a:defRPr>
                <a:solidFill>
                  <a:schemeClr val="bg1"/>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716C8F4-20CD-364A-8A8E-DE130115B178}" type="slidenum">
              <a:rPr kumimoji="0" lang="sv-SE" sz="700" b="0" i="0" u="none" strike="noStrike" kern="1200" cap="none" spc="0" normalizeH="0" baseline="0" noProof="0" smtClean="0">
                <a:ln>
                  <a:noFill/>
                </a:ln>
                <a:solidFill>
                  <a:srgbClr val="FFFFFF"/>
                </a:solidFill>
                <a:effectLst/>
                <a:uLnTx/>
                <a:uFillTx/>
                <a:latin typeface="Figtree"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700" b="0" i="0" u="none" strike="noStrike" kern="1200" cap="none" spc="0" normalizeH="0" baseline="0" noProof="0" dirty="0">
              <a:ln>
                <a:noFill/>
              </a:ln>
              <a:solidFill>
                <a:srgbClr val="FFFFFF"/>
              </a:solidFill>
              <a:effectLst/>
              <a:uLnTx/>
              <a:uFillTx/>
              <a:latin typeface="Figtree" panose="020F0502020204030204"/>
              <a:ea typeface="+mn-ea"/>
              <a:cs typeface="+mn-cs"/>
            </a:endParaRPr>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marL="0" marR="0" lvl="0" indent="0" algn="l" defTabSz="914400" rtl="0" eaLnBrk="1" fontAlgn="auto" latinLnBrk="0" hangingPunct="1">
              <a:lnSpc>
                <a:spcPct val="100000"/>
              </a:lnSpc>
              <a:spcBef>
                <a:spcPts val="0"/>
              </a:spcBef>
              <a:spcAft>
                <a:spcPts val="8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Figtree" panose="020F0302020204030204"/>
                <a:ea typeface="+mn-ea"/>
                <a:cs typeface="+mn-cs"/>
              </a:rPr>
              <a:t>Change background image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Design &gt; Format Background.</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Format Background pane, select Picture or texture fill.</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Select File.</a:t>
            </a:r>
          </a:p>
          <a:p>
            <a:pPr marL="162900" marR="0" lvl="0" indent="-162900" algn="l" defTabSz="914400" rtl="0" eaLnBrk="1" fontAlgn="auto" latinLnBrk="0" hangingPunct="1">
              <a:lnSpc>
                <a:spcPct val="100000"/>
              </a:lnSpc>
              <a:spcBef>
                <a:spcPts val="0"/>
              </a:spcBef>
              <a:spcAft>
                <a:spcPts val="600"/>
              </a:spcAft>
              <a:buClrTx/>
              <a:buSzTx/>
              <a:buFont typeface="+mj-lt"/>
              <a:buAutoNum type="arabicPeriod"/>
              <a:tabLst/>
              <a:defRPr/>
            </a:pPr>
            <a:r>
              <a:rPr kumimoji="0" lang="en-US" sz="1000" b="0" i="0" u="none" strike="noStrike" kern="1200" cap="none" spc="0" normalizeH="0" baseline="0" noProof="0" dirty="0">
                <a:ln>
                  <a:noFill/>
                </a:ln>
                <a:solidFill>
                  <a:srgbClr val="FFFFFF"/>
                </a:solidFill>
                <a:effectLst/>
                <a:uLnTx/>
                <a:uFillTx/>
                <a:latin typeface="Figtree" panose="020F0502020204030204"/>
                <a:ea typeface="+mn-ea"/>
                <a:cs typeface="+mn-cs"/>
              </a:rPr>
              <a:t>In the Insert Picture dialog box, choose the picture you want to use and then select Insert.</a:t>
            </a:r>
          </a:p>
        </p:txBody>
      </p:sp>
      <p:sp>
        <p:nvSpPr>
          <p:cNvPr id="13"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5205"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15"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pic>
        <p:nvPicPr>
          <p:cNvPr id="10"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77330" y="226116"/>
            <a:ext cx="960462" cy="1076212"/>
          </a:xfrm>
          <a:prstGeom prst="rect">
            <a:avLst/>
          </a:prstGeom>
        </p:spPr>
      </p:pic>
    </p:spTree>
    <p:extLst>
      <p:ext uri="{BB962C8B-B14F-4D97-AF65-F5344CB8AC3E}">
        <p14:creationId xmlns:p14="http://schemas.microsoft.com/office/powerpoint/2010/main" val="26466911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2025-10-30</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600075" y="1095632"/>
            <a:ext cx="8830253" cy="568412"/>
          </a:xfrm>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30252" cy="4530302"/>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2025-10-30</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600076" y="1095632"/>
            <a:ext cx="8922616" cy="568412"/>
          </a:xfrm>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30252" cy="4530302"/>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2025-10-30</a:t>
            </a:fld>
            <a:endParaRPr lang="sv-SE" dirty="0"/>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600075" y="1095632"/>
            <a:ext cx="8821017" cy="568412"/>
          </a:xfrm>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21016" cy="4530302"/>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2025-10-30</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600075" y="1095632"/>
            <a:ext cx="8848725" cy="568412"/>
          </a:xfrm>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48725" cy="4530302"/>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2025-10-30</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2025-10-30</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2025-10-30</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2025-10-30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lvl1pPr>
              <a:defRPr sz="1800"/>
            </a:lvl1pPr>
            <a:lvl2pPr>
              <a:defRPr sz="1600"/>
            </a:lvl2pPr>
            <a:lvl3pPr>
              <a:defRPr sz="1400"/>
            </a:lvl3pPr>
            <a:lvl4pPr>
              <a:defRPr sz="1200"/>
            </a:lvl4pPr>
            <a:lvl5pPr>
              <a:defRPr sz="1200"/>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2025-10-30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2025-10-30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2025-10-30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2025-10-30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2025-10-30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2025-10-30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2025-10-30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8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2025-10-30</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2025-10-30</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2025-10-30</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2025-10-30</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2025-10-30</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2025-10-30</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2025-10-30</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2025-10-30</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2025-10-30</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2025-10-30</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2025-10-30</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2025-10-30</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2025-10-30</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a:extLs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2025-10-30</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2025-10-30</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2025-10-30</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2025-10-30</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a:extLs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a:extLs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2025-10-30</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a:extLs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a:extLs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2025-10-30</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2025-10-30</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a:t>
            </a:r>
            <a:r>
              <a:rPr lang="en-US" sz="1600" b="1" baseline="0" noProof="0" dirty="0" smtClean="0">
                <a:solidFill>
                  <a:schemeClr val="tx2"/>
                </a:solidFill>
                <a:latin typeface="+mj-lt"/>
              </a:rPr>
              <a: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2025-10-30</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795850"/>
            <a:ext cx="10990263" cy="4530302"/>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2025-10-30</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a:extLst>
              <a:ext uri="{96DAC541-7B7A-43D3-8B79-37D633B846F1}">
                <asvg:svgBlip xmlns="" xmlns:asvg="http://schemas.microsoft.com/office/drawing/2016/SVG/main" r:embed="rId50"/>
              </a:ext>
            </a:extLst>
          </a:blip>
          <a:stretch>
            <a:fillRect/>
          </a:stretch>
        </p:blipFill>
        <p:spPr>
          <a:xfrm>
            <a:off x="182680"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hf sldNum="0" hdr="0" ftr="0" dt="0"/>
  <p:txStyles>
    <p:titleStyle>
      <a:lvl1pPr algn="l" defTabSz="914400" rtl="0" eaLnBrk="1" latinLnBrk="0" hangingPunct="1">
        <a:lnSpc>
          <a:spcPct val="8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sv-SE"/>
          </a:p>
        </p:txBody>
      </p:sp>
      <p:sp>
        <p:nvSpPr>
          <p:cNvPr id="3" name="Subtitle 2"/>
          <p:cNvSpPr>
            <a:spLocks noGrp="1"/>
          </p:cNvSpPr>
          <p:nvPr>
            <p:ph type="subTitle" idx="1"/>
          </p:nvPr>
        </p:nvSpPr>
        <p:spPr/>
        <p:txBody>
          <a:bodyPr/>
          <a:lstStyle/>
          <a:p>
            <a:endParaRPr lang="sv-SE"/>
          </a:p>
        </p:txBody>
      </p:sp>
    </p:spTree>
    <p:extLst>
      <p:ext uri="{BB962C8B-B14F-4D97-AF65-F5344CB8AC3E}">
        <p14:creationId xmlns:p14="http://schemas.microsoft.com/office/powerpoint/2010/main" val="19475733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ounded Rectangle 151"/>
          <p:cNvSpPr/>
          <p:nvPr/>
        </p:nvSpPr>
        <p:spPr>
          <a:xfrm>
            <a:off x="2267266" y="1864624"/>
            <a:ext cx="3781234" cy="3416036"/>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solidFill>
                <a:schemeClr val="tx1"/>
              </a:solidFill>
              <a:latin typeface="Times New Roman" panose="02020603050405020304" pitchFamily="18" charset="0"/>
              <a:cs typeface="Times New Roman" panose="02020603050405020304" pitchFamily="18" charset="0"/>
            </a:endParaRPr>
          </a:p>
        </p:txBody>
      </p:sp>
      <p:sp>
        <p:nvSpPr>
          <p:cNvPr id="4" name="Rounded Rectangle 3"/>
          <p:cNvSpPr/>
          <p:nvPr/>
        </p:nvSpPr>
        <p:spPr>
          <a:xfrm>
            <a:off x="2396855" y="2202862"/>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 name="Rounded Rectangle 6"/>
          <p:cNvSpPr/>
          <p:nvPr/>
        </p:nvSpPr>
        <p:spPr>
          <a:xfrm>
            <a:off x="6512721" y="3044228"/>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Traction </a:t>
            </a:r>
          </a:p>
          <a:p>
            <a:pPr algn="ctr"/>
            <a:r>
              <a:rPr lang="en-US" dirty="0" smtClean="0">
                <a:solidFill>
                  <a:schemeClr val="tx1"/>
                </a:solidFill>
                <a:latin typeface="Times New Roman" panose="02020603050405020304" pitchFamily="18" charset="0"/>
                <a:cs typeface="Times New Roman" panose="02020603050405020304" pitchFamily="18" charset="0"/>
              </a:rPr>
              <a:t>Inverter</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14" name="Oval 13"/>
          <p:cNvSpPr/>
          <p:nvPr/>
        </p:nvSpPr>
        <p:spPr>
          <a:xfrm>
            <a:off x="6801479" y="1779646"/>
            <a:ext cx="1094874" cy="1051760"/>
          </a:xfrm>
          <a:prstGeom prst="ellipse">
            <a:avLst/>
          </a:prstGeom>
          <a:solidFill>
            <a:schemeClr val="accent6">
              <a:lumMod val="60000"/>
              <a:lumOff val="40000"/>
              <a:alpha val="50196"/>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Motor</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17" name="Rounded Rectangle 16"/>
          <p:cNvSpPr/>
          <p:nvPr/>
        </p:nvSpPr>
        <p:spPr>
          <a:xfrm>
            <a:off x="8251045" y="1926531"/>
            <a:ext cx="1146328"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Gear Box</a:t>
            </a:r>
            <a:endParaRPr lang="sv-SE" dirty="0">
              <a:solidFill>
                <a:schemeClr val="tx1"/>
              </a:solidFill>
              <a:latin typeface="Times New Roman" panose="02020603050405020304" pitchFamily="18" charset="0"/>
              <a:cs typeface="Times New Roman" panose="02020603050405020304" pitchFamily="18" charset="0"/>
            </a:endParaRPr>
          </a:p>
        </p:txBody>
      </p:sp>
      <p:cxnSp>
        <p:nvCxnSpPr>
          <p:cNvPr id="19" name="Straight Arrow Connector 18"/>
          <p:cNvCxnSpPr>
            <a:stCxn id="5" idx="3"/>
            <a:endCxn id="6" idx="1"/>
          </p:cNvCxnSpPr>
          <p:nvPr/>
        </p:nvCxnSpPr>
        <p:spPr>
          <a:xfrm>
            <a:off x="9924717" y="1431839"/>
            <a:ext cx="0" cy="3982768"/>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sp>
        <p:nvSpPr>
          <p:cNvPr id="28" name="Rounded Rectangle 27"/>
          <p:cNvSpPr/>
          <p:nvPr/>
        </p:nvSpPr>
        <p:spPr>
          <a:xfrm>
            <a:off x="1790699" y="1203158"/>
            <a:ext cx="9534526" cy="4426114"/>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 name="Rounded Rectangle 4"/>
          <p:cNvSpPr/>
          <p:nvPr/>
        </p:nvSpPr>
        <p:spPr>
          <a:xfrm rot="5400000">
            <a:off x="9690101" y="394115"/>
            <a:ext cx="469232" cy="1606216"/>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sv-SE" dirty="0"/>
          </a:p>
        </p:txBody>
      </p:sp>
      <p:sp>
        <p:nvSpPr>
          <p:cNvPr id="6" name="Rounded Rectangle 5"/>
          <p:cNvSpPr/>
          <p:nvPr/>
        </p:nvSpPr>
        <p:spPr>
          <a:xfrm rot="5400000">
            <a:off x="9690101" y="4846115"/>
            <a:ext cx="469232" cy="1606216"/>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6" name="Rounded Rectangle 45"/>
          <p:cNvSpPr/>
          <p:nvPr/>
        </p:nvSpPr>
        <p:spPr>
          <a:xfrm>
            <a:off x="6512721" y="4368144"/>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On Board </a:t>
            </a:r>
          </a:p>
          <a:p>
            <a:pPr algn="ctr"/>
            <a:r>
              <a:rPr lang="en-US" dirty="0" smtClean="0">
                <a:solidFill>
                  <a:schemeClr val="tx1"/>
                </a:solidFill>
                <a:latin typeface="Times New Roman" panose="02020603050405020304" pitchFamily="18" charset="0"/>
                <a:cs typeface="Times New Roman" panose="02020603050405020304" pitchFamily="18" charset="0"/>
              </a:rPr>
              <a:t>Charger</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69" name="Rounded Rectangle 68"/>
          <p:cNvSpPr/>
          <p:nvPr/>
        </p:nvSpPr>
        <p:spPr>
          <a:xfrm>
            <a:off x="2396855" y="3244075"/>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0" name="Rounded Rectangle 69"/>
          <p:cNvSpPr/>
          <p:nvPr/>
        </p:nvSpPr>
        <p:spPr>
          <a:xfrm>
            <a:off x="2396000" y="4297433"/>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cxnSp>
        <p:nvCxnSpPr>
          <p:cNvPr id="72" name="Straight Arrow Connector 71"/>
          <p:cNvCxnSpPr>
            <a:stCxn id="4" idx="2"/>
            <a:endCxn id="69" idx="0"/>
          </p:cNvCxnSpPr>
          <p:nvPr/>
        </p:nvCxnSpPr>
        <p:spPr>
          <a:xfrm>
            <a:off x="3233050" y="2960852"/>
            <a:ext cx="0" cy="283223"/>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a:off x="3246591" y="4014210"/>
            <a:ext cx="0" cy="283223"/>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sp>
        <p:nvSpPr>
          <p:cNvPr id="77" name="Rounded Rectangle 76"/>
          <p:cNvSpPr/>
          <p:nvPr/>
        </p:nvSpPr>
        <p:spPr>
          <a:xfrm>
            <a:off x="4244709" y="2202862"/>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8" name="Rounded Rectangle 77"/>
          <p:cNvSpPr/>
          <p:nvPr/>
        </p:nvSpPr>
        <p:spPr>
          <a:xfrm>
            <a:off x="4244709" y="3244075"/>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9" name="Rounded Rectangle 78"/>
          <p:cNvSpPr/>
          <p:nvPr/>
        </p:nvSpPr>
        <p:spPr>
          <a:xfrm>
            <a:off x="4243854" y="4297433"/>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cxnSp>
        <p:nvCxnSpPr>
          <p:cNvPr id="80" name="Straight Arrow Connector 79"/>
          <p:cNvCxnSpPr>
            <a:stCxn id="77" idx="2"/>
            <a:endCxn id="78" idx="0"/>
          </p:cNvCxnSpPr>
          <p:nvPr/>
        </p:nvCxnSpPr>
        <p:spPr>
          <a:xfrm>
            <a:off x="5080904" y="2960852"/>
            <a:ext cx="0" cy="283223"/>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a:off x="5094445" y="4014210"/>
            <a:ext cx="0" cy="283223"/>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82" name="Straight Arrow Connector 81"/>
          <p:cNvCxnSpPr>
            <a:stCxn id="77" idx="1"/>
            <a:endCxn id="4" idx="3"/>
          </p:cNvCxnSpPr>
          <p:nvPr/>
        </p:nvCxnSpPr>
        <p:spPr>
          <a:xfrm flipH="1">
            <a:off x="4069245" y="2581857"/>
            <a:ext cx="175464" cy="0"/>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flipH="1">
            <a:off x="4074118" y="3623070"/>
            <a:ext cx="175464" cy="0"/>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87" name="Straight Arrow Connector 86"/>
          <p:cNvCxnSpPr/>
          <p:nvPr/>
        </p:nvCxnSpPr>
        <p:spPr>
          <a:xfrm flipH="1">
            <a:off x="4068390" y="4719298"/>
            <a:ext cx="175464" cy="0"/>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105" name="Straight Arrow Connector 104"/>
          <p:cNvCxnSpPr>
            <a:stCxn id="17" idx="3"/>
            <a:endCxn id="150" idx="1"/>
          </p:cNvCxnSpPr>
          <p:nvPr/>
        </p:nvCxnSpPr>
        <p:spPr>
          <a:xfrm>
            <a:off x="9397373" y="2305526"/>
            <a:ext cx="292728" cy="0"/>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cxnSp>
        <p:nvCxnSpPr>
          <p:cNvPr id="130" name="Straight Arrow Connector 129"/>
          <p:cNvCxnSpPr>
            <a:stCxn id="151" idx="3"/>
            <a:endCxn id="46" idx="2"/>
          </p:cNvCxnSpPr>
          <p:nvPr/>
        </p:nvCxnSpPr>
        <p:spPr>
          <a:xfrm flipV="1">
            <a:off x="7348916" y="5126134"/>
            <a:ext cx="0" cy="588678"/>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136" name="Straight Arrow Connector 135"/>
          <p:cNvCxnSpPr/>
          <p:nvPr/>
        </p:nvCxnSpPr>
        <p:spPr>
          <a:xfrm>
            <a:off x="7224685" y="5964184"/>
            <a:ext cx="131" cy="172307"/>
          </a:xfrm>
          <a:prstGeom prst="straightConnector1">
            <a:avLst/>
          </a:prstGeom>
          <a:ln w="28575">
            <a:tailEnd type="none"/>
          </a:ln>
        </p:spPr>
        <p:style>
          <a:lnRef idx="1">
            <a:schemeClr val="accent1"/>
          </a:lnRef>
          <a:fillRef idx="0">
            <a:schemeClr val="accent1"/>
          </a:fillRef>
          <a:effectRef idx="0">
            <a:schemeClr val="accent1"/>
          </a:effectRef>
          <a:fontRef idx="minor">
            <a:schemeClr val="tx1"/>
          </a:fontRef>
        </p:style>
      </p:cxnSp>
      <p:sp>
        <p:nvSpPr>
          <p:cNvPr id="150" name="Rounded Rectangle 149"/>
          <p:cNvSpPr/>
          <p:nvPr/>
        </p:nvSpPr>
        <p:spPr>
          <a:xfrm>
            <a:off x="9690101" y="1740162"/>
            <a:ext cx="469232" cy="1130728"/>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sv-SE" dirty="0"/>
          </a:p>
        </p:txBody>
      </p:sp>
      <p:sp>
        <p:nvSpPr>
          <p:cNvPr id="151" name="Rounded Rectangle 150"/>
          <p:cNvSpPr/>
          <p:nvPr/>
        </p:nvSpPr>
        <p:spPr>
          <a:xfrm rot="16200000">
            <a:off x="7221634" y="5632257"/>
            <a:ext cx="254564" cy="41967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sv-SE" dirty="0"/>
          </a:p>
        </p:txBody>
      </p:sp>
      <p:cxnSp>
        <p:nvCxnSpPr>
          <p:cNvPr id="171" name="Straight Arrow Connector 170"/>
          <p:cNvCxnSpPr>
            <a:stCxn id="14" idx="4"/>
            <a:endCxn id="7" idx="0"/>
          </p:cNvCxnSpPr>
          <p:nvPr/>
        </p:nvCxnSpPr>
        <p:spPr>
          <a:xfrm>
            <a:off x="7348916" y="2831406"/>
            <a:ext cx="0" cy="212822"/>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183" name="Straight Arrow Connector 182"/>
          <p:cNvCxnSpPr>
            <a:stCxn id="14" idx="6"/>
            <a:endCxn id="17" idx="1"/>
          </p:cNvCxnSpPr>
          <p:nvPr/>
        </p:nvCxnSpPr>
        <p:spPr>
          <a:xfrm>
            <a:off x="7896353" y="2305526"/>
            <a:ext cx="354692" cy="0"/>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cxnSp>
        <p:nvCxnSpPr>
          <p:cNvPr id="226" name="Straight Arrow Connector 225"/>
          <p:cNvCxnSpPr/>
          <p:nvPr/>
        </p:nvCxnSpPr>
        <p:spPr>
          <a:xfrm>
            <a:off x="7348784" y="5960729"/>
            <a:ext cx="131" cy="172307"/>
          </a:xfrm>
          <a:prstGeom prst="straightConnector1">
            <a:avLst/>
          </a:prstGeom>
          <a:ln w="28575">
            <a:tailEnd type="none"/>
          </a:ln>
        </p:spPr>
        <p:style>
          <a:lnRef idx="1">
            <a:schemeClr val="accent1"/>
          </a:lnRef>
          <a:fillRef idx="0">
            <a:schemeClr val="accent1"/>
          </a:fillRef>
          <a:effectRef idx="0">
            <a:schemeClr val="accent1"/>
          </a:effectRef>
          <a:fontRef idx="minor">
            <a:schemeClr val="tx1"/>
          </a:fontRef>
        </p:style>
      </p:cxnSp>
      <p:cxnSp>
        <p:nvCxnSpPr>
          <p:cNvPr id="227" name="Straight Arrow Connector 226"/>
          <p:cNvCxnSpPr/>
          <p:nvPr/>
        </p:nvCxnSpPr>
        <p:spPr>
          <a:xfrm>
            <a:off x="7491906" y="5960728"/>
            <a:ext cx="131" cy="172307"/>
          </a:xfrm>
          <a:prstGeom prst="straightConnector1">
            <a:avLst/>
          </a:prstGeom>
          <a:ln w="28575">
            <a:tailEnd type="none"/>
          </a:ln>
        </p:spPr>
        <p:style>
          <a:lnRef idx="1">
            <a:schemeClr val="accent1"/>
          </a:lnRef>
          <a:fillRef idx="0">
            <a:schemeClr val="accent1"/>
          </a:fillRef>
          <a:effectRef idx="0">
            <a:schemeClr val="accent1"/>
          </a:effectRef>
          <a:fontRef idx="minor">
            <a:schemeClr val="tx1"/>
          </a:fontRef>
        </p:style>
      </p:cxnSp>
      <p:sp>
        <p:nvSpPr>
          <p:cNvPr id="231" name="Rectangle 230"/>
          <p:cNvSpPr/>
          <p:nvPr/>
        </p:nvSpPr>
        <p:spPr>
          <a:xfrm>
            <a:off x="3038761" y="1852668"/>
            <a:ext cx="2104069" cy="369332"/>
          </a:xfrm>
          <a:prstGeom prst="rect">
            <a:avLst/>
          </a:prstGeom>
        </p:spPr>
        <p:txBody>
          <a:bodyPr wrap="square">
            <a:spAutoFit/>
          </a:bodyPr>
          <a:lstStyle/>
          <a:p>
            <a:pPr algn="ctr"/>
            <a:r>
              <a:rPr lang="en-US" dirty="0">
                <a:latin typeface="Times New Roman" panose="02020603050405020304" pitchFamily="18" charset="0"/>
                <a:cs typeface="Times New Roman" panose="02020603050405020304" pitchFamily="18" charset="0"/>
              </a:rPr>
              <a:t>Battery </a:t>
            </a:r>
            <a:r>
              <a:rPr lang="en-US" dirty="0" smtClean="0">
                <a:latin typeface="Times New Roman" panose="02020603050405020304" pitchFamily="18" charset="0"/>
                <a:cs typeface="Times New Roman" panose="02020603050405020304" pitchFamily="18" charset="0"/>
              </a:rPr>
              <a:t>Pack</a:t>
            </a:r>
            <a:endParaRPr lang="sv-SE" dirty="0">
              <a:latin typeface="Times New Roman" panose="02020603050405020304" pitchFamily="18" charset="0"/>
              <a:cs typeface="Times New Roman" panose="02020603050405020304" pitchFamily="18" charset="0"/>
            </a:endParaRPr>
          </a:p>
        </p:txBody>
      </p:sp>
      <p:cxnSp>
        <p:nvCxnSpPr>
          <p:cNvPr id="257" name="Straight Arrow Connector 256"/>
          <p:cNvCxnSpPr/>
          <p:nvPr/>
        </p:nvCxnSpPr>
        <p:spPr>
          <a:xfrm>
            <a:off x="6051005" y="4713239"/>
            <a:ext cx="464221" cy="6059"/>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259" name="Straight Arrow Connector 258"/>
          <p:cNvCxnSpPr/>
          <p:nvPr/>
        </p:nvCxnSpPr>
        <p:spPr>
          <a:xfrm>
            <a:off x="6055107" y="3437913"/>
            <a:ext cx="464221" cy="6059"/>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sp>
        <p:nvSpPr>
          <p:cNvPr id="261" name="Rectangle 260"/>
          <p:cNvSpPr/>
          <p:nvPr/>
        </p:nvSpPr>
        <p:spPr>
          <a:xfrm>
            <a:off x="5637360" y="5624801"/>
            <a:ext cx="1520609" cy="369332"/>
          </a:xfrm>
          <a:prstGeom prst="rect">
            <a:avLst/>
          </a:prstGeom>
        </p:spPr>
        <p:txBody>
          <a:bodyPr wrap="none">
            <a:spAutoFit/>
          </a:bodyPr>
          <a:lstStyle/>
          <a:p>
            <a:pPr algn="ctr"/>
            <a:r>
              <a:rPr lang="en-US" dirty="0" smtClean="0">
                <a:latin typeface="Times New Roman" panose="02020603050405020304" pitchFamily="18" charset="0"/>
                <a:cs typeface="Times New Roman" panose="02020603050405020304" pitchFamily="18" charset="0"/>
              </a:rPr>
              <a:t>Charging Plug</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076481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9310099" y="1495657"/>
            <a:ext cx="5231300" cy="3279046"/>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Tree>
    <p:extLst>
      <p:ext uri="{BB962C8B-B14F-4D97-AF65-F5344CB8AC3E}">
        <p14:creationId xmlns:p14="http://schemas.microsoft.com/office/powerpoint/2010/main" val="20123581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ounded Rectangle 151"/>
          <p:cNvSpPr/>
          <p:nvPr/>
        </p:nvSpPr>
        <p:spPr>
          <a:xfrm>
            <a:off x="592500" y="1336210"/>
            <a:ext cx="3781234" cy="3416036"/>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solidFill>
                <a:schemeClr val="tx1"/>
              </a:solidFill>
              <a:latin typeface="Times New Roman" panose="02020603050405020304" pitchFamily="18" charset="0"/>
              <a:cs typeface="Times New Roman" panose="02020603050405020304" pitchFamily="18" charset="0"/>
            </a:endParaRPr>
          </a:p>
        </p:txBody>
      </p:sp>
      <p:sp>
        <p:nvSpPr>
          <p:cNvPr id="4" name="Rounded Rectangle 3"/>
          <p:cNvSpPr/>
          <p:nvPr/>
        </p:nvSpPr>
        <p:spPr>
          <a:xfrm>
            <a:off x="722089" y="1674448"/>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 name="Rounded Rectangle 6"/>
          <p:cNvSpPr/>
          <p:nvPr/>
        </p:nvSpPr>
        <p:spPr>
          <a:xfrm>
            <a:off x="5959097" y="2571194"/>
            <a:ext cx="2227714" cy="914602"/>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Traction </a:t>
            </a:r>
            <a:r>
              <a:rPr lang="en-US" dirty="0" smtClean="0">
                <a:solidFill>
                  <a:schemeClr val="tx1"/>
                </a:solidFill>
                <a:latin typeface="Times New Roman" panose="02020603050405020304" pitchFamily="18" charset="0"/>
                <a:cs typeface="Times New Roman" panose="02020603050405020304" pitchFamily="18" charset="0"/>
              </a:rPr>
              <a:t>Inverter</a:t>
            </a:r>
          </a:p>
          <a:p>
            <a:pPr algn="ctr"/>
            <a:r>
              <a:rPr lang="en-US" dirty="0" smtClean="0">
                <a:solidFill>
                  <a:schemeClr val="tx1"/>
                </a:solidFill>
                <a:latin typeface="Times New Roman" panose="02020603050405020304" pitchFamily="18" charset="0"/>
                <a:cs typeface="Times New Roman" panose="02020603050405020304" pitchFamily="18" charset="0"/>
              </a:rPr>
              <a:t>(1.2kV / 2kV </a:t>
            </a:r>
            <a:r>
              <a:rPr lang="en-US" dirty="0" err="1" smtClean="0">
                <a:solidFill>
                  <a:schemeClr val="tx1"/>
                </a:solidFill>
                <a:latin typeface="Times New Roman" panose="02020603050405020304" pitchFamily="18" charset="0"/>
                <a:cs typeface="Times New Roman" panose="02020603050405020304" pitchFamily="18" charset="0"/>
              </a:rPr>
              <a:t>SiC</a:t>
            </a:r>
            <a:r>
              <a:rPr lang="en-US" dirty="0" smtClean="0">
                <a:solidFill>
                  <a:schemeClr val="tx1"/>
                </a:solidFill>
                <a:latin typeface="Times New Roman" panose="02020603050405020304" pitchFamily="18" charset="0"/>
                <a:cs typeface="Times New Roman" panose="02020603050405020304" pitchFamily="18" charset="0"/>
              </a:rPr>
              <a:t>)</a:t>
            </a:r>
          </a:p>
          <a:p>
            <a:pPr algn="ctr"/>
            <a:endParaRPr lang="sv-SE" dirty="0">
              <a:solidFill>
                <a:schemeClr val="tx1"/>
              </a:solidFill>
              <a:latin typeface="Times New Roman" panose="02020603050405020304" pitchFamily="18" charset="0"/>
              <a:cs typeface="Times New Roman" panose="02020603050405020304" pitchFamily="18" charset="0"/>
            </a:endParaRPr>
          </a:p>
        </p:txBody>
      </p:sp>
      <p:sp>
        <p:nvSpPr>
          <p:cNvPr id="14" name="Oval 13"/>
          <p:cNvSpPr/>
          <p:nvPr/>
        </p:nvSpPr>
        <p:spPr>
          <a:xfrm>
            <a:off x="9330751" y="2498263"/>
            <a:ext cx="1094874" cy="1051760"/>
          </a:xfrm>
          <a:prstGeom prst="ellipse">
            <a:avLst/>
          </a:prstGeom>
          <a:solidFill>
            <a:schemeClr val="accent6">
              <a:lumMod val="60000"/>
              <a:lumOff val="40000"/>
              <a:alpha val="50196"/>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Motor</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17" name="Rounded Rectangle 16"/>
          <p:cNvSpPr/>
          <p:nvPr/>
        </p:nvSpPr>
        <p:spPr>
          <a:xfrm>
            <a:off x="11068021" y="2642503"/>
            <a:ext cx="1146328"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Gear Box</a:t>
            </a:r>
            <a:endParaRPr lang="sv-SE" dirty="0">
              <a:solidFill>
                <a:schemeClr val="tx1"/>
              </a:solidFill>
              <a:latin typeface="Times New Roman" panose="02020603050405020304" pitchFamily="18" charset="0"/>
              <a:cs typeface="Times New Roman" panose="02020603050405020304" pitchFamily="18" charset="0"/>
            </a:endParaRPr>
          </a:p>
        </p:txBody>
      </p:sp>
      <p:cxnSp>
        <p:nvCxnSpPr>
          <p:cNvPr id="19" name="Straight Arrow Connector 18"/>
          <p:cNvCxnSpPr>
            <a:stCxn id="5" idx="3"/>
            <a:endCxn id="6" idx="1"/>
          </p:cNvCxnSpPr>
          <p:nvPr/>
        </p:nvCxnSpPr>
        <p:spPr>
          <a:xfrm>
            <a:off x="13318994" y="878890"/>
            <a:ext cx="0" cy="5085386"/>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rot="5400000">
            <a:off x="13084378" y="-212549"/>
            <a:ext cx="469232" cy="1713646"/>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sv-SE" dirty="0"/>
          </a:p>
        </p:txBody>
      </p:sp>
      <p:sp>
        <p:nvSpPr>
          <p:cNvPr id="6" name="Rounded Rectangle 5"/>
          <p:cNvSpPr/>
          <p:nvPr/>
        </p:nvSpPr>
        <p:spPr>
          <a:xfrm rot="5400000">
            <a:off x="13084378" y="5342069"/>
            <a:ext cx="469232" cy="1713646"/>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6" name="Rounded Rectangle 45"/>
          <p:cNvSpPr/>
          <p:nvPr/>
        </p:nvSpPr>
        <p:spPr>
          <a:xfrm>
            <a:off x="1645161" y="5201371"/>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On Board </a:t>
            </a:r>
          </a:p>
          <a:p>
            <a:pPr algn="ctr"/>
            <a:r>
              <a:rPr lang="en-US" dirty="0" smtClean="0">
                <a:solidFill>
                  <a:schemeClr val="tx1"/>
                </a:solidFill>
                <a:latin typeface="Times New Roman" panose="02020603050405020304" pitchFamily="18" charset="0"/>
                <a:cs typeface="Times New Roman" panose="02020603050405020304" pitchFamily="18" charset="0"/>
              </a:rPr>
              <a:t>Charger</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69" name="Rounded Rectangle 68"/>
          <p:cNvSpPr/>
          <p:nvPr/>
        </p:nvSpPr>
        <p:spPr>
          <a:xfrm>
            <a:off x="722089" y="2715661"/>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0" name="Rounded Rectangle 69"/>
          <p:cNvSpPr/>
          <p:nvPr/>
        </p:nvSpPr>
        <p:spPr>
          <a:xfrm>
            <a:off x="721234" y="3769019"/>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cxnSp>
        <p:nvCxnSpPr>
          <p:cNvPr id="72" name="Straight Arrow Connector 71"/>
          <p:cNvCxnSpPr>
            <a:stCxn id="4" idx="2"/>
            <a:endCxn id="69" idx="0"/>
          </p:cNvCxnSpPr>
          <p:nvPr/>
        </p:nvCxnSpPr>
        <p:spPr>
          <a:xfrm>
            <a:off x="1558284" y="2432438"/>
            <a:ext cx="0" cy="283223"/>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a:off x="1571825" y="3485796"/>
            <a:ext cx="0" cy="283223"/>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sp>
        <p:nvSpPr>
          <p:cNvPr id="77" name="Rounded Rectangle 76"/>
          <p:cNvSpPr/>
          <p:nvPr/>
        </p:nvSpPr>
        <p:spPr>
          <a:xfrm>
            <a:off x="2569943" y="1674448"/>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8" name="Rounded Rectangle 77"/>
          <p:cNvSpPr/>
          <p:nvPr/>
        </p:nvSpPr>
        <p:spPr>
          <a:xfrm>
            <a:off x="2569943" y="2715661"/>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9" name="Rounded Rectangle 78"/>
          <p:cNvSpPr/>
          <p:nvPr/>
        </p:nvSpPr>
        <p:spPr>
          <a:xfrm>
            <a:off x="2569088" y="3769019"/>
            <a:ext cx="1672390" cy="757990"/>
          </a:xfrm>
          <a:prstGeom prst="roundRect">
            <a:avLst/>
          </a:prstGeom>
          <a:solidFill>
            <a:schemeClr val="accent6">
              <a:lumMod val="60000"/>
              <a:lumOff val="40000"/>
              <a:alpha val="50196"/>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Battery </a:t>
            </a:r>
          </a:p>
          <a:p>
            <a:pPr algn="ctr"/>
            <a:r>
              <a:rPr lang="en-US" dirty="0" smtClean="0">
                <a:solidFill>
                  <a:schemeClr val="tx1"/>
                </a:solidFill>
                <a:latin typeface="Times New Roman" panose="02020603050405020304" pitchFamily="18" charset="0"/>
                <a:cs typeface="Times New Roman" panose="02020603050405020304" pitchFamily="18" charset="0"/>
              </a:rPr>
              <a:t>Modules</a:t>
            </a:r>
            <a:endParaRPr lang="sv-SE" dirty="0">
              <a:solidFill>
                <a:schemeClr val="tx1"/>
              </a:solidFill>
              <a:latin typeface="Times New Roman" panose="02020603050405020304" pitchFamily="18" charset="0"/>
              <a:cs typeface="Times New Roman" panose="02020603050405020304" pitchFamily="18" charset="0"/>
            </a:endParaRPr>
          </a:p>
        </p:txBody>
      </p:sp>
      <p:cxnSp>
        <p:nvCxnSpPr>
          <p:cNvPr id="80" name="Straight Arrow Connector 79"/>
          <p:cNvCxnSpPr>
            <a:stCxn id="77" idx="2"/>
            <a:endCxn id="78" idx="0"/>
          </p:cNvCxnSpPr>
          <p:nvPr/>
        </p:nvCxnSpPr>
        <p:spPr>
          <a:xfrm>
            <a:off x="3406138" y="2432438"/>
            <a:ext cx="0" cy="283223"/>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a:off x="3419679" y="3485796"/>
            <a:ext cx="0" cy="283223"/>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82" name="Straight Arrow Connector 81"/>
          <p:cNvCxnSpPr>
            <a:stCxn id="77" idx="1"/>
            <a:endCxn id="4" idx="3"/>
          </p:cNvCxnSpPr>
          <p:nvPr/>
        </p:nvCxnSpPr>
        <p:spPr>
          <a:xfrm flipH="1">
            <a:off x="2394479" y="2053443"/>
            <a:ext cx="175464" cy="0"/>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flipH="1">
            <a:off x="2399352" y="3094656"/>
            <a:ext cx="175464" cy="0"/>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87" name="Straight Arrow Connector 86"/>
          <p:cNvCxnSpPr/>
          <p:nvPr/>
        </p:nvCxnSpPr>
        <p:spPr>
          <a:xfrm flipH="1">
            <a:off x="2393624" y="4190884"/>
            <a:ext cx="175464" cy="0"/>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105" name="Straight Arrow Connector 104"/>
          <p:cNvCxnSpPr>
            <a:stCxn id="17" idx="3"/>
            <a:endCxn id="150" idx="1"/>
          </p:cNvCxnSpPr>
          <p:nvPr/>
        </p:nvCxnSpPr>
        <p:spPr>
          <a:xfrm>
            <a:off x="12214349" y="3021498"/>
            <a:ext cx="854337" cy="0"/>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cxnSp>
        <p:nvCxnSpPr>
          <p:cNvPr id="130" name="Straight Arrow Connector 129"/>
          <p:cNvCxnSpPr>
            <a:endCxn id="46" idx="2"/>
          </p:cNvCxnSpPr>
          <p:nvPr/>
        </p:nvCxnSpPr>
        <p:spPr>
          <a:xfrm flipV="1">
            <a:off x="2481356" y="5959361"/>
            <a:ext cx="0" cy="368964"/>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sp>
        <p:nvSpPr>
          <p:cNvPr id="150" name="Rounded Rectangle 149"/>
          <p:cNvSpPr/>
          <p:nvPr/>
        </p:nvSpPr>
        <p:spPr>
          <a:xfrm>
            <a:off x="13068686" y="2456134"/>
            <a:ext cx="500616" cy="1130728"/>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sv-SE" dirty="0"/>
          </a:p>
        </p:txBody>
      </p:sp>
      <p:sp>
        <p:nvSpPr>
          <p:cNvPr id="151" name="Rounded Rectangle 150"/>
          <p:cNvSpPr/>
          <p:nvPr/>
        </p:nvSpPr>
        <p:spPr>
          <a:xfrm rot="16200000">
            <a:off x="2354074" y="6197099"/>
            <a:ext cx="254564" cy="41967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sv-SE" dirty="0"/>
          </a:p>
        </p:txBody>
      </p:sp>
      <p:cxnSp>
        <p:nvCxnSpPr>
          <p:cNvPr id="171" name="Straight Arrow Connector 170"/>
          <p:cNvCxnSpPr>
            <a:stCxn id="7" idx="3"/>
            <a:endCxn id="14" idx="2"/>
          </p:cNvCxnSpPr>
          <p:nvPr/>
        </p:nvCxnSpPr>
        <p:spPr>
          <a:xfrm flipV="1">
            <a:off x="8186811" y="3024143"/>
            <a:ext cx="1143940" cy="4352"/>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183" name="Straight Arrow Connector 182"/>
          <p:cNvCxnSpPr>
            <a:stCxn id="14" idx="6"/>
            <a:endCxn id="17" idx="1"/>
          </p:cNvCxnSpPr>
          <p:nvPr/>
        </p:nvCxnSpPr>
        <p:spPr>
          <a:xfrm flipV="1">
            <a:off x="10425625" y="3021498"/>
            <a:ext cx="642396" cy="2645"/>
          </a:xfrm>
          <a:prstGeom prst="straightConnector1">
            <a:avLst/>
          </a:prstGeom>
          <a:ln w="76200">
            <a:tailEnd type="none"/>
          </a:ln>
        </p:spPr>
        <p:style>
          <a:lnRef idx="1">
            <a:schemeClr val="accent1"/>
          </a:lnRef>
          <a:fillRef idx="0">
            <a:schemeClr val="accent1"/>
          </a:fillRef>
          <a:effectRef idx="0">
            <a:schemeClr val="accent1"/>
          </a:effectRef>
          <a:fontRef idx="minor">
            <a:schemeClr val="tx1"/>
          </a:fontRef>
        </p:style>
      </p:cxnSp>
      <p:sp>
        <p:nvSpPr>
          <p:cNvPr id="231" name="Rectangle 230"/>
          <p:cNvSpPr/>
          <p:nvPr/>
        </p:nvSpPr>
        <p:spPr>
          <a:xfrm>
            <a:off x="1363995" y="1324254"/>
            <a:ext cx="2104069" cy="369332"/>
          </a:xfrm>
          <a:prstGeom prst="rect">
            <a:avLst/>
          </a:prstGeom>
        </p:spPr>
        <p:txBody>
          <a:bodyPr wrap="square">
            <a:spAutoFit/>
          </a:bodyPr>
          <a:lstStyle/>
          <a:p>
            <a:pPr algn="ctr"/>
            <a:r>
              <a:rPr lang="en-US" dirty="0">
                <a:latin typeface="Times New Roman" panose="02020603050405020304" pitchFamily="18" charset="0"/>
                <a:cs typeface="Times New Roman" panose="02020603050405020304" pitchFamily="18" charset="0"/>
              </a:rPr>
              <a:t>Battery </a:t>
            </a:r>
            <a:r>
              <a:rPr lang="en-US" dirty="0" smtClean="0">
                <a:latin typeface="Times New Roman" panose="02020603050405020304" pitchFamily="18" charset="0"/>
                <a:cs typeface="Times New Roman" panose="02020603050405020304" pitchFamily="18" charset="0"/>
              </a:rPr>
              <a:t>Pack</a:t>
            </a:r>
            <a:endParaRPr lang="sv-SE" dirty="0">
              <a:latin typeface="Times New Roman" panose="02020603050405020304" pitchFamily="18" charset="0"/>
              <a:cs typeface="Times New Roman" panose="02020603050405020304" pitchFamily="18" charset="0"/>
            </a:endParaRPr>
          </a:p>
        </p:txBody>
      </p:sp>
      <p:cxnSp>
        <p:nvCxnSpPr>
          <p:cNvPr id="257" name="Straight Arrow Connector 256"/>
          <p:cNvCxnSpPr>
            <a:stCxn id="152" idx="2"/>
            <a:endCxn id="46" idx="0"/>
          </p:cNvCxnSpPr>
          <p:nvPr/>
        </p:nvCxnSpPr>
        <p:spPr>
          <a:xfrm flipH="1">
            <a:off x="2481356" y="4752246"/>
            <a:ext cx="1761" cy="449125"/>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cxnSp>
        <p:nvCxnSpPr>
          <p:cNvPr id="259" name="Straight Arrow Connector 258"/>
          <p:cNvCxnSpPr>
            <a:stCxn id="152" idx="3"/>
            <a:endCxn id="7" idx="1"/>
          </p:cNvCxnSpPr>
          <p:nvPr/>
        </p:nvCxnSpPr>
        <p:spPr>
          <a:xfrm flipV="1">
            <a:off x="4373734" y="3028495"/>
            <a:ext cx="1585363" cy="15733"/>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sp>
        <p:nvSpPr>
          <p:cNvPr id="261" name="Rectangle 260"/>
          <p:cNvSpPr/>
          <p:nvPr/>
        </p:nvSpPr>
        <p:spPr>
          <a:xfrm>
            <a:off x="721234" y="6248537"/>
            <a:ext cx="1520609" cy="369332"/>
          </a:xfrm>
          <a:prstGeom prst="rect">
            <a:avLst/>
          </a:prstGeom>
        </p:spPr>
        <p:txBody>
          <a:bodyPr wrap="none">
            <a:spAutoFit/>
          </a:bodyPr>
          <a:lstStyle/>
          <a:p>
            <a:pPr algn="ctr"/>
            <a:r>
              <a:rPr lang="en-US" dirty="0" smtClean="0">
                <a:latin typeface="Times New Roman" panose="02020603050405020304" pitchFamily="18" charset="0"/>
                <a:cs typeface="Times New Roman" panose="02020603050405020304" pitchFamily="18" charset="0"/>
              </a:rPr>
              <a:t>Charging Plug</a:t>
            </a:r>
            <a:endParaRPr lang="en-US" dirty="0">
              <a:latin typeface="Times New Roman" panose="02020603050405020304" pitchFamily="18" charset="0"/>
              <a:cs typeface="Times New Roman" panose="02020603050405020304" pitchFamily="18" charset="0"/>
            </a:endParaRPr>
          </a:p>
        </p:txBody>
      </p:sp>
      <p:sp>
        <p:nvSpPr>
          <p:cNvPr id="40" name="Rounded Rectangle 39"/>
          <p:cNvSpPr/>
          <p:nvPr/>
        </p:nvSpPr>
        <p:spPr>
          <a:xfrm>
            <a:off x="485775" y="847725"/>
            <a:ext cx="4015237" cy="5226035"/>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 name="Rectangle 10"/>
          <p:cNvSpPr/>
          <p:nvPr/>
        </p:nvSpPr>
        <p:spPr>
          <a:xfrm>
            <a:off x="1040171" y="887085"/>
            <a:ext cx="2751715" cy="369332"/>
          </a:xfrm>
          <a:prstGeom prst="rect">
            <a:avLst/>
          </a:prstGeom>
        </p:spPr>
        <p:txBody>
          <a:bodyPr wrap="none">
            <a:spAutoFit/>
          </a:bodyPr>
          <a:lstStyle/>
          <a:p>
            <a:pPr algn="ctr"/>
            <a:r>
              <a:rPr lang="en-US" dirty="0" smtClean="0">
                <a:solidFill>
                  <a:schemeClr val="tx2">
                    <a:lumMod val="50000"/>
                    <a:lumOff val="50000"/>
                  </a:schemeClr>
                </a:solidFill>
                <a:latin typeface="Times New Roman" panose="02020603050405020304" pitchFamily="18" charset="0"/>
                <a:cs typeface="Times New Roman" panose="02020603050405020304" pitchFamily="18" charset="0"/>
              </a:rPr>
              <a:t>Energy Storage &amp; Charging</a:t>
            </a:r>
            <a:endParaRPr lang="sv-SE" dirty="0">
              <a:solidFill>
                <a:schemeClr val="tx2">
                  <a:lumMod val="50000"/>
                  <a:lumOff val="50000"/>
                </a:schemeClr>
              </a:solidFill>
              <a:latin typeface="Times New Roman" panose="02020603050405020304" pitchFamily="18" charset="0"/>
              <a:cs typeface="Times New Roman" panose="02020603050405020304" pitchFamily="18" charset="0"/>
            </a:endParaRPr>
          </a:p>
        </p:txBody>
      </p:sp>
      <p:sp>
        <p:nvSpPr>
          <p:cNvPr id="22" name="Rectangle 21"/>
          <p:cNvSpPr/>
          <p:nvPr/>
        </p:nvSpPr>
        <p:spPr>
          <a:xfrm>
            <a:off x="4321699" y="2350945"/>
            <a:ext cx="1720574" cy="646331"/>
          </a:xfrm>
          <a:prstGeom prst="rect">
            <a:avLst/>
          </a:prstGeom>
        </p:spPr>
        <p:txBody>
          <a:bodyPr wrap="square">
            <a:spAutoFit/>
          </a:bodyPr>
          <a:lstStyle/>
          <a:p>
            <a:pPr algn="ctr"/>
            <a:r>
              <a:rPr lang="en-US" dirty="0" smtClean="0">
                <a:latin typeface="Times New Roman" panose="02020603050405020304" pitchFamily="18" charset="0"/>
                <a:cs typeface="Times New Roman" panose="02020603050405020304" pitchFamily="18" charset="0"/>
              </a:rPr>
              <a:t>DC-Link</a:t>
            </a:r>
          </a:p>
          <a:p>
            <a:pPr algn="ctr"/>
            <a:r>
              <a:rPr lang="en-US" dirty="0" smtClean="0">
                <a:latin typeface="Times New Roman" panose="02020603050405020304" pitchFamily="18" charset="0"/>
                <a:cs typeface="Times New Roman" panose="02020603050405020304" pitchFamily="18" charset="0"/>
              </a:rPr>
              <a:t>800V/1200V</a:t>
            </a:r>
            <a:endParaRPr lang="sv-SE" dirty="0">
              <a:latin typeface="Times New Roman" panose="02020603050405020304" pitchFamily="18" charset="0"/>
              <a:cs typeface="Times New Roman" panose="02020603050405020304" pitchFamily="18" charset="0"/>
            </a:endParaRPr>
          </a:p>
        </p:txBody>
      </p:sp>
      <p:cxnSp>
        <p:nvCxnSpPr>
          <p:cNvPr id="60" name="Straight Arrow Connector 59"/>
          <p:cNvCxnSpPr/>
          <p:nvPr/>
        </p:nvCxnSpPr>
        <p:spPr>
          <a:xfrm>
            <a:off x="7082385" y="3483012"/>
            <a:ext cx="0" cy="212822"/>
          </a:xfrm>
          <a:prstGeom prst="straightConnector1">
            <a:avLst/>
          </a:prstGeom>
          <a:ln w="19050">
            <a:tailEnd type="none"/>
          </a:ln>
        </p:spPr>
        <p:style>
          <a:lnRef idx="1">
            <a:schemeClr val="accent1"/>
          </a:lnRef>
          <a:fillRef idx="0">
            <a:schemeClr val="accent1"/>
          </a:fillRef>
          <a:effectRef idx="0">
            <a:schemeClr val="accent1"/>
          </a:effectRef>
          <a:fontRef idx="minor">
            <a:schemeClr val="tx1"/>
          </a:fontRef>
        </p:style>
      </p:cxnSp>
      <p:sp>
        <p:nvSpPr>
          <p:cNvPr id="62" name="Rectangle 61"/>
          <p:cNvSpPr/>
          <p:nvPr/>
        </p:nvSpPr>
        <p:spPr>
          <a:xfrm>
            <a:off x="5968528" y="3656321"/>
            <a:ext cx="2208371" cy="646331"/>
          </a:xfrm>
          <a:prstGeom prst="rect">
            <a:avLst/>
          </a:prstGeom>
        </p:spPr>
        <p:txBody>
          <a:bodyPr wrap="square">
            <a:spAutoFit/>
          </a:bodyPr>
          <a:lstStyle/>
          <a:p>
            <a:pPr algn="ctr"/>
            <a:r>
              <a:rPr lang="en-US" dirty="0" smtClean="0">
                <a:latin typeface="Times New Roman" panose="02020603050405020304" pitchFamily="18" charset="0"/>
                <a:cs typeface="Times New Roman" panose="02020603050405020304" pitchFamily="18" charset="0"/>
              </a:rPr>
              <a:t>DC-Link Capacitors</a:t>
            </a:r>
          </a:p>
          <a:p>
            <a:pPr algn="ctr"/>
            <a:r>
              <a:rPr lang="en-US" dirty="0" smtClean="0">
                <a:latin typeface="Times New Roman" panose="02020603050405020304" pitchFamily="18" charset="0"/>
                <a:cs typeface="Times New Roman" panose="02020603050405020304" pitchFamily="18" charset="0"/>
              </a:rPr>
              <a:t>Liquid-Cooled Plates</a:t>
            </a:r>
          </a:p>
        </p:txBody>
      </p:sp>
      <p:sp>
        <p:nvSpPr>
          <p:cNvPr id="66" name="Rectangle 65"/>
          <p:cNvSpPr/>
          <p:nvPr/>
        </p:nvSpPr>
        <p:spPr>
          <a:xfrm>
            <a:off x="8252878" y="2375167"/>
            <a:ext cx="1127704" cy="646331"/>
          </a:xfrm>
          <a:prstGeom prst="rect">
            <a:avLst/>
          </a:prstGeom>
        </p:spPr>
        <p:txBody>
          <a:bodyPr wrap="square">
            <a:spAutoFit/>
          </a:bodyPr>
          <a:lstStyle/>
          <a:p>
            <a:pPr algn="ctr"/>
            <a:r>
              <a:rPr lang="en-US" dirty="0" smtClean="0">
                <a:latin typeface="Times New Roman" panose="02020603050405020304" pitchFamily="18" charset="0"/>
                <a:cs typeface="Times New Roman" panose="02020603050405020304" pitchFamily="18" charset="0"/>
              </a:rPr>
              <a:t>3-Phase</a:t>
            </a:r>
          </a:p>
          <a:p>
            <a:pPr algn="ctr"/>
            <a:r>
              <a:rPr lang="en-US" dirty="0" smtClean="0">
                <a:latin typeface="Times New Roman" panose="02020603050405020304" pitchFamily="18" charset="0"/>
                <a:cs typeface="Times New Roman" panose="02020603050405020304" pitchFamily="18" charset="0"/>
              </a:rPr>
              <a:t>AC</a:t>
            </a:r>
            <a:endParaRPr lang="sv-SE" dirty="0">
              <a:latin typeface="Times New Roman" panose="02020603050405020304" pitchFamily="18" charset="0"/>
              <a:cs typeface="Times New Roman" panose="02020603050405020304" pitchFamily="18" charset="0"/>
            </a:endParaRPr>
          </a:p>
        </p:txBody>
      </p:sp>
      <p:sp>
        <p:nvSpPr>
          <p:cNvPr id="71" name="Rectangle 70"/>
          <p:cNvSpPr/>
          <p:nvPr/>
        </p:nvSpPr>
        <p:spPr>
          <a:xfrm>
            <a:off x="10194476" y="2330908"/>
            <a:ext cx="1127704" cy="646331"/>
          </a:xfrm>
          <a:prstGeom prst="rect">
            <a:avLst/>
          </a:prstGeom>
        </p:spPr>
        <p:txBody>
          <a:bodyPr wrap="square">
            <a:spAutoFit/>
          </a:bodyPr>
          <a:lstStyle/>
          <a:p>
            <a:pPr algn="ctr"/>
            <a:r>
              <a:rPr lang="en-US" dirty="0" smtClean="0">
                <a:latin typeface="Times New Roman" panose="02020603050405020304" pitchFamily="18" charset="0"/>
                <a:cs typeface="Times New Roman" panose="02020603050405020304" pitchFamily="18" charset="0"/>
              </a:rPr>
              <a:t>Shaft Power</a:t>
            </a:r>
            <a:endParaRPr lang="sv-SE" dirty="0">
              <a:latin typeface="Times New Roman" panose="02020603050405020304" pitchFamily="18" charset="0"/>
              <a:cs typeface="Times New Roman" panose="02020603050405020304" pitchFamily="18" charset="0"/>
            </a:endParaRPr>
          </a:p>
        </p:txBody>
      </p:sp>
      <p:sp>
        <p:nvSpPr>
          <p:cNvPr id="83" name="Rectangle 82"/>
          <p:cNvSpPr/>
          <p:nvPr/>
        </p:nvSpPr>
        <p:spPr>
          <a:xfrm>
            <a:off x="12018448" y="2345289"/>
            <a:ext cx="1127704" cy="646331"/>
          </a:xfrm>
          <a:prstGeom prst="rect">
            <a:avLst/>
          </a:prstGeom>
        </p:spPr>
        <p:txBody>
          <a:bodyPr wrap="square">
            <a:spAutoFit/>
          </a:bodyPr>
          <a:lstStyle/>
          <a:p>
            <a:pPr algn="ctr"/>
            <a:r>
              <a:rPr lang="en-US" dirty="0" smtClean="0">
                <a:latin typeface="Times New Roman" panose="02020603050405020304" pitchFamily="18" charset="0"/>
                <a:cs typeface="Times New Roman" panose="02020603050405020304" pitchFamily="18" charset="0"/>
              </a:rPr>
              <a:t>To Drive Axle</a:t>
            </a:r>
            <a:endParaRPr lang="sv-SE" dirty="0">
              <a:latin typeface="Times New Roman" panose="02020603050405020304" pitchFamily="18" charset="0"/>
              <a:cs typeface="Times New Roman" panose="02020603050405020304" pitchFamily="18" charset="0"/>
            </a:endParaRPr>
          </a:p>
        </p:txBody>
      </p:sp>
      <p:sp>
        <p:nvSpPr>
          <p:cNvPr id="84" name="Rounded Rectangle 83"/>
          <p:cNvSpPr/>
          <p:nvPr/>
        </p:nvSpPr>
        <p:spPr>
          <a:xfrm>
            <a:off x="5864573" y="1958340"/>
            <a:ext cx="2417483" cy="2568669"/>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85" name="Rectangle 84"/>
          <p:cNvSpPr/>
          <p:nvPr/>
        </p:nvSpPr>
        <p:spPr>
          <a:xfrm>
            <a:off x="6173109" y="2053442"/>
            <a:ext cx="1871026" cy="369332"/>
          </a:xfrm>
          <a:prstGeom prst="rect">
            <a:avLst/>
          </a:prstGeom>
        </p:spPr>
        <p:txBody>
          <a:bodyPr wrap="none">
            <a:spAutoFit/>
          </a:bodyPr>
          <a:lstStyle/>
          <a:p>
            <a:pPr algn="ctr"/>
            <a:r>
              <a:rPr lang="en-US" dirty="0" smtClean="0">
                <a:solidFill>
                  <a:schemeClr val="tx2">
                    <a:lumMod val="50000"/>
                    <a:lumOff val="50000"/>
                  </a:schemeClr>
                </a:solidFill>
                <a:latin typeface="Times New Roman" panose="02020603050405020304" pitchFamily="18" charset="0"/>
                <a:cs typeface="Times New Roman" panose="02020603050405020304" pitchFamily="18" charset="0"/>
              </a:rPr>
              <a:t>Power Electronics</a:t>
            </a:r>
            <a:endParaRPr lang="sv-SE" dirty="0">
              <a:solidFill>
                <a:schemeClr val="tx2">
                  <a:lumMod val="50000"/>
                  <a:lumOff val="50000"/>
                </a:schemeClr>
              </a:solidFill>
              <a:latin typeface="Times New Roman" panose="02020603050405020304" pitchFamily="18" charset="0"/>
              <a:cs typeface="Times New Roman" panose="02020603050405020304" pitchFamily="18" charset="0"/>
            </a:endParaRPr>
          </a:p>
        </p:txBody>
      </p:sp>
      <p:sp>
        <p:nvSpPr>
          <p:cNvPr id="89" name="Rounded Rectangle 88"/>
          <p:cNvSpPr/>
          <p:nvPr/>
        </p:nvSpPr>
        <p:spPr>
          <a:xfrm>
            <a:off x="9310099" y="1495657"/>
            <a:ext cx="4424951" cy="3279046"/>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91" name="Rectangle 90"/>
          <p:cNvSpPr/>
          <p:nvPr/>
        </p:nvSpPr>
        <p:spPr>
          <a:xfrm>
            <a:off x="11467627" y="1538322"/>
            <a:ext cx="1133645" cy="369332"/>
          </a:xfrm>
          <a:prstGeom prst="rect">
            <a:avLst/>
          </a:prstGeom>
        </p:spPr>
        <p:txBody>
          <a:bodyPr wrap="none">
            <a:spAutoFit/>
          </a:bodyPr>
          <a:lstStyle/>
          <a:p>
            <a:pPr algn="ctr"/>
            <a:r>
              <a:rPr lang="en-US" dirty="0" smtClean="0">
                <a:solidFill>
                  <a:schemeClr val="tx2">
                    <a:lumMod val="50000"/>
                    <a:lumOff val="50000"/>
                  </a:schemeClr>
                </a:solidFill>
                <a:latin typeface="Times New Roman" panose="02020603050405020304" pitchFamily="18" charset="0"/>
                <a:cs typeface="Times New Roman" panose="02020603050405020304" pitchFamily="18" charset="0"/>
              </a:rPr>
              <a:t>Drivetrain</a:t>
            </a:r>
            <a:endParaRPr lang="sv-SE" dirty="0">
              <a:solidFill>
                <a:schemeClr val="tx2">
                  <a:lumMod val="50000"/>
                  <a:lumOff val="50000"/>
                </a:schemeClr>
              </a:solidFill>
              <a:latin typeface="Times New Roman" panose="02020603050405020304" pitchFamily="18" charset="0"/>
              <a:cs typeface="Times New Roman" panose="02020603050405020304" pitchFamily="18" charset="0"/>
            </a:endParaRPr>
          </a:p>
        </p:txBody>
      </p:sp>
      <p:sp>
        <p:nvSpPr>
          <p:cNvPr id="97" name="Rounded Rectangle 96"/>
          <p:cNvSpPr/>
          <p:nvPr/>
        </p:nvSpPr>
        <p:spPr>
          <a:xfrm>
            <a:off x="171450" y="657225"/>
            <a:ext cx="14925675" cy="5591312"/>
          </a:xfrm>
          <a:prstGeom prst="roundRect">
            <a:avLst/>
          </a:prstGeom>
          <a:noFill/>
          <a:ln w="19050">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Tree>
    <p:extLst>
      <p:ext uri="{BB962C8B-B14F-4D97-AF65-F5344CB8AC3E}">
        <p14:creationId xmlns:p14="http://schemas.microsoft.com/office/powerpoint/2010/main" val="23520176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22917" t="19889" r="-1916" b="10334"/>
          <a:stretch/>
        </p:blipFill>
        <p:spPr>
          <a:xfrm>
            <a:off x="2964180" y="899160"/>
            <a:ext cx="7223760" cy="4785360"/>
          </a:xfrm>
          <a:prstGeom prst="rect">
            <a:avLst/>
          </a:prstGeom>
        </p:spPr>
      </p:pic>
    </p:spTree>
    <p:extLst>
      <p:ext uri="{BB962C8B-B14F-4D97-AF65-F5344CB8AC3E}">
        <p14:creationId xmlns:p14="http://schemas.microsoft.com/office/powerpoint/2010/main" val="2455385425"/>
      </p:ext>
    </p:extLst>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Presentation25" id="{BADAB07B-2E68-4F48-911A-FC2225F93204}" vid="{784CDC78-43E6-457A-AA90-645E7526676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a2de62b2-e783-4e30-aa1b-992e53552b81"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0F4D0C94E7891C408A70A4AFCBFC4B57" ma:contentTypeVersion="14" ma:contentTypeDescription="Skapa ett nytt dokument." ma:contentTypeScope="" ma:versionID="1c15329974e5927d0c588b03fa07fcbc">
  <xsd:schema xmlns:xsd="http://www.w3.org/2001/XMLSchema" xmlns:xs="http://www.w3.org/2001/XMLSchema" xmlns:p="http://schemas.microsoft.com/office/2006/metadata/properties" xmlns:ns3="a2de62b2-e783-4e30-aa1b-992e53552b81" xmlns:ns4="002d5c55-512d-4532-a45a-a18556eb1389" targetNamespace="http://schemas.microsoft.com/office/2006/metadata/properties" ma:root="true" ma:fieldsID="854722f8476c5e2ca5530bc10c6e1131" ns3:_="" ns4:_="">
    <xsd:import namespace="a2de62b2-e783-4e30-aa1b-992e53552b81"/>
    <xsd:import namespace="002d5c55-512d-4532-a45a-a18556eb1389"/>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ObjectDetectorVersions" minOccurs="0"/>
                <xsd:element ref="ns3:_activity" minOccurs="0"/>
                <xsd:element ref="ns4:SharedWithUsers" minOccurs="0"/>
                <xsd:element ref="ns4:SharedWithDetails" minOccurs="0"/>
                <xsd:element ref="ns4:SharingHintHash" minOccurs="0"/>
                <xsd:element ref="ns3:MediaServiceGenerationTime" minOccurs="0"/>
                <xsd:element ref="ns3:MediaServiceEventHashCode" minOccurs="0"/>
                <xsd:element ref="ns3:MediaServiceAutoTags" minOccurs="0"/>
                <xsd:element ref="ns3:MediaServiceOCR" minOccurs="0"/>
                <xsd:element ref="ns3:MediaServiceDateTaken" minOccurs="0"/>
                <xsd:element ref="ns3: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2de62b2-e783-4e30-aa1b-992e53552b8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_activity" ma:index="12" nillable="true" ma:displayName="_activity" ma:hidden="true" ma:internalName="_activity">
      <xsd:simpleType>
        <xsd:restriction base="dms:Note"/>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Tags" ma:index="18" nillable="true" ma:displayName="Tags" ma:internalName="MediaServiceAutoTags"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MediaServiceSystemTags" ma:index="21"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002d5c55-512d-4532-a45a-a18556eb1389" elementFormDefault="qualified">
    <xsd:import namespace="http://schemas.microsoft.com/office/2006/documentManagement/types"/>
    <xsd:import namespace="http://schemas.microsoft.com/office/infopath/2007/PartnerControls"/>
    <xsd:element name="SharedWithUsers" ma:index="13" nillable="true" ma:displayName="Dela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Delat med information" ma:internalName="SharedWithDetails" ma:readOnly="true">
      <xsd:simpleType>
        <xsd:restriction base="dms:Note">
          <xsd:maxLength value="255"/>
        </xsd:restriction>
      </xsd:simpleType>
    </xsd:element>
    <xsd:element name="SharingHintHash" ma:index="15" nillable="true" ma:displayName="Delar tips,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ehållstyp"/>
        <xsd:element ref="dc:title" minOccurs="0" maxOccurs="1" ma:index="4" ma:displayName="Rubrik"/>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0D6DB84-CF30-47E3-8F07-2C9AFCB98FAD}">
  <ds:schemaRefs>
    <ds:schemaRef ds:uri="http://schemas.openxmlformats.org/package/2006/metadata/core-properties"/>
    <ds:schemaRef ds:uri="http://purl.org/dc/dcmitype/"/>
    <ds:schemaRef ds:uri="http://schemas.microsoft.com/office/infopath/2007/PartnerControls"/>
    <ds:schemaRef ds:uri="a2de62b2-e783-4e30-aa1b-992e53552b81"/>
    <ds:schemaRef ds:uri="http://purl.org/dc/elements/1.1/"/>
    <ds:schemaRef ds:uri="http://schemas.microsoft.com/office/2006/metadata/properties"/>
    <ds:schemaRef ds:uri="http://schemas.microsoft.com/office/2006/documentManagement/types"/>
    <ds:schemaRef ds:uri="002d5c55-512d-4532-a45a-a18556eb1389"/>
    <ds:schemaRef ds:uri="http://www.w3.org/XML/1998/namespace"/>
    <ds:schemaRef ds:uri="http://purl.org/dc/terms/"/>
  </ds:schemaRefs>
</ds:datastoreItem>
</file>

<file path=customXml/itemProps2.xml><?xml version="1.0" encoding="utf-8"?>
<ds:datastoreItem xmlns:ds="http://schemas.openxmlformats.org/officeDocument/2006/customXml" ds:itemID="{1D0FEA76-A6AF-4308-B016-F3D561AD818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2de62b2-e783-4e30-aa1b-992e53552b81"/>
    <ds:schemaRef ds:uri="002d5c55-512d-4532-a45a-a18556eb138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2E6EA5F-FA21-4E5F-BF5E-DA2341512D3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KTH_presentation_template_Figtree_(231005)</Template>
  <TotalTime>7738</TotalTime>
  <Words>74</Words>
  <Application>Microsoft Office PowerPoint</Application>
  <PresentationFormat>Widescreen</PresentationFormat>
  <Paragraphs>51</Paragraphs>
  <Slides>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Arial</vt:lpstr>
      <vt:lpstr>Calibri</vt:lpstr>
      <vt:lpstr>Figtree</vt:lpstr>
      <vt:lpstr>Times New Roman</vt:lpstr>
      <vt:lpstr>Office-tema</vt:lpstr>
      <vt:lpstr>PowerPoint Presentation</vt:lpstr>
      <vt:lpstr>PowerPoint Presentation</vt:lpstr>
      <vt:lpstr>PowerPoint Presentation</vt:lpstr>
      <vt:lpstr>PowerPoint Presentation</vt:lpstr>
      <vt:lpstr>PowerPoint Presentation</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Enes Ayaz</dc:creator>
  <cp:lastModifiedBy>Enes Ayaz</cp:lastModifiedBy>
  <cp:revision>117</cp:revision>
  <cp:lastPrinted>2023-10-17T13:46:00Z</cp:lastPrinted>
  <dcterms:created xsi:type="dcterms:W3CDTF">2023-10-16T13:59:07Z</dcterms:created>
  <dcterms:modified xsi:type="dcterms:W3CDTF">2025-11-03T15:00:34Z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0x0101000F4D0C94E7891C408A70A4AFCBFC4B57</vt:lpwstr>
  </property>
</Properties>
</file>