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D5D5-4034-3BC2-381A-235E4CC76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C735F-316B-B973-F852-6AA4914D5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5DF0-0031-87D0-CFB2-685EB54B0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E1151-EAAE-CD4D-11EC-BA97BA048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42707-CE18-D60B-EE26-7E9703CB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0239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A33E8-F222-F471-BE57-B973A858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25CF3-CD68-1D6E-DB85-CA2FC7E4B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348D-28F5-3FFB-EE37-470FDE6B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450A8-72E7-2319-4CD4-57184B05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8BA3F-D3E3-B0A4-2146-28CE56E1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442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CAAA-366C-00FC-B316-6227A355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F3E5D-44DA-746C-68D4-B4BC6359F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5EC99-2719-DDA8-4983-47C47FDA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5720-87E4-97D1-FCED-442D219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9B804-560D-8D00-1D60-30DC4720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528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B9C4-7072-1094-9A94-F086705C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DAE8-33C9-0B80-7F18-74139B358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2A7B3-C1E2-2381-E61E-4F7DF55E3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F5E4-07A6-638E-74C8-38E0AF85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A26B9-32FB-F38C-B07F-398CB2C5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E31E5-5D8A-978D-9AC9-65F37EA0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268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F9D-49A2-377E-2F07-5AE9AB5F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05D6E-210D-E6C6-FE08-02390A7A7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213E7-13EF-2CEE-785A-6233E8FF1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79673-49A0-B7FF-BE85-28A3A4B20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45C1A-6868-BCD4-6328-F48FF6EDF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142F7-3189-7C54-C219-B0AF36C5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F5098-8EC4-D22B-7EAC-C3DDC652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7046B-28F9-2AC4-21DF-75DB9321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6436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BA4B4-CAA8-B15A-0CBA-A53126B2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2A4B7-67A9-D493-B4D0-3D206085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770CB-FF52-8004-51A5-46F096E9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C5E49-9597-B2D9-D5B5-253D0836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10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D93FA-3784-1F5C-2D78-D64320C8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D1D47-6FAA-7E7A-178F-B249AB71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B2800-532F-1A85-E265-4863FCCC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638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9C03-27CB-5121-BCB7-BCA1C947C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4A0D-6ECC-912C-31D9-C37F2E39C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B5D03-EDAB-EF02-27F3-ECBE6D09E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351F8-DB17-44DC-0DA5-2FC28846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C54C0-3C58-DAA9-1E62-10E1600BA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6AFA-8C95-B359-CCAD-3D1C6D13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179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05C8-E8F3-B318-BD85-CBE6D699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D73A22-5D38-E047-E598-4936C4EEA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92D15-7EFF-F4F1-2E21-2A4DC784E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FE54D-81F6-F6D0-C106-DF7253C6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962C4-0A26-2D7C-0E1E-505834490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3BDD-630B-4618-1F52-B2D2FA0F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968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827B-40CE-9681-17C3-F74FC9EF0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D2554-3866-106B-75D4-731BB5A3E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C8607-0718-F4A4-B666-74BDCF42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DEBCD-06CE-CF30-3C63-702F85E5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7B5BA-AE64-9B9F-8836-6055A38F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1277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01B2B-1E39-AF4E-9DF2-9C67C09D5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09F62-3024-B081-7773-9E4D1CA3C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56ECA-7AB9-ED20-EEBF-5D6127C2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E6A9B-B2D4-C668-5366-10B8051F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EDADD-EA93-C6D8-9B0B-674C939D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201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A8A5D-1404-396E-FAAD-274F901E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D63F8-2048-3E4D-E2A0-B3BDF3CE3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C8E90-6C1A-F401-3286-46236E23A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3EBFA-7820-41A4-BA0C-F4FC61B7F747}" type="datetimeFigureOut">
              <a:rPr lang="sv-SE" smtClean="0"/>
              <a:t>2026-07-07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98E0A-B35C-A60D-9171-84F723DCA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590A4-BE60-CA3D-2379-F9447E69D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E7986-0F07-49C0-9C6B-A50E798B271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735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CE02F3-B5C5-1FD3-A89C-623B80A06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612289"/>
              </p:ext>
            </p:extLst>
          </p:nvPr>
        </p:nvGraphicFramePr>
        <p:xfrm>
          <a:off x="2703007" y="1061951"/>
          <a:ext cx="6423866" cy="4351337"/>
        </p:xfrm>
        <a:graphic>
          <a:graphicData uri="http://schemas.openxmlformats.org/drawingml/2006/table">
            <a:tbl>
              <a:tblPr/>
              <a:tblGrid>
                <a:gridCol w="936981">
                  <a:extLst>
                    <a:ext uri="{9D8B030D-6E8A-4147-A177-3AD203B41FA5}">
                      <a16:colId xmlns:a16="http://schemas.microsoft.com/office/drawing/2014/main" val="2217778476"/>
                    </a:ext>
                  </a:extLst>
                </a:gridCol>
                <a:gridCol w="1097377">
                  <a:extLst>
                    <a:ext uri="{9D8B030D-6E8A-4147-A177-3AD203B41FA5}">
                      <a16:colId xmlns:a16="http://schemas.microsoft.com/office/drawing/2014/main" val="1702011159"/>
                    </a:ext>
                  </a:extLst>
                </a:gridCol>
                <a:gridCol w="1097377">
                  <a:extLst>
                    <a:ext uri="{9D8B030D-6E8A-4147-A177-3AD203B41FA5}">
                      <a16:colId xmlns:a16="http://schemas.microsoft.com/office/drawing/2014/main" val="3233354835"/>
                    </a:ext>
                  </a:extLst>
                </a:gridCol>
                <a:gridCol w="1097377">
                  <a:extLst>
                    <a:ext uri="{9D8B030D-6E8A-4147-A177-3AD203B41FA5}">
                      <a16:colId xmlns:a16="http://schemas.microsoft.com/office/drawing/2014/main" val="993113672"/>
                    </a:ext>
                  </a:extLst>
                </a:gridCol>
                <a:gridCol w="1097377">
                  <a:extLst>
                    <a:ext uri="{9D8B030D-6E8A-4147-A177-3AD203B41FA5}">
                      <a16:colId xmlns:a16="http://schemas.microsoft.com/office/drawing/2014/main" val="2872269984"/>
                    </a:ext>
                  </a:extLst>
                </a:gridCol>
                <a:gridCol w="1097377">
                  <a:extLst>
                    <a:ext uri="{9D8B030D-6E8A-4147-A177-3AD203B41FA5}">
                      <a16:colId xmlns:a16="http://schemas.microsoft.com/office/drawing/2014/main" val="3577665738"/>
                    </a:ext>
                  </a:extLst>
                </a:gridCol>
              </a:tblGrid>
              <a:tr h="400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b="1" dirty="0" err="1"/>
                        <a:t>Topology</a:t>
                      </a:r>
                      <a:endParaRPr lang="sv-SE" sz="1100" b="1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b="1" dirty="0" err="1"/>
                        <a:t>Module</a:t>
                      </a:r>
                      <a:r>
                        <a:rPr lang="sv-SE" sz="1100" b="1" dirty="0"/>
                        <a:t> </a:t>
                      </a:r>
                      <a:r>
                        <a:rPr lang="sv-SE" sz="1100" b="1" dirty="0" err="1"/>
                        <a:t>connection</a:t>
                      </a:r>
                      <a:endParaRPr lang="sv-SE" sz="1100" b="1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b="1"/>
                        <a:t>Winding requirement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b="1"/>
                        <a:t>Modulation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b="1"/>
                        <a:t>Main benefit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b="1" dirty="0"/>
                        <a:t>Main </a:t>
                      </a:r>
                      <a:r>
                        <a:rPr lang="sv-SE" sz="1100" b="1" dirty="0" err="1"/>
                        <a:t>issue</a:t>
                      </a:r>
                      <a:endParaRPr lang="sv-SE" sz="1100" b="1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253622"/>
                  </a:ext>
                </a:extLst>
              </a:tr>
              <a:tr h="744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dirty="0"/>
                        <a:t>Dual 3-phase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Two 3-phase GaN VSIs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Two isolated 3-phase sets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Interleaved SVPWM/SPWM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Lower capacitor ripple and fault tolerance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Winding coupling and current sharing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829660"/>
                  </a:ext>
                </a:extLst>
              </a:tr>
              <a:tr h="744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SPB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dirty="0"/>
                        <a:t>DC-</a:t>
                      </a:r>
                      <a:r>
                        <a:rPr lang="sv-SE" sz="1100" dirty="0" err="1"/>
                        <a:t>side</a:t>
                      </a:r>
                      <a:r>
                        <a:rPr lang="sv-SE" sz="1100" dirty="0"/>
                        <a:t> series </a:t>
                      </a:r>
                      <a:r>
                        <a:rPr lang="sv-SE" sz="1100" dirty="0" err="1"/>
                        <a:t>modules</a:t>
                      </a:r>
                      <a:endParaRPr lang="sv-SE" sz="110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One winding set per module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Phase-shifted carrier PWM + voltage balancing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Low-voltage GaN in high-voltage drive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Capacitor-voltage stability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02310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PPB / segmented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DC-side parallel modules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dirty="0" err="1"/>
                        <a:t>Segmented</a:t>
                      </a:r>
                      <a:r>
                        <a:rPr lang="sv-SE" sz="1100" dirty="0"/>
                        <a:t> or </a:t>
                      </a:r>
                      <a:r>
                        <a:rPr lang="sv-SE" sz="1100" dirty="0" err="1"/>
                        <a:t>polyphase</a:t>
                      </a:r>
                      <a:r>
                        <a:rPr lang="sv-SE" sz="1100" dirty="0"/>
                        <a:t> </a:t>
                      </a:r>
                      <a:r>
                        <a:rPr lang="sv-SE" sz="1100" dirty="0" err="1"/>
                        <a:t>windings</a:t>
                      </a:r>
                      <a:endParaRPr lang="sv-SE" sz="110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Group-based interleaving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Capacitor reduction and scalability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Parasitic-sensitive ripple cancellation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847351"/>
                  </a:ext>
                </a:extLst>
              </a:tr>
              <a:tr h="744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Open-end winding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Two inverters per winding set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Open-ended stator winding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Dual-inverter PWM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Multilevel output and high voltage utilization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Circulating current and CMV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463982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Full-bridge modular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H-bridge per phase/coil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Open phase or coil terminals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dirty="0" err="1"/>
                        <a:t>Bipolar</a:t>
                      </a:r>
                      <a:r>
                        <a:rPr lang="sv-SE" sz="1100" dirty="0"/>
                        <a:t>/</a:t>
                      </a:r>
                      <a:r>
                        <a:rPr lang="sv-SE" sz="1100" dirty="0" err="1"/>
                        <a:t>unipolar</a:t>
                      </a:r>
                      <a:r>
                        <a:rPr lang="sv-SE" sz="1100" dirty="0"/>
                        <a:t> PWM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dirty="0"/>
                        <a:t>Strong </a:t>
                      </a:r>
                      <a:r>
                        <a:rPr lang="sv-SE" sz="1100" dirty="0" err="1"/>
                        <a:t>modularity</a:t>
                      </a:r>
                      <a:r>
                        <a:rPr lang="sv-SE" sz="1100" dirty="0"/>
                        <a:t> and </a:t>
                      </a:r>
                      <a:r>
                        <a:rPr lang="sv-SE" sz="1100" dirty="0" err="1"/>
                        <a:t>fault</a:t>
                      </a:r>
                      <a:r>
                        <a:rPr lang="sv-SE" sz="1100" dirty="0"/>
                        <a:t> isolation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Higher device count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990217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Balanced inverter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Complementary winding sets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Symmetric dual windings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Complementary PWM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CMV cancellation</a:t>
                      </a:r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 dirty="0"/>
                        <a:t>Sensitive to timing </a:t>
                      </a:r>
                      <a:r>
                        <a:rPr lang="sv-SE" sz="1100" dirty="0" err="1"/>
                        <a:t>mismatch</a:t>
                      </a:r>
                      <a:endParaRPr lang="sv-SE" sz="1100" dirty="0"/>
                    </a:p>
                  </a:txBody>
                  <a:tcPr marL="57254" marR="57254" marT="28627" marB="28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7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18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138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KTH Royal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Enes Ayaz</dc:creator>
  <cp:lastModifiedBy>Enes Ayaz</cp:lastModifiedBy>
  <cp:revision>1</cp:revision>
  <dcterms:created xsi:type="dcterms:W3CDTF">2026-07-07T08:45:01Z</dcterms:created>
  <dcterms:modified xsi:type="dcterms:W3CDTF">2026-07-07T09:09:14Z</dcterms:modified>
</cp:coreProperties>
</file>