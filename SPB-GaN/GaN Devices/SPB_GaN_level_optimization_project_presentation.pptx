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explain the optimization motivation. In the SPB topology, increasing levels is not free: it reduces device voltage stress but increases device count and control burden.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this is not yet a final design. It is an early project presentation showing how the method connects literature to the SPB concept.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main explanation slide for the graph. Emphasize that the graph is not final efficiency prediction. It is a screening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B_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SPB GaN level optimization | 1200 V / 300 kW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823960" y="6519672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KTH / Project presentation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689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689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914400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Optimizing SPB Level Number with Real GaN Devices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199339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Project presentation: 1200 V DC-link, 300 kW three-phase inverter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13232" y="2743200"/>
            <a:ext cx="4572000" cy="987552"/>
          </a:xfrm>
          <a:prstGeom prst="roundRect">
            <a:avLst>
              <a:gd name="adj" fmla="val 6481"/>
            </a:avLst>
          </a:prstGeom>
          <a:solidFill>
            <a:srgbClr val="DBEAFE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852928"/>
            <a:ext cx="4352544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question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many stacked two-level cells are worth adding before device count and control overhead dominate?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" y="3886200"/>
            <a:ext cx="4572000" cy="987552"/>
          </a:xfrm>
          <a:prstGeom prst="roundRect">
            <a:avLst>
              <a:gd name="adj" fmla="val 6481"/>
            </a:avLst>
          </a:prstGeom>
          <a:solidFill>
            <a:srgbClr val="DCFCE7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95928"/>
            <a:ext cx="4352544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FOM screening + real off-the-shelf GaN database + first-order loss model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0" y="1325880"/>
            <a:ext cx="731520" cy="3383280"/>
          </a:xfrm>
          <a:prstGeom prst="chevron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0" y="1325880"/>
            <a:ext cx="731520" cy="3383280"/>
          </a:xfrm>
          <a:prstGeom prst="chevron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0" y="1325880"/>
            <a:ext cx="731520" cy="3383280"/>
          </a:xfrm>
          <a:prstGeom prst="chevron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84080" y="1325880"/>
            <a:ext cx="731520" cy="3383280"/>
          </a:xfrm>
          <a:prstGeom prst="chevron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48920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More cells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lower Vcell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better device FOM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more switches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" y="573328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Enes Ayaz | SPB inverter device-selection workflow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689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optimization matters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SPB converts device voltage rating into a topology design variable.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29184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73152" cy="1874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8074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System target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2971800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1200 V DC-link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300 kW output power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≈ 291 A rms phase current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high-frequency GaN switching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34840" y="1234440"/>
            <a:ext cx="329184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234440"/>
            <a:ext cx="73152" cy="18745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38074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SPB opportunity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1691640"/>
            <a:ext cx="2971800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Stacked cells let each GaN device block only a fraction of the DC-link voltage, opening low-voltage GaN devices with lower RDS(on).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0" y="1234440"/>
            <a:ext cx="329184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1234440"/>
            <a:ext cx="73152" cy="18745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38074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SPB penalty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0" y="1691640"/>
            <a:ext cx="2971800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Each added cell brings six more switch positions, gate drivers, sensing, balancing, layout effort, and reliability questions.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0" y="3977640"/>
            <a:ext cx="7635240" cy="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4297680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3272" y="4366260"/>
            <a:ext cx="18653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Voltage stress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063240" y="4443984"/>
            <a:ext cx="100584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206240" y="4297680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79392" y="4366260"/>
            <a:ext cx="18653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Device FOM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309360" y="4443984"/>
            <a:ext cx="100584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52360" y="4297680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25512" y="4366260"/>
            <a:ext cx="18653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Loss &amp; thermal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555480" y="4443984"/>
            <a:ext cx="100584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287000" y="4297680"/>
            <a:ext cx="1600200" cy="292608"/>
          </a:xfrm>
          <a:prstGeom prst="roundRect">
            <a:avLst>
              <a:gd name="adj" fmla="val 1875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60152" y="4366260"/>
            <a:ext cx="1453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Complexity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14400" y="5074920"/>
            <a:ext cx="103784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The optimum is not simply the lowest-voltage device: it is the best balance of device FOM, conduction loss, switching loss, and implementation complexity.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2920" y="6254496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64748B"/>
                </a:solidFill>
              </a:rPr>
              <a:t>Literature basis: X-FOM for device + topology optimization; SPBI/2L-SSC as stacked two-level converter concept.</a:t>
            </a:r>
            <a:endParaRPr lang="en-US" sz="6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689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Literature basis translated to SPB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reuses published FOM and IMD design logic, but applies it to stacked polyphase bridge cells.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6118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73152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8074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X-FOM paper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329184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Device FOM alone is not enough. Device properties must be combined with topology, current, voltage, switching frequency, and number of levels.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26280" y="1234440"/>
            <a:ext cx="36118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234440"/>
            <a:ext cx="73152" cy="1828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38074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Optimal level-number paper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1691640"/>
            <a:ext cx="329184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More levels lower device blocking voltage and can reduce filter stress, but overhead increases; the optimum is not necessarily the maximum level count.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458200" y="1234440"/>
            <a:ext cx="3154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58200" y="1234440"/>
            <a:ext cx="73152" cy="18288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1080" y="138074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3L GaN vs 7L Si study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41080" y="1691640"/>
            <a:ext cx="283464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Real devices, overload limits, thermal spreading, and gate-driver volume can shift the practical optimum away from the ideal FOM result.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3520440"/>
            <a:ext cx="361188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520440"/>
            <a:ext cx="73152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66674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SPBI / 2L-SSC paper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3977640"/>
            <a:ext cx="3291840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Stacked two-level cells avoid flying capacitors and can cancel common-mode voltage in a dual-winding motor, but require split DC-link and co-design.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26280" y="3520440"/>
            <a:ext cx="361188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26280" y="3520440"/>
            <a:ext cx="73152" cy="1600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66674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IMMD literature survey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09160" y="3977640"/>
            <a:ext cx="3291840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Earlier IMMD work used GaN devices, interleaving, split windings, and modular control to reduce voltage stress and capacitor ripple.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458200" y="3520440"/>
            <a:ext cx="3154680" cy="16002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67928" y="3630168"/>
            <a:ext cx="2935224" cy="1380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 for this project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FOM as a screening tool; then force the optimizer to use only real GaN voltage classes.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2920" y="6254496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64748B"/>
                </a:solidFill>
              </a:rPr>
              <a:t>Sources: Anderson et al. 2020; Rohner/Kolar/Bortis/Schweizer 2022; Rohner et al. IEEE Access 2024; Rohner/Huber/Mirić/Kolar Electronics 2024; IMMD survey.</a:t>
            </a:r>
            <a:endParaRPr lang="en-US" sz="6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689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Screening workflow implemented in MATLAB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device availability is treated as a hard constraint, not a continuous voltage variable.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331720" y="2139696"/>
            <a:ext cx="91440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983480" y="2139696"/>
            <a:ext cx="91440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635240" y="2139696"/>
            <a:ext cx="91440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94360" y="1417320"/>
            <a:ext cx="169164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417320"/>
            <a:ext cx="73152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56362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1. Inputs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137160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VDC, Pout, pf, modulation, fsw, dv/dt, di/dt, safety factor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1417320"/>
            <a:ext cx="169164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417320"/>
            <a:ext cx="73152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56362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2. Database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1874520"/>
            <a:ext cx="137160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RDS(on), Coss, voltage rating, current rating, vendor/device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89320" y="1417320"/>
            <a:ext cx="169164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89320" y="1417320"/>
            <a:ext cx="73152" cy="14630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56362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3. Discrete levels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2200" y="1874520"/>
            <a:ext cx="137160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Cells = ceil(ks·VDC/Vdevice)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Levels = cells + 1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686800" y="1417320"/>
            <a:ext cx="205740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1417320"/>
            <a:ext cx="73152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0" y="156362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4. Loss model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869680" y="1874520"/>
            <a:ext cx="173736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Pcond + ECoss + Eoverlap using dv/dt and di/dt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14400" y="3657600"/>
            <a:ext cx="3108960" cy="594360"/>
          </a:xfrm>
          <a:prstGeom prst="roundRect">
            <a:avLst>
              <a:gd name="adj" fmla="val 10769"/>
            </a:avLst>
          </a:prstGeom>
          <a:solidFill>
            <a:srgbClr val="DBEAFE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" y="3767328"/>
            <a:ext cx="288950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D-FOM = 1 / √(RDS(on) · Coss)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43400" y="3657600"/>
            <a:ext cx="4023360" cy="594360"/>
          </a:xfrm>
          <a:prstGeom prst="roundRect">
            <a:avLst>
              <a:gd name="adj" fmla="val 10769"/>
            </a:avLst>
          </a:prstGeom>
          <a:solidFill>
            <a:srgbClr val="FFEDD5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53128" y="3767328"/>
            <a:ext cx="380390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Eoverlap = Vcell · Isw · (Vcell/(dv/dt) + Isw/(di/dt))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686800" y="3657600"/>
            <a:ext cx="2194560" cy="594360"/>
          </a:xfrm>
          <a:prstGeom prst="roundRect">
            <a:avLst>
              <a:gd name="adj" fmla="val 10769"/>
            </a:avLst>
          </a:prstGeom>
          <a:solidFill>
            <a:srgbClr val="DCFCE7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96528" y="3767328"/>
            <a:ext cx="197510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ECoss = Coss,eq · Vcell²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5840" y="489204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Only realizable x-axis points are used: 650 V, 200 V, 150 V, 120 V, 100 V devices create different discrete SPB level counts.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502920" y="6254496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64748B"/>
                </a:solidFill>
              </a:rPr>
              <a:t>This slide maps the X-FOM idea into the project-specific MATLAB implementation.</a:t>
            </a:r>
            <a:endParaRPr lang="en-US" sz="6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689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are we looking at in the MATLAB graph?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figure is a six-panel screening dashboard for device-level and topology-level decisions.</a:t>
            </a:r>
            <a:endParaRPr lang="en-US" sz="1150" dirty="0"/>
          </a:p>
        </p:txBody>
      </p:sp>
      <p:pic>
        <p:nvPicPr>
          <p:cNvPr id="4" name="Image 0" descr="/mnt/data/image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86243"/>
            <a:ext cx="7360920" cy="487753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83880" y="1143000"/>
            <a:ext cx="347472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183880" y="1143000"/>
            <a:ext cx="73152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66760" y="128930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Top-left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366760" y="1600200"/>
            <a:ext cx="3154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Device database: lower-left is attractive, but voltage rating must be feasible.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183880" y="2130552"/>
            <a:ext cx="347472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183880" y="2130552"/>
            <a:ext cx="73152" cy="8412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66760" y="2276856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Top-middle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366760" y="2587752"/>
            <a:ext cx="3154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D-FOM ranks devices by RDS(on)–Coss trade-off.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183880" y="3118104"/>
            <a:ext cx="347472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183880" y="3118104"/>
            <a:ext cx="73152" cy="8412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66760" y="326440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Top-right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366760" y="3575304"/>
            <a:ext cx="3154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Discrete level count chooses feasible best-FOM devices.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183880" y="4105656"/>
            <a:ext cx="347472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183880" y="4105656"/>
            <a:ext cx="73152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66760" y="425196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Bottom row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366760" y="4562856"/>
            <a:ext cx="3154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Separates conduction, switching energy, and switching-loss components.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183880" y="5376672"/>
            <a:ext cx="3474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Read it from left to right: device physics → FOM ranking → feasible SPB levels → loss mechanisms.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689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Device-level meaning: RDS(on), Coss, and D-FOM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two panels tell us which voltage classes are promising before topology penalties are added.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3200400" cy="210312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161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RDS(on) vs Coss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51560" y="2926080"/>
            <a:ext cx="26060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554480"/>
            <a:ext cx="0" cy="13716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 rot="16200000">
            <a:off x="749808" y="1737360"/>
            <a:ext cx="201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75569"/>
                </a:solidFill>
              </a:rPr>
              <a:t>RDS(on)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1143000" y="2788920"/>
            <a:ext cx="457200" cy="-32004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00200" y="2468880"/>
            <a:ext cx="548640" cy="-41148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48840" y="2057400"/>
            <a:ext cx="640080" cy="-36576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88920" y="1691640"/>
            <a:ext cx="640080" cy="-27432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547872"/>
            <a:ext cx="3017520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Better devices tend toward low RDS(on) and low Coss, but the voltage class determines whether they can be used in a given SPB level.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4526280" y="1143000"/>
            <a:ext cx="3200400" cy="210312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2161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D-FOM vs voltage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46320" y="2926080"/>
            <a:ext cx="26060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554480"/>
            <a:ext cx="0" cy="13716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 rot="16200000">
            <a:off x="4544568" y="1737360"/>
            <a:ext cx="201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75569"/>
                </a:solidFill>
              </a:rPr>
              <a:t>D-FOM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4892040" y="1627632"/>
            <a:ext cx="502920" cy="155448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94960" y="1783080"/>
            <a:ext cx="548640" cy="301752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0" y="2084832"/>
            <a:ext cx="731520" cy="429768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0" y="2514600"/>
            <a:ext cx="640080" cy="27432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3547872"/>
            <a:ext cx="3017520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The current D-FOM is a normalized screening index: high value means good RDS(on)–Coss trade-off. In final work, Coss,Q or Eoss should replace simple Coss.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8229600" y="1325880"/>
            <a:ext cx="3291840" cy="1143000"/>
          </a:xfrm>
          <a:prstGeom prst="roundRect">
            <a:avLst>
              <a:gd name="adj" fmla="val 5600"/>
            </a:avLst>
          </a:prstGeom>
          <a:solidFill>
            <a:srgbClr val="DBEAFE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39328" y="1435608"/>
            <a:ext cx="3072384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voltage GaN often has excellent RDS(on), but its Coss can be large.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optimum depends on current, voltage per cell, and switching frequency.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29600" y="2926080"/>
            <a:ext cx="3291840" cy="1143000"/>
          </a:xfrm>
          <a:prstGeom prst="roundRect">
            <a:avLst>
              <a:gd name="adj" fmla="val 5600"/>
            </a:avLst>
          </a:prstGeom>
          <a:solidFill>
            <a:srgbClr val="DCFCE7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39328" y="3035808"/>
            <a:ext cx="3072384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D-FOM alone does not decide the design.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only decides which devices deserve closer evaluation.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29600" y="4572000"/>
            <a:ext cx="32918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0" y="4572000"/>
            <a:ext cx="73152" cy="7315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471830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Interpretation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412480" y="5029200"/>
            <a:ext cx="29718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100–200 V devices look attractive, but only become feasible when enough cells are stacked.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689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Discrete levels: the x-axis is constrained by real device classes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are not sweeping every possible level; we are only evaluating levels that correspond to available voltage ratings.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200400" cy="1097280"/>
          </a:xfrm>
          <a:prstGeom prst="roundRect">
            <a:avLst>
              <a:gd name="adj" fmla="val 5833"/>
            </a:avLst>
          </a:prstGeom>
          <a:solidFill>
            <a:srgbClr val="DBEAFE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435608"/>
            <a:ext cx="2980944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cells = ceil(ks · VDC / Vdevice,rated)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levels = cells + 1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51960" y="1170432"/>
            <a:ext cx="21031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51960" y="1170432"/>
            <a:ext cx="73152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131673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650 V GaN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34840" y="1627632"/>
            <a:ext cx="17830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cells ≈ 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levels ≈ 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simple, mature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37960" y="1170432"/>
            <a:ext cx="21031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170432"/>
            <a:ext cx="73152" cy="10515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131673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200 V GaN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20840" y="1627632"/>
            <a:ext cx="17830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cells ≈ 9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levels ≈ 10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intermediate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823960" y="1170432"/>
            <a:ext cx="21031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23960" y="1170432"/>
            <a:ext cx="73152" cy="10515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06840" y="131673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100 V GaN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06840" y="1627632"/>
            <a:ext cx="17830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cells ≈ 18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levels ≈ 19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with 1.5× margin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4400" y="3337560"/>
            <a:ext cx="1005840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3200400"/>
            <a:ext cx="0" cy="27432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4930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331720" y="3200400"/>
            <a:ext cx="0" cy="27432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94560" y="34930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60520" y="3200400"/>
            <a:ext cx="0" cy="27432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0" y="34930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200400"/>
            <a:ext cx="0" cy="27432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4930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10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40680" y="3200400"/>
            <a:ext cx="0" cy="27432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0" y="34930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11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20840" y="3200400"/>
            <a:ext cx="0" cy="27432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34930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13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641080" y="3200400"/>
            <a:ext cx="0" cy="27432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3920" y="34930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16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607040" y="3200400"/>
            <a:ext cx="0" cy="27432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469880" y="34930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19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5800" y="3959352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4027932"/>
            <a:ext cx="1225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650 V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251960" y="3959352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25112" y="4027932"/>
            <a:ext cx="1225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200 V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909560" y="3959352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82712" y="4027932"/>
            <a:ext cx="1225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120 V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9784080" y="3959352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857232" y="4027932"/>
            <a:ext cx="1225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100 V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60120" y="4828032"/>
            <a:ext cx="10058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If we force 15 levels with 100 V GaN, the voltage margin is only about 100 / (1200/14) = 1.17×.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 safety-compliant 100 V case with ks = 1.5 requires about 19 levels.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502920" y="6254496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64748B"/>
                </a:solidFill>
              </a:rPr>
              <a:t>This point mirrors the literature warning that ideal FOM results can change when only discrete commercial devices are available.</a:t>
            </a:r>
            <a:endParaRPr lang="en-US" sz="6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689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Loss model used for the screening graph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separates conduction, capacitive switching, and transient overlap losses.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3566160" cy="658368"/>
          </a:xfrm>
          <a:prstGeom prst="roundRect">
            <a:avLst>
              <a:gd name="adj" fmla="val 9722"/>
            </a:avLst>
          </a:prstGeom>
          <a:solidFill>
            <a:srgbClr val="DBEAFE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344168"/>
            <a:ext cx="334670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Pcond = 3 · cells · Irms² · RDS(on)/npar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240280"/>
            <a:ext cx="3566160" cy="658368"/>
          </a:xfrm>
          <a:prstGeom prst="roundRect">
            <a:avLst>
              <a:gd name="adj" fmla="val 9722"/>
            </a:avLst>
          </a:prstGeom>
          <a:solidFill>
            <a:srgbClr val="DCFCE7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2350008"/>
            <a:ext cx="334670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ECoss = Coss,eq · Vcell²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3246120"/>
            <a:ext cx="3566160" cy="841248"/>
          </a:xfrm>
          <a:prstGeom prst="roundRect">
            <a:avLst>
              <a:gd name="adj" fmla="val 7609"/>
            </a:avLst>
          </a:prstGeom>
          <a:solidFill>
            <a:srgbClr val="FFEDD5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3355848"/>
            <a:ext cx="334670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Eoverlap = Vcell · Isw · (Vcell/(dv/dt) + Isw/(di/dt))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4526280"/>
            <a:ext cx="3566160" cy="658368"/>
          </a:xfrm>
          <a:prstGeom prst="roundRect">
            <a:avLst>
              <a:gd name="adj" fmla="val 9722"/>
            </a:avLst>
          </a:prstGeom>
          <a:solidFill>
            <a:srgbClr val="F3E8FF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4636008"/>
            <a:ext cx="334670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Psw = 3 · cells · fsw · (ECoss + Eoverlap)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00600" y="1234440"/>
            <a:ext cx="28346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234440"/>
            <a:ext cx="73152" cy="1280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38074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it captures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1691640"/>
            <a:ext cx="25146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higher cell count reduces Vcell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lower-voltage devices reduce RDS(on)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higher fsw amplifies switching energy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dv/dt and di/dt affect VI overlap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2971800"/>
            <a:ext cx="28346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2971800"/>
            <a:ext cx="73152" cy="1280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311810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it still misses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3429000"/>
            <a:ext cx="25146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measured Eon/Eoff per device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dynamic RDS(on)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thermal impedance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layout inductance and overshoot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DC-link capacitor ripple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92440" y="1234440"/>
            <a:ext cx="3200400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92440" y="1234440"/>
            <a:ext cx="73152" cy="3017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5320" y="1380744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Connection to papers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75320" y="1691640"/>
            <a:ext cx="2880360" cy="2450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X-FOM paper first uses minimum capacitive hard-switching losses, then validates with measured switching losses. The 3L GaN / 7L Si paper uses fitted switching-energy coefficients and shows how overload thermal constraints become decisive.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74920" y="4919472"/>
            <a:ext cx="57150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Next step: replace the generic overlap model with measured or datasheet-based Eon/Eoff for each candidate voltage class.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689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interpret the bottom-row plots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optimum depends on which loss mechanism dominates at the chosen switching frequency.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3108960" cy="2011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161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Conduction loss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5840" y="2834640"/>
            <a:ext cx="25146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554480"/>
            <a:ext cx="0" cy="12801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 rot="16200000">
            <a:off x="704088" y="1737360"/>
            <a:ext cx="201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75569"/>
                </a:solidFill>
              </a:rPr>
              <a:t>kW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1005840" y="1783080"/>
            <a:ext cx="457200" cy="9144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0" y="1874520"/>
            <a:ext cx="548640" cy="45720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2331720"/>
            <a:ext cx="640080" cy="27432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2606040"/>
            <a:ext cx="822960" cy="27432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429000"/>
            <a:ext cx="28346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Conduction generally decreases as the optimizer accesses lower-RDS(on) devices and more parallel devices become feasible.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34840" y="1143000"/>
            <a:ext cx="3108960" cy="2011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12161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Switching energy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25146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554480"/>
            <a:ext cx="0" cy="12801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 rot="16200000">
            <a:off x="4453128" y="1737360"/>
            <a:ext cx="201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75569"/>
                </a:solidFill>
              </a:rPr>
              <a:t>µJ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4754880" y="1600200"/>
            <a:ext cx="548640" cy="41148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0" y="2011680"/>
            <a:ext cx="594360" cy="32004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97880" y="2331720"/>
            <a:ext cx="640080" cy="27432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2606040"/>
            <a:ext cx="640080" cy="246888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3429000"/>
            <a:ext cx="28346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Switching energy falls with Vcell, but large Coss and paralleling can stop it from monotonically improving.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83880" y="1143000"/>
            <a:ext cx="3108960" cy="2011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5320" y="12161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Switching loss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503920" y="2834640"/>
            <a:ext cx="25146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03920" y="1554480"/>
            <a:ext cx="0" cy="12801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 rot="16200000">
            <a:off x="8202168" y="1737360"/>
            <a:ext cx="201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75569"/>
                </a:solidFill>
              </a:rPr>
              <a:t>kW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8458200" y="2011680"/>
            <a:ext cx="548640" cy="-13716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06840" y="1874520"/>
            <a:ext cx="640080" cy="27432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46920" y="2148840"/>
            <a:ext cx="731520" cy="18288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378440" y="2331720"/>
            <a:ext cx="594360" cy="22860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3429000"/>
            <a:ext cx="28346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At high fsw, switching loss can become flat or dominant because every additional cell adds another switching stage.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097280" y="4617720"/>
            <a:ext cx="10012680" cy="822960"/>
          </a:xfrm>
          <a:prstGeom prst="roundRect">
            <a:avLst>
              <a:gd name="adj" fmla="val 7778"/>
            </a:avLst>
          </a:prstGeom>
          <a:solidFill>
            <a:srgbClr val="DBEAFE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07008" y="4727448"/>
            <a:ext cx="979322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implication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low-voltage, many-cell SPB may reduce conduction loss, but it must win against switching loss, gate-drive loss, control complexity, and thermal packaging.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689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Suggested comparative study for the project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Mirror the style of the 3L GaN vs 7L Si FCi paper, but for SPB GaN voltage classes.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170432"/>
            <a:ext cx="283464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70432"/>
            <a:ext cx="73152" cy="2011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1673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Case A: simple high-voltage SPB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27632"/>
            <a:ext cx="2514600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650 V GaN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3 cells / 4 levels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Mature devices, low cell count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Lower sensing and gate-drive overhead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703320" y="1170432"/>
            <a:ext cx="283464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1170432"/>
            <a:ext cx="73152" cy="20116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131673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Case B: aggressive low-voltage SPB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86200" y="1627632"/>
            <a:ext cx="2514600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100 V GaN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14 cells / 15 levels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Only ≈1.17× voltage margin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Useful as a “what-if” compact-cell study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766560" y="1170432"/>
            <a:ext cx="283464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1170432"/>
            <a:ext cx="73152" cy="2011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131673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Case C: safety-compliant low-voltage SPB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49440" y="1627632"/>
            <a:ext cx="2514600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100 V GaN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18 cells / 19 levels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1.5× voltage margin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Best for fair design-margin comparison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829800" y="1170432"/>
            <a:ext cx="1691640" cy="201168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29800" y="1170432"/>
            <a:ext cx="73152" cy="2011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12680" y="131673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Optional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12680" y="1627632"/>
            <a:ext cx="1371600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200 V GaN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9 cells / 10 levels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Middle-ground baseline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4400" y="37033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Compare each case using the same current, fsw, thermal boundary, and modulation strategy.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14400" y="4160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Evaluation metrics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14400" y="4434840"/>
            <a:ext cx="237744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0F172A"/>
                </a:solidFill>
              </a:rPr>
              <a:t>Semiconductor loss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3474720" y="4434840"/>
            <a:ext cx="768096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conduction + Coss + measured/estimated Eon/Eoff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914400" y="4681728"/>
            <a:ext cx="237744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0F172A"/>
                </a:solidFill>
              </a:rPr>
              <a:t>Complexity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3474720" y="4681728"/>
            <a:ext cx="768096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switch positions, gate drivers, isolated supplies, sensors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914400" y="4928616"/>
            <a:ext cx="237744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0F172A"/>
                </a:solidFill>
              </a:rPr>
              <a:t>Thermal feasibility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3474720" y="4928616"/>
            <a:ext cx="768096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junction rise at nominal and overload current</a:t>
            </a:r>
            <a:endParaRPr lang="en-US" sz="870" dirty="0"/>
          </a:p>
        </p:txBody>
      </p:sp>
      <p:sp>
        <p:nvSpPr>
          <p:cNvPr id="28" name="Text 26"/>
          <p:cNvSpPr/>
          <p:nvPr/>
        </p:nvSpPr>
        <p:spPr>
          <a:xfrm>
            <a:off x="914400" y="5175504"/>
            <a:ext cx="237744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0F172A"/>
                </a:solidFill>
              </a:rPr>
              <a:t>DC-link / module capacitor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3474720" y="5175504"/>
            <a:ext cx="768096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ripple current, energy storage, balancing control</a:t>
            </a:r>
            <a:endParaRPr lang="en-US" sz="870" dirty="0"/>
          </a:p>
        </p:txBody>
      </p:sp>
      <p:sp>
        <p:nvSpPr>
          <p:cNvPr id="30" name="Text 28"/>
          <p:cNvSpPr/>
          <p:nvPr/>
        </p:nvSpPr>
        <p:spPr>
          <a:xfrm>
            <a:off x="914400" y="5422392"/>
            <a:ext cx="237744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0F172A"/>
                </a:solidFill>
              </a:rPr>
              <a:t>Motor friendliness</a:t>
            </a:r>
            <a:endParaRPr lang="en-US" sz="870" dirty="0"/>
          </a:p>
        </p:txBody>
      </p:sp>
      <p:sp>
        <p:nvSpPr>
          <p:cNvPr id="31" name="Text 29"/>
          <p:cNvSpPr/>
          <p:nvPr/>
        </p:nvSpPr>
        <p:spPr>
          <a:xfrm>
            <a:off x="3474720" y="5422392"/>
            <a:ext cx="768096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voltage steps, CM voltage, winding stress, filtering need</a:t>
            </a:r>
            <a:endParaRPr lang="en-US" sz="870" dirty="0"/>
          </a:p>
        </p:txBody>
      </p:sp>
      <p:sp>
        <p:nvSpPr>
          <p:cNvPr id="32" name="Text 30"/>
          <p:cNvSpPr/>
          <p:nvPr/>
        </p:nvSpPr>
        <p:spPr>
          <a:xfrm>
            <a:off x="502920" y="6254496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64748B"/>
                </a:solidFill>
              </a:rPr>
              <a:t>Comparative-study inspiration: 3L GaN vs 7L Si FCi with overload operation and real hardware constraints.</a:t>
            </a:r>
            <a:endParaRPr lang="en-US" sz="6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689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Next-step model upgrades before final design selection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present MATLAB graph is a screening layer; the final decision needs hardware-aware constraints.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29260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43000"/>
            <a:ext cx="73152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8930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1. Switching-loss 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600200"/>
            <a:ext cx="260604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Build voltage-class models using measured/datasheet Eon/Eoff or fitted k0, k1, k2 coefficients.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17720" y="1143000"/>
            <a:ext cx="29260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1143000"/>
            <a:ext cx="73152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28930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2. Thermal model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1600200"/>
            <a:ext cx="260604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Add Rth/Zth, baseplate spreading, dynamic RDS(on), and unequal sharing in parallel devices.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549640" y="1143000"/>
            <a:ext cx="29260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9640" y="1143000"/>
            <a:ext cx="73152" cy="10515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32520" y="128930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3. DC-link / balancing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732520" y="1600200"/>
            <a:ext cx="260604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Include module capacitor ripple, midpoint dynamics, balancing controller limits, and fault states.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2788920"/>
            <a:ext cx="29260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2788920"/>
            <a:ext cx="73152" cy="10515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93522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4. Layout parasitics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3246120"/>
            <a:ext cx="260604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Power-loop inductance, gate-loop coupling, overshoot, EMI, and feasible package density.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2788920"/>
            <a:ext cx="29260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2788920"/>
            <a:ext cx="73152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93522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5. Motor co-design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3246120"/>
            <a:ext cx="260604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Winding set count, insulation stress, CM cancellation, and harmonic loss.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549640" y="2788920"/>
            <a:ext cx="29260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49640" y="2788920"/>
            <a:ext cx="73152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32520" y="293522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6. Decision map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732520" y="3246120"/>
            <a:ext cx="260604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Pareto front: efficiency, volume, complexity, thermal margin, device count, and manufacturability.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234440" y="4709160"/>
            <a:ext cx="9692640" cy="777240"/>
          </a:xfrm>
          <a:prstGeom prst="roundRect">
            <a:avLst>
              <a:gd name="adj" fmla="val 8235"/>
            </a:avLst>
          </a:prstGeom>
          <a:solidFill>
            <a:srgbClr val="DBEAFE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44168" y="4818888"/>
            <a:ext cx="9473184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project deliverable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two-stage optimizer: FOM + discrete devices first, then detailed electro-thermal-layout model for selected cases.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689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messages for the project presentation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graph is a decision-support tool, not yet the final inverter design.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10287000" cy="3246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useful SPB level count is governed by real GaN voltage classes, not by a continuous ideal voltage sweep.</a:t>
            </a:r>
            <a:endParaRPr lang="en-US" sz="1500" dirty="0"/>
          </a:p>
          <a:p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Low-voltage GaN devices improve RDS(on), but many cells increase switch count and switching events.</a:t>
            </a:r>
            <a:endParaRPr lang="en-US" sz="1500" dirty="0"/>
          </a:p>
          <a:p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650 V / 4-level case is a simple practical baseline; the 100 V / 15-level case is an aggressive low-voltage concept; the 100 V / 19-level case is the safety-compliant comparison.</a:t>
            </a:r>
            <a:endParaRPr lang="en-US" sz="1500" dirty="0"/>
          </a:p>
          <a:p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Switching loss should be upgraded from generic dv/dt, di/dt overlap to measured Eon/Eoff or fitted energy coefficients.</a:t>
            </a:r>
            <a:endParaRPr lang="en-US" sz="1500" dirty="0"/>
          </a:p>
          <a:p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SPB study should compare semiconductor loss, thermal feasibility, capacitor ripple, CM behavior, and implementation complexity.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97280" y="4892040"/>
            <a:ext cx="9966960" cy="731520"/>
          </a:xfrm>
          <a:prstGeom prst="roundRect">
            <a:avLst>
              <a:gd name="adj" fmla="val 8750"/>
            </a:avLst>
          </a:prstGeom>
          <a:solidFill>
            <a:srgbClr val="DCFCE7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07008" y="5001768"/>
            <a:ext cx="974750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headline comparison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650 V GaN, 3-cell SPB  vs.  100 V GaN, 14-cell / 18-cell SPB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689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used in this presentation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Papers provided today and the IMMD literature survey.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080" dirty="0">
                <a:solidFill>
                  <a:srgbClr val="0F172A"/>
                </a:solidFill>
              </a:rPr>
              <a:t>J. A. Anderson, G. Zulauf, J. W. Kolar, and G. Deboy, “New Figure-of-Merit Combining Semiconductor and Multi-Level Converter Properties,” IEEE Open Journal of Power Electronics, 2020.</a:t>
            </a:r>
            <a:endParaRPr lang="en-US" sz="1080" dirty="0"/>
          </a:p>
          <a:p>
            <a:r>
              <a:rPr lang="en-US" sz="1080" dirty="0">
                <a:solidFill>
                  <a:srgbClr val="0F172A"/>
                </a:solidFill>
              </a:rPr>
              <a:t>G. Rohner, J. W. Kolar, D. Bortis, and M. Schweizer, “Optimal Level Number and Performance Evaluation of Si/GaN Multi-Level Flying Capacitor Inverter for Variable Speed Drive Systems,” ICEMS, 2022.</a:t>
            </a:r>
            <a:endParaRPr lang="en-US" sz="1080" dirty="0"/>
          </a:p>
          <a:p>
            <a:r>
              <a:rPr lang="en-US" sz="1080" dirty="0">
                <a:solidFill>
                  <a:srgbClr val="0F172A"/>
                </a:solidFill>
              </a:rPr>
              <a:t>G. Rohner et al., “Comparative Evaluation of Three-Phase Three-Level GaN and Seven-Level Si Flying Capacitor Inverters for Integrated Motor Drives Considering Overload Operation,” IEEE Access, 2024.</a:t>
            </a:r>
            <a:endParaRPr lang="en-US" sz="1080" dirty="0"/>
          </a:p>
          <a:p>
            <a:r>
              <a:rPr lang="en-US" sz="1080" dirty="0">
                <a:solidFill>
                  <a:srgbClr val="0F172A"/>
                </a:solidFill>
              </a:rPr>
              <a:t>G. Rohner, J. Huber, S. Mirić, and J. W. Kolar, “Comparative Evaluation of Three-Phase Three-Level Flying Capacitor and Stacked Polyphase Bridge GaN Inverter Systems for Integrated Motor Drives,” Electronics, 2024.</a:t>
            </a:r>
            <a:endParaRPr lang="en-US" sz="1080" dirty="0"/>
          </a:p>
          <a:p>
            <a:r>
              <a:rPr lang="en-US" sz="1080" dirty="0">
                <a:solidFill>
                  <a:srgbClr val="0F172A"/>
                </a:solidFill>
              </a:rPr>
              <a:t>M. Uğur, “Literature Survey for Integrated Modular Motor Drives,” presentation, 2018.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1005840" y="5623560"/>
            <a:ext cx="10149840" cy="548640"/>
          </a:xfrm>
          <a:prstGeom prst="roundRect">
            <a:avLst>
              <a:gd name="adj" fmla="val 11667"/>
            </a:avLst>
          </a:prstGeom>
          <a:solidFill>
            <a:srgbClr val="FFEDD5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5733288"/>
            <a:ext cx="993038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Note: Values in the MATLAB graph are screening-level estimates and must be replaced by verified device measurements for publication-quality results.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6891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KTH / SPB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SPB GaN Level Optimization</dc:title>
  <dc:subject>SPB GaN level optimization using FOM and real device database</dc:subject>
  <dc:creator>OpenAI</dc:creator>
  <cp:lastModifiedBy>OpenAI</cp:lastModifiedBy>
  <cp:revision>1</cp:revision>
  <dcterms:created xsi:type="dcterms:W3CDTF">2026-07-22T13:53:47Z</dcterms:created>
  <dcterms:modified xsi:type="dcterms:W3CDTF">2026-07-22T13:53:47Z</dcterms:modified>
</cp:coreProperties>
</file>