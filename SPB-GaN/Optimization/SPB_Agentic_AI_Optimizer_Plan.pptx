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8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94183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AI Optimizer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21792" y="1627632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6E4FF"/>
                </a:solidFill>
              </a:rPr>
              <a:t>for Stacked Polyphase Bridge GaN Voltage-Class Selection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30428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7E8"/>
                </a:solidFill>
              </a:rPr>
              <a:t>Efficiency · thermal feasibility · power density · cost · implementation complexity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4005072"/>
            <a:ext cx="804672" cy="566928"/>
          </a:xfrm>
          <a:prstGeom prst="roundRect">
            <a:avLst>
              <a:gd name="adj" fmla="val 12903"/>
            </a:avLst>
          </a:prstGeom>
          <a:solidFill>
            <a:srgbClr val="2F80ED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33488" y="41148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650 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0" y="4005072"/>
            <a:ext cx="804672" cy="566928"/>
          </a:xfrm>
          <a:prstGeom prst="roundRect">
            <a:avLst>
              <a:gd name="adj" fmla="val 12903"/>
            </a:avLst>
          </a:prstGeom>
          <a:solidFill>
            <a:srgbClr val="56CCF2"/>
          </a:solidFill>
          <a:ln w="15240">
            <a:solidFill>
              <a:srgbClr val="56CC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339328" y="41148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300 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35440" y="4005072"/>
            <a:ext cx="804672" cy="566928"/>
          </a:xfrm>
          <a:prstGeom prst="roundRect">
            <a:avLst>
              <a:gd name="adj" fmla="val 12903"/>
            </a:avLst>
          </a:prstGeom>
          <a:solidFill>
            <a:srgbClr val="2F80ED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345168" y="41148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200 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241280" y="4005072"/>
            <a:ext cx="804672" cy="566928"/>
          </a:xfrm>
          <a:prstGeom prst="roundRect">
            <a:avLst>
              <a:gd name="adj" fmla="val 12903"/>
            </a:avLst>
          </a:prstGeom>
          <a:solidFill>
            <a:srgbClr val="56CCF2"/>
          </a:solidFill>
          <a:ln w="15240">
            <a:solidFill>
              <a:srgbClr val="56CCF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351008" y="41148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 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28432" y="4288536"/>
            <a:ext cx="155448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34272" y="4288536"/>
            <a:ext cx="155448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40112" y="4288536"/>
            <a:ext cx="155448" cy="0"/>
          </a:xfrm>
          <a:prstGeom prst="line">
            <a:avLst/>
          </a:prstGeom>
          <a:noFill/>
          <a:ln w="152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903720" y="4791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From datasheets to Pareto-optimal SPB architectures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5230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7E8"/>
                </a:solidFill>
              </a:rPr>
              <a:t>Prepared as a project plan and slide-ready system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needs an agentic workflow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best GaN voltage class is not a device-only question.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Core trade-off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938528"/>
            <a:ext cx="20665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Few cells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650 V GaN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 fewer auxiliaries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 simpler layout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– higher device stress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– higher RDS(on)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67328" y="1938528"/>
            <a:ext cx="2295144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More cells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100–200 V GaN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 lower device loss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+ smaller voltage step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– many drivers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– more capacitance / PCB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27248" y="3017520"/>
            <a:ext cx="438912" cy="0"/>
          </a:xfrm>
          <a:prstGeom prst="line">
            <a:avLst/>
          </a:prstGeom>
          <a:noFill/>
          <a:ln w="2286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95160" y="196596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04888" y="2075688"/>
            <a:ext cx="2203704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System optimum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η, W/L, €/kW,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thermal margin, reliability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91072" y="3017520"/>
            <a:ext cx="612648" cy="0"/>
          </a:xfrm>
          <a:prstGeom prst="line">
            <a:avLst/>
          </a:prstGeom>
          <a:noFill/>
          <a:ln w="2794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" y="4800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Rule of the project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5230368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LLM agents decide what to evaluate, extract uncertain data, select models, and critique assumptions. Deterministic Python/MATLAB functions perform all numerical calculations.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2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A modular workflow from datasheets to ranked SPB designs, including machine-loss-aware fsw optimization.</a:t>
            </a:r>
          </a:p>
        </p:txBody>
      </p:sp>
      <p:sp>
        <p:nvSpPr>
          <p:cNvPr id="6" name="Shape 4"/>
          <p:cNvSpPr/>
          <p:nvPr/>
        </p:nvSpPr>
        <p:spPr>
          <a:xfrm>
            <a:off x="1490472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715768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3941064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166360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391656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616952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842248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067544" y="3355848"/>
            <a:ext cx="283464" cy="0"/>
          </a:xfrm>
          <a:prstGeom prst="line">
            <a:avLst/>
          </a:prstGeom>
          <a:noFill/>
          <a:ln w="1524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1792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Datasheet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Agent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1847088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956816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Topology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Agent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3072384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82112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Semi Loss</a:t>
            </a:r>
          </a:p>
          <a:p>
            <a:r>
              <a:rPr>
                <a:latin typeface="Aptos"/>
              </a:rPr>
              <a:t>Agent</a:t>
            </a:r>
          </a:p>
        </p:txBody>
      </p:sp>
      <p:sp>
        <p:nvSpPr>
          <p:cNvPr id="20" name="Shape 18"/>
          <p:cNvSpPr/>
          <p:nvPr/>
        </p:nvSpPr>
        <p:spPr>
          <a:xfrm>
            <a:off x="4297680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407408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Machine Loss</a:t>
            </a:r>
          </a:p>
          <a:p>
            <a:r>
              <a:rPr>
                <a:latin typeface="Aptos"/>
              </a:rPr>
              <a:t>Agent</a:t>
            </a:r>
          </a:p>
        </p:txBody>
      </p:sp>
      <p:sp>
        <p:nvSpPr>
          <p:cNvPr id="22" name="Shape 20"/>
          <p:cNvSpPr/>
          <p:nvPr/>
        </p:nvSpPr>
        <p:spPr>
          <a:xfrm>
            <a:off x="5522976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632704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Thermal</a:t>
            </a:r>
          </a:p>
          <a:p>
            <a:r>
              <a:rPr>
                <a:latin typeface="Aptos"/>
              </a:rPr>
              <a:t>Agent</a:t>
            </a:r>
          </a:p>
        </p:txBody>
      </p:sp>
      <p:sp>
        <p:nvSpPr>
          <p:cNvPr id="24" name="Shape 22"/>
          <p:cNvSpPr/>
          <p:nvPr/>
        </p:nvSpPr>
        <p:spPr>
          <a:xfrm>
            <a:off x="6748272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858000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DC-link + Aux</a:t>
            </a:r>
          </a:p>
          <a:p>
            <a:r>
              <a:rPr>
                <a:latin typeface="Aptos"/>
              </a:rPr>
              <a:t>Agent</a:t>
            </a:r>
          </a:p>
        </p:txBody>
      </p:sp>
      <p:sp>
        <p:nvSpPr>
          <p:cNvPr id="26" name="Shape 24"/>
          <p:cNvSpPr/>
          <p:nvPr/>
        </p:nvSpPr>
        <p:spPr>
          <a:xfrm>
            <a:off x="7973568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083296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PCB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Agent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198864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9308592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Cost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Agent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10424160" y="2788920"/>
            <a:ext cx="960120" cy="1115568"/>
          </a:xfrm>
          <a:prstGeom prst="roundRect">
            <a:avLst>
              <a:gd name="adj" fmla="val 7619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10533888" y="2898648"/>
            <a:ext cx="74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Optimizer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b="1" dirty="0">
                <a:solidFill>
                  <a:srgbClr val="1F2937"/>
                </a:solidFill>
              </a:rPr>
              <a:t>+ Critic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3703320" y="118872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524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813048" y="1298448"/>
            <a:ext cx="453542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Orchestrator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controls task order, asks for missing data, calls tools, stores confidence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80760" y="2057400"/>
            <a:ext cx="0" cy="557784"/>
          </a:xfrm>
          <a:prstGeom prst="line">
            <a:avLst/>
          </a:prstGeom>
          <a:noFill/>
          <a:ln w="15240">
            <a:solidFill>
              <a:srgbClr val="0F172A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874520" y="4983480"/>
            <a:ext cx="8458200" cy="621792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 w="15240">
            <a:solidFill>
              <a:srgbClr val="E8C54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984248" y="5093208"/>
            <a:ext cx="82387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Outputs: Pareto fronts · optimal fsw per voltage class · ranked architectures · BOM · uncertainty bands</a:t>
            </a:r>
          </a:p>
        </p:txBody>
      </p:sp>
      <p:sp>
        <p:nvSpPr>
          <p:cNvPr id="37" name="Text 35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3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Inputs and standardized databases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Each value carries source, conditions, units, and confidence.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8920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709928"/>
            <a:ext cx="4672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GaN device DB</a:t>
            </a:r>
            <a:endParaRPr lang="en-US" sz="1300" dirty="0"/>
          </a:p>
          <a:p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VDS, RDS(on)(T), Qg, Qoss/Eoss, Coss(V), RθJC, package, price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48920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19088" y="1709928"/>
            <a:ext cx="4672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Operating profile</a:t>
            </a:r>
          </a:p>
          <a:p/>
          <a:p>
            <a:r>
              <a:rPr>
                <a:latin typeface="Aptos"/>
              </a:rPr>
              <a:t>Vdc range, phase current, modulation, fsw bounds, speed/torque points, coolant temperature</a:t>
            </a:r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48920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41248" y="3813048"/>
            <a:ext cx="4672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Hardware libraries</a:t>
            </a:r>
          </a:p>
          <a:p/>
          <a:p>
            <a:r>
              <a:rPr>
                <a:latin typeface="Aptos"/>
              </a:rPr>
              <a:t>capacitors, gate drivers, isolated DC/DC, sensors, connectors, PCB stack-up, cooler options</a:t>
            </a:r>
          </a:p>
        </p:txBody>
      </p:sp>
      <p:sp>
        <p:nvSpPr>
          <p:cNvPr id="12" name="Shape 10"/>
          <p:cNvSpPr/>
          <p:nvPr/>
        </p:nvSpPr>
        <p:spPr>
          <a:xfrm>
            <a:off x="6309360" y="3703320"/>
            <a:ext cx="489204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19088" y="3813048"/>
            <a:ext cx="46725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Design policies</a:t>
            </a:r>
          </a:p>
          <a:p/>
          <a:p>
            <a:r>
              <a:rPr>
                <a:latin typeface="Aptos"/>
              </a:rPr>
              <a:t>voltage derating, thermal margin, ripple limit, clearance/creepage, acoustic/EMI limits, max cell count</a:t>
            </a:r>
          </a:p>
        </p:txBody>
      </p:sp>
      <p:sp>
        <p:nvSpPr>
          <p:cNvPr id="14" name="Text 12"/>
          <p:cNvSpPr/>
          <p:nvPr/>
        </p:nvSpPr>
        <p:spPr>
          <a:xfrm>
            <a:off x="777240" y="54132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Recommended data object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833872"/>
            <a:ext cx="10561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parameter = { value, unit, test_conditions, source, extraction_method, confidence, uncertainty }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4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Missing datasheet data strategy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agent estimates missing values only with traceable fallback models.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7AE60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527048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1344168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1453896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Measured Eon/Eoff curves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44168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8F7E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453896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High confidence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216712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27AE60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276856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417320" y="2093976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27048" y="2203704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Waveform integration ∫vDS·iD dt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093976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8F7EE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20370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Medium–high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9808" y="29169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2C94C"/>
          </a:solidFill>
          <a:ln w="15240">
            <a:solidFill>
              <a:srgbClr val="F2C9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026664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417320" y="2843784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27048" y="295351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Qgd + gate-drive model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2843784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7D6"/>
          </a:solidFill>
          <a:ln w="15240">
            <a:solidFill>
              <a:srgbClr val="F2C9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19088" y="295351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Medium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9808" y="3666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2C94C"/>
          </a:solidFill>
          <a:ln w="15240">
            <a:solidFill>
              <a:srgbClr val="F2C9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776472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417320" y="359359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27048" y="370332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Coss/Qoss/Eoss model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3593592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7D6"/>
          </a:solidFill>
          <a:ln w="15240">
            <a:solidFill>
              <a:srgbClr val="F2C9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19088" y="37033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Medium for capacitive loss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" y="441655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B5757"/>
          </a:solidFill>
          <a:ln w="15240">
            <a:solidFill>
              <a:srgbClr val="EB57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526280"/>
            <a:ext cx="201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417320" y="434340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27048" y="445312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Similar-device regression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309360" y="434340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DECEC"/>
          </a:solidFill>
          <a:ln w="15240">
            <a:solidFill>
              <a:srgbClr val="EB57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19088" y="445312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Low; must be flagged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69680" y="1371600"/>
            <a:ext cx="2514600" cy="3749040"/>
          </a:xfrm>
          <a:prstGeom prst="roundRect">
            <a:avLst>
              <a:gd name="adj" fmla="val 2909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16916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Critic checks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9098280" y="2240280"/>
            <a:ext cx="2148840" cy="22128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• double-counted Eoss?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• extrapolated current/voltage?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• same package/process?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• uncertainty propagated?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F"/>
                </a:solidFill>
              </a:rPr>
              <a:t>• missing test temperature?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5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Calculation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Every candidate architecture and switching-frequency candidate passes through the same deterministic model chain.</a:t>
            </a:r>
          </a:p>
        </p:txBody>
      </p:sp>
      <p:sp>
        <p:nvSpPr>
          <p:cNvPr id="6" name="Shape 4"/>
          <p:cNvSpPr/>
          <p:nvPr/>
        </p:nvSpPr>
        <p:spPr>
          <a:xfrm>
            <a:off x="2377440" y="2834640"/>
            <a:ext cx="39319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617720" y="2834640"/>
            <a:ext cx="39319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858000" y="2834640"/>
            <a:ext cx="39319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98280" y="2834640"/>
            <a:ext cx="393192" cy="0"/>
          </a:xfrm>
          <a:prstGeom prst="line">
            <a:avLst/>
          </a:prstGeom>
          <a:noFill/>
          <a:ln w="1778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2057400"/>
            <a:ext cx="16916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95528" y="2167128"/>
            <a:ext cx="1472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Topology</a:t>
            </a:r>
            <a:endParaRPr lang="en-US" sz="1270" dirty="0"/>
          </a:p>
          <a:p>
            <a:pPr algn="ctr" indent="0" marL="0">
              <a:buNone/>
            </a:pP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Ncell, Vcell, device class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2926080" y="2057400"/>
            <a:ext cx="16916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035808" y="2167128"/>
            <a:ext cx="1472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Loss</a:t>
            </a:r>
          </a:p>
          <a:p/>
          <a:p>
            <a:r>
              <a:rPr>
                <a:latin typeface="Aptos"/>
              </a:rPr>
              <a:t>conduction + overlap + Coss + gate vs fsw</a:t>
            </a:r>
          </a:p>
        </p:txBody>
      </p:sp>
      <p:sp>
        <p:nvSpPr>
          <p:cNvPr id="14" name="Shape 12"/>
          <p:cNvSpPr/>
          <p:nvPr/>
        </p:nvSpPr>
        <p:spPr>
          <a:xfrm>
            <a:off x="5166360" y="2057400"/>
            <a:ext cx="16916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76088" y="2167128"/>
            <a:ext cx="1472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Thermal</a:t>
            </a:r>
            <a:endParaRPr lang="en-US" sz="1270" dirty="0"/>
          </a:p>
          <a:p>
            <a:pPr algn="ctr" indent="0" marL="0">
              <a:buNone/>
            </a:pPr>
            <a:endParaRPr lang="en-US" sz="1270" dirty="0"/>
          </a:p>
          <a:p>
            <a:pPr algn="ctr" indent="0" marL="0">
              <a:buNone/>
            </a:pPr>
            <a:r>
              <a:rPr lang="en-US" sz="1270" dirty="0">
                <a:solidFill>
                  <a:srgbClr val="1F2937"/>
                </a:solidFill>
              </a:rPr>
              <a:t>Tj iteration and Nparallel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7406640" y="2057400"/>
            <a:ext cx="16916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16368" y="2167128"/>
            <a:ext cx="1472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Implementation</a:t>
            </a:r>
          </a:p>
          <a:p/>
          <a:p>
            <a:r>
              <a:rPr>
                <a:latin typeface="Aptos"/>
              </a:rPr>
              <a:t>machine loss, DC-link, drivers, PSU, PCB</a:t>
            </a:r>
          </a:p>
        </p:txBody>
      </p:sp>
      <p:sp>
        <p:nvSpPr>
          <p:cNvPr id="18" name="Shape 16"/>
          <p:cNvSpPr/>
          <p:nvPr/>
        </p:nvSpPr>
        <p:spPr>
          <a:xfrm>
            <a:off x="9646920" y="2057400"/>
            <a:ext cx="1691640" cy="1536192"/>
          </a:xfrm>
          <a:prstGeom prst="roundRect">
            <a:avLst>
              <a:gd name="adj" fmla="val 4762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56648" y="2167128"/>
            <a:ext cx="1472184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System score</a:t>
            </a:r>
          </a:p>
          <a:p/>
          <a:p>
            <a:r>
              <a:rPr>
                <a:latin typeface="Aptos"/>
              </a:rPr>
              <a:t>ηtotal, W/L, €/kW, risk</a:t>
            </a:r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Important feedback loops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>
                <a:latin typeface="Aptos"/>
              </a:rPr>
              <a:t>RDS(on)(Tj) → loss → Tj;  fsw ↑ → semiconductor switching loss ↑ but machine harmonic loss ↓; cell count → drivers/PSUs/PCB area; capacitance → volume/cost/ripple.</a:t>
            </a:r>
          </a:p>
        </p:txBody>
      </p:sp>
      <p:sp>
        <p:nvSpPr>
          <p:cNvPr id="22" name="Text 20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6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Thermal sizing and parallel-device selection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number of parallel GaNs is an optimization output, not a fixed assumption.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77440" y="1828800"/>
            <a:ext cx="219456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349240" y="2331720"/>
            <a:ext cx="0" cy="109728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0" y="3977640"/>
            <a:ext cx="-2194560" cy="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600200" y="3429000"/>
            <a:ext cx="0" cy="-1097280"/>
          </a:xfrm>
          <a:prstGeom prst="line">
            <a:avLst/>
          </a:prstGeom>
          <a:noFill/>
          <a:ln w="1905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150876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69848" y="1618488"/>
            <a:ext cx="106070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Assume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Tj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1527048"/>
            <a:ext cx="142646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RDS(on)(Tj)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+ switching loss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3611880"/>
            <a:ext cx="2011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53128" y="3721608"/>
            <a:ext cx="17922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Thermal network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RθJC + TIM + cooler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3611880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78408" y="3721608"/>
            <a:ext cx="1243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Update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Tj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14600" y="254203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7D6"/>
          </a:solidFill>
          <a:ln w="15240">
            <a:solidFill>
              <a:srgbClr val="E8C54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24328" y="2651760"/>
            <a:ext cx="17922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Stop when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|ΔTj| &lt; tolerance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141732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96328" y="1527048"/>
            <a:ext cx="352958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Constraint examples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Tj &lt; 125–150 °C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Tj,max margin ≥ 25 °C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Current sharing derating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Cooler heat-flux limit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086600" y="3977640"/>
            <a:ext cx="37490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4087368"/>
            <a:ext cx="352958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Decision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Choose minimum Nparallel satisfying thermal constraints across mission profile.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7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DC-link, auxiliary circuits and layout estimation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System-level volume can overturn semiconductor-only conclusions.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481328"/>
            <a:ext cx="288950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DC-link Agent</a:t>
            </a:r>
            <a:endParaRPr lang="en-US" sz="1330" dirty="0"/>
          </a:p>
          <a:p>
            <a:pPr algn="ctr" indent="0" marL="0">
              <a:buNone/>
            </a:pP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Simulate cell power pk(t)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Estimate ΔVC and IC,rms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Select capacitor count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Calculate ESR loss, volume, cost</a:t>
            </a:r>
            <a:endParaRPr lang="en-US" sz="133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36008" y="1481328"/>
            <a:ext cx="288950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Gate + PSU Agent</a:t>
            </a:r>
          </a:p>
          <a:p/>
          <a:p>
            <a:r>
              <a:rPr>
                <a:latin typeface="Aptos"/>
              </a:rPr>
              <a:t>Pg = NswQgVgfsw; fsw also affects aux/cooling</a:t>
            </a:r>
          </a:p>
          <a:p>
            <a:r>
              <a:rPr>
                <a:latin typeface="Aptos"/>
              </a:rPr>
              <a:t>Driver and isolated supply</a:t>
            </a:r>
          </a:p>
          <a:p>
            <a:r>
              <a:rPr>
                <a:latin typeface="Aptos"/>
              </a:rPr>
              <a:t>Isolation channels</a:t>
            </a:r>
          </a:p>
          <a:p>
            <a:r>
              <a:rPr>
                <a:latin typeface="Aptos"/>
              </a:rPr>
              <a:t>Auxiliary loss and volume</a:t>
            </a:r>
          </a:p>
        </p:txBody>
      </p:sp>
      <p:sp>
        <p:nvSpPr>
          <p:cNvPr id="10" name="Shape 8"/>
          <p:cNvSpPr/>
          <p:nvPr/>
        </p:nvSpPr>
        <p:spPr>
          <a:xfrm>
            <a:off x="8275320" y="1371600"/>
            <a:ext cx="310896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385048" y="1481328"/>
            <a:ext cx="288950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PCB/Layout Agent</a:t>
            </a:r>
            <a:endParaRPr lang="en-US" sz="1330" dirty="0"/>
          </a:p>
          <a:p>
            <a:pPr algn="ctr" indent="0" marL="0">
              <a:buNone/>
            </a:pP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Parametric bridge cell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spacing + creepage rules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decoupling loop area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dirty="0">
                <a:solidFill>
                  <a:srgbClr val="1F2937"/>
                </a:solidFill>
              </a:rPr>
              <a:t>rough width × height profile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3977640" y="2633472"/>
            <a:ext cx="45720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26680" y="2633472"/>
            <a:ext cx="45720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097280" y="4800600"/>
            <a:ext cx="9966960" cy="658368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325880" y="500176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Estimated converter volume = semiconductors + capacitors + cooler + PCB + auxiliaries + busbar/connectors; fsw can reduce machine/filter burden but increases switching heat</a:t>
            </a:r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8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Optimization formulation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Search the design space and report the Pareto front, not only one winner.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1298448"/>
            <a:ext cx="29260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41248" y="1408176"/>
            <a:ext cx="27066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Design variables</a:t>
            </a:r>
          </a:p>
          <a:p/>
          <a:p>
            <a:r>
              <a:rPr>
                <a:latin typeface="Aptos"/>
              </a:rPr>
              <a:t>Ncell</a:t>
            </a:r>
          </a:p>
          <a:p>
            <a:r>
              <a:rPr>
                <a:latin typeface="Aptos"/>
              </a:rPr>
              <a:t>GaN voltage class</a:t>
            </a:r>
          </a:p>
          <a:p>
            <a:r>
              <a:rPr>
                <a:latin typeface="Aptos"/>
              </a:rPr>
              <a:t>Nparallel</a:t>
            </a:r>
          </a:p>
          <a:p>
            <a:r>
              <a:rPr>
                <a:latin typeface="Aptos"/>
              </a:rPr>
              <a:t>fsw</a:t>
            </a:r>
          </a:p>
          <a:p>
            <a:r>
              <a:rPr>
                <a:latin typeface="Aptos"/>
              </a:rPr>
              <a:t>modulation</a:t>
            </a:r>
          </a:p>
          <a:p>
            <a:r>
              <a:rPr>
                <a:latin typeface="Aptos"/>
              </a:rPr>
              <a:t>cell capacitance</a:t>
            </a:r>
          </a:p>
          <a:p>
            <a:r>
              <a:rPr>
                <a:latin typeface="Aptos"/>
              </a:rPr>
              <a:t>thermal solution</a:t>
            </a:r>
          </a:p>
          <a:p>
            <a:r>
              <a:rPr>
                <a:latin typeface="Aptos"/>
              </a:rPr>
              <a:t>PCB layout factor</a:t>
            </a:r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2926080" cy="4023360"/>
          </a:xfrm>
          <a:prstGeom prst="roundRect">
            <a:avLst>
              <a:gd name="adj" fmla="val 2500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27448" y="1408176"/>
            <a:ext cx="27066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Objectives</a:t>
            </a:r>
          </a:p>
          <a:p/>
          <a:p>
            <a:r>
              <a:rPr>
                <a:latin typeface="Aptos"/>
              </a:rPr>
              <a:t>maximize total efficiency ηtotal</a:t>
            </a:r>
          </a:p>
          <a:p>
            <a:r>
              <a:rPr>
                <a:latin typeface="Aptos"/>
              </a:rPr>
              <a:t>minimize inverter + machine loss</a:t>
            </a:r>
          </a:p>
          <a:p>
            <a:r>
              <a:rPr>
                <a:latin typeface="Aptos"/>
              </a:rPr>
              <a:t>maximize power density kW/L</a:t>
            </a:r>
          </a:p>
          <a:p>
            <a:r>
              <a:rPr>
                <a:latin typeface="Aptos"/>
              </a:rPr>
              <a:t>minimize cost €/kW</a:t>
            </a:r>
          </a:p>
          <a:p>
            <a:r>
              <a:rPr>
                <a:latin typeface="Aptos"/>
              </a:rPr>
              <a:t>maximize robustness</a:t>
            </a:r>
          </a:p>
        </p:txBody>
      </p:sp>
      <p:sp>
        <p:nvSpPr>
          <p:cNvPr id="10" name="Shape 8"/>
          <p:cNvSpPr/>
          <p:nvPr/>
        </p:nvSpPr>
        <p:spPr>
          <a:xfrm>
            <a:off x="8503920" y="1298448"/>
            <a:ext cx="292608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13648" y="1408176"/>
            <a:ext cx="2706624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Constraints</a:t>
            </a:r>
          </a:p>
          <a:p/>
          <a:p>
            <a:r>
              <a:rPr>
                <a:latin typeface="Aptos"/>
              </a:rPr>
              <a:t>voltage derating</a:t>
            </a:r>
          </a:p>
          <a:p>
            <a:r>
              <a:rPr>
                <a:latin typeface="Aptos"/>
              </a:rPr>
              <a:t>thermal margin</a:t>
            </a:r>
          </a:p>
          <a:p>
            <a:r>
              <a:rPr>
                <a:latin typeface="Aptos"/>
              </a:rPr>
              <a:t>DC-link ripple</a:t>
            </a:r>
          </a:p>
          <a:p>
            <a:r>
              <a:rPr>
                <a:latin typeface="Aptos"/>
              </a:rPr>
              <a:t>capacitor RMS current</a:t>
            </a:r>
          </a:p>
          <a:p>
            <a:r>
              <a:rPr>
                <a:latin typeface="Aptos"/>
              </a:rPr>
              <a:t>clearance/creepage</a:t>
            </a:r>
          </a:p>
          <a:p>
            <a:r>
              <a:rPr>
                <a:latin typeface="Aptos"/>
              </a:rPr>
              <a:t>EMI/acoustic limits</a:t>
            </a:r>
          </a:p>
          <a:p>
            <a:r>
              <a:rPr>
                <a:latin typeface="Aptos"/>
              </a:rPr>
              <a:t>package current limit</a:t>
            </a:r>
          </a:p>
          <a:p>
            <a:r>
              <a:rPr>
                <a:latin typeface="Aptos"/>
              </a:rPr>
              <a:t>available components</a:t>
            </a:r>
          </a:p>
        </p:txBody>
      </p:sp>
      <p:sp>
        <p:nvSpPr>
          <p:cNvPr id="12" name="Text 10"/>
          <p:cNvSpPr/>
          <p:nvPr/>
        </p:nvSpPr>
        <p:spPr>
          <a:xfrm>
            <a:off x="822960" y="5806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>
                <a:latin typeface="Aptos"/>
              </a:rPr>
              <a:t>Recommended optimizer: start with NSGA-II; sweep or co-optimize fsw; add Monte Carlo uncertainty to compare robust designs.</a:t>
            </a:r>
          </a:p>
        </p:txBody>
      </p:sp>
      <p:sp>
        <p:nvSpPr>
          <p:cNvPr id="13" name="Text 11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9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outputs and validation plan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The deliverable should be useful both for publication and hardware planning.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86968" y="1435608"/>
            <a:ext cx="4764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Pareto plots</a:t>
            </a:r>
          </a:p>
          <a:p/>
          <a:p>
            <a:r>
              <a:rPr>
                <a:latin typeface="Aptos"/>
              </a:rPr>
              <a:t>ηtotal vs W/L vs €/kW for each voltage class and optimal fsw</a:t>
            </a:r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1524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64808" y="1435608"/>
            <a:ext cx="4764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Ranked designs</a:t>
            </a:r>
          </a:p>
          <a:p/>
          <a:p>
            <a:r>
              <a:rPr>
                <a:latin typeface="Aptos"/>
              </a:rPr>
              <a:t>best efficiency, best density, best cost, best robust choice, best fsw window</a:t>
            </a:r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86968" y="3172968"/>
            <a:ext cx="4764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BOM + footprint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devices, capacitors, drivers, PSUs, sensors, estimated PCB/cooler size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55080" y="3063240"/>
            <a:ext cx="49834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3172968"/>
            <a:ext cx="476402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Assumption report</a:t>
            </a:r>
            <a:endParaRPr lang="en-US" sz="1450" dirty="0"/>
          </a:p>
          <a:p>
            <a:pPr algn="ctr" indent="0" marL="0">
              <a:buNone/>
            </a:pP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1F2937"/>
                </a:solidFill>
              </a:rPr>
              <a:t>missing data, surrogate models, uncertainty, critic-agent warnings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Validation sequence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" y="5376672"/>
            <a:ext cx="1033272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1) datasheet extraction check  →  2) double-pulse test for selected GaNs  →  3) thermal bench test  →  4) SPB cell prototype  →  5) full system comparison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10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200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Suggested implementation roadmap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30352" y="768096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>
                <a:latin typeface="Aptos"/>
              </a:rPr>
              <a:t>Build the tool in layers so every result remains traceable and fsw-dependent losses are not hidden.</a:t>
            </a:r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7AE60"/>
          </a:solidFill>
          <a:ln w="1524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52704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86968" y="2304288"/>
            <a:ext cx="1883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Database + datasheet parser</a:t>
            </a:r>
            <a:endParaRPr lang="en-US" sz="1280" dirty="0"/>
          </a:p>
          <a:p>
            <a:pPr algn="ctr" indent="0" marL="0">
              <a:buNone/>
            </a:pP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GaN, capacitors, drivers, DC/DC supplies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2926080" y="3218688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61188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2F80ED"/>
          </a:solidFill>
          <a:ln w="15240">
            <a:solidFill>
              <a:srgbClr val="2F80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21608" y="152704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11880" y="219456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21608" y="2304288"/>
            <a:ext cx="1883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Deterministic models</a:t>
            </a:r>
            <a:endParaRPr lang="en-US" sz="1280" dirty="0"/>
          </a:p>
          <a:p>
            <a:pPr algn="ctr" indent="0" marL="0">
              <a:buNone/>
            </a:pP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loss, thermal, DC-link ripple, auxiliary loss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5760720" y="3218688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4652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9B51E0"/>
          </a:solidFill>
          <a:ln w="15240">
            <a:solidFill>
              <a:srgbClr val="9B51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152704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46520" y="219456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56248" y="2304288"/>
            <a:ext cx="1883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Optimizer + uncertainty</a:t>
            </a:r>
            <a:endParaRPr lang="en-US" sz="1280" dirty="0"/>
          </a:p>
          <a:p>
            <a:pPr algn="ctr" indent="0" marL="0">
              <a:buNone/>
            </a:pP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NSGA-II, Monte Carlo, confidence scoring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595360" y="3218688"/>
            <a:ext cx="594360" cy="0"/>
          </a:xfrm>
          <a:prstGeom prst="line">
            <a:avLst/>
          </a:prstGeom>
          <a:noFill/>
          <a:ln w="1651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281160" y="1417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2C94C"/>
          </a:solidFill>
          <a:ln w="15240">
            <a:solidFill>
              <a:srgbClr val="F2C9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90888" y="1527048"/>
            <a:ext cx="188366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4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281160" y="2194560"/>
            <a:ext cx="21031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5240">
            <a:solidFill>
              <a:srgbClr val="D9E2EC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390888" y="2304288"/>
            <a:ext cx="1883664" cy="1856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Validation + paper figures</a:t>
            </a:r>
            <a:endParaRPr lang="en-US" sz="1280" dirty="0"/>
          </a:p>
          <a:p>
            <a:pPr algn="ctr" indent="0" marL="0">
              <a:buNone/>
            </a:pPr>
            <a:endParaRPr lang="en-US" sz="1280" dirty="0"/>
          </a:p>
          <a:p>
            <a:pPr algn="ctr" indent="0" marL="0">
              <a:buNone/>
            </a:pPr>
            <a:r>
              <a:rPr lang="en-US" sz="1280" dirty="0">
                <a:solidFill>
                  <a:srgbClr val="1F2937"/>
                </a:solidFill>
              </a:rPr>
              <a:t>DPT, thermal test, Pareto plots, final ranking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1600200" y="4983480"/>
            <a:ext cx="9006840" cy="868680"/>
          </a:xfrm>
          <a:prstGeom prst="roundRect">
            <a:avLst>
              <a:gd name="adj" fmla="val 8421"/>
            </a:avLst>
          </a:prstGeom>
          <a:solidFill>
            <a:srgbClr val="0F172A"/>
          </a:solidFill>
          <a:ln w="1524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709928" y="5093208"/>
            <a:ext cx="8787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Main principle</a:t>
            </a:r>
            <a:endParaRPr lang="en-US" sz="1700" dirty="0"/>
          </a:p>
          <a:p>
            <a:pPr algn="ctr" indent="0" marL="0">
              <a:buNone/>
            </a:pP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Every reported design should include numbers, sources, assumptions, and confidence — so the result is defensible, not just optimized.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02920" y="6537960"/>
            <a:ext cx="4572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B8794"/>
                </a:solidFill>
              </a:rPr>
              <a:t>11  |  Agentic AI SPB optimizer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82D47"/>
                </a:solidFill>
                <a:latin typeface="Aptos"/>
              </a:rPr>
              <a:t>Switching frequency + machine-loss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D5B6E"/>
                </a:solidFill>
                <a:latin typeface="Aptos"/>
              </a:rPr>
              <a:t>fsw is a design variable because it trades semiconductor switching loss against machine harmonic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CC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716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82D47"/>
                </a:solidFill>
                <a:latin typeface="Aptos"/>
              </a:rPr>
              <a:t>Ptotal(fsw) = Psemi,cond + Psemi,sw(fsw) + Pmachine,harm(fsw) + Paux + Pcap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3172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C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146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578C"/>
                </a:solidFill>
                <a:latin typeface="Aptos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fsw range and modulation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speed–torque operating points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machine Ld, Lq, Rs and flux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harmonic loss map / FEA / test data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allowed ripple, EMI and acoustic limits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33172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C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25146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578C"/>
                </a:solidFill>
                <a:latin typeface="Aptos"/>
              </a:rPr>
              <a:t>Trade-off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90779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fsw ↑ reduces current ripple and voltage harmonics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machine copper/iron harmonic loss decreases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GaN switching, Coss and gate losses increase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cooling volume can increase at high fsw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optimum differs by voltage class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2331720"/>
            <a:ext cx="30632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CC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1" y="2514600"/>
            <a:ext cx="2743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D578C"/>
                </a:solidFill>
                <a:latin typeface="Aptos"/>
              </a:rPr>
              <a:t>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907792"/>
            <a:ext cx="2697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optimal fsw window for each architecture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inverter-only vs system-level optimum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ηtotal = inverter + machine efficiency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robustness under missing datasheet data</a:t>
            </a:r>
          </a:p>
          <a:p>
            <a:pPr>
              <a:spcAft>
                <a:spcPts val="400"/>
              </a:spcAft>
              <a:defRPr sz="1250">
                <a:solidFill>
                  <a:srgbClr val="374150"/>
                </a:solidFill>
                <a:latin typeface="Aptos"/>
              </a:defRPr>
            </a:pPr>
            <a:r>
              <a:t>• constraint violations and assumptions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5230368"/>
            <a:ext cx="10058400" cy="475488"/>
          </a:xfrm>
          <a:prstGeom prst="roundRect">
            <a:avLst/>
          </a:prstGeom>
          <a:solidFill>
            <a:srgbClr val="E6F1FF"/>
          </a:solidFill>
          <a:ln>
            <a:solidFill>
              <a:srgbClr val="A4C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5330952"/>
            <a:ext cx="9692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50" b="1">
                <a:solidFill>
                  <a:srgbClr val="182D47"/>
                </a:solidFill>
                <a:latin typeface="Aptos"/>
              </a:rPr>
              <a:t>Key message: compare each GaN voltage class at its own system-optimal fsw, not at one fixed switching frequency.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88291"/>
                </a:solidFill>
                <a:latin typeface="Aptos"/>
              </a:rPr>
              <a:t>12  |  Agentic AI SPB optimizer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KTH concept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Optimizer for SPB GaN Voltage-Class Selection</dc:title>
  <dc:subject>Agentic AI for stacked polyphase bridge optimization</dc:subject>
  <dc:creator>OpenAI</dc:creator>
  <cp:lastModifiedBy>OpenAI</cp:lastModifiedBy>
  <cp:revision>1</cp:revision>
  <dcterms:created xsi:type="dcterms:W3CDTF">2026-09-02T20:06:55Z</dcterms:created>
  <dcterms:modified xsi:type="dcterms:W3CDTF">2026-09-02T20:06:55Z</dcterms:modified>
</cp:coreProperties>
</file>