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70" r:id="rId4"/>
    <p:sldId id="272" r:id="rId5"/>
    <p:sldId id="273" r:id="rId6"/>
    <p:sldId id="274" r:id="rId7"/>
    <p:sldId id="279" r:id="rId8"/>
    <p:sldId id="275" r:id="rId9"/>
    <p:sldId id="276" r:id="rId10"/>
    <p:sldId id="278" r:id="rId11"/>
    <p:sldId id="280" r:id="rId12"/>
    <p:sldId id="281" r:id="rId13"/>
    <p:sldId id="287" r:id="rId14"/>
    <p:sldId id="283" r:id="rId15"/>
    <p:sldId id="269" r:id="rId16"/>
  </p:sldIdLst>
  <p:sldSz cx="12192000" cy="6858000"/>
  <p:notesSz cx="12192000" cy="6858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2" autoAdjust="0"/>
    <p:restoredTop sz="94668"/>
  </p:normalViewPr>
  <p:slideViewPr>
    <p:cSldViewPr>
      <p:cViewPr varScale="1">
        <p:scale>
          <a:sx n="151" d="100"/>
          <a:sy n="151" d="100"/>
        </p:scale>
        <p:origin x="39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23881" y="5700591"/>
            <a:ext cx="11872534" cy="897926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Name Surname, Organization</a:t>
            </a:r>
            <a:endParaRPr/>
          </a:p>
          <a:p>
            <a:pPr>
              <a:defRPr/>
            </a:pPr>
            <a:r>
              <a:rPr lang="en-US"/>
              <a:t>Location, Date</a:t>
            </a:r>
            <a:endParaRPr lang="en-GB"/>
          </a:p>
        </p:txBody>
      </p:sp>
      <p:sp>
        <p:nvSpPr>
          <p:cNvPr id="5" name="Title 22"/>
          <p:cNvSpPr>
            <a:spLocks noGrp="1"/>
          </p:cNvSpPr>
          <p:nvPr>
            <p:ph type="title" hasCustomPrompt="1"/>
          </p:nvPr>
        </p:nvSpPr>
        <p:spPr bwMode="auto">
          <a:xfrm>
            <a:off x="126806" y="4325837"/>
            <a:ext cx="11872534" cy="132556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pPr>
              <a:defRPr/>
            </a:pPr>
            <a:r>
              <a:rPr lang="en-US"/>
              <a:t>WP/UC/CDT Title</a:t>
            </a:r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2AE90-7AB7-EC44-8968-AAC91A5402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3812" y="6271257"/>
            <a:ext cx="5305354" cy="4461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B1B1F9-C09D-08A0-11F5-32176951F6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7384"/>
            <a:ext cx="12203458" cy="3667451"/>
          </a:xfrm>
          <a:prstGeom prst="rect">
            <a:avLst/>
          </a:prstGeom>
        </p:spPr>
      </p:pic>
      <p:pic>
        <p:nvPicPr>
          <p:cNvPr id="13" name="Picture 12" descr="A black and white logo&#10;&#10;Description automatically generated">
            <a:extLst>
              <a:ext uri="{FF2B5EF4-FFF2-40B4-BE49-F238E27FC236}">
                <a16:creationId xmlns:a16="http://schemas.microsoft.com/office/drawing/2014/main" id="{BFCDF323-1508-A57C-A42D-D408F2E664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36565" y="299450"/>
            <a:ext cx="2922219" cy="4238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 bwMode="auto">
          <a:xfrm>
            <a:off x="2135558" y="1464815"/>
            <a:ext cx="9870172" cy="4826255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cxnSp>
        <p:nvCxnSpPr>
          <p:cNvPr id="6" name="Straight Connector 8"/>
          <p:cNvCxnSpPr>
            <a:cxnSpLocks/>
          </p:cNvCxnSpPr>
          <p:nvPr userDrawn="1"/>
        </p:nvCxnSpPr>
        <p:spPr bwMode="auto">
          <a:xfrm>
            <a:off x="2135558" y="1362454"/>
            <a:ext cx="986435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itle 1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" name="Date Placeholder 20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54700CD-D7B0-A393-93D2-C8DA27E4FD9F}" type="datetime1">
              <a:rPr lang="en-US"/>
              <a:t>6/23/2024</a:t>
            </a:fld>
            <a:endParaRPr lang="en-US"/>
          </a:p>
        </p:txBody>
      </p:sp>
      <p:sp>
        <p:nvSpPr>
          <p:cNvPr id="9" name="Footer Placeholder 21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lide Number Placeholder 2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2135559" y="80964"/>
            <a:ext cx="9864351" cy="1187449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135559" y="1484313"/>
            <a:ext cx="9864351" cy="47164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5FD64F4-2B24-88A5-B409-D033D0BA4DD3}" type="datetime1">
              <a:rPr lang="en-US"/>
              <a:t>6/23/2024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2135560" y="1484312"/>
            <a:ext cx="4823790" cy="4692649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176120" y="1484312"/>
            <a:ext cx="4823791" cy="4692649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2F9CA8C-92AC-7C4E-2D53-8AC04329D778}" type="datetime1">
              <a:rPr lang="en-US"/>
              <a:t>6/23/2024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1991544" y="80964"/>
            <a:ext cx="10014186" cy="1187449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991544" y="1484312"/>
            <a:ext cx="4967806" cy="1020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991544" y="2505073"/>
            <a:ext cx="4967806" cy="368458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176120" y="1484312"/>
            <a:ext cx="4823792" cy="1020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7176120" y="2505073"/>
            <a:ext cx="4823792" cy="368458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D232E02-87E1-E078-9F1F-28DBDB255520}" type="datetime1">
              <a:rPr lang="en-US"/>
              <a:t>6/23/2024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557B784-B48C-F434-0F54-596A3E3ECC49}" type="datetime1">
              <a:rPr lang="en-US"/>
              <a:t>6/23/2024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Only" preserve="1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838199" y="110065"/>
            <a:ext cx="11167533" cy="57351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79C8C1-573C-E3A3-CC3E-26C33A961769}" type="datetime1">
              <a:rPr lang="en-US"/>
              <a:t>6/23/2024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 userDrawn="1">
  <p:cSld name="2_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43BEADA-4E99-AC10-39F1-82C3E2D217D7}" type="datetime1">
              <a:rPr lang="en-US"/>
              <a:t>6/23/2024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  <p:pic>
        <p:nvPicPr>
          <p:cNvPr id="7" name="Picture 4" descr="Logo&#10;&#10;Description automatically generated"/>
          <p:cNvPicPr>
            <a:picLocks noChangeAspect="1"/>
          </p:cNvPicPr>
          <p:nvPr userDrawn="1"/>
        </p:nvPicPr>
        <p:blipFill>
          <a:blip r:embed="rId2"/>
          <a:srcRect t="30588" b="31079"/>
          <a:stretch/>
        </p:blipFill>
        <p:spPr bwMode="auto">
          <a:xfrm>
            <a:off x="899281" y="6518021"/>
            <a:ext cx="1701982" cy="3147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977635-2CAF-E955-6D0E-DF431A6D1180}" type="datetime1">
              <a:rPr lang="en-US"/>
              <a:t>6/23/2024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2133312" y="897533"/>
            <a:ext cx="3932236" cy="1600200"/>
          </a:xfrm>
        </p:spPr>
        <p:txBody>
          <a:bodyPr anchor="b"/>
          <a:lstStyle>
            <a:lvl1pPr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>
          <a:xfrm>
            <a:off x="6312024" y="897533"/>
            <a:ext cx="5083942" cy="540861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133312" y="2497733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50056E7-A6ED-60E3-7FC0-3BE233C014D2}" type="datetime1">
              <a:rPr lang="en-US"/>
              <a:t>6/23/2024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2150763" y="969541"/>
            <a:ext cx="3932236" cy="1600200"/>
          </a:xfrm>
        </p:spPr>
        <p:txBody>
          <a:bodyPr anchor="b"/>
          <a:lstStyle>
            <a:lvl1pPr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6384031" y="964286"/>
            <a:ext cx="5615879" cy="540384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150763" y="2569741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B3365B9-3FA8-3848-F3F9-7F1E1ECAB414}" type="datetime1">
              <a:rPr lang="en-US"/>
              <a:t>6/23/2024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85C1B4-DFDE-56A5-0DCA-78AD1963DB1E}" type="datetime1">
              <a:rPr lang="en-US"/>
              <a:t>6/23/2024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4"/>
            <a:ext cx="2628900" cy="5811837"/>
          </a:xfrm>
        </p:spPr>
        <p:txBody>
          <a:bodyPr vert="eaVert"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2135560" y="365124"/>
            <a:ext cx="6436939" cy="5811837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FA078F8-02D1-6CA3-4963-C2D6348272EE}" type="datetime1">
              <a:rPr lang="en-US"/>
              <a:t>6/23/2024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492812"/>
            <a:ext cx="4114800" cy="3651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17F21F-F198-4E80-B0D3-7A329178080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 userDrawn="1">
  <p:cSld name="1_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10C04C-0B46-1724-FBF6-EBA5B32B5C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24984" y="1071009"/>
            <a:ext cx="8542031" cy="381990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27626AD-CA46-1E91-F4C7-2805A7A19F30}"/>
              </a:ext>
            </a:extLst>
          </p:cNvPr>
          <p:cNvGrpSpPr/>
          <p:nvPr userDrawn="1"/>
        </p:nvGrpSpPr>
        <p:grpSpPr>
          <a:xfrm>
            <a:off x="1667874" y="6090082"/>
            <a:ext cx="8860579" cy="452481"/>
            <a:chOff x="2190084" y="6047453"/>
            <a:chExt cx="8860579" cy="45248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071548-9CE3-2AA6-20C5-993934A7B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45309" y="6047453"/>
              <a:ext cx="5305354" cy="446102"/>
            </a:xfrm>
            <a:prstGeom prst="rect">
              <a:avLst/>
            </a:prstGeom>
          </p:spPr>
        </p:pic>
        <p:pic>
          <p:nvPicPr>
            <p:cNvPr id="10" name="Picture 9" descr="A black and green logo&#10;&#10;Description automatically generated">
              <a:extLst>
                <a:ext uri="{FF2B5EF4-FFF2-40B4-BE49-F238E27FC236}">
                  <a16:creationId xmlns:a16="http://schemas.microsoft.com/office/drawing/2014/main" id="{9745D8B2-389A-9380-0BAA-D2E49F9F4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90084" y="6049087"/>
              <a:ext cx="3159903" cy="450847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 bwMode="auto">
          <a:xfrm>
            <a:off x="2135560" y="110065"/>
            <a:ext cx="9870172" cy="11419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135560" y="1464817"/>
            <a:ext cx="9870169" cy="471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0173810" y="6492813"/>
            <a:ext cx="117185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08EDF50-AD2E-49FD-8ACD-C0D8EDECF5A7}" type="datetime1">
              <a:rPr lang="en-US"/>
              <a:t>6/23/2024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416684" y="6492814"/>
            <a:ext cx="589048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lt-LT"/>
              <a:t>   </a:t>
            </a:r>
            <a:fld id="{0F17F21F-F198-4E80-B0D3-7A3291780809}" type="slidenum">
              <a:rPr lang="en-US"/>
              <a:t>‹#›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2" name="Picture 1" descr="A black and green logo&#10;&#10;Description automatically generated">
            <a:extLst>
              <a:ext uri="{FF2B5EF4-FFF2-40B4-BE49-F238E27FC236}">
                <a16:creationId xmlns:a16="http://schemas.microsoft.com/office/drawing/2014/main" id="{B5708FEB-0337-2299-855E-72A32F80401B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500419" y="302330"/>
            <a:ext cx="2556388" cy="366277"/>
          </a:xfrm>
          <a:prstGeom prst="rect">
            <a:avLst/>
          </a:prstGeom>
        </p:spPr>
      </p:pic>
      <p:pic>
        <p:nvPicPr>
          <p:cNvPr id="3" name="Picture 2" descr="A road surrounded by trees&#10;&#10;Description automatically generated">
            <a:extLst>
              <a:ext uri="{FF2B5EF4-FFF2-40B4-BE49-F238E27FC236}">
                <a16:creationId xmlns:a16="http://schemas.microsoft.com/office/drawing/2014/main" id="{9FE5AFA2-5842-3F4F-1CD2-56D18D088295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-874" y="1229"/>
            <a:ext cx="1894456" cy="68678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/>
  <p:txStyles>
    <p:titleStyle>
      <a:lvl1pPr algn="l" defTabSz="719121">
        <a:lnSpc>
          <a:spcPct val="90000"/>
        </a:lnSpc>
        <a:spcBef>
          <a:spcPts val="0"/>
        </a:spcBef>
        <a:buNone/>
        <a:defRPr sz="3600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>
        <a:lnSpc>
          <a:spcPct val="90000"/>
        </a:lnSpc>
        <a:spcBef>
          <a:spcPts val="1000"/>
        </a:spcBef>
        <a:buFont typeface="Arial"/>
        <a:buChar char="•"/>
        <a:defRPr sz="24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355591" indent="-177796" algn="l" defTabSz="914377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630223" indent="-185734" algn="l" defTabSz="896915">
        <a:lnSpc>
          <a:spcPct val="90000"/>
        </a:lnSpc>
        <a:spcBef>
          <a:spcPts val="500"/>
        </a:spcBef>
        <a:buFont typeface="Arial"/>
        <a:buChar char="•"/>
        <a:tabLst>
          <a:tab pos="2689158" algn="l"/>
        </a:tabLst>
        <a:defRPr sz="18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896915" indent="-177796" algn="l" defTabSz="914377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1074712" indent="-177796" algn="l" defTabSz="914377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53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ubtitle 1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 smtClean="0"/>
              <a:t>Enes Ayaz, KTH</a:t>
            </a:r>
            <a:endParaRPr lang="en-US" dirty="0"/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dirty="0" smtClean="0"/>
              <a:t>UC 1.4 / 2-Level Voltage Source Traction Inverter Design using 2kV Infineon </a:t>
            </a:r>
            <a:r>
              <a:rPr lang="en-US" dirty="0" err="1" smtClean="0"/>
              <a:t>SiC</a:t>
            </a:r>
            <a:r>
              <a:rPr lang="en-US" dirty="0" smtClean="0"/>
              <a:t> Power Modules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636A4-9E20-38F9-76A0-9C636473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457200">
              <a:buAutoNum type="arabicPeriod"/>
            </a:pPr>
            <a:r>
              <a:rPr lang="en-US" sz="2800" b="1" dirty="0"/>
              <a:t>Power Ratings of 2-Level Inverter</a:t>
            </a:r>
          </a:p>
          <a:p>
            <a:pPr marL="800100" lvl="1" indent="-457200">
              <a:buAutoNum type="arabicPeriod"/>
            </a:pPr>
            <a:endParaRPr lang="en-US" sz="2800" b="1" dirty="0"/>
          </a:p>
          <a:p>
            <a:pPr marL="800100" lvl="1" indent="-457200">
              <a:buFont typeface="Arial" panose="020B0604020202020204" pitchFamily="34" charset="0"/>
              <a:buAutoNum type="arabicPeriod"/>
            </a:pPr>
            <a:r>
              <a:rPr lang="en-US" sz="2800" b="1" dirty="0"/>
              <a:t>Power Modules (Infineon 2kV) Parameters </a:t>
            </a:r>
          </a:p>
          <a:p>
            <a:pPr marL="685800" lvl="2" indent="0">
              <a:buNone/>
            </a:pPr>
            <a:endParaRPr lang="en-US" sz="2800" b="1" dirty="0"/>
          </a:p>
          <a:p>
            <a:pPr marL="800100" lvl="1" indent="-457200">
              <a:buAutoNum type="arabicPeriod"/>
            </a:pPr>
            <a:r>
              <a:rPr lang="en-US" sz="2800" b="1" dirty="0"/>
              <a:t>Inverter Loss Estimation with Datasheet Values</a:t>
            </a:r>
          </a:p>
          <a:p>
            <a:pPr marL="444489" lvl="2" indent="0">
              <a:buNone/>
            </a:pPr>
            <a:endParaRPr lang="en-US" sz="2400" b="1" dirty="0"/>
          </a:p>
          <a:p>
            <a:pPr marL="800100" lvl="1" indent="-457200">
              <a:buAutoNum type="arabicPeriod"/>
            </a:pPr>
            <a:r>
              <a:rPr lang="en-US" sz="2800" b="1" dirty="0"/>
              <a:t>Harmonic Losses on the Motor </a:t>
            </a:r>
          </a:p>
          <a:p>
            <a:pPr marL="685800" lvl="2" indent="0">
              <a:buNone/>
            </a:pPr>
            <a:endParaRPr lang="en-US" sz="2400" b="1" dirty="0"/>
          </a:p>
          <a:p>
            <a:pPr marL="800100" lvl="1" indent="-457200">
              <a:buAutoNum type="arabicPeriod"/>
            </a:pPr>
            <a:r>
              <a:rPr lang="en-US" sz="2800" b="1" dirty="0"/>
              <a:t>Die area and Switching Frequency Selection (Total Losses)</a:t>
            </a:r>
          </a:p>
          <a:p>
            <a:pPr marL="685800" lvl="2" indent="0">
              <a:buNone/>
            </a:pPr>
            <a:r>
              <a:rPr lang="en-US" sz="1700" b="1" dirty="0"/>
              <a:t>							</a:t>
            </a:r>
            <a:endParaRPr lang="en-US" sz="1850" b="1" dirty="0"/>
          </a:p>
          <a:p>
            <a:endParaRPr lang="en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0689-A4D8-0B4A-C5F9-F2D1C59C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4700CD-D7B0-A393-93D2-C8DA27E4FD9F}" type="datetime1">
              <a:rPr lang="en-US" smtClean="0"/>
              <a:t>6/23/2024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9452E-8BB0-5C36-F95C-07D4EA61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88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A636A4-9E20-38F9-76A0-9C636473ED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35558" y="1464815"/>
                <a:ext cx="5544618" cy="4826255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=300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sv-SE" i="1">
                            <a:latin typeface="Cambria Math" panose="02040503050406030204" pitchFamily="18" charset="0"/>
                          </a:rPr>
                          <m:t>𝐷𝐶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=1250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sv-SE" dirty="0"/>
                  <a:t>  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=240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=625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729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sv-SE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=320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sv-SE" i="1" dirty="0"/>
                  <a:t> or 274 </a:t>
                </a:r>
                <a:r>
                  <a:rPr lang="sv-SE" i="1" dirty="0"/>
                  <a:t>A</a:t>
                </a:r>
                <a:endParaRPr lang="sv-SE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 0.9</m:t>
                    </m:r>
                  </m:oMath>
                </a14:m>
                <a:endParaRPr lang="sv-SE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𝑝𝑓</m:t>
                            </m:r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sv-SE" b="1" i="1" dirty="0"/>
                  <a:t> </a:t>
                </a:r>
                <a:r>
                  <a:rPr lang="sv-SE" i="1" dirty="0"/>
                  <a:t>or </a:t>
                </a:r>
                <a:r>
                  <a:rPr lang="sv-SE" b="1" i="1" dirty="0"/>
                  <a:t>304 A</a:t>
                </a:r>
                <a:endParaRPr lang="en-US" b="1" dirty="0"/>
              </a:p>
              <a:p>
                <a:pPr marL="800100" lvl="1" indent="-457200">
                  <a:buFont typeface="+mj-lt"/>
                  <a:buAutoNum type="arabicPeriod"/>
                </a:pPr>
                <a:endParaRPr lang="en-US" sz="1850" b="1" dirty="0"/>
              </a:p>
              <a:p>
                <a:endParaRPr lang="en-GR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A636A4-9E20-38F9-76A0-9C636473ED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35558" y="1464815"/>
                <a:ext cx="5544618" cy="4826255"/>
              </a:xfrm>
              <a:blipFill>
                <a:blip r:embed="rId2"/>
                <a:stretch>
                  <a:fillRect l="-1429" t="-113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2-Level Inverter Power Ratings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0689-A4D8-0B4A-C5F9-F2D1C59C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4700CD-D7B0-A393-93D2-C8DA27E4FD9F}" type="datetime1">
              <a:rPr lang="en-US" smtClean="0"/>
              <a:t>6/23/2024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9452E-8BB0-5C36-F95C-07D4EA61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 smtClean="0"/>
              <a:t>3</a:t>
            </a:fld>
            <a:endParaRPr lang="en-US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418" y="2702268"/>
            <a:ext cx="3817314" cy="1800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7141471" y="4818988"/>
                <a:ext cx="508281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/>
                  <a:t>Efficiency (99.5%) </a:t>
                </a:r>
              </a:p>
              <a:p>
                <a:pPr algn="ctr"/>
                <a:r>
                  <a:rPr lang="en-US" dirty="0">
                    <a:sym typeface="Wingdings" panose="05000000000000000000" pitchFamily="2" charset="2"/>
                  </a:rPr>
                  <a:t>Semiconductor Losses (6 switches): </a:t>
                </a:r>
                <a:r>
                  <a:rPr lang="en-US" b="1" dirty="0">
                    <a:sym typeface="Wingdings" panose="05000000000000000000" pitchFamily="2" charset="2"/>
                  </a:rPr>
                  <a:t>1500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endParaRPr lang="sv-SE" b="1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471" y="4818988"/>
                <a:ext cx="5082812" cy="646331"/>
              </a:xfrm>
              <a:prstGeom prst="rect">
                <a:avLst/>
              </a:prstGeom>
              <a:blipFill>
                <a:blip r:embed="rId4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013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636A4-9E20-38F9-76A0-9C636473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457200">
              <a:buFont typeface="+mj-lt"/>
              <a:buAutoNum type="arabicPeriod"/>
            </a:pPr>
            <a:endParaRPr lang="en-US" sz="1850" b="1" dirty="0"/>
          </a:p>
          <a:p>
            <a:endParaRPr lang="en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of Infineon 2kV Bare die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0689-A4D8-0B4A-C5F9-F2D1C59C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4700CD-D7B0-A393-93D2-C8DA27E4FD9F}" type="datetime1">
              <a:rPr lang="en-US" smtClean="0"/>
              <a:t>6/23/2024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9452E-8BB0-5C36-F95C-07D4EA61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2423592" y="1691499"/>
                <a:ext cx="9361040" cy="4401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AutoNum type="alphaUcPeriod"/>
                </a:pPr>
                <a:r>
                  <a:rPr lang="en-US" sz="2000" b="1" dirty="0"/>
                  <a:t>Basic Parameters of Bare die:</a:t>
                </a:r>
              </a:p>
              <a:p>
                <a:endParaRPr lang="sv-SE" sz="2000" dirty="0"/>
              </a:p>
              <a:p>
                <a:pPr lvl="0"/>
                <a:r>
                  <a:rPr lang="en-US" sz="2000" dirty="0"/>
                  <a:t>Current rating @25°C (in Amperes)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sz="20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sv-SE" sz="2000" dirty="0">
                  <a:solidFill>
                    <a:schemeClr val="accent4"/>
                  </a:solidFill>
                </a:endParaRPr>
              </a:p>
              <a:p>
                <a:pPr lvl="0"/>
                <a:endParaRPr lang="sv-SE" sz="2000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en-US" sz="2000" dirty="0"/>
                  <a:t>On-state resistance @25°C (in Ohms)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26 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mΩ</m:t>
                    </m:r>
                  </m:oMath>
                </a14:m>
                <a:endParaRPr lang="sv-SE" sz="2000" dirty="0">
                  <a:solidFill>
                    <a:schemeClr val="accent4"/>
                  </a:solidFill>
                </a:endParaRPr>
              </a:p>
              <a:p>
                <a:pPr lvl="0"/>
                <a:endParaRPr lang="sv-SE" sz="2000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en-US" sz="2000" dirty="0"/>
                  <a:t>Internal gate resistance (in Ohms) ~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7,2</m:t>
                    </m:r>
                    <m: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sv-SE" sz="2000" dirty="0">
                  <a:solidFill>
                    <a:srgbClr val="FF0000"/>
                  </a:solidFill>
                </a:endParaRPr>
              </a:p>
              <a:p>
                <a:pPr lvl="0"/>
                <a:endParaRPr lang="sv-SE" sz="2000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de-DE" sz="2000" dirty="0"/>
                  <a:t>Die Size (mm x mm) </a:t>
                </a:r>
                <a:r>
                  <a:rPr lang="de-DE" sz="2000" dirty="0">
                    <a:solidFill>
                      <a:srgbClr val="FF0000"/>
                    </a:solidFill>
                  </a:rPr>
                  <a:t>5,71 x 5,24 </a:t>
                </a:r>
                <a:r>
                  <a:rPr lang="de-DE" sz="2000" dirty="0">
                    <a:solidFill>
                      <a:srgbClr val="FF0000"/>
                    </a:solidFill>
                  </a:rPr>
                  <a:t>mm</a:t>
                </a:r>
              </a:p>
              <a:p>
                <a:pPr lvl="0"/>
                <a:endParaRPr lang="sv-SE" sz="2000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en-US" sz="2000" dirty="0"/>
                  <a:t>Thermal resistance (Junction to Case) (in °C/W</a:t>
                </a:r>
                <a:r>
                  <a:rPr lang="en-US" sz="2000" dirty="0"/>
                  <a:t>) </a:t>
                </a:r>
                <a:r>
                  <a:rPr lang="sv-SE" sz="2000" dirty="0">
                    <a:solidFill>
                      <a:schemeClr val="accent6"/>
                    </a:solidFill>
                  </a:rPr>
                  <a:t>0.0880 K/W per </a:t>
                </a:r>
                <a:r>
                  <a:rPr lang="sv-SE" sz="2000" dirty="0" err="1">
                    <a:solidFill>
                      <a:schemeClr val="accent6"/>
                    </a:solidFill>
                  </a:rPr>
                  <a:t>Mosfet</a:t>
                </a:r>
                <a:r>
                  <a:rPr lang="sv-SE" sz="2000" dirty="0">
                    <a:solidFill>
                      <a:schemeClr val="accent6"/>
                    </a:solidFill>
                  </a:rPr>
                  <a:t> (8 or 10 </a:t>
                </a:r>
                <a:r>
                  <a:rPr lang="sv-SE" sz="2000" dirty="0" err="1">
                    <a:solidFill>
                      <a:schemeClr val="accent6"/>
                    </a:solidFill>
                  </a:rPr>
                  <a:t>dies</a:t>
                </a:r>
                <a:r>
                  <a:rPr lang="sv-SE" sz="2000" dirty="0">
                    <a:solidFill>
                      <a:schemeClr val="accent6"/>
                    </a:solidFill>
                  </a:rPr>
                  <a:t> )</a:t>
                </a:r>
                <a:endParaRPr lang="en-US" sz="2000" dirty="0">
                  <a:solidFill>
                    <a:schemeClr val="accent6"/>
                  </a:solidFill>
                </a:endParaRPr>
              </a:p>
              <a:p>
                <a:pPr lvl="0"/>
                <a:r>
                  <a:rPr lang="sv-SE" sz="2000" dirty="0">
                    <a:solidFill>
                      <a:schemeClr val="accent6"/>
                    </a:solidFill>
                  </a:rPr>
                  <a:t>						    Case </a:t>
                </a:r>
                <a:r>
                  <a:rPr lang="sv-SE" sz="2000" dirty="0">
                    <a:solidFill>
                      <a:schemeClr val="accent6"/>
                    </a:solidFill>
                  </a:rPr>
                  <a:t>to heat </a:t>
                </a:r>
                <a:r>
                  <a:rPr lang="sv-SE" sz="2000" dirty="0">
                    <a:solidFill>
                      <a:schemeClr val="accent6"/>
                    </a:solidFill>
                  </a:rPr>
                  <a:t>sink: 0.0330 K/W</a:t>
                </a:r>
              </a:p>
              <a:p>
                <a:pPr lvl="0"/>
                <a:endParaRPr lang="sv-SE" sz="2000" dirty="0">
                  <a:solidFill>
                    <a:schemeClr val="accent6"/>
                  </a:solidFill>
                </a:endParaRPr>
              </a:p>
              <a:p>
                <a:r>
                  <a:rPr lang="en-US" sz="2000" dirty="0"/>
                  <a:t>Zero Current Loss (Output Capacitance Loss) ~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1.25 </m:t>
                    </m:r>
                    <m:r>
                      <a:rPr lang="en-US" sz="20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𝑚𝐽</m:t>
                    </m:r>
                    <m:r>
                      <a:rPr lang="en-US" sz="20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  <m:r>
                      <a:rPr lang="en-US" sz="20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 1</m:t>
                    </m:r>
                    <m:r>
                      <a:rPr lang="en-US" sz="20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𝑚𝐽</m:t>
                    </m:r>
                    <m:r>
                      <a:rPr lang="en-US" sz="2000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</m:oMath>
                </a14:m>
                <a:endParaRPr lang="sv-SE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2" y="1691499"/>
                <a:ext cx="9361040" cy="4401205"/>
              </a:xfrm>
              <a:prstGeom prst="rect">
                <a:avLst/>
              </a:prstGeom>
              <a:blipFill>
                <a:blip r:embed="rId2"/>
                <a:stretch>
                  <a:fillRect l="-717" t="-831" b="-152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097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303" y="2935948"/>
            <a:ext cx="3495385" cy="2434596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636A4-9E20-38F9-76A0-9C636473E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560" y="1447612"/>
            <a:ext cx="9870172" cy="4826255"/>
          </a:xfrm>
        </p:spPr>
        <p:txBody>
          <a:bodyPr>
            <a:normAutofit/>
          </a:bodyPr>
          <a:lstStyle/>
          <a:p>
            <a:pPr marL="800100" lvl="1" indent="-457200">
              <a:buFont typeface="+mj-lt"/>
              <a:buAutoNum type="arabicPeriod"/>
            </a:pPr>
            <a:endParaRPr lang="en-US" sz="1850" b="1" dirty="0"/>
          </a:p>
          <a:p>
            <a:endParaRPr lang="en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Datasheet-Driven Loss </a:t>
            </a:r>
            <a:r>
              <a:rPr lang="en-US" dirty="0" smtClean="0"/>
              <a:t>Estimation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0689-A4D8-0B4A-C5F9-F2D1C59C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4700CD-D7B0-A393-93D2-C8DA27E4FD9F}" type="datetime1">
              <a:rPr lang="en-US" smtClean="0"/>
              <a:t>6/23/2024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9452E-8BB0-5C36-F95C-07D4EA61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 smtClean="0"/>
              <a:t>5</a:t>
            </a:fld>
            <a:endParaRPr lang="en-US"/>
          </a:p>
        </p:txBody>
      </p:sp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2351584" y="1700808"/>
            <a:ext cx="3301365" cy="77457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594" indent="-228594" algn="l" defTabSz="914377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5591" indent="-177796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30223" indent="-185734" algn="l" defTabSz="896915">
              <a:lnSpc>
                <a:spcPct val="90000"/>
              </a:lnSpc>
              <a:spcBef>
                <a:spcPts val="500"/>
              </a:spcBef>
              <a:buFont typeface="Arial"/>
              <a:buChar char="•"/>
              <a:tabLst>
                <a:tab pos="2689158" algn="l"/>
              </a:tabLst>
              <a:defRPr sz="18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96915" indent="-177796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4712" indent="-177796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3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sv-SE" sz="2000" dirty="0" err="1" smtClean="0"/>
              <a:t>Voltage</a:t>
            </a:r>
            <a:r>
              <a:rPr lang="sv-SE" sz="2000" dirty="0" smtClean="0"/>
              <a:t> rating: 2kV </a:t>
            </a:r>
          </a:p>
          <a:p>
            <a:pPr marL="0" indent="0">
              <a:buFont typeface="Arial"/>
              <a:buNone/>
            </a:pPr>
            <a:r>
              <a:rPr lang="sv-SE" sz="2000" dirty="0" err="1" smtClean="0"/>
              <a:t>Current</a:t>
            </a:r>
            <a:r>
              <a:rPr lang="sv-SE" sz="2000" dirty="0" smtClean="0"/>
              <a:t> rating: 400A</a:t>
            </a:r>
            <a:endParaRPr lang="sv-SE" sz="20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5301129" y="1771430"/>
            <a:ext cx="52549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FF3MR20KM1H 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using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10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dies in parallel </a:t>
            </a:r>
            <a:endParaRPr lang="sv-SE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7307061" y="5572288"/>
                <a:ext cx="4013655" cy="4826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26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b="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=2.6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sv-SE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061" y="5572288"/>
                <a:ext cx="4013655" cy="482633"/>
              </a:xfrm>
              <a:prstGeom prst="rect">
                <a:avLst/>
              </a:prstGeom>
              <a:blipFill>
                <a:blip r:embed="rId3"/>
                <a:stretch>
                  <a:fillRect b="-1645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>
            <a:off x="8544272" y="4797152"/>
            <a:ext cx="282289" cy="7282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3518" y="2726870"/>
            <a:ext cx="4041535" cy="2648120"/>
          </a:xfrm>
          <a:prstGeom prst="rect">
            <a:avLst/>
          </a:prstGeom>
        </p:spPr>
      </p:pic>
      <p:cxnSp>
        <p:nvCxnSpPr>
          <p:cNvPr id="12" name="Straight Arrow Connector 11"/>
          <p:cNvCxnSpPr>
            <a:endCxn id="13" idx="2"/>
          </p:cNvCxnSpPr>
          <p:nvPr/>
        </p:nvCxnSpPr>
        <p:spPr>
          <a:xfrm flipV="1">
            <a:off x="3801710" y="3425948"/>
            <a:ext cx="2927232" cy="8697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17934" y="3056616"/>
            <a:ext cx="1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58 </a:t>
            </a:r>
            <a:r>
              <a:rPr lang="en-US" dirty="0" err="1" smtClean="0">
                <a:solidFill>
                  <a:srgbClr val="FF0000"/>
                </a:solidFill>
              </a:rPr>
              <a:t>mJ</a:t>
            </a:r>
            <a:r>
              <a:rPr lang="en-US" dirty="0" smtClean="0">
                <a:solidFill>
                  <a:srgbClr val="FF0000"/>
                </a:solidFill>
              </a:rPr>
              <a:t> at 304 A</a:t>
            </a:r>
            <a:endParaRPr lang="sv-SE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/>
          <p:cNvCxnSpPr>
            <a:endCxn id="15" idx="2"/>
          </p:cNvCxnSpPr>
          <p:nvPr/>
        </p:nvCxnSpPr>
        <p:spPr>
          <a:xfrm flipV="1">
            <a:off x="3801710" y="4326489"/>
            <a:ext cx="2927232" cy="430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17934" y="3957157"/>
            <a:ext cx="1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17 </a:t>
            </a:r>
            <a:r>
              <a:rPr lang="en-US" dirty="0" err="1" smtClean="0">
                <a:solidFill>
                  <a:srgbClr val="FF0000"/>
                </a:solidFill>
              </a:rPr>
              <a:t>mJ</a:t>
            </a:r>
            <a:r>
              <a:rPr lang="en-US" dirty="0" smtClean="0">
                <a:solidFill>
                  <a:srgbClr val="FF0000"/>
                </a:solidFill>
              </a:rPr>
              <a:t> at 304 A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271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636A4-9E20-38F9-76A0-9C636473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457200">
              <a:buFont typeface="+mj-lt"/>
              <a:buAutoNum type="arabicPeriod"/>
            </a:pPr>
            <a:endParaRPr lang="en-US" sz="1850" b="1" dirty="0"/>
          </a:p>
          <a:p>
            <a:endParaRPr lang="en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Datasheet-driven Loss Calculation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0689-A4D8-0B4A-C5F9-F2D1C59C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4700CD-D7B0-A393-93D2-C8DA27E4FD9F}" type="datetime1">
              <a:rPr lang="en-US" smtClean="0"/>
              <a:t>6/23/2024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9452E-8BB0-5C36-F95C-07D4EA61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2" y="3411320"/>
            <a:ext cx="2942772" cy="19870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931" y="2114806"/>
            <a:ext cx="2936893" cy="20254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499338" y="1730738"/>
            <a:ext cx="87092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000" dirty="0" err="1">
                <a:latin typeface="Calibri" panose="020F0502020204030204" pitchFamily="34" charset="0"/>
              </a:rPr>
              <a:t>Switching</a:t>
            </a:r>
            <a:r>
              <a:rPr lang="sv-SE" sz="2000" dirty="0">
                <a:latin typeface="Calibri" panose="020F0502020204030204" pitchFamily="34" charset="0"/>
              </a:rPr>
              <a:t> </a:t>
            </a:r>
            <a:r>
              <a:rPr lang="sv-SE" sz="2000" dirty="0" err="1">
                <a:latin typeface="Calibri" panose="020F0502020204030204" pitchFamily="34" charset="0"/>
              </a:rPr>
              <a:t>frequency</a:t>
            </a:r>
            <a:r>
              <a:rPr lang="sv-SE" sz="2000" dirty="0">
                <a:latin typeface="Calibri" panose="020F0502020204030204" pitchFamily="34" charset="0"/>
              </a:rPr>
              <a:t> = </a:t>
            </a:r>
            <a:r>
              <a:rPr lang="sv-SE" sz="2000" b="1" dirty="0">
                <a:latin typeface="Calibri" panose="020F0502020204030204" pitchFamily="34" charset="0"/>
              </a:rPr>
              <a:t>5kHz</a:t>
            </a:r>
            <a:r>
              <a:rPr lang="sv-SE" sz="2000" dirty="0">
                <a:latin typeface="Calibri" panose="020F0502020204030204" pitchFamily="34" charset="0"/>
              </a:rPr>
              <a:t>, </a:t>
            </a:r>
            <a:r>
              <a:rPr lang="sv-SE" sz="2000" dirty="0" err="1">
                <a:latin typeface="Calibri" panose="020F0502020204030204" pitchFamily="34" charset="0"/>
              </a:rPr>
              <a:t>ma</a:t>
            </a:r>
            <a:r>
              <a:rPr lang="sv-SE" sz="2000" dirty="0">
                <a:latin typeface="Calibri" panose="020F0502020204030204" pitchFamily="34" charset="0"/>
              </a:rPr>
              <a:t>=1.15, </a:t>
            </a:r>
            <a:r>
              <a:rPr lang="sv-SE" sz="2000" dirty="0" err="1">
                <a:latin typeface="Calibri" panose="020F0502020204030204" pitchFamily="34" charset="0"/>
              </a:rPr>
              <a:t>pf</a:t>
            </a:r>
            <a:r>
              <a:rPr lang="sv-SE" sz="2000" dirty="0">
                <a:latin typeface="Calibri" panose="020F0502020204030204" pitchFamily="34" charset="0"/>
              </a:rPr>
              <a:t>=0.9 2-level 3-phase, P=300kW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8959815"/>
                  </p:ext>
                </p:extLst>
              </p:nvPr>
            </p:nvGraphicFramePr>
            <p:xfrm>
              <a:off x="7637810" y="4522567"/>
              <a:ext cx="4276048" cy="13251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9012">
                      <a:extLst>
                        <a:ext uri="{9D8B030D-6E8A-4147-A177-3AD203B41FA5}">
                          <a16:colId xmlns:a16="http://schemas.microsoft.com/office/drawing/2014/main" val="701188241"/>
                        </a:ext>
                      </a:extLst>
                    </a:gridCol>
                    <a:gridCol w="1069012">
                      <a:extLst>
                        <a:ext uri="{9D8B030D-6E8A-4147-A177-3AD203B41FA5}">
                          <a16:colId xmlns:a16="http://schemas.microsoft.com/office/drawing/2014/main" val="2487507754"/>
                        </a:ext>
                      </a:extLst>
                    </a:gridCol>
                    <a:gridCol w="1069012">
                      <a:extLst>
                        <a:ext uri="{9D8B030D-6E8A-4147-A177-3AD203B41FA5}">
                          <a16:colId xmlns:a16="http://schemas.microsoft.com/office/drawing/2014/main" val="267292927"/>
                        </a:ext>
                      </a:extLst>
                    </a:gridCol>
                    <a:gridCol w="1069012">
                      <a:extLst>
                        <a:ext uri="{9D8B030D-6E8A-4147-A177-3AD203B41FA5}">
                          <a16:colId xmlns:a16="http://schemas.microsoft.com/office/drawing/2014/main" val="482194914"/>
                        </a:ext>
                      </a:extLst>
                    </a:gridCol>
                  </a:tblGrid>
                  <a:tr h="3080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80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sv-SE" sz="180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sz="1800" dirty="0" smtClean="0"/>
                            <a:t> (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sv-SE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1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1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p>
                              </m:sSup>
                            </m:oMath>
                          </a14:m>
                          <a:r>
                            <a:rPr lang="sv-SE" sz="1800" dirty="0" smtClean="0"/>
                            <a:t>)</a:t>
                          </a:r>
                          <a:endParaRPr lang="sv-SE" sz="18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sz="1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sv-SE" sz="18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sv-SE" sz="18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sv-S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1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sv-SE" sz="18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sv-SE" sz="18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sv-SE" sz="1800" b="0" i="1" dirty="0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sSup>
                                  <m:sSupPr>
                                    <m:ctrlPr>
                                      <a:rPr lang="sv-S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1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sv-SE" sz="18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sv-SE" sz="18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sz="1800" i="1" dirty="0" smtClean="0">
                                    <a:latin typeface="Cambria Math" panose="02040503050406030204" pitchFamily="18" charset="0"/>
                                  </a:rPr>
                                  <m:t>150 </m:t>
                                </m:r>
                                <m:sSup>
                                  <m:sSupPr>
                                    <m:ctrlPr>
                                      <a:rPr lang="sv-S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1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sv-SE" sz="18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sv-SE" sz="18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790322254"/>
                      </a:ext>
                    </a:extLst>
                  </a:tr>
                  <a:tr h="30241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smtClean="0"/>
                            <a:t>Loss</a:t>
                          </a:r>
                          <a:r>
                            <a:rPr lang="sv-SE" sz="1800" baseline="0" dirty="0" smtClean="0"/>
                            <a:t> (W)</a:t>
                          </a:r>
                          <a:endParaRPr lang="sv-SE" sz="1800" dirty="0" smtClean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smtClean="0"/>
                            <a:t>1366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smtClean="0"/>
                            <a:t>1590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smtClean="0"/>
                            <a:t>1770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24150159"/>
                      </a:ext>
                    </a:extLst>
                  </a:tr>
                  <a:tr h="5208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err="1" smtClean="0"/>
                            <a:t>Efficiency</a:t>
                          </a:r>
                          <a:r>
                            <a:rPr lang="sv-SE" sz="1800" dirty="0" smtClean="0"/>
                            <a:t> (%)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smtClean="0"/>
                            <a:t>99.55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smtClean="0"/>
                            <a:t>99.47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smtClean="0"/>
                            <a:t>99.41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8197127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8959815"/>
                  </p:ext>
                </p:extLst>
              </p:nvPr>
            </p:nvGraphicFramePr>
            <p:xfrm>
              <a:off x="7637810" y="4522567"/>
              <a:ext cx="4276048" cy="13251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9012">
                      <a:extLst>
                        <a:ext uri="{9D8B030D-6E8A-4147-A177-3AD203B41FA5}">
                          <a16:colId xmlns:a16="http://schemas.microsoft.com/office/drawing/2014/main" val="701188241"/>
                        </a:ext>
                      </a:extLst>
                    </a:gridCol>
                    <a:gridCol w="1069012">
                      <a:extLst>
                        <a:ext uri="{9D8B030D-6E8A-4147-A177-3AD203B41FA5}">
                          <a16:colId xmlns:a16="http://schemas.microsoft.com/office/drawing/2014/main" val="2487507754"/>
                        </a:ext>
                      </a:extLst>
                    </a:gridCol>
                    <a:gridCol w="1069012">
                      <a:extLst>
                        <a:ext uri="{9D8B030D-6E8A-4147-A177-3AD203B41FA5}">
                          <a16:colId xmlns:a16="http://schemas.microsoft.com/office/drawing/2014/main" val="267292927"/>
                        </a:ext>
                      </a:extLst>
                    </a:gridCol>
                    <a:gridCol w="1069012">
                      <a:extLst>
                        <a:ext uri="{9D8B030D-6E8A-4147-A177-3AD203B41FA5}">
                          <a16:colId xmlns:a16="http://schemas.microsoft.com/office/drawing/2014/main" val="482194914"/>
                        </a:ext>
                      </a:extLst>
                    </a:gridCol>
                  </a:tblGrid>
                  <a:tr h="364998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568" t="-8333" r="-301705" b="-29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100568" t="-8333" r="-201705" b="-29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201714" t="-8333" r="-102857" b="-29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300000" t="-8333" r="-2273" b="-29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0322254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smtClean="0"/>
                            <a:t>Loss</a:t>
                          </a:r>
                          <a:r>
                            <a:rPr lang="sv-SE" sz="1800" baseline="0" dirty="0" smtClean="0"/>
                            <a:t> (W)</a:t>
                          </a:r>
                          <a:endParaRPr lang="sv-SE" sz="1800" dirty="0" smtClean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smtClean="0"/>
                            <a:t>1366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smtClean="0"/>
                            <a:t>1590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smtClean="0"/>
                            <a:t>1770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24150159"/>
                      </a:ext>
                    </a:extLst>
                  </a:tr>
                  <a:tr h="6172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err="1" smtClean="0"/>
                            <a:t>Efficiency</a:t>
                          </a:r>
                          <a:r>
                            <a:rPr lang="sv-SE" sz="1800" dirty="0" smtClean="0"/>
                            <a:t> (%)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smtClean="0"/>
                            <a:t>99.55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smtClean="0"/>
                            <a:t>99.47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800" dirty="0" smtClean="0"/>
                            <a:t>99.41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8197127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852" y="4006370"/>
            <a:ext cx="2935564" cy="2201673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endCxn id="12" idx="1"/>
          </p:cNvCxnSpPr>
          <p:nvPr/>
        </p:nvCxnSpPr>
        <p:spPr>
          <a:xfrm flipV="1">
            <a:off x="3143672" y="2855584"/>
            <a:ext cx="1703330" cy="72225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47002" y="2501641"/>
            <a:ext cx="2130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current is sinusoidal. </a:t>
            </a:r>
            <a:endParaRPr lang="sv-SE" sz="2000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515562" y="2014523"/>
            <a:ext cx="3545344" cy="746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68788" y="2316995"/>
            <a:ext cx="35290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maximum switching frequency is 5kHz since we have </a:t>
            </a:r>
            <a:r>
              <a:rPr lang="en-US" sz="2000" b="1" dirty="0" smtClean="0"/>
              <a:t>slow switching </a:t>
            </a:r>
            <a:r>
              <a:rPr lang="en-US" sz="2000" b="1" dirty="0"/>
              <a:t>speed (dv/</a:t>
            </a:r>
            <a:r>
              <a:rPr lang="en-US" sz="2000" b="1" dirty="0" err="1"/>
              <a:t>dt</a:t>
            </a:r>
            <a:r>
              <a:rPr lang="en-US" sz="2000" b="1" dirty="0"/>
              <a:t>) </a:t>
            </a:r>
            <a:r>
              <a:rPr lang="en-US" sz="2000" b="1" dirty="0" smtClean="0"/>
              <a:t>test data </a:t>
            </a:r>
            <a:r>
              <a:rPr lang="en-US" sz="2000" dirty="0" smtClean="0"/>
              <a:t>in </a:t>
            </a:r>
            <a:r>
              <a:rPr lang="en-US" sz="2000" dirty="0"/>
              <a:t>the datasheet.</a:t>
            </a:r>
            <a:endParaRPr lang="sv-SE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2406561" y="6175420"/>
            <a:ext cx="93281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/>
              <a:t>Assume only conduction loss is changed with temperature.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/>
              <a:t>We do not use a thermal model here; we just find the losses for different junction temperatures.</a:t>
            </a:r>
            <a:endParaRPr lang="sv-SE" sz="1500" dirty="0"/>
          </a:p>
        </p:txBody>
      </p:sp>
    </p:spTree>
    <p:extLst>
      <p:ext uri="{BB962C8B-B14F-4D97-AF65-F5344CB8AC3E}">
        <p14:creationId xmlns:p14="http://schemas.microsoft.com/office/powerpoint/2010/main" val="936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636A4-9E20-38F9-76A0-9C636473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457200">
              <a:buFont typeface="+mj-lt"/>
              <a:buAutoNum type="arabicPeriod"/>
            </a:pPr>
            <a:endParaRPr lang="en-US" sz="1850" b="1" dirty="0"/>
          </a:p>
          <a:p>
            <a:endParaRPr lang="en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Switching Losses for Fast dv/</a:t>
            </a:r>
            <a:r>
              <a:rPr lang="en-US" dirty="0" err="1"/>
              <a:t>dt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0689-A4D8-0B4A-C5F9-F2D1C59C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4700CD-D7B0-A393-93D2-C8DA27E4FD9F}" type="datetime1">
              <a:rPr lang="en-US" smtClean="0"/>
              <a:t>6/23/2024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9452E-8BB0-5C36-F95C-07D4EA61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48" y="1916832"/>
            <a:ext cx="2962471" cy="1941089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>
            <a:off x="3949623" y="3508864"/>
            <a:ext cx="1186566" cy="174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15547" y="3909498"/>
            <a:ext cx="3357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Output capacitance loss</a:t>
            </a:r>
            <a:endParaRPr lang="sv-SE" sz="24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600056" y="3284984"/>
            <a:ext cx="1459001" cy="9451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3188" y="4230182"/>
            <a:ext cx="3357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Overlapping loss</a:t>
            </a:r>
            <a:endParaRPr lang="sv-SE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624" y="4412183"/>
            <a:ext cx="2179539" cy="436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06221" y="4953716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Linearly increasing by the number of dies in parallel</a:t>
            </a:r>
            <a:endParaRPr lang="sv-SE" sz="16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1218" y="4623026"/>
            <a:ext cx="2761751" cy="62307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37270" y="5396188"/>
            <a:ext cx="2985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Depends on dv/</a:t>
            </a:r>
            <a:r>
              <a:rPr lang="en-US" dirty="0" err="1" smtClean="0"/>
              <a:t>dt</a:t>
            </a:r>
            <a:r>
              <a:rPr lang="en-US" dirty="0" smtClean="0"/>
              <a:t> and di/</a:t>
            </a:r>
            <a:r>
              <a:rPr lang="en-US" dirty="0" err="1" smtClean="0"/>
              <a:t>dt</a:t>
            </a:r>
            <a:endParaRPr lang="sv-SE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t="5062"/>
          <a:stretch/>
        </p:blipFill>
        <p:spPr>
          <a:xfrm>
            <a:off x="7662717" y="5782598"/>
            <a:ext cx="1341121" cy="44886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1804" y="5829622"/>
            <a:ext cx="1169744" cy="41891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59749" y="3452987"/>
            <a:ext cx="1072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10mJ</a:t>
            </a:r>
            <a:endParaRPr lang="sv-SE" sz="2400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5938939" y="2535316"/>
            <a:ext cx="1886272" cy="5336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896200" y="2350649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58 </a:t>
            </a:r>
            <a:r>
              <a:rPr lang="en-US" sz="2400" dirty="0" err="1" smtClean="0">
                <a:solidFill>
                  <a:srgbClr val="FF0000"/>
                </a:solidFill>
              </a:rPr>
              <a:t>mJ</a:t>
            </a:r>
            <a:r>
              <a:rPr lang="en-US" sz="2400" dirty="0" smtClean="0">
                <a:solidFill>
                  <a:srgbClr val="FF0000"/>
                </a:solidFill>
              </a:rPr>
              <a:t> at 304 A</a:t>
            </a:r>
            <a:endParaRPr lang="sv-SE" sz="2400" dirty="0">
              <a:solidFill>
                <a:srgbClr val="FF0000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5938939" y="3399185"/>
            <a:ext cx="2540766" cy="29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68544" y="3214519"/>
            <a:ext cx="2091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17 </a:t>
            </a:r>
            <a:r>
              <a:rPr lang="en-US" sz="2400" dirty="0" err="1" smtClean="0">
                <a:solidFill>
                  <a:srgbClr val="FF0000"/>
                </a:solidFill>
              </a:rPr>
              <a:t>mJ</a:t>
            </a:r>
            <a:r>
              <a:rPr lang="en-US" sz="2400" dirty="0" smtClean="0">
                <a:solidFill>
                  <a:srgbClr val="FF0000"/>
                </a:solidFill>
              </a:rPr>
              <a:t> at 304 A</a:t>
            </a:r>
            <a:endParaRPr lang="sv-SE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091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636A4-9E20-38F9-76A0-9C636473E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697088" y="-64248"/>
            <a:ext cx="9870172" cy="4826255"/>
          </a:xfrm>
        </p:spPr>
        <p:txBody>
          <a:bodyPr>
            <a:normAutofit/>
          </a:bodyPr>
          <a:lstStyle/>
          <a:p>
            <a:pPr marL="800100" lvl="1" indent="-457200">
              <a:buFont typeface="+mj-lt"/>
              <a:buAutoNum type="arabicPeriod"/>
            </a:pPr>
            <a:endParaRPr lang="en-US" sz="1850" b="1" dirty="0"/>
          </a:p>
          <a:p>
            <a:endParaRPr lang="en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Switching Loss for Fast dv/</a:t>
            </a:r>
            <a:r>
              <a:rPr lang="en-US" dirty="0" err="1"/>
              <a:t>dt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0689-A4D8-0B4A-C5F9-F2D1C59C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4700CD-D7B0-A393-93D2-C8DA27E4FD9F}" type="datetime1">
              <a:rPr lang="en-US" smtClean="0"/>
              <a:t>6/24/2024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9452E-8BB0-5C36-F95C-07D4EA61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176" y="2420888"/>
            <a:ext cx="3312368" cy="248427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608" y="2469896"/>
            <a:ext cx="3736529" cy="2448272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6096000" y="3684618"/>
            <a:ext cx="1471679" cy="36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87888" y="5092500"/>
            <a:ext cx="4536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Same output </a:t>
            </a:r>
            <a:r>
              <a:rPr lang="en-US" sz="2400" dirty="0" smtClean="0"/>
              <a:t>capacitance </a:t>
            </a:r>
            <a:r>
              <a:rPr lang="en-US" sz="2400" dirty="0"/>
              <a:t>loss </a:t>
            </a:r>
            <a:r>
              <a:rPr lang="en-US" sz="2400" dirty="0" smtClean="0"/>
              <a:t>Updated overlapping loss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1986848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636A4-9E20-38F9-76A0-9C636473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457200">
              <a:buFont typeface="+mj-lt"/>
              <a:buAutoNum type="arabicPeriod"/>
            </a:pPr>
            <a:endParaRPr lang="en-US" sz="1850" b="1" dirty="0"/>
          </a:p>
          <a:p>
            <a:endParaRPr lang="en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Switching Losses for Fast dv/</a:t>
            </a:r>
            <a:r>
              <a:rPr lang="en-US" dirty="0" err="1"/>
              <a:t>dt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0689-A4D8-0B4A-C5F9-F2D1C59C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4700CD-D7B0-A393-93D2-C8DA27E4FD9F}" type="datetime1">
              <a:rPr lang="en-US" smtClean="0"/>
              <a:t>6/23/2024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9452E-8BB0-5C36-F95C-07D4EA61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884" y="1913014"/>
            <a:ext cx="3936438" cy="29523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632" y="1988840"/>
            <a:ext cx="3744416" cy="28083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035660" y="5899498"/>
                <a:ext cx="842493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Number of Dies area selected as minimized the losses regarding the switching frequency.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Junction temperature is taken at </a:t>
                </a:r>
                <a14:m>
                  <m:oMath xmlns:m="http://schemas.openxmlformats.org/officeDocument/2006/math">
                    <m:r>
                      <a:rPr lang="sv-SE" sz="1600" i="1" dirty="0">
                        <a:latin typeface="Cambria Math" panose="02040503050406030204" pitchFamily="18" charset="0"/>
                      </a:rPr>
                      <m:t>75 </m:t>
                    </m:r>
                    <m:sSup>
                      <m:sSup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r>
                  <a:rPr lang="sv-SE" sz="1600" dirty="0" smtClean="0"/>
                  <a:t>.</a:t>
                </a:r>
                <a:endParaRPr lang="sv-SE" sz="1600" dirty="0" err="1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660" y="5899498"/>
                <a:ext cx="8424936" cy="492443"/>
              </a:xfrm>
              <a:prstGeom prst="rect">
                <a:avLst/>
              </a:prstGeom>
              <a:blipFill>
                <a:blip r:embed="rId4"/>
                <a:stretch>
                  <a:fillRect l="-1375" t="-13580" b="-2345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132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636A4-9E20-38F9-76A0-9C636473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457200">
              <a:buFont typeface="+mj-lt"/>
              <a:buAutoNum type="arabicPeriod"/>
            </a:pPr>
            <a:endParaRPr lang="en-US" sz="1850" b="1" dirty="0"/>
          </a:p>
          <a:p>
            <a:endParaRPr lang="en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Cases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0689-A4D8-0B4A-C5F9-F2D1C59C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65234" y="5959862"/>
            <a:ext cx="1171850" cy="365124"/>
          </a:xfrm>
        </p:spPr>
        <p:txBody>
          <a:bodyPr/>
          <a:lstStyle/>
          <a:p>
            <a:pPr>
              <a:defRPr/>
            </a:pPr>
            <a:fld id="{754700CD-D7B0-A393-93D2-C8DA27E4FD9F}" type="datetime1">
              <a:rPr lang="en-US" smtClean="0"/>
              <a:t>6/23/2024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9452E-8BB0-5C36-F95C-07D4EA61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898431" y="5271975"/>
                <a:ext cx="382729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If junction temperature is taken at </a:t>
                </a:r>
                <a14:m>
                  <m:oMath xmlns:m="http://schemas.openxmlformats.org/officeDocument/2006/math">
                    <m:r>
                      <a:rPr lang="sv-SE" sz="16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sv-SE" sz="1600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sv-SE" sz="1600" dirty="0" err="1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431" y="5271975"/>
                <a:ext cx="3827295" cy="246221"/>
              </a:xfrm>
              <a:prstGeom prst="rect">
                <a:avLst/>
              </a:prstGeom>
              <a:blipFill>
                <a:blip r:embed="rId2"/>
                <a:stretch>
                  <a:fillRect l="-3025" t="-27500" b="-50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503" y="2097696"/>
            <a:ext cx="4035152" cy="30263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975" y="2081890"/>
            <a:ext cx="4056227" cy="30421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3015" y="5271975"/>
            <a:ext cx="345638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If we lower dv/</a:t>
            </a:r>
            <a:r>
              <a:rPr lang="en-US" sz="1600" dirty="0" err="1" smtClean="0"/>
              <a:t>dt</a:t>
            </a:r>
            <a:r>
              <a:rPr lang="en-US" sz="1600" dirty="0" smtClean="0"/>
              <a:t> 2.5 times </a:t>
            </a:r>
            <a:endParaRPr lang="sv-SE" sz="1600" dirty="0" err="1"/>
          </a:p>
        </p:txBody>
      </p:sp>
    </p:spTree>
    <p:extLst>
      <p:ext uri="{BB962C8B-B14F-4D97-AF65-F5344CB8AC3E}">
        <p14:creationId xmlns:p14="http://schemas.microsoft.com/office/powerpoint/2010/main" val="2024306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636A4-9E20-38F9-76A0-9C636473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457200">
              <a:buFont typeface="+mj-lt"/>
              <a:buAutoNum type="arabicPeriod"/>
            </a:pPr>
            <a:endParaRPr lang="en-US" sz="1850" b="1" dirty="0"/>
          </a:p>
          <a:p>
            <a:endParaRPr lang="en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Harmonic Losses on the Motor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0689-A4D8-0B4A-C5F9-F2D1C59C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4700CD-D7B0-A393-93D2-C8DA27E4FD9F}" type="datetime1">
              <a:rPr lang="en-US" smtClean="0"/>
              <a:t>6/23/2024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9452E-8BB0-5C36-F95C-07D4EA61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368245" y="4242538"/>
            <a:ext cx="18002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dirty="0" smtClean="0"/>
              <a:t>Decreasing trend </a:t>
            </a:r>
            <a:endParaRPr lang="sv-SE" sz="1600" dirty="0" err="1"/>
          </a:p>
        </p:txBody>
      </p:sp>
      <p:sp>
        <p:nvSpPr>
          <p:cNvPr id="10" name="TextBox 9"/>
          <p:cNvSpPr txBox="1"/>
          <p:nvPr/>
        </p:nvSpPr>
        <p:spPr>
          <a:xfrm>
            <a:off x="9297497" y="4235941"/>
            <a:ext cx="18002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dirty="0" smtClean="0"/>
              <a:t>Increasing trend </a:t>
            </a:r>
            <a:endParaRPr lang="sv-SE" sz="1600" dirty="0" err="1"/>
          </a:p>
        </p:txBody>
      </p:sp>
      <p:sp>
        <p:nvSpPr>
          <p:cNvPr id="11" name="TextBox 10"/>
          <p:cNvSpPr txBox="1"/>
          <p:nvPr/>
        </p:nvSpPr>
        <p:spPr>
          <a:xfrm>
            <a:off x="6157742" y="3145972"/>
            <a:ext cx="18002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dirty="0" smtClean="0"/>
              <a:t>Optimum point</a:t>
            </a:r>
            <a:endParaRPr lang="sv-SE" sz="1600" dirty="0" err="1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2007376"/>
            <a:ext cx="2913109" cy="218483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285" y="4365104"/>
            <a:ext cx="3031149" cy="2273362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V="1">
            <a:off x="6528048" y="3755786"/>
            <a:ext cx="288032" cy="969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263" y="1975212"/>
            <a:ext cx="3020337" cy="226525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384729" y="1615103"/>
            <a:ext cx="69127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dirty="0" smtClean="0"/>
              <a:t>We have trade-off between motor harmonic losses and inverter losses. </a:t>
            </a:r>
            <a:endParaRPr lang="sv-SE" sz="1600" dirty="0" err="1"/>
          </a:p>
        </p:txBody>
      </p:sp>
    </p:spTree>
    <p:extLst>
      <p:ext uri="{BB962C8B-B14F-4D97-AF65-F5344CB8AC3E}">
        <p14:creationId xmlns:p14="http://schemas.microsoft.com/office/powerpoint/2010/main" val="4004218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636A4-9E20-38F9-76A0-9C636473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457200">
              <a:buFont typeface="+mj-lt"/>
              <a:buAutoNum type="arabicPeriod"/>
            </a:pPr>
            <a:endParaRPr lang="en-US" sz="1850" b="1" dirty="0"/>
          </a:p>
          <a:p>
            <a:endParaRPr lang="en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Harmonic Losses Estimation- Impedance Model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0689-A4D8-0B4A-C5F9-F2D1C59C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4700CD-D7B0-A393-93D2-C8DA27E4FD9F}" type="datetime1">
              <a:rPr lang="en-US" smtClean="0"/>
              <a:t>6/23/2024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9452E-8BB0-5C36-F95C-07D4EA61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24" y="2348880"/>
            <a:ext cx="3744416" cy="2808312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6566230" y="3851647"/>
            <a:ext cx="7157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334" y="2546102"/>
            <a:ext cx="3481453" cy="26110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968" y="5276726"/>
            <a:ext cx="2045499" cy="101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528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636A4-9E20-38F9-76A0-9C636473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457200">
              <a:buFont typeface="+mj-lt"/>
              <a:buAutoNum type="arabicPeriod"/>
            </a:pPr>
            <a:endParaRPr lang="en-US" sz="1850" b="1" dirty="0"/>
          </a:p>
          <a:p>
            <a:endParaRPr lang="en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Harmonic Losses Estimation- Impedance Model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0689-A4D8-0B4A-C5F9-F2D1C59C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4700CD-D7B0-A393-93D2-C8DA27E4FD9F}" type="datetime1">
              <a:rPr lang="en-US" smtClean="0"/>
              <a:t>6/23/2024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9452E-8BB0-5C36-F95C-07D4EA61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 smtClean="0"/>
              <a:t>13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55" y="2334935"/>
            <a:ext cx="4783741" cy="16326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87648" y="2292094"/>
            <a:ext cx="897280" cy="17154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sv-SE" dirty="0"/>
          </a:p>
        </p:txBody>
      </p:sp>
      <p:sp>
        <p:nvSpPr>
          <p:cNvPr id="13" name="TextBox 12"/>
          <p:cNvSpPr txBox="1"/>
          <p:nvPr/>
        </p:nvSpPr>
        <p:spPr>
          <a:xfrm>
            <a:off x="5735960" y="2293541"/>
            <a:ext cx="971968" cy="17154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sv-SE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l="16815" r="29918"/>
          <a:stretch/>
        </p:blipFill>
        <p:spPr>
          <a:xfrm>
            <a:off x="8042306" y="2520668"/>
            <a:ext cx="2950238" cy="2867273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 flipV="1">
            <a:off x="7070644" y="2830022"/>
            <a:ext cx="1602326" cy="162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991544" y="4093306"/>
            <a:ext cx="57606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Harmonic distribution changes regarding inverter operation</a:t>
            </a:r>
            <a:endParaRPr lang="sv-SE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968" y="4685544"/>
            <a:ext cx="2234338" cy="1675753"/>
          </a:xfrm>
          <a:prstGeom prst="rect">
            <a:avLst/>
          </a:prstGeom>
        </p:spPr>
      </p:pic>
      <p:cxnSp>
        <p:nvCxnSpPr>
          <p:cNvPr id="18" name="Straight Arrow Connector 17"/>
          <p:cNvCxnSpPr>
            <a:stCxn id="17" idx="3"/>
          </p:cNvCxnSpPr>
          <p:nvPr/>
        </p:nvCxnSpPr>
        <p:spPr>
          <a:xfrm flipV="1">
            <a:off x="8042306" y="5229201"/>
            <a:ext cx="1475119" cy="294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384032" y="6391526"/>
            <a:ext cx="1296144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Loss Factor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37931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636A4-9E20-38F9-76A0-9C636473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00100" lvl="1" indent="-457200">
              <a:buFont typeface="+mj-lt"/>
              <a:buAutoNum type="arabicPeriod"/>
            </a:pPr>
            <a:endParaRPr lang="en-US" sz="1850" b="1" dirty="0"/>
          </a:p>
          <a:p>
            <a:endParaRPr lang="en-G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4F321F-4907-0AAC-4F60-484CD9A1F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58" y="210122"/>
            <a:ext cx="9870172" cy="1141941"/>
          </a:xfrm>
        </p:spPr>
        <p:txBody>
          <a:bodyPr/>
          <a:lstStyle/>
          <a:p>
            <a:r>
              <a:rPr lang="en-US" dirty="0"/>
              <a:t>Total Losses Calculation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0689-A4D8-0B4A-C5F9-F2D1C59C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71143" y="5895389"/>
            <a:ext cx="1171850" cy="365124"/>
          </a:xfrm>
        </p:spPr>
        <p:txBody>
          <a:bodyPr/>
          <a:lstStyle/>
          <a:p>
            <a:pPr>
              <a:defRPr/>
            </a:pPr>
            <a:fld id="{754700CD-D7B0-A393-93D2-C8DA27E4FD9F}" type="datetime1">
              <a:rPr lang="en-US" smtClean="0"/>
              <a:t>6/23/2024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9452E-8BB0-5C36-F95C-07D4EA61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4017" y="5895390"/>
            <a:ext cx="589048" cy="365124"/>
          </a:xfrm>
        </p:spPr>
        <p:txBody>
          <a:bodyPr/>
          <a:lstStyle/>
          <a:p>
            <a:pPr>
              <a:defRPr/>
            </a:pPr>
            <a:r>
              <a:rPr lang="lt-LT"/>
              <a:t> </a:t>
            </a:r>
            <a:fld id="{0F17F21F-F198-4E80-B0D3-7A3291780809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70" y="2019346"/>
            <a:ext cx="4144104" cy="3108078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3863752" y="1928810"/>
            <a:ext cx="864096" cy="11267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356513" y="1534541"/>
            <a:ext cx="314691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 smtClean="0"/>
              <a:t>Optimum switching frequency</a:t>
            </a:r>
            <a:endParaRPr lang="sv-SE" sz="2000" dirty="0" err="1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168" y="2016297"/>
            <a:ext cx="4004470" cy="3003353"/>
          </a:xfrm>
          <a:prstGeom prst="rect">
            <a:avLst/>
          </a:prstGeom>
        </p:spPr>
      </p:pic>
      <p:sp>
        <p:nvSpPr>
          <p:cNvPr id="11" name="Content Placeholder 3"/>
          <p:cNvSpPr txBox="1">
            <a:spLocks/>
          </p:cNvSpPr>
          <p:nvPr/>
        </p:nvSpPr>
        <p:spPr bwMode="auto">
          <a:xfrm>
            <a:off x="3466059" y="5324453"/>
            <a:ext cx="1977850" cy="60837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594" indent="-228594" algn="l" defTabSz="914377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5591" indent="-177796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30223" indent="-185734" algn="l" defTabSz="896915">
              <a:lnSpc>
                <a:spcPct val="90000"/>
              </a:lnSpc>
              <a:spcBef>
                <a:spcPts val="500"/>
              </a:spcBef>
              <a:buFont typeface="Arial"/>
              <a:buChar char="•"/>
              <a:tabLst>
                <a:tab pos="2689158" algn="l"/>
              </a:tabLst>
              <a:defRPr sz="18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96915" indent="-177796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4712" indent="-177796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3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sv-SE" sz="1400" dirty="0" err="1" smtClean="0"/>
              <a:t>Voltage</a:t>
            </a:r>
            <a:r>
              <a:rPr lang="sv-SE" sz="1400" dirty="0" smtClean="0"/>
              <a:t> rating: 2kV </a:t>
            </a:r>
          </a:p>
          <a:p>
            <a:pPr marL="0" indent="0">
              <a:buFont typeface="Arial"/>
              <a:buNone/>
            </a:pPr>
            <a:r>
              <a:rPr lang="sv-SE" sz="1400" dirty="0" err="1" smtClean="0"/>
              <a:t>Current</a:t>
            </a:r>
            <a:r>
              <a:rPr lang="sv-SE" sz="1400" dirty="0" smtClean="0"/>
              <a:t> rating: 440A</a:t>
            </a:r>
            <a:endParaRPr lang="sv-SE" sz="14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5714760" y="5409399"/>
            <a:ext cx="131164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Calibri" panose="020F0502020204030204" pitchFamily="34" charset="0"/>
                <a:ea typeface="Calibri" panose="020F0502020204030204" pitchFamily="34" charset="0"/>
              </a:rPr>
              <a:t>11 dies in parallel </a:t>
            </a:r>
            <a:endParaRPr lang="sv-SE" sz="1200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7244694" y="5559439"/>
            <a:ext cx="7920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70858" y="5473289"/>
            <a:ext cx="247509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sv-SE" sz="1200" dirty="0" err="1" smtClean="0"/>
              <a:t>Desired</a:t>
            </a:r>
            <a:r>
              <a:rPr lang="sv-SE" sz="1200" dirty="0" smtClean="0"/>
              <a:t> </a:t>
            </a:r>
            <a:r>
              <a:rPr lang="sv-SE" sz="1200" dirty="0" err="1" smtClean="0"/>
              <a:t>one</a:t>
            </a:r>
            <a:r>
              <a:rPr lang="sv-SE" sz="1200" dirty="0" smtClean="0"/>
              <a:t> for fast dv/dt, 14 kHz </a:t>
            </a:r>
            <a:endParaRPr lang="sv-SE" sz="1200" dirty="0"/>
          </a:p>
        </p:txBody>
      </p:sp>
      <p:sp>
        <p:nvSpPr>
          <p:cNvPr id="15" name="Content Placeholder 3"/>
          <p:cNvSpPr txBox="1">
            <a:spLocks/>
          </p:cNvSpPr>
          <p:nvPr/>
        </p:nvSpPr>
        <p:spPr bwMode="auto">
          <a:xfrm>
            <a:off x="4948410" y="6150320"/>
            <a:ext cx="2010745" cy="60837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594" indent="-228594" algn="l" defTabSz="914377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5591" indent="-177796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30223" indent="-185734" algn="l" defTabSz="896915">
              <a:lnSpc>
                <a:spcPct val="90000"/>
              </a:lnSpc>
              <a:spcBef>
                <a:spcPts val="500"/>
              </a:spcBef>
              <a:buFont typeface="Arial"/>
              <a:buChar char="•"/>
              <a:tabLst>
                <a:tab pos="2689158" algn="l"/>
              </a:tabLst>
              <a:defRPr sz="18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96915" indent="-177796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4712" indent="-177796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3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sv-SE" sz="1400" dirty="0" err="1" smtClean="0"/>
              <a:t>Voltage</a:t>
            </a:r>
            <a:r>
              <a:rPr lang="sv-SE" sz="1400" dirty="0" smtClean="0"/>
              <a:t> rating: 2kV </a:t>
            </a:r>
          </a:p>
          <a:p>
            <a:pPr marL="0" indent="0">
              <a:buFont typeface="Arial"/>
              <a:buNone/>
            </a:pPr>
            <a:r>
              <a:rPr lang="sv-SE" sz="1400" dirty="0" err="1" smtClean="0"/>
              <a:t>Current</a:t>
            </a:r>
            <a:r>
              <a:rPr lang="sv-SE" sz="1400" dirty="0" smtClean="0"/>
              <a:t> rating: 400A</a:t>
            </a:r>
            <a:endParaRPr lang="sv-SE" sz="1400" dirty="0" smtClean="0"/>
          </a:p>
        </p:txBody>
      </p:sp>
      <p:sp>
        <p:nvSpPr>
          <p:cNvPr id="16" name="Rectangle 15"/>
          <p:cNvSpPr/>
          <p:nvPr/>
        </p:nvSpPr>
        <p:spPr>
          <a:xfrm>
            <a:off x="7457173" y="6205719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Calibri (Body)"/>
              </a:rPr>
              <a:t>FF3MR20KM1H  </a:t>
            </a:r>
          </a:p>
          <a:p>
            <a:r>
              <a:rPr lang="en-US" sz="1400" dirty="0" smtClean="0">
                <a:latin typeface="Calibri (Body)"/>
                <a:ea typeface="Calibri" panose="020F0502020204030204" pitchFamily="34" charset="0"/>
              </a:rPr>
              <a:t>10 dies in parallel </a:t>
            </a:r>
            <a:endParaRPr lang="sv-SE" sz="14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604881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552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owerizeD">
      <a:dk1>
        <a:sysClr val="windowText" lastClr="000000"/>
      </a:dk1>
      <a:lt1>
        <a:sysClr val="window" lastClr="FFFFFF"/>
      </a:lt1>
      <a:dk2>
        <a:srgbClr val="2EB066"/>
      </a:dk2>
      <a:lt2>
        <a:srgbClr val="6BB58B"/>
      </a:lt2>
      <a:accent1>
        <a:srgbClr val="838383"/>
      </a:accent1>
      <a:accent2>
        <a:srgbClr val="098D45"/>
      </a:accent2>
      <a:accent3>
        <a:srgbClr val="A5A5A5"/>
      </a:accent3>
      <a:accent4>
        <a:srgbClr val="489E6E"/>
      </a:accent4>
      <a:accent5>
        <a:srgbClr val="D5D5D7"/>
      </a:accent5>
      <a:accent6>
        <a:srgbClr val="91CFAA"/>
      </a:accent6>
      <a:hlink>
        <a:srgbClr val="0563C1"/>
      </a:hlink>
      <a:folHlink>
        <a:srgbClr val="0563C1"/>
      </a:folHlink>
    </a:clrScheme>
    <a:fontScheme name="Custom 1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1083</TotalTime>
  <Words>712</Words>
  <Application>Microsoft Office PowerPoint</Application>
  <DocSecurity>0</DocSecurity>
  <PresentationFormat>Widescreen</PresentationFormat>
  <Paragraphs>124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(Body)</vt:lpstr>
      <vt:lpstr>Cambria Math</vt:lpstr>
      <vt:lpstr>Wingdings</vt:lpstr>
      <vt:lpstr>Office Theme</vt:lpstr>
      <vt:lpstr>UC 1.4 / 2-Level Voltage Source Traction Inverter Design using 2kV Infineon SiC Power Modules </vt:lpstr>
      <vt:lpstr>Agenda</vt:lpstr>
      <vt:lpstr>2-Level Inverter Power Ratings</vt:lpstr>
      <vt:lpstr>Parameters of Infineon 2kV Bare die</vt:lpstr>
      <vt:lpstr>Datasheet-Driven Loss Estimation</vt:lpstr>
      <vt:lpstr>Datasheet-driven Loss Calculation</vt:lpstr>
      <vt:lpstr>Updating Switching Losses for Fast dv/dt</vt:lpstr>
      <vt:lpstr>Updating Switching Loss for Fast dv/dt</vt:lpstr>
      <vt:lpstr>Updating Switching Losses for Fast dv/dt</vt:lpstr>
      <vt:lpstr>Other Cases</vt:lpstr>
      <vt:lpstr>Harmonic Losses on the Motor</vt:lpstr>
      <vt:lpstr>Harmonic Losses Estimation- Impedance Model</vt:lpstr>
      <vt:lpstr>Harmonic Losses Estimation- Impedance Model</vt:lpstr>
      <vt:lpstr>Total Losses Calculation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Gabriele Keraite</dc:creator>
  <cp:keywords/>
  <dc:description/>
  <cp:lastModifiedBy>Enes Ayaz</cp:lastModifiedBy>
  <cp:revision>25</cp:revision>
  <dcterms:created xsi:type="dcterms:W3CDTF">2023-03-16T08:44:38Z</dcterms:created>
  <dcterms:modified xsi:type="dcterms:W3CDTF">2024-06-24T09:28:11Z</dcterms:modified>
  <cp:category/>
  <dc:identifier/>
  <cp:contentStatus/>
  <dc:language/>
  <cp:version/>
</cp:coreProperties>
</file>