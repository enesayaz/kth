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56" r:id="rId2"/>
    <p:sldId id="260"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Lst>
  <p:sldSz cx="12192000" cy="6858000"/>
  <p:notesSz cx="6858000" cy="9144000"/>
  <p:embeddedFontLst>
    <p:embeddedFont>
      <p:font typeface="Figtree" panose="020B0604020202020204" charset="0"/>
      <p:regular r:id="rId18"/>
      <p:bold r:id="rId19"/>
      <p:italic r:id="rId20"/>
      <p:boldItalic r:id="rId21"/>
    </p:embeddedFont>
    <p:embeddedFont>
      <p:font typeface="Calibri" panose="020F0502020204030204" pitchFamily="34" charset="0"/>
      <p:regular r:id="rId22"/>
      <p:bold r:id="rId23"/>
      <p:italic r:id="rId24"/>
      <p:boldItalic r:id="rId25"/>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327"/>
  </p:normalViewPr>
  <p:slideViewPr>
    <p:cSldViewPr snapToGrid="0">
      <p:cViewPr varScale="1">
        <p:scale>
          <a:sx n="111" d="100"/>
          <a:sy n="111" d="100"/>
        </p:scale>
        <p:origin x="4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2025-04-08</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2025-04-08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2025-04-08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2025-04-08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2025-04-08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2025-04-08</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2025-04-08</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2025-04-08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2025-04-08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2025-04-08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2025-04-08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2025-04-08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2025-04-08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2025-04-08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2025-04-08</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2025-04-08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2025-04-08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2025-04-08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2025-04-08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2025-04-08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2025-04-08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2025-04-08</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jpe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Evaluation of Possible Traction Inverter Topologies for Heavy-Duty Electric Vehicles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t>
            </a:r>
            <a:r>
              <a:rPr lang="sv-SE" dirty="0" smtClean="0"/>
              <a:t>Ayaz</a:t>
            </a:r>
            <a:endParaRPr lang="sv-SE" dirty="0"/>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713192" y="1740956"/>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smtClean="0"/>
          </a:p>
          <a:p>
            <a:pPr marL="457200" lvl="1" indent="0">
              <a:buNone/>
            </a:pPr>
            <a:r>
              <a:rPr lang="en-US" dirty="0" smtClean="0"/>
              <a:t>	</a:t>
            </a:r>
            <a:endParaRPr lang="sv-SE" dirty="0" smtClean="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831" y="1323868"/>
            <a:ext cx="2877569" cy="19143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2308324"/>
          </a:xfrm>
          <a:prstGeom prst="rect">
            <a:avLst/>
          </a:prstGeom>
          <a:noFill/>
        </p:spPr>
        <p:txBody>
          <a:bodyPr wrap="square" rtlCol="0">
            <a:spAutoFit/>
          </a:bodyPr>
          <a:lstStyle/>
          <a:p>
            <a:pPr algn="just"/>
            <a:r>
              <a:rPr lang="en-US" b="1" dirty="0">
                <a:solidFill>
                  <a:srgbClr val="E86A58"/>
                </a:solidFill>
              </a:rPr>
              <a:t>Main Differences Between Electric Trucks and </a:t>
            </a:r>
            <a:r>
              <a:rPr lang="en-US" b="1" dirty="0" smtClean="0">
                <a:solidFill>
                  <a:srgbClr val="E86A58"/>
                </a:solidFill>
              </a:rPr>
              <a:t>Traditional Electric </a:t>
            </a:r>
            <a:r>
              <a:rPr lang="en-US" b="1" dirty="0">
                <a:solidFill>
                  <a:srgbClr val="E86A58"/>
                </a:solidFill>
              </a:rPr>
              <a:t>Vehicles</a:t>
            </a:r>
            <a:r>
              <a:rPr lang="en-US" b="1" dirty="0" smtClean="0">
                <a:solidFill>
                  <a:srgbClr val="E86A58"/>
                </a:solidFill>
              </a:rPr>
              <a:t>:</a:t>
            </a:r>
            <a:endParaRPr lang="en-US" b="1" dirty="0">
              <a:solidFill>
                <a:srgbClr val="E86A58"/>
              </a:solidFill>
            </a:endParaRPr>
          </a:p>
          <a:p>
            <a:pPr marL="285750" indent="-285750" algn="just">
              <a:buFont typeface="Arial" panose="020B0604020202020204" pitchFamily="34" charset="0"/>
              <a:buChar char="•"/>
            </a:pPr>
            <a:r>
              <a:rPr lang="en-US" b="1" dirty="0">
                <a:solidFill>
                  <a:schemeClr val="accent6">
                    <a:lumMod val="75000"/>
                  </a:schemeClr>
                </a:solidFill>
              </a:rPr>
              <a:t>Power </a:t>
            </a:r>
            <a:r>
              <a:rPr lang="en-US" b="1" dirty="0" smtClean="0">
                <a:solidFill>
                  <a:schemeClr val="accent6">
                    <a:lumMod val="75000"/>
                  </a:schemeClr>
                </a:solidFill>
              </a:rPr>
              <a:t>Ratings</a:t>
            </a:r>
            <a:r>
              <a:rPr lang="en-US" dirty="0" smtClean="0">
                <a:solidFill>
                  <a:schemeClr val="accent3">
                    <a:lumMod val="90000"/>
                    <a:lumOff val="10000"/>
                  </a:schemeClr>
                </a:solidFill>
              </a:rPr>
              <a:t>: </a:t>
            </a:r>
            <a:r>
              <a:rPr lang="en-US" dirty="0" smtClean="0"/>
              <a:t>Electric </a:t>
            </a:r>
            <a:r>
              <a:rPr lang="en-US" dirty="0"/>
              <a:t>trucks require high power ratings, typically exceeding </a:t>
            </a:r>
            <a:r>
              <a:rPr lang="en-US" b="1" dirty="0">
                <a:solidFill>
                  <a:schemeClr val="accent6">
                    <a:lumMod val="75000"/>
                  </a:schemeClr>
                </a:solidFill>
              </a:rPr>
              <a:t>200 kW</a:t>
            </a:r>
            <a:r>
              <a:rPr lang="en-US" dirty="0">
                <a:solidFill>
                  <a:schemeClr val="accent6">
                    <a:lumMod val="75000"/>
                  </a:schemeClr>
                </a:solidFill>
              </a:rPr>
              <a:t>, </a:t>
            </a:r>
            <a:r>
              <a:rPr lang="en-US" dirty="0"/>
              <a:t>to </a:t>
            </a:r>
            <a:r>
              <a:rPr lang="en-US" dirty="0" smtClean="0"/>
              <a:t>handle heavy </a:t>
            </a:r>
            <a:r>
              <a:rPr lang="en-US" dirty="0"/>
              <a:t>loads</a:t>
            </a:r>
            <a:r>
              <a:rPr lang="en-US" dirty="0" smtClean="0"/>
              <a:t>.</a:t>
            </a:r>
            <a:endParaRPr lang="en-US" dirty="0"/>
          </a:p>
          <a:p>
            <a:pPr marL="285750" indent="-285750" algn="just">
              <a:buFont typeface="Arial" panose="020B0604020202020204" pitchFamily="34" charset="0"/>
              <a:buChar char="•"/>
            </a:pPr>
            <a:r>
              <a:rPr lang="en-US" b="1" dirty="0" smtClean="0">
                <a:solidFill>
                  <a:schemeClr val="accent6">
                    <a:lumMod val="75000"/>
                  </a:schemeClr>
                </a:solidFill>
              </a:rPr>
              <a:t>Megawatt </a:t>
            </a:r>
            <a:r>
              <a:rPr lang="en-US" b="1" dirty="0">
                <a:solidFill>
                  <a:schemeClr val="accent6">
                    <a:lumMod val="75000"/>
                  </a:schemeClr>
                </a:solidFill>
              </a:rPr>
              <a:t>charging systems (MCS)</a:t>
            </a:r>
            <a:r>
              <a:rPr lang="en-US" dirty="0">
                <a:solidFill>
                  <a:schemeClr val="accent6">
                    <a:lumMod val="75000"/>
                  </a:schemeClr>
                </a:solidFill>
              </a:rPr>
              <a:t> </a:t>
            </a:r>
            <a:r>
              <a:rPr lang="en-US" dirty="0"/>
              <a:t>are essential to support rapid charging, aligning with the operational demands of electric trucks</a:t>
            </a:r>
            <a:r>
              <a:rPr lang="en-US" dirty="0" smtClean="0"/>
              <a:t>.</a:t>
            </a:r>
            <a:endParaRPr lang="en-US" dirty="0"/>
          </a:p>
        </p:txBody>
      </p:sp>
      <p:sp>
        <p:nvSpPr>
          <p:cNvPr id="7"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9" name="Picture 8"/>
          <p:cNvPicPr>
            <a:picLocks noChangeAspect="1"/>
          </p:cNvPicPr>
          <p:nvPr/>
        </p:nvPicPr>
        <p:blipFill rotWithShape="1">
          <a:blip r:embed="rId3"/>
          <a:srcRect t="6081"/>
          <a:stretch/>
        </p:blipFill>
        <p:spPr>
          <a:xfrm>
            <a:off x="6200985" y="2946819"/>
            <a:ext cx="5829300" cy="1601256"/>
          </a:xfrm>
          <a:prstGeom prst="rect">
            <a:avLst/>
          </a:prstGeom>
        </p:spPr>
      </p:pic>
      <p:pic>
        <p:nvPicPr>
          <p:cNvPr id="10" name="Picture 9"/>
          <p:cNvPicPr>
            <a:picLocks noChangeAspect="1"/>
          </p:cNvPicPr>
          <p:nvPr/>
        </p:nvPicPr>
        <p:blipFill>
          <a:blip r:embed="rId4"/>
          <a:stretch>
            <a:fillRect/>
          </a:stretch>
        </p:blipFill>
        <p:spPr>
          <a:xfrm>
            <a:off x="7922337" y="4660263"/>
            <a:ext cx="2720764" cy="2040572"/>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13" name="Rectangle 2"/>
          <p:cNvSpPr>
            <a:spLocks noChangeArrowheads="1"/>
          </p:cNvSpPr>
          <p:nvPr/>
        </p:nvSpPr>
        <p:spPr bwMode="auto">
          <a:xfrm>
            <a:off x="266011" y="5628042"/>
            <a:ext cx="74555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rgbClr val="E86A58"/>
                </a:solidFill>
              </a:rPr>
              <a:t>European Union's regulation on driving times</a:t>
            </a:r>
            <a:endParaRPr kumimoji="0" lang="sv-SE" altLang="sv-SE" sz="1800" b="1" i="0" u="none" strike="noStrike" cap="none" normalizeH="0" baseline="0" dirty="0" smtClean="0">
              <a:ln>
                <a:noFill/>
              </a:ln>
              <a:solidFill>
                <a:srgbClr val="E86A58"/>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smtClean="0">
                <a:ln>
                  <a:noFill/>
                </a:ln>
                <a:solidFill>
                  <a:schemeClr val="tx1"/>
                </a:solidFill>
                <a:effectLst/>
                <a:latin typeface="Arial" panose="020B0604020202020204" pitchFamily="34" charset="0"/>
              </a:rPr>
              <a:t>Drivers </a:t>
            </a:r>
            <a:r>
              <a:rPr kumimoji="0" lang="sv-SE" altLang="sv-SE" b="0" i="0" u="none" strike="noStrike" cap="none" normalizeH="0" baseline="0" dirty="0" err="1" smtClean="0">
                <a:ln>
                  <a:noFill/>
                </a:ln>
                <a:solidFill>
                  <a:schemeClr val="tx1"/>
                </a:solidFill>
                <a:effectLst/>
                <a:latin typeface="Arial" panose="020B0604020202020204" pitchFamily="34" charset="0"/>
              </a:rPr>
              <a:t>may</a:t>
            </a:r>
            <a:r>
              <a:rPr kumimoji="0" lang="sv-SE" altLang="sv-SE" b="0" i="0" u="none" strike="noStrike" cap="none" normalizeH="0" baseline="0" dirty="0" smtClean="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smtClean="0">
                <a:ln>
                  <a:noFill/>
                </a:ln>
                <a:solidFill>
                  <a:schemeClr val="tx1"/>
                </a:solidFill>
                <a:effectLst/>
                <a:latin typeface="Arial" panose="020B0604020202020204" pitchFamily="34" charset="0"/>
              </a:rPr>
              <a:t>of</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continuously</a:t>
            </a:r>
            <a:r>
              <a:rPr kumimoji="0" lang="sv-SE" altLang="sv-SE"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a:t>
            </a:r>
            <a:r>
              <a:rPr lang="en-US" b="1" dirty="0" smtClean="0">
                <a:solidFill>
                  <a:schemeClr val="accent6">
                    <a:lumMod val="75000"/>
                  </a:schemeClr>
                </a:solidFill>
              </a:rPr>
              <a:t>rest</a:t>
            </a:r>
            <a:r>
              <a:rPr lang="en-US" b="1" dirty="0" smtClean="0"/>
              <a:t>.</a:t>
            </a:r>
            <a:endParaRPr kumimoji="0" lang="sv-SE" altLang="sv-SE"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sv-SE" altLang="sv-SE" sz="1800" b="0" i="0" u="none" strike="noStrike" cap="none" normalizeH="0" baseline="0" dirty="0" smtClean="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Tree>
    <p:extLst>
      <p:ext uri="{BB962C8B-B14F-4D97-AF65-F5344CB8AC3E}">
        <p14:creationId xmlns:p14="http://schemas.microsoft.com/office/powerpoint/2010/main" val="214614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Design Chapters on Traction Inverters</a:t>
            </a:r>
            <a:endParaRPr lang="en-US" dirty="0"/>
          </a:p>
        </p:txBody>
      </p:sp>
      <p:sp>
        <p:nvSpPr>
          <p:cNvPr id="12" name="Rectangle 4"/>
          <p:cNvSpPr>
            <a:spLocks noChangeArrowheads="1"/>
          </p:cNvSpPr>
          <p:nvPr/>
        </p:nvSpPr>
        <p:spPr bwMode="auto">
          <a:xfrm>
            <a:off x="5934285" y="339091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5" name="Rectangle 7"/>
          <p:cNvSpPr>
            <a:spLocks noChangeArrowheads="1"/>
          </p:cNvSpPr>
          <p:nvPr/>
        </p:nvSpPr>
        <p:spPr bwMode="auto">
          <a:xfrm>
            <a:off x="541972" y="1192074"/>
            <a:ext cx="11108056"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sz="1700" b="1" i="0" u="sng" strike="noStrike" cap="none" normalizeH="0" baseline="0" dirty="0" err="1" smtClean="0">
                <a:ln>
                  <a:noFill/>
                </a:ln>
                <a:solidFill>
                  <a:srgbClr val="E86A58"/>
                </a:solidFill>
                <a:effectLst/>
                <a:latin typeface="Arial" panose="020B0604020202020204" pitchFamily="34" charset="0"/>
              </a:rPr>
              <a:t>Topology</a:t>
            </a:r>
            <a:r>
              <a:rPr kumimoji="0" lang="sv-SE" altLang="sv-SE" sz="1700"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2-level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three-phase</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VSI</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for</a:t>
            </a:r>
            <a:r>
              <a:rPr kumimoji="0" lang="sv-SE" altLang="sv-SE" sz="1700" b="0"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low</a:t>
            </a:r>
            <a:r>
              <a:rPr lang="sv-SE" altLang="sv-SE" sz="1700" b="1" dirty="0" err="1">
                <a:solidFill>
                  <a:schemeClr val="accent6">
                    <a:lumMod val="75000"/>
                  </a:schemeClr>
                </a:solidFill>
                <a:latin typeface="Arial" panose="020B0604020202020204" pitchFamily="34" charset="0"/>
              </a:rPr>
              <a:t>-</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cost</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and </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simple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control</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Multi-</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level</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lang="sv-SE" altLang="sv-SE" sz="1700" b="1" dirty="0" err="1">
                <a:solidFill>
                  <a:schemeClr val="accent6">
                    <a:lumMod val="75000"/>
                  </a:schemeClr>
                </a:solidFill>
                <a:latin typeface="Arial" panose="020B0604020202020204" pitchFamily="34" charset="0"/>
              </a:rPr>
              <a:t>i</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nverters</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enable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higher</a:t>
            </a:r>
            <a:r>
              <a:rPr kumimoji="0" lang="sv-SE" altLang="sv-SE" sz="1700" b="0" i="0" u="none" strike="noStrike" cap="none" normalizeH="0" baseline="0" dirty="0" smtClean="0">
                <a:ln>
                  <a:noFill/>
                </a:ln>
                <a:solidFill>
                  <a:schemeClr val="tx1"/>
                </a:solidFill>
                <a:effectLst/>
                <a:latin typeface="Arial" panose="020B0604020202020204" pitchFamily="34" charset="0"/>
              </a:rPr>
              <a:t> DC-</a:t>
            </a:r>
            <a:r>
              <a:rPr kumimoji="0" lang="sv-SE" altLang="sv-SE" sz="1700" b="0" i="0" u="none" strike="noStrike" cap="none" normalizeH="0" baseline="0" dirty="0" err="1" smtClean="0">
                <a:ln>
                  <a:noFill/>
                </a:ln>
                <a:solidFill>
                  <a:schemeClr val="tx1"/>
                </a:solidFill>
                <a:effectLst/>
                <a:latin typeface="Arial" panose="020B0604020202020204" pitchFamily="34" charset="0"/>
              </a:rPr>
              <a:t>link</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voltages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with</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lower</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voltage-rated</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switches</a:t>
            </a:r>
            <a:r>
              <a:rPr kumimoji="0" lang="sv-SE" altLang="sv-SE" sz="1700"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Multiphase</a:t>
            </a:r>
            <a:r>
              <a:rPr kumimoji="0" lang="sv-SE" altLang="sv-SE" sz="1700" b="1" i="0" u="none" strike="noStrike" cap="none" normalizeH="0" baseline="0" dirty="0" smtClean="0">
                <a:ln>
                  <a:noFill/>
                </a:ln>
                <a:solidFill>
                  <a:schemeClr val="tx1"/>
                </a:solidFill>
                <a:effectLst/>
                <a:latin typeface="Arial" panose="020B0604020202020204" pitchFamily="34" charset="0"/>
              </a:rPr>
              <a:t> </a:t>
            </a:r>
            <a:r>
              <a:rPr lang="sv-SE" altLang="sv-SE" sz="1700" b="1" dirty="0" err="1">
                <a:solidFill>
                  <a:schemeClr val="accent6">
                    <a:lumMod val="75000"/>
                  </a:schemeClr>
                </a:solidFill>
                <a:latin typeface="Arial" panose="020B0604020202020204" pitchFamily="34" charset="0"/>
              </a:rPr>
              <a:t>inverters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handle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high</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currents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effectively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lvl="1" eaLnBrk="0" fontAlgn="base" hangingPunct="0">
              <a:spcBef>
                <a:spcPct val="0"/>
              </a:spcBef>
              <a:spcAft>
                <a:spcPct val="0"/>
              </a:spcAft>
            </a:pPr>
            <a:endParaRPr kumimoji="0" lang="sv-SE" altLang="sv-SE" sz="17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700" b="1" i="0" u="sng" strike="noStrike" cap="none" normalizeH="0" baseline="0" dirty="0" smtClean="0">
                <a:ln>
                  <a:noFill/>
                </a:ln>
                <a:solidFill>
                  <a:srgbClr val="E86A58"/>
                </a:solidFill>
                <a:effectLst/>
                <a:latin typeface="Arial" panose="020B0604020202020204" pitchFamily="34" charset="0"/>
              </a:rPr>
              <a:t>Power </a:t>
            </a:r>
            <a:r>
              <a:rPr kumimoji="0" lang="sv-SE" altLang="sv-SE" sz="1700" b="1" i="0" u="sng" strike="noStrike" cap="none" normalizeH="0" baseline="0" dirty="0" err="1" smtClean="0">
                <a:ln>
                  <a:noFill/>
                </a:ln>
                <a:solidFill>
                  <a:srgbClr val="E86A58"/>
                </a:solidFill>
                <a:effectLst/>
                <a:latin typeface="Arial" panose="020B0604020202020204" pitchFamily="34" charset="0"/>
              </a:rPr>
              <a:t>Switches</a:t>
            </a:r>
            <a:r>
              <a:rPr kumimoji="0" lang="sv-SE" altLang="sv-SE" sz="1700"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IGBTs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are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favored</a:t>
            </a:r>
            <a:r>
              <a:rPr kumimoji="0" lang="sv-SE" altLang="sv-SE" sz="1700" b="0" i="0" u="none" strike="noStrike" cap="none" normalizeH="0" baseline="0" dirty="0" smtClean="0">
                <a:ln>
                  <a:noFill/>
                </a:ln>
                <a:solidFill>
                  <a:schemeClr val="tx1"/>
                </a:solidFill>
                <a:effectLst/>
                <a:latin typeface="Arial" panose="020B0604020202020204" pitchFamily="34" charset="0"/>
              </a:rPr>
              <a:t> for </a:t>
            </a:r>
            <a:r>
              <a:rPr kumimoji="0" lang="sv-SE" altLang="sv-SE" sz="1700" b="0" i="0" u="none" strike="noStrike" cap="none" normalizeH="0" baseline="0" dirty="0" err="1" smtClean="0">
                <a:ln>
                  <a:noFill/>
                </a:ln>
                <a:solidFill>
                  <a:schemeClr val="tx1"/>
                </a:solidFill>
                <a:effectLst/>
                <a:latin typeface="Arial" panose="020B0604020202020204" pitchFamily="34" charset="0"/>
              </a:rPr>
              <a:t>their</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affordability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maturity</a:t>
            </a:r>
            <a:r>
              <a:rPr kumimoji="0" lang="sv-SE" altLang="sv-SE" sz="1700" b="1"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dirty="0" err="1" smtClean="0">
                <a:ln>
                  <a:noFill/>
                </a:ln>
                <a:solidFill>
                  <a:schemeClr val="accent6">
                    <a:lumMod val="75000"/>
                  </a:schemeClr>
                </a:solidFill>
                <a:effectLst/>
                <a:latin typeface="Arial" panose="020B0604020202020204" pitchFamily="34" charset="0"/>
              </a:rPr>
              <a:t>of</a:t>
            </a:r>
            <a:r>
              <a:rPr kumimoji="0" lang="sv-SE" altLang="sv-SE" sz="1700" b="1" i="0" u="none" strike="noStrike" cap="none" normalizeH="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dirty="0" err="1" smtClean="0">
                <a:ln>
                  <a:noFill/>
                </a:ln>
                <a:solidFill>
                  <a:schemeClr val="accent6">
                    <a:lumMod val="75000"/>
                  </a:schemeClr>
                </a:solidFill>
                <a:effectLst/>
                <a:latin typeface="Arial" panose="020B0604020202020204" pitchFamily="34" charset="0"/>
              </a:rPr>
              <a:t>technology</a:t>
            </a:r>
            <a:r>
              <a:rPr kumimoji="0" lang="sv-SE" altLang="sv-SE" sz="1700" b="0" i="0" u="none" strike="noStrike" cap="none" normalizeH="0" baseline="0" dirty="0" smtClean="0">
                <a:ln>
                  <a:noFill/>
                </a:ln>
                <a:solidFill>
                  <a:schemeClr val="tx1"/>
                </a:solidFill>
                <a:effectLst/>
                <a:latin typeface="Arial" panose="020B0604020202020204" pitchFamily="34" charset="0"/>
              </a:rPr>
              <a:t>, and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reliability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SiC</a:t>
            </a:r>
            <a:r>
              <a:rPr kumimoji="0" lang="sv-SE" altLang="sv-SE" sz="1700" b="0" i="0" u="none" strike="noStrike" cap="none" normalizeH="0" baseline="0" dirty="0" smtClean="0">
                <a:ln>
                  <a:noFill/>
                </a:ln>
                <a:solidFill>
                  <a:schemeClr val="tx1"/>
                </a:solidFill>
                <a:effectLst/>
                <a:latin typeface="Arial" panose="020B0604020202020204" pitchFamily="34" charset="0"/>
              </a:rPr>
              <a:t> and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GaN</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devices</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improve</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power</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density</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and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efficiency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lvl="1" eaLnBrk="0" fontAlgn="base" hangingPunct="0">
              <a:spcBef>
                <a:spcPct val="0"/>
              </a:spcBef>
              <a:spcAft>
                <a:spcPct val="0"/>
              </a:spcAft>
            </a:pPr>
            <a:endParaRPr kumimoji="0" lang="sv-SE" altLang="sv-SE" sz="17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700" b="1" i="0" u="sng" strike="noStrike" cap="none" normalizeH="0" baseline="0" dirty="0" smtClean="0">
                <a:ln>
                  <a:noFill/>
                </a:ln>
                <a:solidFill>
                  <a:srgbClr val="E86A58"/>
                </a:solidFill>
                <a:effectLst/>
                <a:latin typeface="Arial" panose="020B0604020202020204" pitchFamily="34" charset="0"/>
              </a:rPr>
              <a:t>DC-Link </a:t>
            </a:r>
            <a:r>
              <a:rPr kumimoji="0" lang="sv-SE" altLang="sv-SE" sz="1700" b="1" i="0" u="sng" strike="noStrike" cap="none" normalizeH="0" baseline="0" dirty="0" err="1" smtClean="0">
                <a:ln>
                  <a:noFill/>
                </a:ln>
                <a:solidFill>
                  <a:srgbClr val="E86A58"/>
                </a:solidFill>
                <a:effectLst/>
                <a:latin typeface="Arial" panose="020B0604020202020204" pitchFamily="34" charset="0"/>
              </a:rPr>
              <a:t>Voltage</a:t>
            </a:r>
            <a:r>
              <a:rPr kumimoji="0" lang="sv-SE" altLang="sv-SE" sz="1700" b="0" i="0" u="sng" strike="noStrike" cap="none" normalizeH="0" baseline="0" dirty="0" smtClean="0">
                <a:ln>
                  <a:noFill/>
                </a:ln>
                <a:solidFill>
                  <a:srgbClr val="E86A58"/>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400 V</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is standard; </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800 V</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is </a:t>
            </a:r>
            <a:r>
              <a:rPr kumimoji="0" lang="sv-SE" altLang="sv-SE" sz="1700" b="0" i="0" u="none" strike="noStrike" cap="none" normalizeH="0" baseline="0" dirty="0" err="1" smtClean="0">
                <a:ln>
                  <a:noFill/>
                </a:ln>
                <a:solidFill>
                  <a:schemeClr val="tx1"/>
                </a:solidFill>
                <a:effectLst/>
                <a:latin typeface="Arial" panose="020B0604020202020204" pitchFamily="34" charset="0"/>
              </a:rPr>
              <a:t>emerging</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0" i="0" u="none" strike="noStrike" cap="none" normalizeH="0" baseline="0" dirty="0" err="1" smtClean="0">
                <a:ln>
                  <a:noFill/>
                </a:ln>
                <a:solidFill>
                  <a:schemeClr val="tx1"/>
                </a:solidFill>
                <a:effectLst/>
                <a:latin typeface="Arial" panose="020B0604020202020204" pitchFamily="34" charset="0"/>
              </a:rPr>
              <a:t>with</a:t>
            </a:r>
            <a:r>
              <a:rPr kumimoji="0" lang="sv-SE" altLang="sv-SE" sz="1700" b="0" i="0" u="none" strike="noStrike" cap="none" normalizeH="0" baseline="0" dirty="0" smtClean="0">
                <a:ln>
                  <a:noFill/>
                </a:ln>
                <a:solidFill>
                  <a:schemeClr val="tx1"/>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SiC</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technology</a:t>
            </a:r>
            <a:r>
              <a:rPr kumimoji="0" lang="sv-SE" altLang="sv-SE" sz="1700" b="0" i="0" u="none" strike="noStrike" cap="none" normalizeH="0" baseline="0" dirty="0" smtClean="0">
                <a:ln>
                  <a:noFill/>
                </a:ln>
                <a:solidFill>
                  <a:schemeClr val="tx1"/>
                </a:solidFill>
                <a:effectLst/>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High</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voltages</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above</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 1kV)</a:t>
            </a:r>
            <a:r>
              <a:rPr kumimoji="0" lang="sv-SE" altLang="sv-SE" sz="1700"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sz="1700" b="0" i="0" u="none" strike="noStrike" cap="none" normalizeH="0" baseline="0" dirty="0" smtClean="0">
                <a:ln>
                  <a:noFill/>
                </a:ln>
                <a:solidFill>
                  <a:schemeClr val="tx1"/>
                </a:solidFill>
                <a:effectLst/>
                <a:latin typeface="Arial" panose="020B0604020202020204" pitchFamily="34" charset="0"/>
              </a:rPr>
              <a:t>support </a:t>
            </a:r>
            <a:r>
              <a:rPr kumimoji="0" lang="sv-SE" altLang="sv-SE" sz="1700" b="1" i="0" u="none" strike="noStrike" cap="none" normalizeH="0" baseline="0" dirty="0" smtClean="0">
                <a:ln>
                  <a:noFill/>
                </a:ln>
                <a:solidFill>
                  <a:schemeClr val="accent6">
                    <a:lumMod val="75000"/>
                  </a:schemeClr>
                </a:solidFill>
                <a:effectLst/>
                <a:latin typeface="Arial" panose="020B0604020202020204" pitchFamily="34" charset="0"/>
              </a:rPr>
              <a:t>megawatt </a:t>
            </a:r>
            <a:r>
              <a:rPr kumimoji="0" lang="sv-SE" altLang="sv-SE" sz="1700" b="1" i="0" u="none" strike="noStrike" cap="none" normalizeH="0" baseline="0" dirty="0" err="1" smtClean="0">
                <a:ln>
                  <a:noFill/>
                </a:ln>
                <a:solidFill>
                  <a:schemeClr val="accent6">
                    <a:lumMod val="75000"/>
                  </a:schemeClr>
                </a:solidFill>
                <a:effectLst/>
                <a:latin typeface="Arial" panose="020B0604020202020204" pitchFamily="34" charset="0"/>
              </a:rPr>
              <a:t>charging</a:t>
            </a:r>
            <a:r>
              <a:rPr kumimoji="0" lang="sv-SE" altLang="sv-SE" sz="1700" b="1" i="0" u="none" strike="noStrike" cap="none" normalizeH="0" baseline="0" dirty="0" smtClean="0">
                <a:ln>
                  <a:noFill/>
                </a:ln>
                <a:solidFill>
                  <a:schemeClr val="tx1"/>
                </a:solidFill>
                <a:effectLst/>
                <a:latin typeface="Arial" panose="020B0604020202020204" pitchFamily="34" charset="0"/>
              </a:rPr>
              <a:t>.</a:t>
            </a:r>
          </a:p>
          <a:p>
            <a:pPr lvl="1" eaLnBrk="0" fontAlgn="base" hangingPunct="0">
              <a:spcBef>
                <a:spcPct val="0"/>
              </a:spcBef>
              <a:spcAft>
                <a:spcPct val="0"/>
              </a:spcAft>
            </a:pPr>
            <a:endParaRPr lang="sv-SE" altLang="sv-SE" sz="1700" b="1" dirty="0">
              <a:solidFill>
                <a:schemeClr val="accent6">
                  <a:lumMod val="75000"/>
                </a:schemeClr>
              </a:solidFill>
              <a:latin typeface="Arial" panose="020B0604020202020204" pitchFamily="34" charset="0"/>
            </a:endParaRPr>
          </a:p>
          <a:p>
            <a:pPr algn="just"/>
            <a:r>
              <a:rPr lang="en-US" sz="1700" b="1" u="sng" dirty="0" smtClean="0">
                <a:solidFill>
                  <a:srgbClr val="E86A58"/>
                </a:solidFill>
              </a:rPr>
              <a:t>DC-Link Capacitance:</a:t>
            </a:r>
          </a:p>
          <a:p>
            <a:pPr marL="742950" lvl="1" indent="-285750" algn="just">
              <a:buFont typeface="Arial" panose="020B0604020202020204" pitchFamily="34" charset="0"/>
              <a:buChar char="•"/>
            </a:pPr>
            <a:r>
              <a:rPr lang="en-US" sz="1700" b="1" dirty="0" smtClean="0">
                <a:solidFill>
                  <a:schemeClr val="accent6">
                    <a:lumMod val="75000"/>
                  </a:schemeClr>
                </a:solidFill>
              </a:rPr>
              <a:t>The polymer </a:t>
            </a:r>
            <a:r>
              <a:rPr lang="en-US" sz="1700" b="1" dirty="0">
                <a:solidFill>
                  <a:schemeClr val="accent6">
                    <a:lumMod val="75000"/>
                  </a:schemeClr>
                </a:solidFill>
              </a:rPr>
              <a:t>film </a:t>
            </a:r>
            <a:r>
              <a:rPr lang="en-US" sz="1700" dirty="0"/>
              <a:t>is used as the dc-link capacitor for electric </a:t>
            </a:r>
            <a:r>
              <a:rPr lang="en-US" sz="1700" dirty="0" smtClean="0"/>
              <a:t>drive applications because of its </a:t>
            </a:r>
            <a:r>
              <a:rPr lang="en-US" sz="1700" b="1" dirty="0" smtClean="0">
                <a:solidFill>
                  <a:schemeClr val="accent6">
                    <a:lumMod val="75000"/>
                  </a:schemeClr>
                </a:solidFill>
              </a:rPr>
              <a:t>reliability</a:t>
            </a:r>
            <a:r>
              <a:rPr lang="en-US" sz="1700" dirty="0"/>
              <a:t>, </a:t>
            </a:r>
            <a:r>
              <a:rPr lang="en-US" sz="1700" b="1" dirty="0" smtClean="0">
                <a:solidFill>
                  <a:schemeClr val="accent6">
                    <a:lumMod val="75000"/>
                  </a:schemeClr>
                </a:solidFill>
              </a:rPr>
              <a:t>high-current </a:t>
            </a:r>
            <a:r>
              <a:rPr lang="en-US" sz="1700" b="1" dirty="0">
                <a:solidFill>
                  <a:schemeClr val="accent6">
                    <a:lumMod val="75000"/>
                  </a:schemeClr>
                </a:solidFill>
              </a:rPr>
              <a:t>conduction capability</a:t>
            </a:r>
            <a:r>
              <a:rPr lang="en-US" sz="1700" dirty="0"/>
              <a:t>, </a:t>
            </a:r>
            <a:r>
              <a:rPr lang="en-US" sz="1700" b="1" dirty="0" smtClean="0">
                <a:solidFill>
                  <a:schemeClr val="accent6">
                    <a:lumMod val="75000"/>
                  </a:schemeClr>
                </a:solidFill>
              </a:rPr>
              <a:t>high-frequency </a:t>
            </a:r>
            <a:r>
              <a:rPr lang="en-US" sz="1700" b="1" dirty="0">
                <a:solidFill>
                  <a:schemeClr val="accent6">
                    <a:lumMod val="75000"/>
                  </a:schemeClr>
                </a:solidFill>
              </a:rPr>
              <a:t>operation</a:t>
            </a:r>
            <a:r>
              <a:rPr lang="en-US" sz="1700" dirty="0"/>
              <a:t>, </a:t>
            </a:r>
            <a:r>
              <a:rPr lang="en-US" sz="1700" dirty="0" smtClean="0"/>
              <a:t>and </a:t>
            </a:r>
            <a:r>
              <a:rPr lang="en-US" sz="1700" b="1" dirty="0" smtClean="0">
                <a:solidFill>
                  <a:schemeClr val="accent6">
                    <a:lumMod val="75000"/>
                  </a:schemeClr>
                </a:solidFill>
              </a:rPr>
              <a:t>lower losses </a:t>
            </a:r>
            <a:r>
              <a:rPr lang="en-US" sz="1700" dirty="0" smtClean="0"/>
              <a:t>compared </a:t>
            </a:r>
            <a:r>
              <a:rPr lang="en-US" sz="1700" dirty="0"/>
              <a:t>with aluminum </a:t>
            </a:r>
            <a:r>
              <a:rPr lang="en-US" sz="1700" dirty="0" smtClean="0"/>
              <a:t>electrolytic capacitors.</a:t>
            </a:r>
          </a:p>
          <a:p>
            <a:pPr lvl="1" algn="just"/>
            <a:endParaRPr lang="en-US" sz="1700" b="1" dirty="0">
              <a:solidFill>
                <a:srgbClr val="0070C0"/>
              </a:solidFill>
            </a:endParaRPr>
          </a:p>
          <a:p>
            <a:pPr algn="just"/>
            <a:r>
              <a:rPr lang="en-US" sz="1700" b="1" u="sng" dirty="0">
                <a:solidFill>
                  <a:srgbClr val="E86A58"/>
                </a:solidFill>
              </a:rPr>
              <a:t>Thermal Management: </a:t>
            </a:r>
          </a:p>
          <a:p>
            <a:pPr marL="742950" lvl="1" indent="-285750" algn="just">
              <a:buFont typeface="Arial" panose="020B0604020202020204" pitchFamily="34" charset="0"/>
              <a:buChar char="•"/>
            </a:pPr>
            <a:r>
              <a:rPr lang="en-US" sz="1700" b="1" dirty="0">
                <a:solidFill>
                  <a:schemeClr val="accent6">
                    <a:lumMod val="75000"/>
                  </a:schemeClr>
                </a:solidFill>
              </a:rPr>
              <a:t>C</a:t>
            </a:r>
            <a:r>
              <a:rPr lang="en-US" sz="1700" b="1" dirty="0" smtClean="0">
                <a:solidFill>
                  <a:schemeClr val="accent6">
                    <a:lumMod val="75000"/>
                  </a:schemeClr>
                </a:solidFill>
              </a:rPr>
              <a:t>old plates </a:t>
            </a:r>
            <a:r>
              <a:rPr lang="en-US" sz="1700" dirty="0" smtClean="0"/>
              <a:t>with </a:t>
            </a:r>
            <a:r>
              <a:rPr lang="en-US" sz="1700" b="1" dirty="0" smtClean="0">
                <a:solidFill>
                  <a:schemeClr val="accent6">
                    <a:lumMod val="75000"/>
                  </a:schemeClr>
                </a:solidFill>
              </a:rPr>
              <a:t>liquid-cooling-based</a:t>
            </a:r>
            <a:r>
              <a:rPr lang="en-US" sz="1700" b="1" dirty="0" smtClean="0"/>
              <a:t> </a:t>
            </a:r>
            <a:r>
              <a:rPr lang="en-US" sz="1700" dirty="0" smtClean="0"/>
              <a:t>systems are common. </a:t>
            </a:r>
            <a:endParaRPr lang="en-US" sz="1700" dirty="0"/>
          </a:p>
          <a:p>
            <a:pPr marL="457200" marR="0" lvl="1" indent="0" algn="l" defTabSz="914400" rtl="0" eaLnBrk="0" fontAlgn="base" latinLnBrk="0" hangingPunct="0">
              <a:lnSpc>
                <a:spcPct val="100000"/>
              </a:lnSpc>
              <a:spcBef>
                <a:spcPct val="0"/>
              </a:spcBef>
              <a:spcAft>
                <a:spcPct val="0"/>
              </a:spcAft>
              <a:buClrTx/>
              <a:buSzTx/>
              <a:tabLst/>
            </a:pPr>
            <a:endParaRPr kumimoji="0" lang="sv-SE" altLang="sv-SE"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Slide Number Placeholder 2"/>
          <p:cNvSpPr>
            <a:spLocks noGrp="1"/>
          </p:cNvSpPr>
          <p:nvPr>
            <p:ph type="sldNum" sz="quarter" idx="12"/>
          </p:nvPr>
        </p:nvSpPr>
        <p:spPr/>
        <p:txBody>
          <a:bodyPr/>
          <a:lstStyle/>
          <a:p>
            <a:fld id="{B716C8F4-20CD-364A-8A8E-DE130115B178}" type="slidenum">
              <a:rPr lang="sv-SE" smtClean="0"/>
              <a:t>3</a:t>
            </a:fld>
            <a:endParaRPr lang="sv-SE"/>
          </a:p>
        </p:txBody>
      </p:sp>
    </p:spTree>
    <p:extLst>
      <p:ext uri="{BB962C8B-B14F-4D97-AF65-F5344CB8AC3E}">
        <p14:creationId xmlns:p14="http://schemas.microsoft.com/office/powerpoint/2010/main" val="2427465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b="1800"/>
          <a:stretch/>
        </p:blipFill>
        <p:spPr>
          <a:xfrm>
            <a:off x="144346" y="1925500"/>
            <a:ext cx="3960447" cy="4818365"/>
          </a:xfrm>
          <a:prstGeom prst="rect">
            <a:avLst/>
          </a:prstGeom>
        </p:spPr>
      </p:pic>
      <p:sp>
        <p:nvSpPr>
          <p:cNvPr id="2" name="Title 1"/>
          <p:cNvSpPr>
            <a:spLocks noGrp="1"/>
          </p:cNvSpPr>
          <p:nvPr>
            <p:ph type="title"/>
          </p:nvPr>
        </p:nvSpPr>
        <p:spPr>
          <a:xfrm>
            <a:off x="830970" y="328325"/>
            <a:ext cx="10990263" cy="568412"/>
          </a:xfrm>
        </p:spPr>
        <p:txBody>
          <a:bodyPr/>
          <a:lstStyle/>
          <a:p>
            <a:r>
              <a:rPr lang="en-US" sz="3200" dirty="0" smtClean="0"/>
              <a:t>System Specifications, Requirements and Methodology</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8" name="Content Placeholder 3"/>
          <p:cNvPicPr>
            <a:picLocks noGrp="1" noChangeAspect="1"/>
          </p:cNvPicPr>
          <p:nvPr>
            <p:ph idx="1"/>
          </p:nvPr>
        </p:nvPicPr>
        <p:blipFill>
          <a:blip r:embed="rId3"/>
          <a:stretch>
            <a:fillRect/>
          </a:stretch>
        </p:blipFill>
        <p:spPr>
          <a:xfrm>
            <a:off x="3888810" y="4094691"/>
            <a:ext cx="3745705" cy="1786273"/>
          </a:xfrm>
          <a:prstGeom prst="rect">
            <a:avLst/>
          </a:prstGeom>
        </p:spPr>
      </p:pic>
      <p:sp>
        <p:nvSpPr>
          <p:cNvPr id="7" name="Rectangle 2"/>
          <p:cNvSpPr>
            <a:spLocks noChangeArrowheads="1"/>
          </p:cNvSpPr>
          <p:nvPr/>
        </p:nvSpPr>
        <p:spPr bwMode="auto">
          <a:xfrm>
            <a:off x="3888810" y="1192074"/>
            <a:ext cx="362558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sz="1400" b="1" i="0" u="none" strike="noStrike" cap="none" normalizeH="0" baseline="0" dirty="0" smtClean="0">
                <a:ln>
                  <a:noFill/>
                </a:ln>
                <a:solidFill>
                  <a:srgbClr val="E86A58"/>
                </a:solidFill>
                <a:effectLst/>
              </a:rPr>
              <a:t>DC-Link </a:t>
            </a:r>
            <a:r>
              <a:rPr kumimoji="0" lang="sv-SE" altLang="sv-SE" sz="1400" b="1" i="0" u="none" strike="noStrike" cap="none" normalizeH="0" baseline="0" dirty="0" err="1" smtClean="0">
                <a:ln>
                  <a:noFill/>
                </a:ln>
                <a:solidFill>
                  <a:srgbClr val="E86A58"/>
                </a:solidFill>
                <a:effectLst/>
              </a:rPr>
              <a:t>Voltage</a:t>
            </a:r>
            <a:r>
              <a:rPr kumimoji="0" lang="sv-SE" altLang="sv-SE" sz="1400"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sz="1400" b="1" i="0" u="none" strike="noStrike" cap="none" normalizeH="0" baseline="0" dirty="0" smtClean="0">
                <a:ln>
                  <a:noFill/>
                </a:ln>
                <a:solidFill>
                  <a:schemeClr val="accent6">
                    <a:lumMod val="75000"/>
                  </a:schemeClr>
                </a:solidFill>
                <a:effectLst/>
              </a:rPr>
              <a:t>1250 V</a:t>
            </a:r>
            <a:r>
              <a:rPr kumimoji="0" lang="sv-SE" altLang="sv-SE" sz="1400" b="0" i="0" u="none" strike="noStrike" cap="none" normalizeH="0" baseline="0" dirty="0" smtClean="0">
                <a:ln>
                  <a:noFill/>
                </a:ln>
                <a:solidFill>
                  <a:schemeClr val="accent6">
                    <a:lumMod val="75000"/>
                  </a:schemeClr>
                </a:solidFill>
                <a:effectLst/>
              </a:rPr>
              <a:t> </a:t>
            </a:r>
            <a:r>
              <a:rPr kumimoji="0" lang="sv-SE" altLang="sv-SE" sz="1400" b="0" i="0" u="none" strike="noStrike" cap="none" normalizeH="0" baseline="0" dirty="0" err="1" smtClean="0">
                <a:ln>
                  <a:noFill/>
                </a:ln>
                <a:solidFill>
                  <a:schemeClr val="tx1"/>
                </a:solidFill>
                <a:effectLst/>
              </a:rPr>
              <a:t>was</a:t>
            </a:r>
            <a:r>
              <a:rPr kumimoji="0" lang="sv-SE" altLang="sv-SE" sz="1400" b="0" i="0" u="none" strike="noStrike" cap="none" normalizeH="0" baseline="0" dirty="0" smtClean="0">
                <a:ln>
                  <a:noFill/>
                </a:ln>
                <a:solidFill>
                  <a:schemeClr val="tx1"/>
                </a:solidFill>
                <a:effectLst/>
              </a:rPr>
              <a:t> chosen for </a:t>
            </a:r>
            <a:r>
              <a:rPr kumimoji="0" lang="sv-SE" altLang="sv-SE" sz="1400" b="0" i="0" u="none" strike="noStrike" cap="none" normalizeH="0" baseline="0" dirty="0" err="1" smtClean="0">
                <a:ln>
                  <a:noFill/>
                </a:ln>
                <a:solidFill>
                  <a:schemeClr val="tx1"/>
                </a:solidFill>
                <a:effectLst/>
              </a:rPr>
              <a:t>efficient</a:t>
            </a:r>
            <a:r>
              <a:rPr kumimoji="0" lang="sv-SE" altLang="sv-SE" sz="1400" b="0" i="0" u="none" strike="noStrike" cap="none" normalizeH="0" baseline="0" dirty="0" smtClean="0">
                <a:ln>
                  <a:noFill/>
                </a:ln>
                <a:solidFill>
                  <a:schemeClr val="tx1"/>
                </a:solidFill>
                <a:effectLst/>
              </a:rPr>
              <a:t> and </a:t>
            </a:r>
            <a:r>
              <a:rPr kumimoji="0" lang="sv-SE" altLang="sv-SE" sz="1400" b="0" i="0" u="none" strike="noStrike" cap="none" normalizeH="0" baseline="0" dirty="0" err="1" smtClean="0">
                <a:ln>
                  <a:noFill/>
                </a:ln>
                <a:solidFill>
                  <a:schemeClr val="tx1"/>
                </a:solidFill>
                <a:effectLst/>
              </a:rPr>
              <a:t>reliable</a:t>
            </a:r>
            <a:r>
              <a:rPr kumimoji="0" lang="sv-SE" altLang="sv-SE" sz="1400" b="0" i="0" u="none" strike="noStrike" cap="none" normalizeH="0" baseline="0" dirty="0" smtClean="0">
                <a:ln>
                  <a:noFill/>
                </a:ln>
                <a:solidFill>
                  <a:schemeClr val="tx1"/>
                </a:solidFill>
                <a:effectLst/>
              </a:rPr>
              <a:t> megawatt </a:t>
            </a:r>
            <a:r>
              <a:rPr kumimoji="0" lang="sv-SE" altLang="sv-SE" sz="1400" b="0" i="0" u="none" strike="noStrike" cap="none" normalizeH="0" baseline="0" dirty="0" err="1" smtClean="0">
                <a:ln>
                  <a:noFill/>
                </a:ln>
                <a:solidFill>
                  <a:schemeClr val="tx1"/>
                </a:solidFill>
                <a:effectLst/>
              </a:rPr>
              <a:t>charging</a:t>
            </a:r>
            <a:r>
              <a:rPr kumimoji="0" lang="sv-SE" altLang="sv-SE" sz="1400" b="0" i="0" u="none" strike="noStrike" cap="none" normalizeH="0" baseline="0" dirty="0" smtClean="0">
                <a:ln>
                  <a:noFill/>
                </a:ln>
                <a:solidFill>
                  <a:schemeClr val="tx1"/>
                </a:solidFill>
                <a:effectLst/>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400" b="1" i="0" u="none" strike="noStrike" cap="none" normalizeH="0" baseline="0" dirty="0" smtClean="0">
                <a:ln>
                  <a:noFill/>
                </a:ln>
                <a:solidFill>
                  <a:srgbClr val="E86A58"/>
                </a:solidFill>
                <a:effectLst/>
              </a:rPr>
              <a:t>Power Rating</a:t>
            </a:r>
            <a:r>
              <a:rPr kumimoji="0" lang="sv-SE" altLang="sv-SE" sz="1400"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sz="1400" b="0" i="0" u="none" strike="noStrike" cap="none" normalizeH="0" baseline="0" dirty="0" err="1" smtClean="0">
                <a:ln>
                  <a:noFill/>
                </a:ln>
                <a:solidFill>
                  <a:schemeClr val="tx1"/>
                </a:solidFill>
                <a:effectLst/>
              </a:rPr>
              <a:t>Determined</a:t>
            </a:r>
            <a:r>
              <a:rPr kumimoji="0" lang="sv-SE" altLang="sv-SE" sz="1400" b="0" i="0" u="none" strike="noStrike" cap="none" normalizeH="0" baseline="0" dirty="0" smtClean="0">
                <a:ln>
                  <a:noFill/>
                </a:ln>
                <a:solidFill>
                  <a:schemeClr val="tx1"/>
                </a:solidFill>
                <a:effectLst/>
              </a:rPr>
              <a:t> by </a:t>
            </a:r>
            <a:r>
              <a:rPr kumimoji="0" lang="sv-SE" altLang="sv-SE" sz="1400" b="1" i="0" u="none" strike="noStrike" cap="none" normalizeH="0" baseline="0" dirty="0" err="1" smtClean="0">
                <a:ln>
                  <a:noFill/>
                </a:ln>
                <a:solidFill>
                  <a:schemeClr val="accent6">
                    <a:lumMod val="75000"/>
                  </a:schemeClr>
                </a:solidFill>
                <a:effectLst/>
              </a:rPr>
              <a:t>vehicle</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1" i="0" u="none" strike="noStrike" cap="none" normalizeH="0" baseline="0" dirty="0" err="1" smtClean="0">
                <a:ln>
                  <a:noFill/>
                </a:ln>
                <a:solidFill>
                  <a:schemeClr val="accent6">
                    <a:lumMod val="75000"/>
                  </a:schemeClr>
                </a:solidFill>
                <a:effectLst/>
              </a:rPr>
              <a:t>dynamics</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0" i="0" u="none" strike="noStrike" cap="none" normalizeH="0" baseline="0" dirty="0" smtClean="0">
                <a:ln>
                  <a:noFill/>
                </a:ln>
                <a:solidFill>
                  <a:schemeClr val="tx1"/>
                </a:solidFill>
                <a:effectLst/>
              </a:rPr>
              <a:t>and </a:t>
            </a:r>
            <a:r>
              <a:rPr kumimoji="0" lang="sv-SE" altLang="sv-SE" sz="1400" b="1" i="0" u="none" strike="noStrike" cap="none" normalizeH="0" baseline="0" dirty="0" err="1" smtClean="0">
                <a:ln>
                  <a:noFill/>
                </a:ln>
                <a:solidFill>
                  <a:schemeClr val="accent6">
                    <a:lumMod val="75000"/>
                  </a:schemeClr>
                </a:solidFill>
                <a:effectLst/>
              </a:rPr>
              <a:t>heavy-duty</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1" i="0" u="none" strike="noStrike" cap="none" normalizeH="0" baseline="0" dirty="0" err="1" smtClean="0">
                <a:ln>
                  <a:noFill/>
                </a:ln>
                <a:solidFill>
                  <a:schemeClr val="accent6">
                    <a:lumMod val="75000"/>
                  </a:schemeClr>
                </a:solidFill>
                <a:effectLst/>
              </a:rPr>
              <a:t>vehicle</a:t>
            </a:r>
            <a:r>
              <a:rPr kumimoji="0" lang="sv-SE" altLang="sv-SE" sz="1400" b="1" i="0" u="none" strike="noStrike" cap="none" normalizeH="0" baseline="0" dirty="0" smtClean="0">
                <a:ln>
                  <a:noFill/>
                </a:ln>
                <a:solidFill>
                  <a:schemeClr val="accent6">
                    <a:lumMod val="75000"/>
                  </a:schemeClr>
                </a:solidFill>
                <a:effectLst/>
              </a:rPr>
              <a:t> </a:t>
            </a:r>
            <a:r>
              <a:rPr kumimoji="0" lang="sv-SE" altLang="sv-SE" sz="1400" b="1" i="0" u="none" strike="noStrike" cap="none" normalizeH="0" baseline="0" dirty="0" err="1" smtClean="0">
                <a:ln>
                  <a:noFill/>
                </a:ln>
                <a:solidFill>
                  <a:schemeClr val="accent6">
                    <a:lumMod val="75000"/>
                  </a:schemeClr>
                </a:solidFill>
                <a:effectLst/>
              </a:rPr>
              <a:t>load</a:t>
            </a:r>
            <a:r>
              <a:rPr kumimoji="0" lang="sv-SE" altLang="sv-SE" sz="1400" b="1" i="0" u="none" strike="noStrike" cap="none" normalizeH="0" baseline="0" dirty="0" smtClean="0">
                <a:ln>
                  <a:noFill/>
                </a:ln>
                <a:solidFill>
                  <a:schemeClr val="accent6">
                    <a:lumMod val="75000"/>
                  </a:schemeClr>
                </a:solidFill>
                <a:effectLst/>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sz="1400" b="1" i="0" u="none" strike="noStrike" cap="none" normalizeH="0" baseline="0" dirty="0" smtClean="0">
              <a:ln>
                <a:noFill/>
              </a:ln>
              <a:solidFill>
                <a:schemeClr val="accent6">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sz="1400" b="1" i="0" u="none" strike="noStrike" cap="none" normalizeH="0" baseline="0" dirty="0" err="1" smtClean="0">
                <a:ln>
                  <a:noFill/>
                </a:ln>
                <a:solidFill>
                  <a:srgbClr val="E86A58"/>
                </a:solidFill>
                <a:effectLst/>
              </a:rPr>
              <a:t>Traction</a:t>
            </a:r>
            <a:r>
              <a:rPr kumimoji="0" lang="sv-SE" altLang="sv-SE" sz="1400" b="1" i="0" u="none" strike="noStrike" cap="none" normalizeH="0" baseline="0" dirty="0" smtClean="0">
                <a:ln>
                  <a:noFill/>
                </a:ln>
                <a:solidFill>
                  <a:srgbClr val="E86A58"/>
                </a:solidFill>
                <a:effectLst/>
              </a:rPr>
              <a:t> Machines</a:t>
            </a:r>
            <a:r>
              <a:rPr kumimoji="0" lang="sv-SE" altLang="sv-SE" sz="1400" b="0" i="0" u="none" strike="noStrike" cap="none" normalizeH="0" baseline="0" dirty="0" smtClean="0">
                <a:ln>
                  <a:noFill/>
                </a:ln>
                <a:solidFill>
                  <a:srgbClr val="E86A58"/>
                </a:solidFill>
                <a:effectLst/>
              </a:rPr>
              <a:t>:</a:t>
            </a:r>
          </a:p>
          <a:p>
            <a:pPr marL="285750" indent="-285750" eaLnBrk="0" fontAlgn="base" hangingPunct="0">
              <a:spcBef>
                <a:spcPct val="0"/>
              </a:spcBef>
              <a:spcAft>
                <a:spcPct val="0"/>
              </a:spcAft>
              <a:buFont typeface="Arial" panose="020B0604020202020204" pitchFamily="34" charset="0"/>
              <a:buChar char="•"/>
            </a:pPr>
            <a:r>
              <a:rPr kumimoji="0" lang="sv-SE" altLang="sv-SE" sz="1400" b="0" i="0" u="none" strike="noStrike" cap="none" normalizeH="0" baseline="0" dirty="0" err="1" smtClean="0">
                <a:ln>
                  <a:noFill/>
                </a:ln>
                <a:solidFill>
                  <a:schemeClr val="tx1"/>
                </a:solidFill>
                <a:effectLst/>
              </a:rPr>
              <a:t>Two</a:t>
            </a:r>
            <a:r>
              <a:rPr kumimoji="0" lang="sv-SE" altLang="sv-SE" sz="1400" b="0" i="0" u="none" strike="noStrike" cap="none" normalizeH="0" baseline="0" dirty="0" smtClean="0">
                <a:ln>
                  <a:noFill/>
                </a:ln>
                <a:solidFill>
                  <a:schemeClr val="tx1"/>
                </a:solidFill>
                <a:effectLst/>
              </a:rPr>
              <a:t> options: </a:t>
            </a:r>
            <a:r>
              <a:rPr kumimoji="0" lang="sv-SE" altLang="sv-SE" sz="1400" b="1" i="0" u="none" strike="noStrike" cap="none" normalizeH="0" baseline="0" dirty="0" smtClean="0">
                <a:ln>
                  <a:noFill/>
                </a:ln>
                <a:solidFill>
                  <a:schemeClr val="accent6">
                    <a:lumMod val="75000"/>
                  </a:schemeClr>
                </a:solidFill>
                <a:effectLst/>
              </a:rPr>
              <a:t>3-phase</a:t>
            </a:r>
            <a:r>
              <a:rPr kumimoji="0" lang="sv-SE" altLang="sv-SE" sz="1400" b="0" i="0" u="none" strike="noStrike" cap="none" normalizeH="0" baseline="0" dirty="0" smtClean="0">
                <a:ln>
                  <a:noFill/>
                </a:ln>
                <a:solidFill>
                  <a:schemeClr val="tx1"/>
                </a:solidFill>
                <a:effectLst/>
              </a:rPr>
              <a:t> and </a:t>
            </a:r>
            <a:r>
              <a:rPr kumimoji="0" lang="sv-SE" altLang="sv-SE" sz="1400" b="1" i="0" u="none" strike="noStrike" cap="none" normalizeH="0" baseline="0" dirty="0" smtClean="0">
                <a:ln>
                  <a:noFill/>
                </a:ln>
                <a:solidFill>
                  <a:schemeClr val="accent6">
                    <a:lumMod val="75000"/>
                  </a:schemeClr>
                </a:solidFill>
                <a:effectLst/>
              </a:rPr>
              <a:t>6-phase</a:t>
            </a:r>
            <a:r>
              <a:rPr kumimoji="0" lang="sv-SE" altLang="sv-SE" sz="1400" b="0" i="0" u="none" strike="noStrike" cap="none" normalizeH="0" baseline="0" dirty="0" smtClean="0">
                <a:ln>
                  <a:noFill/>
                </a:ln>
                <a:solidFill>
                  <a:schemeClr val="accent6">
                    <a:lumMod val="75000"/>
                  </a:schemeClr>
                </a:solidFill>
                <a:effectLst/>
              </a:rPr>
              <a:t>. </a:t>
            </a:r>
          </a:p>
          <a:p>
            <a:pPr marL="285750" indent="-285750" eaLnBrk="0" fontAlgn="base" hangingPunct="0">
              <a:spcBef>
                <a:spcPct val="0"/>
              </a:spcBef>
              <a:spcAft>
                <a:spcPct val="0"/>
              </a:spcAft>
              <a:buFont typeface="Arial" panose="020B0604020202020204" pitchFamily="34" charset="0"/>
              <a:buChar char="•"/>
            </a:pPr>
            <a:r>
              <a:rPr kumimoji="0" lang="sv-SE" altLang="sv-SE" sz="1400" b="0" i="0" u="none" strike="noStrike" cap="none" normalizeH="0" baseline="0" dirty="0" err="1" smtClean="0">
                <a:ln>
                  <a:noFill/>
                </a:ln>
                <a:solidFill>
                  <a:schemeClr val="tx1"/>
                </a:solidFill>
                <a:effectLst/>
              </a:rPr>
              <a:t>Both</a:t>
            </a:r>
            <a:r>
              <a:rPr kumimoji="0" lang="sv-SE" altLang="sv-SE" sz="1400" b="0" i="0" u="none" strike="noStrike" cap="none" normalizeH="0" baseline="0" dirty="0" smtClean="0">
                <a:ln>
                  <a:noFill/>
                </a:ln>
                <a:solidFill>
                  <a:schemeClr val="tx1"/>
                </a:solidFill>
                <a:effectLst/>
              </a:rPr>
              <a:t> </a:t>
            </a:r>
            <a:r>
              <a:rPr kumimoji="0" lang="sv-SE" altLang="sv-SE" sz="1400" b="0" i="0" u="none" strike="noStrike" cap="none" normalizeH="0" baseline="0" dirty="0" err="1" smtClean="0">
                <a:ln>
                  <a:noFill/>
                </a:ln>
                <a:solidFill>
                  <a:schemeClr val="tx1"/>
                </a:solidFill>
                <a:effectLst/>
              </a:rPr>
              <a:t>maintain</a:t>
            </a:r>
            <a:r>
              <a:rPr kumimoji="0" lang="sv-SE" altLang="sv-SE" sz="1400" b="0" i="0" u="none" strike="noStrike" cap="none" normalizeH="0" baseline="0" dirty="0" smtClean="0">
                <a:ln>
                  <a:noFill/>
                </a:ln>
                <a:solidFill>
                  <a:schemeClr val="tx1"/>
                </a:solidFill>
                <a:effectLst/>
              </a:rPr>
              <a:t> the same </a:t>
            </a:r>
            <a:r>
              <a:rPr kumimoji="0" lang="sv-SE" altLang="sv-SE" sz="1400" b="0" i="0" u="none" strike="noStrike" cap="none" normalizeH="0" baseline="0" dirty="0" err="1" smtClean="0">
                <a:ln>
                  <a:noFill/>
                </a:ln>
                <a:solidFill>
                  <a:schemeClr val="tx1"/>
                </a:solidFill>
                <a:effectLst/>
              </a:rPr>
              <a:t>phase</a:t>
            </a:r>
            <a:r>
              <a:rPr kumimoji="0" lang="sv-SE" altLang="sv-SE" sz="1400" b="0" i="0" u="none" strike="noStrike" cap="none" normalizeH="0" baseline="0" dirty="0" smtClean="0">
                <a:ln>
                  <a:noFill/>
                </a:ln>
                <a:solidFill>
                  <a:schemeClr val="tx1"/>
                </a:solidFill>
                <a:effectLst/>
              </a:rPr>
              <a:t> </a:t>
            </a:r>
            <a:r>
              <a:rPr kumimoji="0" lang="sv-SE" altLang="sv-SE" sz="1400" b="0" i="0" u="none" strike="noStrike" cap="none" normalizeH="0" baseline="0" dirty="0" err="1" smtClean="0">
                <a:ln>
                  <a:noFill/>
                </a:ln>
                <a:solidFill>
                  <a:schemeClr val="tx1"/>
                </a:solidFill>
                <a:effectLst/>
              </a:rPr>
              <a:t>voltage</a:t>
            </a:r>
            <a:r>
              <a:rPr kumimoji="0" lang="sv-SE" altLang="sv-SE" sz="1400" b="0" i="0" u="none" strike="noStrike" cap="none" normalizeH="0" baseline="0" dirty="0" smtClean="0">
                <a:ln>
                  <a:noFill/>
                </a:ln>
                <a:solidFill>
                  <a:schemeClr val="tx1"/>
                </a:solidFill>
                <a:effectLst/>
              </a:rPr>
              <a:t>. </a:t>
            </a:r>
          </a:p>
        </p:txBody>
      </p:sp>
      <p:sp>
        <p:nvSpPr>
          <p:cNvPr id="13" name="Rectangle 12"/>
          <p:cNvSpPr/>
          <p:nvPr/>
        </p:nvSpPr>
        <p:spPr>
          <a:xfrm>
            <a:off x="144346" y="1153762"/>
            <a:ext cx="4587312" cy="1231106"/>
          </a:xfrm>
          <a:prstGeom prst="rect">
            <a:avLst/>
          </a:prstGeom>
        </p:spPr>
        <p:txBody>
          <a:bodyPr wrap="square">
            <a:spAutoFit/>
          </a:bodyPr>
          <a:lstStyle/>
          <a:p>
            <a:pPr algn="just"/>
            <a:r>
              <a:rPr lang="en-US" sz="1400" b="1" dirty="0" smtClean="0">
                <a:solidFill>
                  <a:srgbClr val="E86A58"/>
                </a:solidFill>
              </a:rPr>
              <a:t>Evaluated Traction Inverters:</a:t>
            </a:r>
            <a:endParaRPr lang="en-US" sz="1400" b="1" dirty="0" smtClean="0"/>
          </a:p>
          <a:p>
            <a:pPr algn="just"/>
            <a:r>
              <a:rPr lang="en-US" sz="1400" b="1" dirty="0" smtClean="0">
                <a:solidFill>
                  <a:schemeClr val="accent6">
                    <a:lumMod val="75000"/>
                  </a:schemeClr>
                </a:solidFill>
              </a:rPr>
              <a:t>a) </a:t>
            </a:r>
            <a:r>
              <a:rPr lang="en-US" sz="1400" dirty="0" smtClean="0"/>
              <a:t>2-Level 3-phase voltage </a:t>
            </a:r>
            <a:r>
              <a:rPr lang="en-US" sz="1400" dirty="0"/>
              <a:t>s</a:t>
            </a:r>
            <a:r>
              <a:rPr lang="en-US" sz="1400" dirty="0" smtClean="0"/>
              <a:t>ource inverters.</a:t>
            </a:r>
          </a:p>
          <a:p>
            <a:pPr algn="just"/>
            <a:r>
              <a:rPr lang="en-US" sz="1400" b="1" dirty="0" smtClean="0">
                <a:solidFill>
                  <a:schemeClr val="accent6">
                    <a:lumMod val="75000"/>
                  </a:schemeClr>
                </a:solidFill>
              </a:rPr>
              <a:t>b) </a:t>
            </a:r>
            <a:r>
              <a:rPr lang="en-US" sz="1400" dirty="0" smtClean="0"/>
              <a:t>2-level </a:t>
            </a:r>
            <a:r>
              <a:rPr lang="en-US" sz="1400" dirty="0"/>
              <a:t>6-phase voltage source inverters</a:t>
            </a:r>
            <a:r>
              <a:rPr lang="en-US" sz="1400" dirty="0" smtClean="0"/>
              <a:t>.</a:t>
            </a:r>
          </a:p>
          <a:p>
            <a:pPr algn="just"/>
            <a:r>
              <a:rPr lang="en-US" sz="1400" b="1" dirty="0" smtClean="0">
                <a:solidFill>
                  <a:schemeClr val="accent6">
                    <a:lumMod val="75000"/>
                  </a:schemeClr>
                </a:solidFill>
              </a:rPr>
              <a:t>c) </a:t>
            </a:r>
            <a:r>
              <a:rPr lang="en-US" sz="1400" dirty="0" smtClean="0"/>
              <a:t>3-level neutral point clamped inverters.</a:t>
            </a:r>
          </a:p>
          <a:p>
            <a:pPr algn="just"/>
            <a:endParaRPr lang="sv-SE" dirty="0"/>
          </a:p>
        </p:txBody>
      </p:sp>
      <p:pic>
        <p:nvPicPr>
          <p:cNvPr id="16" name="Picture 15"/>
          <p:cNvPicPr>
            <a:picLocks noChangeAspect="1"/>
          </p:cNvPicPr>
          <p:nvPr/>
        </p:nvPicPr>
        <p:blipFill>
          <a:blip r:embed="rId4"/>
          <a:stretch>
            <a:fillRect/>
          </a:stretch>
        </p:blipFill>
        <p:spPr>
          <a:xfrm>
            <a:off x="7673792" y="1108266"/>
            <a:ext cx="2133601" cy="1466851"/>
          </a:xfrm>
          <a:prstGeom prst="rect">
            <a:avLst/>
          </a:prstGeom>
        </p:spPr>
      </p:pic>
      <p:sp>
        <p:nvSpPr>
          <p:cNvPr id="17" name="Rectangle 16"/>
          <p:cNvSpPr/>
          <p:nvPr/>
        </p:nvSpPr>
        <p:spPr>
          <a:xfrm>
            <a:off x="9784206" y="1305451"/>
            <a:ext cx="2222893" cy="1169551"/>
          </a:xfrm>
          <a:prstGeom prst="rect">
            <a:avLst/>
          </a:prstGeom>
        </p:spPr>
        <p:txBody>
          <a:bodyPr wrap="square">
            <a:spAutoFit/>
          </a:bodyPr>
          <a:lstStyle/>
          <a:p>
            <a:pPr algn="just"/>
            <a:r>
              <a:rPr lang="en-US" sz="1400" dirty="0"/>
              <a:t>In order to compare </a:t>
            </a:r>
            <a:r>
              <a:rPr lang="en-US" sz="1400" dirty="0" smtClean="0"/>
              <a:t>the evaluated </a:t>
            </a:r>
            <a:r>
              <a:rPr lang="en-US" sz="1400" dirty="0"/>
              <a:t>topologies, there </a:t>
            </a:r>
            <a:r>
              <a:rPr lang="en-US" sz="1400" dirty="0" smtClean="0"/>
              <a:t>are several </a:t>
            </a:r>
            <a:r>
              <a:rPr lang="en-US" sz="1400" b="1" dirty="0">
                <a:solidFill>
                  <a:schemeClr val="accent6">
                    <a:lumMod val="75000"/>
                  </a:schemeClr>
                </a:solidFill>
              </a:rPr>
              <a:t>key performance indices </a:t>
            </a:r>
            <a:r>
              <a:rPr lang="en-US" sz="1400" dirty="0"/>
              <a:t>(KPIs</a:t>
            </a:r>
            <a:r>
              <a:rPr lang="en-US" sz="1400" dirty="0" smtClean="0"/>
              <a:t>).</a:t>
            </a:r>
            <a:endParaRPr lang="sv-SE" sz="1400" dirty="0"/>
          </a:p>
        </p:txBody>
      </p:sp>
      <p:sp>
        <p:nvSpPr>
          <p:cNvPr id="20" name="Rectangle 19"/>
          <p:cNvSpPr/>
          <p:nvPr/>
        </p:nvSpPr>
        <p:spPr>
          <a:xfrm>
            <a:off x="8157826" y="2824134"/>
            <a:ext cx="4034174" cy="3539430"/>
          </a:xfrm>
          <a:prstGeom prst="rect">
            <a:avLst/>
          </a:prstGeom>
        </p:spPr>
        <p:txBody>
          <a:bodyPr wrap="square">
            <a:spAutoFit/>
          </a:bodyPr>
          <a:lstStyle/>
          <a:p>
            <a:r>
              <a:rPr lang="sv-SE" sz="1400" b="1" dirty="0" smtClean="0">
                <a:solidFill>
                  <a:srgbClr val="E86A58"/>
                </a:solidFill>
              </a:rPr>
              <a:t>The </a:t>
            </a:r>
            <a:r>
              <a:rPr lang="sv-SE" sz="1400" b="1" dirty="0" err="1" smtClean="0">
                <a:solidFill>
                  <a:srgbClr val="E86A58"/>
                </a:solidFill>
              </a:rPr>
              <a:t>Virtual</a:t>
            </a:r>
            <a:r>
              <a:rPr lang="sv-SE" sz="1400" b="1" dirty="0" smtClean="0">
                <a:solidFill>
                  <a:srgbClr val="E86A58"/>
                </a:solidFill>
              </a:rPr>
              <a:t> </a:t>
            </a:r>
            <a:r>
              <a:rPr lang="sv-SE" sz="1400" b="1" dirty="0" err="1" smtClean="0">
                <a:solidFill>
                  <a:srgbClr val="E86A58"/>
                </a:solidFill>
              </a:rPr>
              <a:t>Prototyping</a:t>
            </a:r>
            <a:r>
              <a:rPr lang="sv-SE" sz="1400" b="1" dirty="0" smtClean="0">
                <a:solidFill>
                  <a:srgbClr val="E86A58"/>
                </a:solidFill>
              </a:rPr>
              <a:t> </a:t>
            </a:r>
            <a:r>
              <a:rPr lang="sv-SE" sz="1400" b="1" dirty="0" err="1" smtClean="0">
                <a:solidFill>
                  <a:srgbClr val="E86A58"/>
                </a:solidFill>
              </a:rPr>
              <a:t>Method</a:t>
            </a:r>
            <a:r>
              <a:rPr lang="sv-SE" sz="1400" b="1" dirty="0" smtClean="0">
                <a:solidFill>
                  <a:srgbClr val="E86A58"/>
                </a:solidFill>
              </a:rPr>
              <a:t>:</a:t>
            </a:r>
          </a:p>
          <a:p>
            <a:endParaRPr lang="sv-SE" sz="1400" dirty="0"/>
          </a:p>
          <a:p>
            <a:r>
              <a:rPr lang="en-US" sz="1400" dirty="0" smtClean="0"/>
              <a:t>This methodology utilizes</a:t>
            </a:r>
            <a:r>
              <a:rPr lang="en-US" sz="1400" dirty="0"/>
              <a:t> </a:t>
            </a:r>
            <a:r>
              <a:rPr lang="sv-SE" sz="1400" b="1" dirty="0" err="1" smtClean="0">
                <a:solidFill>
                  <a:schemeClr val="accent6">
                    <a:lumMod val="75000"/>
                  </a:schemeClr>
                </a:solidFill>
              </a:rPr>
              <a:t>Figure</a:t>
            </a:r>
            <a:r>
              <a:rPr lang="sv-SE" sz="1400" b="1" dirty="0" smtClean="0">
                <a:solidFill>
                  <a:schemeClr val="accent6">
                    <a:lumMod val="75000"/>
                  </a:schemeClr>
                </a:solidFill>
              </a:rPr>
              <a:t>-</a:t>
            </a:r>
            <a:r>
              <a:rPr lang="sv-SE" sz="1400" b="1" dirty="0" err="1" smtClean="0">
                <a:solidFill>
                  <a:schemeClr val="accent6">
                    <a:lumMod val="75000"/>
                  </a:schemeClr>
                </a:solidFill>
              </a:rPr>
              <a:t>of</a:t>
            </a:r>
            <a:r>
              <a:rPr lang="sv-SE" sz="1400" b="1" dirty="0" smtClean="0">
                <a:solidFill>
                  <a:schemeClr val="accent6">
                    <a:lumMod val="75000"/>
                  </a:schemeClr>
                </a:solidFill>
              </a:rPr>
              <a:t>-Merit </a:t>
            </a:r>
            <a:r>
              <a:rPr lang="sv-SE" sz="1400" b="1" dirty="0">
                <a:solidFill>
                  <a:schemeClr val="accent6">
                    <a:lumMod val="75000"/>
                  </a:schemeClr>
                </a:solidFill>
              </a:rPr>
              <a:t>(FOM) </a:t>
            </a:r>
            <a:r>
              <a:rPr lang="sv-SE" sz="1400" dirty="0"/>
              <a:t>parameters</a:t>
            </a:r>
            <a:r>
              <a:rPr lang="sv-SE" sz="1400" dirty="0" smtClean="0"/>
              <a:t>.</a:t>
            </a:r>
          </a:p>
          <a:p>
            <a:endParaRPr lang="sv-SE" sz="1400" dirty="0" smtClean="0"/>
          </a:p>
          <a:p>
            <a:r>
              <a:rPr lang="sv-SE" sz="1400" dirty="0"/>
              <a:t>The </a:t>
            </a:r>
            <a:r>
              <a:rPr lang="sv-SE" sz="1400" dirty="0" err="1"/>
              <a:t>modeling</a:t>
            </a:r>
            <a:r>
              <a:rPr lang="sv-SE" sz="1400" dirty="0"/>
              <a:t> </a:t>
            </a:r>
            <a:r>
              <a:rPr lang="sv-SE" sz="1400" dirty="0" err="1" smtClean="0"/>
              <a:t>includes</a:t>
            </a:r>
            <a:r>
              <a:rPr lang="sv-SE" sz="1400" dirty="0" smtClean="0"/>
              <a:t>:</a:t>
            </a:r>
          </a:p>
          <a:p>
            <a:endParaRPr lang="sv-SE" sz="1400" dirty="0" smtClean="0"/>
          </a:p>
          <a:p>
            <a:pPr marL="800100" lvl="1" indent="-342900">
              <a:buFont typeface="+mj-lt"/>
              <a:buAutoNum type="arabicPeriod"/>
            </a:pPr>
            <a:r>
              <a:rPr lang="en-US" sz="1400" b="1" dirty="0">
                <a:solidFill>
                  <a:schemeClr val="accent6">
                    <a:lumMod val="75000"/>
                  </a:schemeClr>
                </a:solidFill>
              </a:rPr>
              <a:t>S</a:t>
            </a:r>
            <a:r>
              <a:rPr lang="en-US" sz="1400" b="1" dirty="0" smtClean="0">
                <a:solidFill>
                  <a:schemeClr val="accent6">
                    <a:lumMod val="75000"/>
                  </a:schemeClr>
                </a:solidFill>
              </a:rPr>
              <a:t>emiconductor </a:t>
            </a:r>
            <a:r>
              <a:rPr lang="en-US" sz="1400" b="1" dirty="0">
                <a:solidFill>
                  <a:schemeClr val="accent6">
                    <a:lumMod val="75000"/>
                  </a:schemeClr>
                </a:solidFill>
              </a:rPr>
              <a:t>loss </a:t>
            </a:r>
            <a:r>
              <a:rPr lang="en-US" sz="1400" b="1" dirty="0" smtClean="0">
                <a:solidFill>
                  <a:schemeClr val="accent6">
                    <a:lumMod val="75000"/>
                  </a:schemeClr>
                </a:solidFill>
              </a:rPr>
              <a:t>calculation,</a:t>
            </a:r>
          </a:p>
          <a:p>
            <a:pPr marL="800100" lvl="1" indent="-342900">
              <a:buFont typeface="+mj-lt"/>
              <a:buAutoNum type="arabicPeriod"/>
            </a:pPr>
            <a:r>
              <a:rPr lang="en-US" sz="1400" b="1" dirty="0">
                <a:solidFill>
                  <a:schemeClr val="accent6">
                    <a:lumMod val="75000"/>
                  </a:schemeClr>
                </a:solidFill>
              </a:rPr>
              <a:t>C</a:t>
            </a:r>
            <a:r>
              <a:rPr lang="en-US" sz="1400" b="1" dirty="0" smtClean="0">
                <a:solidFill>
                  <a:schemeClr val="accent6">
                    <a:lumMod val="75000"/>
                  </a:schemeClr>
                </a:solidFill>
              </a:rPr>
              <a:t>ooling </a:t>
            </a:r>
            <a:r>
              <a:rPr lang="en-US" sz="1400" b="1" dirty="0">
                <a:solidFill>
                  <a:schemeClr val="accent6">
                    <a:lumMod val="75000"/>
                  </a:schemeClr>
                </a:solidFill>
              </a:rPr>
              <a:t>system size estimation,</a:t>
            </a:r>
          </a:p>
          <a:p>
            <a:pPr marL="800100" lvl="1" indent="-342900">
              <a:buFont typeface="+mj-lt"/>
              <a:buAutoNum type="arabicPeriod"/>
            </a:pPr>
            <a:r>
              <a:rPr lang="en-US" sz="1400" b="1" dirty="0">
                <a:solidFill>
                  <a:schemeClr val="accent6">
                    <a:lumMod val="75000"/>
                  </a:schemeClr>
                </a:solidFill>
              </a:rPr>
              <a:t>DC-link capacitance requirement </a:t>
            </a:r>
            <a:r>
              <a:rPr lang="en-US" sz="1400" b="1" dirty="0" smtClean="0">
                <a:solidFill>
                  <a:schemeClr val="accent6">
                    <a:lumMod val="75000"/>
                  </a:schemeClr>
                </a:solidFill>
              </a:rPr>
              <a:t>estimation,</a:t>
            </a:r>
          </a:p>
          <a:p>
            <a:pPr marL="800100" lvl="1" indent="-342900">
              <a:buFont typeface="+mj-lt"/>
              <a:buAutoNum type="arabicPeriod"/>
            </a:pPr>
            <a:r>
              <a:rPr lang="en-US" sz="1400" b="1" dirty="0" smtClean="0">
                <a:solidFill>
                  <a:schemeClr val="accent6">
                    <a:lumMod val="75000"/>
                  </a:schemeClr>
                </a:solidFill>
              </a:rPr>
              <a:t>Output</a:t>
            </a:r>
            <a:r>
              <a:rPr lang="en-US" sz="1400" b="1" dirty="0">
                <a:solidFill>
                  <a:schemeClr val="accent6">
                    <a:lumMod val="75000"/>
                  </a:schemeClr>
                </a:solidFill>
              </a:rPr>
              <a:t> </a:t>
            </a:r>
            <a:r>
              <a:rPr lang="en-US" sz="1400" b="1" dirty="0" smtClean="0">
                <a:solidFill>
                  <a:schemeClr val="accent6">
                    <a:lumMod val="75000"/>
                  </a:schemeClr>
                </a:solidFill>
              </a:rPr>
              <a:t>harmonic calculation.</a:t>
            </a:r>
          </a:p>
          <a:p>
            <a:endParaRPr lang="en-US" sz="1400" dirty="0"/>
          </a:p>
          <a:p>
            <a:r>
              <a:rPr lang="en-US" sz="1400" dirty="0"/>
              <a:t>T</a:t>
            </a:r>
            <a:r>
              <a:rPr lang="en-US" sz="1400" dirty="0" smtClean="0"/>
              <a:t>his </a:t>
            </a:r>
            <a:r>
              <a:rPr lang="en-US" sz="1400" dirty="0"/>
              <a:t>approach offers </a:t>
            </a:r>
            <a:r>
              <a:rPr lang="en-US" sz="1400" dirty="0" smtClean="0"/>
              <a:t>a system-level </a:t>
            </a:r>
            <a:r>
              <a:rPr lang="en-US" sz="1400" dirty="0"/>
              <a:t>understanding of the </a:t>
            </a:r>
            <a:r>
              <a:rPr lang="en-US" sz="1400" dirty="0" smtClean="0"/>
              <a:t>performance characteristics.</a:t>
            </a:r>
            <a:endParaRPr lang="sv-SE" sz="1400" dirty="0"/>
          </a:p>
        </p:txBody>
      </p:sp>
      <p:sp>
        <p:nvSpPr>
          <p:cNvPr id="3" name="Slide Number Placeholder 2"/>
          <p:cNvSpPr>
            <a:spLocks noGrp="1"/>
          </p:cNvSpPr>
          <p:nvPr>
            <p:ph type="sldNum" sz="quarter" idx="12"/>
          </p:nvPr>
        </p:nvSpPr>
        <p:spPr/>
        <p:txBody>
          <a:bodyPr/>
          <a:lstStyle/>
          <a:p>
            <a:fld id="{B716C8F4-20CD-364A-8A8E-DE130115B178}" type="slidenum">
              <a:rPr lang="sv-SE" smtClean="0"/>
              <a:t>4</a:t>
            </a:fld>
            <a:endParaRPr lang="sv-SE"/>
          </a:p>
        </p:txBody>
      </p:sp>
    </p:spTree>
    <p:extLst>
      <p:ext uri="{BB962C8B-B14F-4D97-AF65-F5344CB8AC3E}">
        <p14:creationId xmlns:p14="http://schemas.microsoft.com/office/powerpoint/2010/main" val="29787117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sz="3200" dirty="0" smtClean="0"/>
              <a:t>Semiconductor Loss Calculations</a:t>
            </a: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6" name="Rectangle 5"/>
          <p:cNvSpPr/>
          <p:nvPr/>
        </p:nvSpPr>
        <p:spPr>
          <a:xfrm>
            <a:off x="653142" y="1393149"/>
            <a:ext cx="10548257" cy="369332"/>
          </a:xfrm>
          <a:prstGeom prst="rect">
            <a:avLst/>
          </a:prstGeom>
        </p:spPr>
        <p:txBody>
          <a:bodyPr wrap="square">
            <a:spAutoFit/>
          </a:bodyPr>
          <a:lstStyle/>
          <a:p>
            <a:r>
              <a:rPr lang="en-US" dirty="0"/>
              <a:t>The semiconductor losses are divided into two main </a:t>
            </a:r>
            <a:r>
              <a:rPr lang="en-US" dirty="0" smtClean="0"/>
              <a:t>parts: </a:t>
            </a:r>
            <a:r>
              <a:rPr lang="sv-SE" b="1" dirty="0" err="1" smtClean="0">
                <a:solidFill>
                  <a:schemeClr val="accent6">
                    <a:lumMod val="75000"/>
                  </a:schemeClr>
                </a:solidFill>
              </a:rPr>
              <a:t>conduction</a:t>
            </a:r>
            <a:r>
              <a:rPr lang="sv-SE" dirty="0" smtClean="0"/>
              <a:t> </a:t>
            </a:r>
            <a:r>
              <a:rPr lang="sv-SE" dirty="0"/>
              <a:t>and </a:t>
            </a:r>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r>
              <a:rPr lang="sv-SE" dirty="0"/>
              <a:t>.</a:t>
            </a:r>
          </a:p>
        </p:txBody>
      </p:sp>
      <p:pic>
        <p:nvPicPr>
          <p:cNvPr id="11" name="Picture 10"/>
          <p:cNvPicPr>
            <a:picLocks noChangeAspect="1"/>
          </p:cNvPicPr>
          <p:nvPr/>
        </p:nvPicPr>
        <p:blipFill>
          <a:blip r:embed="rId2"/>
          <a:stretch>
            <a:fillRect/>
          </a:stretch>
        </p:blipFill>
        <p:spPr>
          <a:xfrm>
            <a:off x="684679" y="2289998"/>
            <a:ext cx="3890283" cy="768644"/>
          </a:xfrm>
          <a:prstGeom prst="rect">
            <a:avLst/>
          </a:prstGeom>
        </p:spPr>
      </p:pic>
      <p:sp>
        <p:nvSpPr>
          <p:cNvPr id="14" name="Rectangle 13"/>
          <p:cNvSpPr/>
          <p:nvPr/>
        </p:nvSpPr>
        <p:spPr>
          <a:xfrm>
            <a:off x="684679" y="3196496"/>
            <a:ext cx="4048125"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smtClean="0">
                <a:solidFill>
                  <a:schemeClr val="accent6">
                    <a:lumMod val="75000"/>
                  </a:schemeClr>
                </a:solidFill>
              </a:rPr>
              <a:t>conduction angles</a:t>
            </a:r>
            <a:r>
              <a:rPr lang="en-US" sz="1600" dirty="0" smtClean="0"/>
              <a:t> </a:t>
            </a:r>
            <a:r>
              <a:rPr lang="en-US" sz="1600" dirty="0"/>
              <a:t>(θ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15" name="Rectangle 14"/>
          <p:cNvSpPr/>
          <p:nvPr/>
        </p:nvSpPr>
        <p:spPr>
          <a:xfrm>
            <a:off x="684679" y="4092324"/>
            <a:ext cx="4176033"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t>
            </a:r>
            <a:r>
              <a:rPr lang="en-US" sz="1600" dirty="0" smtClean="0"/>
              <a:t>and </a:t>
            </a:r>
            <a:r>
              <a:rPr lang="en-US" sz="1600" b="1" dirty="0" smtClean="0">
                <a:solidFill>
                  <a:schemeClr val="accent6">
                    <a:lumMod val="75000"/>
                  </a:schemeClr>
                </a:solidFill>
              </a:rPr>
              <a:t>die </a:t>
            </a:r>
            <a:r>
              <a:rPr lang="en-US" sz="1600" b="1" dirty="0">
                <a:solidFill>
                  <a:schemeClr val="accent6">
                    <a:lumMod val="75000"/>
                  </a:schemeClr>
                </a:solidFill>
              </a:rPr>
              <a:t>area </a:t>
            </a:r>
            <a:r>
              <a:rPr lang="en-US" sz="1600" dirty="0"/>
              <a:t>(A</a:t>
            </a:r>
            <a:r>
              <a:rPr lang="en-US" sz="700" dirty="0"/>
              <a:t>die</a:t>
            </a:r>
            <a:r>
              <a:rPr lang="en-US" sz="1600" dirty="0"/>
              <a:t>) that can be roughly </a:t>
            </a:r>
            <a:r>
              <a:rPr lang="en-US" sz="1600" dirty="0" smtClean="0"/>
              <a:t>calculated:</a:t>
            </a:r>
            <a:endParaRPr lang="sv-SE" sz="1600" dirty="0"/>
          </a:p>
        </p:txBody>
      </p:sp>
      <p:sp>
        <p:nvSpPr>
          <p:cNvPr id="18" name="Rectangle 17"/>
          <p:cNvSpPr/>
          <p:nvPr/>
        </p:nvSpPr>
        <p:spPr>
          <a:xfrm>
            <a:off x="1478931" y="1895099"/>
            <a:ext cx="1960793" cy="369332"/>
          </a:xfrm>
          <a:prstGeom prst="rect">
            <a:avLst/>
          </a:prstGeom>
        </p:spPr>
        <p:txBody>
          <a:bodyPr wrap="none">
            <a:spAutoFit/>
          </a:bodyPr>
          <a:lstStyle/>
          <a:p>
            <a:r>
              <a:rPr lang="sv-SE" b="1" dirty="0" err="1" smtClean="0">
                <a:solidFill>
                  <a:srgbClr val="E86A58"/>
                </a:solidFill>
              </a:rPr>
              <a:t>Conduction</a:t>
            </a:r>
            <a:r>
              <a:rPr lang="sv-SE" b="1" dirty="0" smtClean="0">
                <a:solidFill>
                  <a:srgbClr val="E86A58"/>
                </a:solidFill>
              </a:rPr>
              <a:t> Loss</a:t>
            </a:r>
            <a:endParaRPr lang="sv-SE" dirty="0">
              <a:solidFill>
                <a:srgbClr val="E86A58"/>
              </a:solidFill>
            </a:endParaRPr>
          </a:p>
        </p:txBody>
      </p:sp>
      <p:pic>
        <p:nvPicPr>
          <p:cNvPr id="20" name="Picture 19"/>
          <p:cNvPicPr>
            <a:picLocks noChangeAspect="1"/>
          </p:cNvPicPr>
          <p:nvPr/>
        </p:nvPicPr>
        <p:blipFill>
          <a:blip r:embed="rId3"/>
          <a:stretch>
            <a:fillRect/>
          </a:stretch>
        </p:blipFill>
        <p:spPr>
          <a:xfrm>
            <a:off x="1735220" y="5028239"/>
            <a:ext cx="1661292" cy="664004"/>
          </a:xfrm>
          <a:prstGeom prst="rect">
            <a:avLst/>
          </a:prstGeom>
        </p:spPr>
      </p:pic>
      <p:sp>
        <p:nvSpPr>
          <p:cNvPr id="21" name="Rectangle 20"/>
          <p:cNvSpPr/>
          <p:nvPr/>
        </p:nvSpPr>
        <p:spPr>
          <a:xfrm>
            <a:off x="684679" y="5803833"/>
            <a:ext cx="4176033"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smtClean="0"/>
              <a:t>are </a:t>
            </a:r>
            <a:r>
              <a:rPr lang="en-US" sz="1600" b="1" dirty="0" smtClean="0">
                <a:solidFill>
                  <a:schemeClr val="accent6">
                    <a:lumMod val="75000"/>
                  </a:schemeClr>
                </a:solidFill>
              </a:rPr>
              <a:t>technology-dependent </a:t>
            </a:r>
            <a:r>
              <a:rPr lang="en-US" sz="1600" b="1" dirty="0">
                <a:solidFill>
                  <a:schemeClr val="accent6">
                    <a:lumMod val="75000"/>
                  </a:schemeClr>
                </a:solidFill>
              </a:rPr>
              <a:t>coefficients</a:t>
            </a:r>
            <a:r>
              <a:rPr lang="en-US" sz="1600" dirty="0"/>
              <a:t>.</a:t>
            </a:r>
            <a:endParaRPr lang="sv-SE" sz="1600" dirty="0"/>
          </a:p>
        </p:txBody>
      </p:sp>
      <p:sp>
        <p:nvSpPr>
          <p:cNvPr id="22" name="Rectangle 21"/>
          <p:cNvSpPr/>
          <p:nvPr/>
        </p:nvSpPr>
        <p:spPr>
          <a:xfrm>
            <a:off x="8033166" y="1895099"/>
            <a:ext cx="2023311" cy="369332"/>
          </a:xfrm>
          <a:prstGeom prst="rect">
            <a:avLst/>
          </a:prstGeom>
        </p:spPr>
        <p:txBody>
          <a:bodyPr wrap="none">
            <a:spAutoFit/>
          </a:bodyPr>
          <a:lstStyle/>
          <a:p>
            <a:r>
              <a:rPr lang="sv-SE" b="1" dirty="0" err="1" smtClean="0">
                <a:solidFill>
                  <a:srgbClr val="E86A58"/>
                </a:solidFill>
              </a:rPr>
              <a:t>Switching</a:t>
            </a:r>
            <a:r>
              <a:rPr lang="sv-SE" b="1" dirty="0" smtClean="0">
                <a:solidFill>
                  <a:srgbClr val="E86A58"/>
                </a:solidFill>
              </a:rPr>
              <a:t> </a:t>
            </a:r>
            <a:r>
              <a:rPr lang="sv-SE" b="1" dirty="0" err="1" smtClean="0">
                <a:solidFill>
                  <a:srgbClr val="E86A58"/>
                </a:solidFill>
              </a:rPr>
              <a:t>Losse</a:t>
            </a:r>
            <a:r>
              <a:rPr lang="sv-SE" b="1" dirty="0" err="1">
                <a:solidFill>
                  <a:srgbClr val="E86A58"/>
                </a:solidFill>
              </a:rPr>
              <a:t>s</a:t>
            </a:r>
            <a:endParaRPr lang="sv-SE" dirty="0">
              <a:solidFill>
                <a:srgbClr val="E86A58"/>
              </a:solidFill>
            </a:endParaRPr>
          </a:p>
        </p:txBody>
      </p:sp>
      <p:sp>
        <p:nvSpPr>
          <p:cNvPr id="23" name="Rectangle 22"/>
          <p:cNvSpPr/>
          <p:nvPr/>
        </p:nvSpPr>
        <p:spPr>
          <a:xfrm>
            <a:off x="5419726" y="2256202"/>
            <a:ext cx="6610559" cy="584775"/>
          </a:xfrm>
          <a:prstGeom prst="rect">
            <a:avLst/>
          </a:prstGeom>
        </p:spPr>
        <p:txBody>
          <a:bodyPr wrap="square">
            <a:spAutoFit/>
          </a:bodyPr>
          <a:lstStyle/>
          <a:p>
            <a:pPr algn="just"/>
            <a:r>
              <a:rPr lang="sv-SE" sz="1600" dirty="0"/>
              <a:t>The </a:t>
            </a:r>
            <a:r>
              <a:rPr lang="sv-SE" sz="1600" b="1" dirty="0" err="1" smtClean="0">
                <a:solidFill>
                  <a:schemeClr val="accent6">
                    <a:lumMod val="75000"/>
                  </a:schemeClr>
                </a:solidFill>
              </a:rPr>
              <a:t>zero</a:t>
            </a:r>
            <a:r>
              <a:rPr lang="sv-SE" sz="1600" b="1" dirty="0" smtClean="0">
                <a:solidFill>
                  <a:schemeClr val="accent6">
                    <a:lumMod val="75000"/>
                  </a:schemeClr>
                </a:solidFill>
              </a:rPr>
              <a:t> </a:t>
            </a:r>
            <a:r>
              <a:rPr lang="en-US" sz="1600" b="1" dirty="0" smtClean="0">
                <a:solidFill>
                  <a:schemeClr val="accent6">
                    <a:lumMod val="75000"/>
                  </a:schemeClr>
                </a:solidFill>
              </a:rPr>
              <a:t>current </a:t>
            </a:r>
            <a:r>
              <a:rPr lang="en-US" sz="1600" b="1" dirty="0">
                <a:solidFill>
                  <a:schemeClr val="accent6">
                    <a:lumMod val="75000"/>
                  </a:schemeClr>
                </a:solidFill>
              </a:rPr>
              <a:t>switching energy </a:t>
            </a:r>
            <a:r>
              <a:rPr lang="en-US" sz="1600" dirty="0"/>
              <a:t>is reliant on the </a:t>
            </a:r>
            <a:r>
              <a:rPr lang="en-US" sz="1600" b="1" dirty="0">
                <a:solidFill>
                  <a:schemeClr val="accent6">
                    <a:lumMod val="75000"/>
                  </a:schemeClr>
                </a:solidFill>
              </a:rPr>
              <a:t>output </a:t>
            </a:r>
            <a:r>
              <a:rPr lang="en-US" sz="1600" b="1" dirty="0" smtClean="0">
                <a:solidFill>
                  <a:schemeClr val="accent6">
                    <a:lumMod val="75000"/>
                  </a:schemeClr>
                </a:solidFill>
              </a:rPr>
              <a:t>capacitance </a:t>
            </a:r>
            <a:r>
              <a:rPr lang="en-US" sz="1600" dirty="0" smtClean="0"/>
              <a:t>(</a:t>
            </a:r>
            <a:r>
              <a:rPr lang="en-US" sz="1600" dirty="0" err="1" smtClean="0"/>
              <a:t>C</a:t>
            </a:r>
            <a:r>
              <a:rPr lang="en-US" sz="700" dirty="0" err="1" smtClean="0"/>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smtClean="0"/>
              <a:t>).</a:t>
            </a:r>
            <a:endParaRPr lang="sv-SE" sz="1600" dirty="0"/>
          </a:p>
        </p:txBody>
      </p:sp>
      <p:pic>
        <p:nvPicPr>
          <p:cNvPr id="25" name="Picture 24"/>
          <p:cNvPicPr>
            <a:picLocks noChangeAspect="1"/>
          </p:cNvPicPr>
          <p:nvPr/>
        </p:nvPicPr>
        <p:blipFill>
          <a:blip r:embed="rId4"/>
          <a:stretch>
            <a:fillRect/>
          </a:stretch>
        </p:blipFill>
        <p:spPr>
          <a:xfrm>
            <a:off x="7245730" y="2768712"/>
            <a:ext cx="2994643" cy="820256"/>
          </a:xfrm>
          <a:prstGeom prst="rect">
            <a:avLst/>
          </a:prstGeom>
        </p:spPr>
      </p:pic>
      <p:pic>
        <p:nvPicPr>
          <p:cNvPr id="26" name="Picture 25"/>
          <p:cNvPicPr>
            <a:picLocks noChangeAspect="1"/>
          </p:cNvPicPr>
          <p:nvPr/>
        </p:nvPicPr>
        <p:blipFill>
          <a:blip r:embed="rId5"/>
          <a:stretch>
            <a:fillRect/>
          </a:stretch>
        </p:blipFill>
        <p:spPr>
          <a:xfrm>
            <a:off x="7023064" y="4080651"/>
            <a:ext cx="3217309" cy="1245789"/>
          </a:xfrm>
          <a:prstGeom prst="rect">
            <a:avLst/>
          </a:prstGeom>
        </p:spPr>
      </p:pic>
      <p:sp>
        <p:nvSpPr>
          <p:cNvPr id="27" name="Rectangle 26"/>
          <p:cNvSpPr/>
          <p:nvPr/>
        </p:nvSpPr>
        <p:spPr>
          <a:xfrm>
            <a:off x="5393871" y="3529924"/>
            <a:ext cx="6610559" cy="584775"/>
          </a:xfrm>
          <a:prstGeom prst="rect">
            <a:avLst/>
          </a:prstGeom>
        </p:spPr>
        <p:txBody>
          <a:bodyPr wrap="square">
            <a:spAutoFit/>
          </a:bodyPr>
          <a:lstStyle/>
          <a:p>
            <a:pPr algn="just"/>
            <a:r>
              <a:rPr lang="sv-SE" sz="1600" b="1" i="1" dirty="0" err="1" smtClean="0">
                <a:solidFill>
                  <a:schemeClr val="accent6">
                    <a:lumMod val="75000"/>
                  </a:schemeClr>
                </a:solidFill>
              </a:rPr>
              <a:t>dV</a:t>
            </a:r>
            <a:r>
              <a:rPr lang="sv-SE" sz="1600" b="1" i="1" dirty="0" smtClean="0">
                <a:solidFill>
                  <a:schemeClr val="accent6">
                    <a:lumMod val="75000"/>
                  </a:schemeClr>
                </a:solidFill>
              </a:rPr>
              <a:t>/dt</a:t>
            </a:r>
            <a:r>
              <a:rPr lang="sv-SE" sz="1600" dirty="0" smtClean="0"/>
              <a:t> and</a:t>
            </a:r>
            <a:r>
              <a:rPr lang="sv-SE" sz="1600" b="1" dirty="0" smtClean="0">
                <a:solidFill>
                  <a:schemeClr val="accent6">
                    <a:lumMod val="75000"/>
                  </a:schemeClr>
                </a:solidFill>
              </a:rPr>
              <a:t> </a:t>
            </a:r>
            <a:r>
              <a:rPr lang="sv-SE" sz="1600" b="1" i="1" dirty="0" smtClean="0">
                <a:solidFill>
                  <a:schemeClr val="accent6">
                    <a:lumMod val="75000"/>
                  </a:schemeClr>
                </a:solidFill>
              </a:rPr>
              <a:t>di/dt</a:t>
            </a:r>
            <a:r>
              <a:rPr lang="sv-SE" sz="1600" b="1" dirty="0" smtClean="0">
                <a:solidFill>
                  <a:schemeClr val="accent6">
                    <a:lumMod val="75000"/>
                  </a:schemeClr>
                </a:solidFill>
              </a:rPr>
              <a:t> </a:t>
            </a:r>
            <a:r>
              <a:rPr lang="en-US" sz="1600" dirty="0" smtClean="0"/>
              <a:t>should </a:t>
            </a:r>
            <a:r>
              <a:rPr lang="en-US" sz="1600" dirty="0"/>
              <a:t>be selected regarding layout </a:t>
            </a:r>
            <a:r>
              <a:rPr lang="en-US" sz="1600" dirty="0" err="1" smtClean="0"/>
              <a:t>parasitics</a:t>
            </a:r>
            <a:r>
              <a:rPr lang="en-US" sz="1600" dirty="0" smtClean="0"/>
              <a:t>, gate </a:t>
            </a:r>
            <a:r>
              <a:rPr lang="en-US" sz="1600" dirty="0"/>
              <a:t>driver and isolation requirements of the motor.</a:t>
            </a:r>
            <a:endParaRPr lang="sv-SE" sz="1600" dirty="0"/>
          </a:p>
        </p:txBody>
      </p:sp>
      <p:pic>
        <p:nvPicPr>
          <p:cNvPr id="28" name="Picture 27"/>
          <p:cNvPicPr>
            <a:picLocks noChangeAspect="1"/>
          </p:cNvPicPr>
          <p:nvPr/>
        </p:nvPicPr>
        <p:blipFill>
          <a:blip r:embed="rId6"/>
          <a:stretch>
            <a:fillRect/>
          </a:stretch>
        </p:blipFill>
        <p:spPr>
          <a:xfrm>
            <a:off x="6114049" y="5754818"/>
            <a:ext cx="5457825" cy="649741"/>
          </a:xfrm>
          <a:prstGeom prst="rect">
            <a:avLst/>
          </a:prstGeom>
        </p:spPr>
      </p:pic>
      <p:sp>
        <p:nvSpPr>
          <p:cNvPr id="29" name="Rectangle 28"/>
          <p:cNvSpPr/>
          <p:nvPr/>
        </p:nvSpPr>
        <p:spPr>
          <a:xfrm>
            <a:off x="5393871" y="5299248"/>
            <a:ext cx="3374642" cy="338554"/>
          </a:xfrm>
          <a:prstGeom prst="rect">
            <a:avLst/>
          </a:prstGeom>
        </p:spPr>
        <p:txBody>
          <a:bodyPr wrap="none">
            <a:spAutoFit/>
          </a:bodyPr>
          <a:lstStyle/>
          <a:p>
            <a:r>
              <a:rPr lang="en-US" sz="1600" dirty="0" smtClean="0">
                <a:latin typeface="CMMI10"/>
              </a:rPr>
              <a:t>θ</a:t>
            </a:r>
            <a:r>
              <a:rPr lang="en-US" sz="700" dirty="0" smtClean="0">
                <a:latin typeface="CMMI7"/>
              </a:rPr>
              <a:t>SW</a:t>
            </a:r>
            <a:r>
              <a:rPr lang="en-US" sz="700" dirty="0" smtClean="0">
                <a:latin typeface="CMR7"/>
              </a:rPr>
              <a:t>1  </a:t>
            </a:r>
            <a:r>
              <a:rPr lang="en-US" sz="1600" dirty="0" smtClean="0">
                <a:latin typeface="NimbusRomNo9L-Regu"/>
              </a:rPr>
              <a:t>and </a:t>
            </a:r>
            <a:r>
              <a:rPr lang="en-US" sz="1600" dirty="0" smtClean="0">
                <a:latin typeface="CMMI10"/>
              </a:rPr>
              <a:t>θ</a:t>
            </a:r>
            <a:r>
              <a:rPr lang="en-US" sz="700" dirty="0" smtClean="0">
                <a:latin typeface="CMMI7"/>
              </a:rPr>
              <a:t>SW</a:t>
            </a:r>
            <a:r>
              <a:rPr lang="en-US" sz="700" dirty="0" smtClean="0">
                <a:latin typeface="CMR7"/>
              </a:rPr>
              <a:t>2</a:t>
            </a:r>
            <a:r>
              <a:rPr lang="en-US" sz="1600" dirty="0">
                <a:latin typeface="NimbusRomNo9L-Regu"/>
              </a:rPr>
              <a:t> </a:t>
            </a:r>
            <a:r>
              <a:rPr lang="en-US" sz="1600" dirty="0" smtClean="0">
                <a:latin typeface="NimbusRomNo9L-Regu"/>
              </a:rPr>
              <a:t>are </a:t>
            </a:r>
            <a:r>
              <a:rPr lang="en-US" sz="1600" b="1" dirty="0">
                <a:solidFill>
                  <a:schemeClr val="accent6">
                    <a:lumMod val="75000"/>
                  </a:schemeClr>
                </a:solidFill>
                <a:latin typeface="NimbusRomNo9L-Regu"/>
              </a:rPr>
              <a:t>switching </a:t>
            </a:r>
            <a:r>
              <a:rPr lang="en-US" sz="1600" b="1" dirty="0" smtClean="0">
                <a:solidFill>
                  <a:schemeClr val="accent6">
                    <a:lumMod val="75000"/>
                  </a:schemeClr>
                </a:solidFill>
                <a:latin typeface="NimbusRomNo9L-Regu"/>
              </a:rPr>
              <a:t>angles</a:t>
            </a:r>
            <a:r>
              <a:rPr lang="en-US" sz="1600" dirty="0" smtClean="0">
                <a:latin typeface="NimbusRomNo9L-Regu"/>
              </a:rPr>
              <a:t>.</a:t>
            </a:r>
            <a:endParaRPr lang="sv-SE" sz="1600" dirty="0"/>
          </a:p>
        </p:txBody>
      </p:sp>
      <p:sp>
        <p:nvSpPr>
          <p:cNvPr id="3" name="Slide Number Placeholder 2"/>
          <p:cNvSpPr>
            <a:spLocks noGrp="1"/>
          </p:cNvSpPr>
          <p:nvPr>
            <p:ph type="sldNum" sz="quarter" idx="12"/>
          </p:nvPr>
        </p:nvSpPr>
        <p:spPr/>
        <p:txBody>
          <a:bodyPr/>
          <a:lstStyle/>
          <a:p>
            <a:fld id="{B716C8F4-20CD-364A-8A8E-DE130115B178}" type="slidenum">
              <a:rPr lang="sv-SE" smtClean="0"/>
              <a:t>5</a:t>
            </a:fld>
            <a:endParaRPr lang="sv-SE"/>
          </a:p>
        </p:txBody>
      </p:sp>
    </p:spTree>
    <p:extLst>
      <p:ext uri="{BB962C8B-B14F-4D97-AF65-F5344CB8AC3E}">
        <p14:creationId xmlns:p14="http://schemas.microsoft.com/office/powerpoint/2010/main" val="4126224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sz="3200" dirty="0" smtClean="0"/>
              <a:t>Switching Ratings Selection and FOM Parameters</a:t>
            </a:r>
            <a:br>
              <a:rPr lang="en-US" sz="3200" dirty="0" smtClean="0"/>
            </a:br>
            <a:endParaRPr lang="en-US" sz="32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393700" y="2758877"/>
            <a:ext cx="6210300" cy="1323439"/>
          </a:xfrm>
          <a:prstGeom prst="rect">
            <a:avLst/>
          </a:prstGeom>
        </p:spPr>
        <p:txBody>
          <a:bodyPr wrap="square">
            <a:spAutoFit/>
          </a:bodyPr>
          <a:lstStyle/>
          <a:p>
            <a:r>
              <a:rPr lang="sv-SE" sz="1600" b="1" dirty="0" err="1" smtClean="0">
                <a:solidFill>
                  <a:srgbClr val="E86A58"/>
                </a:solidFill>
              </a:rPr>
              <a:t>Current</a:t>
            </a:r>
            <a:r>
              <a:rPr lang="sv-SE" sz="1600" b="1" dirty="0" smtClean="0">
                <a:solidFill>
                  <a:srgbClr val="E86A58"/>
                </a:solidFill>
              </a:rPr>
              <a:t> rating: </a:t>
            </a:r>
          </a:p>
          <a:p>
            <a:pPr algn="just"/>
            <a:r>
              <a:rPr lang="en-US" sz="1600" dirty="0" smtClean="0"/>
              <a:t>The </a:t>
            </a:r>
            <a:r>
              <a:rPr lang="en-US" sz="1600" b="1" dirty="0" smtClean="0">
                <a:solidFill>
                  <a:schemeClr val="accent6">
                    <a:lumMod val="75000"/>
                  </a:schemeClr>
                </a:solidFill>
              </a:rPr>
              <a:t>optimal </a:t>
            </a:r>
            <a:r>
              <a:rPr lang="en-US" sz="1600" b="1" dirty="0">
                <a:solidFill>
                  <a:schemeClr val="accent6">
                    <a:lumMod val="75000"/>
                  </a:schemeClr>
                </a:solidFill>
              </a:rPr>
              <a:t>die area </a:t>
            </a:r>
            <a:r>
              <a:rPr lang="en-US" sz="1600" dirty="0"/>
              <a:t>or </a:t>
            </a:r>
            <a:r>
              <a:rPr lang="en-US" sz="1600" b="1" dirty="0">
                <a:solidFill>
                  <a:schemeClr val="accent6">
                    <a:lumMod val="75000"/>
                  </a:schemeClr>
                </a:solidFill>
              </a:rPr>
              <a:t>current rating </a:t>
            </a:r>
            <a:r>
              <a:rPr lang="en-US" sz="1600" dirty="0"/>
              <a:t>of </a:t>
            </a:r>
            <a:r>
              <a:rPr lang="en-US" sz="1600" dirty="0" smtClean="0"/>
              <a:t>the switch </a:t>
            </a:r>
            <a:r>
              <a:rPr lang="en-US" sz="1600" dirty="0"/>
              <a:t>plays a critical role in the efficiency performance </a:t>
            </a:r>
            <a:r>
              <a:rPr lang="en-US" sz="1600" dirty="0" smtClean="0"/>
              <a:t>of the </a:t>
            </a:r>
            <a:r>
              <a:rPr lang="en-US" sz="1600" dirty="0"/>
              <a:t>inverter. The appropriate die area depends on the </a:t>
            </a:r>
            <a:r>
              <a:rPr lang="en-US" sz="1600" b="1" dirty="0" smtClean="0">
                <a:solidFill>
                  <a:schemeClr val="accent6">
                    <a:lumMod val="75000"/>
                  </a:schemeClr>
                </a:solidFill>
              </a:rPr>
              <a:t>switching frequency</a:t>
            </a:r>
            <a:r>
              <a:rPr lang="en-US" sz="1600" dirty="0" smtClean="0"/>
              <a:t> </a:t>
            </a:r>
            <a:r>
              <a:rPr lang="en-US" sz="1600" dirty="0"/>
              <a:t>and the </a:t>
            </a:r>
            <a:r>
              <a:rPr lang="en-US" sz="1600" b="1" dirty="0">
                <a:solidFill>
                  <a:schemeClr val="accent6">
                    <a:lumMod val="75000"/>
                  </a:schemeClr>
                </a:solidFill>
              </a:rPr>
              <a:t>voltage change rate </a:t>
            </a:r>
            <a:r>
              <a:rPr lang="en-US" sz="1600" dirty="0" smtClean="0"/>
              <a:t>(</a:t>
            </a:r>
            <a:r>
              <a:rPr lang="en-US" sz="1600" i="1" dirty="0" err="1" smtClean="0"/>
              <a:t>dV</a:t>
            </a:r>
            <a:r>
              <a:rPr lang="en-US" sz="1600" i="1" dirty="0" smtClean="0"/>
              <a:t>/</a:t>
            </a:r>
            <a:r>
              <a:rPr lang="sv-SE" sz="1600" i="1" dirty="0" smtClean="0"/>
              <a:t>dt</a:t>
            </a:r>
            <a:r>
              <a:rPr lang="sv-SE" sz="1600" dirty="0" smtClean="0"/>
              <a:t>).</a:t>
            </a:r>
            <a:endParaRPr lang="sv-SE" sz="1600" dirty="0"/>
          </a:p>
        </p:txBody>
      </p:sp>
      <p:sp>
        <p:nvSpPr>
          <p:cNvPr id="24" name="Rectangle 23"/>
          <p:cNvSpPr/>
          <p:nvPr/>
        </p:nvSpPr>
        <p:spPr>
          <a:xfrm>
            <a:off x="393700" y="1435438"/>
            <a:ext cx="6210300" cy="1323439"/>
          </a:xfrm>
          <a:prstGeom prst="rect">
            <a:avLst/>
          </a:prstGeom>
        </p:spPr>
        <p:txBody>
          <a:bodyPr wrap="square">
            <a:spAutoFit/>
          </a:bodyPr>
          <a:lstStyle/>
          <a:p>
            <a:r>
              <a:rPr lang="sv-SE" sz="1600" b="1" dirty="0" err="1" smtClean="0">
                <a:solidFill>
                  <a:srgbClr val="E86A58"/>
                </a:solidFill>
              </a:rPr>
              <a:t>Voltage</a:t>
            </a:r>
            <a:r>
              <a:rPr lang="sv-SE" sz="1600" b="1" dirty="0" smtClean="0">
                <a:solidFill>
                  <a:srgbClr val="E86A58"/>
                </a:solidFill>
              </a:rPr>
              <a:t> rating: </a:t>
            </a:r>
          </a:p>
          <a:p>
            <a:r>
              <a:rPr lang="sv-SE" sz="1600" dirty="0" smtClean="0"/>
              <a:t>It </a:t>
            </a:r>
            <a:r>
              <a:rPr lang="sv-SE" sz="1600" dirty="0"/>
              <a:t>is </a:t>
            </a:r>
            <a:r>
              <a:rPr lang="sv-SE" sz="1600" dirty="0" err="1" smtClean="0"/>
              <a:t>often</a:t>
            </a:r>
            <a:r>
              <a:rPr lang="sv-SE" sz="1600" dirty="0" smtClean="0"/>
              <a:t> </a:t>
            </a:r>
            <a:r>
              <a:rPr lang="en-US" sz="1600" dirty="0" smtClean="0"/>
              <a:t>selected </a:t>
            </a:r>
            <a:r>
              <a:rPr lang="en-US" sz="1600" dirty="0"/>
              <a:t>higher than the </a:t>
            </a:r>
            <a:r>
              <a:rPr lang="en-US" sz="1600" b="1" dirty="0">
                <a:solidFill>
                  <a:schemeClr val="accent6">
                    <a:lumMod val="75000"/>
                  </a:schemeClr>
                </a:solidFill>
              </a:rPr>
              <a:t>blocking voltage </a:t>
            </a:r>
            <a:r>
              <a:rPr lang="en-US" sz="1600" dirty="0"/>
              <a:t>with a </a:t>
            </a:r>
            <a:r>
              <a:rPr lang="en-US" sz="1600" b="1" dirty="0">
                <a:solidFill>
                  <a:schemeClr val="accent6">
                    <a:lumMod val="75000"/>
                  </a:schemeClr>
                </a:solidFill>
              </a:rPr>
              <a:t>safety </a:t>
            </a:r>
            <a:r>
              <a:rPr lang="en-US" sz="1600" b="1" dirty="0" smtClean="0">
                <a:solidFill>
                  <a:schemeClr val="accent6">
                    <a:lumMod val="75000"/>
                  </a:schemeClr>
                </a:solidFill>
              </a:rPr>
              <a:t>factor </a:t>
            </a:r>
            <a:r>
              <a:rPr lang="en-US" sz="1600" dirty="0" smtClean="0"/>
              <a:t>to </a:t>
            </a:r>
            <a:r>
              <a:rPr lang="en-US" sz="1600" dirty="0"/>
              <a:t>account for voltage overshoots caused by </a:t>
            </a:r>
            <a:r>
              <a:rPr lang="en-US" sz="1600" b="1" dirty="0" smtClean="0">
                <a:solidFill>
                  <a:schemeClr val="accent6">
                    <a:lumMod val="75000"/>
                  </a:schemeClr>
                </a:solidFill>
              </a:rPr>
              <a:t>high-switching speeds </a:t>
            </a:r>
            <a:r>
              <a:rPr lang="en-US" sz="1600" dirty="0"/>
              <a:t>and </a:t>
            </a:r>
            <a:r>
              <a:rPr lang="en-US" sz="1600" b="1" dirty="0">
                <a:solidFill>
                  <a:schemeClr val="accent6">
                    <a:lumMod val="75000"/>
                  </a:schemeClr>
                </a:solidFill>
              </a:rPr>
              <a:t>layout </a:t>
            </a:r>
            <a:r>
              <a:rPr lang="en-US" sz="1600" b="1" dirty="0" err="1">
                <a:solidFill>
                  <a:schemeClr val="accent6">
                    <a:lumMod val="75000"/>
                  </a:schemeClr>
                </a:solidFill>
              </a:rPr>
              <a:t>parasitics</a:t>
            </a:r>
            <a:r>
              <a:rPr lang="en-US" sz="1600" b="1" dirty="0">
                <a:solidFill>
                  <a:schemeClr val="accent6">
                    <a:lumMod val="75000"/>
                  </a:schemeClr>
                </a:solidFill>
              </a:rPr>
              <a:t> </a:t>
            </a:r>
            <a:r>
              <a:rPr lang="en-US" sz="1600" dirty="0"/>
              <a:t>and the </a:t>
            </a:r>
            <a:r>
              <a:rPr lang="en-US" sz="1600" b="1" dirty="0">
                <a:solidFill>
                  <a:schemeClr val="accent6">
                    <a:lumMod val="75000"/>
                  </a:schemeClr>
                </a:solidFill>
              </a:rPr>
              <a:t>effect of cosmic </a:t>
            </a:r>
            <a:r>
              <a:rPr lang="en-US" sz="1600" b="1" dirty="0" smtClean="0">
                <a:solidFill>
                  <a:schemeClr val="accent6">
                    <a:lumMod val="75000"/>
                  </a:schemeClr>
                </a:solidFill>
              </a:rPr>
              <a:t>rays </a:t>
            </a:r>
            <a:r>
              <a:rPr lang="sv-SE" sz="1600" dirty="0" smtClean="0"/>
              <a:t>on </a:t>
            </a:r>
            <a:r>
              <a:rPr lang="sv-SE" sz="1600" b="1" dirty="0" err="1" smtClean="0">
                <a:solidFill>
                  <a:schemeClr val="accent6">
                    <a:lumMod val="75000"/>
                  </a:schemeClr>
                </a:solidFill>
              </a:rPr>
              <a:t>reliability</a:t>
            </a:r>
            <a:r>
              <a:rPr lang="sv-SE" sz="1600" dirty="0" smtClean="0"/>
              <a:t>.</a:t>
            </a:r>
            <a:endParaRPr lang="sv-SE" sz="1600" dirty="0"/>
          </a:p>
        </p:txBody>
      </p:sp>
      <p:pic>
        <p:nvPicPr>
          <p:cNvPr id="4" name="Picture 3"/>
          <p:cNvPicPr>
            <a:picLocks noChangeAspect="1"/>
          </p:cNvPicPr>
          <p:nvPr/>
        </p:nvPicPr>
        <p:blipFill>
          <a:blip r:embed="rId2"/>
          <a:stretch>
            <a:fillRect/>
          </a:stretch>
        </p:blipFill>
        <p:spPr>
          <a:xfrm>
            <a:off x="1246782" y="4110556"/>
            <a:ext cx="3831035" cy="2719743"/>
          </a:xfrm>
          <a:prstGeom prst="rect">
            <a:avLst/>
          </a:prstGeom>
        </p:spPr>
      </p:pic>
      <p:pic>
        <p:nvPicPr>
          <p:cNvPr id="5" name="Picture 4"/>
          <p:cNvPicPr>
            <a:picLocks noChangeAspect="1"/>
          </p:cNvPicPr>
          <p:nvPr/>
        </p:nvPicPr>
        <p:blipFill>
          <a:blip r:embed="rId3"/>
          <a:stretch>
            <a:fillRect/>
          </a:stretch>
        </p:blipFill>
        <p:spPr>
          <a:xfrm>
            <a:off x="6905384" y="4064805"/>
            <a:ext cx="5286616" cy="2441913"/>
          </a:xfrm>
          <a:prstGeom prst="rect">
            <a:avLst/>
          </a:prstGeom>
        </p:spPr>
      </p:pic>
      <p:sp>
        <p:nvSpPr>
          <p:cNvPr id="8" name="Rectangle 7"/>
          <p:cNvSpPr/>
          <p:nvPr/>
        </p:nvSpPr>
        <p:spPr>
          <a:xfrm>
            <a:off x="6905384" y="1677156"/>
            <a:ext cx="4956416" cy="1569660"/>
          </a:xfrm>
          <a:prstGeom prst="rect">
            <a:avLst/>
          </a:prstGeom>
        </p:spPr>
        <p:txBody>
          <a:bodyPr wrap="square">
            <a:spAutoFit/>
          </a:bodyPr>
          <a:lstStyle/>
          <a:p>
            <a:pPr algn="just"/>
            <a:r>
              <a:rPr lang="en-US" sz="1600" dirty="0" smtClean="0"/>
              <a:t>In </a:t>
            </a:r>
            <a:r>
              <a:rPr lang="en-US" sz="1600" dirty="0"/>
              <a:t>our system, the </a:t>
            </a:r>
            <a:r>
              <a:rPr lang="en-US" sz="1600" b="1" dirty="0">
                <a:solidFill>
                  <a:schemeClr val="accent6">
                    <a:lumMod val="75000"/>
                  </a:schemeClr>
                </a:solidFill>
              </a:rPr>
              <a:t>safety factor </a:t>
            </a:r>
            <a:r>
              <a:rPr lang="en-US" sz="1600" dirty="0"/>
              <a:t>of </a:t>
            </a:r>
            <a:r>
              <a:rPr lang="en-US" sz="1600" b="1" dirty="0" smtClean="0">
                <a:solidFill>
                  <a:schemeClr val="accent6">
                    <a:lumMod val="75000"/>
                  </a:schemeClr>
                </a:solidFill>
              </a:rPr>
              <a:t>1.36</a:t>
            </a:r>
            <a:r>
              <a:rPr lang="en-US" sz="1600" dirty="0" smtClean="0"/>
              <a:t> </a:t>
            </a:r>
            <a:r>
              <a:rPr lang="en-US" sz="1600" dirty="0"/>
              <a:t>is selected, leading to the switches’ voltage ratings of </a:t>
            </a:r>
            <a:r>
              <a:rPr lang="en-US" sz="1600" b="1" dirty="0" smtClean="0">
                <a:solidFill>
                  <a:schemeClr val="accent6">
                    <a:lumMod val="75000"/>
                  </a:schemeClr>
                </a:solidFill>
              </a:rPr>
              <a:t>1700 V </a:t>
            </a:r>
            <a:r>
              <a:rPr lang="en-US" sz="1600" dirty="0"/>
              <a:t>for 2-level topologies and </a:t>
            </a:r>
            <a:r>
              <a:rPr lang="en-US" sz="1600" b="1" dirty="0">
                <a:solidFill>
                  <a:schemeClr val="accent6">
                    <a:lumMod val="75000"/>
                  </a:schemeClr>
                </a:solidFill>
              </a:rPr>
              <a:t>850 V </a:t>
            </a:r>
            <a:r>
              <a:rPr lang="en-US" sz="1600" dirty="0"/>
              <a:t>for 3-level topologies</a:t>
            </a:r>
            <a:r>
              <a:rPr lang="en-US" sz="1600" dirty="0" smtClean="0"/>
              <a:t>.</a:t>
            </a:r>
          </a:p>
          <a:p>
            <a:r>
              <a:rPr lang="en-US" sz="1600" dirty="0"/>
              <a:t>The die area will be chosen in the next </a:t>
            </a:r>
            <a:r>
              <a:rPr lang="en-US" sz="1600" dirty="0" smtClean="0"/>
              <a:t>slide </a:t>
            </a:r>
            <a:r>
              <a:rPr lang="en-US" sz="1600" dirty="0"/>
              <a:t>by</a:t>
            </a:r>
          </a:p>
          <a:p>
            <a:r>
              <a:rPr lang="en-US" sz="1600" dirty="0"/>
              <a:t>comparing the </a:t>
            </a:r>
            <a:r>
              <a:rPr lang="en-US" sz="1600" b="1" dirty="0">
                <a:solidFill>
                  <a:schemeClr val="accent6">
                    <a:lumMod val="75000"/>
                  </a:schemeClr>
                </a:solidFill>
              </a:rPr>
              <a:t>switching frequency </a:t>
            </a:r>
            <a:r>
              <a:rPr lang="en-US" sz="1600" dirty="0"/>
              <a:t>and </a:t>
            </a:r>
            <a:r>
              <a:rPr lang="en-US" sz="1600" b="1" i="1" dirty="0" smtClean="0">
                <a:solidFill>
                  <a:schemeClr val="accent6">
                    <a:lumMod val="75000"/>
                  </a:schemeClr>
                </a:solidFill>
              </a:rPr>
              <a:t>dv/</a:t>
            </a:r>
            <a:r>
              <a:rPr lang="sv-SE" sz="1600" b="1" i="1" dirty="0" smtClean="0">
                <a:solidFill>
                  <a:schemeClr val="accent6">
                    <a:lumMod val="75000"/>
                  </a:schemeClr>
                </a:solidFill>
              </a:rPr>
              <a:t>dt </a:t>
            </a:r>
            <a:r>
              <a:rPr lang="sv-SE" sz="1600" dirty="0"/>
              <a:t>.</a:t>
            </a:r>
          </a:p>
        </p:txBody>
      </p:sp>
      <p:sp>
        <p:nvSpPr>
          <p:cNvPr id="9" name="Rectangle 8"/>
          <p:cNvSpPr/>
          <p:nvPr/>
        </p:nvSpPr>
        <p:spPr>
          <a:xfrm>
            <a:off x="7549587" y="3632935"/>
            <a:ext cx="3998210" cy="369332"/>
          </a:xfrm>
          <a:prstGeom prst="rect">
            <a:avLst/>
          </a:prstGeom>
        </p:spPr>
        <p:txBody>
          <a:bodyPr wrap="none">
            <a:spAutoFit/>
          </a:bodyPr>
          <a:lstStyle/>
          <a:p>
            <a:r>
              <a:rPr lang="sv-SE" b="1" dirty="0">
                <a:solidFill>
                  <a:srgbClr val="E86A58"/>
                </a:solidFill>
              </a:rPr>
              <a:t>FOM parameters for </a:t>
            </a:r>
            <a:r>
              <a:rPr lang="sv-SE" b="1" dirty="0" err="1">
                <a:solidFill>
                  <a:srgbClr val="E86A58"/>
                </a:solidFill>
              </a:rPr>
              <a:t>SiC</a:t>
            </a:r>
            <a:r>
              <a:rPr lang="sv-SE" b="1" dirty="0">
                <a:solidFill>
                  <a:srgbClr val="E86A58"/>
                </a:solidFill>
              </a:rPr>
              <a:t> MOSFETS: </a:t>
            </a:r>
            <a:endParaRPr lang="en-US" dirty="0">
              <a:latin typeface="NimbusRomNo9L-Regu"/>
            </a:endParaRPr>
          </a:p>
        </p:txBody>
      </p:sp>
      <p:sp>
        <p:nvSpPr>
          <p:cNvPr id="6" name="Slide Number Placeholder 5"/>
          <p:cNvSpPr>
            <a:spLocks noGrp="1"/>
          </p:cNvSpPr>
          <p:nvPr>
            <p:ph type="sldNum" sz="quarter" idx="12"/>
          </p:nvPr>
        </p:nvSpPr>
        <p:spPr/>
        <p:txBody>
          <a:bodyPr/>
          <a:lstStyle/>
          <a:p>
            <a:fld id="{B716C8F4-20CD-364A-8A8E-DE130115B178}" type="slidenum">
              <a:rPr lang="sv-SE" smtClean="0"/>
              <a:t>6</a:t>
            </a:fld>
            <a:endParaRPr lang="sv-SE"/>
          </a:p>
        </p:txBody>
      </p:sp>
    </p:spTree>
    <p:extLst>
      <p:ext uri="{BB962C8B-B14F-4D97-AF65-F5344CB8AC3E}">
        <p14:creationId xmlns:p14="http://schemas.microsoft.com/office/powerpoint/2010/main" val="23587851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947416"/>
          </a:xfrm>
        </p:spPr>
        <p:txBody>
          <a:bodyPr/>
          <a:lstStyle/>
          <a:p>
            <a:r>
              <a:rPr lang="en-US" sz="2800" dirty="0" smtClean="0"/>
              <a:t>Implementation </a:t>
            </a:r>
            <a:r>
              <a:rPr lang="en-US" sz="2800" dirty="0"/>
              <a:t>of the Loss Modelling </a:t>
            </a:r>
            <a:r>
              <a:rPr lang="en-US" sz="2800" dirty="0" smtClean="0"/>
              <a:t>in Different </a:t>
            </a:r>
            <a:r>
              <a:rPr lang="sv-SE" sz="2800" dirty="0" err="1" smtClean="0"/>
              <a:t>Topologies</a:t>
            </a:r>
            <a:r>
              <a:rPr lang="en-US" sz="2800" dirty="0" smtClean="0"/>
              <a:t/>
            </a:r>
            <a:br>
              <a:rPr lang="en-US" sz="2800" dirty="0" smtClean="0"/>
            </a:br>
            <a:endParaRPr lang="en-US" sz="28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6" name="Rectangle 5"/>
          <p:cNvSpPr/>
          <p:nvPr/>
        </p:nvSpPr>
        <p:spPr>
          <a:xfrm>
            <a:off x="1410703" y="1283923"/>
            <a:ext cx="9841497" cy="646331"/>
          </a:xfrm>
          <a:prstGeom prst="rect">
            <a:avLst/>
          </a:prstGeom>
        </p:spPr>
        <p:txBody>
          <a:bodyPr wrap="square">
            <a:spAutoFit/>
          </a:bodyPr>
          <a:lstStyle/>
          <a:p>
            <a:r>
              <a:rPr lang="en-US" b="1" dirty="0">
                <a:solidFill>
                  <a:schemeClr val="accent6">
                    <a:lumMod val="75000"/>
                  </a:schemeClr>
                </a:solidFill>
              </a:rPr>
              <a:t>The conduction </a:t>
            </a:r>
            <a:r>
              <a:rPr lang="en-US" dirty="0"/>
              <a:t>and</a:t>
            </a:r>
            <a:r>
              <a:rPr lang="en-US" b="1" dirty="0">
                <a:solidFill>
                  <a:schemeClr val="accent6">
                    <a:lumMod val="75000"/>
                  </a:schemeClr>
                </a:solidFill>
              </a:rPr>
              <a:t> switching angles </a:t>
            </a:r>
            <a:r>
              <a:rPr lang="en-US" dirty="0" smtClean="0"/>
              <a:t>are </a:t>
            </a:r>
            <a:r>
              <a:rPr lang="en-US" dirty="0"/>
              <a:t>employed in calculating the semiconductor </a:t>
            </a:r>
            <a:r>
              <a:rPr lang="en-US" dirty="0" smtClean="0"/>
              <a:t>losses. </a:t>
            </a:r>
          </a:p>
          <a:p>
            <a:r>
              <a:rPr lang="en-US" dirty="0" smtClean="0"/>
              <a:t>However</a:t>
            </a:r>
            <a:r>
              <a:rPr lang="en-US" dirty="0"/>
              <a:t>, these angles </a:t>
            </a:r>
            <a:r>
              <a:rPr lang="en-US" b="1" dirty="0">
                <a:solidFill>
                  <a:schemeClr val="accent6">
                    <a:lumMod val="75000"/>
                  </a:schemeClr>
                </a:solidFill>
              </a:rPr>
              <a:t>vary</a:t>
            </a:r>
            <a:r>
              <a:rPr lang="en-US" dirty="0"/>
              <a:t> based </a:t>
            </a:r>
            <a:r>
              <a:rPr lang="en-US" dirty="0" smtClean="0"/>
              <a:t>on </a:t>
            </a:r>
            <a:r>
              <a:rPr lang="sv-SE" b="1" dirty="0" smtClean="0">
                <a:solidFill>
                  <a:schemeClr val="accent6">
                    <a:lumMod val="75000"/>
                  </a:schemeClr>
                </a:solidFill>
              </a:rPr>
              <a:t>different </a:t>
            </a:r>
            <a:r>
              <a:rPr lang="sv-SE" b="1" dirty="0" err="1">
                <a:solidFill>
                  <a:schemeClr val="accent6">
                    <a:lumMod val="75000"/>
                  </a:schemeClr>
                </a:solidFill>
              </a:rPr>
              <a:t>topologies</a:t>
            </a:r>
            <a:endParaRPr lang="sv-SE" b="1" dirty="0">
              <a:solidFill>
                <a:schemeClr val="accent6">
                  <a:lumMod val="75000"/>
                </a:schemeClr>
              </a:solidFill>
            </a:endParaRPr>
          </a:p>
        </p:txBody>
      </p:sp>
      <p:pic>
        <p:nvPicPr>
          <p:cNvPr id="10" name="Picture 9"/>
          <p:cNvPicPr>
            <a:picLocks noChangeAspect="1"/>
          </p:cNvPicPr>
          <p:nvPr/>
        </p:nvPicPr>
        <p:blipFill>
          <a:blip r:embed="rId2"/>
          <a:stretch>
            <a:fillRect/>
          </a:stretch>
        </p:blipFill>
        <p:spPr>
          <a:xfrm>
            <a:off x="3079750" y="2430752"/>
            <a:ext cx="6394450" cy="1217189"/>
          </a:xfrm>
          <a:prstGeom prst="rect">
            <a:avLst/>
          </a:prstGeom>
        </p:spPr>
      </p:pic>
      <p:pic>
        <p:nvPicPr>
          <p:cNvPr id="11" name="Picture 10"/>
          <p:cNvPicPr>
            <a:picLocks noChangeAspect="1"/>
          </p:cNvPicPr>
          <p:nvPr/>
        </p:nvPicPr>
        <p:blipFill>
          <a:blip r:embed="rId3"/>
          <a:stretch>
            <a:fillRect/>
          </a:stretch>
        </p:blipFill>
        <p:spPr>
          <a:xfrm>
            <a:off x="3238500" y="4193960"/>
            <a:ext cx="6235700" cy="2254122"/>
          </a:xfrm>
          <a:prstGeom prst="rect">
            <a:avLst/>
          </a:prstGeom>
        </p:spPr>
      </p:pic>
      <p:sp>
        <p:nvSpPr>
          <p:cNvPr id="13" name="TextBox 12"/>
          <p:cNvSpPr txBox="1"/>
          <p:nvPr/>
        </p:nvSpPr>
        <p:spPr>
          <a:xfrm>
            <a:off x="5486400" y="1973077"/>
            <a:ext cx="2019300" cy="369332"/>
          </a:xfrm>
          <a:prstGeom prst="rect">
            <a:avLst/>
          </a:prstGeom>
          <a:noFill/>
        </p:spPr>
        <p:txBody>
          <a:bodyPr wrap="square" rtlCol="0">
            <a:spAutoFit/>
          </a:bodyPr>
          <a:lstStyle/>
          <a:p>
            <a:r>
              <a:rPr lang="sv-SE" b="1" dirty="0" smtClean="0">
                <a:solidFill>
                  <a:srgbClr val="E86A58"/>
                </a:solidFill>
              </a:rPr>
              <a:t>2-level </a:t>
            </a:r>
            <a:r>
              <a:rPr lang="sv-SE" b="1" dirty="0" err="1" smtClean="0">
                <a:solidFill>
                  <a:srgbClr val="E86A58"/>
                </a:solidFill>
              </a:rPr>
              <a:t>inverters</a:t>
            </a:r>
            <a:endParaRPr lang="sv-SE" b="1" dirty="0">
              <a:solidFill>
                <a:srgbClr val="E86A58"/>
              </a:solidFill>
            </a:endParaRPr>
          </a:p>
        </p:txBody>
      </p:sp>
      <p:sp>
        <p:nvSpPr>
          <p:cNvPr id="16" name="TextBox 15"/>
          <p:cNvSpPr txBox="1"/>
          <p:nvPr/>
        </p:nvSpPr>
        <p:spPr>
          <a:xfrm>
            <a:off x="5302250" y="3824627"/>
            <a:ext cx="2857500" cy="369332"/>
          </a:xfrm>
          <a:prstGeom prst="rect">
            <a:avLst/>
          </a:prstGeom>
          <a:noFill/>
        </p:spPr>
        <p:txBody>
          <a:bodyPr wrap="square" rtlCol="0">
            <a:spAutoFit/>
          </a:bodyPr>
          <a:lstStyle/>
          <a:p>
            <a:r>
              <a:rPr lang="sv-SE" b="1" dirty="0" smtClean="0">
                <a:solidFill>
                  <a:srgbClr val="E86A58"/>
                </a:solidFill>
              </a:rPr>
              <a:t>3-level NPC </a:t>
            </a:r>
            <a:r>
              <a:rPr lang="sv-SE" b="1" dirty="0" err="1" smtClean="0">
                <a:solidFill>
                  <a:srgbClr val="E86A58"/>
                </a:solidFill>
              </a:rPr>
              <a:t>inverter</a:t>
            </a:r>
            <a:endParaRPr lang="sv-SE" b="1" dirty="0">
              <a:solidFill>
                <a:srgbClr val="E86A58"/>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7</a:t>
            </a:fld>
            <a:endParaRPr lang="sv-SE"/>
          </a:p>
        </p:txBody>
      </p:sp>
    </p:spTree>
    <p:extLst>
      <p:ext uri="{BB962C8B-B14F-4D97-AF65-F5344CB8AC3E}">
        <p14:creationId xmlns:p14="http://schemas.microsoft.com/office/powerpoint/2010/main" val="11132113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t>Cooling</a:t>
            </a:r>
            <a:r>
              <a:rPr lang="sv-SE" sz="3200" dirty="0" smtClean="0"/>
              <a:t> System </a:t>
            </a:r>
            <a:r>
              <a:rPr lang="sv-SE" sz="3200" dirty="0" err="1" smtClean="0"/>
              <a:t>Size</a:t>
            </a:r>
            <a:r>
              <a:rPr lang="sv-SE" sz="3200" dirty="0" smtClean="0"/>
              <a:t> </a:t>
            </a:r>
            <a:r>
              <a:rPr lang="sv-SE" sz="3200" dirty="0" err="1" smtClean="0"/>
              <a:t>Estimation</a:t>
            </a:r>
            <a:endParaRPr lang="en-US" sz="2800" dirty="0"/>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pic>
        <p:nvPicPr>
          <p:cNvPr id="3" name="Picture 2"/>
          <p:cNvPicPr>
            <a:picLocks noChangeAspect="1"/>
          </p:cNvPicPr>
          <p:nvPr/>
        </p:nvPicPr>
        <p:blipFill>
          <a:blip r:embed="rId2"/>
          <a:stretch>
            <a:fillRect/>
          </a:stretch>
        </p:blipFill>
        <p:spPr>
          <a:xfrm>
            <a:off x="253091" y="2017087"/>
            <a:ext cx="5338061" cy="2426013"/>
          </a:xfrm>
          <a:prstGeom prst="rect">
            <a:avLst/>
          </a:prstGeom>
        </p:spPr>
      </p:pic>
      <p:sp>
        <p:nvSpPr>
          <p:cNvPr id="4" name="Rectangle 3"/>
          <p:cNvSpPr/>
          <p:nvPr/>
        </p:nvSpPr>
        <p:spPr>
          <a:xfrm>
            <a:off x="466555" y="4692700"/>
            <a:ext cx="5259178" cy="1107996"/>
          </a:xfrm>
          <a:prstGeom prst="rect">
            <a:avLst/>
          </a:prstGeom>
        </p:spPr>
        <p:txBody>
          <a:bodyPr wrap="square">
            <a:spAutoFit/>
          </a:bodyPr>
          <a:lstStyle/>
          <a:p>
            <a:pPr algn="just"/>
            <a:r>
              <a:rPr lang="sv-SE" sz="1600" dirty="0" err="1"/>
              <a:t>w</a:t>
            </a:r>
            <a:r>
              <a:rPr lang="sv-SE" sz="1600" dirty="0" err="1" smtClean="0"/>
              <a:t>here</a:t>
            </a:r>
            <a:r>
              <a:rPr lang="sv-SE" sz="1600" dirty="0" smtClean="0"/>
              <a:t> </a:t>
            </a:r>
            <a:r>
              <a:rPr lang="en-US" sz="1600" dirty="0" err="1" smtClean="0"/>
              <a:t>R</a:t>
            </a:r>
            <a:r>
              <a:rPr lang="en-US" sz="700" dirty="0" err="1" smtClean="0"/>
              <a:t>jc</a:t>
            </a:r>
            <a:r>
              <a:rPr lang="en-US" sz="700" dirty="0" smtClean="0"/>
              <a:t> </a:t>
            </a:r>
            <a:r>
              <a:rPr lang="en-US" sz="1600" dirty="0"/>
              <a:t>is </a:t>
            </a:r>
            <a:r>
              <a:rPr lang="en-US" sz="1600" b="1" dirty="0" smtClean="0">
                <a:solidFill>
                  <a:schemeClr val="accent6">
                    <a:lumMod val="75000"/>
                  </a:schemeClr>
                </a:solidFill>
              </a:rPr>
              <a:t>junction-to-case </a:t>
            </a:r>
            <a:r>
              <a:rPr lang="en-US" sz="1600" dirty="0"/>
              <a:t>thermal resistance, </a:t>
            </a:r>
            <a:r>
              <a:rPr lang="en-US" sz="1600" dirty="0" err="1"/>
              <a:t>R</a:t>
            </a:r>
            <a:r>
              <a:rPr lang="en-US" sz="700" dirty="0" err="1"/>
              <a:t>ch</a:t>
            </a:r>
            <a:r>
              <a:rPr lang="en-US" sz="700" dirty="0"/>
              <a:t> </a:t>
            </a:r>
            <a:r>
              <a:rPr lang="en-US" sz="1600" dirty="0"/>
              <a:t>is </a:t>
            </a:r>
            <a:r>
              <a:rPr lang="en-US" sz="1600" b="1" dirty="0" smtClean="0">
                <a:solidFill>
                  <a:schemeClr val="accent6">
                    <a:lumMod val="75000"/>
                  </a:schemeClr>
                </a:solidFill>
              </a:rPr>
              <a:t>case-to-heatsink</a:t>
            </a:r>
            <a:r>
              <a:rPr lang="en-US" sz="1600" dirty="0" smtClean="0"/>
              <a:t> thermal resistance</a:t>
            </a:r>
            <a:r>
              <a:rPr lang="en-US" sz="1600" dirty="0"/>
              <a:t>, </a:t>
            </a:r>
            <a:r>
              <a:rPr lang="en-US" sz="1600" dirty="0" err="1"/>
              <a:t>R</a:t>
            </a:r>
            <a:r>
              <a:rPr lang="en-US" sz="700" dirty="0" err="1"/>
              <a:t>ha</a:t>
            </a:r>
            <a:r>
              <a:rPr lang="en-US" sz="700" dirty="0"/>
              <a:t> </a:t>
            </a:r>
            <a:r>
              <a:rPr lang="en-US" sz="1600" dirty="0"/>
              <a:t>is </a:t>
            </a:r>
            <a:r>
              <a:rPr lang="en-US" sz="1600" b="1" dirty="0">
                <a:solidFill>
                  <a:schemeClr val="accent6">
                    <a:lumMod val="75000"/>
                  </a:schemeClr>
                </a:solidFill>
              </a:rPr>
              <a:t>heatsink-to-ambient</a:t>
            </a:r>
            <a:r>
              <a:rPr lang="en-US" sz="1600" dirty="0"/>
              <a:t> thermal resistance, </a:t>
            </a:r>
            <a:r>
              <a:rPr lang="en-US" sz="1600" dirty="0" err="1"/>
              <a:t>T</a:t>
            </a:r>
            <a:r>
              <a:rPr lang="en-US" sz="700" dirty="0" err="1"/>
              <a:t>j</a:t>
            </a:r>
            <a:r>
              <a:rPr lang="en-US" sz="700" dirty="0"/>
              <a:t> </a:t>
            </a:r>
            <a:r>
              <a:rPr lang="en-US" sz="1600" dirty="0"/>
              <a:t>is </a:t>
            </a:r>
            <a:r>
              <a:rPr lang="en-US" sz="1600" b="1" dirty="0" smtClean="0">
                <a:solidFill>
                  <a:schemeClr val="accent6">
                    <a:lumMod val="75000"/>
                  </a:schemeClr>
                </a:solidFill>
              </a:rPr>
              <a:t>junction temperature</a:t>
            </a:r>
            <a:r>
              <a:rPr lang="en-US" sz="1600" dirty="0"/>
              <a:t>, and T</a:t>
            </a:r>
            <a:r>
              <a:rPr lang="en-US" sz="700" dirty="0"/>
              <a:t>a </a:t>
            </a:r>
            <a:r>
              <a:rPr lang="en-US" sz="1600" dirty="0"/>
              <a:t>is </a:t>
            </a:r>
            <a:r>
              <a:rPr lang="en-US" sz="1600" b="1" dirty="0">
                <a:solidFill>
                  <a:schemeClr val="accent6">
                    <a:lumMod val="75000"/>
                  </a:schemeClr>
                </a:solidFill>
              </a:rPr>
              <a:t>ambient temperature</a:t>
            </a:r>
            <a:r>
              <a:rPr lang="en-US" sz="1600" b="1" dirty="0" smtClean="0">
                <a:solidFill>
                  <a:schemeClr val="accent6">
                    <a:lumMod val="75000"/>
                  </a:schemeClr>
                </a:solidFill>
              </a:rPr>
              <a:t>.</a:t>
            </a:r>
            <a:endParaRPr lang="sv-SE" sz="1600" b="1" dirty="0">
              <a:solidFill>
                <a:schemeClr val="accent6">
                  <a:lumMod val="75000"/>
                </a:schemeClr>
              </a:solidFill>
            </a:endParaRPr>
          </a:p>
        </p:txBody>
      </p:sp>
      <p:sp>
        <p:nvSpPr>
          <p:cNvPr id="5" name="Rectangle 4"/>
          <p:cNvSpPr/>
          <p:nvPr/>
        </p:nvSpPr>
        <p:spPr>
          <a:xfrm>
            <a:off x="6096000" y="1441454"/>
            <a:ext cx="5714999" cy="584775"/>
          </a:xfrm>
          <a:prstGeom prst="rect">
            <a:avLst/>
          </a:prstGeom>
        </p:spPr>
        <p:txBody>
          <a:bodyPr wrap="square">
            <a:spAutoFit/>
          </a:bodyPr>
          <a:lstStyle/>
          <a:p>
            <a:r>
              <a:rPr lang="en-US" sz="1600" dirty="0"/>
              <a:t>The thermal resistance from </a:t>
            </a:r>
            <a:r>
              <a:rPr lang="en-US" sz="1600" dirty="0" smtClean="0"/>
              <a:t>the junction to case decreases as </a:t>
            </a:r>
            <a:r>
              <a:rPr lang="en-US" sz="1600" dirty="0"/>
              <a:t>the chip area </a:t>
            </a:r>
            <a:r>
              <a:rPr lang="en-US" sz="1600" dirty="0" smtClean="0"/>
              <a:t>increases.</a:t>
            </a:r>
            <a:endParaRPr lang="sv-SE" sz="1600" dirty="0"/>
          </a:p>
        </p:txBody>
      </p:sp>
      <p:pic>
        <p:nvPicPr>
          <p:cNvPr id="7" name="Picture 6"/>
          <p:cNvPicPr>
            <a:picLocks noChangeAspect="1"/>
          </p:cNvPicPr>
          <p:nvPr/>
        </p:nvPicPr>
        <p:blipFill>
          <a:blip r:embed="rId3"/>
          <a:stretch>
            <a:fillRect/>
          </a:stretch>
        </p:blipFill>
        <p:spPr>
          <a:xfrm>
            <a:off x="7917769" y="2017087"/>
            <a:ext cx="1710513" cy="788324"/>
          </a:xfrm>
          <a:prstGeom prst="rect">
            <a:avLst/>
          </a:prstGeom>
        </p:spPr>
      </p:pic>
      <p:sp>
        <p:nvSpPr>
          <p:cNvPr id="8" name="Rectangle 7"/>
          <p:cNvSpPr/>
          <p:nvPr/>
        </p:nvSpPr>
        <p:spPr>
          <a:xfrm>
            <a:off x="6096001" y="2706417"/>
            <a:ext cx="5714998" cy="1323439"/>
          </a:xfrm>
          <a:prstGeom prst="rect">
            <a:avLst/>
          </a:prstGeom>
        </p:spPr>
        <p:txBody>
          <a:bodyPr wrap="square">
            <a:spAutoFit/>
          </a:bodyPr>
          <a:lstStyle/>
          <a:p>
            <a:pPr algn="just"/>
            <a:r>
              <a:rPr lang="en-US" sz="1600" dirty="0">
                <a:latin typeface="+mj-lt"/>
              </a:rPr>
              <a:t>Even if the total losses are the same for different </a:t>
            </a:r>
            <a:r>
              <a:rPr lang="en-US" sz="1600" dirty="0" smtClean="0">
                <a:latin typeface="+mj-lt"/>
              </a:rPr>
              <a:t>topologies, the </a:t>
            </a:r>
            <a:r>
              <a:rPr lang="en-US" sz="1600" b="1" dirty="0">
                <a:solidFill>
                  <a:schemeClr val="accent6">
                    <a:lumMod val="75000"/>
                  </a:schemeClr>
                </a:solidFill>
                <a:latin typeface="+mj-lt"/>
              </a:rPr>
              <a:t>loss distribution </a:t>
            </a:r>
            <a:r>
              <a:rPr lang="en-US" sz="1600" dirty="0">
                <a:latin typeface="+mj-lt"/>
              </a:rPr>
              <a:t>and </a:t>
            </a:r>
            <a:r>
              <a:rPr lang="en-US" sz="1600" b="1" dirty="0">
                <a:solidFill>
                  <a:schemeClr val="accent6">
                    <a:lumMod val="75000"/>
                  </a:schemeClr>
                </a:solidFill>
                <a:latin typeface="+mj-lt"/>
              </a:rPr>
              <a:t>total die area </a:t>
            </a:r>
            <a:r>
              <a:rPr lang="en-US" sz="1600" dirty="0">
                <a:latin typeface="+mj-lt"/>
              </a:rPr>
              <a:t>lead to different </a:t>
            </a:r>
            <a:r>
              <a:rPr lang="en-US" sz="1600" dirty="0" smtClean="0">
                <a:latin typeface="+mj-lt"/>
              </a:rPr>
              <a:t>heatsink sizes </a:t>
            </a:r>
            <a:r>
              <a:rPr lang="en-US" sz="1600" dirty="0">
                <a:latin typeface="+mj-lt"/>
              </a:rPr>
              <a:t>while keeping the junction temperature constant. For </a:t>
            </a:r>
            <a:r>
              <a:rPr lang="en-US" sz="1600" dirty="0" smtClean="0">
                <a:latin typeface="+mj-lt"/>
              </a:rPr>
              <a:t>a simplified </a:t>
            </a:r>
            <a:r>
              <a:rPr lang="en-US" sz="1600" dirty="0">
                <a:latin typeface="+mj-lt"/>
              </a:rPr>
              <a:t>calculation, the </a:t>
            </a:r>
            <a:r>
              <a:rPr lang="en-US" sz="1600" b="1" dirty="0">
                <a:solidFill>
                  <a:schemeClr val="accent6">
                    <a:lumMod val="75000"/>
                  </a:schemeClr>
                </a:solidFill>
                <a:latin typeface="+mj-lt"/>
              </a:rPr>
              <a:t>thermal resistance </a:t>
            </a:r>
            <a:r>
              <a:rPr lang="en-US" sz="1600" dirty="0">
                <a:latin typeface="+mj-lt"/>
              </a:rPr>
              <a:t>for the </a:t>
            </a:r>
            <a:r>
              <a:rPr lang="en-US" sz="1600" b="1" dirty="0" smtClean="0">
                <a:solidFill>
                  <a:schemeClr val="accent6">
                    <a:lumMod val="75000"/>
                  </a:schemeClr>
                </a:solidFill>
                <a:latin typeface="+mj-lt"/>
              </a:rPr>
              <a:t>heatsink</a:t>
            </a:r>
            <a:r>
              <a:rPr lang="en-US" sz="1600" dirty="0" smtClean="0">
                <a:latin typeface="+mj-lt"/>
              </a:rPr>
              <a:t> can </a:t>
            </a:r>
            <a:r>
              <a:rPr lang="en-US" sz="1600" dirty="0">
                <a:latin typeface="+mj-lt"/>
              </a:rPr>
              <a:t>be determined as given by</a:t>
            </a:r>
            <a:endParaRPr lang="sv-SE" sz="1600" dirty="0">
              <a:latin typeface="+mj-lt"/>
            </a:endParaRPr>
          </a:p>
        </p:txBody>
      </p:sp>
      <p:pic>
        <p:nvPicPr>
          <p:cNvPr id="14" name="Picture 13"/>
          <p:cNvPicPr>
            <a:picLocks noChangeAspect="1"/>
          </p:cNvPicPr>
          <p:nvPr/>
        </p:nvPicPr>
        <p:blipFill>
          <a:blip r:embed="rId4"/>
          <a:stretch>
            <a:fillRect/>
          </a:stretch>
        </p:blipFill>
        <p:spPr>
          <a:xfrm>
            <a:off x="6735428" y="4029856"/>
            <a:ext cx="4300871" cy="842738"/>
          </a:xfrm>
          <a:prstGeom prst="rect">
            <a:avLst/>
          </a:prstGeom>
        </p:spPr>
      </p:pic>
      <p:sp>
        <p:nvSpPr>
          <p:cNvPr id="15" name="Rectangle 14"/>
          <p:cNvSpPr/>
          <p:nvPr/>
        </p:nvSpPr>
        <p:spPr>
          <a:xfrm>
            <a:off x="582530" y="1425717"/>
            <a:ext cx="5143203" cy="369332"/>
          </a:xfrm>
          <a:prstGeom prst="rect">
            <a:avLst/>
          </a:prstGeom>
        </p:spPr>
        <p:txBody>
          <a:bodyPr wrap="none">
            <a:spAutoFit/>
          </a:bodyPr>
          <a:lstStyle/>
          <a:p>
            <a:r>
              <a:rPr lang="en-US" b="1" dirty="0" smtClean="0">
                <a:solidFill>
                  <a:srgbClr val="E86A58"/>
                </a:solidFill>
                <a:latin typeface="NimbusRomNo9L-Regu"/>
              </a:rPr>
              <a:t>An Example Of A Thermal Circuit For Inverter</a:t>
            </a:r>
            <a:endParaRPr lang="sv-SE" b="1" dirty="0">
              <a:solidFill>
                <a:srgbClr val="E86A58"/>
              </a:solidFill>
            </a:endParaRPr>
          </a:p>
        </p:txBody>
      </p:sp>
      <p:pic>
        <p:nvPicPr>
          <p:cNvPr id="17" name="Picture 16"/>
          <p:cNvPicPr>
            <a:picLocks noChangeAspect="1"/>
          </p:cNvPicPr>
          <p:nvPr/>
        </p:nvPicPr>
        <p:blipFill>
          <a:blip r:embed="rId5"/>
          <a:stretch>
            <a:fillRect/>
          </a:stretch>
        </p:blipFill>
        <p:spPr>
          <a:xfrm>
            <a:off x="6647989" y="5246698"/>
            <a:ext cx="4475747" cy="940429"/>
          </a:xfrm>
          <a:prstGeom prst="rect">
            <a:avLst/>
          </a:prstGeom>
        </p:spPr>
      </p:pic>
      <p:sp>
        <p:nvSpPr>
          <p:cNvPr id="18" name="Rectangle 17"/>
          <p:cNvSpPr/>
          <p:nvPr/>
        </p:nvSpPr>
        <p:spPr>
          <a:xfrm>
            <a:off x="6096000" y="4768883"/>
            <a:ext cx="5934284" cy="584775"/>
          </a:xfrm>
          <a:prstGeom prst="rect">
            <a:avLst/>
          </a:prstGeom>
        </p:spPr>
        <p:txBody>
          <a:bodyPr wrap="square">
            <a:spAutoFit/>
          </a:bodyPr>
          <a:lstStyle/>
          <a:p>
            <a:r>
              <a:rPr lang="en-US" sz="1600" dirty="0" smtClean="0"/>
              <a:t>The </a:t>
            </a:r>
            <a:r>
              <a:rPr lang="en-US" sz="1600" dirty="0"/>
              <a:t>heatsink volume can be estimated by utilizing </a:t>
            </a:r>
            <a:r>
              <a:rPr lang="en-US" sz="1600" dirty="0" smtClean="0"/>
              <a:t>the </a:t>
            </a:r>
            <a:r>
              <a:rPr lang="sv-SE" sz="1600" b="1" dirty="0" err="1" smtClean="0">
                <a:solidFill>
                  <a:schemeClr val="accent6">
                    <a:lumMod val="75000"/>
                  </a:schemeClr>
                </a:solidFill>
              </a:rPr>
              <a:t>cooling</a:t>
            </a:r>
            <a:r>
              <a:rPr lang="sv-SE" sz="1600" b="1" dirty="0" smtClean="0">
                <a:solidFill>
                  <a:schemeClr val="accent6">
                    <a:lumMod val="75000"/>
                  </a:schemeClr>
                </a:solidFill>
              </a:rPr>
              <a:t> </a:t>
            </a:r>
            <a:r>
              <a:rPr lang="sv-SE" sz="1600" b="1" dirty="0">
                <a:solidFill>
                  <a:schemeClr val="accent6">
                    <a:lumMod val="75000"/>
                  </a:schemeClr>
                </a:solidFill>
              </a:rPr>
              <a:t>system </a:t>
            </a:r>
            <a:r>
              <a:rPr lang="sv-SE" sz="1600" b="1" dirty="0" err="1">
                <a:solidFill>
                  <a:schemeClr val="accent6">
                    <a:lumMod val="75000"/>
                  </a:schemeClr>
                </a:solidFill>
              </a:rPr>
              <a:t>performance</a:t>
            </a:r>
            <a:r>
              <a:rPr lang="sv-SE" sz="1600" b="1" dirty="0">
                <a:solidFill>
                  <a:schemeClr val="accent6">
                    <a:lumMod val="75000"/>
                  </a:schemeClr>
                </a:solidFill>
              </a:rPr>
              <a:t> index </a:t>
            </a:r>
            <a:r>
              <a:rPr lang="sv-SE" sz="1600" dirty="0"/>
              <a:t>(CSPI)</a:t>
            </a:r>
          </a:p>
        </p:txBody>
      </p:sp>
      <p:sp>
        <p:nvSpPr>
          <p:cNvPr id="6" name="Slide Number Placeholder 5"/>
          <p:cNvSpPr>
            <a:spLocks noGrp="1"/>
          </p:cNvSpPr>
          <p:nvPr>
            <p:ph type="sldNum" sz="quarter" idx="12"/>
          </p:nvPr>
        </p:nvSpPr>
        <p:spPr/>
        <p:txBody>
          <a:bodyPr/>
          <a:lstStyle/>
          <a:p>
            <a:fld id="{B716C8F4-20CD-364A-8A8E-DE130115B178}" type="slidenum">
              <a:rPr lang="sv-SE" smtClean="0"/>
              <a:t>8</a:t>
            </a:fld>
            <a:endParaRPr lang="sv-SE"/>
          </a:p>
        </p:txBody>
      </p:sp>
    </p:spTree>
    <p:extLst>
      <p:ext uri="{BB962C8B-B14F-4D97-AF65-F5344CB8AC3E}">
        <p14:creationId xmlns:p14="http://schemas.microsoft.com/office/powerpoint/2010/main" val="3351658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a:solidFill>
                  <a:schemeClr val="accent6">
                    <a:lumMod val="50000"/>
                  </a:schemeClr>
                </a:solidFill>
              </a:rPr>
              <a:t>DC-</a:t>
            </a:r>
            <a:r>
              <a:rPr lang="sv-SE" sz="3200" dirty="0" err="1">
                <a:solidFill>
                  <a:schemeClr val="accent6">
                    <a:lumMod val="50000"/>
                  </a:schemeClr>
                </a:solidFill>
              </a:rPr>
              <a:t>link</a:t>
            </a:r>
            <a:r>
              <a:rPr lang="sv-SE" sz="3200" dirty="0">
                <a:solidFill>
                  <a:schemeClr val="accent6">
                    <a:lumMod val="50000"/>
                  </a:schemeClr>
                </a:solidFill>
              </a:rPr>
              <a:t> </a:t>
            </a:r>
            <a:r>
              <a:rPr lang="sv-SE" sz="3200" dirty="0" err="1">
                <a:solidFill>
                  <a:schemeClr val="accent6">
                    <a:lumMod val="50000"/>
                  </a:schemeClr>
                </a:solidFill>
              </a:rPr>
              <a:t>Capacitance</a:t>
            </a:r>
            <a:r>
              <a:rPr lang="sv-SE" sz="3200" dirty="0">
                <a:solidFill>
                  <a:schemeClr val="accent6">
                    <a:lumMod val="50000"/>
                  </a:schemeClr>
                </a:solidFill>
              </a:rPr>
              <a:t> </a:t>
            </a:r>
            <a:r>
              <a:rPr lang="sv-SE" sz="3200" dirty="0" err="1">
                <a:solidFill>
                  <a:schemeClr val="accent6">
                    <a:lumMod val="50000"/>
                  </a:schemeClr>
                </a:solidFill>
              </a:rPr>
              <a:t>Requirements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762000" y="1334144"/>
            <a:ext cx="5867400" cy="830997"/>
          </a:xfrm>
          <a:prstGeom prst="rect">
            <a:avLst/>
          </a:prstGeom>
        </p:spPr>
        <p:txBody>
          <a:bodyPr wrap="square">
            <a:spAutoFit/>
          </a:bodyPr>
          <a:lstStyle/>
          <a:p>
            <a:pPr algn="just"/>
            <a:r>
              <a:rPr lang="en-US" sz="1600" dirty="0"/>
              <a:t>The selection of DC link capacitance relies on various </a:t>
            </a:r>
            <a:r>
              <a:rPr lang="en-US" sz="1600" dirty="0" smtClean="0"/>
              <a:t>factors such </a:t>
            </a:r>
            <a:r>
              <a:rPr lang="en-US" sz="1600" dirty="0"/>
              <a:t>as </a:t>
            </a:r>
            <a:r>
              <a:rPr lang="en-US" sz="1600" b="1" dirty="0">
                <a:solidFill>
                  <a:schemeClr val="accent6">
                    <a:lumMod val="75000"/>
                  </a:schemeClr>
                </a:solidFill>
              </a:rPr>
              <a:t>switching frequency</a:t>
            </a:r>
            <a:r>
              <a:rPr lang="en-US" sz="1600" dirty="0"/>
              <a:t>, </a:t>
            </a:r>
            <a:r>
              <a:rPr lang="en-US" sz="1600" b="1" dirty="0">
                <a:solidFill>
                  <a:schemeClr val="accent6">
                    <a:lumMod val="75000"/>
                  </a:schemeClr>
                </a:solidFill>
              </a:rPr>
              <a:t>voltage ripple </a:t>
            </a:r>
            <a:r>
              <a:rPr lang="en-US" sz="1600" b="1" dirty="0" smtClean="0">
                <a:solidFill>
                  <a:schemeClr val="accent6">
                    <a:lumMod val="75000"/>
                  </a:schemeClr>
                </a:solidFill>
              </a:rPr>
              <a:t>requirements</a:t>
            </a:r>
            <a:r>
              <a:rPr lang="en-US" sz="1600" dirty="0" smtClean="0">
                <a:solidFill>
                  <a:schemeClr val="accent6">
                    <a:lumMod val="75000"/>
                  </a:schemeClr>
                </a:solidFill>
              </a:rPr>
              <a:t>, </a:t>
            </a:r>
            <a:r>
              <a:rPr lang="fr-FR" sz="1600" b="1" dirty="0" smtClean="0">
                <a:solidFill>
                  <a:schemeClr val="accent6">
                    <a:lumMod val="75000"/>
                  </a:schemeClr>
                </a:solidFill>
              </a:rPr>
              <a:t>line </a:t>
            </a:r>
            <a:r>
              <a:rPr lang="fr-FR" sz="1600" b="1" dirty="0" err="1">
                <a:solidFill>
                  <a:schemeClr val="accent6">
                    <a:lumMod val="75000"/>
                  </a:schemeClr>
                </a:solidFill>
              </a:rPr>
              <a:t>current</a:t>
            </a:r>
            <a:r>
              <a:rPr lang="fr-FR" sz="1600" dirty="0">
                <a:solidFill>
                  <a:schemeClr val="accent6">
                    <a:lumMod val="75000"/>
                  </a:schemeClr>
                </a:solidFill>
              </a:rPr>
              <a:t>, </a:t>
            </a:r>
            <a:r>
              <a:rPr lang="fr-FR" sz="1600" b="1" dirty="0">
                <a:solidFill>
                  <a:schemeClr val="accent6">
                    <a:lumMod val="75000"/>
                  </a:schemeClr>
                </a:solidFill>
              </a:rPr>
              <a:t>modulation technique</a:t>
            </a:r>
            <a:r>
              <a:rPr lang="fr-FR" sz="1600" dirty="0"/>
              <a:t>, etc.</a:t>
            </a:r>
            <a:endParaRPr lang="sv-SE" sz="1600" dirty="0"/>
          </a:p>
        </p:txBody>
      </p:sp>
      <p:sp>
        <p:nvSpPr>
          <p:cNvPr id="4" name="Rectangle 3"/>
          <p:cNvSpPr/>
          <p:nvPr/>
        </p:nvSpPr>
        <p:spPr>
          <a:xfrm>
            <a:off x="762000" y="2260796"/>
            <a:ext cx="5867400" cy="1815882"/>
          </a:xfrm>
          <a:prstGeom prst="rect">
            <a:avLst/>
          </a:prstGeom>
        </p:spPr>
        <p:txBody>
          <a:bodyPr wrap="square">
            <a:spAutoFit/>
          </a:bodyPr>
          <a:lstStyle/>
          <a:p>
            <a:pPr algn="just"/>
            <a:r>
              <a:rPr lang="en-US" sz="1600" dirty="0"/>
              <a:t>Certain assumptions have been </a:t>
            </a:r>
            <a:r>
              <a:rPr lang="en-US" sz="1600" dirty="0" smtClean="0"/>
              <a:t>made:</a:t>
            </a:r>
          </a:p>
          <a:p>
            <a:pPr marL="285750" indent="-285750" algn="just">
              <a:buFont typeface="Arial" panose="020B0604020202020204" pitchFamily="34" charset="0"/>
              <a:buChar char="•"/>
            </a:pPr>
            <a:endParaRPr lang="en-US" sz="1600" dirty="0" smtClean="0"/>
          </a:p>
          <a:p>
            <a:pPr marL="285750" indent="-285750" algn="just">
              <a:buFont typeface="Arial" panose="020B0604020202020204" pitchFamily="34" charset="0"/>
              <a:buChar char="•"/>
            </a:pPr>
            <a:r>
              <a:rPr lang="en-US" sz="1600" dirty="0" smtClean="0"/>
              <a:t>The modulation </a:t>
            </a:r>
            <a:r>
              <a:rPr lang="en-US" sz="1600" dirty="0"/>
              <a:t>technique </a:t>
            </a:r>
            <a:r>
              <a:rPr lang="en-US" sz="1600" dirty="0" smtClean="0"/>
              <a:t>chosen is </a:t>
            </a:r>
            <a:r>
              <a:rPr lang="en-US" sz="1600" b="1" dirty="0">
                <a:solidFill>
                  <a:schemeClr val="accent6">
                    <a:lumMod val="75000"/>
                  </a:schemeClr>
                </a:solidFill>
              </a:rPr>
              <a:t>carrier-based sinusoidal pulse width modulation</a:t>
            </a:r>
            <a:r>
              <a:rPr lang="en-US" sz="1600" b="1" dirty="0">
                <a:solidFill>
                  <a:schemeClr val="accent6">
                    <a:lumMod val="50000"/>
                  </a:schemeClr>
                </a:solidFill>
              </a:rPr>
              <a:t> </a:t>
            </a:r>
            <a:r>
              <a:rPr lang="en-US" sz="1600" dirty="0"/>
              <a:t>(PWM</a:t>
            </a:r>
            <a:r>
              <a:rPr lang="en-US" sz="1600" dirty="0" smtClean="0"/>
              <a:t>).</a:t>
            </a:r>
            <a:endParaRPr lang="en-US" sz="1600" dirty="0"/>
          </a:p>
          <a:p>
            <a:pPr marL="285750" indent="-285750" algn="just">
              <a:buFont typeface="Arial" panose="020B0604020202020204" pitchFamily="34" charset="0"/>
              <a:buChar char="•"/>
            </a:pPr>
            <a:r>
              <a:rPr lang="en-US" sz="1600" dirty="0" smtClean="0"/>
              <a:t>The line </a:t>
            </a:r>
            <a:r>
              <a:rPr lang="en-US" sz="1600" dirty="0"/>
              <a:t>current is considered </a:t>
            </a:r>
            <a:r>
              <a:rPr lang="en-US" sz="1600" b="1" dirty="0">
                <a:solidFill>
                  <a:schemeClr val="accent6">
                    <a:lumMod val="75000"/>
                  </a:schemeClr>
                </a:solidFill>
              </a:rPr>
              <a:t>pure sinusoidal. </a:t>
            </a:r>
            <a:endParaRPr lang="en-US" sz="1600" b="1" dirty="0" smtClean="0">
              <a:solidFill>
                <a:schemeClr val="accent6">
                  <a:lumMod val="75000"/>
                </a:schemeClr>
              </a:solidFill>
            </a:endParaRPr>
          </a:p>
          <a:p>
            <a:pPr marL="285750" indent="-285750" algn="just">
              <a:buFont typeface="Arial" panose="020B0604020202020204" pitchFamily="34" charset="0"/>
              <a:buChar char="•"/>
            </a:pPr>
            <a:r>
              <a:rPr lang="en-US" sz="1600" b="1" dirty="0" smtClean="0">
                <a:solidFill>
                  <a:schemeClr val="accent6">
                    <a:lumMod val="75000"/>
                  </a:schemeClr>
                </a:solidFill>
              </a:rPr>
              <a:t>All </a:t>
            </a:r>
            <a:r>
              <a:rPr lang="en-US" sz="1600" b="1" dirty="0">
                <a:solidFill>
                  <a:schemeClr val="accent6">
                    <a:lumMod val="75000"/>
                  </a:schemeClr>
                </a:solidFill>
              </a:rPr>
              <a:t>harmonics </a:t>
            </a:r>
            <a:r>
              <a:rPr lang="en-US" sz="1600" dirty="0"/>
              <a:t>are considered to be provided by the </a:t>
            </a:r>
            <a:r>
              <a:rPr lang="en-US" sz="1600" dirty="0" smtClean="0"/>
              <a:t>DC-link capacitors</a:t>
            </a:r>
            <a:r>
              <a:rPr lang="en-US" sz="1600" dirty="0"/>
              <a:t>, whereas DC current comes from the battery.</a:t>
            </a:r>
            <a:endParaRPr lang="sv-SE" sz="1600" dirty="0"/>
          </a:p>
        </p:txBody>
      </p:sp>
      <p:sp>
        <p:nvSpPr>
          <p:cNvPr id="5" name="Rectangle 4"/>
          <p:cNvSpPr/>
          <p:nvPr/>
        </p:nvSpPr>
        <p:spPr>
          <a:xfrm>
            <a:off x="762000" y="4234967"/>
            <a:ext cx="5867400" cy="584775"/>
          </a:xfrm>
          <a:prstGeom prst="rect">
            <a:avLst/>
          </a:prstGeom>
        </p:spPr>
        <p:txBody>
          <a:bodyPr wrap="square">
            <a:spAutoFit/>
          </a:bodyPr>
          <a:lstStyle/>
          <a:p>
            <a:pPr algn="just"/>
            <a:r>
              <a:rPr lang="en-US" sz="1600" dirty="0" smtClean="0">
                <a:latin typeface="+mj-lt"/>
              </a:rPr>
              <a:t>The </a:t>
            </a:r>
            <a:r>
              <a:rPr lang="en-US" sz="1600" dirty="0">
                <a:latin typeface="+mj-lt"/>
              </a:rPr>
              <a:t>capacitor current in the time </a:t>
            </a:r>
            <a:r>
              <a:rPr lang="en-US" sz="1600" dirty="0" smtClean="0">
                <a:latin typeface="+mj-lt"/>
              </a:rPr>
              <a:t>domain (I</a:t>
            </a:r>
            <a:r>
              <a:rPr lang="en-US" sz="700" dirty="0" smtClean="0">
                <a:latin typeface="+mj-lt"/>
              </a:rPr>
              <a:t>C</a:t>
            </a:r>
            <a:r>
              <a:rPr lang="en-US" sz="1600" dirty="0" smtClean="0">
                <a:latin typeface="+mj-lt"/>
              </a:rPr>
              <a:t>(t</a:t>
            </a:r>
            <a:r>
              <a:rPr lang="en-US" sz="1600" dirty="0">
                <a:latin typeface="+mj-lt"/>
              </a:rPr>
              <a:t>)) can be calculated as given by</a:t>
            </a:r>
            <a:endParaRPr lang="sv-SE" sz="1600" dirty="0">
              <a:latin typeface="+mj-lt"/>
            </a:endParaRPr>
          </a:p>
        </p:txBody>
      </p:sp>
      <p:pic>
        <p:nvPicPr>
          <p:cNvPr id="6" name="Picture 5"/>
          <p:cNvPicPr>
            <a:picLocks noChangeAspect="1"/>
          </p:cNvPicPr>
          <p:nvPr/>
        </p:nvPicPr>
        <p:blipFill>
          <a:blip r:embed="rId2"/>
          <a:stretch>
            <a:fillRect/>
          </a:stretch>
        </p:blipFill>
        <p:spPr>
          <a:xfrm>
            <a:off x="2343876" y="4793395"/>
            <a:ext cx="2972148" cy="933659"/>
          </a:xfrm>
          <a:prstGeom prst="rect">
            <a:avLst/>
          </a:prstGeom>
        </p:spPr>
      </p:pic>
      <p:sp>
        <p:nvSpPr>
          <p:cNvPr id="7" name="Rectangle 6"/>
          <p:cNvSpPr/>
          <p:nvPr/>
        </p:nvSpPr>
        <p:spPr>
          <a:xfrm>
            <a:off x="744024" y="5727054"/>
            <a:ext cx="5962860" cy="584775"/>
          </a:xfrm>
          <a:prstGeom prst="rect">
            <a:avLst/>
          </a:prstGeom>
        </p:spPr>
        <p:txBody>
          <a:bodyPr wrap="square">
            <a:spAutoFit/>
          </a:bodyPr>
          <a:lstStyle/>
          <a:p>
            <a:pPr algn="just"/>
            <a:r>
              <a:rPr lang="en-US" sz="1600" dirty="0"/>
              <a:t>where S</a:t>
            </a:r>
            <a:r>
              <a:rPr lang="en-US" sz="700" dirty="0"/>
              <a:t>n</a:t>
            </a:r>
            <a:r>
              <a:rPr lang="en-US" sz="1600" dirty="0"/>
              <a:t>(t) is the </a:t>
            </a:r>
            <a:r>
              <a:rPr lang="en-US" sz="1600" b="1" dirty="0">
                <a:solidFill>
                  <a:schemeClr val="accent6">
                    <a:lumMod val="75000"/>
                  </a:schemeClr>
                </a:solidFill>
              </a:rPr>
              <a:t>switching function </a:t>
            </a:r>
            <a:r>
              <a:rPr lang="en-US" sz="1600" dirty="0"/>
              <a:t>of the top switches </a:t>
            </a:r>
            <a:r>
              <a:rPr lang="en-US" sz="1600" dirty="0" smtClean="0"/>
              <a:t>of the </a:t>
            </a:r>
            <a:r>
              <a:rPr lang="en-US" sz="1600" dirty="0"/>
              <a:t>n</a:t>
            </a:r>
            <a:r>
              <a:rPr lang="en-US" sz="700" dirty="0"/>
              <a:t>th </a:t>
            </a:r>
            <a:r>
              <a:rPr lang="en-US" sz="700" dirty="0" smtClean="0"/>
              <a:t> </a:t>
            </a:r>
            <a:r>
              <a:rPr lang="en-US" sz="1600" dirty="0" smtClean="0"/>
              <a:t>phase </a:t>
            </a:r>
            <a:r>
              <a:rPr lang="en-US" sz="1600" dirty="0"/>
              <a:t>and I</a:t>
            </a:r>
            <a:r>
              <a:rPr lang="en-US" sz="700" dirty="0"/>
              <a:t>n</a:t>
            </a:r>
            <a:r>
              <a:rPr lang="en-US" sz="1600" dirty="0"/>
              <a:t>(t) is </a:t>
            </a:r>
            <a:r>
              <a:rPr lang="en-US" sz="1600" b="1" dirty="0">
                <a:solidFill>
                  <a:schemeClr val="accent6">
                    <a:lumMod val="75000"/>
                  </a:schemeClr>
                </a:solidFill>
              </a:rPr>
              <a:t>the current </a:t>
            </a:r>
            <a:r>
              <a:rPr lang="en-US" sz="1600" dirty="0"/>
              <a:t>of the n</a:t>
            </a:r>
            <a:r>
              <a:rPr lang="en-US" sz="700" dirty="0"/>
              <a:t>th </a:t>
            </a:r>
            <a:r>
              <a:rPr lang="en-US" sz="1600" dirty="0" smtClean="0"/>
              <a:t>phase.</a:t>
            </a:r>
            <a:endParaRPr lang="sv-SE" sz="1600" dirty="0"/>
          </a:p>
        </p:txBody>
      </p:sp>
      <p:sp>
        <p:nvSpPr>
          <p:cNvPr id="8" name="Rectangle 7"/>
          <p:cNvSpPr/>
          <p:nvPr/>
        </p:nvSpPr>
        <p:spPr>
          <a:xfrm>
            <a:off x="6724860" y="1346749"/>
            <a:ext cx="5305425" cy="830997"/>
          </a:xfrm>
          <a:prstGeom prst="rect">
            <a:avLst/>
          </a:prstGeom>
        </p:spPr>
        <p:txBody>
          <a:bodyPr wrap="square">
            <a:spAutoFit/>
          </a:bodyPr>
          <a:lstStyle/>
          <a:p>
            <a:pPr algn="just"/>
            <a:r>
              <a:rPr lang="en-US" sz="1600" dirty="0"/>
              <a:t>The </a:t>
            </a:r>
            <a:r>
              <a:rPr lang="en-US" sz="1600" b="1" dirty="0">
                <a:solidFill>
                  <a:schemeClr val="accent6">
                    <a:lumMod val="75000"/>
                  </a:schemeClr>
                </a:solidFill>
              </a:rPr>
              <a:t>switching functions </a:t>
            </a:r>
            <a:r>
              <a:rPr lang="en-US" sz="1600" dirty="0"/>
              <a:t>(S</a:t>
            </a:r>
            <a:r>
              <a:rPr lang="en-US" sz="700" dirty="0"/>
              <a:t>n</a:t>
            </a:r>
            <a:r>
              <a:rPr lang="en-US" sz="1600" dirty="0"/>
              <a:t>(t)) are different in 2-level </a:t>
            </a:r>
            <a:r>
              <a:rPr lang="en-US" sz="1600" dirty="0" smtClean="0"/>
              <a:t>and 3-level </a:t>
            </a:r>
            <a:r>
              <a:rPr lang="en-US" sz="1600" dirty="0"/>
              <a:t>inverters, and they can be calculated by using </a:t>
            </a:r>
            <a:r>
              <a:rPr lang="en-US" sz="1600" b="1" dirty="0" smtClean="0">
                <a:solidFill>
                  <a:schemeClr val="accent6">
                    <a:lumMod val="75000"/>
                  </a:schemeClr>
                </a:solidFill>
              </a:rPr>
              <a:t>double Fourier </a:t>
            </a:r>
            <a:r>
              <a:rPr lang="en-US" sz="1600" b="1" dirty="0">
                <a:solidFill>
                  <a:schemeClr val="accent6">
                    <a:lumMod val="75000"/>
                  </a:schemeClr>
                </a:solidFill>
              </a:rPr>
              <a:t>series expansions </a:t>
            </a:r>
            <a:r>
              <a:rPr lang="en-US" sz="1600" dirty="0"/>
              <a:t>as given by</a:t>
            </a:r>
            <a:endParaRPr lang="sv-SE" sz="1600" dirty="0"/>
          </a:p>
        </p:txBody>
      </p:sp>
      <p:pic>
        <p:nvPicPr>
          <p:cNvPr id="9" name="Picture 8"/>
          <p:cNvPicPr>
            <a:picLocks noChangeAspect="1"/>
          </p:cNvPicPr>
          <p:nvPr/>
        </p:nvPicPr>
        <p:blipFill>
          <a:blip r:embed="rId3"/>
          <a:stretch>
            <a:fillRect/>
          </a:stretch>
        </p:blipFill>
        <p:spPr>
          <a:xfrm>
            <a:off x="7713977" y="2260796"/>
            <a:ext cx="3592198" cy="1878751"/>
          </a:xfrm>
          <a:prstGeom prst="rect">
            <a:avLst/>
          </a:prstGeom>
        </p:spPr>
      </p:pic>
      <p:sp>
        <p:nvSpPr>
          <p:cNvPr id="10" name="Rectangle 9"/>
          <p:cNvSpPr/>
          <p:nvPr/>
        </p:nvSpPr>
        <p:spPr>
          <a:xfrm>
            <a:off x="6879335" y="4341878"/>
            <a:ext cx="5150950" cy="584775"/>
          </a:xfrm>
          <a:prstGeom prst="rect">
            <a:avLst/>
          </a:prstGeom>
        </p:spPr>
        <p:txBody>
          <a:bodyPr wrap="square">
            <a:spAutoFit/>
          </a:bodyPr>
          <a:lstStyle/>
          <a:p>
            <a:pPr algn="just"/>
            <a:r>
              <a:rPr lang="sv-SE" sz="1600" dirty="0"/>
              <a:t>Given </a:t>
            </a:r>
            <a:r>
              <a:rPr lang="sv-SE" sz="1600" dirty="0" smtClean="0"/>
              <a:t>the </a:t>
            </a:r>
            <a:r>
              <a:rPr lang="en-US" sz="1600" dirty="0" smtClean="0"/>
              <a:t>switching </a:t>
            </a:r>
            <a:r>
              <a:rPr lang="en-US" sz="1600" dirty="0"/>
              <a:t>functions, the capacitance requirement is </a:t>
            </a:r>
            <a:r>
              <a:rPr lang="en-US" sz="1600" b="1" dirty="0" smtClean="0">
                <a:solidFill>
                  <a:schemeClr val="accent6">
                    <a:lumMod val="75000"/>
                  </a:schemeClr>
                </a:solidFill>
              </a:rPr>
              <a:t>numerically</a:t>
            </a:r>
            <a:r>
              <a:rPr lang="en-US" sz="1600" dirty="0" smtClean="0"/>
              <a:t> </a:t>
            </a:r>
            <a:r>
              <a:rPr lang="sv-SE" sz="1600" dirty="0" err="1" smtClean="0"/>
              <a:t>calculated</a:t>
            </a:r>
            <a:r>
              <a:rPr lang="sv-SE" sz="1600" dirty="0" smtClean="0"/>
              <a:t> </a:t>
            </a:r>
            <a:r>
              <a:rPr lang="sv-SE" sz="1600" dirty="0"/>
              <a:t>as given by</a:t>
            </a:r>
          </a:p>
        </p:txBody>
      </p:sp>
      <p:pic>
        <p:nvPicPr>
          <p:cNvPr id="11" name="Picture 10"/>
          <p:cNvPicPr>
            <a:picLocks noChangeAspect="1"/>
          </p:cNvPicPr>
          <p:nvPr/>
        </p:nvPicPr>
        <p:blipFill>
          <a:blip r:embed="rId4"/>
          <a:stretch>
            <a:fillRect/>
          </a:stretch>
        </p:blipFill>
        <p:spPr>
          <a:xfrm>
            <a:off x="7055007" y="5216318"/>
            <a:ext cx="4622643" cy="703213"/>
          </a:xfrm>
          <a:prstGeom prst="rect">
            <a:avLst/>
          </a:prstGeom>
        </p:spPr>
      </p:pic>
      <p:sp>
        <p:nvSpPr>
          <p:cNvPr id="13" name="Rectangle 12"/>
          <p:cNvSpPr/>
          <p:nvPr/>
        </p:nvSpPr>
        <p:spPr>
          <a:xfrm>
            <a:off x="6986789" y="6043689"/>
            <a:ext cx="5046574" cy="338554"/>
          </a:xfrm>
          <a:prstGeom prst="rect">
            <a:avLst/>
          </a:prstGeom>
        </p:spPr>
        <p:txBody>
          <a:bodyPr wrap="none">
            <a:spAutoFit/>
          </a:bodyPr>
          <a:lstStyle/>
          <a:p>
            <a:r>
              <a:rPr lang="en-US" sz="1600" dirty="0"/>
              <a:t>where ΔV </a:t>
            </a:r>
            <a:r>
              <a:rPr lang="en-US" sz="700" dirty="0"/>
              <a:t>pp </a:t>
            </a:r>
            <a:r>
              <a:rPr lang="en-US" sz="1600" dirty="0"/>
              <a:t>is a specific </a:t>
            </a:r>
            <a:r>
              <a:rPr lang="en-US" sz="1600" b="1" dirty="0">
                <a:solidFill>
                  <a:schemeClr val="accent6">
                    <a:lumMod val="50000"/>
                  </a:schemeClr>
                </a:solidFill>
              </a:rPr>
              <a:t>peak-to-peak voltage </a:t>
            </a:r>
            <a:r>
              <a:rPr lang="en-US" sz="1600" b="1" dirty="0" smtClean="0">
                <a:solidFill>
                  <a:schemeClr val="accent6">
                    <a:lumMod val="50000"/>
                  </a:schemeClr>
                </a:solidFill>
              </a:rPr>
              <a:t>ripple</a:t>
            </a:r>
            <a:r>
              <a:rPr lang="en-US" sz="1600" dirty="0" smtClean="0"/>
              <a:t>.</a:t>
            </a:r>
            <a:endParaRPr lang="sv-SE" sz="1600" dirty="0"/>
          </a:p>
        </p:txBody>
      </p:sp>
      <p:sp>
        <p:nvSpPr>
          <p:cNvPr id="14" name="Slide Number Placeholder 13"/>
          <p:cNvSpPr>
            <a:spLocks noGrp="1"/>
          </p:cNvSpPr>
          <p:nvPr>
            <p:ph type="sldNum" sz="quarter" idx="12"/>
          </p:nvPr>
        </p:nvSpPr>
        <p:spPr/>
        <p:txBody>
          <a:bodyPr/>
          <a:lstStyle/>
          <a:p>
            <a:fld id="{B716C8F4-20CD-364A-8A8E-DE130115B178}" type="slidenum">
              <a:rPr lang="sv-SE" smtClean="0"/>
              <a:t>9</a:t>
            </a:fld>
            <a:endParaRPr lang="sv-SE"/>
          </a:p>
        </p:txBody>
      </p:sp>
    </p:spTree>
    <p:extLst>
      <p:ext uri="{BB962C8B-B14F-4D97-AF65-F5344CB8AC3E}">
        <p14:creationId xmlns:p14="http://schemas.microsoft.com/office/powerpoint/2010/main" val="3598707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smtClean="0">
                <a:solidFill>
                  <a:schemeClr val="accent6">
                    <a:lumMod val="50000"/>
                  </a:schemeClr>
                </a:solidFill>
              </a:rPr>
              <a:t>Output </a:t>
            </a:r>
            <a:r>
              <a:rPr lang="sv-SE" sz="3200" dirty="0" err="1" smtClean="0">
                <a:solidFill>
                  <a:schemeClr val="accent6">
                    <a:lumMod val="50000"/>
                  </a:schemeClr>
                </a:solidFill>
              </a:rPr>
              <a:t>Harmonics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14" name="Rectangle 13"/>
          <p:cNvSpPr/>
          <p:nvPr/>
        </p:nvSpPr>
        <p:spPr>
          <a:xfrm>
            <a:off x="1315453" y="1315802"/>
            <a:ext cx="9733547" cy="369332"/>
          </a:xfrm>
          <a:prstGeom prst="rect">
            <a:avLst/>
          </a:prstGeom>
        </p:spPr>
        <p:txBody>
          <a:bodyPr wrap="square">
            <a:spAutoFit/>
          </a:bodyPr>
          <a:lstStyle/>
          <a:p>
            <a:r>
              <a:rPr lang="en-US" dirty="0"/>
              <a:t>The switching functions </a:t>
            </a:r>
            <a:r>
              <a:rPr lang="en-US" dirty="0" smtClean="0"/>
              <a:t>are </a:t>
            </a:r>
            <a:r>
              <a:rPr lang="en-US" dirty="0"/>
              <a:t>used to calculate </a:t>
            </a:r>
            <a:r>
              <a:rPr lang="en-US" b="1" dirty="0" smtClean="0">
                <a:solidFill>
                  <a:schemeClr val="accent6">
                    <a:lumMod val="75000"/>
                  </a:schemeClr>
                </a:solidFill>
              </a:rPr>
              <a:t>the differential </a:t>
            </a:r>
            <a:r>
              <a:rPr lang="en-US" b="1" dirty="0">
                <a:solidFill>
                  <a:schemeClr val="accent6">
                    <a:lumMod val="75000"/>
                  </a:schemeClr>
                </a:solidFill>
              </a:rPr>
              <a:t>output harmonics </a:t>
            </a:r>
            <a:r>
              <a:rPr lang="en-US" dirty="0"/>
              <a:t>as given by</a:t>
            </a:r>
            <a:endParaRPr lang="sv-SE" dirty="0"/>
          </a:p>
        </p:txBody>
      </p:sp>
      <p:pic>
        <p:nvPicPr>
          <p:cNvPr id="15" name="Picture 14"/>
          <p:cNvPicPr>
            <a:picLocks noChangeAspect="1"/>
          </p:cNvPicPr>
          <p:nvPr/>
        </p:nvPicPr>
        <p:blipFill>
          <a:blip r:embed="rId2"/>
          <a:stretch>
            <a:fillRect/>
          </a:stretch>
        </p:blipFill>
        <p:spPr>
          <a:xfrm>
            <a:off x="3419475" y="2077797"/>
            <a:ext cx="4759325" cy="500099"/>
          </a:xfrm>
          <a:prstGeom prst="rect">
            <a:avLst/>
          </a:prstGeom>
        </p:spPr>
      </p:pic>
      <p:sp>
        <p:nvSpPr>
          <p:cNvPr id="16" name="Rectangle 15"/>
          <p:cNvSpPr/>
          <p:nvPr/>
        </p:nvSpPr>
        <p:spPr>
          <a:xfrm>
            <a:off x="1192422" y="2944336"/>
            <a:ext cx="10378281" cy="646331"/>
          </a:xfrm>
          <a:prstGeom prst="rect">
            <a:avLst/>
          </a:prstGeom>
        </p:spPr>
        <p:txBody>
          <a:bodyPr wrap="square">
            <a:spAutoFit/>
          </a:bodyPr>
          <a:lstStyle/>
          <a:p>
            <a:r>
              <a:rPr lang="en-US" dirty="0"/>
              <a:t>Since the load of the inverter is inductive, the </a:t>
            </a:r>
            <a:r>
              <a:rPr lang="en-US" dirty="0" smtClean="0"/>
              <a:t>harmonic component’s </a:t>
            </a:r>
            <a:r>
              <a:rPr lang="en-US" dirty="0"/>
              <a:t>impact decreases </a:t>
            </a:r>
            <a:r>
              <a:rPr lang="en-US" dirty="0" smtClean="0"/>
              <a:t>while increasing </a:t>
            </a:r>
            <a:r>
              <a:rPr lang="en-US" dirty="0"/>
              <a:t>the </a:t>
            </a:r>
            <a:r>
              <a:rPr lang="en-US" dirty="0" smtClean="0"/>
              <a:t>harmonic numbers</a:t>
            </a:r>
            <a:r>
              <a:rPr lang="en-US" dirty="0"/>
              <a:t>. Therefore, </a:t>
            </a:r>
            <a:r>
              <a:rPr lang="en-US" b="1" dirty="0">
                <a:solidFill>
                  <a:schemeClr val="accent6">
                    <a:lumMod val="75000"/>
                  </a:schemeClr>
                </a:solidFill>
              </a:rPr>
              <a:t>weighted total harmonic distortion</a:t>
            </a:r>
            <a:r>
              <a:rPr lang="en-US" dirty="0"/>
              <a:t>, </a:t>
            </a:r>
            <a:r>
              <a:rPr lang="en-US" dirty="0" smtClean="0"/>
              <a:t>as </a:t>
            </a:r>
            <a:r>
              <a:rPr lang="sv-SE" dirty="0" smtClean="0"/>
              <a:t>given </a:t>
            </a:r>
            <a:r>
              <a:rPr lang="sv-SE" dirty="0"/>
              <a:t>by</a:t>
            </a:r>
          </a:p>
        </p:txBody>
      </p:sp>
      <p:pic>
        <p:nvPicPr>
          <p:cNvPr id="17" name="Picture 16"/>
          <p:cNvPicPr>
            <a:picLocks noChangeAspect="1"/>
          </p:cNvPicPr>
          <p:nvPr/>
        </p:nvPicPr>
        <p:blipFill>
          <a:blip r:embed="rId3"/>
          <a:stretch>
            <a:fillRect/>
          </a:stretch>
        </p:blipFill>
        <p:spPr>
          <a:xfrm>
            <a:off x="3668712" y="3831663"/>
            <a:ext cx="4133850" cy="1304925"/>
          </a:xfrm>
          <a:prstGeom prst="rect">
            <a:avLst/>
          </a:prstGeom>
        </p:spPr>
      </p:pic>
      <p:sp>
        <p:nvSpPr>
          <p:cNvPr id="18" name="Rectangle 17"/>
          <p:cNvSpPr/>
          <p:nvPr/>
        </p:nvSpPr>
        <p:spPr>
          <a:xfrm>
            <a:off x="1715503" y="5376192"/>
            <a:ext cx="9766300" cy="369332"/>
          </a:xfrm>
          <a:prstGeom prst="rect">
            <a:avLst/>
          </a:prstGeom>
        </p:spPr>
        <p:txBody>
          <a:bodyPr wrap="square">
            <a:spAutoFit/>
          </a:bodyPr>
          <a:lstStyle/>
          <a:p>
            <a:r>
              <a:rPr lang="en-US" dirty="0"/>
              <a:t>which can be used as an </a:t>
            </a:r>
            <a:r>
              <a:rPr lang="en-US" b="1" dirty="0">
                <a:solidFill>
                  <a:schemeClr val="accent6">
                    <a:lumMod val="75000"/>
                  </a:schemeClr>
                </a:solidFill>
              </a:rPr>
              <a:t>indicator for the harmonic </a:t>
            </a:r>
            <a:r>
              <a:rPr lang="en-US" b="1" dirty="0" smtClean="0">
                <a:solidFill>
                  <a:schemeClr val="accent6">
                    <a:lumMod val="75000"/>
                  </a:schemeClr>
                </a:solidFill>
              </a:rPr>
              <a:t>quality </a:t>
            </a:r>
            <a:r>
              <a:rPr lang="sv-SE" b="1" dirty="0" err="1" smtClean="0">
                <a:solidFill>
                  <a:schemeClr val="accent6">
                    <a:lumMod val="75000"/>
                  </a:schemeClr>
                </a:solidFill>
              </a:rPr>
              <a:t>of</a:t>
            </a:r>
            <a:r>
              <a:rPr lang="sv-SE" b="1" dirty="0" smtClean="0">
                <a:solidFill>
                  <a:schemeClr val="accent6">
                    <a:lumMod val="75000"/>
                  </a:schemeClr>
                </a:solidFill>
              </a:rPr>
              <a:t> </a:t>
            </a:r>
            <a:r>
              <a:rPr lang="sv-SE" b="1" dirty="0">
                <a:solidFill>
                  <a:schemeClr val="accent6">
                    <a:lumMod val="75000"/>
                  </a:schemeClr>
                </a:solidFill>
              </a:rPr>
              <a:t>the </a:t>
            </a:r>
            <a:r>
              <a:rPr lang="sv-SE" b="1" dirty="0" smtClean="0">
                <a:solidFill>
                  <a:schemeClr val="accent6">
                    <a:lumMod val="75000"/>
                  </a:schemeClr>
                </a:solidFill>
              </a:rPr>
              <a:t>output</a:t>
            </a:r>
            <a:r>
              <a:rPr lang="sv-SE" dirty="0" smtClean="0">
                <a:solidFill>
                  <a:schemeClr val="accent6">
                    <a:lumMod val="75000"/>
                  </a:schemeClr>
                </a:solidFill>
              </a:rPr>
              <a:t>.</a:t>
            </a:r>
            <a:endParaRPr lang="sv-SE" dirty="0">
              <a:solidFill>
                <a:schemeClr val="accent6">
                  <a:lumMod val="75000"/>
                </a:schemeClr>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t>10</a:t>
            </a:fld>
            <a:endParaRPr lang="sv-SE"/>
          </a:p>
        </p:txBody>
      </p:sp>
    </p:spTree>
    <p:extLst>
      <p:ext uri="{BB962C8B-B14F-4D97-AF65-F5344CB8AC3E}">
        <p14:creationId xmlns:p14="http://schemas.microsoft.com/office/powerpoint/2010/main" val="1576428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Results</a:t>
            </a:r>
            <a:r>
              <a:rPr lang="sv-SE" sz="3200" dirty="0" smtClean="0">
                <a:solidFill>
                  <a:schemeClr val="accent6">
                    <a:lumMod val="50000"/>
                  </a:schemeClr>
                </a:solidFill>
              </a:rPr>
              <a:t> – </a:t>
            </a:r>
            <a:r>
              <a:rPr lang="sv-SE" sz="3200" dirty="0" err="1" smtClean="0">
                <a:solidFill>
                  <a:schemeClr val="accent6">
                    <a:lumMod val="50000"/>
                  </a:schemeClr>
                </a:solidFill>
              </a:rPr>
              <a:t>Die</a:t>
            </a:r>
            <a:r>
              <a:rPr lang="sv-SE" sz="3200" dirty="0" smtClean="0">
                <a:solidFill>
                  <a:schemeClr val="accent6">
                    <a:lumMod val="50000"/>
                  </a:schemeClr>
                </a:solidFill>
              </a:rPr>
              <a:t> Area and </a:t>
            </a:r>
            <a:r>
              <a:rPr lang="sv-SE" sz="3200" dirty="0" err="1" smtClean="0">
                <a:solidFill>
                  <a:schemeClr val="accent6">
                    <a:lumMod val="50000"/>
                  </a:schemeClr>
                </a:solidFill>
              </a:rPr>
              <a:t>Switching</a:t>
            </a:r>
            <a:r>
              <a:rPr lang="sv-SE" sz="3200" dirty="0" smtClean="0">
                <a:solidFill>
                  <a:schemeClr val="accent6">
                    <a:lumMod val="50000"/>
                  </a:schemeClr>
                </a:solidFill>
              </a:rPr>
              <a:t> </a:t>
            </a:r>
            <a:r>
              <a:rPr lang="sv-SE" sz="3200" dirty="0" err="1" smtClean="0">
                <a:solidFill>
                  <a:schemeClr val="accent6">
                    <a:lumMod val="50000"/>
                  </a:schemeClr>
                </a:solidFill>
              </a:rPr>
              <a:t>Frequency</a:t>
            </a:r>
            <a:r>
              <a:rPr lang="sv-SE" sz="3200" dirty="0" smtClean="0">
                <a:solidFill>
                  <a:schemeClr val="accent6">
                    <a:lumMod val="50000"/>
                  </a:schemeClr>
                </a:solidFill>
              </a:rPr>
              <a:t> </a:t>
            </a:r>
            <a:r>
              <a:rPr lang="sv-SE" sz="3200" dirty="0" err="1" smtClean="0">
                <a:solidFill>
                  <a:schemeClr val="accent6">
                    <a:lumMod val="50000"/>
                  </a:schemeClr>
                </a:solidFill>
              </a:rPr>
              <a:t>Selection</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628650" y="1324161"/>
            <a:ext cx="10934700" cy="584775"/>
          </a:xfrm>
          <a:prstGeom prst="rect">
            <a:avLst/>
          </a:prstGeom>
        </p:spPr>
        <p:txBody>
          <a:bodyPr wrap="square">
            <a:spAutoFit/>
          </a:bodyPr>
          <a:lstStyle/>
          <a:p>
            <a:pPr algn="just"/>
            <a:r>
              <a:rPr lang="en-US" sz="1600" dirty="0"/>
              <a:t>The </a:t>
            </a:r>
            <a:r>
              <a:rPr lang="en-US" sz="1600" b="1" dirty="0">
                <a:solidFill>
                  <a:schemeClr val="accent6">
                    <a:lumMod val="75000"/>
                  </a:schemeClr>
                </a:solidFill>
              </a:rPr>
              <a:t>efficiency assessment </a:t>
            </a:r>
            <a:r>
              <a:rPr lang="en-US" sz="1600" dirty="0"/>
              <a:t>of various topologies has </a:t>
            </a:r>
            <a:r>
              <a:rPr lang="en-US" sz="1600" dirty="0" smtClean="0"/>
              <a:t>been carried </a:t>
            </a:r>
            <a:r>
              <a:rPr lang="en-US" sz="1600" dirty="0"/>
              <a:t>out through </a:t>
            </a:r>
            <a:r>
              <a:rPr lang="en-US" sz="1600" b="1" dirty="0">
                <a:solidFill>
                  <a:schemeClr val="accent6">
                    <a:lumMod val="75000"/>
                  </a:schemeClr>
                </a:solidFill>
              </a:rPr>
              <a:t>a </a:t>
            </a:r>
            <a:r>
              <a:rPr lang="en-US" sz="1600" b="1" dirty="0" smtClean="0">
                <a:solidFill>
                  <a:schemeClr val="accent6">
                    <a:lumMod val="75000"/>
                  </a:schemeClr>
                </a:solidFill>
              </a:rPr>
              <a:t>sweep </a:t>
            </a:r>
            <a:r>
              <a:rPr lang="en-US" sz="1600" b="1" dirty="0">
                <a:solidFill>
                  <a:schemeClr val="accent6">
                    <a:lumMod val="75000"/>
                  </a:schemeClr>
                </a:solidFill>
              </a:rPr>
              <a:t>of die area </a:t>
            </a:r>
            <a:r>
              <a:rPr lang="en-US" sz="1600" dirty="0" smtClean="0"/>
              <a:t>and </a:t>
            </a:r>
            <a:r>
              <a:rPr lang="en-US" sz="1600" b="1" dirty="0" smtClean="0">
                <a:solidFill>
                  <a:schemeClr val="accent6">
                    <a:lumMod val="75000"/>
                  </a:schemeClr>
                </a:solidFill>
              </a:rPr>
              <a:t>switching </a:t>
            </a:r>
            <a:r>
              <a:rPr lang="en-US" sz="1600" b="1" dirty="0">
                <a:solidFill>
                  <a:schemeClr val="accent6">
                    <a:lumMod val="75000"/>
                  </a:schemeClr>
                </a:solidFill>
              </a:rPr>
              <a:t>frequency</a:t>
            </a:r>
            <a:r>
              <a:rPr lang="en-US" sz="1600" b="1" dirty="0">
                <a:solidFill>
                  <a:schemeClr val="accent6">
                    <a:lumMod val="50000"/>
                  </a:schemeClr>
                </a:solidFill>
              </a:rPr>
              <a:t> </a:t>
            </a:r>
            <a:r>
              <a:rPr lang="en-US" sz="1600" dirty="0"/>
              <a:t>to identify an </a:t>
            </a:r>
            <a:r>
              <a:rPr lang="en-US" sz="1600" b="1" dirty="0">
                <a:solidFill>
                  <a:schemeClr val="accent6">
                    <a:lumMod val="75000"/>
                  </a:schemeClr>
                </a:solidFill>
              </a:rPr>
              <a:t>optimal operation point </a:t>
            </a:r>
            <a:r>
              <a:rPr lang="en-US" sz="1600" dirty="0" smtClean="0"/>
              <a:t>that </a:t>
            </a:r>
            <a:r>
              <a:rPr lang="sv-SE" sz="1600" b="1" dirty="0" err="1" smtClean="0">
                <a:solidFill>
                  <a:schemeClr val="accent6">
                    <a:lumMod val="75000"/>
                  </a:schemeClr>
                </a:solidFill>
              </a:rPr>
              <a:t>minimizes</a:t>
            </a:r>
            <a:r>
              <a:rPr lang="sv-SE" sz="1600" b="1" dirty="0" smtClean="0">
                <a:solidFill>
                  <a:schemeClr val="accent6">
                    <a:lumMod val="75000"/>
                  </a:schemeClr>
                </a:solidFill>
              </a:rPr>
              <a:t> </a:t>
            </a:r>
            <a:r>
              <a:rPr lang="sv-SE" sz="1600" b="1" dirty="0" err="1">
                <a:solidFill>
                  <a:schemeClr val="accent6">
                    <a:lumMod val="75000"/>
                  </a:schemeClr>
                </a:solidFill>
              </a:rPr>
              <a:t>inverter</a:t>
            </a:r>
            <a:r>
              <a:rPr lang="sv-SE" sz="1600" b="1" dirty="0">
                <a:solidFill>
                  <a:schemeClr val="accent6">
                    <a:lumMod val="75000"/>
                  </a:schemeClr>
                </a:solidFill>
              </a:rPr>
              <a:t> </a:t>
            </a:r>
            <a:r>
              <a:rPr lang="sv-SE" sz="1600" b="1" dirty="0" err="1">
                <a:solidFill>
                  <a:schemeClr val="accent6">
                    <a:lumMod val="75000"/>
                  </a:schemeClr>
                </a:solidFill>
              </a:rPr>
              <a:t>losses</a:t>
            </a:r>
            <a:r>
              <a:rPr lang="sv-SE" sz="1600" dirty="0" smtClean="0"/>
              <a:t>.</a:t>
            </a:r>
            <a:r>
              <a:rPr lang="en-US" sz="1600" b="1" dirty="0">
                <a:solidFill>
                  <a:schemeClr val="accent6">
                    <a:lumMod val="50000"/>
                  </a:schemeClr>
                </a:solidFill>
              </a:rPr>
              <a:t> </a:t>
            </a:r>
            <a:endParaRPr lang="sv-SE" sz="1600" dirty="0"/>
          </a:p>
        </p:txBody>
      </p:sp>
      <p:sp>
        <p:nvSpPr>
          <p:cNvPr id="5" name="Rectangle 4"/>
          <p:cNvSpPr/>
          <p:nvPr/>
        </p:nvSpPr>
        <p:spPr>
          <a:xfrm>
            <a:off x="901700" y="4633086"/>
            <a:ext cx="10661650" cy="584775"/>
          </a:xfrm>
          <a:prstGeom prst="rect">
            <a:avLst/>
          </a:prstGeom>
        </p:spPr>
        <p:txBody>
          <a:bodyPr wrap="square">
            <a:spAutoFit/>
          </a:bodyPr>
          <a:lstStyle/>
          <a:p>
            <a:r>
              <a:rPr lang="sv-SE" sz="1600" b="1" dirty="0">
                <a:solidFill>
                  <a:schemeClr val="accent6">
                    <a:lumMod val="75000"/>
                  </a:schemeClr>
                </a:solidFill>
              </a:rPr>
              <a:t>A</a:t>
            </a:r>
            <a:r>
              <a:rPr lang="sv-SE" sz="1600" b="1" dirty="0" smtClean="0">
                <a:solidFill>
                  <a:schemeClr val="accent6">
                    <a:lumMod val="75000"/>
                  </a:schemeClr>
                </a:solidFill>
              </a:rPr>
              <a:t>n operation </a:t>
            </a:r>
            <a:r>
              <a:rPr lang="sv-SE" sz="1600" b="1" dirty="0" err="1" smtClean="0">
                <a:solidFill>
                  <a:schemeClr val="accent6">
                    <a:lumMod val="75000"/>
                  </a:schemeClr>
                </a:solidFill>
              </a:rPr>
              <a:t>point</a:t>
            </a:r>
            <a:r>
              <a:rPr lang="sv-SE" sz="1600" b="1" dirty="0" smtClean="0">
                <a:solidFill>
                  <a:schemeClr val="accent6">
                    <a:lumMod val="75000"/>
                  </a:schemeClr>
                </a:solidFill>
              </a:rPr>
              <a:t> </a:t>
            </a:r>
            <a:r>
              <a:rPr lang="en-US" sz="1600" dirty="0" smtClean="0"/>
              <a:t>is selected for all topologies at </a:t>
            </a:r>
            <a:r>
              <a:rPr lang="en-US" sz="1600" b="1" dirty="0" smtClean="0">
                <a:solidFill>
                  <a:schemeClr val="accent6">
                    <a:lumMod val="75000"/>
                  </a:schemeClr>
                </a:solidFill>
              </a:rPr>
              <a:t>99.4</a:t>
            </a:r>
            <a:r>
              <a:rPr lang="en-US" sz="1600" dirty="0" smtClean="0"/>
              <a:t> percent efficiency. Each </a:t>
            </a:r>
            <a:r>
              <a:rPr lang="en-US" sz="1600" dirty="0"/>
              <a:t>topology’s </a:t>
            </a:r>
            <a:r>
              <a:rPr lang="en-US" sz="1600" b="1" dirty="0">
                <a:solidFill>
                  <a:schemeClr val="accent6">
                    <a:lumMod val="75000"/>
                  </a:schemeClr>
                </a:solidFill>
              </a:rPr>
              <a:t>switching frequency </a:t>
            </a:r>
            <a:r>
              <a:rPr lang="en-US" sz="1600" dirty="0"/>
              <a:t>and </a:t>
            </a:r>
            <a:r>
              <a:rPr lang="en-US" sz="1600" b="1" dirty="0">
                <a:solidFill>
                  <a:schemeClr val="accent6">
                    <a:lumMod val="75000"/>
                  </a:schemeClr>
                </a:solidFill>
              </a:rPr>
              <a:t>die area </a:t>
            </a:r>
            <a:r>
              <a:rPr lang="en-US" sz="1600" dirty="0"/>
              <a:t>information </a:t>
            </a:r>
            <a:r>
              <a:rPr lang="en-US" sz="1600" dirty="0" smtClean="0"/>
              <a:t>for these </a:t>
            </a:r>
            <a:r>
              <a:rPr lang="en-US" sz="1600" dirty="0"/>
              <a:t>operation points are </a:t>
            </a:r>
            <a:r>
              <a:rPr lang="en-US" sz="1600" dirty="0" smtClean="0"/>
              <a:t>given below.</a:t>
            </a:r>
            <a:endParaRPr lang="sv-SE" sz="1600" dirty="0"/>
          </a:p>
        </p:txBody>
      </p:sp>
      <p:pic>
        <p:nvPicPr>
          <p:cNvPr id="6" name="Picture 5"/>
          <p:cNvPicPr>
            <a:picLocks noChangeAspect="1"/>
          </p:cNvPicPr>
          <p:nvPr/>
        </p:nvPicPr>
        <p:blipFill>
          <a:blip r:embed="rId2"/>
          <a:stretch>
            <a:fillRect/>
          </a:stretch>
        </p:blipFill>
        <p:spPr>
          <a:xfrm>
            <a:off x="1381125" y="1945983"/>
            <a:ext cx="9417050" cy="2650055"/>
          </a:xfrm>
          <a:prstGeom prst="rect">
            <a:avLst/>
          </a:prstGeom>
        </p:spPr>
      </p:pic>
      <p:pic>
        <p:nvPicPr>
          <p:cNvPr id="7" name="Picture 6"/>
          <p:cNvPicPr>
            <a:picLocks noChangeAspect="1"/>
          </p:cNvPicPr>
          <p:nvPr/>
        </p:nvPicPr>
        <p:blipFill>
          <a:blip r:embed="rId3"/>
          <a:stretch>
            <a:fillRect/>
          </a:stretch>
        </p:blipFill>
        <p:spPr>
          <a:xfrm>
            <a:off x="3749091" y="5254909"/>
            <a:ext cx="5274116" cy="1361791"/>
          </a:xfrm>
          <a:prstGeom prst="rect">
            <a:avLst/>
          </a:prstGeom>
        </p:spPr>
      </p:pic>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spTree>
    <p:extLst>
      <p:ext uri="{BB962C8B-B14F-4D97-AF65-F5344CB8AC3E}">
        <p14:creationId xmlns:p14="http://schemas.microsoft.com/office/powerpoint/2010/main" val="22005499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20841" y="1674269"/>
            <a:ext cx="6442209" cy="1395394"/>
          </a:xfrm>
          <a:prstGeom prst="rect">
            <a:avLst/>
          </a:prstGeom>
        </p:spPr>
      </p:pic>
      <p:pic>
        <p:nvPicPr>
          <p:cNvPr id="6" name="Picture 5"/>
          <p:cNvPicPr>
            <a:picLocks noChangeAspect="1"/>
          </p:cNvPicPr>
          <p:nvPr/>
        </p:nvPicPr>
        <p:blipFill>
          <a:blip r:embed="rId3"/>
          <a:stretch>
            <a:fillRect/>
          </a:stretch>
        </p:blipFill>
        <p:spPr>
          <a:xfrm>
            <a:off x="4352070" y="4121608"/>
            <a:ext cx="3487858" cy="2697640"/>
          </a:xfrm>
          <a:prstGeom prst="rect">
            <a:avLst/>
          </a:prstGeom>
        </p:spPr>
      </p:pic>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Results</a:t>
            </a:r>
            <a:r>
              <a:rPr lang="sv-SE" sz="3200" dirty="0">
                <a:solidFill>
                  <a:schemeClr val="accent6">
                    <a:lumMod val="50000"/>
                  </a:schemeClr>
                </a:solidFill>
              </a:rPr>
              <a:t> – </a:t>
            </a:r>
            <a:r>
              <a:rPr lang="sv-SE" sz="3200" dirty="0" err="1" smtClean="0">
                <a:solidFill>
                  <a:schemeClr val="accent6">
                    <a:lumMod val="50000"/>
                  </a:schemeClr>
                </a:solidFill>
              </a:rPr>
              <a:t>Cooling</a:t>
            </a:r>
            <a:r>
              <a:rPr lang="sv-SE" sz="3200" dirty="0" smtClean="0">
                <a:solidFill>
                  <a:schemeClr val="accent6">
                    <a:lumMod val="50000"/>
                  </a:schemeClr>
                </a:solidFill>
              </a:rPr>
              <a:t> System </a:t>
            </a:r>
            <a:r>
              <a:rPr lang="sv-SE" sz="3200" dirty="0" err="1" smtClean="0">
                <a:solidFill>
                  <a:schemeClr val="accent6">
                    <a:lumMod val="50000"/>
                  </a:schemeClr>
                </a:solidFill>
              </a:rPr>
              <a:t>Size</a:t>
            </a:r>
            <a:r>
              <a:rPr lang="sv-SE" sz="3200" dirty="0" smtClean="0">
                <a:solidFill>
                  <a:schemeClr val="accent6">
                    <a:lumMod val="50000"/>
                  </a:schemeClr>
                </a:solidFill>
              </a:rPr>
              <a:t> and Output </a:t>
            </a:r>
            <a:r>
              <a:rPr lang="sv-SE" sz="3200" dirty="0" err="1" smtClean="0">
                <a:solidFill>
                  <a:schemeClr val="accent6">
                    <a:lumMod val="50000"/>
                  </a:schemeClr>
                </a:solidFill>
              </a:rPr>
              <a:t>Harmonics</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3" name="Rectangle 2"/>
          <p:cNvSpPr/>
          <p:nvPr/>
        </p:nvSpPr>
        <p:spPr>
          <a:xfrm>
            <a:off x="656491" y="1159061"/>
            <a:ext cx="10922977" cy="646331"/>
          </a:xfrm>
          <a:prstGeom prst="rect">
            <a:avLst/>
          </a:prstGeom>
        </p:spPr>
        <p:txBody>
          <a:bodyPr wrap="square">
            <a:spAutoFit/>
          </a:bodyPr>
          <a:lstStyle/>
          <a:p>
            <a:r>
              <a:rPr lang="en-US" dirty="0" smtClean="0"/>
              <a:t>The </a:t>
            </a:r>
            <a:r>
              <a:rPr lang="en-US" dirty="0"/>
              <a:t>topologies’ </a:t>
            </a:r>
            <a:r>
              <a:rPr lang="en-US" b="1" dirty="0">
                <a:solidFill>
                  <a:schemeClr val="accent6">
                    <a:lumMod val="75000"/>
                  </a:schemeClr>
                </a:solidFill>
              </a:rPr>
              <a:t>thermal parameters </a:t>
            </a:r>
            <a:r>
              <a:rPr lang="en-US" dirty="0" smtClean="0"/>
              <a:t>and the </a:t>
            </a:r>
            <a:r>
              <a:rPr lang="en-US" b="1" dirty="0">
                <a:solidFill>
                  <a:schemeClr val="accent6">
                    <a:lumMod val="75000"/>
                  </a:schemeClr>
                </a:solidFill>
              </a:rPr>
              <a:t>required </a:t>
            </a:r>
            <a:r>
              <a:rPr lang="en-US" b="1" dirty="0" err="1">
                <a:solidFill>
                  <a:schemeClr val="accent6">
                    <a:lumMod val="75000"/>
                  </a:schemeClr>
                </a:solidFill>
              </a:rPr>
              <a:t>heatsink’s</a:t>
            </a:r>
            <a:r>
              <a:rPr lang="en-US" b="1" dirty="0">
                <a:solidFill>
                  <a:schemeClr val="accent6">
                    <a:lumMod val="75000"/>
                  </a:schemeClr>
                </a:solidFill>
              </a:rPr>
              <a:t> thermal resistance </a:t>
            </a:r>
            <a:r>
              <a:rPr lang="en-US" dirty="0"/>
              <a:t>are </a:t>
            </a:r>
            <a:r>
              <a:rPr lang="en-US" dirty="0" smtClean="0"/>
              <a:t>calculated, and  </a:t>
            </a:r>
            <a:r>
              <a:rPr lang="en-US" b="1" dirty="0">
                <a:solidFill>
                  <a:schemeClr val="accent6">
                    <a:lumMod val="75000"/>
                  </a:schemeClr>
                </a:solidFill>
              </a:rPr>
              <a:t>CSPI </a:t>
            </a:r>
            <a:r>
              <a:rPr lang="en-US" dirty="0"/>
              <a:t>is taken as </a:t>
            </a:r>
            <a:r>
              <a:rPr lang="en-US" b="1" dirty="0">
                <a:solidFill>
                  <a:schemeClr val="accent6">
                    <a:lumMod val="75000"/>
                  </a:schemeClr>
                </a:solidFill>
              </a:rPr>
              <a:t>10</a:t>
            </a:r>
            <a:r>
              <a:rPr lang="en-US" dirty="0"/>
              <a:t> for a </a:t>
            </a:r>
            <a:r>
              <a:rPr lang="en-US" b="1" dirty="0">
                <a:solidFill>
                  <a:schemeClr val="accent6">
                    <a:lumMod val="75000"/>
                  </a:schemeClr>
                </a:solidFill>
              </a:rPr>
              <a:t>water-cooling </a:t>
            </a:r>
            <a:r>
              <a:rPr lang="en-US" b="1" dirty="0" smtClean="0">
                <a:solidFill>
                  <a:schemeClr val="accent6">
                    <a:lumMod val="75000"/>
                  </a:schemeClr>
                </a:solidFill>
              </a:rPr>
              <a:t>system</a:t>
            </a:r>
            <a:r>
              <a:rPr lang="en-US" dirty="0" smtClean="0"/>
              <a:t>, </a:t>
            </a:r>
            <a:r>
              <a:rPr lang="sv-SE" dirty="0" err="1" smtClean="0"/>
              <a:t>ignoring</a:t>
            </a:r>
            <a:r>
              <a:rPr lang="sv-SE" dirty="0" smtClean="0"/>
              <a:t> </a:t>
            </a:r>
            <a:r>
              <a:rPr lang="sv-SE" dirty="0"/>
              <a:t>the heat-</a:t>
            </a:r>
            <a:r>
              <a:rPr lang="sv-SE" dirty="0" err="1"/>
              <a:t>exchanger</a:t>
            </a:r>
            <a:r>
              <a:rPr lang="sv-SE" dirty="0"/>
              <a:t> </a:t>
            </a:r>
            <a:r>
              <a:rPr lang="sv-SE" dirty="0" err="1" smtClean="0"/>
              <a:t>volume</a:t>
            </a:r>
            <a:r>
              <a:rPr lang="sv-SE" dirty="0" smtClean="0"/>
              <a:t>.</a:t>
            </a:r>
            <a:endParaRPr lang="sv-SE" dirty="0"/>
          </a:p>
        </p:txBody>
      </p:sp>
      <p:sp>
        <p:nvSpPr>
          <p:cNvPr id="5" name="Rectangle 4"/>
          <p:cNvSpPr/>
          <p:nvPr/>
        </p:nvSpPr>
        <p:spPr>
          <a:xfrm>
            <a:off x="634511" y="2928456"/>
            <a:ext cx="10922977" cy="1200329"/>
          </a:xfrm>
          <a:prstGeom prst="rect">
            <a:avLst/>
          </a:prstGeom>
        </p:spPr>
        <p:txBody>
          <a:bodyPr wrap="square">
            <a:spAutoFit/>
          </a:bodyPr>
          <a:lstStyle/>
          <a:p>
            <a:pPr algn="just"/>
            <a:r>
              <a:rPr lang="en-US" b="1" dirty="0" smtClean="0">
                <a:solidFill>
                  <a:schemeClr val="accent6">
                    <a:lumMod val="75000"/>
                  </a:schemeClr>
                </a:solidFill>
              </a:rPr>
              <a:t>WTHD</a:t>
            </a:r>
            <a:r>
              <a:rPr lang="en-US" dirty="0" smtClean="0"/>
              <a:t> </a:t>
            </a:r>
            <a:r>
              <a:rPr lang="en-US" dirty="0"/>
              <a:t>is a </a:t>
            </a:r>
            <a:r>
              <a:rPr lang="en-US" b="1" dirty="0">
                <a:solidFill>
                  <a:schemeClr val="accent6">
                    <a:lumMod val="75000"/>
                  </a:schemeClr>
                </a:solidFill>
              </a:rPr>
              <a:t>useful metric </a:t>
            </a:r>
            <a:r>
              <a:rPr lang="en-US" dirty="0"/>
              <a:t>to account for </a:t>
            </a:r>
            <a:r>
              <a:rPr lang="en-US" b="1" dirty="0">
                <a:solidFill>
                  <a:schemeClr val="accent6">
                    <a:lumMod val="75000"/>
                  </a:schemeClr>
                </a:solidFill>
              </a:rPr>
              <a:t>motor </a:t>
            </a:r>
            <a:r>
              <a:rPr lang="en-US" b="1" dirty="0" smtClean="0">
                <a:solidFill>
                  <a:schemeClr val="accent6">
                    <a:lumMod val="75000"/>
                  </a:schemeClr>
                </a:solidFill>
              </a:rPr>
              <a:t>harmonic losses </a:t>
            </a:r>
            <a:r>
              <a:rPr lang="en-US" dirty="0"/>
              <a:t>without exact calculation. WTHDs of three </a:t>
            </a:r>
            <a:r>
              <a:rPr lang="en-US" dirty="0" smtClean="0"/>
              <a:t>topologies </a:t>
            </a:r>
            <a:r>
              <a:rPr lang="sv-SE" dirty="0" err="1" smtClean="0"/>
              <a:t>with</a:t>
            </a:r>
            <a:r>
              <a:rPr lang="sv-SE" dirty="0" smtClean="0"/>
              <a:t> </a:t>
            </a:r>
            <a:r>
              <a:rPr lang="sv-SE" dirty="0"/>
              <a:t>given </a:t>
            </a:r>
            <a:r>
              <a:rPr lang="sv-SE" dirty="0" err="1"/>
              <a:t>switching</a:t>
            </a:r>
            <a:r>
              <a:rPr lang="sv-SE" dirty="0"/>
              <a:t> </a:t>
            </a:r>
            <a:r>
              <a:rPr lang="sv-SE" dirty="0" err="1" smtClean="0"/>
              <a:t>frequencies</a:t>
            </a:r>
            <a:r>
              <a:rPr lang="sv-SE" dirty="0"/>
              <a:t> </a:t>
            </a:r>
            <a:r>
              <a:rPr lang="sv-SE" dirty="0" err="1" smtClean="0"/>
              <a:t>are</a:t>
            </a:r>
            <a:r>
              <a:rPr lang="sv-SE" dirty="0" smtClean="0"/>
              <a:t> </a:t>
            </a:r>
            <a:r>
              <a:rPr lang="sv-SE" dirty="0" err="1" smtClean="0"/>
              <a:t>computed</a:t>
            </a:r>
            <a:r>
              <a:rPr lang="sv-SE" dirty="0" smtClean="0"/>
              <a:t>. </a:t>
            </a:r>
          </a:p>
          <a:p>
            <a:pPr algn="just"/>
            <a:r>
              <a:rPr lang="sv-SE" dirty="0" smtClean="0"/>
              <a:t>The </a:t>
            </a:r>
            <a:r>
              <a:rPr lang="en-US" dirty="0" smtClean="0"/>
              <a:t>output </a:t>
            </a:r>
            <a:r>
              <a:rPr lang="en-US" dirty="0"/>
              <a:t>harmonic quality of </a:t>
            </a:r>
            <a:r>
              <a:rPr lang="en-US" b="1" dirty="0">
                <a:solidFill>
                  <a:schemeClr val="accent6">
                    <a:lumMod val="75000"/>
                  </a:schemeClr>
                </a:solidFill>
              </a:rPr>
              <a:t>3L-NPC VSI </a:t>
            </a:r>
            <a:r>
              <a:rPr lang="en-US" dirty="0"/>
              <a:t>surpasses the </a:t>
            </a:r>
            <a:r>
              <a:rPr lang="en-US" dirty="0" smtClean="0"/>
              <a:t>other topologies</a:t>
            </a:r>
            <a:r>
              <a:rPr lang="en-US" dirty="0"/>
              <a:t>, </a:t>
            </a:r>
            <a:r>
              <a:rPr lang="en-US" dirty="0" smtClean="0"/>
              <a:t>as expected, </a:t>
            </a:r>
            <a:r>
              <a:rPr lang="en-US" dirty="0"/>
              <a:t>since it enables </a:t>
            </a:r>
            <a:r>
              <a:rPr lang="en-US" b="1" dirty="0">
                <a:solidFill>
                  <a:schemeClr val="accent6">
                    <a:lumMod val="75000"/>
                  </a:schemeClr>
                </a:solidFill>
              </a:rPr>
              <a:t>higher </a:t>
            </a:r>
            <a:r>
              <a:rPr lang="en-US" b="1" dirty="0" smtClean="0">
                <a:solidFill>
                  <a:schemeClr val="accent6">
                    <a:lumMod val="75000"/>
                  </a:schemeClr>
                </a:solidFill>
              </a:rPr>
              <a:t>switching frequency </a:t>
            </a:r>
            <a:r>
              <a:rPr lang="en-US" dirty="0"/>
              <a:t>and a </a:t>
            </a:r>
            <a:r>
              <a:rPr lang="en-US" b="1" dirty="0">
                <a:solidFill>
                  <a:schemeClr val="accent6">
                    <a:lumMod val="75000"/>
                  </a:schemeClr>
                </a:solidFill>
              </a:rPr>
              <a:t>5-step voltage level </a:t>
            </a:r>
            <a:r>
              <a:rPr lang="en-US" dirty="0"/>
              <a:t>at the output.</a:t>
            </a:r>
            <a:endParaRPr lang="sv-SE" dirty="0"/>
          </a:p>
        </p:txBody>
      </p:sp>
      <p:sp>
        <p:nvSpPr>
          <p:cNvPr id="7" name="Slide Number Placeholder 6"/>
          <p:cNvSpPr>
            <a:spLocks noGrp="1"/>
          </p:cNvSpPr>
          <p:nvPr>
            <p:ph type="sldNum" sz="quarter" idx="12"/>
          </p:nvPr>
        </p:nvSpPr>
        <p:spPr/>
        <p:txBody>
          <a:bodyPr/>
          <a:lstStyle/>
          <a:p>
            <a:fld id="{B716C8F4-20CD-364A-8A8E-DE130115B178}" type="slidenum">
              <a:rPr lang="sv-SE" smtClean="0"/>
              <a:t>12</a:t>
            </a:fld>
            <a:endParaRPr lang="sv-SE"/>
          </a:p>
        </p:txBody>
      </p:sp>
    </p:spTree>
    <p:extLst>
      <p:ext uri="{BB962C8B-B14F-4D97-AF65-F5344CB8AC3E}">
        <p14:creationId xmlns:p14="http://schemas.microsoft.com/office/powerpoint/2010/main" val="935064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388096" y="2382681"/>
            <a:ext cx="5201038" cy="1298366"/>
          </a:xfrm>
          <a:prstGeom prst="rect">
            <a:avLst/>
          </a:prstGeom>
        </p:spPr>
      </p:pic>
      <p:sp>
        <p:nvSpPr>
          <p:cNvPr id="2" name="Title 1"/>
          <p:cNvSpPr>
            <a:spLocks noGrp="1"/>
          </p:cNvSpPr>
          <p:nvPr>
            <p:ph type="title"/>
          </p:nvPr>
        </p:nvSpPr>
        <p:spPr>
          <a:xfrm>
            <a:off x="1040022" y="336507"/>
            <a:ext cx="10990263" cy="601425"/>
          </a:xfrm>
        </p:spPr>
        <p:txBody>
          <a:bodyPr/>
          <a:lstStyle/>
          <a:p>
            <a:r>
              <a:rPr lang="sv-SE" sz="3200" dirty="0" err="1">
                <a:solidFill>
                  <a:schemeClr val="accent6">
                    <a:lumMod val="50000"/>
                  </a:schemeClr>
                </a:solidFill>
              </a:rPr>
              <a:t>Results</a:t>
            </a:r>
            <a:r>
              <a:rPr lang="sv-SE" sz="3200" dirty="0">
                <a:solidFill>
                  <a:schemeClr val="accent6">
                    <a:lumMod val="50000"/>
                  </a:schemeClr>
                </a:solidFill>
              </a:rPr>
              <a:t> – </a:t>
            </a:r>
            <a:r>
              <a:rPr lang="sv-SE" sz="3200" dirty="0" smtClean="0">
                <a:solidFill>
                  <a:schemeClr val="accent6">
                    <a:lumMod val="50000"/>
                  </a:schemeClr>
                </a:solidFill>
              </a:rPr>
              <a:t>DC-</a:t>
            </a:r>
            <a:r>
              <a:rPr lang="sv-SE" sz="3200" dirty="0" err="1" smtClean="0">
                <a:solidFill>
                  <a:schemeClr val="accent6">
                    <a:lumMod val="50000"/>
                  </a:schemeClr>
                </a:solidFill>
              </a:rPr>
              <a:t>link</a:t>
            </a:r>
            <a:r>
              <a:rPr lang="sv-SE" sz="3200" dirty="0" smtClean="0">
                <a:solidFill>
                  <a:schemeClr val="accent6">
                    <a:lumMod val="50000"/>
                  </a:schemeClr>
                </a:solidFill>
              </a:rPr>
              <a:t> </a:t>
            </a:r>
            <a:r>
              <a:rPr lang="sv-SE" sz="3200" dirty="0" err="1" smtClean="0">
                <a:solidFill>
                  <a:schemeClr val="accent6">
                    <a:lumMod val="50000"/>
                  </a:schemeClr>
                </a:solidFill>
              </a:rPr>
              <a:t>Capacitance</a:t>
            </a:r>
            <a:r>
              <a:rPr lang="sv-SE" sz="3200" dirty="0" smtClean="0">
                <a:solidFill>
                  <a:schemeClr val="accent6">
                    <a:lumMod val="50000"/>
                  </a:schemeClr>
                </a:solidFill>
              </a:rPr>
              <a:t> and </a:t>
            </a:r>
            <a:r>
              <a:rPr lang="sv-SE" sz="3200" dirty="0" err="1" smtClean="0">
                <a:solidFill>
                  <a:schemeClr val="accent6">
                    <a:lumMod val="50000"/>
                  </a:schemeClr>
                </a:solidFill>
              </a:rPr>
              <a:t>Reliability</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7" name="Rectangle 6"/>
          <p:cNvSpPr/>
          <p:nvPr/>
        </p:nvSpPr>
        <p:spPr>
          <a:xfrm>
            <a:off x="1034361" y="1104848"/>
            <a:ext cx="10123278" cy="1200329"/>
          </a:xfrm>
          <a:prstGeom prst="rect">
            <a:avLst/>
          </a:prstGeom>
        </p:spPr>
        <p:txBody>
          <a:bodyPr wrap="square">
            <a:spAutoFit/>
          </a:bodyPr>
          <a:lstStyle/>
          <a:p>
            <a:pPr algn="just"/>
            <a:r>
              <a:rPr lang="en-US" dirty="0"/>
              <a:t>The </a:t>
            </a:r>
            <a:r>
              <a:rPr lang="en-US" b="1" dirty="0">
                <a:solidFill>
                  <a:schemeClr val="accent6">
                    <a:lumMod val="75000"/>
                  </a:schemeClr>
                </a:solidFill>
              </a:rPr>
              <a:t>capacitance requirements </a:t>
            </a:r>
            <a:r>
              <a:rPr lang="en-US" dirty="0"/>
              <a:t>are computed </a:t>
            </a:r>
            <a:r>
              <a:rPr lang="en-US" dirty="0" smtClean="0"/>
              <a:t>and the </a:t>
            </a:r>
            <a:r>
              <a:rPr lang="en-US" b="1" dirty="0">
                <a:solidFill>
                  <a:schemeClr val="accent6">
                    <a:lumMod val="75000"/>
                  </a:schemeClr>
                </a:solidFill>
              </a:rPr>
              <a:t>volume estimation </a:t>
            </a:r>
            <a:r>
              <a:rPr lang="en-US" dirty="0" smtClean="0"/>
              <a:t>is carried </a:t>
            </a:r>
            <a:r>
              <a:rPr lang="en-US" dirty="0"/>
              <a:t>out with the aid </a:t>
            </a:r>
            <a:r>
              <a:rPr lang="en-US" dirty="0" smtClean="0"/>
              <a:t>of [1]. </a:t>
            </a:r>
          </a:p>
          <a:p>
            <a:pPr algn="just"/>
            <a:r>
              <a:rPr lang="en-US" dirty="0"/>
              <a:t>It is observed that </a:t>
            </a:r>
            <a:r>
              <a:rPr lang="en-US" b="1" dirty="0">
                <a:solidFill>
                  <a:schemeClr val="accent6">
                    <a:lumMod val="75000"/>
                  </a:schemeClr>
                </a:solidFill>
              </a:rPr>
              <a:t>the </a:t>
            </a:r>
            <a:r>
              <a:rPr lang="en-US" b="1" dirty="0" smtClean="0">
                <a:solidFill>
                  <a:schemeClr val="accent6">
                    <a:lumMod val="75000"/>
                  </a:schemeClr>
                </a:solidFill>
              </a:rPr>
              <a:t>lowest capacitance </a:t>
            </a:r>
            <a:r>
              <a:rPr lang="en-US" b="1" dirty="0">
                <a:solidFill>
                  <a:schemeClr val="accent6">
                    <a:lumMod val="75000"/>
                  </a:schemeClr>
                </a:solidFill>
              </a:rPr>
              <a:t>demand </a:t>
            </a:r>
            <a:r>
              <a:rPr lang="en-US" dirty="0"/>
              <a:t>is in the </a:t>
            </a:r>
            <a:r>
              <a:rPr lang="en-US" b="1" dirty="0">
                <a:solidFill>
                  <a:schemeClr val="accent6">
                    <a:lumMod val="75000"/>
                  </a:schemeClr>
                </a:solidFill>
              </a:rPr>
              <a:t>2L-6Ph inverter</a:t>
            </a:r>
            <a:r>
              <a:rPr lang="en-US" dirty="0"/>
              <a:t>, even though </a:t>
            </a:r>
            <a:r>
              <a:rPr lang="en-US" dirty="0" smtClean="0"/>
              <a:t>the applied </a:t>
            </a:r>
            <a:r>
              <a:rPr lang="en-US" b="1" dirty="0">
                <a:solidFill>
                  <a:schemeClr val="accent6">
                    <a:lumMod val="75000"/>
                  </a:schemeClr>
                </a:solidFill>
              </a:rPr>
              <a:t>switching frequency is lower than </a:t>
            </a:r>
            <a:r>
              <a:rPr lang="en-US" dirty="0"/>
              <a:t>that of the </a:t>
            </a:r>
            <a:r>
              <a:rPr lang="en-US" dirty="0" smtClean="0"/>
              <a:t>3L-NPC </a:t>
            </a:r>
            <a:r>
              <a:rPr lang="sv-SE" dirty="0" err="1" smtClean="0"/>
              <a:t>inverter</a:t>
            </a:r>
            <a:r>
              <a:rPr lang="sv-SE" dirty="0"/>
              <a:t>.</a:t>
            </a:r>
          </a:p>
        </p:txBody>
      </p:sp>
      <p:sp>
        <p:nvSpPr>
          <p:cNvPr id="8" name="Rectangle 7"/>
          <p:cNvSpPr/>
          <p:nvPr/>
        </p:nvSpPr>
        <p:spPr>
          <a:xfrm>
            <a:off x="926976" y="6363198"/>
            <a:ext cx="10230663" cy="400110"/>
          </a:xfrm>
          <a:prstGeom prst="rect">
            <a:avLst/>
          </a:prstGeom>
        </p:spPr>
        <p:txBody>
          <a:bodyPr wrap="square">
            <a:spAutoFit/>
          </a:bodyPr>
          <a:lstStyle/>
          <a:p>
            <a:pPr algn="just"/>
            <a:r>
              <a:rPr lang="es-ES" sz="1000" dirty="0" smtClean="0"/>
              <a:t>[1] Y</a:t>
            </a:r>
            <a:r>
              <a:rPr lang="es-ES" sz="1000" dirty="0"/>
              <a:t>. Wu, M. J. Hoque, M. H. </a:t>
            </a:r>
            <a:r>
              <a:rPr lang="es-ES" sz="1000" dirty="0" err="1"/>
              <a:t>Mahmud</a:t>
            </a:r>
            <a:r>
              <a:rPr lang="es-ES" sz="1000" dirty="0"/>
              <a:t>, E. M. </a:t>
            </a:r>
            <a:r>
              <a:rPr lang="es-ES" sz="1000" dirty="0" err="1"/>
              <a:t>Allee</a:t>
            </a:r>
            <a:r>
              <a:rPr lang="es-ES" sz="1000" dirty="0"/>
              <a:t>, A. A. </a:t>
            </a:r>
            <a:r>
              <a:rPr lang="es-ES" sz="1000" dirty="0" err="1"/>
              <a:t>Lad</a:t>
            </a:r>
            <a:r>
              <a:rPr lang="es-ES" sz="1000" dirty="0"/>
              <a:t>, Y. </a:t>
            </a:r>
            <a:r>
              <a:rPr lang="es-ES" sz="1000" dirty="0" err="1" smtClean="0"/>
              <a:t>Zhao</a:t>
            </a:r>
            <a:r>
              <a:rPr lang="es-ES" sz="1000" dirty="0" smtClean="0"/>
              <a:t>, </a:t>
            </a:r>
            <a:r>
              <a:rPr lang="en-US" sz="1000" dirty="0" smtClean="0"/>
              <a:t>H</a:t>
            </a:r>
            <a:r>
              <a:rPr lang="en-US" sz="1000" dirty="0"/>
              <a:t>. A. </a:t>
            </a:r>
            <a:r>
              <a:rPr lang="en-US" sz="1000" dirty="0" err="1"/>
              <a:t>Mantooth</a:t>
            </a:r>
            <a:r>
              <a:rPr lang="en-US" sz="1000" dirty="0"/>
              <a:t>, and N. </a:t>
            </a:r>
            <a:r>
              <a:rPr lang="en-US" sz="1000" dirty="0" err="1"/>
              <a:t>Miljkovic</a:t>
            </a:r>
            <a:r>
              <a:rPr lang="en-US" sz="1000" dirty="0"/>
              <a:t>, “</a:t>
            </a:r>
            <a:r>
              <a:rPr lang="en-US" sz="1000" dirty="0" err="1"/>
              <a:t>Electrothermal</a:t>
            </a:r>
            <a:r>
              <a:rPr lang="en-US" sz="1000" dirty="0"/>
              <a:t>-control </a:t>
            </a:r>
            <a:r>
              <a:rPr lang="en-US" sz="1000" dirty="0" smtClean="0"/>
              <a:t>co-design of </a:t>
            </a:r>
            <a:r>
              <a:rPr lang="en-US" sz="1000" dirty="0"/>
              <a:t>an all silicon carbide 2×250 kw dual inverter for heavy-duty </a:t>
            </a:r>
            <a:r>
              <a:rPr lang="en-US" sz="1000" dirty="0" smtClean="0"/>
              <a:t>traction </a:t>
            </a:r>
            <a:r>
              <a:rPr lang="sv-SE" sz="1000" dirty="0" err="1" smtClean="0"/>
              <a:t>applications</a:t>
            </a:r>
            <a:r>
              <a:rPr lang="sv-SE" sz="1000" dirty="0"/>
              <a:t>,” IEEE </a:t>
            </a:r>
            <a:r>
              <a:rPr lang="sv-SE" sz="1000" dirty="0" err="1"/>
              <a:t>Transactions</a:t>
            </a:r>
            <a:r>
              <a:rPr lang="sv-SE" sz="1000" dirty="0"/>
              <a:t> on Industry </a:t>
            </a:r>
            <a:r>
              <a:rPr lang="sv-SE" sz="1000" dirty="0" err="1"/>
              <a:t>Applications</a:t>
            </a:r>
            <a:r>
              <a:rPr lang="sv-SE" sz="1000" dirty="0"/>
              <a:t>, vol. </a:t>
            </a:r>
            <a:r>
              <a:rPr lang="sv-SE" sz="1000" dirty="0" smtClean="0"/>
              <a:t>58, no</a:t>
            </a:r>
            <a:r>
              <a:rPr lang="sv-SE" sz="1000" dirty="0"/>
              <a:t>. 1, </a:t>
            </a:r>
            <a:r>
              <a:rPr lang="sv-SE" sz="1000" dirty="0" err="1"/>
              <a:t>pp</a:t>
            </a:r>
            <a:r>
              <a:rPr lang="sv-SE" sz="1000" dirty="0"/>
              <a:t>. 505–516, 2022.</a:t>
            </a:r>
          </a:p>
        </p:txBody>
      </p:sp>
      <p:sp>
        <p:nvSpPr>
          <p:cNvPr id="10" name="Rectangle 9"/>
          <p:cNvSpPr/>
          <p:nvPr/>
        </p:nvSpPr>
        <p:spPr>
          <a:xfrm>
            <a:off x="926976" y="3729461"/>
            <a:ext cx="10123278" cy="2585323"/>
          </a:xfrm>
          <a:prstGeom prst="rect">
            <a:avLst/>
          </a:prstGeom>
        </p:spPr>
        <p:txBody>
          <a:bodyPr wrap="square">
            <a:spAutoFit/>
          </a:bodyPr>
          <a:lstStyle/>
          <a:p>
            <a:pPr algn="just"/>
            <a:r>
              <a:rPr lang="en-US" b="1" dirty="0" smtClean="0">
                <a:solidFill>
                  <a:schemeClr val="accent6">
                    <a:lumMod val="75000"/>
                  </a:schemeClr>
                </a:solidFill>
                <a:latin typeface="NimbusRomNo9L-Regu"/>
              </a:rPr>
              <a:t>2L-3Ph </a:t>
            </a:r>
            <a:r>
              <a:rPr lang="en-US" b="1" dirty="0">
                <a:solidFill>
                  <a:schemeClr val="accent6">
                    <a:lumMod val="75000"/>
                  </a:schemeClr>
                </a:solidFill>
                <a:latin typeface="NimbusRomNo9L-Regu"/>
              </a:rPr>
              <a:t>VSIs </a:t>
            </a:r>
            <a:r>
              <a:rPr lang="en-US" dirty="0">
                <a:latin typeface="NimbusRomNo9L-Regu"/>
              </a:rPr>
              <a:t>would offer </a:t>
            </a:r>
            <a:r>
              <a:rPr lang="en-US" dirty="0" smtClean="0">
                <a:latin typeface="NimbusRomNo9L-Regu"/>
              </a:rPr>
              <a:t>higher reliability </a:t>
            </a:r>
            <a:r>
              <a:rPr lang="en-US" dirty="0">
                <a:latin typeface="NimbusRomNo9L-Regu"/>
              </a:rPr>
              <a:t>than other topologies due to </a:t>
            </a:r>
            <a:r>
              <a:rPr lang="en-US" b="1" dirty="0">
                <a:solidFill>
                  <a:schemeClr val="accent6">
                    <a:lumMod val="75000"/>
                  </a:schemeClr>
                </a:solidFill>
                <a:latin typeface="NimbusRomNo9L-Regu"/>
              </a:rPr>
              <a:t>fewer switch and </a:t>
            </a:r>
            <a:r>
              <a:rPr lang="en-US" b="1" dirty="0" smtClean="0">
                <a:solidFill>
                  <a:schemeClr val="accent6">
                    <a:lumMod val="75000"/>
                  </a:schemeClr>
                </a:solidFill>
                <a:latin typeface="NimbusRomNo9L-Regu"/>
              </a:rPr>
              <a:t>gate drive </a:t>
            </a:r>
            <a:r>
              <a:rPr lang="en-US" b="1" dirty="0">
                <a:solidFill>
                  <a:schemeClr val="accent6">
                    <a:lumMod val="75000"/>
                  </a:schemeClr>
                </a:solidFill>
                <a:latin typeface="NimbusRomNo9L-Regu"/>
              </a:rPr>
              <a:t>failure points</a:t>
            </a:r>
            <a:r>
              <a:rPr lang="en-US" dirty="0">
                <a:latin typeface="NimbusRomNo9L-Regu"/>
              </a:rPr>
              <a:t>. However, the switches in these </a:t>
            </a:r>
            <a:r>
              <a:rPr lang="en-US" dirty="0" smtClean="0">
                <a:latin typeface="NimbusRomNo9L-Regu"/>
              </a:rPr>
              <a:t>inverters pose </a:t>
            </a:r>
            <a:r>
              <a:rPr lang="en-US" b="1" dirty="0">
                <a:solidFill>
                  <a:schemeClr val="accent6">
                    <a:lumMod val="75000"/>
                  </a:schemeClr>
                </a:solidFill>
                <a:latin typeface="NimbusRomNo9L-Regu"/>
              </a:rPr>
              <a:t>higher thermal stress </a:t>
            </a:r>
            <a:r>
              <a:rPr lang="en-US" dirty="0">
                <a:latin typeface="NimbusRomNo9L-Regu"/>
              </a:rPr>
              <a:t>resulting from higher </a:t>
            </a:r>
            <a:r>
              <a:rPr lang="en-US" dirty="0" smtClean="0">
                <a:latin typeface="NimbusRomNo9L-Regu"/>
              </a:rPr>
              <a:t>semiconductor losses</a:t>
            </a:r>
            <a:r>
              <a:rPr lang="en-US" dirty="0">
                <a:latin typeface="NimbusRomNo9L-Regu"/>
              </a:rPr>
              <a:t>, which can lead to </a:t>
            </a:r>
            <a:r>
              <a:rPr lang="en-US" b="1" dirty="0">
                <a:solidFill>
                  <a:schemeClr val="accent6">
                    <a:lumMod val="75000"/>
                  </a:schemeClr>
                </a:solidFill>
                <a:latin typeface="NimbusRomNo9L-Regu"/>
              </a:rPr>
              <a:t>fatigue failures</a:t>
            </a:r>
            <a:r>
              <a:rPr lang="en-US" dirty="0">
                <a:latin typeface="NimbusRomNo9L-Regu"/>
              </a:rPr>
              <a:t>. </a:t>
            </a:r>
            <a:endParaRPr lang="en-US" dirty="0" smtClean="0">
              <a:latin typeface="NimbusRomNo9L-Regu"/>
            </a:endParaRPr>
          </a:p>
          <a:p>
            <a:pPr algn="just"/>
            <a:endParaRPr lang="en-US" dirty="0" smtClean="0">
              <a:latin typeface="NimbusRomNo9L-Regu"/>
            </a:endParaRPr>
          </a:p>
          <a:p>
            <a:pPr algn="just"/>
            <a:r>
              <a:rPr lang="en-US" b="1" dirty="0" smtClean="0">
                <a:solidFill>
                  <a:schemeClr val="accent6">
                    <a:lumMod val="75000"/>
                  </a:schemeClr>
                </a:solidFill>
                <a:latin typeface="NimbusRomNo9L-Regu"/>
              </a:rPr>
              <a:t>2L-6Ph </a:t>
            </a:r>
            <a:r>
              <a:rPr lang="en-US" b="1" dirty="0">
                <a:solidFill>
                  <a:schemeClr val="accent6">
                    <a:lumMod val="75000"/>
                  </a:schemeClr>
                </a:solidFill>
                <a:latin typeface="NimbusRomNo9L-Regu"/>
              </a:rPr>
              <a:t>VSIs </a:t>
            </a:r>
            <a:r>
              <a:rPr lang="en-US" dirty="0">
                <a:latin typeface="NimbusRomNo9L-Regu"/>
              </a:rPr>
              <a:t>possess </a:t>
            </a:r>
            <a:r>
              <a:rPr lang="en-US" b="1" dirty="0">
                <a:solidFill>
                  <a:schemeClr val="accent6">
                    <a:lumMod val="75000"/>
                  </a:schemeClr>
                </a:solidFill>
                <a:latin typeface="NimbusRomNo9L-Regu"/>
              </a:rPr>
              <a:t>built-in redundancy </a:t>
            </a:r>
            <a:r>
              <a:rPr lang="en-US" dirty="0">
                <a:latin typeface="NimbusRomNo9L-Regu"/>
              </a:rPr>
              <a:t>that can operate in </a:t>
            </a:r>
            <a:r>
              <a:rPr lang="en-US" dirty="0" smtClean="0">
                <a:latin typeface="NimbusRomNo9L-Regu"/>
              </a:rPr>
              <a:t>3 phases</a:t>
            </a:r>
            <a:r>
              <a:rPr lang="en-US" dirty="0">
                <a:latin typeface="NimbusRomNo9L-Regu"/>
              </a:rPr>
              <a:t>, allowing them to function with reduced power in </a:t>
            </a:r>
            <a:r>
              <a:rPr lang="en-US" dirty="0" smtClean="0">
                <a:latin typeface="NimbusRomNo9L-Regu"/>
              </a:rPr>
              <a:t>case of </a:t>
            </a:r>
            <a:r>
              <a:rPr lang="en-US" dirty="0">
                <a:latin typeface="NimbusRomNo9L-Regu"/>
              </a:rPr>
              <a:t>a failure and enhancing system reliability</a:t>
            </a:r>
            <a:r>
              <a:rPr lang="en-US" dirty="0" smtClean="0">
                <a:latin typeface="NimbusRomNo9L-Regu"/>
              </a:rPr>
              <a:t>.</a:t>
            </a:r>
          </a:p>
          <a:p>
            <a:pPr algn="just"/>
            <a:r>
              <a:rPr lang="en-US" dirty="0" smtClean="0">
                <a:latin typeface="NimbusRomNo9L-Regu"/>
              </a:rPr>
              <a:t> </a:t>
            </a:r>
          </a:p>
          <a:p>
            <a:pPr algn="just"/>
            <a:r>
              <a:rPr lang="en-US" b="1" dirty="0" smtClean="0">
                <a:solidFill>
                  <a:schemeClr val="accent6">
                    <a:lumMod val="75000"/>
                  </a:schemeClr>
                </a:solidFill>
                <a:latin typeface="NimbusRomNo9L-Regu"/>
              </a:rPr>
              <a:t>DC-link capacitors </a:t>
            </a:r>
            <a:r>
              <a:rPr lang="en-US" dirty="0">
                <a:latin typeface="NimbusRomNo9L-Regu"/>
              </a:rPr>
              <a:t>are often the root cause of failures in </a:t>
            </a:r>
            <a:r>
              <a:rPr lang="en-US" dirty="0" smtClean="0">
                <a:latin typeface="NimbusRomNo9L-Regu"/>
              </a:rPr>
              <a:t>traction inverters</a:t>
            </a:r>
            <a:r>
              <a:rPr lang="en-US" dirty="0">
                <a:latin typeface="NimbusRomNo9L-Regu"/>
              </a:rPr>
              <a:t>. Accordingly, </a:t>
            </a:r>
            <a:r>
              <a:rPr lang="en-US" b="1" dirty="0">
                <a:solidFill>
                  <a:schemeClr val="accent6">
                    <a:lumMod val="75000"/>
                  </a:schemeClr>
                </a:solidFill>
                <a:latin typeface="NimbusRomNo9L-Regu"/>
              </a:rPr>
              <a:t>3L-NPC VSIs</a:t>
            </a:r>
            <a:r>
              <a:rPr lang="en-US" dirty="0">
                <a:latin typeface="NimbusRomNo9L-Regu"/>
              </a:rPr>
              <a:t> pose less stress on </a:t>
            </a:r>
            <a:r>
              <a:rPr lang="en-US" dirty="0" smtClean="0">
                <a:latin typeface="NimbusRomNo9L-Regu"/>
              </a:rPr>
              <a:t>the </a:t>
            </a:r>
            <a:r>
              <a:rPr lang="sv-SE" dirty="0" smtClean="0">
                <a:latin typeface="NimbusRomNo9L-Regu"/>
              </a:rPr>
              <a:t>DC-</a:t>
            </a:r>
            <a:r>
              <a:rPr lang="sv-SE" dirty="0" err="1" smtClean="0">
                <a:latin typeface="NimbusRomNo9L-Regu"/>
              </a:rPr>
              <a:t>link</a:t>
            </a:r>
            <a:r>
              <a:rPr lang="sv-SE" dirty="0" smtClean="0">
                <a:latin typeface="NimbusRomNo9L-Regu"/>
              </a:rPr>
              <a:t> </a:t>
            </a:r>
            <a:r>
              <a:rPr lang="sv-SE" dirty="0" err="1">
                <a:latin typeface="NimbusRomNo9L-Regu"/>
              </a:rPr>
              <a:t>capacitors</a:t>
            </a:r>
            <a:r>
              <a:rPr lang="sv-SE" dirty="0">
                <a:latin typeface="NimbusRomNo9L-Regu"/>
              </a:rPr>
              <a:t>, </a:t>
            </a:r>
            <a:r>
              <a:rPr lang="sv-SE" dirty="0" err="1">
                <a:latin typeface="NimbusRomNo9L-Regu"/>
              </a:rPr>
              <a:t>improving</a:t>
            </a:r>
            <a:r>
              <a:rPr lang="sv-SE" dirty="0">
                <a:latin typeface="NimbusRomNo9L-Regu"/>
              </a:rPr>
              <a:t> </a:t>
            </a:r>
            <a:r>
              <a:rPr lang="sv-SE" dirty="0" err="1">
                <a:latin typeface="NimbusRomNo9L-Regu"/>
              </a:rPr>
              <a:t>reliability</a:t>
            </a:r>
            <a:r>
              <a:rPr lang="sv-SE" dirty="0">
                <a:latin typeface="NimbusRomNo9L-Regu"/>
              </a:rPr>
              <a:t>.</a:t>
            </a:r>
            <a:endParaRPr lang="sv-SE" dirty="0"/>
          </a:p>
        </p:txBody>
      </p:sp>
      <p:sp>
        <p:nvSpPr>
          <p:cNvPr id="3" name="Slide Number Placeholder 2"/>
          <p:cNvSpPr>
            <a:spLocks noGrp="1"/>
          </p:cNvSpPr>
          <p:nvPr>
            <p:ph type="sldNum" sz="quarter" idx="12"/>
          </p:nvPr>
        </p:nvSpPr>
        <p:spPr/>
        <p:txBody>
          <a:bodyPr/>
          <a:lstStyle/>
          <a:p>
            <a:fld id="{B716C8F4-20CD-364A-8A8E-DE130115B178}" type="slidenum">
              <a:rPr lang="sv-SE" smtClean="0"/>
              <a:t>13</a:t>
            </a:fld>
            <a:endParaRPr lang="sv-SE"/>
          </a:p>
        </p:txBody>
      </p:sp>
    </p:spTree>
    <p:extLst>
      <p:ext uri="{BB962C8B-B14F-4D97-AF65-F5344CB8AC3E}">
        <p14:creationId xmlns:p14="http://schemas.microsoft.com/office/powerpoint/2010/main" val="25291437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601425"/>
          </a:xfrm>
        </p:spPr>
        <p:txBody>
          <a:bodyPr/>
          <a:lstStyle/>
          <a:p>
            <a:r>
              <a:rPr lang="sv-SE" sz="3200" dirty="0" err="1" smtClean="0">
                <a:solidFill>
                  <a:schemeClr val="accent6">
                    <a:lumMod val="50000"/>
                  </a:schemeClr>
                </a:solidFill>
              </a:rPr>
              <a:t>Summary</a:t>
            </a:r>
            <a:endParaRPr lang="en-US" sz="2000" dirty="0">
              <a:solidFill>
                <a:schemeClr val="accent6">
                  <a:lumMod val="50000"/>
                </a:schemeClr>
              </a:solidFill>
            </a:endParaRPr>
          </a:p>
        </p:txBody>
      </p:sp>
      <p:sp>
        <p:nvSpPr>
          <p:cNvPr id="12" name="Rectangle 4"/>
          <p:cNvSpPr>
            <a:spLocks noChangeArrowheads="1"/>
          </p:cNvSpPr>
          <p:nvPr/>
        </p:nvSpPr>
        <p:spPr bwMode="auto">
          <a:xfrm>
            <a:off x="-6069029" y="5101096"/>
            <a:ext cx="51691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19" name="Rectangle 8"/>
          <p:cNvSpPr>
            <a:spLocks noChangeArrowheads="1"/>
          </p:cNvSpPr>
          <p:nvPr/>
        </p:nvSpPr>
        <p:spPr bwMode="auto">
          <a:xfrm>
            <a:off x="0" y="1040559"/>
            <a:ext cx="12192000" cy="15875"/>
          </a:xfrm>
          <a:prstGeom prst="rect">
            <a:avLst/>
          </a:prstGeom>
          <a:solidFill>
            <a:srgbClr val="000000"/>
          </a:solidFill>
          <a:ln w="9525">
            <a:solidFill>
              <a:schemeClr val="accent6">
                <a:lumMod val="75000"/>
              </a:schemeClr>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sv-SE"/>
          </a:p>
        </p:txBody>
      </p:sp>
      <p:sp>
        <p:nvSpPr>
          <p:cNvPr id="4" name="Rectangle 2"/>
          <p:cNvSpPr>
            <a:spLocks noChangeArrowheads="1"/>
          </p:cNvSpPr>
          <p:nvPr/>
        </p:nvSpPr>
        <p:spPr bwMode="auto">
          <a:xfrm>
            <a:off x="431800" y="1248020"/>
            <a:ext cx="1159848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Topology</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Comparison</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3-Level NPC VSI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outperforms</a:t>
            </a:r>
            <a:r>
              <a:rPr kumimoji="0" lang="sv-SE" altLang="sv-SE" i="0" u="none" strike="noStrike" cap="none" normalizeH="0" baseline="0" dirty="0" smtClean="0">
                <a:ln>
                  <a:noFill/>
                </a:ln>
                <a:solidFill>
                  <a:schemeClr val="tx1"/>
                </a:solidFill>
                <a:effectLst/>
                <a:cs typeface="Arial" panose="020B0604020202020204" pitchFamily="34" charset="0"/>
              </a:rPr>
              <a:t> </a:t>
            </a:r>
            <a:r>
              <a:rPr kumimoji="0" lang="sv-SE" altLang="sv-SE" i="0" u="none" strike="noStrike" cap="none" normalizeH="0" baseline="0" dirty="0" smtClean="0">
                <a:ln>
                  <a:noFill/>
                </a:ln>
                <a:effectLst/>
                <a:cs typeface="Arial" panose="020B0604020202020204" pitchFamily="34" charset="0"/>
              </a:rPr>
              <a:t>2-Level 3-Phase VSI </a:t>
            </a:r>
            <a:r>
              <a:rPr kumimoji="0" lang="sv-SE" altLang="sv-SE" i="0" u="none" strike="noStrike" cap="none" normalizeH="0" baseline="0" dirty="0" smtClean="0">
                <a:ln>
                  <a:noFill/>
                </a:ln>
                <a:solidFill>
                  <a:schemeClr val="tx1"/>
                </a:solidFill>
                <a:effectLst/>
                <a:cs typeface="Arial" panose="020B0604020202020204" pitchFamily="34" charset="0"/>
              </a:rPr>
              <a:t>and 2-Level 6-Phase VSI in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key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performance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indices</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smtClean="0">
                <a:ln>
                  <a:noFill/>
                </a:ln>
                <a:solidFill>
                  <a:schemeClr val="tx1"/>
                </a:solidFill>
                <a:effectLst/>
                <a:cs typeface="Arial" panose="020B0604020202020204" pitchFamily="34" charset="0"/>
              </a:rPr>
              <a:t>The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evaluation</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was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conducted</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using</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virtual</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prototyping</a:t>
            </a:r>
            <a:r>
              <a:rPr kumimoji="0" lang="sv-SE" altLang="sv-SE" b="0" i="0" u="none" strike="noStrike" cap="none" normalizeH="0" baseline="0" dirty="0" smtClean="0">
                <a:ln>
                  <a:noFill/>
                </a:ln>
                <a:solidFill>
                  <a:schemeClr val="tx1"/>
                </a:solidFill>
                <a:effectLst/>
                <a:cs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figure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of</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-merit </a:t>
            </a:r>
            <a:r>
              <a:rPr kumimoji="0" lang="sv-SE" altLang="sv-SE" b="0" i="0" u="none" strike="noStrike" cap="none" normalizeH="0" baseline="0" dirty="0" smtClean="0">
                <a:ln>
                  <a:noFill/>
                </a:ln>
                <a:solidFill>
                  <a:schemeClr val="tx1"/>
                </a:solidFill>
                <a:effectLst/>
                <a:cs typeface="Arial" panose="020B0604020202020204" pitchFamily="34" charset="0"/>
              </a:rPr>
              <a:t>parameters for a </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fair</a:t>
            </a:r>
            <a:r>
              <a:rPr kumimoji="0" lang="sv-SE" altLang="sv-SE" b="1" i="0" u="none" strike="noStrike" cap="none" normalizeH="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comparison</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Advantages</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of</a:t>
            </a:r>
            <a:r>
              <a:rPr kumimoji="0" lang="sv-SE" altLang="sv-SE" b="1" i="0" u="none" strike="noStrike" cap="none" normalizeH="0" baseline="0" dirty="0" smtClean="0">
                <a:ln>
                  <a:noFill/>
                </a:ln>
                <a:solidFill>
                  <a:srgbClr val="E86A58"/>
                </a:solidFill>
                <a:effectLst/>
                <a:cs typeface="Arial" panose="020B0604020202020204" pitchFamily="34" charset="0"/>
              </a:rPr>
              <a:t> 3L-NPC VSI</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err="1" smtClean="0">
                <a:ln>
                  <a:noFill/>
                </a:ln>
                <a:solidFill>
                  <a:schemeClr val="tx1"/>
                </a:solidFill>
                <a:effectLst/>
                <a:cs typeface="Arial" panose="020B0604020202020204" pitchFamily="34" charset="0"/>
              </a:rPr>
              <a:t>Utilizes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lower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voltage-rated</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MOSFETs</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reducing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switching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losses</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Higher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switching</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frequency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improves</a:t>
            </a:r>
            <a:r>
              <a:rPr kumimoji="0" lang="sv-SE" altLang="sv-SE" b="0" i="0" u="none" strike="noStrike" cap="none" normalizeH="0" baseline="0" dirty="0" smtClean="0">
                <a:ln>
                  <a:noFill/>
                </a:ln>
                <a:solidFill>
                  <a:schemeClr val="tx1"/>
                </a:solidFill>
                <a:effectLst/>
                <a:cs typeface="Arial" panose="020B0604020202020204" pitchFamily="34" charset="0"/>
              </a:rPr>
              <a:t> output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harmonic</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quality</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sv-SE" altLang="sv-SE" b="1" i="0" u="none" strike="noStrike" cap="none" normalizeH="0" baseline="0" dirty="0" smtClean="0">
              <a:ln>
                <a:noFill/>
              </a:ln>
              <a:solidFill>
                <a:schemeClr val="accent6">
                  <a:lumMod val="75000"/>
                </a:schemeClr>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0" i="0" u="none" strike="noStrike" cap="none" normalizeH="0" baseline="0" dirty="0" err="1" smtClean="0">
                <a:ln>
                  <a:noFill/>
                </a:ln>
                <a:solidFill>
                  <a:schemeClr val="tx1"/>
                </a:solidFill>
                <a:effectLst/>
                <a:cs typeface="Arial" panose="020B0604020202020204" pitchFamily="34" charset="0"/>
              </a:rPr>
              <a:t>Reduced</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need</a:t>
            </a:r>
            <a:r>
              <a:rPr kumimoji="0" lang="sv-SE" altLang="sv-SE" b="0" i="0" u="none" strike="noStrike" cap="none" normalizeH="0" baseline="0" dirty="0" smtClean="0">
                <a:ln>
                  <a:noFill/>
                </a:ln>
                <a:solidFill>
                  <a:schemeClr val="tx1"/>
                </a:solidFill>
                <a:effectLst/>
                <a:cs typeface="Arial" panose="020B0604020202020204" pitchFamily="34" charset="0"/>
              </a:rPr>
              <a:t> for </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passive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components</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due</a:t>
            </a:r>
            <a:r>
              <a:rPr kumimoji="0" lang="sv-SE" altLang="sv-SE" b="0" i="0" u="none" strike="noStrike" cap="none" normalizeH="0" baseline="0" dirty="0" smtClean="0">
                <a:ln>
                  <a:noFill/>
                </a:ln>
                <a:solidFill>
                  <a:schemeClr val="tx1"/>
                </a:solidFill>
                <a:effectLst/>
                <a:cs typeface="Arial" panose="020B0604020202020204" pitchFamily="34" charset="0"/>
              </a:rPr>
              <a:t> to an </a:t>
            </a:r>
            <a:r>
              <a:rPr kumimoji="0" lang="sv-SE" altLang="sv-SE" b="0" i="0" u="none" strike="noStrike" cap="none" normalizeH="0" baseline="0" dirty="0" err="1" smtClean="0">
                <a:ln>
                  <a:noFill/>
                </a:ln>
                <a:solidFill>
                  <a:schemeClr val="tx1"/>
                </a:solidFill>
                <a:effectLst/>
                <a:cs typeface="Arial" panose="020B0604020202020204" pitchFamily="34" charset="0"/>
              </a:rPr>
              <a:t>additional</a:t>
            </a:r>
            <a:r>
              <a:rPr kumimoji="0" lang="sv-SE" altLang="sv-SE" b="0" i="0" u="none" strike="noStrike" cap="none" normalizeH="0" baseline="0" dirty="0" smtClean="0">
                <a:ln>
                  <a:noFill/>
                </a:ln>
                <a:solidFill>
                  <a:schemeClr val="tx1"/>
                </a:solidFill>
                <a:effectLst/>
                <a:cs typeface="Arial" panose="020B0604020202020204" pitchFamily="34" charset="0"/>
              </a:rPr>
              <a:t> output </a:t>
            </a:r>
            <a:r>
              <a:rPr kumimoji="0" lang="sv-SE" altLang="sv-SE" b="0" i="0" u="none" strike="noStrike" cap="none" normalizeH="0" baseline="0" dirty="0" err="1" smtClean="0">
                <a:ln>
                  <a:noFill/>
                </a:ln>
                <a:solidFill>
                  <a:schemeClr val="tx1"/>
                </a:solidFill>
                <a:effectLst/>
                <a:cs typeface="Arial" panose="020B0604020202020204" pitchFamily="34" charset="0"/>
              </a:rPr>
              <a:t>voltage</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level</a:t>
            </a:r>
            <a:r>
              <a:rPr kumimoji="0" lang="sv-SE" altLang="sv-SE" b="0" i="0" u="none" strike="noStrike" cap="none" normalizeH="0" baseline="0" dirty="0" smtClean="0">
                <a:ln>
                  <a:noFill/>
                </a:ln>
                <a:solidFill>
                  <a:schemeClr val="tx1"/>
                </a:solidFill>
                <a:effectLst/>
                <a:cs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err="1" smtClean="0">
                <a:ln>
                  <a:noFill/>
                </a:ln>
                <a:solidFill>
                  <a:srgbClr val="E86A58"/>
                </a:solidFill>
                <a:effectLst/>
                <a:cs typeface="Arial" panose="020B0604020202020204" pitchFamily="34" charset="0"/>
              </a:rPr>
              <a:t>Key</a:t>
            </a:r>
            <a:r>
              <a:rPr kumimoji="0" lang="sv-SE" altLang="sv-SE" b="1" i="0" u="none" strike="noStrike" cap="none" normalizeH="0" baseline="0" dirty="0" smtClean="0">
                <a:ln>
                  <a:noFill/>
                </a:ln>
                <a:solidFill>
                  <a:srgbClr val="E86A58"/>
                </a:solidFill>
                <a:effectLst/>
                <a:cs typeface="Arial" panose="020B0604020202020204" pitchFamily="34" charset="0"/>
              </a:rPr>
              <a:t> </a:t>
            </a:r>
            <a:r>
              <a:rPr kumimoji="0" lang="sv-SE" altLang="sv-SE" b="1" i="0" u="none" strike="noStrike" cap="none" normalizeH="0" baseline="0" dirty="0" err="1" smtClean="0">
                <a:ln>
                  <a:noFill/>
                </a:ln>
                <a:solidFill>
                  <a:srgbClr val="E86A58"/>
                </a:solidFill>
                <a:effectLst/>
                <a:cs typeface="Arial" panose="020B0604020202020204" pitchFamily="34" charset="0"/>
              </a:rPr>
              <a:t>Findings</a:t>
            </a:r>
            <a:r>
              <a:rPr kumimoji="0" lang="sv-SE" altLang="sv-SE" b="0" i="0" u="none" strike="noStrike" cap="none" normalizeH="0" baseline="0" dirty="0" smtClean="0">
                <a:ln>
                  <a:noFill/>
                </a:ln>
                <a:solidFill>
                  <a:srgbClr val="E86A58"/>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sv-SE" altLang="sv-SE" b="0" i="0" u="none" strike="noStrike" cap="none" normalizeH="0" baseline="0" dirty="0" smtClean="0">
              <a:ln>
                <a:noFill/>
              </a:ln>
              <a:solidFill>
                <a:srgbClr val="E86A58"/>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3L-NPC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VSIs</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are</a:t>
            </a:r>
            <a:r>
              <a:rPr kumimoji="0" lang="sv-SE" altLang="sv-SE" b="0" i="0" u="none" strike="noStrike" cap="none" normalizeH="0" baseline="0" dirty="0" smtClean="0">
                <a:ln>
                  <a:noFill/>
                </a:ln>
                <a:solidFill>
                  <a:schemeClr val="tx1"/>
                </a:solidFill>
                <a:effectLst/>
                <a:cs typeface="Arial" panose="020B0604020202020204" pitchFamily="34" charset="0"/>
              </a:rPr>
              <a:t> a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viable</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solution </a:t>
            </a:r>
            <a:r>
              <a:rPr kumimoji="0" lang="sv-SE" altLang="sv-SE" b="0" i="0" u="none" strike="noStrike" cap="none" normalizeH="0" baseline="0" dirty="0" smtClean="0">
                <a:ln>
                  <a:noFill/>
                </a:ln>
                <a:solidFill>
                  <a:schemeClr val="tx1"/>
                </a:solidFill>
                <a:effectLst/>
                <a:cs typeface="Arial" panose="020B0604020202020204" pitchFamily="34" charset="0"/>
              </a:rPr>
              <a:t>for </a:t>
            </a:r>
            <a:r>
              <a:rPr kumimoji="0" lang="sv-SE" altLang="sv-SE" b="0" i="0" u="none" strike="noStrike" cap="none" normalizeH="0" baseline="0" dirty="0" err="1" smtClean="0">
                <a:ln>
                  <a:noFill/>
                </a:ln>
                <a:solidFill>
                  <a:schemeClr val="tx1"/>
                </a:solidFill>
                <a:effectLst/>
                <a:cs typeface="Arial" panose="020B0604020202020204" pitchFamily="34" charset="0"/>
              </a:rPr>
              <a:t>heavy-duty</a:t>
            </a:r>
            <a:r>
              <a:rPr kumimoji="0" lang="sv-SE" altLang="sv-SE" b="0" i="0" u="none" strike="noStrike" cap="none" normalizeH="0" baseline="0" dirty="0" smtClean="0">
                <a:ln>
                  <a:noFill/>
                </a:ln>
                <a:solidFill>
                  <a:schemeClr val="tx1"/>
                </a:solidFill>
                <a:effectLst/>
                <a:cs typeface="Arial" panose="020B0604020202020204" pitchFamily="34" charset="0"/>
              </a:rPr>
              <a:t> </a:t>
            </a:r>
            <a:r>
              <a:rPr kumimoji="0" lang="sv-SE" altLang="sv-SE" b="0" i="0" u="none" strike="noStrike" cap="none" normalizeH="0" baseline="0" dirty="0" err="1" smtClean="0">
                <a:ln>
                  <a:noFill/>
                </a:ln>
                <a:solidFill>
                  <a:schemeClr val="tx1"/>
                </a:solidFill>
                <a:effectLst/>
                <a:cs typeface="Arial" panose="020B0604020202020204" pitchFamily="34" charset="0"/>
              </a:rPr>
              <a:t>EVs</a:t>
            </a:r>
            <a:r>
              <a:rPr kumimoji="0" lang="sv-SE" altLang="sv-SE" b="0" i="0" u="none" strike="noStrike" cap="none" normalizeH="0" baseline="0" dirty="0" smtClean="0">
                <a:ln>
                  <a:noFill/>
                </a:ln>
                <a:solidFill>
                  <a:schemeClr val="tx1"/>
                </a:solidFill>
                <a:effectLst/>
                <a:cs typeface="Arial" panose="020B0604020202020204" pitchFamily="34" charset="0"/>
              </a:rPr>
              <a:t>, meeting </a:t>
            </a:r>
            <a:r>
              <a:rPr kumimoji="0" lang="sv-SE" altLang="sv-SE" b="0" i="0" u="none" strike="noStrike" cap="none" normalizeH="0" baseline="0" dirty="0" err="1" smtClean="0">
                <a:ln>
                  <a:noFill/>
                </a:ln>
                <a:solidFill>
                  <a:schemeClr val="tx1"/>
                </a:solidFill>
                <a:effectLst/>
                <a:cs typeface="Arial" panose="020B0604020202020204" pitchFamily="34" charset="0"/>
              </a:rPr>
              <a:t>specifications</a:t>
            </a:r>
            <a:r>
              <a:rPr kumimoji="0" lang="sv-SE" altLang="sv-SE" b="0" i="0" u="none" strike="noStrike" cap="none" normalizeH="0" baseline="0" dirty="0" smtClean="0">
                <a:ln>
                  <a:noFill/>
                </a:ln>
                <a:solidFill>
                  <a:schemeClr val="tx1"/>
                </a:solidFill>
                <a:effectLst/>
                <a:cs typeface="Arial" panose="020B0604020202020204" pitchFamily="34" charset="0"/>
              </a:rPr>
              <a:t> for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high</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DC-</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link</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voltages</a:t>
            </a:r>
            <a:r>
              <a:rPr kumimoji="0" lang="sv-SE" altLang="sv-SE" b="0" i="0" u="none" strike="noStrike" cap="none" normalizeH="0" baseline="0" dirty="0" smtClean="0">
                <a:ln>
                  <a:noFill/>
                </a:ln>
                <a:solidFill>
                  <a:schemeClr val="tx1"/>
                </a:solidFill>
                <a:effectLst/>
                <a:cs typeface="Arial" panose="020B0604020202020204" pitchFamily="34" charset="0"/>
              </a:rPr>
              <a:t> and </a:t>
            </a:r>
            <a:r>
              <a:rPr kumimoji="0" lang="sv-SE" altLang="sv-SE" b="1" i="0" u="none" strike="noStrike" cap="none" normalizeH="0" baseline="0" dirty="0" err="1" smtClean="0">
                <a:ln>
                  <a:noFill/>
                </a:ln>
                <a:solidFill>
                  <a:schemeClr val="accent6">
                    <a:lumMod val="75000"/>
                  </a:schemeClr>
                </a:solidFill>
                <a:effectLst/>
                <a:cs typeface="Arial" panose="020B0604020202020204" pitchFamily="34" charset="0"/>
              </a:rPr>
              <a:t>power</a:t>
            </a:r>
            <a:r>
              <a:rPr kumimoji="0" lang="sv-SE" altLang="sv-SE" b="1" i="0" u="none" strike="noStrike" cap="none" normalizeH="0" baseline="0" dirty="0" smtClean="0">
                <a:ln>
                  <a:noFill/>
                </a:ln>
                <a:solidFill>
                  <a:schemeClr val="accent6">
                    <a:lumMod val="75000"/>
                  </a:schemeClr>
                </a:solidFill>
                <a:effectLst/>
                <a:cs typeface="Arial" panose="020B0604020202020204" pitchFamily="34" charset="0"/>
              </a:rPr>
              <a:t> ratings</a:t>
            </a:r>
            <a:r>
              <a:rPr kumimoji="0" lang="sv-SE" altLang="sv-SE" b="0" i="0" u="none" strike="noStrike" cap="none" normalizeH="0" baseline="0" dirty="0" smtClean="0">
                <a:ln>
                  <a:noFill/>
                </a:ln>
                <a:solidFill>
                  <a:schemeClr val="tx1"/>
                </a:solidFill>
                <a:effectLst/>
                <a:cs typeface="Arial" panose="020B0604020202020204" pitchFamily="34" charset="0"/>
              </a:rPr>
              <a:t>. </a:t>
            </a:r>
          </a:p>
        </p:txBody>
      </p:sp>
      <p:sp>
        <p:nvSpPr>
          <p:cNvPr id="3" name="Slide Number Placeholder 2"/>
          <p:cNvSpPr>
            <a:spLocks noGrp="1"/>
          </p:cNvSpPr>
          <p:nvPr>
            <p:ph type="sldNum" sz="quarter" idx="12"/>
          </p:nvPr>
        </p:nvSpPr>
        <p:spPr/>
        <p:txBody>
          <a:bodyPr/>
          <a:lstStyle/>
          <a:p>
            <a:fld id="{B716C8F4-20CD-364A-8A8E-DE130115B178}" type="slidenum">
              <a:rPr lang="sv-SE" smtClean="0"/>
              <a:t>14</a:t>
            </a:fld>
            <a:endParaRPr lang="sv-SE"/>
          </a:p>
        </p:txBody>
      </p:sp>
    </p:spTree>
    <p:extLst>
      <p:ext uri="{BB962C8B-B14F-4D97-AF65-F5344CB8AC3E}">
        <p14:creationId xmlns:p14="http://schemas.microsoft.com/office/powerpoint/2010/main" val="37551556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smtClean="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smtClean="0">
                <a:solidFill>
                  <a:schemeClr val="bg1"/>
                </a:solidFill>
                <a:latin typeface="NimbusRomNo9L-Regu"/>
              </a:rPr>
              <a:t>CHIPSJoint</a:t>
            </a:r>
            <a:r>
              <a:rPr lang="en-US" dirty="0" smtClean="0">
                <a:solidFill>
                  <a:schemeClr val="bg1"/>
                </a:solidFill>
                <a:latin typeface="NimbusRomNo9L-Regu"/>
              </a:rPr>
              <a:t> Undertaking </a:t>
            </a:r>
            <a:r>
              <a:rPr lang="en-US" dirty="0">
                <a:solidFill>
                  <a:schemeClr val="bg1"/>
                </a:solidFill>
                <a:latin typeface="NimbusRomNo9L-Regu"/>
              </a:rPr>
              <a:t>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smtClean="0">
                <a:solidFill>
                  <a:schemeClr val="bg1"/>
                </a:solidFill>
                <a:latin typeface="NimbusRomNo9L-Regu"/>
              </a:rPr>
              <a:t>PowerizeD</a:t>
            </a:r>
            <a:r>
              <a:rPr lang="en-US" dirty="0" smtClean="0">
                <a:solidFill>
                  <a:schemeClr val="bg1"/>
                </a:solidFill>
                <a:latin typeface="NimbusRomNo9L-Regu"/>
              </a:rPr>
              <a:t>) and </a:t>
            </a:r>
            <a:r>
              <a:rPr lang="en-US" dirty="0">
                <a:solidFill>
                  <a:schemeClr val="bg1"/>
                </a:solidFill>
                <a:latin typeface="NimbusRomNo9L-Regu"/>
              </a:rPr>
              <a:t>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a:t>
            </a:r>
            <a:r>
              <a:rPr lang="en-US" dirty="0" smtClean="0">
                <a:solidFill>
                  <a:schemeClr val="bg1"/>
                </a:solidFill>
                <a:latin typeface="NimbusRomNo9L-Regu"/>
              </a:rPr>
              <a:t>Funding for </a:t>
            </a:r>
            <a:r>
              <a:rPr lang="en-US" dirty="0">
                <a:solidFill>
                  <a:schemeClr val="bg1"/>
                </a:solidFill>
                <a:latin typeface="NimbusRomNo9L-Regu"/>
              </a:rPr>
              <a:t>this research has also been received from the Swedish Energy </a:t>
            </a:r>
            <a:r>
              <a:rPr lang="en-US" dirty="0" smtClean="0">
                <a:solidFill>
                  <a:schemeClr val="bg1"/>
                </a:solidFill>
                <a:latin typeface="NimbusRomNo9L-Regu"/>
              </a:rPr>
              <a:t>Agency </a:t>
            </a:r>
            <a:r>
              <a:rPr lang="sv-SE" dirty="0" err="1" smtClean="0">
                <a:solidFill>
                  <a:schemeClr val="bg1"/>
                </a:solidFill>
                <a:latin typeface="NimbusRomNo9L-Regu"/>
              </a:rPr>
              <a:t>through</a:t>
            </a:r>
            <a:r>
              <a:rPr lang="sv-SE" dirty="0" smtClean="0">
                <a:solidFill>
                  <a:schemeClr val="bg1"/>
                </a:solidFill>
                <a:latin typeface="NimbusRomNo9L-Regu"/>
              </a:rPr>
              <a:t> </a:t>
            </a:r>
            <a:r>
              <a:rPr lang="sv-SE" dirty="0">
                <a:solidFill>
                  <a:schemeClr val="bg1"/>
                </a:solidFill>
                <a:latin typeface="NimbusRomNo9L-Regu"/>
              </a:rPr>
              <a:t>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15</a:t>
            </a:fld>
            <a:endParaRPr lang="sv-SE"/>
          </a:p>
        </p:txBody>
      </p:sp>
    </p:spTree>
    <p:extLst>
      <p:ext uri="{BB962C8B-B14F-4D97-AF65-F5344CB8AC3E}">
        <p14:creationId xmlns:p14="http://schemas.microsoft.com/office/powerpoint/2010/main" val="933827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2152</TotalTime>
  <Words>1618</Words>
  <Application>Microsoft Office PowerPoint</Application>
  <PresentationFormat>Widescreen</PresentationFormat>
  <Paragraphs>156</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NimbusRomNo9L-Regu</vt:lpstr>
      <vt:lpstr>Figtree</vt:lpstr>
      <vt:lpstr>CMMI8</vt:lpstr>
      <vt:lpstr>CMMI7</vt:lpstr>
      <vt:lpstr>CMMI10</vt:lpstr>
      <vt:lpstr>Calibri</vt:lpstr>
      <vt:lpstr>CMMI6</vt:lpstr>
      <vt:lpstr>CMR7</vt:lpstr>
      <vt:lpstr>Office-tema</vt:lpstr>
      <vt:lpstr>Evaluation of Possible Traction Inverter Topologies for Heavy-Duty Electric Vehicles</vt:lpstr>
      <vt:lpstr>Introduction</vt:lpstr>
      <vt:lpstr>Design Chapters on Traction Inverters</vt:lpstr>
      <vt:lpstr>System Specifications, Requirements and Methodology</vt:lpstr>
      <vt:lpstr>Semiconductor Loss Calculations</vt:lpstr>
      <vt:lpstr>Switching Ratings Selection and FOM Parameters </vt:lpstr>
      <vt:lpstr>Implementation of the Loss Modelling in Different Topologies </vt:lpstr>
      <vt:lpstr>Cooling System Size Estimation</vt:lpstr>
      <vt:lpstr>DC-link Capacitance Requirements</vt:lpstr>
      <vt:lpstr>Output Harmonics</vt:lpstr>
      <vt:lpstr>Results – Die Area and Switching Frequency Selection</vt:lpstr>
      <vt:lpstr>Results – Cooling System Size and Output Harmonics</vt:lpstr>
      <vt:lpstr>Results – DC-link Capacitance and Reliability</vt:lpstr>
      <vt:lpstr>Summary</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79</cp:revision>
  <dcterms:created xsi:type="dcterms:W3CDTF">2024-11-29T08:44:28Z</dcterms:created>
  <dcterms:modified xsi:type="dcterms:W3CDTF">2025-04-08T20:38:35Z</dcterms:modified>
</cp:coreProperties>
</file>