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9" r:id="rId2"/>
    <p:sldId id="297" r:id="rId3"/>
    <p:sldId id="267" r:id="rId4"/>
    <p:sldId id="270" r:id="rId5"/>
    <p:sldId id="301" r:id="rId6"/>
    <p:sldId id="269" r:id="rId7"/>
    <p:sldId id="271" r:id="rId8"/>
    <p:sldId id="299" r:id="rId9"/>
    <p:sldId id="300" r:id="rId10"/>
    <p:sldId id="274" r:id="rId11"/>
    <p:sldId id="302" r:id="rId12"/>
    <p:sldId id="272" r:id="rId13"/>
    <p:sldId id="303" r:id="rId14"/>
    <p:sldId id="276" r:id="rId15"/>
    <p:sldId id="277" r:id="rId16"/>
    <p:sldId id="278" r:id="rId17"/>
    <p:sldId id="294" r:id="rId18"/>
    <p:sldId id="279" r:id="rId19"/>
    <p:sldId id="280" r:id="rId20"/>
    <p:sldId id="282" r:id="rId21"/>
    <p:sldId id="284" r:id="rId22"/>
    <p:sldId id="286" r:id="rId23"/>
    <p:sldId id="287" r:id="rId24"/>
    <p:sldId id="293" r:id="rId25"/>
    <p:sldId id="289" r:id="rId26"/>
    <p:sldId id="290" r:id="rId27"/>
    <p:sldId id="291" r:id="rId28"/>
    <p:sldId id="292" r:id="rId29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>
      <p:cViewPr>
        <p:scale>
          <a:sx n="100" d="100"/>
          <a:sy n="100" d="100"/>
        </p:scale>
        <p:origin x="357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2025-05-13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2025-05-13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2025-05-13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2025-05-13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2025-05-13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507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2025-05-13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  <p:sldLayoutId id="2147483657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6" y="1347614"/>
            <a:ext cx="8396560" cy="566641"/>
          </a:xfrm>
        </p:spPr>
        <p:txBody>
          <a:bodyPr/>
          <a:lstStyle/>
          <a:p>
            <a:r>
              <a:rPr lang="en-US" dirty="0" smtClean="0"/>
              <a:t>Holistic Design of 300kW (600kW) Traction Inverter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800" smtClean="0"/>
              <a:pPr/>
              <a:t>2025-05-13</a:t>
            </a:fld>
            <a:endParaRPr lang="sv-SE" sz="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8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800" smtClean="0"/>
              <a:pPr/>
              <a:t>2</a:t>
            </a:fld>
            <a:endParaRPr lang="sv-SE" sz="8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1560" y="1059582"/>
            <a:ext cx="7056784" cy="3456384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Key Parameter Indicators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Commercial </a:t>
            </a:r>
            <a:r>
              <a:rPr lang="en-US" sz="2000" b="1" dirty="0"/>
              <a:t>Traction Drives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Trends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Design Chapters and Methodology</a:t>
            </a:r>
          </a:p>
          <a:p>
            <a:pPr lvl="1"/>
            <a:r>
              <a:rPr lang="en-US" sz="1850" b="1" dirty="0" smtClean="0"/>
              <a:t>Topologies</a:t>
            </a:r>
          </a:p>
          <a:p>
            <a:pPr lvl="2"/>
            <a:r>
              <a:rPr lang="en-US" sz="1700" b="1" dirty="0" smtClean="0"/>
              <a:t>Two-level VSI</a:t>
            </a:r>
          </a:p>
          <a:p>
            <a:pPr lvl="2"/>
            <a:r>
              <a:rPr lang="en-US" sz="1700" b="1" dirty="0" smtClean="0"/>
              <a:t>Three-level NPC and T-type Inverters</a:t>
            </a:r>
          </a:p>
          <a:p>
            <a:pPr lvl="2"/>
            <a:r>
              <a:rPr lang="en-US" sz="1700" b="1" dirty="0" smtClean="0"/>
              <a:t>Modular Multi-level Inverters</a:t>
            </a:r>
          </a:p>
          <a:p>
            <a:pPr lvl="2"/>
            <a:r>
              <a:rPr lang="en-US" sz="1700" b="1" dirty="0" smtClean="0"/>
              <a:t>Cascaded H-bridges</a:t>
            </a:r>
          </a:p>
          <a:p>
            <a:pPr lvl="2"/>
            <a:r>
              <a:rPr lang="en-US" sz="1700" b="1" dirty="0" smtClean="0"/>
              <a:t>Stacked </a:t>
            </a:r>
            <a:r>
              <a:rPr lang="en-US" sz="1700" b="1" dirty="0"/>
              <a:t>P</a:t>
            </a:r>
            <a:r>
              <a:rPr lang="en-US" sz="1700" b="1" dirty="0" smtClean="0"/>
              <a:t>oly-phase Bridges</a:t>
            </a:r>
          </a:p>
          <a:p>
            <a:pPr lvl="2"/>
            <a:r>
              <a:rPr lang="en-US" sz="1700" b="1" dirty="0" smtClean="0"/>
              <a:t>Integrated Modular </a:t>
            </a:r>
            <a:r>
              <a:rPr lang="en-US" sz="1700" b="1" dirty="0"/>
              <a:t>M</a:t>
            </a:r>
            <a:r>
              <a:rPr lang="en-US" sz="1700" b="1" dirty="0" smtClean="0"/>
              <a:t>otor Drives</a:t>
            </a:r>
          </a:p>
          <a:p>
            <a:pPr lvl="2"/>
            <a:r>
              <a:rPr lang="en-US" sz="1700" b="1" dirty="0" smtClean="0"/>
              <a:t>Multiphase Drives</a:t>
            </a:r>
          </a:p>
          <a:p>
            <a:pPr lvl="1"/>
            <a:r>
              <a:rPr lang="en-US" sz="1700" b="1" dirty="0" smtClean="0"/>
              <a:t>Cooling Syste</a:t>
            </a:r>
            <a:r>
              <a:rPr lang="en-US" sz="1700" b="1" dirty="0"/>
              <a:t>m</a:t>
            </a:r>
            <a:endParaRPr lang="en-US" sz="1700" b="1" dirty="0" smtClean="0"/>
          </a:p>
          <a:p>
            <a:pPr lvl="1"/>
            <a:r>
              <a:rPr lang="en-US" sz="1700" b="1" dirty="0" smtClean="0"/>
              <a:t>DC-link Capacitance Investigation</a:t>
            </a:r>
          </a:p>
          <a:p>
            <a:pPr lvl="1"/>
            <a:r>
              <a:rPr lang="en-US" sz="1700" b="1" dirty="0" err="1" smtClean="0"/>
              <a:t>Busbar</a:t>
            </a:r>
            <a:r>
              <a:rPr lang="en-US" sz="1700" b="1" dirty="0" smtClean="0"/>
              <a:t> Design </a:t>
            </a:r>
            <a:endParaRPr lang="en-US" sz="1850" b="1" dirty="0" smtClean="0"/>
          </a:p>
          <a:p>
            <a:pPr marL="342900" lvl="1" indent="0">
              <a:buNone/>
            </a:pPr>
            <a:r>
              <a:rPr lang="en-US" sz="1850" b="1" dirty="0" smtClean="0"/>
              <a:t>										</a:t>
            </a:r>
          </a:p>
          <a:p>
            <a:pPr marL="342900" lvl="1" indent="0">
              <a:buNone/>
            </a:pPr>
            <a:endParaRPr lang="en-US" sz="1850" b="1" dirty="0" smtClean="0"/>
          </a:p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132804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2025-05-13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</a:t>
            </a:fld>
            <a:endParaRPr lang="sv-SE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B4C73D4-0DD6-A842-A039-9A920F38E6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9909" y="2685041"/>
            <a:ext cx="6336704" cy="1672917"/>
          </a:xfrm>
        </p:spPr>
        <p:txBody>
          <a:bodyPr>
            <a:normAutofit/>
          </a:bodyPr>
          <a:lstStyle/>
          <a:p>
            <a:pPr algn="just"/>
            <a:r>
              <a:rPr lang="en-US" sz="1200" b="1" dirty="0" smtClean="0">
                <a:solidFill>
                  <a:srgbClr val="C00000"/>
                </a:solidFill>
              </a:rPr>
              <a:t>New materials and optimization </a:t>
            </a:r>
            <a:r>
              <a:rPr lang="en-US" sz="1200" dirty="0" smtClean="0"/>
              <a:t>technologies will also be required to </a:t>
            </a:r>
            <a:r>
              <a:rPr lang="en-US" sz="1200" b="1" dirty="0" smtClean="0">
                <a:solidFill>
                  <a:srgbClr val="C00000"/>
                </a:solidFill>
              </a:rPr>
              <a:t>reduce volume</a:t>
            </a:r>
            <a:r>
              <a:rPr lang="en-US" sz="1200" dirty="0" smtClean="0"/>
              <a:t>, while</a:t>
            </a:r>
            <a:r>
              <a:rPr lang="en-US" sz="1200" b="1" dirty="0" smtClean="0"/>
              <a:t> </a:t>
            </a:r>
            <a:r>
              <a:rPr lang="en-US" sz="1200" b="1" dirty="0" smtClean="0">
                <a:solidFill>
                  <a:srgbClr val="C00000"/>
                </a:solidFill>
              </a:rPr>
              <a:t>new thermal management techniques</a:t>
            </a:r>
            <a:r>
              <a:rPr lang="en-US" sz="1200" dirty="0" smtClean="0">
                <a:solidFill>
                  <a:srgbClr val="C00000"/>
                </a:solidFill>
              </a:rPr>
              <a:t> </a:t>
            </a:r>
            <a:r>
              <a:rPr lang="en-US" sz="1200" dirty="0" smtClean="0"/>
              <a:t>will be applied to take the heat out more efficiently.</a:t>
            </a:r>
          </a:p>
          <a:p>
            <a:pPr algn="just"/>
            <a:endParaRPr lang="en-US" sz="1200" dirty="0" smtClean="0"/>
          </a:p>
          <a:p>
            <a:pPr algn="just"/>
            <a:r>
              <a:rPr lang="en-US" sz="1200" dirty="0" smtClean="0"/>
              <a:t>To </a:t>
            </a:r>
            <a:r>
              <a:rPr lang="en-US" sz="1200" dirty="0"/>
              <a:t>achieve higher power density </a:t>
            </a:r>
            <a:r>
              <a:rPr lang="en-US" sz="1200" dirty="0" smtClean="0"/>
              <a:t>and reduced </a:t>
            </a:r>
            <a:r>
              <a:rPr lang="en-US" sz="1200" dirty="0"/>
              <a:t>weight, the trend is toward </a:t>
            </a:r>
            <a:r>
              <a:rPr lang="en-US" sz="1200" b="1" dirty="0">
                <a:solidFill>
                  <a:srgbClr val="C00000"/>
                </a:solidFill>
              </a:rPr>
              <a:t>higher </a:t>
            </a:r>
            <a:r>
              <a:rPr lang="en-US" sz="1200" b="1" dirty="0" smtClean="0">
                <a:solidFill>
                  <a:srgbClr val="C00000"/>
                </a:solidFill>
              </a:rPr>
              <a:t>switching frequency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C00000"/>
                </a:solidFill>
              </a:rPr>
              <a:t>higher battery voltage</a:t>
            </a:r>
            <a:r>
              <a:rPr lang="en-US" sz="1200" dirty="0"/>
              <a:t>, </a:t>
            </a:r>
            <a:r>
              <a:rPr lang="en-US" sz="1200" dirty="0" smtClean="0"/>
              <a:t>the </a:t>
            </a:r>
            <a:r>
              <a:rPr lang="en-US" sz="1200" b="1" dirty="0" smtClean="0">
                <a:solidFill>
                  <a:srgbClr val="C00000"/>
                </a:solidFill>
              </a:rPr>
              <a:t>use </a:t>
            </a:r>
            <a:r>
              <a:rPr lang="en-US" sz="1200" b="1" dirty="0">
                <a:solidFill>
                  <a:srgbClr val="C00000"/>
                </a:solidFill>
              </a:rPr>
              <a:t>of </a:t>
            </a:r>
            <a:r>
              <a:rPr lang="en-US" sz="1200" b="1" dirty="0" smtClean="0">
                <a:solidFill>
                  <a:srgbClr val="C00000"/>
                </a:solidFill>
              </a:rPr>
              <a:t>WBG semiconductor </a:t>
            </a:r>
            <a:r>
              <a:rPr lang="en-US" sz="1200" b="1" dirty="0">
                <a:solidFill>
                  <a:srgbClr val="C00000"/>
                </a:solidFill>
              </a:rPr>
              <a:t>devices</a:t>
            </a:r>
            <a:r>
              <a:rPr lang="en-US" sz="1200" dirty="0">
                <a:solidFill>
                  <a:srgbClr val="C00000"/>
                </a:solidFill>
              </a:rPr>
              <a:t>,</a:t>
            </a:r>
            <a:r>
              <a:rPr lang="en-US" sz="1200" dirty="0"/>
              <a:t> and </a:t>
            </a:r>
            <a:r>
              <a:rPr lang="en-US" sz="1200" b="1" dirty="0">
                <a:solidFill>
                  <a:srgbClr val="C00000"/>
                </a:solidFill>
              </a:rPr>
              <a:t>tightly </a:t>
            </a:r>
            <a:r>
              <a:rPr lang="en-US" sz="1200" b="1" dirty="0" smtClean="0">
                <a:solidFill>
                  <a:srgbClr val="C00000"/>
                </a:solidFill>
              </a:rPr>
              <a:t>integrated packaging </a:t>
            </a:r>
            <a:r>
              <a:rPr lang="en-US" sz="1200" b="1" dirty="0">
                <a:solidFill>
                  <a:srgbClr val="C00000"/>
                </a:solidFill>
              </a:rPr>
              <a:t>with advanced thermal </a:t>
            </a:r>
            <a:r>
              <a:rPr lang="en-US" sz="1200" b="1" dirty="0" smtClean="0">
                <a:solidFill>
                  <a:srgbClr val="C00000"/>
                </a:solidFill>
              </a:rPr>
              <a:t>management systems </a:t>
            </a:r>
            <a:r>
              <a:rPr lang="en-US" sz="1200" dirty="0"/>
              <a:t>and materials. 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D87D12F-74B0-D14F-BBF8-FCA4F4CA27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00100" y="1464507"/>
            <a:ext cx="2160240" cy="2376264"/>
          </a:xfrm>
        </p:spPr>
        <p:txBody>
          <a:bodyPr/>
          <a:lstStyle/>
          <a:p>
            <a:pPr marL="0" indent="0" algn="just">
              <a:buNone/>
            </a:pPr>
            <a:r>
              <a:rPr lang="en-US" sz="1400" b="1" u="sng" dirty="0" smtClean="0">
                <a:solidFill>
                  <a:srgbClr val="0070C0"/>
                </a:solidFill>
              </a:rPr>
              <a:t>KPIs</a:t>
            </a:r>
          </a:p>
          <a:p>
            <a:pPr algn="just"/>
            <a:r>
              <a:rPr lang="en-US" sz="1400" dirty="0" smtClean="0"/>
              <a:t>Volume </a:t>
            </a:r>
            <a:r>
              <a:rPr lang="en-US" sz="1400" dirty="0"/>
              <a:t>(50kW/L)</a:t>
            </a:r>
          </a:p>
          <a:p>
            <a:pPr algn="just"/>
            <a:r>
              <a:rPr lang="en-US" sz="1400" dirty="0"/>
              <a:t>Losses/Efficiency (99.5%)</a:t>
            </a:r>
          </a:p>
          <a:p>
            <a:pPr algn="just"/>
            <a:r>
              <a:rPr lang="en-US" sz="1400" dirty="0" smtClean="0"/>
              <a:t>Cost </a:t>
            </a:r>
            <a:endParaRPr lang="en-US" sz="1400" dirty="0"/>
          </a:p>
          <a:p>
            <a:pPr algn="just"/>
            <a:r>
              <a:rPr lang="en-US" sz="1400" dirty="0" smtClean="0"/>
              <a:t>Reliability</a:t>
            </a:r>
          </a:p>
          <a:p>
            <a:pPr algn="just"/>
            <a:r>
              <a:rPr lang="en-US" sz="1400" dirty="0" smtClean="0"/>
              <a:t>Life cycle cost (LCC) (energy-wise favorable)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Key parameter </a:t>
            </a:r>
            <a:r>
              <a:rPr lang="en-US" sz="2800" dirty="0" smtClean="0"/>
              <a:t>indicators (KPIs)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282055" y="4499904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[1]  </a:t>
            </a:r>
            <a:r>
              <a:rPr lang="en-US" sz="900" dirty="0" smtClean="0"/>
              <a:t> </a:t>
            </a:r>
            <a:r>
              <a:rPr lang="sv-SE" sz="900" dirty="0" smtClean="0">
                <a:latin typeface="Arial" panose="020B0604020202020204" pitchFamily="34" charset="0"/>
              </a:rPr>
              <a:t>I</a:t>
            </a:r>
            <a:r>
              <a:rPr lang="sv-SE" sz="900" dirty="0">
                <a:latin typeface="Arial" panose="020B0604020202020204" pitchFamily="34" charset="0"/>
              </a:rPr>
              <a:t>. </a:t>
            </a:r>
            <a:r>
              <a:rPr lang="sv-SE" sz="900" dirty="0" err="1">
                <a:latin typeface="Arial" panose="020B0604020202020204" pitchFamily="34" charset="0"/>
              </a:rPr>
              <a:t>Husain</a:t>
            </a:r>
            <a:r>
              <a:rPr lang="sv-SE" sz="900" dirty="0">
                <a:latin typeface="Arial" panose="020B0604020202020204" pitchFamily="34" charset="0"/>
              </a:rPr>
              <a:t>, B. </a:t>
            </a:r>
            <a:r>
              <a:rPr lang="sv-SE" sz="900" dirty="0" err="1">
                <a:latin typeface="Arial" panose="020B0604020202020204" pitchFamily="34" charset="0"/>
              </a:rPr>
              <a:t>Ozpineci</a:t>
            </a:r>
            <a:r>
              <a:rPr lang="sv-SE" sz="900" dirty="0">
                <a:latin typeface="Arial" panose="020B0604020202020204" pitchFamily="34" charset="0"/>
              </a:rPr>
              <a:t>, M. S. Islam, E. </a:t>
            </a:r>
            <a:r>
              <a:rPr lang="sv-SE" sz="900" dirty="0" err="1">
                <a:latin typeface="Arial" panose="020B0604020202020204" pitchFamily="34" charset="0"/>
              </a:rPr>
              <a:t>Gurpinar</a:t>
            </a:r>
            <a:r>
              <a:rPr lang="sv-SE" sz="900" dirty="0">
                <a:latin typeface="Arial" panose="020B0604020202020204" pitchFamily="34" charset="0"/>
              </a:rPr>
              <a:t>, G.-J. </a:t>
            </a:r>
            <a:r>
              <a:rPr lang="sv-SE" sz="900" dirty="0" err="1">
                <a:latin typeface="Arial" panose="020B0604020202020204" pitchFamily="34" charset="0"/>
              </a:rPr>
              <a:t>Su</a:t>
            </a:r>
            <a:r>
              <a:rPr lang="sv-SE" sz="900" dirty="0">
                <a:latin typeface="Arial" panose="020B0604020202020204" pitchFamily="34" charset="0"/>
              </a:rPr>
              <a:t>, W. </a:t>
            </a:r>
            <a:r>
              <a:rPr lang="sv-SE" sz="900" dirty="0" err="1" smtClean="0">
                <a:latin typeface="Arial" panose="020B0604020202020204" pitchFamily="34" charset="0"/>
              </a:rPr>
              <a:t>Yu</a:t>
            </a:r>
            <a:r>
              <a:rPr lang="sv-SE" sz="900" dirty="0" smtClean="0">
                <a:latin typeface="Arial" panose="020B0604020202020204" pitchFamily="34" charset="0"/>
              </a:rPr>
              <a:t>,</a:t>
            </a:r>
            <a:r>
              <a:rPr lang="sv-SE" sz="900" dirty="0" smtClean="0"/>
              <a:t> </a:t>
            </a:r>
            <a:r>
              <a:rPr lang="sv-SE" sz="900" dirty="0" smtClean="0">
                <a:latin typeface="Arial" panose="020B0604020202020204" pitchFamily="34" charset="0"/>
              </a:rPr>
              <a:t>S</a:t>
            </a:r>
            <a:r>
              <a:rPr lang="sv-SE" sz="900" dirty="0">
                <a:latin typeface="Arial" panose="020B0604020202020204" pitchFamily="34" charset="0"/>
              </a:rPr>
              <a:t>. </a:t>
            </a:r>
            <a:r>
              <a:rPr lang="sv-SE" sz="900" dirty="0" err="1">
                <a:latin typeface="Arial" panose="020B0604020202020204" pitchFamily="34" charset="0"/>
              </a:rPr>
              <a:t>Chowdhury</a:t>
            </a:r>
            <a:r>
              <a:rPr lang="sv-SE" sz="900" dirty="0">
                <a:latin typeface="Arial" panose="020B0604020202020204" pitchFamily="34" charset="0"/>
              </a:rPr>
              <a:t>, L. </a:t>
            </a:r>
            <a:r>
              <a:rPr lang="sv-SE" sz="900" dirty="0" err="1">
                <a:latin typeface="Arial" panose="020B0604020202020204" pitchFamily="34" charset="0"/>
              </a:rPr>
              <a:t>Xue</a:t>
            </a:r>
            <a:r>
              <a:rPr lang="sv-SE" sz="900" dirty="0">
                <a:latin typeface="Arial" panose="020B0604020202020204" pitchFamily="34" charset="0"/>
              </a:rPr>
              <a:t>, D. Rahman, and R. </a:t>
            </a:r>
            <a:r>
              <a:rPr lang="sv-SE" sz="900" dirty="0" err="1">
                <a:latin typeface="Arial" panose="020B0604020202020204" pitchFamily="34" charset="0"/>
              </a:rPr>
              <a:t>Sahu</a:t>
            </a:r>
            <a:r>
              <a:rPr lang="sv-SE" sz="900" dirty="0">
                <a:latin typeface="Arial" panose="020B0604020202020204" pitchFamily="34" charset="0"/>
              </a:rPr>
              <a:t>, “Electric drive </a:t>
            </a:r>
            <a:r>
              <a:rPr lang="sv-SE" sz="900" dirty="0" err="1" smtClean="0">
                <a:latin typeface="Arial" panose="020B0604020202020204" pitchFamily="34" charset="0"/>
              </a:rPr>
              <a:t>technology</a:t>
            </a:r>
            <a:r>
              <a:rPr lang="sv-SE" sz="900" dirty="0" smtClean="0">
                <a:latin typeface="Arial" panose="020B0604020202020204" pitchFamily="34" charset="0"/>
              </a:rPr>
              <a:t> </a:t>
            </a:r>
            <a:r>
              <a:rPr lang="sv-SE" sz="900" dirty="0">
                <a:latin typeface="Arial" panose="020B0604020202020204" pitchFamily="34" charset="0"/>
              </a:rPr>
              <a:t>trends, </a:t>
            </a:r>
            <a:r>
              <a:rPr lang="sv-SE" sz="900" dirty="0" err="1">
                <a:latin typeface="Arial" panose="020B0604020202020204" pitchFamily="34" charset="0"/>
              </a:rPr>
              <a:t>challenges</a:t>
            </a:r>
            <a:r>
              <a:rPr lang="sv-SE" sz="900" dirty="0">
                <a:latin typeface="Arial" panose="020B0604020202020204" pitchFamily="34" charset="0"/>
              </a:rPr>
              <a:t>, and </a:t>
            </a:r>
            <a:r>
              <a:rPr lang="sv-SE" sz="900" dirty="0" err="1">
                <a:latin typeface="Arial" panose="020B0604020202020204" pitchFamily="34" charset="0"/>
              </a:rPr>
              <a:t>opportunities</a:t>
            </a:r>
            <a:r>
              <a:rPr lang="sv-SE" sz="900" dirty="0">
                <a:latin typeface="Arial" panose="020B0604020202020204" pitchFamily="34" charset="0"/>
              </a:rPr>
              <a:t> for </a:t>
            </a:r>
            <a:r>
              <a:rPr lang="sv-SE" sz="900" dirty="0" err="1">
                <a:latin typeface="Arial" panose="020B0604020202020204" pitchFamily="34" charset="0"/>
              </a:rPr>
              <a:t>future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electric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vehicles</a:t>
            </a:r>
            <a:r>
              <a:rPr lang="sv-SE" sz="900" dirty="0" smtClean="0">
                <a:latin typeface="Arial" panose="020B0604020202020204" pitchFamily="34" charset="0"/>
              </a:rPr>
              <a:t>,”</a:t>
            </a:r>
            <a:r>
              <a:rPr lang="sv-SE" sz="900" dirty="0" smtClean="0"/>
              <a:t> </a:t>
            </a:r>
            <a:r>
              <a:rPr lang="sv-SE" sz="900" dirty="0" err="1" smtClean="0">
                <a:latin typeface="Arial" panose="020B0604020202020204" pitchFamily="34" charset="0"/>
              </a:rPr>
              <a:t>Proceedings</a:t>
            </a:r>
            <a:r>
              <a:rPr lang="sv-SE" sz="900" dirty="0" smtClean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of</a:t>
            </a:r>
            <a:r>
              <a:rPr lang="sv-SE" sz="900" dirty="0">
                <a:latin typeface="Arial" panose="020B0604020202020204" pitchFamily="34" charset="0"/>
              </a:rPr>
              <a:t> the IEEE, vol. 109, no. 6, </a:t>
            </a:r>
            <a:r>
              <a:rPr lang="sv-SE" sz="900" dirty="0" err="1">
                <a:latin typeface="Arial" panose="020B0604020202020204" pitchFamily="34" charset="0"/>
              </a:rPr>
              <a:t>pp</a:t>
            </a:r>
            <a:r>
              <a:rPr lang="sv-SE" sz="900" dirty="0">
                <a:latin typeface="Arial" panose="020B0604020202020204" pitchFamily="34" charset="0"/>
              </a:rPr>
              <a:t>. 1039–1059, 202</a:t>
            </a:r>
            <a:endParaRPr lang="sv-SE" sz="900" dirty="0"/>
          </a:p>
        </p:txBody>
      </p:sp>
      <p:sp>
        <p:nvSpPr>
          <p:cNvPr id="2" name="Rectangle 1"/>
          <p:cNvSpPr/>
          <p:nvPr/>
        </p:nvSpPr>
        <p:spPr>
          <a:xfrm>
            <a:off x="3491880" y="1039678"/>
            <a:ext cx="3643946" cy="19697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Higher </a:t>
            </a:r>
            <a:r>
              <a:rPr lang="en-US" sz="1400" b="1" dirty="0">
                <a:solidFill>
                  <a:srgbClr val="0070C0"/>
                </a:solidFill>
              </a:rPr>
              <a:t>power </a:t>
            </a:r>
            <a:r>
              <a:rPr lang="en-US" sz="1400" b="1" dirty="0" smtClean="0">
                <a:solidFill>
                  <a:srgbClr val="0070C0"/>
                </a:solidFill>
              </a:rPr>
              <a:t>density </a:t>
            </a:r>
            <a:r>
              <a:rPr lang="en-US" sz="1400" dirty="0" smtClean="0">
                <a:solidFill>
                  <a:srgbClr val="0070C0"/>
                </a:solidFill>
              </a:rPr>
              <a:t>and</a:t>
            </a:r>
            <a:r>
              <a:rPr lang="en-US" sz="1400" b="1" dirty="0" smtClean="0">
                <a:solidFill>
                  <a:srgbClr val="0070C0"/>
                </a:solidFill>
              </a:rPr>
              <a:t> Lower Losses </a:t>
            </a:r>
          </a:p>
          <a:p>
            <a:endParaRPr lang="sv-SE" b="1" u="sng" dirty="0" smtClean="0"/>
          </a:p>
          <a:p>
            <a:r>
              <a:rPr lang="sv-SE" b="1" u="sng" dirty="0" err="1" smtClean="0"/>
              <a:t>Holistic</a:t>
            </a:r>
            <a:r>
              <a:rPr lang="sv-SE" b="1" u="sng" dirty="0" smtClean="0"/>
              <a:t> </a:t>
            </a:r>
            <a:r>
              <a:rPr lang="sv-SE" b="1" u="sng" dirty="0" err="1" smtClean="0"/>
              <a:t>optimization</a:t>
            </a:r>
            <a:r>
              <a:rPr lang="sv-SE" b="1" u="sng" dirty="0" smtClean="0"/>
              <a:t> </a:t>
            </a:r>
            <a:r>
              <a:rPr lang="sv-SE" b="1" u="sng" dirty="0" err="1" smtClean="0"/>
              <a:t>methods</a:t>
            </a:r>
            <a:endParaRPr lang="sv-SE" b="1" u="sng" dirty="0" smtClean="0"/>
          </a:p>
          <a:p>
            <a:r>
              <a:rPr lang="sv-SE" dirty="0" err="1" smtClean="0"/>
              <a:t>Utilizing</a:t>
            </a:r>
            <a:r>
              <a:rPr lang="sv-SE" dirty="0" smtClean="0"/>
              <a:t> new </a:t>
            </a:r>
            <a:r>
              <a:rPr lang="sv-SE" dirty="0" err="1" smtClean="0"/>
              <a:t>thermal</a:t>
            </a:r>
            <a:r>
              <a:rPr lang="sv-SE" smtClean="0"/>
              <a:t> management</a:t>
            </a:r>
          </a:p>
          <a:p>
            <a:endParaRPr lang="sv-SE" dirty="0" smtClean="0"/>
          </a:p>
          <a:p>
            <a:endParaRPr lang="sv-SE" dirty="0" smtClean="0"/>
          </a:p>
          <a:p>
            <a:endParaRPr lang="sv-SE" b="1" u="sng" dirty="0"/>
          </a:p>
          <a:p>
            <a:endParaRPr lang="sv-SE" b="1" u="sng" dirty="0" smtClean="0"/>
          </a:p>
          <a:p>
            <a:endParaRPr lang="sv-SE" b="1" u="sng" dirty="0"/>
          </a:p>
        </p:txBody>
      </p:sp>
    </p:spTree>
    <p:extLst>
      <p:ext uri="{BB962C8B-B14F-4D97-AF65-F5344CB8AC3E}">
        <p14:creationId xmlns:p14="http://schemas.microsoft.com/office/powerpoint/2010/main" val="43725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0" dirty="0" smtClean="0"/>
              <a:t>Commercial </a:t>
            </a:r>
            <a:r>
              <a:rPr lang="sv-SE" b="0" dirty="0" err="1" smtClean="0"/>
              <a:t>Traction</a:t>
            </a:r>
            <a:r>
              <a:rPr lang="sv-SE" b="0" dirty="0" smtClean="0"/>
              <a:t> Drives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1600" y="903282"/>
            <a:ext cx="7765653" cy="35409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200" b="1" u="sng" dirty="0" smtClean="0">
                <a:solidFill>
                  <a:srgbClr val="0070C0"/>
                </a:solidFill>
              </a:rPr>
              <a:t>Topology: </a:t>
            </a:r>
          </a:p>
          <a:p>
            <a:pPr algn="just"/>
            <a:r>
              <a:rPr lang="en-US" sz="1200" dirty="0" smtClean="0"/>
              <a:t>Traction </a:t>
            </a:r>
            <a:r>
              <a:rPr lang="en-US" sz="1200" dirty="0"/>
              <a:t>inverters used in BEVs/HEVs </a:t>
            </a:r>
            <a:r>
              <a:rPr lang="en-US" sz="1200" dirty="0" smtClean="0"/>
              <a:t>are dominated </a:t>
            </a:r>
            <a:r>
              <a:rPr lang="en-US" sz="1200" dirty="0"/>
              <a:t>by </a:t>
            </a:r>
            <a:r>
              <a:rPr lang="en-US" sz="1200" dirty="0" smtClean="0"/>
              <a:t>the </a:t>
            </a:r>
            <a:r>
              <a:rPr lang="en-US" sz="1200" b="1" dirty="0" smtClean="0"/>
              <a:t>2-level</a:t>
            </a:r>
            <a:r>
              <a:rPr lang="en-US" sz="1200" dirty="0" smtClean="0"/>
              <a:t> </a:t>
            </a:r>
            <a:r>
              <a:rPr lang="en-US" sz="1200" b="1" dirty="0"/>
              <a:t>three-phase voltage-source </a:t>
            </a:r>
            <a:r>
              <a:rPr lang="en-US" sz="1200" dirty="0" smtClean="0"/>
              <a:t>inverter (VSI</a:t>
            </a:r>
            <a:r>
              <a:rPr lang="en-US" sz="1200" dirty="0"/>
              <a:t>) topology because of its </a:t>
            </a:r>
            <a:r>
              <a:rPr lang="en-US" sz="1200" b="1" dirty="0"/>
              <a:t>high </a:t>
            </a:r>
            <a:r>
              <a:rPr lang="en-US" sz="1200" b="1" dirty="0" smtClean="0"/>
              <a:t>efficiency (for lower switching frequency)</a:t>
            </a:r>
            <a:r>
              <a:rPr lang="en-US" sz="1200" dirty="0" smtClean="0"/>
              <a:t>, </a:t>
            </a:r>
            <a:r>
              <a:rPr lang="en-US" sz="1200" b="1" dirty="0"/>
              <a:t>low </a:t>
            </a:r>
            <a:r>
              <a:rPr lang="en-US" sz="1200" b="1" dirty="0" smtClean="0"/>
              <a:t>cost</a:t>
            </a:r>
            <a:r>
              <a:rPr lang="en-US" sz="1200" dirty="0" smtClean="0"/>
              <a:t>, and </a:t>
            </a:r>
            <a:r>
              <a:rPr lang="en-US" sz="1200" b="1" dirty="0"/>
              <a:t>simple </a:t>
            </a:r>
            <a:r>
              <a:rPr lang="en-US" sz="1200" b="1" dirty="0" smtClean="0"/>
              <a:t>control </a:t>
            </a:r>
            <a:r>
              <a:rPr lang="en-US" sz="1200" dirty="0" smtClean="0"/>
              <a:t>requirements.</a:t>
            </a:r>
          </a:p>
          <a:p>
            <a:pPr marL="0" indent="0" algn="just">
              <a:buNone/>
            </a:pPr>
            <a:r>
              <a:rPr lang="en-US" sz="1200" b="1" u="sng" dirty="0" smtClean="0">
                <a:solidFill>
                  <a:srgbClr val="0070C0"/>
                </a:solidFill>
              </a:rPr>
              <a:t>Power Switches:</a:t>
            </a:r>
            <a:endParaRPr lang="en-US" sz="1200" b="1" u="sng" dirty="0">
              <a:solidFill>
                <a:srgbClr val="0070C0"/>
              </a:solidFill>
            </a:endParaRPr>
          </a:p>
          <a:p>
            <a:pPr algn="just"/>
            <a:r>
              <a:rPr lang="en-US" sz="1200" b="1" dirty="0" smtClean="0"/>
              <a:t> IGBTs</a:t>
            </a:r>
            <a:r>
              <a:rPr lang="en-US" sz="1200" dirty="0" smtClean="0"/>
              <a:t> </a:t>
            </a:r>
            <a:r>
              <a:rPr lang="en-US" sz="1200" dirty="0"/>
              <a:t>have been the </a:t>
            </a:r>
            <a:r>
              <a:rPr lang="en-US" sz="1200" b="1" dirty="0"/>
              <a:t>predominant</a:t>
            </a:r>
            <a:r>
              <a:rPr lang="en-US" sz="1200" dirty="0"/>
              <a:t> choice for traction inverters compared to other switching devices. This is due to the maturity of the technology, its wide availability, </a:t>
            </a:r>
            <a:r>
              <a:rPr lang="en-US" sz="1200" b="1" dirty="0"/>
              <a:t>low cost</a:t>
            </a:r>
            <a:r>
              <a:rPr lang="en-US" sz="1200" dirty="0" smtClean="0"/>
              <a:t>, </a:t>
            </a:r>
            <a:r>
              <a:rPr lang="en-US" sz="1200" b="1" dirty="0"/>
              <a:t>decent efficiency</a:t>
            </a:r>
            <a:r>
              <a:rPr lang="en-US" sz="1200" dirty="0"/>
              <a:t>, and </a:t>
            </a:r>
            <a:r>
              <a:rPr lang="en-US" sz="1200" b="1" dirty="0"/>
              <a:t>good short </a:t>
            </a:r>
            <a:r>
              <a:rPr lang="en-US" sz="1200" b="1" dirty="0" smtClean="0"/>
              <a:t>circuit capability </a:t>
            </a:r>
            <a:r>
              <a:rPr lang="en-US" sz="1200" dirty="0"/>
              <a:t>of around 10μs</a:t>
            </a:r>
            <a:r>
              <a:rPr lang="en-US" sz="1200" dirty="0" smtClean="0"/>
              <a:t> </a:t>
            </a:r>
            <a:r>
              <a:rPr lang="en-US" sz="1200" dirty="0"/>
              <a:t>and </a:t>
            </a:r>
            <a:r>
              <a:rPr lang="en-US" sz="1200" b="1" dirty="0"/>
              <a:t>sufficient power </a:t>
            </a:r>
            <a:r>
              <a:rPr lang="en-US" sz="1200" b="1" dirty="0" smtClean="0"/>
              <a:t>capability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b="1" dirty="0" smtClean="0"/>
              <a:t>Almost all </a:t>
            </a:r>
            <a:r>
              <a:rPr lang="en-US" sz="1200" dirty="0" smtClean="0"/>
              <a:t>traction inverters </a:t>
            </a:r>
            <a:r>
              <a:rPr lang="en-US" sz="1200" dirty="0"/>
              <a:t>are built with </a:t>
            </a:r>
            <a:r>
              <a:rPr lang="en-US" sz="1200" b="1" dirty="0" smtClean="0"/>
              <a:t>modules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/>
              <a:t>Recent advances in </a:t>
            </a:r>
            <a:r>
              <a:rPr lang="en-US" sz="1200" dirty="0" smtClean="0"/>
              <a:t>WBG devices</a:t>
            </a:r>
            <a:r>
              <a:rPr lang="en-US" sz="1200" dirty="0"/>
              <a:t>, particularly </a:t>
            </a:r>
            <a:r>
              <a:rPr lang="en-US" sz="1200" b="1" dirty="0" err="1"/>
              <a:t>SiC</a:t>
            </a:r>
            <a:r>
              <a:rPr lang="en-US" sz="1200" dirty="0"/>
              <a:t> and </a:t>
            </a:r>
            <a:r>
              <a:rPr lang="en-US" sz="1200" dirty="0" err="1"/>
              <a:t>GaN</a:t>
            </a:r>
            <a:r>
              <a:rPr lang="en-US" sz="1200" dirty="0"/>
              <a:t> devices, promise</a:t>
            </a:r>
            <a:br>
              <a:rPr lang="en-US" sz="1200" dirty="0"/>
            </a:br>
            <a:r>
              <a:rPr lang="en-US" sz="1200" dirty="0"/>
              <a:t>significant power density and efficiency increases </a:t>
            </a:r>
            <a:r>
              <a:rPr lang="en-US" sz="1200" dirty="0" smtClean="0"/>
              <a:t>in traction </a:t>
            </a:r>
            <a:r>
              <a:rPr lang="en-US" sz="1200" dirty="0"/>
              <a:t>inverter </a:t>
            </a:r>
            <a:r>
              <a:rPr lang="en-US" sz="1200" dirty="0" smtClean="0"/>
              <a:t>drives.</a:t>
            </a:r>
          </a:p>
          <a:p>
            <a:pPr marL="0" indent="0" algn="just">
              <a:buNone/>
            </a:pPr>
            <a:r>
              <a:rPr lang="en-US" sz="1200" b="1" dirty="0" smtClean="0">
                <a:solidFill>
                  <a:srgbClr val="0070C0"/>
                </a:solidFill>
              </a:rPr>
              <a:t>DC-link Voltage:</a:t>
            </a:r>
            <a:endParaRPr lang="en-US" sz="1200" b="1" dirty="0">
              <a:solidFill>
                <a:srgbClr val="0070C0"/>
              </a:solidFill>
            </a:endParaRPr>
          </a:p>
          <a:p>
            <a:pPr algn="just"/>
            <a:r>
              <a:rPr lang="en-US" sz="1200" dirty="0"/>
              <a:t>Although the nominal dc-link voltage of </a:t>
            </a:r>
            <a:r>
              <a:rPr lang="en-US" sz="1200" b="1" dirty="0"/>
              <a:t>400 </a:t>
            </a:r>
            <a:r>
              <a:rPr lang="en-US" sz="1200" b="1" dirty="0" smtClean="0"/>
              <a:t>V </a:t>
            </a:r>
            <a:r>
              <a:rPr lang="en-US" sz="1200" dirty="0" smtClean="0"/>
              <a:t>is </a:t>
            </a:r>
            <a:r>
              <a:rPr lang="en-US" sz="1200" dirty="0"/>
              <a:t>used BEVs and PHEVs, With the advent of </a:t>
            </a:r>
            <a:r>
              <a:rPr lang="en-US" sz="1200" dirty="0" err="1"/>
              <a:t>SiC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technology, </a:t>
            </a:r>
            <a:r>
              <a:rPr lang="en-US" sz="1200" b="1" dirty="0"/>
              <a:t>800-V </a:t>
            </a:r>
            <a:r>
              <a:rPr lang="en-US" sz="1200" dirty="0"/>
              <a:t>nominal dc-link voltage is </a:t>
            </a:r>
            <a:r>
              <a:rPr lang="en-US" sz="1200" dirty="0" smtClean="0"/>
              <a:t>being considered </a:t>
            </a:r>
            <a:r>
              <a:rPr lang="en-US" sz="1200" dirty="0"/>
              <a:t>for passenger vehicles to provide </a:t>
            </a:r>
            <a:r>
              <a:rPr lang="en-US" sz="1200" dirty="0" smtClean="0"/>
              <a:t>system-level benefits </a:t>
            </a:r>
            <a:r>
              <a:rPr lang="en-US" sz="1200" dirty="0"/>
              <a:t>to the EV </a:t>
            </a:r>
            <a:r>
              <a:rPr lang="en-US" sz="1200" dirty="0" smtClean="0"/>
              <a:t>powertrain.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251520" y="4315227"/>
            <a:ext cx="8784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[1]   </a:t>
            </a:r>
            <a:r>
              <a:rPr lang="sv-SE" sz="800" dirty="0">
                <a:latin typeface="Arial" panose="020B0604020202020204" pitchFamily="34" charset="0"/>
              </a:rPr>
              <a:t>I. </a:t>
            </a:r>
            <a:r>
              <a:rPr lang="sv-SE" sz="800" dirty="0" err="1">
                <a:latin typeface="Arial" panose="020B0604020202020204" pitchFamily="34" charset="0"/>
              </a:rPr>
              <a:t>Husain</a:t>
            </a:r>
            <a:r>
              <a:rPr lang="sv-SE" sz="800" dirty="0">
                <a:latin typeface="Arial" panose="020B0604020202020204" pitchFamily="34" charset="0"/>
              </a:rPr>
              <a:t>, B. </a:t>
            </a:r>
            <a:r>
              <a:rPr lang="sv-SE" sz="800" dirty="0" err="1">
                <a:latin typeface="Arial" panose="020B0604020202020204" pitchFamily="34" charset="0"/>
              </a:rPr>
              <a:t>Ozpineci</a:t>
            </a:r>
            <a:r>
              <a:rPr lang="sv-SE" sz="800" dirty="0">
                <a:latin typeface="Arial" panose="020B0604020202020204" pitchFamily="34" charset="0"/>
              </a:rPr>
              <a:t>, M. S. Islam, E. </a:t>
            </a:r>
            <a:r>
              <a:rPr lang="sv-SE" sz="800" dirty="0" err="1">
                <a:latin typeface="Arial" panose="020B0604020202020204" pitchFamily="34" charset="0"/>
              </a:rPr>
              <a:t>Gurpinar</a:t>
            </a:r>
            <a:r>
              <a:rPr lang="sv-SE" sz="800" dirty="0">
                <a:latin typeface="Arial" panose="020B0604020202020204" pitchFamily="34" charset="0"/>
              </a:rPr>
              <a:t>, G.-J. </a:t>
            </a:r>
            <a:r>
              <a:rPr lang="sv-SE" sz="800" dirty="0" err="1">
                <a:latin typeface="Arial" panose="020B0604020202020204" pitchFamily="34" charset="0"/>
              </a:rPr>
              <a:t>Su</a:t>
            </a:r>
            <a:r>
              <a:rPr lang="sv-SE" sz="800" dirty="0">
                <a:latin typeface="Arial" panose="020B0604020202020204" pitchFamily="34" charset="0"/>
              </a:rPr>
              <a:t>, W. </a:t>
            </a:r>
            <a:r>
              <a:rPr lang="sv-SE" sz="800" dirty="0" err="1">
                <a:latin typeface="Arial" panose="020B0604020202020204" pitchFamily="34" charset="0"/>
              </a:rPr>
              <a:t>Yu</a:t>
            </a:r>
            <a:r>
              <a:rPr lang="sv-SE" sz="800" dirty="0">
                <a:latin typeface="Arial" panose="020B0604020202020204" pitchFamily="34" charset="0"/>
              </a:rPr>
              <a:t>,</a:t>
            </a:r>
            <a:r>
              <a:rPr lang="sv-SE" sz="800" dirty="0"/>
              <a:t> </a:t>
            </a:r>
            <a:r>
              <a:rPr lang="sv-SE" sz="800" dirty="0">
                <a:latin typeface="Arial" panose="020B0604020202020204" pitchFamily="34" charset="0"/>
              </a:rPr>
              <a:t>S. </a:t>
            </a:r>
            <a:r>
              <a:rPr lang="sv-SE" sz="800" dirty="0" err="1">
                <a:latin typeface="Arial" panose="020B0604020202020204" pitchFamily="34" charset="0"/>
              </a:rPr>
              <a:t>Chowdhury</a:t>
            </a:r>
            <a:r>
              <a:rPr lang="sv-SE" sz="800" dirty="0">
                <a:latin typeface="Arial" panose="020B0604020202020204" pitchFamily="34" charset="0"/>
              </a:rPr>
              <a:t>, L. </a:t>
            </a:r>
            <a:r>
              <a:rPr lang="sv-SE" sz="800" dirty="0" err="1">
                <a:latin typeface="Arial" panose="020B0604020202020204" pitchFamily="34" charset="0"/>
              </a:rPr>
              <a:t>Xue</a:t>
            </a:r>
            <a:r>
              <a:rPr lang="sv-SE" sz="800" dirty="0">
                <a:latin typeface="Arial" panose="020B0604020202020204" pitchFamily="34" charset="0"/>
              </a:rPr>
              <a:t>, D. Rahman, and R. </a:t>
            </a:r>
            <a:r>
              <a:rPr lang="sv-SE" sz="800" dirty="0" err="1">
                <a:latin typeface="Arial" panose="020B0604020202020204" pitchFamily="34" charset="0"/>
              </a:rPr>
              <a:t>Sahu</a:t>
            </a:r>
            <a:r>
              <a:rPr lang="sv-SE" sz="800" dirty="0">
                <a:latin typeface="Arial" panose="020B0604020202020204" pitchFamily="34" charset="0"/>
              </a:rPr>
              <a:t>, “Electric drive </a:t>
            </a:r>
            <a:r>
              <a:rPr lang="sv-SE" sz="800" dirty="0" err="1">
                <a:latin typeface="Arial" panose="020B0604020202020204" pitchFamily="34" charset="0"/>
              </a:rPr>
              <a:t>technology</a:t>
            </a:r>
            <a:r>
              <a:rPr lang="sv-SE" sz="800" dirty="0">
                <a:latin typeface="Arial" panose="020B0604020202020204" pitchFamily="34" charset="0"/>
              </a:rPr>
              <a:t> trends, </a:t>
            </a:r>
            <a:r>
              <a:rPr lang="sv-SE" sz="800" dirty="0" err="1">
                <a:latin typeface="Arial" panose="020B0604020202020204" pitchFamily="34" charset="0"/>
              </a:rPr>
              <a:t>challenges</a:t>
            </a:r>
            <a:r>
              <a:rPr lang="sv-SE" sz="800" dirty="0">
                <a:latin typeface="Arial" panose="020B0604020202020204" pitchFamily="34" charset="0"/>
              </a:rPr>
              <a:t>, and </a:t>
            </a:r>
            <a:r>
              <a:rPr lang="sv-SE" sz="800" dirty="0" err="1">
                <a:latin typeface="Arial" panose="020B0604020202020204" pitchFamily="34" charset="0"/>
              </a:rPr>
              <a:t>opportunities</a:t>
            </a:r>
            <a:r>
              <a:rPr lang="sv-SE" sz="800" dirty="0">
                <a:latin typeface="Arial" panose="020B0604020202020204" pitchFamily="34" charset="0"/>
              </a:rPr>
              <a:t> for </a:t>
            </a:r>
            <a:r>
              <a:rPr lang="sv-SE" sz="800" dirty="0" err="1">
                <a:latin typeface="Arial" panose="020B0604020202020204" pitchFamily="34" charset="0"/>
              </a:rPr>
              <a:t>future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electric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vehicles</a:t>
            </a:r>
            <a:r>
              <a:rPr lang="sv-SE" sz="800" dirty="0">
                <a:latin typeface="Arial" panose="020B0604020202020204" pitchFamily="34" charset="0"/>
              </a:rPr>
              <a:t>,”</a:t>
            </a:r>
            <a:r>
              <a:rPr lang="sv-SE" sz="800" dirty="0"/>
              <a:t> </a:t>
            </a:r>
            <a:r>
              <a:rPr lang="sv-SE" sz="800" dirty="0" err="1">
                <a:latin typeface="Arial" panose="020B0604020202020204" pitchFamily="34" charset="0"/>
              </a:rPr>
              <a:t>Proceedings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of</a:t>
            </a:r>
            <a:r>
              <a:rPr lang="sv-SE" sz="800" dirty="0">
                <a:latin typeface="Arial" panose="020B0604020202020204" pitchFamily="34" charset="0"/>
              </a:rPr>
              <a:t> the IEEE, vol. 109, no. 6, </a:t>
            </a:r>
            <a:r>
              <a:rPr lang="sv-SE" sz="800" dirty="0" err="1">
                <a:latin typeface="Arial" panose="020B0604020202020204" pitchFamily="34" charset="0"/>
              </a:rPr>
              <a:t>pp</a:t>
            </a:r>
            <a:r>
              <a:rPr lang="sv-SE" sz="800" dirty="0">
                <a:latin typeface="Arial" panose="020B0604020202020204" pitchFamily="34" charset="0"/>
              </a:rPr>
              <a:t>. 1039–1059, </a:t>
            </a:r>
            <a:r>
              <a:rPr lang="sv-SE" sz="800" dirty="0" smtClean="0">
                <a:latin typeface="Arial" panose="020B0604020202020204" pitchFamily="34" charset="0"/>
              </a:rPr>
              <a:t>202</a:t>
            </a:r>
          </a:p>
          <a:p>
            <a:r>
              <a:rPr lang="sv-SE" sz="800" dirty="0" smtClean="0">
                <a:latin typeface="Arial" panose="020B0604020202020204" pitchFamily="34" charset="0"/>
              </a:rPr>
              <a:t>[2] J</a:t>
            </a:r>
            <a:r>
              <a:rPr lang="sv-SE" sz="800" dirty="0">
                <a:latin typeface="Arial" panose="020B0604020202020204" pitchFamily="34" charset="0"/>
              </a:rPr>
              <a:t>. Reimers, L. Dorn-</a:t>
            </a:r>
            <a:r>
              <a:rPr lang="sv-SE" sz="800" dirty="0" err="1">
                <a:latin typeface="Arial" panose="020B0604020202020204" pitchFamily="34" charset="0"/>
              </a:rPr>
              <a:t>Gomba</a:t>
            </a:r>
            <a:r>
              <a:rPr lang="sv-SE" sz="800" dirty="0">
                <a:latin typeface="Arial" panose="020B0604020202020204" pitchFamily="34" charset="0"/>
              </a:rPr>
              <a:t>, C. Mak, and A. </a:t>
            </a:r>
            <a:r>
              <a:rPr lang="sv-SE" sz="800" dirty="0" err="1">
                <a:latin typeface="Arial" panose="020B0604020202020204" pitchFamily="34" charset="0"/>
              </a:rPr>
              <a:t>Emadi</a:t>
            </a:r>
            <a:r>
              <a:rPr lang="sv-SE" sz="800" dirty="0">
                <a:latin typeface="Arial" panose="020B0604020202020204" pitchFamily="34" charset="0"/>
              </a:rPr>
              <a:t>, “</a:t>
            </a:r>
            <a:r>
              <a:rPr lang="sv-SE" sz="800" dirty="0" smtClean="0">
                <a:latin typeface="Arial" panose="020B0604020202020204" pitchFamily="34" charset="0"/>
              </a:rPr>
              <a:t>Automotive</a:t>
            </a:r>
            <a:r>
              <a:rPr lang="sv-SE" sz="800" dirty="0" smtClean="0"/>
              <a:t> </a:t>
            </a:r>
            <a:r>
              <a:rPr lang="sv-SE" sz="800" dirty="0" err="1" smtClean="0">
                <a:latin typeface="Arial" panose="020B0604020202020204" pitchFamily="34" charset="0"/>
              </a:rPr>
              <a:t>traction</a:t>
            </a:r>
            <a:r>
              <a:rPr lang="sv-SE" sz="800" dirty="0" smtClean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inverters</a:t>
            </a:r>
            <a:r>
              <a:rPr lang="sv-SE" sz="800" dirty="0">
                <a:latin typeface="Arial" panose="020B0604020202020204" pitchFamily="34" charset="0"/>
              </a:rPr>
              <a:t>: </a:t>
            </a:r>
            <a:r>
              <a:rPr lang="sv-SE" sz="800" dirty="0" err="1">
                <a:latin typeface="Arial" panose="020B0604020202020204" pitchFamily="34" charset="0"/>
              </a:rPr>
              <a:t>Current</a:t>
            </a:r>
            <a:r>
              <a:rPr lang="sv-SE" sz="800" dirty="0">
                <a:latin typeface="Arial" panose="020B0604020202020204" pitchFamily="34" charset="0"/>
              </a:rPr>
              <a:t> status and </a:t>
            </a:r>
            <a:r>
              <a:rPr lang="sv-SE" sz="800" dirty="0" err="1">
                <a:latin typeface="Arial" panose="020B0604020202020204" pitchFamily="34" charset="0"/>
              </a:rPr>
              <a:t>future</a:t>
            </a:r>
            <a:r>
              <a:rPr lang="sv-SE" sz="800" dirty="0">
                <a:latin typeface="Arial" panose="020B0604020202020204" pitchFamily="34" charset="0"/>
              </a:rPr>
              <a:t> trends,” IEEE </a:t>
            </a:r>
            <a:r>
              <a:rPr lang="sv-SE" sz="800" dirty="0" err="1" smtClean="0">
                <a:latin typeface="Arial" panose="020B0604020202020204" pitchFamily="34" charset="0"/>
              </a:rPr>
              <a:t>Transactions</a:t>
            </a:r>
            <a:r>
              <a:rPr lang="sv-SE" sz="800" dirty="0" smtClean="0"/>
              <a:t> </a:t>
            </a:r>
            <a:r>
              <a:rPr lang="sv-SE" sz="800" dirty="0" smtClean="0">
                <a:latin typeface="Arial" panose="020B0604020202020204" pitchFamily="34" charset="0"/>
              </a:rPr>
              <a:t>on </a:t>
            </a:r>
            <a:r>
              <a:rPr lang="sv-SE" sz="800" dirty="0" err="1">
                <a:latin typeface="Arial" panose="020B0604020202020204" pitchFamily="34" charset="0"/>
              </a:rPr>
              <a:t>Vehicular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Technology</a:t>
            </a:r>
            <a:r>
              <a:rPr lang="sv-SE" sz="800" dirty="0">
                <a:latin typeface="Arial" panose="020B0604020202020204" pitchFamily="34" charset="0"/>
              </a:rPr>
              <a:t>, vol. 68, no. 4, </a:t>
            </a:r>
            <a:r>
              <a:rPr lang="sv-SE" sz="800" dirty="0" err="1">
                <a:latin typeface="Arial" panose="020B0604020202020204" pitchFamily="34" charset="0"/>
              </a:rPr>
              <a:t>pp</a:t>
            </a:r>
            <a:r>
              <a:rPr lang="sv-SE" sz="800" dirty="0">
                <a:latin typeface="Arial" panose="020B0604020202020204" pitchFamily="34" charset="0"/>
              </a:rPr>
              <a:t>. 3337–3350, 2019</a:t>
            </a:r>
            <a:endParaRPr lang="sv-SE" sz="800" dirty="0"/>
          </a:p>
        </p:txBody>
      </p:sp>
    </p:spTree>
    <p:extLst>
      <p:ext uri="{BB962C8B-B14F-4D97-AF65-F5344CB8AC3E}">
        <p14:creationId xmlns:p14="http://schemas.microsoft.com/office/powerpoint/2010/main" val="140870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0" dirty="0" smtClean="0"/>
              <a:t>Commercial </a:t>
            </a:r>
            <a:r>
              <a:rPr lang="sv-SE" b="0" dirty="0" err="1" smtClean="0"/>
              <a:t>Traction</a:t>
            </a:r>
            <a:r>
              <a:rPr lang="sv-SE" b="0" dirty="0" smtClean="0"/>
              <a:t> Drives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1600" y="915566"/>
            <a:ext cx="7765653" cy="342130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Thermal Management: </a:t>
            </a:r>
          </a:p>
          <a:p>
            <a:pPr algn="just"/>
            <a:r>
              <a:rPr lang="en-US" dirty="0"/>
              <a:t>Traditionally, </a:t>
            </a:r>
            <a:r>
              <a:rPr lang="en-US" b="1" dirty="0"/>
              <a:t>fin-based heat sinks</a:t>
            </a:r>
            <a:r>
              <a:rPr lang="en-US" dirty="0"/>
              <a:t>, such as straight-fin and </a:t>
            </a:r>
            <a:r>
              <a:rPr lang="en-US" dirty="0" err="1"/>
              <a:t>pinfin</a:t>
            </a:r>
            <a:r>
              <a:rPr lang="en-US" dirty="0"/>
              <a:t>, have been used to cool the power electronic system with air- and l</a:t>
            </a:r>
            <a:r>
              <a:rPr lang="en-US" b="1" dirty="0"/>
              <a:t>iquid-cooling-based </a:t>
            </a:r>
            <a:r>
              <a:rPr lang="en-US" dirty="0"/>
              <a:t>systems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Advanced cooling concepts, such as </a:t>
            </a:r>
            <a:r>
              <a:rPr lang="en-US" b="1" dirty="0"/>
              <a:t>microchannel cooling</a:t>
            </a:r>
            <a:r>
              <a:rPr lang="en-US" dirty="0"/>
              <a:t>, </a:t>
            </a:r>
            <a:r>
              <a:rPr lang="en-US" b="1" dirty="0"/>
              <a:t>jet impingement, two-phase cold plates</a:t>
            </a:r>
            <a:r>
              <a:rPr lang="en-US" dirty="0"/>
              <a:t>, </a:t>
            </a:r>
            <a:r>
              <a:rPr lang="en-US" b="1" dirty="0"/>
              <a:t>double-sided packaging</a:t>
            </a:r>
            <a:r>
              <a:rPr lang="en-US" dirty="0"/>
              <a:t>, and </a:t>
            </a:r>
            <a:r>
              <a:rPr lang="en-US" b="1" dirty="0"/>
              <a:t>direct substrate cooling</a:t>
            </a:r>
            <a:r>
              <a:rPr lang="en-US" dirty="0"/>
              <a:t>, are also being implemented for such </a:t>
            </a:r>
            <a:r>
              <a:rPr lang="en-US" b="1" dirty="0" smtClean="0"/>
              <a:t>high-power density </a:t>
            </a:r>
            <a:r>
              <a:rPr lang="en-US" dirty="0"/>
              <a:t>power electronic applications.</a:t>
            </a:r>
            <a:endParaRPr lang="en-US" dirty="0" smtClean="0"/>
          </a:p>
          <a:p>
            <a:pPr marL="0" indent="0" algn="just">
              <a:buNone/>
            </a:pPr>
            <a:r>
              <a:rPr lang="en-US" b="1" u="sng" dirty="0" smtClean="0">
                <a:solidFill>
                  <a:srgbClr val="0070C0"/>
                </a:solidFill>
              </a:rPr>
              <a:t>DC-link Capacitance:</a:t>
            </a:r>
          </a:p>
          <a:p>
            <a:pPr algn="just"/>
            <a:r>
              <a:rPr lang="en-US" dirty="0"/>
              <a:t> Capacitors are one of the essential passive components used in a traction inverter </a:t>
            </a:r>
            <a:r>
              <a:rPr lang="en-US" b="1" dirty="0"/>
              <a:t>to keep</a:t>
            </a:r>
            <a:r>
              <a:rPr lang="en-US" dirty="0"/>
              <a:t> the </a:t>
            </a:r>
            <a:r>
              <a:rPr lang="en-US" b="1" dirty="0"/>
              <a:t>dc-link voltage constant</a:t>
            </a:r>
            <a:r>
              <a:rPr lang="en-US" dirty="0"/>
              <a:t>, </a:t>
            </a:r>
            <a:r>
              <a:rPr lang="en-US" dirty="0" smtClean="0"/>
              <a:t>and </a:t>
            </a:r>
            <a:r>
              <a:rPr lang="en-US" b="1" dirty="0" smtClean="0"/>
              <a:t>suppress</a:t>
            </a:r>
            <a:r>
              <a:rPr lang="en-US" dirty="0" smtClean="0"/>
              <a:t> </a:t>
            </a:r>
            <a:r>
              <a:rPr lang="en-US" b="1" dirty="0"/>
              <a:t>high-frequency current </a:t>
            </a:r>
            <a:r>
              <a:rPr lang="en-US" b="1" dirty="0" smtClean="0"/>
              <a:t>components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Although </a:t>
            </a:r>
            <a:r>
              <a:rPr lang="en-US" dirty="0"/>
              <a:t>the </a:t>
            </a:r>
            <a:r>
              <a:rPr lang="en-US" b="1" dirty="0"/>
              <a:t>electrolytic capacitors </a:t>
            </a:r>
            <a:r>
              <a:rPr lang="en-US" dirty="0"/>
              <a:t>are the most popular choice for conventional motor drive applications, their </a:t>
            </a:r>
            <a:r>
              <a:rPr lang="en-US" b="1" dirty="0"/>
              <a:t>short lifespan</a:t>
            </a:r>
            <a:r>
              <a:rPr lang="en-US" dirty="0"/>
              <a:t>, </a:t>
            </a:r>
            <a:r>
              <a:rPr lang="en-US" b="1" dirty="0"/>
              <a:t>limited current conduction capability</a:t>
            </a:r>
            <a:r>
              <a:rPr lang="en-US" dirty="0"/>
              <a:t>, and </a:t>
            </a:r>
            <a:r>
              <a:rPr lang="en-US" b="1" dirty="0"/>
              <a:t>low-frequency operation </a:t>
            </a:r>
            <a:r>
              <a:rPr lang="en-US" dirty="0"/>
              <a:t>make them untenable for use as </a:t>
            </a:r>
            <a:r>
              <a:rPr lang="en-US" dirty="0" smtClean="0"/>
              <a:t>DC-link </a:t>
            </a:r>
            <a:r>
              <a:rPr lang="en-US" dirty="0"/>
              <a:t>capacitors in EV inverters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P</a:t>
            </a:r>
            <a:r>
              <a:rPr lang="en-US" b="1" dirty="0" smtClean="0"/>
              <a:t>olymer </a:t>
            </a:r>
            <a:r>
              <a:rPr lang="en-US" b="1" dirty="0"/>
              <a:t>film </a:t>
            </a:r>
            <a:r>
              <a:rPr lang="en-US" dirty="0"/>
              <a:t>is used as the dc-link capacitor for electric drive </a:t>
            </a:r>
            <a:r>
              <a:rPr lang="en-US" dirty="0" smtClean="0"/>
              <a:t>applications </a:t>
            </a:r>
            <a:r>
              <a:rPr lang="en-US" dirty="0"/>
              <a:t>because of its </a:t>
            </a:r>
            <a:r>
              <a:rPr lang="en-US" b="1" dirty="0"/>
              <a:t>reliability</a:t>
            </a:r>
            <a:r>
              <a:rPr lang="en-US" dirty="0"/>
              <a:t>, </a:t>
            </a:r>
            <a:r>
              <a:rPr lang="en-US" b="1" dirty="0"/>
              <a:t>high-current conduction capability</a:t>
            </a:r>
            <a:r>
              <a:rPr lang="en-US" dirty="0"/>
              <a:t>, </a:t>
            </a:r>
            <a:r>
              <a:rPr lang="en-US" b="1" dirty="0"/>
              <a:t>high-frequency operation</a:t>
            </a:r>
            <a:r>
              <a:rPr lang="en-US" dirty="0"/>
              <a:t>, and </a:t>
            </a:r>
            <a:r>
              <a:rPr lang="en-US" b="1" dirty="0"/>
              <a:t>lower losses </a:t>
            </a:r>
            <a:r>
              <a:rPr lang="en-US" dirty="0"/>
              <a:t>compared with aluminum electrolytic capacitors</a:t>
            </a:r>
            <a:r>
              <a:rPr lang="en-US" dirty="0" smtClean="0"/>
              <a:t>.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 algn="just">
              <a:buNone/>
            </a:pPr>
            <a:r>
              <a:rPr lang="en-US" b="1" u="sng" dirty="0" err="1" smtClean="0">
                <a:solidFill>
                  <a:srgbClr val="0070C0"/>
                </a:solidFill>
              </a:rPr>
              <a:t>Busbar</a:t>
            </a:r>
            <a:r>
              <a:rPr lang="en-US" b="1" u="sng" dirty="0" smtClean="0">
                <a:solidFill>
                  <a:srgbClr val="0070C0"/>
                </a:solidFill>
              </a:rPr>
              <a:t> :</a:t>
            </a:r>
            <a:endParaRPr lang="en-US" b="1" u="sng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The dc bussing is a </a:t>
            </a:r>
            <a:r>
              <a:rPr lang="en-US" b="1" dirty="0" err="1"/>
              <a:t>multiphysical</a:t>
            </a:r>
            <a:r>
              <a:rPr lang="en-US" b="1" dirty="0"/>
              <a:t> design problem </a:t>
            </a:r>
            <a:r>
              <a:rPr lang="en-US" dirty="0"/>
              <a:t>in the </a:t>
            </a:r>
            <a:r>
              <a:rPr lang="en-US" b="1" dirty="0"/>
              <a:t>electrical</a:t>
            </a:r>
            <a:r>
              <a:rPr lang="en-US" dirty="0"/>
              <a:t>, </a:t>
            </a:r>
            <a:r>
              <a:rPr lang="en-US" b="1" dirty="0"/>
              <a:t>thermal</a:t>
            </a:r>
            <a:r>
              <a:rPr lang="en-US" dirty="0"/>
              <a:t>, and </a:t>
            </a:r>
            <a:r>
              <a:rPr lang="en-US" b="1" dirty="0"/>
              <a:t>mechanical</a:t>
            </a:r>
            <a:r>
              <a:rPr lang="en-US" dirty="0"/>
              <a:t> domains. Electrically, the dc bus needs to be a </a:t>
            </a:r>
            <a:r>
              <a:rPr lang="en-US" b="1" dirty="0"/>
              <a:t>low equivalent series resistance (ESR)</a:t>
            </a:r>
            <a:r>
              <a:rPr lang="en-US" dirty="0"/>
              <a:t> and </a:t>
            </a:r>
            <a:r>
              <a:rPr lang="en-US" b="1" dirty="0"/>
              <a:t>low equivalent series inductance (ESL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laminated </a:t>
            </a:r>
            <a:r>
              <a:rPr lang="en-US" b="1" dirty="0" err="1"/>
              <a:t>busbar</a:t>
            </a:r>
            <a:r>
              <a:rPr lang="en-US" b="1" dirty="0"/>
              <a:t> </a:t>
            </a:r>
            <a:r>
              <a:rPr lang="en-US" dirty="0"/>
              <a:t>is widely used in high-power and integrated converters for its </a:t>
            </a:r>
            <a:r>
              <a:rPr lang="en-US" b="1" dirty="0"/>
              <a:t>low parasitic inductance</a:t>
            </a:r>
            <a:r>
              <a:rPr lang="en-US" dirty="0"/>
              <a:t> advantage to restrain </a:t>
            </a:r>
            <a:r>
              <a:rPr lang="en-US" dirty="0" smtClean="0"/>
              <a:t>voltage </a:t>
            </a:r>
            <a:r>
              <a:rPr lang="en-US" b="1" dirty="0"/>
              <a:t>overshoot</a:t>
            </a:r>
            <a:r>
              <a:rPr lang="en-US" dirty="0"/>
              <a:t>, </a:t>
            </a:r>
            <a:r>
              <a:rPr lang="en-US" b="1" dirty="0"/>
              <a:t>EMI</a:t>
            </a:r>
            <a:r>
              <a:rPr lang="en-US" dirty="0"/>
              <a:t>, and </a:t>
            </a:r>
            <a:r>
              <a:rPr lang="en-US" b="1" dirty="0"/>
              <a:t>switching </a:t>
            </a:r>
            <a:r>
              <a:rPr lang="en-US" b="1" dirty="0" smtClean="0"/>
              <a:t>losses.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251520" y="4301908"/>
            <a:ext cx="8784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[1]   </a:t>
            </a:r>
            <a:r>
              <a:rPr lang="sv-SE" sz="800" dirty="0">
                <a:latin typeface="Arial" panose="020B0604020202020204" pitchFamily="34" charset="0"/>
              </a:rPr>
              <a:t>I. </a:t>
            </a:r>
            <a:r>
              <a:rPr lang="sv-SE" sz="800" dirty="0" err="1">
                <a:latin typeface="Arial" panose="020B0604020202020204" pitchFamily="34" charset="0"/>
              </a:rPr>
              <a:t>Husain</a:t>
            </a:r>
            <a:r>
              <a:rPr lang="sv-SE" sz="800" dirty="0">
                <a:latin typeface="Arial" panose="020B0604020202020204" pitchFamily="34" charset="0"/>
              </a:rPr>
              <a:t>, B. </a:t>
            </a:r>
            <a:r>
              <a:rPr lang="sv-SE" sz="800" dirty="0" err="1">
                <a:latin typeface="Arial" panose="020B0604020202020204" pitchFamily="34" charset="0"/>
              </a:rPr>
              <a:t>Ozpineci</a:t>
            </a:r>
            <a:r>
              <a:rPr lang="sv-SE" sz="800" dirty="0">
                <a:latin typeface="Arial" panose="020B0604020202020204" pitchFamily="34" charset="0"/>
              </a:rPr>
              <a:t>, M. S. Islam, E. </a:t>
            </a:r>
            <a:r>
              <a:rPr lang="sv-SE" sz="800" dirty="0" err="1">
                <a:latin typeface="Arial" panose="020B0604020202020204" pitchFamily="34" charset="0"/>
              </a:rPr>
              <a:t>Gurpinar</a:t>
            </a:r>
            <a:r>
              <a:rPr lang="sv-SE" sz="800" dirty="0">
                <a:latin typeface="Arial" panose="020B0604020202020204" pitchFamily="34" charset="0"/>
              </a:rPr>
              <a:t>, G.-J. </a:t>
            </a:r>
            <a:r>
              <a:rPr lang="sv-SE" sz="800" dirty="0" err="1">
                <a:latin typeface="Arial" panose="020B0604020202020204" pitchFamily="34" charset="0"/>
              </a:rPr>
              <a:t>Su</a:t>
            </a:r>
            <a:r>
              <a:rPr lang="sv-SE" sz="800" dirty="0">
                <a:latin typeface="Arial" panose="020B0604020202020204" pitchFamily="34" charset="0"/>
              </a:rPr>
              <a:t>, W. </a:t>
            </a:r>
            <a:r>
              <a:rPr lang="sv-SE" sz="800" dirty="0" err="1">
                <a:latin typeface="Arial" panose="020B0604020202020204" pitchFamily="34" charset="0"/>
              </a:rPr>
              <a:t>Yu</a:t>
            </a:r>
            <a:r>
              <a:rPr lang="sv-SE" sz="800" dirty="0">
                <a:latin typeface="Arial" panose="020B0604020202020204" pitchFamily="34" charset="0"/>
              </a:rPr>
              <a:t>,</a:t>
            </a:r>
            <a:r>
              <a:rPr lang="sv-SE" sz="800" dirty="0"/>
              <a:t> </a:t>
            </a:r>
            <a:r>
              <a:rPr lang="sv-SE" sz="800" dirty="0">
                <a:latin typeface="Arial" panose="020B0604020202020204" pitchFamily="34" charset="0"/>
              </a:rPr>
              <a:t>S. </a:t>
            </a:r>
            <a:r>
              <a:rPr lang="sv-SE" sz="800" dirty="0" err="1">
                <a:latin typeface="Arial" panose="020B0604020202020204" pitchFamily="34" charset="0"/>
              </a:rPr>
              <a:t>Chowdhury</a:t>
            </a:r>
            <a:r>
              <a:rPr lang="sv-SE" sz="800" dirty="0">
                <a:latin typeface="Arial" panose="020B0604020202020204" pitchFamily="34" charset="0"/>
              </a:rPr>
              <a:t>, L. </a:t>
            </a:r>
            <a:r>
              <a:rPr lang="sv-SE" sz="800" dirty="0" err="1">
                <a:latin typeface="Arial" panose="020B0604020202020204" pitchFamily="34" charset="0"/>
              </a:rPr>
              <a:t>Xue</a:t>
            </a:r>
            <a:r>
              <a:rPr lang="sv-SE" sz="800" dirty="0">
                <a:latin typeface="Arial" panose="020B0604020202020204" pitchFamily="34" charset="0"/>
              </a:rPr>
              <a:t>, D. Rahman, and R. </a:t>
            </a:r>
            <a:r>
              <a:rPr lang="sv-SE" sz="800" dirty="0" err="1">
                <a:latin typeface="Arial" panose="020B0604020202020204" pitchFamily="34" charset="0"/>
              </a:rPr>
              <a:t>Sahu</a:t>
            </a:r>
            <a:r>
              <a:rPr lang="sv-SE" sz="800" dirty="0">
                <a:latin typeface="Arial" panose="020B0604020202020204" pitchFamily="34" charset="0"/>
              </a:rPr>
              <a:t>, “Electric drive </a:t>
            </a:r>
            <a:r>
              <a:rPr lang="sv-SE" sz="800" dirty="0" err="1">
                <a:latin typeface="Arial" panose="020B0604020202020204" pitchFamily="34" charset="0"/>
              </a:rPr>
              <a:t>technology</a:t>
            </a:r>
            <a:r>
              <a:rPr lang="sv-SE" sz="800" dirty="0">
                <a:latin typeface="Arial" panose="020B0604020202020204" pitchFamily="34" charset="0"/>
              </a:rPr>
              <a:t> trends, </a:t>
            </a:r>
            <a:r>
              <a:rPr lang="sv-SE" sz="800" dirty="0" err="1">
                <a:latin typeface="Arial" panose="020B0604020202020204" pitchFamily="34" charset="0"/>
              </a:rPr>
              <a:t>challenges</a:t>
            </a:r>
            <a:r>
              <a:rPr lang="sv-SE" sz="800" dirty="0">
                <a:latin typeface="Arial" panose="020B0604020202020204" pitchFamily="34" charset="0"/>
              </a:rPr>
              <a:t>, and </a:t>
            </a:r>
            <a:r>
              <a:rPr lang="sv-SE" sz="800" dirty="0" err="1">
                <a:latin typeface="Arial" panose="020B0604020202020204" pitchFamily="34" charset="0"/>
              </a:rPr>
              <a:t>opportunities</a:t>
            </a:r>
            <a:r>
              <a:rPr lang="sv-SE" sz="800" dirty="0">
                <a:latin typeface="Arial" panose="020B0604020202020204" pitchFamily="34" charset="0"/>
              </a:rPr>
              <a:t> for </a:t>
            </a:r>
            <a:r>
              <a:rPr lang="sv-SE" sz="800" dirty="0" err="1">
                <a:latin typeface="Arial" panose="020B0604020202020204" pitchFamily="34" charset="0"/>
              </a:rPr>
              <a:t>future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electric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vehicles</a:t>
            </a:r>
            <a:r>
              <a:rPr lang="sv-SE" sz="800" dirty="0">
                <a:latin typeface="Arial" panose="020B0604020202020204" pitchFamily="34" charset="0"/>
              </a:rPr>
              <a:t>,”</a:t>
            </a:r>
            <a:r>
              <a:rPr lang="sv-SE" sz="800" dirty="0"/>
              <a:t> </a:t>
            </a:r>
            <a:r>
              <a:rPr lang="sv-SE" sz="800" dirty="0" err="1">
                <a:latin typeface="Arial" panose="020B0604020202020204" pitchFamily="34" charset="0"/>
              </a:rPr>
              <a:t>Proceedings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of</a:t>
            </a:r>
            <a:r>
              <a:rPr lang="sv-SE" sz="800" dirty="0">
                <a:latin typeface="Arial" panose="020B0604020202020204" pitchFamily="34" charset="0"/>
              </a:rPr>
              <a:t> the IEEE, vol. 109, no. 6, </a:t>
            </a:r>
            <a:r>
              <a:rPr lang="sv-SE" sz="800" dirty="0" err="1">
                <a:latin typeface="Arial" panose="020B0604020202020204" pitchFamily="34" charset="0"/>
              </a:rPr>
              <a:t>pp</a:t>
            </a:r>
            <a:r>
              <a:rPr lang="sv-SE" sz="800" dirty="0">
                <a:latin typeface="Arial" panose="020B0604020202020204" pitchFamily="34" charset="0"/>
              </a:rPr>
              <a:t>. 1039–1059, </a:t>
            </a:r>
            <a:r>
              <a:rPr lang="sv-SE" sz="800" dirty="0" smtClean="0">
                <a:latin typeface="Arial" panose="020B0604020202020204" pitchFamily="34" charset="0"/>
              </a:rPr>
              <a:t>202</a:t>
            </a:r>
          </a:p>
          <a:p>
            <a:r>
              <a:rPr lang="sv-SE" sz="800" dirty="0" smtClean="0">
                <a:latin typeface="Arial" panose="020B0604020202020204" pitchFamily="34" charset="0"/>
              </a:rPr>
              <a:t>[2] J</a:t>
            </a:r>
            <a:r>
              <a:rPr lang="sv-SE" sz="800" dirty="0">
                <a:latin typeface="Arial" panose="020B0604020202020204" pitchFamily="34" charset="0"/>
              </a:rPr>
              <a:t>. Reimers, L. Dorn-</a:t>
            </a:r>
            <a:r>
              <a:rPr lang="sv-SE" sz="800" dirty="0" err="1">
                <a:latin typeface="Arial" panose="020B0604020202020204" pitchFamily="34" charset="0"/>
              </a:rPr>
              <a:t>Gomba</a:t>
            </a:r>
            <a:r>
              <a:rPr lang="sv-SE" sz="800" dirty="0">
                <a:latin typeface="Arial" panose="020B0604020202020204" pitchFamily="34" charset="0"/>
              </a:rPr>
              <a:t>, C. Mak, and A. </a:t>
            </a:r>
            <a:r>
              <a:rPr lang="sv-SE" sz="800" dirty="0" err="1">
                <a:latin typeface="Arial" panose="020B0604020202020204" pitchFamily="34" charset="0"/>
              </a:rPr>
              <a:t>Emadi</a:t>
            </a:r>
            <a:r>
              <a:rPr lang="sv-SE" sz="800" dirty="0">
                <a:latin typeface="Arial" panose="020B0604020202020204" pitchFamily="34" charset="0"/>
              </a:rPr>
              <a:t>, “</a:t>
            </a:r>
            <a:r>
              <a:rPr lang="sv-SE" sz="800" dirty="0" smtClean="0">
                <a:latin typeface="Arial" panose="020B0604020202020204" pitchFamily="34" charset="0"/>
              </a:rPr>
              <a:t>Automotive</a:t>
            </a:r>
            <a:r>
              <a:rPr lang="sv-SE" sz="800" dirty="0" smtClean="0"/>
              <a:t> </a:t>
            </a:r>
            <a:r>
              <a:rPr lang="sv-SE" sz="800" dirty="0" err="1" smtClean="0">
                <a:latin typeface="Arial" panose="020B0604020202020204" pitchFamily="34" charset="0"/>
              </a:rPr>
              <a:t>traction</a:t>
            </a:r>
            <a:r>
              <a:rPr lang="sv-SE" sz="800" dirty="0" smtClean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inverters</a:t>
            </a:r>
            <a:r>
              <a:rPr lang="sv-SE" sz="800" dirty="0">
                <a:latin typeface="Arial" panose="020B0604020202020204" pitchFamily="34" charset="0"/>
              </a:rPr>
              <a:t>: </a:t>
            </a:r>
            <a:r>
              <a:rPr lang="sv-SE" sz="800" dirty="0" err="1">
                <a:latin typeface="Arial" panose="020B0604020202020204" pitchFamily="34" charset="0"/>
              </a:rPr>
              <a:t>Current</a:t>
            </a:r>
            <a:r>
              <a:rPr lang="sv-SE" sz="800" dirty="0">
                <a:latin typeface="Arial" panose="020B0604020202020204" pitchFamily="34" charset="0"/>
              </a:rPr>
              <a:t> status and </a:t>
            </a:r>
            <a:r>
              <a:rPr lang="sv-SE" sz="800" dirty="0" err="1">
                <a:latin typeface="Arial" panose="020B0604020202020204" pitchFamily="34" charset="0"/>
              </a:rPr>
              <a:t>future</a:t>
            </a:r>
            <a:r>
              <a:rPr lang="sv-SE" sz="800" dirty="0">
                <a:latin typeface="Arial" panose="020B0604020202020204" pitchFamily="34" charset="0"/>
              </a:rPr>
              <a:t> trends,” IEEE </a:t>
            </a:r>
            <a:r>
              <a:rPr lang="sv-SE" sz="800" dirty="0" err="1" smtClean="0">
                <a:latin typeface="Arial" panose="020B0604020202020204" pitchFamily="34" charset="0"/>
              </a:rPr>
              <a:t>Transactions</a:t>
            </a:r>
            <a:r>
              <a:rPr lang="sv-SE" sz="800" dirty="0" smtClean="0"/>
              <a:t> </a:t>
            </a:r>
            <a:r>
              <a:rPr lang="sv-SE" sz="800" dirty="0" smtClean="0">
                <a:latin typeface="Arial" panose="020B0604020202020204" pitchFamily="34" charset="0"/>
              </a:rPr>
              <a:t>on </a:t>
            </a:r>
            <a:r>
              <a:rPr lang="sv-SE" sz="800" dirty="0" err="1">
                <a:latin typeface="Arial" panose="020B0604020202020204" pitchFamily="34" charset="0"/>
              </a:rPr>
              <a:t>Vehicular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Technology</a:t>
            </a:r>
            <a:r>
              <a:rPr lang="sv-SE" sz="800" dirty="0">
                <a:latin typeface="Arial" panose="020B0604020202020204" pitchFamily="34" charset="0"/>
              </a:rPr>
              <a:t>, vol. 68, no. 4, </a:t>
            </a:r>
            <a:r>
              <a:rPr lang="sv-SE" sz="800" dirty="0" err="1">
                <a:latin typeface="Arial" panose="020B0604020202020204" pitchFamily="34" charset="0"/>
              </a:rPr>
              <a:t>pp</a:t>
            </a:r>
            <a:r>
              <a:rPr lang="sv-SE" sz="800" dirty="0">
                <a:latin typeface="Arial" panose="020B0604020202020204" pitchFamily="34" charset="0"/>
              </a:rPr>
              <a:t>. 3337–3350, 2019</a:t>
            </a:r>
            <a:endParaRPr lang="sv-SE" sz="800" dirty="0"/>
          </a:p>
        </p:txBody>
      </p:sp>
    </p:spTree>
    <p:extLst>
      <p:ext uri="{BB962C8B-B14F-4D97-AF65-F5344CB8AC3E}">
        <p14:creationId xmlns:p14="http://schemas.microsoft.com/office/powerpoint/2010/main" val="79414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19" y="189012"/>
            <a:ext cx="7763861" cy="647700"/>
          </a:xfrm>
        </p:spPr>
        <p:txBody>
          <a:bodyPr/>
          <a:lstStyle/>
          <a:p>
            <a:r>
              <a:rPr lang="sv-SE" b="0" dirty="0" smtClean="0"/>
              <a:t>Commercial </a:t>
            </a:r>
            <a:r>
              <a:rPr lang="sv-SE" b="0" dirty="0" err="1" smtClean="0"/>
              <a:t>Traction</a:t>
            </a:r>
            <a:r>
              <a:rPr lang="sv-SE" b="0" dirty="0" smtClean="0"/>
              <a:t> Drives and Targets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1600" y="935451"/>
            <a:ext cx="7405613" cy="559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 smtClean="0"/>
              <a:t>The </a:t>
            </a:r>
            <a:r>
              <a:rPr lang="en-US" sz="1200" dirty="0"/>
              <a:t>U.S. Department of Energy (</a:t>
            </a:r>
            <a:r>
              <a:rPr lang="en-US" sz="1200" b="1" dirty="0"/>
              <a:t>DOE</a:t>
            </a:r>
            <a:r>
              <a:rPr lang="en-US" sz="1200" dirty="0" smtClean="0"/>
              <a:t>) expects to </a:t>
            </a:r>
            <a:r>
              <a:rPr lang="sv-SE" sz="1200" dirty="0" smtClean="0"/>
              <a:t>design </a:t>
            </a:r>
            <a:r>
              <a:rPr lang="en-US" sz="1200" dirty="0" smtClean="0"/>
              <a:t>the </a:t>
            </a:r>
            <a:r>
              <a:rPr lang="en-US" sz="1200" dirty="0"/>
              <a:t>inverter power module composed of </a:t>
            </a:r>
            <a:r>
              <a:rPr lang="en-US" sz="1200" dirty="0" smtClean="0"/>
              <a:t>an inverter </a:t>
            </a:r>
            <a:r>
              <a:rPr lang="en-US" sz="1200" dirty="0"/>
              <a:t>and, if applicable, a DC/DC boost </a:t>
            </a:r>
            <a:r>
              <a:rPr lang="en-US" sz="1200" dirty="0" smtClean="0"/>
              <a:t>converter</a:t>
            </a:r>
            <a:r>
              <a:rPr lang="sv-SE" sz="1200" dirty="0" smtClean="0"/>
              <a:t> </a:t>
            </a:r>
            <a:r>
              <a:rPr lang="sv-SE" sz="1200" b="1" dirty="0" smtClean="0"/>
              <a:t>100 </a:t>
            </a:r>
            <a:r>
              <a:rPr lang="sv-SE" sz="1200" b="1" dirty="0"/>
              <a:t>kW </a:t>
            </a:r>
            <a:r>
              <a:rPr lang="sv-SE" sz="1200" dirty="0" err="1"/>
              <a:t>integrated</a:t>
            </a:r>
            <a:r>
              <a:rPr lang="sv-SE" sz="1200" dirty="0"/>
              <a:t> design </a:t>
            </a:r>
            <a:r>
              <a:rPr lang="sv-SE" sz="1200" dirty="0" err="1"/>
              <a:t>with</a:t>
            </a:r>
            <a:r>
              <a:rPr lang="sv-SE" sz="1200" dirty="0"/>
              <a:t> </a:t>
            </a:r>
            <a:r>
              <a:rPr lang="sv-SE" sz="1200" b="1" dirty="0" smtClean="0"/>
              <a:t>100 </a:t>
            </a:r>
            <a:r>
              <a:rPr lang="sv-SE" sz="1200" b="1" dirty="0"/>
              <a:t>kW/L </a:t>
            </a:r>
            <a:r>
              <a:rPr lang="sv-SE" sz="1200" dirty="0"/>
              <a:t>at $</a:t>
            </a:r>
            <a:r>
              <a:rPr lang="sv-SE" sz="1200" dirty="0" smtClean="0"/>
              <a:t>2.7/kW. </a:t>
            </a:r>
            <a:endParaRPr lang="sv-SE" sz="1200" dirty="0"/>
          </a:p>
        </p:txBody>
      </p:sp>
      <p:sp>
        <p:nvSpPr>
          <p:cNvPr id="2" name="Rectangle 1"/>
          <p:cNvSpPr/>
          <p:nvPr/>
        </p:nvSpPr>
        <p:spPr>
          <a:xfrm>
            <a:off x="215517" y="4430983"/>
            <a:ext cx="8519814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latin typeface="Arial" panose="020B0604020202020204" pitchFamily="34" charset="0"/>
              </a:rPr>
              <a:t>[1] “</a:t>
            </a:r>
            <a:r>
              <a:rPr lang="en-US" sz="800" dirty="0" err="1" smtClean="0">
                <a:latin typeface="Arial" panose="020B0604020202020204" pitchFamily="34" charset="0"/>
              </a:rPr>
              <a:t>U.s</a:t>
            </a:r>
            <a:r>
              <a:rPr lang="en-US" sz="800" dirty="0" err="1">
                <a:latin typeface="Arial" panose="020B0604020202020204" pitchFamily="34" charset="0"/>
              </a:rPr>
              <a:t>.</a:t>
            </a:r>
            <a:r>
              <a:rPr lang="en-US" sz="800" dirty="0">
                <a:latin typeface="Arial" panose="020B0604020202020204" pitchFamily="34" charset="0"/>
              </a:rPr>
              <a:t> drive electrical and electronics technical team roadmap,” </a:t>
            </a:r>
            <a:r>
              <a:rPr lang="en-US" sz="800" dirty="0" smtClean="0">
                <a:latin typeface="Arial" panose="020B0604020202020204" pitchFamily="34" charset="0"/>
              </a:rPr>
              <a:t>U.S.</a:t>
            </a:r>
            <a:r>
              <a:rPr lang="en-US" sz="800" dirty="0" smtClean="0"/>
              <a:t> </a:t>
            </a:r>
            <a:r>
              <a:rPr lang="en-US" sz="800" dirty="0" smtClean="0">
                <a:latin typeface="Arial" panose="020B0604020202020204" pitchFamily="34" charset="0"/>
              </a:rPr>
              <a:t>Department </a:t>
            </a:r>
            <a:r>
              <a:rPr lang="en-US" sz="800" dirty="0">
                <a:latin typeface="Arial" panose="020B0604020202020204" pitchFamily="34" charset="0"/>
              </a:rPr>
              <a:t>of Energy, </a:t>
            </a:r>
            <a:r>
              <a:rPr lang="en-US" sz="800" dirty="0" smtClean="0">
                <a:latin typeface="Arial" panose="020B0604020202020204" pitchFamily="34" charset="0"/>
              </a:rPr>
              <a:t>2017</a:t>
            </a:r>
          </a:p>
          <a:p>
            <a:r>
              <a:rPr lang="sv-SE" sz="800" dirty="0" smtClean="0">
                <a:latin typeface="Arial" panose="020B0604020202020204" pitchFamily="34" charset="0"/>
              </a:rPr>
              <a:t>[2] </a:t>
            </a:r>
            <a:r>
              <a:rPr lang="sv-SE" sz="800" dirty="0">
                <a:latin typeface="Arial" panose="020B0604020202020204" pitchFamily="34" charset="0"/>
              </a:rPr>
              <a:t>J. Reimers, L. Dorn-</a:t>
            </a:r>
            <a:r>
              <a:rPr lang="sv-SE" sz="800" dirty="0" err="1">
                <a:latin typeface="Arial" panose="020B0604020202020204" pitchFamily="34" charset="0"/>
              </a:rPr>
              <a:t>Gomba</a:t>
            </a:r>
            <a:r>
              <a:rPr lang="sv-SE" sz="800" dirty="0">
                <a:latin typeface="Arial" panose="020B0604020202020204" pitchFamily="34" charset="0"/>
              </a:rPr>
              <a:t>, C. Mak, and A. </a:t>
            </a:r>
            <a:r>
              <a:rPr lang="sv-SE" sz="800" dirty="0" err="1">
                <a:latin typeface="Arial" panose="020B0604020202020204" pitchFamily="34" charset="0"/>
              </a:rPr>
              <a:t>Emadi</a:t>
            </a:r>
            <a:r>
              <a:rPr lang="sv-SE" sz="800" dirty="0">
                <a:latin typeface="Arial" panose="020B0604020202020204" pitchFamily="34" charset="0"/>
              </a:rPr>
              <a:t>, “Automotive</a:t>
            </a:r>
            <a:r>
              <a:rPr lang="sv-SE" sz="800" dirty="0"/>
              <a:t> </a:t>
            </a:r>
            <a:r>
              <a:rPr lang="sv-SE" sz="800" dirty="0" err="1">
                <a:latin typeface="Arial" panose="020B0604020202020204" pitchFamily="34" charset="0"/>
              </a:rPr>
              <a:t>traction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inverters</a:t>
            </a:r>
            <a:r>
              <a:rPr lang="sv-SE" sz="800" dirty="0">
                <a:latin typeface="Arial" panose="020B0604020202020204" pitchFamily="34" charset="0"/>
              </a:rPr>
              <a:t>: </a:t>
            </a:r>
            <a:r>
              <a:rPr lang="sv-SE" sz="800" dirty="0" err="1">
                <a:latin typeface="Arial" panose="020B0604020202020204" pitchFamily="34" charset="0"/>
              </a:rPr>
              <a:t>Current</a:t>
            </a:r>
            <a:r>
              <a:rPr lang="sv-SE" sz="800" dirty="0">
                <a:latin typeface="Arial" panose="020B0604020202020204" pitchFamily="34" charset="0"/>
              </a:rPr>
              <a:t> status and </a:t>
            </a:r>
            <a:r>
              <a:rPr lang="sv-SE" sz="800" dirty="0" err="1">
                <a:latin typeface="Arial" panose="020B0604020202020204" pitchFamily="34" charset="0"/>
              </a:rPr>
              <a:t>future</a:t>
            </a:r>
            <a:r>
              <a:rPr lang="sv-SE" sz="800" dirty="0">
                <a:latin typeface="Arial" panose="020B0604020202020204" pitchFamily="34" charset="0"/>
              </a:rPr>
              <a:t> trends,” IEEE </a:t>
            </a:r>
            <a:r>
              <a:rPr lang="sv-SE" sz="800" dirty="0" err="1">
                <a:latin typeface="Arial" panose="020B0604020202020204" pitchFamily="34" charset="0"/>
              </a:rPr>
              <a:t>Transactions</a:t>
            </a:r>
            <a:r>
              <a:rPr lang="sv-SE" sz="800" dirty="0"/>
              <a:t> </a:t>
            </a:r>
            <a:r>
              <a:rPr lang="sv-SE" sz="800" dirty="0">
                <a:latin typeface="Arial" panose="020B0604020202020204" pitchFamily="34" charset="0"/>
              </a:rPr>
              <a:t>on </a:t>
            </a:r>
            <a:r>
              <a:rPr lang="sv-SE" sz="800" dirty="0" err="1">
                <a:latin typeface="Arial" panose="020B0604020202020204" pitchFamily="34" charset="0"/>
              </a:rPr>
              <a:t>Vehicular</a:t>
            </a:r>
            <a:r>
              <a:rPr lang="sv-SE" sz="800" dirty="0">
                <a:latin typeface="Arial" panose="020B0604020202020204" pitchFamily="34" charset="0"/>
              </a:rPr>
              <a:t> </a:t>
            </a:r>
            <a:r>
              <a:rPr lang="sv-SE" sz="800" dirty="0" err="1">
                <a:latin typeface="Arial" panose="020B0604020202020204" pitchFamily="34" charset="0"/>
              </a:rPr>
              <a:t>Technology</a:t>
            </a:r>
            <a:r>
              <a:rPr lang="sv-SE" sz="800" dirty="0">
                <a:latin typeface="Arial" panose="020B0604020202020204" pitchFamily="34" charset="0"/>
              </a:rPr>
              <a:t>, vol. 68, no. 4, </a:t>
            </a:r>
            <a:r>
              <a:rPr lang="sv-SE" sz="800" dirty="0" err="1">
                <a:latin typeface="Arial" panose="020B0604020202020204" pitchFamily="34" charset="0"/>
              </a:rPr>
              <a:t>pp</a:t>
            </a:r>
            <a:r>
              <a:rPr lang="sv-SE" sz="800" dirty="0">
                <a:latin typeface="Arial" panose="020B0604020202020204" pitchFamily="34" charset="0"/>
              </a:rPr>
              <a:t>. 3337–3350, 2019</a:t>
            </a:r>
            <a:endParaRPr lang="sv-SE" sz="800" dirty="0"/>
          </a:p>
          <a:p>
            <a:endParaRPr lang="sv-SE" sz="105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16814"/>
              </p:ext>
            </p:extLst>
          </p:nvPr>
        </p:nvGraphicFramePr>
        <p:xfrm>
          <a:off x="307407" y="1495295"/>
          <a:ext cx="8159776" cy="274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944">
                  <a:extLst>
                    <a:ext uri="{9D8B030D-6E8A-4147-A177-3AD203B41FA5}">
                      <a16:colId xmlns:a16="http://schemas.microsoft.com/office/drawing/2014/main" val="2848344077"/>
                    </a:ext>
                  </a:extLst>
                </a:gridCol>
                <a:gridCol w="2039944">
                  <a:extLst>
                    <a:ext uri="{9D8B030D-6E8A-4147-A177-3AD203B41FA5}">
                      <a16:colId xmlns:a16="http://schemas.microsoft.com/office/drawing/2014/main" val="2916503323"/>
                    </a:ext>
                  </a:extLst>
                </a:gridCol>
                <a:gridCol w="2039944">
                  <a:extLst>
                    <a:ext uri="{9D8B030D-6E8A-4147-A177-3AD203B41FA5}">
                      <a16:colId xmlns:a16="http://schemas.microsoft.com/office/drawing/2014/main" val="372044784"/>
                    </a:ext>
                  </a:extLst>
                </a:gridCol>
                <a:gridCol w="2039944">
                  <a:extLst>
                    <a:ext uri="{9D8B030D-6E8A-4147-A177-3AD203B41FA5}">
                      <a16:colId xmlns:a16="http://schemas.microsoft.com/office/drawing/2014/main" val="259168641"/>
                    </a:ext>
                  </a:extLst>
                </a:gridCol>
              </a:tblGrid>
              <a:tr h="343590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Inverter Type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Power (kVA)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Power Density</a:t>
                      </a:r>
                      <a:r>
                        <a:rPr lang="en-US" baseline="0" dirty="0" smtClean="0"/>
                        <a:t> (kVA/L)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896077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smtClean="0"/>
                        <a:t>Tesla Model S 70D BEV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Single Inverter- IGBT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193 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30.1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209557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Toyata</a:t>
                      </a:r>
                      <a:r>
                        <a:rPr lang="en-US" baseline="0" dirty="0" smtClean="0"/>
                        <a:t> Prius HEV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Dual Inverter - IGBT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23.7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67483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smtClean="0"/>
                        <a:t>Chevy</a:t>
                      </a:r>
                      <a:r>
                        <a:rPr lang="en-US" baseline="0" dirty="0" smtClean="0"/>
                        <a:t> Volt PHEV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Dual Inverter -IGBT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180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17.3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12782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Cadillcac</a:t>
                      </a:r>
                      <a:r>
                        <a:rPr lang="en-US" baseline="0" dirty="0" smtClean="0"/>
                        <a:t> CT6 PHEV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Dual Inverter - IGBT</a:t>
                      </a:r>
                      <a:endParaRPr lang="sv-S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215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22.6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45808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smtClean="0"/>
                        <a:t>Tesla Model 3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SiC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02740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en-US" dirty="0" smtClean="0"/>
                        <a:t>US</a:t>
                      </a:r>
                      <a:r>
                        <a:rPr lang="en-US" baseline="0" dirty="0" smtClean="0"/>
                        <a:t> DOE (2025)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641437"/>
                  </a:ext>
                </a:extLst>
              </a:tr>
              <a:tr h="343590">
                <a:tc>
                  <a:txBody>
                    <a:bodyPr/>
                    <a:lstStyle/>
                    <a:p>
                      <a:r>
                        <a:rPr lang="sv-SE" dirty="0" err="1" smtClean="0"/>
                        <a:t>Our</a:t>
                      </a:r>
                      <a:r>
                        <a:rPr lang="sv-SE" dirty="0" smtClean="0"/>
                        <a:t> </a:t>
                      </a:r>
                      <a:r>
                        <a:rPr lang="sv-SE" dirty="0" err="1" smtClean="0"/>
                        <a:t>target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SiC</a:t>
                      </a:r>
                      <a:r>
                        <a:rPr lang="en-US" dirty="0" smtClean="0"/>
                        <a:t> 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 (600)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817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7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19" y="168106"/>
            <a:ext cx="7763861" cy="647700"/>
          </a:xfrm>
        </p:spPr>
        <p:txBody>
          <a:bodyPr/>
          <a:lstStyle/>
          <a:p>
            <a:r>
              <a:rPr lang="sv-SE" b="0" dirty="0" smtClean="0"/>
              <a:t>Trends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7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15816" y="627534"/>
            <a:ext cx="5904656" cy="354091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The question </a:t>
            </a:r>
            <a:r>
              <a:rPr lang="en-US" sz="1200" dirty="0"/>
              <a:t>of the most </a:t>
            </a:r>
            <a:r>
              <a:rPr lang="en-US" sz="1200" b="1" dirty="0" smtClean="0"/>
              <a:t>promising inverter </a:t>
            </a:r>
            <a:r>
              <a:rPr lang="en-US" sz="1200" b="1" dirty="0"/>
              <a:t>topology </a:t>
            </a:r>
            <a:r>
              <a:rPr lang="en-US" sz="1200" dirty="0"/>
              <a:t>and </a:t>
            </a:r>
            <a:r>
              <a:rPr lang="en-US" sz="1200" b="1" dirty="0" smtClean="0"/>
              <a:t>DC </a:t>
            </a:r>
            <a:r>
              <a:rPr lang="en-US" sz="1200" b="1" dirty="0"/>
              <a:t>supply voltage level </a:t>
            </a:r>
            <a:r>
              <a:rPr lang="en-US" sz="1200" dirty="0"/>
              <a:t>is </a:t>
            </a:r>
            <a:r>
              <a:rPr lang="en-US" sz="1200" dirty="0" smtClean="0"/>
              <a:t>yet to </a:t>
            </a:r>
            <a:r>
              <a:rPr lang="en-US" sz="1200" dirty="0"/>
              <a:t>be answered</a:t>
            </a:r>
            <a:r>
              <a:rPr lang="en-US" sz="12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When </a:t>
            </a:r>
            <a:r>
              <a:rPr lang="en-US" sz="1200" b="1" dirty="0"/>
              <a:t>voltage</a:t>
            </a:r>
            <a:r>
              <a:rPr lang="en-US" sz="1200" dirty="0"/>
              <a:t> is a </a:t>
            </a:r>
            <a:r>
              <a:rPr lang="en-US" sz="1200" b="1" dirty="0"/>
              <a:t>limiting factor</a:t>
            </a:r>
            <a:r>
              <a:rPr lang="en-US" sz="1200" dirty="0"/>
              <a:t>, </a:t>
            </a:r>
            <a:r>
              <a:rPr lang="en-US" sz="1200" b="1" dirty="0"/>
              <a:t>multilevel inverters (MLIs) </a:t>
            </a:r>
            <a:r>
              <a:rPr lang="en-US" sz="1200" dirty="0"/>
              <a:t>constitute a viable solution. MLIs are able to utilize switching devices with </a:t>
            </a:r>
            <a:r>
              <a:rPr lang="en-US" sz="1200" b="1" dirty="0"/>
              <a:t>lower voltage ratings </a:t>
            </a:r>
            <a:r>
              <a:rPr lang="en-US" sz="1200" dirty="0"/>
              <a:t>for the same or higher DC-link voltages when compared to two-level inverters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When </a:t>
            </a:r>
            <a:r>
              <a:rPr lang="en-US" sz="1200" b="1" dirty="0"/>
              <a:t>current</a:t>
            </a:r>
            <a:r>
              <a:rPr lang="en-US" sz="1200" dirty="0"/>
              <a:t> is a </a:t>
            </a:r>
            <a:r>
              <a:rPr lang="en-US" sz="1200" b="1" dirty="0"/>
              <a:t>limiting factor</a:t>
            </a:r>
            <a:r>
              <a:rPr lang="en-US" sz="1200" dirty="0"/>
              <a:t> for the semiconductor devices, discrete device </a:t>
            </a:r>
            <a:r>
              <a:rPr lang="en-US" sz="1200" b="1" dirty="0"/>
              <a:t>paralleling</a:t>
            </a:r>
            <a:r>
              <a:rPr lang="en-US" sz="1200" dirty="0"/>
              <a:t> is the industry-accepted solution; multiple devices are connected in parallel to withstand the output current of the inverter.  Alternatively, </a:t>
            </a:r>
            <a:r>
              <a:rPr lang="en-US" sz="1200" b="1" dirty="0"/>
              <a:t>multiphase drives (MPDs), </a:t>
            </a:r>
            <a:r>
              <a:rPr lang="en-US" sz="1200" dirty="0"/>
              <a:t>beyond three phases, thrive in delivering </a:t>
            </a:r>
            <a:r>
              <a:rPr lang="en-US" sz="1200" dirty="0" smtClean="0"/>
              <a:t>high power, </a:t>
            </a:r>
            <a:r>
              <a:rPr lang="en-US" sz="1200" dirty="0"/>
              <a:t>owing to their improved per-phase current handling.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Using </a:t>
            </a:r>
            <a:r>
              <a:rPr lang="en-US" sz="1200" dirty="0"/>
              <a:t>such </a:t>
            </a:r>
            <a:r>
              <a:rPr lang="en-US" sz="1200" b="1" dirty="0"/>
              <a:t>high voltages </a:t>
            </a:r>
            <a:r>
              <a:rPr lang="en-US" sz="1200" dirty="0" smtClean="0"/>
              <a:t>for power </a:t>
            </a:r>
            <a:r>
              <a:rPr lang="en-US" sz="1200" dirty="0"/>
              <a:t>supply </a:t>
            </a:r>
            <a:r>
              <a:rPr lang="en-US" sz="1200" dirty="0" smtClean="0"/>
              <a:t>provides </a:t>
            </a:r>
            <a:r>
              <a:rPr lang="en-US" sz="1200" b="1" dirty="0" smtClean="0"/>
              <a:t>megawatt charging </a:t>
            </a:r>
            <a:r>
              <a:rPr lang="en-US" sz="1200" dirty="0" smtClean="0"/>
              <a:t>aims </a:t>
            </a:r>
            <a:r>
              <a:rPr lang="en-US" sz="1200" dirty="0"/>
              <a:t>at </a:t>
            </a:r>
            <a:r>
              <a:rPr lang="en-US" sz="1200" b="1" dirty="0"/>
              <a:t>a reduction in cable </a:t>
            </a:r>
            <a:r>
              <a:rPr lang="en-US" sz="1200" b="1" dirty="0" smtClean="0"/>
              <a:t>weight</a:t>
            </a:r>
            <a:r>
              <a:rPr lang="en-US" sz="1200" dirty="0" smtClean="0"/>
              <a:t>, while at </a:t>
            </a:r>
            <a:r>
              <a:rPr lang="en-US" sz="1200" dirty="0"/>
              <a:t>the same </a:t>
            </a:r>
            <a:r>
              <a:rPr lang="en-US" sz="1200" dirty="0" smtClean="0"/>
              <a:t>time, </a:t>
            </a:r>
            <a:r>
              <a:rPr lang="en-US" sz="1200" dirty="0"/>
              <a:t>the </a:t>
            </a:r>
            <a:r>
              <a:rPr lang="en-US" sz="1200" b="1" dirty="0"/>
              <a:t>requirements for insulation </a:t>
            </a:r>
            <a:r>
              <a:rPr lang="en-US" sz="1200" dirty="0" smtClean="0"/>
              <a:t>become more </a:t>
            </a:r>
            <a:r>
              <a:rPr lang="en-US" sz="1200" dirty="0"/>
              <a:t>challenging. </a:t>
            </a:r>
            <a:endParaRPr lang="en-US" sz="1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 </a:t>
            </a:r>
            <a:r>
              <a:rPr lang="en-US" sz="1200" b="1" dirty="0" smtClean="0"/>
              <a:t>Wide </a:t>
            </a:r>
            <a:r>
              <a:rPr lang="en-US" sz="1200" b="1" dirty="0"/>
              <a:t>bandgap </a:t>
            </a:r>
            <a:r>
              <a:rPr lang="en-US" sz="1200" dirty="0"/>
              <a:t>semiconductors </a:t>
            </a:r>
            <a:r>
              <a:rPr lang="en-US" sz="1200" dirty="0" smtClean="0"/>
              <a:t>are </a:t>
            </a:r>
            <a:r>
              <a:rPr lang="en-US" sz="1200" b="1" dirty="0" smtClean="0"/>
              <a:t>key</a:t>
            </a:r>
            <a:r>
              <a:rPr lang="en-US" sz="1200" dirty="0" smtClean="0"/>
              <a:t> </a:t>
            </a:r>
            <a:r>
              <a:rPr lang="en-US" sz="1200" dirty="0"/>
              <a:t>enablers in the </a:t>
            </a:r>
            <a:r>
              <a:rPr lang="en-US" sz="1200" dirty="0" smtClean="0"/>
              <a:t>electrification, </a:t>
            </a:r>
            <a:r>
              <a:rPr lang="en-US" sz="1200" dirty="0"/>
              <a:t>which</a:t>
            </a:r>
            <a:br>
              <a:rPr lang="en-US" sz="1200" dirty="0"/>
            </a:br>
            <a:r>
              <a:rPr lang="en-US" sz="1200" dirty="0"/>
              <a:t>are commercially available up to </a:t>
            </a:r>
            <a:r>
              <a:rPr lang="en-US" sz="1200" b="1" dirty="0"/>
              <a:t>1.7 kV</a:t>
            </a:r>
            <a:r>
              <a:rPr lang="en-US" sz="1200" dirty="0"/>
              <a:t>. </a:t>
            </a:r>
            <a:r>
              <a:rPr lang="en-US" sz="1200" dirty="0" smtClean="0"/>
              <a:t>On the one hand</a:t>
            </a:r>
            <a:r>
              <a:rPr lang="en-US" sz="1200" b="1" dirty="0" smtClean="0"/>
              <a:t>, the semiconductors</a:t>
            </a:r>
            <a:r>
              <a:rPr lang="en-US" sz="1200" b="1" dirty="0"/>
              <a:t>’ losses</a:t>
            </a:r>
            <a:r>
              <a:rPr lang="en-US" sz="1200" dirty="0"/>
              <a:t> are </a:t>
            </a:r>
            <a:r>
              <a:rPr lang="en-US" sz="1200" b="1" dirty="0"/>
              <a:t>influenced </a:t>
            </a:r>
            <a:r>
              <a:rPr lang="en-US" sz="1200" b="1" dirty="0" smtClean="0"/>
              <a:t>by the </a:t>
            </a:r>
            <a:r>
              <a:rPr lang="en-US" sz="1200" b="1" dirty="0"/>
              <a:t>rated voltage</a:t>
            </a:r>
            <a:r>
              <a:rPr lang="en-US" sz="1200" dirty="0"/>
              <a:t>, thus calling for prediction </a:t>
            </a:r>
            <a:r>
              <a:rPr lang="en-US" sz="1200" dirty="0" smtClean="0"/>
              <a:t>models to </a:t>
            </a:r>
            <a:r>
              <a:rPr lang="en-US" sz="1200" dirty="0"/>
              <a:t>calculate inverter losses and efficiency depending </a:t>
            </a:r>
            <a:r>
              <a:rPr lang="en-US" sz="1200" dirty="0" smtClean="0"/>
              <a:t>on the </a:t>
            </a:r>
            <a:r>
              <a:rPr lang="en-US" sz="1200" dirty="0"/>
              <a:t>semiconductor-rated </a:t>
            </a:r>
            <a:r>
              <a:rPr lang="en-US" sz="1200" dirty="0" smtClean="0"/>
              <a:t>voltage. On </a:t>
            </a:r>
            <a:r>
              <a:rPr lang="en-US" sz="1200" dirty="0"/>
              <a:t>the other </a:t>
            </a:r>
            <a:r>
              <a:rPr lang="en-US" sz="1200" dirty="0" smtClean="0"/>
              <a:t>hand, </a:t>
            </a:r>
            <a:r>
              <a:rPr lang="en-US" sz="1200" b="1" dirty="0" smtClean="0"/>
              <a:t>failures </a:t>
            </a:r>
            <a:r>
              <a:rPr lang="en-US" sz="1200" b="1" dirty="0"/>
              <a:t>due to cosmic radiation </a:t>
            </a:r>
            <a:r>
              <a:rPr lang="en-US" sz="1200" dirty="0"/>
              <a:t>have to be </a:t>
            </a:r>
            <a:r>
              <a:rPr lang="en-US" sz="1200" dirty="0" smtClean="0"/>
              <a:t>considered, which </a:t>
            </a:r>
            <a:r>
              <a:rPr lang="en-US" sz="1200" dirty="0"/>
              <a:t>result in a </a:t>
            </a:r>
            <a:r>
              <a:rPr lang="en-US" sz="1200" b="1" dirty="0"/>
              <a:t>failure in time (FIT) rate</a:t>
            </a:r>
            <a:r>
              <a:rPr lang="en-US" sz="1200" dirty="0"/>
              <a:t> of </a:t>
            </a:r>
            <a:r>
              <a:rPr lang="en-US" sz="1200" dirty="0" smtClean="0"/>
              <a:t>the semi-conductors </a:t>
            </a:r>
            <a:r>
              <a:rPr lang="en-US" sz="1200" dirty="0"/>
              <a:t>which is strongly voltage-dependent</a:t>
            </a:r>
            <a:r>
              <a:rPr lang="en-US" sz="12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271915" y="4198650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[1] </a:t>
            </a:r>
            <a:r>
              <a:rPr lang="sv-SE" sz="800" dirty="0"/>
              <a:t>J. </a:t>
            </a:r>
            <a:r>
              <a:rPr lang="sv-SE" sz="800" dirty="0" err="1"/>
              <a:t>Ebersberger</a:t>
            </a:r>
            <a:r>
              <a:rPr lang="sv-SE" sz="800" dirty="0"/>
              <a:t>, M. </a:t>
            </a:r>
            <a:r>
              <a:rPr lang="sv-SE" sz="800" dirty="0" err="1"/>
              <a:t>Hagedorn</a:t>
            </a:r>
            <a:r>
              <a:rPr lang="sv-SE" sz="800" dirty="0"/>
              <a:t>, M. Lorenz, and A. </a:t>
            </a:r>
            <a:r>
              <a:rPr lang="sv-SE" sz="800" dirty="0" err="1"/>
              <a:t>Mertens</a:t>
            </a:r>
            <a:r>
              <a:rPr lang="sv-SE" sz="800" dirty="0"/>
              <a:t>, “</a:t>
            </a:r>
            <a:r>
              <a:rPr lang="sv-SE" sz="800" dirty="0" smtClean="0"/>
              <a:t>Potentials and </a:t>
            </a:r>
            <a:r>
              <a:rPr lang="sv-SE" sz="800" dirty="0" err="1"/>
              <a:t>comparison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</a:t>
            </a:r>
            <a:r>
              <a:rPr lang="sv-SE" sz="800" dirty="0" err="1"/>
              <a:t>topologies</a:t>
            </a:r>
            <a:r>
              <a:rPr lang="sv-SE" sz="800" dirty="0"/>
              <a:t> for </a:t>
            </a:r>
            <a:r>
              <a:rPr lang="sv-SE" sz="800" dirty="0" err="1"/>
              <a:t>future</a:t>
            </a:r>
            <a:r>
              <a:rPr lang="sv-SE" sz="800" dirty="0"/>
              <a:t> all-</a:t>
            </a:r>
            <a:r>
              <a:rPr lang="sv-SE" sz="800" dirty="0" err="1"/>
              <a:t>electric</a:t>
            </a:r>
            <a:r>
              <a:rPr lang="sv-SE" sz="800" dirty="0"/>
              <a:t> </a:t>
            </a:r>
            <a:r>
              <a:rPr lang="sv-SE" sz="800" dirty="0" err="1" smtClean="0"/>
              <a:t>aircraft</a:t>
            </a:r>
            <a:r>
              <a:rPr lang="sv-SE" sz="800" dirty="0"/>
              <a:t> </a:t>
            </a:r>
            <a:r>
              <a:rPr lang="sv-SE" sz="800" dirty="0" err="1" smtClean="0"/>
              <a:t>propulsion</a:t>
            </a:r>
            <a:r>
              <a:rPr lang="sv-SE" sz="800" dirty="0"/>
              <a:t>,” IEEE Journal </a:t>
            </a:r>
            <a:r>
              <a:rPr lang="sv-SE" sz="800" dirty="0" err="1"/>
              <a:t>of</a:t>
            </a:r>
            <a:r>
              <a:rPr lang="sv-SE" sz="800" dirty="0"/>
              <a:t> </a:t>
            </a:r>
            <a:r>
              <a:rPr lang="sv-SE" sz="800" dirty="0" err="1"/>
              <a:t>Emerging</a:t>
            </a:r>
            <a:r>
              <a:rPr lang="sv-SE" sz="800" dirty="0"/>
              <a:t> and </a:t>
            </a:r>
            <a:r>
              <a:rPr lang="sv-SE" sz="800" dirty="0" err="1"/>
              <a:t>Selected</a:t>
            </a:r>
            <a:r>
              <a:rPr lang="sv-SE" sz="800" dirty="0"/>
              <a:t> </a:t>
            </a:r>
            <a:r>
              <a:rPr lang="sv-SE" sz="800" dirty="0" err="1"/>
              <a:t>Topics</a:t>
            </a:r>
            <a:r>
              <a:rPr lang="sv-SE" sz="800" dirty="0"/>
              <a:t> in </a:t>
            </a:r>
            <a:r>
              <a:rPr lang="sv-SE" sz="800" dirty="0" smtClean="0"/>
              <a:t>Power Electronics</a:t>
            </a:r>
            <a:r>
              <a:rPr lang="sv-SE" sz="800" dirty="0"/>
              <a:t>, vol. 10, no. 5, </a:t>
            </a:r>
            <a:r>
              <a:rPr lang="sv-SE" sz="800" dirty="0" err="1"/>
              <a:t>pp</a:t>
            </a:r>
            <a:r>
              <a:rPr lang="sv-SE" sz="800" dirty="0"/>
              <a:t>. 5264–5279, </a:t>
            </a:r>
            <a:r>
              <a:rPr lang="sv-SE" sz="800" dirty="0" smtClean="0"/>
              <a:t>2022</a:t>
            </a:r>
          </a:p>
          <a:p>
            <a:r>
              <a:rPr lang="en-US" sz="800" dirty="0" smtClean="0"/>
              <a:t>[2] Q</a:t>
            </a:r>
            <a:r>
              <a:rPr lang="en-US" sz="800" dirty="0"/>
              <a:t>. Mohammad, “Design and optimization of an inverter for a </a:t>
            </a:r>
            <a:r>
              <a:rPr lang="en-US" sz="800" dirty="0" smtClean="0"/>
              <a:t>one- megawatt </a:t>
            </a:r>
            <a:r>
              <a:rPr lang="en-US" sz="800" dirty="0"/>
              <a:t>ultra-light motor drive,” AIAA Aviation Forum 2023, </a:t>
            </a:r>
            <a:r>
              <a:rPr lang="en-US" sz="800" dirty="0" smtClean="0"/>
              <a:t>2023</a:t>
            </a:r>
          </a:p>
          <a:p>
            <a:r>
              <a:rPr lang="sv-SE" sz="800" dirty="0" smtClean="0"/>
              <a:t>[3] </a:t>
            </a:r>
            <a:r>
              <a:rPr lang="sv-SE" sz="800" dirty="0"/>
              <a:t>A. </a:t>
            </a:r>
            <a:r>
              <a:rPr lang="sv-SE" sz="800" dirty="0" err="1"/>
              <a:t>Poorfakhraei</a:t>
            </a:r>
            <a:r>
              <a:rPr lang="sv-SE" sz="800" dirty="0"/>
              <a:t>, M. </a:t>
            </a:r>
            <a:r>
              <a:rPr lang="sv-SE" sz="800" dirty="0" err="1"/>
              <a:t>Narimani</a:t>
            </a:r>
            <a:r>
              <a:rPr lang="sv-SE" sz="800" dirty="0"/>
              <a:t> and A. </a:t>
            </a:r>
            <a:r>
              <a:rPr lang="sv-SE" sz="800" dirty="0" err="1"/>
              <a:t>Emadi</a:t>
            </a:r>
            <a:r>
              <a:rPr lang="sv-SE" sz="800" dirty="0"/>
              <a:t>, "A Review </a:t>
            </a:r>
            <a:r>
              <a:rPr lang="sv-SE" sz="800" dirty="0" err="1"/>
              <a:t>of</a:t>
            </a:r>
            <a:r>
              <a:rPr lang="sv-SE" sz="800" dirty="0"/>
              <a:t> </a:t>
            </a:r>
            <a:r>
              <a:rPr lang="sv-SE" sz="800" dirty="0" err="1"/>
              <a:t>Multilevel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</a:t>
            </a:r>
            <a:r>
              <a:rPr lang="sv-SE" sz="800" dirty="0" err="1"/>
              <a:t>Topologies</a:t>
            </a:r>
            <a:r>
              <a:rPr lang="sv-SE" sz="800" dirty="0"/>
              <a:t> in Electric </a:t>
            </a:r>
            <a:r>
              <a:rPr lang="sv-SE" sz="800" dirty="0" err="1"/>
              <a:t>Vehicles</a:t>
            </a:r>
            <a:r>
              <a:rPr lang="sv-SE" sz="800" dirty="0"/>
              <a:t>: </a:t>
            </a:r>
            <a:r>
              <a:rPr lang="sv-SE" sz="800" dirty="0" err="1"/>
              <a:t>Current</a:t>
            </a:r>
            <a:r>
              <a:rPr lang="sv-SE" sz="800" dirty="0"/>
              <a:t> Status and </a:t>
            </a:r>
            <a:r>
              <a:rPr lang="sv-SE" sz="800" dirty="0" err="1"/>
              <a:t>Future</a:t>
            </a:r>
            <a:r>
              <a:rPr lang="sv-SE" sz="800" dirty="0"/>
              <a:t> Trends," in IEEE </a:t>
            </a:r>
            <a:r>
              <a:rPr lang="sv-SE" sz="800" dirty="0" err="1"/>
              <a:t>Open</a:t>
            </a:r>
            <a:r>
              <a:rPr lang="sv-SE" sz="800" dirty="0"/>
              <a:t> Journal </a:t>
            </a:r>
            <a:r>
              <a:rPr lang="sv-SE" sz="800" dirty="0" err="1"/>
              <a:t>of</a:t>
            </a:r>
            <a:r>
              <a:rPr lang="sv-SE" sz="800" dirty="0"/>
              <a:t> Power Electronics, vol. 2, </a:t>
            </a:r>
            <a:r>
              <a:rPr lang="sv-SE" sz="800" dirty="0" err="1"/>
              <a:t>pp</a:t>
            </a:r>
            <a:r>
              <a:rPr lang="sv-SE" sz="800" dirty="0"/>
              <a:t>. 155-170, 2021, </a:t>
            </a:r>
            <a:r>
              <a:rPr lang="sv-SE" sz="800" dirty="0" err="1"/>
              <a:t>doi</a:t>
            </a:r>
            <a:r>
              <a:rPr lang="sv-SE" sz="800" dirty="0"/>
              <a:t>: 10.1109/OJPEL.2021.3063550.</a:t>
            </a:r>
          </a:p>
          <a:p>
            <a:endParaRPr lang="sv-SE" sz="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75606"/>
            <a:ext cx="239952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9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en-US" dirty="0" smtClean="0"/>
              <a:t>Design Chapters for Holistic Design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800" smtClean="0"/>
              <a:pPr/>
              <a:t>2025-05-13</a:t>
            </a:fld>
            <a:endParaRPr lang="sv-SE" sz="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8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800" smtClean="0"/>
              <a:pPr/>
              <a:t>8</a:t>
            </a:fld>
            <a:endParaRPr lang="sv-SE" sz="8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4" y="1030446"/>
            <a:ext cx="4155876" cy="286550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</a:t>
            </a:r>
            <a:r>
              <a:rPr lang="en-US" sz="2000" b="1" dirty="0"/>
              <a:t>of topology and power modules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Heat sink and cooling </a:t>
            </a:r>
            <a:r>
              <a:rPr lang="en-US" sz="2000" b="1" dirty="0" smtClean="0"/>
              <a:t>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</a:t>
            </a:r>
            <a:r>
              <a:rPr lang="en-US" sz="2000" b="1" dirty="0"/>
              <a:t>bank for DC-link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Bus </a:t>
            </a:r>
            <a:r>
              <a:rPr lang="en-US" sz="2000" b="1" dirty="0"/>
              <a:t>bar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Auxiliary </a:t>
            </a:r>
            <a:r>
              <a:rPr lang="en-US" sz="2000" b="1" dirty="0"/>
              <a:t>circuits</a:t>
            </a:r>
            <a:r>
              <a:rPr lang="sv-SE" sz="2000" b="1" dirty="0"/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Connectors </a:t>
            </a:r>
            <a:r>
              <a:rPr lang="en-US" sz="2000" b="1" dirty="0"/>
              <a:t>and Filters </a:t>
            </a:r>
            <a:r>
              <a:rPr lang="sv-SE" sz="2000" b="1" dirty="0" smtClean="0"/>
              <a:t>:</a:t>
            </a:r>
            <a:endParaRPr lang="sv-SE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01874" y="3512066"/>
            <a:ext cx="338437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Additionally, the </a:t>
            </a:r>
            <a:r>
              <a:rPr lang="en-US" b="1" dirty="0" smtClean="0"/>
              <a:t>life-time cost </a:t>
            </a:r>
            <a:r>
              <a:rPr lang="en-US" dirty="0" smtClean="0"/>
              <a:t>modeling, reliability and </a:t>
            </a:r>
            <a:r>
              <a:rPr lang="en-US" b="1" dirty="0" smtClean="0"/>
              <a:t>common mode voltage and EMI </a:t>
            </a:r>
            <a:r>
              <a:rPr lang="en-US" dirty="0" smtClean="0"/>
              <a:t>issues should be considered. 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699542"/>
            <a:ext cx="3237884" cy="1754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454229"/>
            <a:ext cx="3207271" cy="18727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9512" y="4339780"/>
            <a:ext cx="8708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[1] W</a:t>
            </a:r>
            <a:r>
              <a:rPr lang="sv-SE" sz="800" dirty="0"/>
              <a:t>. </a:t>
            </a:r>
            <a:r>
              <a:rPr lang="sv-SE" sz="800" dirty="0" err="1"/>
              <a:t>Taha</a:t>
            </a:r>
            <a:r>
              <a:rPr lang="sv-SE" sz="800" dirty="0"/>
              <a:t> et al., "</a:t>
            </a:r>
            <a:r>
              <a:rPr lang="sv-SE" sz="800" dirty="0" err="1"/>
              <a:t>Holistic</a:t>
            </a:r>
            <a:r>
              <a:rPr lang="sv-SE" sz="800" dirty="0"/>
              <a:t> Design and </a:t>
            </a:r>
            <a:r>
              <a:rPr lang="sv-SE" sz="800" dirty="0" err="1"/>
              <a:t>Development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a 100 kW </a:t>
            </a:r>
            <a:r>
              <a:rPr lang="sv-SE" sz="800" dirty="0" err="1"/>
              <a:t>SiC-Based</a:t>
            </a:r>
            <a:r>
              <a:rPr lang="sv-SE" sz="800" dirty="0"/>
              <a:t> </a:t>
            </a:r>
            <a:r>
              <a:rPr lang="sv-SE" sz="800" dirty="0" err="1"/>
              <a:t>Six-Phase</a:t>
            </a:r>
            <a:r>
              <a:rPr lang="sv-SE" sz="800" dirty="0"/>
              <a:t> </a:t>
            </a:r>
            <a:r>
              <a:rPr lang="sv-SE" sz="800" dirty="0" err="1"/>
              <a:t>Traction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for an Electric </a:t>
            </a:r>
            <a:r>
              <a:rPr lang="sv-SE" sz="800" dirty="0" err="1"/>
              <a:t>Vehicle</a:t>
            </a:r>
            <a:r>
              <a:rPr lang="sv-SE" sz="800" dirty="0"/>
              <a:t> </a:t>
            </a:r>
            <a:r>
              <a:rPr lang="sv-SE" sz="800" dirty="0" err="1"/>
              <a:t>Application</a:t>
            </a:r>
            <a:r>
              <a:rPr lang="sv-SE" sz="800" dirty="0"/>
              <a:t>," in IEEE </a:t>
            </a:r>
            <a:r>
              <a:rPr lang="sv-SE" sz="800" dirty="0" err="1"/>
              <a:t>Transactions</a:t>
            </a:r>
            <a:r>
              <a:rPr lang="sv-SE" sz="800" dirty="0"/>
              <a:t> on </a:t>
            </a:r>
            <a:r>
              <a:rPr lang="sv-SE" sz="800" dirty="0" err="1"/>
              <a:t>Transportation</a:t>
            </a:r>
            <a:r>
              <a:rPr lang="sv-SE" sz="800" dirty="0"/>
              <a:t> </a:t>
            </a:r>
            <a:r>
              <a:rPr lang="sv-SE" sz="800" dirty="0" err="1"/>
              <a:t>Electrification</a:t>
            </a:r>
            <a:r>
              <a:rPr lang="sv-SE" sz="800" dirty="0"/>
              <a:t>, </a:t>
            </a:r>
            <a:r>
              <a:rPr lang="sv-SE" sz="800" dirty="0" err="1" smtClean="0"/>
              <a:t>doi</a:t>
            </a:r>
            <a:r>
              <a:rPr lang="sv-SE" sz="800" dirty="0" smtClean="0"/>
              <a:t>: 10.1109/TTE.2023.3313511</a:t>
            </a:r>
            <a:r>
              <a:rPr lang="sv-SE" sz="8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486" y="4618488"/>
            <a:ext cx="8708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[2] Z</a:t>
            </a:r>
            <a:r>
              <a:rPr lang="sv-SE" sz="800" dirty="0"/>
              <a:t>. </a:t>
            </a:r>
            <a:r>
              <a:rPr lang="sv-SE" sz="800" dirty="0" err="1"/>
              <a:t>Zeng</a:t>
            </a:r>
            <a:r>
              <a:rPr lang="sv-SE" sz="800" dirty="0"/>
              <a:t>, X. Zhang, F. </a:t>
            </a:r>
            <a:r>
              <a:rPr lang="sv-SE" sz="800" dirty="0" err="1"/>
              <a:t>Blaabjerg</a:t>
            </a:r>
            <a:r>
              <a:rPr lang="sv-SE" sz="800" dirty="0"/>
              <a:t>, H. Chen and T. </a:t>
            </a:r>
            <a:r>
              <a:rPr lang="sv-SE" sz="800" dirty="0" err="1"/>
              <a:t>Sun</a:t>
            </a:r>
            <a:r>
              <a:rPr lang="sv-SE" sz="800" dirty="0"/>
              <a:t>, "</a:t>
            </a:r>
            <a:r>
              <a:rPr lang="sv-SE" sz="800" dirty="0" err="1"/>
              <a:t>Stepwise</a:t>
            </a:r>
            <a:r>
              <a:rPr lang="sv-SE" sz="800" dirty="0"/>
              <a:t> Design </a:t>
            </a:r>
            <a:r>
              <a:rPr lang="sv-SE" sz="800" dirty="0" err="1"/>
              <a:t>Methodology</a:t>
            </a:r>
            <a:r>
              <a:rPr lang="sv-SE" sz="800" dirty="0"/>
              <a:t> and </a:t>
            </a:r>
            <a:r>
              <a:rPr lang="sv-SE" sz="800" dirty="0" err="1"/>
              <a:t>Heterogeneous</a:t>
            </a:r>
            <a:r>
              <a:rPr lang="sv-SE" sz="800" dirty="0"/>
              <a:t> Integration </a:t>
            </a:r>
            <a:r>
              <a:rPr lang="sv-SE" sz="800" dirty="0" err="1"/>
              <a:t>Routine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Air-</a:t>
            </a:r>
            <a:r>
              <a:rPr lang="sv-SE" sz="800" dirty="0" err="1"/>
              <a:t>Cooled</a:t>
            </a:r>
            <a:r>
              <a:rPr lang="sv-SE" sz="800" dirty="0"/>
              <a:t> </a:t>
            </a:r>
            <a:r>
              <a:rPr lang="sv-SE" sz="800" dirty="0" err="1"/>
              <a:t>SiC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for Electric </a:t>
            </a:r>
            <a:r>
              <a:rPr lang="sv-SE" sz="800" dirty="0" err="1"/>
              <a:t>Vehicle</a:t>
            </a:r>
            <a:r>
              <a:rPr lang="sv-SE" sz="800" dirty="0"/>
              <a:t>," in IEEE </a:t>
            </a:r>
            <a:r>
              <a:rPr lang="sv-SE" sz="800" dirty="0" err="1"/>
              <a:t>Transactions</a:t>
            </a:r>
            <a:r>
              <a:rPr lang="sv-SE" sz="800" dirty="0"/>
              <a:t> on Power Electronics, vol. 35, no. 4, </a:t>
            </a:r>
            <a:r>
              <a:rPr lang="sv-SE" sz="800" dirty="0" err="1"/>
              <a:t>pp</a:t>
            </a:r>
            <a:r>
              <a:rPr lang="sv-SE" sz="800" dirty="0"/>
              <a:t>. 3973-3988, April 2020, </a:t>
            </a:r>
            <a:r>
              <a:rPr lang="sv-SE" sz="800" dirty="0" err="1"/>
              <a:t>doi</a:t>
            </a:r>
            <a:r>
              <a:rPr lang="sv-SE" sz="800" dirty="0"/>
              <a:t>: 10.1109/TPEL.2019.2937135.</a:t>
            </a:r>
          </a:p>
        </p:txBody>
      </p:sp>
    </p:spTree>
    <p:extLst>
      <p:ext uri="{BB962C8B-B14F-4D97-AF65-F5344CB8AC3E}">
        <p14:creationId xmlns:p14="http://schemas.microsoft.com/office/powerpoint/2010/main" val="27936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3949A7A-89E7-DB45-87F8-4075EBCB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450" y="232716"/>
            <a:ext cx="7763861" cy="647700"/>
          </a:xfrm>
        </p:spPr>
        <p:txBody>
          <a:bodyPr/>
          <a:lstStyle/>
          <a:p>
            <a:r>
              <a:rPr lang="en-US" dirty="0" smtClean="0"/>
              <a:t>Stepwise Design Methodologies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D9F21-D294-504A-9E68-E3CFA174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pPr/>
              <a:t>2025-05-13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E8507-E135-DF4E-80F8-5960E424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80C37-6B93-7A4A-9AEF-AB34FD0D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9</a:t>
            </a:fld>
            <a:endParaRPr lang="sv-S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0" y="807985"/>
            <a:ext cx="1658700" cy="3264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59" y="1302021"/>
            <a:ext cx="3672408" cy="2668026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4294967295"/>
          </p:nvPr>
        </p:nvSpPr>
        <p:spPr>
          <a:xfrm>
            <a:off x="5500012" y="828590"/>
            <a:ext cx="3536484" cy="29694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Losses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Power semiconductors (90 %) </a:t>
            </a:r>
            <a:r>
              <a:rPr lang="en-US" sz="1400" dirty="0"/>
              <a:t>(</a:t>
            </a:r>
            <a:r>
              <a:rPr lang="en-US" sz="1400" dirty="0" smtClean="0"/>
              <a:t>eff 99.5%)</a:t>
            </a:r>
          </a:p>
          <a:p>
            <a:pPr lvl="1"/>
            <a:r>
              <a:rPr lang="en-US" sz="1400" dirty="0" smtClean="0"/>
              <a:t>Conduction Losses</a:t>
            </a:r>
          </a:p>
          <a:p>
            <a:pPr lvl="1"/>
            <a:r>
              <a:rPr lang="en-US" sz="1400" dirty="0" smtClean="0"/>
              <a:t>Switching Losses</a:t>
            </a:r>
          </a:p>
          <a:p>
            <a:pPr lvl="1"/>
            <a:r>
              <a:rPr lang="en-US" sz="1400" strike="sngStrike" dirty="0"/>
              <a:t>Driving losses</a:t>
            </a:r>
          </a:p>
          <a:p>
            <a:pPr lvl="1"/>
            <a:r>
              <a:rPr lang="en-US" sz="1400" strike="sngStrike" dirty="0"/>
              <a:t>Leakage </a:t>
            </a:r>
            <a:r>
              <a:rPr lang="en-US" sz="1400" strike="sngStrike" dirty="0" smtClean="0"/>
              <a:t>Losses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Additional Losses  ( 10%)</a:t>
            </a:r>
          </a:p>
          <a:p>
            <a:pPr lvl="1"/>
            <a:r>
              <a:rPr lang="en-US" sz="1400" dirty="0" smtClean="0"/>
              <a:t>Filters losses </a:t>
            </a:r>
            <a:endParaRPr lang="en-US" sz="1400" dirty="0"/>
          </a:p>
          <a:p>
            <a:pPr marL="0" indent="0">
              <a:buNone/>
            </a:pPr>
            <a:endParaRPr lang="en-US" sz="25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954269" y="3829350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6324972" y="4008524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726778" y="3626752"/>
            <a:ext cx="1231900" cy="590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16" name="Rectangle 15"/>
          <p:cNvSpPr/>
          <p:nvPr/>
        </p:nvSpPr>
        <p:spPr>
          <a:xfrm>
            <a:off x="5220072" y="3626752"/>
            <a:ext cx="1104900" cy="5905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1601" y="3389709"/>
            <a:ext cx="14493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Cooling system</a:t>
            </a:r>
            <a:endParaRPr lang="sv-SE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 txBox="1">
            <a:spLocks/>
          </p:cNvSpPr>
          <p:nvPr/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sv-SE"/>
            </a:defPPr>
            <a:lvl1pPr marL="0" algn="l" defTabSz="685800" rtl="0" eaLnBrk="1" latinLnBrk="0" hangingPunct="1">
              <a:defRPr sz="7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v-SE" sz="800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 txBox="1">
            <a:spLocks/>
          </p:cNvSpPr>
          <p:nvPr/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sv-SE"/>
            </a:defPPr>
            <a:lvl1pPr marL="0" algn="r" defTabSz="685800" rtl="0" eaLnBrk="1" latinLnBrk="0" hangingPunct="1">
              <a:defRPr sz="7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22A9A3-8636-4A04-BD48-3153280FB086}" type="slidenum">
              <a:rPr lang="sv-SE" sz="800" smtClean="0"/>
              <a:pPr/>
              <a:t>9</a:t>
            </a:fld>
            <a:endParaRPr lang="sv-SE" sz="800"/>
          </a:p>
        </p:txBody>
      </p:sp>
      <p:sp>
        <p:nvSpPr>
          <p:cNvPr id="21" name="Rectangle 20"/>
          <p:cNvSpPr/>
          <p:nvPr/>
        </p:nvSpPr>
        <p:spPr>
          <a:xfrm>
            <a:off x="183682" y="4307432"/>
            <a:ext cx="8708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[1] W</a:t>
            </a:r>
            <a:r>
              <a:rPr lang="sv-SE" sz="800" dirty="0"/>
              <a:t>. </a:t>
            </a:r>
            <a:r>
              <a:rPr lang="sv-SE" sz="800" dirty="0" err="1"/>
              <a:t>Taha</a:t>
            </a:r>
            <a:r>
              <a:rPr lang="sv-SE" sz="800" dirty="0"/>
              <a:t> et al., "</a:t>
            </a:r>
            <a:r>
              <a:rPr lang="sv-SE" sz="800" dirty="0" err="1"/>
              <a:t>Holistic</a:t>
            </a:r>
            <a:r>
              <a:rPr lang="sv-SE" sz="800" dirty="0"/>
              <a:t> Design and </a:t>
            </a:r>
            <a:r>
              <a:rPr lang="sv-SE" sz="800" dirty="0" err="1"/>
              <a:t>Development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a 100 kW </a:t>
            </a:r>
            <a:r>
              <a:rPr lang="sv-SE" sz="800" dirty="0" err="1"/>
              <a:t>SiC-Based</a:t>
            </a:r>
            <a:r>
              <a:rPr lang="sv-SE" sz="800" dirty="0"/>
              <a:t> </a:t>
            </a:r>
            <a:r>
              <a:rPr lang="sv-SE" sz="800" dirty="0" err="1"/>
              <a:t>Six-Phase</a:t>
            </a:r>
            <a:r>
              <a:rPr lang="sv-SE" sz="800" dirty="0"/>
              <a:t> </a:t>
            </a:r>
            <a:r>
              <a:rPr lang="sv-SE" sz="800" dirty="0" err="1"/>
              <a:t>Traction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for an Electric </a:t>
            </a:r>
            <a:r>
              <a:rPr lang="sv-SE" sz="800" dirty="0" err="1"/>
              <a:t>Vehicle</a:t>
            </a:r>
            <a:r>
              <a:rPr lang="sv-SE" sz="800" dirty="0"/>
              <a:t> </a:t>
            </a:r>
            <a:r>
              <a:rPr lang="sv-SE" sz="800" dirty="0" err="1"/>
              <a:t>Application</a:t>
            </a:r>
            <a:r>
              <a:rPr lang="sv-SE" sz="800" dirty="0"/>
              <a:t>," in IEEE </a:t>
            </a:r>
            <a:r>
              <a:rPr lang="sv-SE" sz="800" dirty="0" err="1"/>
              <a:t>Transactions</a:t>
            </a:r>
            <a:r>
              <a:rPr lang="sv-SE" sz="800" dirty="0"/>
              <a:t> on </a:t>
            </a:r>
            <a:r>
              <a:rPr lang="sv-SE" sz="800" dirty="0" err="1"/>
              <a:t>Transportation</a:t>
            </a:r>
            <a:r>
              <a:rPr lang="sv-SE" sz="800" dirty="0"/>
              <a:t> </a:t>
            </a:r>
            <a:r>
              <a:rPr lang="sv-SE" sz="800" dirty="0" err="1"/>
              <a:t>Electrification</a:t>
            </a:r>
            <a:r>
              <a:rPr lang="sv-SE" sz="800" dirty="0"/>
              <a:t>, </a:t>
            </a:r>
            <a:r>
              <a:rPr lang="sv-SE" sz="800" dirty="0" err="1" smtClean="0"/>
              <a:t>doi</a:t>
            </a:r>
            <a:r>
              <a:rPr lang="sv-SE" sz="800" dirty="0" smtClean="0"/>
              <a:t>: 10.1109/TTE.2023.3313511</a:t>
            </a:r>
            <a:r>
              <a:rPr lang="sv-SE" sz="8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656" y="4586140"/>
            <a:ext cx="8708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[2] Z</a:t>
            </a:r>
            <a:r>
              <a:rPr lang="sv-SE" sz="800" dirty="0"/>
              <a:t>. </a:t>
            </a:r>
            <a:r>
              <a:rPr lang="sv-SE" sz="800" dirty="0" err="1"/>
              <a:t>Zeng</a:t>
            </a:r>
            <a:r>
              <a:rPr lang="sv-SE" sz="800" dirty="0"/>
              <a:t>, X. Zhang, F. </a:t>
            </a:r>
            <a:r>
              <a:rPr lang="sv-SE" sz="800" dirty="0" err="1"/>
              <a:t>Blaabjerg</a:t>
            </a:r>
            <a:r>
              <a:rPr lang="sv-SE" sz="800" dirty="0"/>
              <a:t>, H. Chen and T. </a:t>
            </a:r>
            <a:r>
              <a:rPr lang="sv-SE" sz="800" dirty="0" err="1"/>
              <a:t>Sun</a:t>
            </a:r>
            <a:r>
              <a:rPr lang="sv-SE" sz="800" dirty="0"/>
              <a:t>, "</a:t>
            </a:r>
            <a:r>
              <a:rPr lang="sv-SE" sz="800" dirty="0" err="1"/>
              <a:t>Stepwise</a:t>
            </a:r>
            <a:r>
              <a:rPr lang="sv-SE" sz="800" dirty="0"/>
              <a:t> Design </a:t>
            </a:r>
            <a:r>
              <a:rPr lang="sv-SE" sz="800" dirty="0" err="1"/>
              <a:t>Methodology</a:t>
            </a:r>
            <a:r>
              <a:rPr lang="sv-SE" sz="800" dirty="0"/>
              <a:t> and </a:t>
            </a:r>
            <a:r>
              <a:rPr lang="sv-SE" sz="800" dirty="0" err="1"/>
              <a:t>Heterogeneous</a:t>
            </a:r>
            <a:r>
              <a:rPr lang="sv-SE" sz="800" dirty="0"/>
              <a:t> Integration </a:t>
            </a:r>
            <a:r>
              <a:rPr lang="sv-SE" sz="800" dirty="0" err="1"/>
              <a:t>Routine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Air-</a:t>
            </a:r>
            <a:r>
              <a:rPr lang="sv-SE" sz="800" dirty="0" err="1"/>
              <a:t>Cooled</a:t>
            </a:r>
            <a:r>
              <a:rPr lang="sv-SE" sz="800" dirty="0"/>
              <a:t> </a:t>
            </a:r>
            <a:r>
              <a:rPr lang="sv-SE" sz="800" dirty="0" err="1"/>
              <a:t>SiC</a:t>
            </a:r>
            <a:r>
              <a:rPr lang="sv-SE" sz="800" dirty="0"/>
              <a:t> </a:t>
            </a:r>
            <a:r>
              <a:rPr lang="sv-SE" sz="800" dirty="0" err="1"/>
              <a:t>Inverter</a:t>
            </a:r>
            <a:r>
              <a:rPr lang="sv-SE" sz="800" dirty="0"/>
              <a:t> for Electric </a:t>
            </a:r>
            <a:r>
              <a:rPr lang="sv-SE" sz="800" dirty="0" err="1"/>
              <a:t>Vehicle</a:t>
            </a:r>
            <a:r>
              <a:rPr lang="sv-SE" sz="800" dirty="0"/>
              <a:t>," in IEEE </a:t>
            </a:r>
            <a:r>
              <a:rPr lang="sv-SE" sz="800" dirty="0" err="1"/>
              <a:t>Transactions</a:t>
            </a:r>
            <a:r>
              <a:rPr lang="sv-SE" sz="800" dirty="0"/>
              <a:t> on Power Electronics, vol. 35, no. 4, </a:t>
            </a:r>
            <a:r>
              <a:rPr lang="sv-SE" sz="800" dirty="0" err="1"/>
              <a:t>pp</a:t>
            </a:r>
            <a:r>
              <a:rPr lang="sv-SE" sz="800" dirty="0"/>
              <a:t>. 3973-3988, April 2020, </a:t>
            </a:r>
            <a:r>
              <a:rPr lang="sv-SE" sz="800" dirty="0" err="1"/>
              <a:t>doi</a:t>
            </a:r>
            <a:r>
              <a:rPr lang="sv-SE" sz="800" dirty="0"/>
              <a:t>: 10.1109/TPEL.2019.2937135.</a:t>
            </a:r>
          </a:p>
        </p:txBody>
      </p:sp>
    </p:spTree>
    <p:extLst>
      <p:ext uri="{BB962C8B-B14F-4D97-AF65-F5344CB8AC3E}">
        <p14:creationId xmlns:p14="http://schemas.microsoft.com/office/powerpoint/2010/main" val="208143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err="1" smtClean="0"/>
              <a:t>Traction</a:t>
            </a:r>
            <a:r>
              <a:rPr lang="sv-SE" b="0" dirty="0" smtClean="0"/>
              <a:t> Drives </a:t>
            </a:r>
            <a:r>
              <a:rPr lang="sv-SE" b="0" dirty="0" err="1" smtClean="0"/>
              <a:t>Topologies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10</a:t>
            </a:fld>
            <a:endParaRPr lang="sv-SE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/>
          <a:srcRect t="5639" b="10136"/>
          <a:stretch/>
        </p:blipFill>
        <p:spPr>
          <a:xfrm>
            <a:off x="229565" y="936058"/>
            <a:ext cx="8433568" cy="2075814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1145330" y="3011872"/>
            <a:ext cx="0" cy="2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0102" y="3483744"/>
            <a:ext cx="1540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Two-level (2L)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2720618" y="3011872"/>
            <a:ext cx="0" cy="2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920924" y="3376022"/>
            <a:ext cx="15993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T-Type (3L-TT)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4640181" y="3011872"/>
            <a:ext cx="0" cy="2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04834" y="3334230"/>
            <a:ext cx="2097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Neutral Point Clamped (3L-NPC)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6522314" y="3004280"/>
            <a:ext cx="0" cy="2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73685" y="3291830"/>
            <a:ext cx="20972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Active Neutral Point Clamped </a:t>
            </a:r>
          </a:p>
          <a:p>
            <a:pPr algn="ctr"/>
            <a:r>
              <a:rPr lang="en-US" sz="1400" dirty="0" smtClean="0"/>
              <a:t>(3L-ANPC)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902845" y="3011872"/>
            <a:ext cx="0" cy="2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12164" y="3441951"/>
            <a:ext cx="2097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Modular </a:t>
            </a:r>
            <a:r>
              <a:rPr lang="en-US" sz="1400" dirty="0"/>
              <a:t>multilevel </a:t>
            </a:r>
            <a:r>
              <a:rPr lang="en-US" sz="1400" dirty="0" smtClean="0"/>
              <a:t>converters</a:t>
            </a:r>
          </a:p>
          <a:p>
            <a:pPr algn="ctr"/>
            <a:r>
              <a:rPr lang="en-US" sz="1400" dirty="0" smtClean="0"/>
              <a:t>(MMC)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759" y="4475077"/>
            <a:ext cx="86504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[1] J</a:t>
            </a:r>
            <a:r>
              <a:rPr lang="sv-SE" sz="900" dirty="0"/>
              <a:t>. </a:t>
            </a:r>
            <a:r>
              <a:rPr lang="sv-SE" sz="900" dirty="0" err="1"/>
              <a:t>Ebersberger</a:t>
            </a:r>
            <a:r>
              <a:rPr lang="sv-SE" sz="900" dirty="0"/>
              <a:t>, M. </a:t>
            </a:r>
            <a:r>
              <a:rPr lang="sv-SE" sz="900" dirty="0" err="1"/>
              <a:t>Hagedorn</a:t>
            </a:r>
            <a:r>
              <a:rPr lang="sv-SE" sz="900" dirty="0"/>
              <a:t>, M. Lorenz, and A. </a:t>
            </a:r>
            <a:r>
              <a:rPr lang="sv-SE" sz="900" dirty="0" err="1"/>
              <a:t>Mertens</a:t>
            </a:r>
            <a:r>
              <a:rPr lang="sv-SE" sz="900" dirty="0"/>
              <a:t>, “</a:t>
            </a:r>
            <a:r>
              <a:rPr lang="sv-SE" sz="900" dirty="0" smtClean="0"/>
              <a:t>Potentials and </a:t>
            </a:r>
            <a:r>
              <a:rPr lang="sv-SE" sz="900" dirty="0" err="1"/>
              <a:t>comparison</a:t>
            </a:r>
            <a:r>
              <a:rPr lang="sv-SE" sz="900" dirty="0"/>
              <a:t> </a:t>
            </a:r>
            <a:r>
              <a:rPr lang="sv-SE" sz="900" dirty="0" err="1"/>
              <a:t>of</a:t>
            </a:r>
            <a:r>
              <a:rPr lang="sv-SE" sz="900" dirty="0"/>
              <a:t> </a:t>
            </a:r>
            <a:r>
              <a:rPr lang="sv-SE" sz="900" dirty="0" err="1"/>
              <a:t>inverter</a:t>
            </a:r>
            <a:r>
              <a:rPr lang="sv-SE" sz="900" dirty="0"/>
              <a:t> </a:t>
            </a:r>
            <a:r>
              <a:rPr lang="sv-SE" sz="900" dirty="0" err="1"/>
              <a:t>topologies</a:t>
            </a:r>
            <a:r>
              <a:rPr lang="sv-SE" sz="900" dirty="0"/>
              <a:t> for </a:t>
            </a:r>
            <a:r>
              <a:rPr lang="sv-SE" sz="900" dirty="0" err="1"/>
              <a:t>future</a:t>
            </a:r>
            <a:r>
              <a:rPr lang="sv-SE" sz="900" dirty="0"/>
              <a:t> all-</a:t>
            </a:r>
            <a:r>
              <a:rPr lang="sv-SE" sz="900" dirty="0" err="1"/>
              <a:t>electric</a:t>
            </a:r>
            <a:r>
              <a:rPr lang="sv-SE" sz="900" dirty="0"/>
              <a:t> </a:t>
            </a:r>
            <a:r>
              <a:rPr lang="sv-SE" sz="900" dirty="0" err="1" smtClean="0"/>
              <a:t>aircraft</a:t>
            </a:r>
            <a:r>
              <a:rPr lang="sv-SE" sz="900" dirty="0" smtClean="0"/>
              <a:t> </a:t>
            </a:r>
            <a:r>
              <a:rPr lang="sv-SE" sz="900" dirty="0" err="1" smtClean="0"/>
              <a:t>propulsion</a:t>
            </a:r>
            <a:r>
              <a:rPr lang="sv-SE" sz="900" dirty="0"/>
              <a:t>,” IEEE Journal </a:t>
            </a:r>
            <a:r>
              <a:rPr lang="sv-SE" sz="900" dirty="0" err="1"/>
              <a:t>of</a:t>
            </a:r>
            <a:r>
              <a:rPr lang="sv-SE" sz="900" dirty="0"/>
              <a:t> </a:t>
            </a:r>
            <a:r>
              <a:rPr lang="sv-SE" sz="900" dirty="0" err="1"/>
              <a:t>Emerging</a:t>
            </a:r>
            <a:r>
              <a:rPr lang="sv-SE" sz="900" dirty="0"/>
              <a:t> and </a:t>
            </a:r>
            <a:r>
              <a:rPr lang="sv-SE" sz="900" dirty="0" err="1"/>
              <a:t>Selected</a:t>
            </a:r>
            <a:r>
              <a:rPr lang="sv-SE" sz="900" dirty="0"/>
              <a:t> </a:t>
            </a:r>
            <a:r>
              <a:rPr lang="sv-SE" sz="900" dirty="0" err="1"/>
              <a:t>Topics</a:t>
            </a:r>
            <a:r>
              <a:rPr lang="sv-SE" sz="900" dirty="0"/>
              <a:t> in </a:t>
            </a:r>
            <a:r>
              <a:rPr lang="sv-SE" sz="900" dirty="0" smtClean="0"/>
              <a:t>Power Electronics</a:t>
            </a:r>
            <a:r>
              <a:rPr lang="sv-SE" sz="900" dirty="0"/>
              <a:t>, vol. 10, no. 5, </a:t>
            </a:r>
            <a:r>
              <a:rPr lang="sv-SE" sz="900" dirty="0" err="1"/>
              <a:t>pp</a:t>
            </a:r>
            <a:r>
              <a:rPr lang="sv-SE" sz="900" dirty="0"/>
              <a:t>. 5264–5279, 2022</a:t>
            </a:r>
          </a:p>
        </p:txBody>
      </p:sp>
    </p:spTree>
    <p:extLst>
      <p:ext uri="{BB962C8B-B14F-4D97-AF65-F5344CB8AC3E}">
        <p14:creationId xmlns:p14="http://schemas.microsoft.com/office/powerpoint/2010/main" val="5805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2025-05-15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11</a:t>
            </a:fld>
            <a:endParaRPr lang="sv-S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339" t="5639" r="80292" b="9633"/>
          <a:stretch/>
        </p:blipFill>
        <p:spPr>
          <a:xfrm>
            <a:off x="1043608" y="1059582"/>
            <a:ext cx="1296144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err="1" smtClean="0"/>
              <a:t>Two-level</a:t>
            </a:r>
            <a:r>
              <a:rPr lang="sv-SE" b="0" dirty="0" smtClean="0"/>
              <a:t> </a:t>
            </a:r>
            <a:r>
              <a:rPr lang="sv-SE" b="0" dirty="0" err="1" smtClean="0"/>
              <a:t>Conventional</a:t>
            </a:r>
            <a:r>
              <a:rPr lang="sv-SE" b="0" dirty="0" smtClean="0"/>
              <a:t> </a:t>
            </a:r>
            <a:r>
              <a:rPr lang="sv-SE" b="0" dirty="0" err="1" smtClean="0"/>
              <a:t>Inverters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12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7365" y="1275606"/>
            <a:ext cx="4892374" cy="3540919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A phase leg of a conventional two-level inverter</a:t>
            </a:r>
            <a:br>
              <a:rPr lang="en-US" dirty="0" smtClean="0"/>
            </a:br>
            <a:r>
              <a:rPr lang="en-US" dirty="0" smtClean="0"/>
              <a:t>consists of two transistors that </a:t>
            </a:r>
            <a:r>
              <a:rPr lang="en-US" b="1" dirty="0" smtClean="0"/>
              <a:t>block and switch</a:t>
            </a:r>
            <a:br>
              <a:rPr lang="en-US" b="1" dirty="0" smtClean="0"/>
            </a:br>
            <a:r>
              <a:rPr lang="en-US" b="1" dirty="0" smtClean="0"/>
              <a:t>the full dc-link voltage.</a:t>
            </a:r>
            <a:r>
              <a:rPr lang="en-US" dirty="0" smtClean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Two-level </a:t>
            </a:r>
            <a:r>
              <a:rPr lang="en-US" dirty="0"/>
              <a:t>inverters are </a:t>
            </a:r>
            <a:r>
              <a:rPr lang="en-US" b="1" dirty="0"/>
              <a:t>less complex </a:t>
            </a:r>
            <a:r>
              <a:rPr lang="en-US" dirty="0"/>
              <a:t>than the</a:t>
            </a:r>
            <a:br>
              <a:rPr lang="en-US" dirty="0"/>
            </a:br>
            <a:r>
              <a:rPr lang="en-US" dirty="0"/>
              <a:t>other topologies and have the least control </a:t>
            </a:r>
            <a:r>
              <a:rPr lang="en-US" dirty="0" smtClean="0"/>
              <a:t>effort.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On the other hand, the connected machine suffers</a:t>
            </a:r>
            <a:br>
              <a:rPr lang="en-US" dirty="0"/>
            </a:br>
            <a:r>
              <a:rPr lang="en-US" dirty="0"/>
              <a:t>from </a:t>
            </a:r>
            <a:r>
              <a:rPr lang="en-US" b="1" dirty="0"/>
              <a:t>higher harmonic losses </a:t>
            </a:r>
            <a:r>
              <a:rPr lang="en-US" dirty="0"/>
              <a:t>and t</a:t>
            </a:r>
            <a:r>
              <a:rPr lang="en-US" b="1" dirty="0"/>
              <a:t>he steep</a:t>
            </a:r>
            <a:br>
              <a:rPr lang="en-US" b="1" dirty="0"/>
            </a:br>
            <a:r>
              <a:rPr lang="en-US" b="1" dirty="0"/>
              <a:t>voltage slopes </a:t>
            </a:r>
            <a:r>
              <a:rPr lang="en-US" dirty="0"/>
              <a:t>can damage it by causin</a:t>
            </a:r>
            <a:r>
              <a:rPr lang="en-US" b="1" dirty="0"/>
              <a:t>g bearing</a:t>
            </a:r>
            <a:br>
              <a:rPr lang="en-US" b="1" dirty="0"/>
            </a:br>
            <a:r>
              <a:rPr lang="en-US" b="1" dirty="0"/>
              <a:t>currents</a:t>
            </a:r>
            <a:r>
              <a:rPr lang="en-US" dirty="0"/>
              <a:t> or </a:t>
            </a:r>
            <a:r>
              <a:rPr lang="en-US" b="1" dirty="0"/>
              <a:t>overstressing the winding </a:t>
            </a:r>
            <a:r>
              <a:rPr lang="en-US" b="1" dirty="0" smtClean="0"/>
              <a:t>insulation.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Two-level inverters </a:t>
            </a:r>
            <a:r>
              <a:rPr lang="en-US" sz="1600" dirty="0" smtClean="0"/>
              <a:t>have a </a:t>
            </a:r>
            <a:r>
              <a:rPr lang="en-US" sz="1600" b="1" dirty="0" smtClean="0"/>
              <a:t>bad </a:t>
            </a:r>
            <a:r>
              <a:rPr lang="en-US" sz="1600" b="1" dirty="0"/>
              <a:t>efficiency</a:t>
            </a:r>
            <a:r>
              <a:rPr lang="en-US" sz="1600" dirty="0"/>
              <a:t> for </a:t>
            </a:r>
            <a:r>
              <a:rPr lang="en-US" sz="1600" b="1" dirty="0"/>
              <a:t>higher switching </a:t>
            </a:r>
            <a:r>
              <a:rPr lang="en-US" sz="1600" b="1" dirty="0" smtClean="0"/>
              <a:t>frequency</a:t>
            </a:r>
            <a:r>
              <a:rPr lang="en-US" sz="1600" dirty="0" smtClean="0"/>
              <a:t>. </a:t>
            </a:r>
            <a:endParaRPr lang="en-US" sz="1600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64" y="1851670"/>
            <a:ext cx="3364405" cy="158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5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2025-05-15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13</a:t>
            </a:fld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2286000" y="-5472760"/>
            <a:ext cx="4572000" cy="160890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sv-SE" dirty="0"/>
          </a:p>
          <a:p>
            <a:r>
              <a:rPr lang="sv-SE" dirty="0"/>
              <a:t>1. **Simple and Robust </a:t>
            </a:r>
            <a:r>
              <a:rPr lang="sv-SE" dirty="0" err="1"/>
              <a:t>Structure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Uses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switches</a:t>
            </a:r>
            <a:r>
              <a:rPr lang="sv-SE" dirty="0"/>
              <a:t> per </a:t>
            </a:r>
            <a:r>
              <a:rPr lang="sv-SE" dirty="0" err="1"/>
              <a:t>phase</a:t>
            </a:r>
            <a:r>
              <a:rPr lang="sv-SE" dirty="0"/>
              <a:t> leg, </a:t>
            </a:r>
            <a:r>
              <a:rPr lang="sv-SE" dirty="0" err="1"/>
              <a:t>making</a:t>
            </a:r>
            <a:r>
              <a:rPr lang="sv-SE" dirty="0"/>
              <a:t> the </a:t>
            </a:r>
            <a:r>
              <a:rPr lang="sv-SE" dirty="0" err="1"/>
              <a:t>circuit</a:t>
            </a:r>
            <a:r>
              <a:rPr lang="sv-SE" dirty="0"/>
              <a:t> straightforward and </a:t>
            </a:r>
            <a:r>
              <a:rPr lang="sv-SE" dirty="0" err="1"/>
              <a:t>easy</a:t>
            </a:r>
            <a:r>
              <a:rPr lang="sv-SE" dirty="0"/>
              <a:t> to </a:t>
            </a:r>
            <a:r>
              <a:rPr lang="sv-SE" dirty="0" err="1"/>
              <a:t>implement</a:t>
            </a:r>
            <a:r>
              <a:rPr lang="sv-SE" dirty="0"/>
              <a:t>.  </a:t>
            </a:r>
          </a:p>
          <a:p>
            <a:r>
              <a:rPr lang="sv-SE" dirty="0"/>
              <a:t>   - </a:t>
            </a:r>
            <a:r>
              <a:rPr lang="sv-SE" dirty="0" err="1"/>
              <a:t>Fewer</a:t>
            </a:r>
            <a:r>
              <a:rPr lang="sv-SE" dirty="0"/>
              <a:t> </a:t>
            </a:r>
            <a:r>
              <a:rPr lang="sv-SE" dirty="0" err="1"/>
              <a:t>components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failure</a:t>
            </a:r>
            <a:r>
              <a:rPr lang="sv-SE" dirty="0"/>
              <a:t> </a:t>
            </a:r>
            <a:r>
              <a:rPr lang="sv-SE" dirty="0" err="1"/>
              <a:t>points</a:t>
            </a:r>
            <a:r>
              <a:rPr lang="sv-SE" dirty="0"/>
              <a:t> and </a:t>
            </a:r>
            <a:r>
              <a:rPr lang="sv-SE" dirty="0" err="1"/>
              <a:t>simplify</a:t>
            </a:r>
            <a:r>
              <a:rPr lang="sv-SE" dirty="0"/>
              <a:t> </a:t>
            </a:r>
            <a:r>
              <a:rPr lang="sv-SE" dirty="0" err="1"/>
              <a:t>maintenance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2. **</a:t>
            </a:r>
            <a:r>
              <a:rPr lang="sv-SE" dirty="0" err="1"/>
              <a:t>Low</a:t>
            </a:r>
            <a:r>
              <a:rPr lang="sv-SE" dirty="0"/>
              <a:t> Control </a:t>
            </a:r>
            <a:r>
              <a:rPr lang="sv-SE" dirty="0" err="1"/>
              <a:t>Complexity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Well-established</a:t>
            </a:r>
            <a:r>
              <a:rPr lang="sv-SE" dirty="0"/>
              <a:t> PWM </a:t>
            </a:r>
            <a:r>
              <a:rPr lang="sv-SE" dirty="0" err="1"/>
              <a:t>techniques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., </a:t>
            </a:r>
            <a:r>
              <a:rPr lang="sv-SE" dirty="0" err="1"/>
              <a:t>sinusoidal</a:t>
            </a:r>
            <a:r>
              <a:rPr lang="sv-SE" dirty="0"/>
              <a:t> PWM, space </a:t>
            </a:r>
            <a:r>
              <a:rPr lang="sv-SE" dirty="0" err="1"/>
              <a:t>vector</a:t>
            </a:r>
            <a:r>
              <a:rPr lang="sv-SE" dirty="0"/>
              <a:t> PWM)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easy</a:t>
            </a:r>
            <a:r>
              <a:rPr lang="sv-SE" dirty="0"/>
              <a:t> to </a:t>
            </a:r>
            <a:r>
              <a:rPr lang="sv-SE" dirty="0" err="1"/>
              <a:t>implement</a:t>
            </a:r>
            <a:r>
              <a:rPr lang="sv-SE" dirty="0"/>
              <a:t>.  </a:t>
            </a:r>
          </a:p>
          <a:p>
            <a:r>
              <a:rPr lang="sv-SE" dirty="0"/>
              <a:t>   - </a:t>
            </a:r>
            <a:r>
              <a:rPr lang="sv-SE" dirty="0" err="1"/>
              <a:t>Requires</a:t>
            </a:r>
            <a:r>
              <a:rPr lang="sv-SE" dirty="0"/>
              <a:t> minimal </a:t>
            </a:r>
            <a:r>
              <a:rPr lang="sv-SE" dirty="0" err="1"/>
              <a:t>computational</a:t>
            </a:r>
            <a:r>
              <a:rPr lang="sv-SE" dirty="0"/>
              <a:t> </a:t>
            </a:r>
            <a:r>
              <a:rPr lang="sv-SE" dirty="0" err="1"/>
              <a:t>effort</a:t>
            </a:r>
            <a:r>
              <a:rPr lang="sv-SE" dirty="0"/>
              <a:t> </a:t>
            </a:r>
            <a:r>
              <a:rPr lang="sv-SE" dirty="0" err="1"/>
              <a:t>compared</a:t>
            </a:r>
            <a:r>
              <a:rPr lang="sv-SE" dirty="0"/>
              <a:t> to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advanced</a:t>
            </a:r>
            <a:r>
              <a:rPr lang="sv-SE" dirty="0"/>
              <a:t> </a:t>
            </a:r>
            <a:r>
              <a:rPr lang="sv-SE" dirty="0" err="1"/>
              <a:t>topologies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3. **</a:t>
            </a:r>
            <a:r>
              <a:rPr lang="sv-SE" dirty="0" err="1"/>
              <a:t>Lower</a:t>
            </a:r>
            <a:r>
              <a:rPr lang="sv-SE" dirty="0"/>
              <a:t> </a:t>
            </a:r>
            <a:r>
              <a:rPr lang="sv-SE" dirty="0" err="1"/>
              <a:t>Cost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Fewer</a:t>
            </a:r>
            <a:r>
              <a:rPr lang="sv-SE" dirty="0"/>
              <a:t> </a:t>
            </a:r>
            <a:r>
              <a:rPr lang="sv-SE" dirty="0" err="1"/>
              <a:t>semiconductor</a:t>
            </a:r>
            <a:r>
              <a:rPr lang="sv-SE" dirty="0"/>
              <a:t> </a:t>
            </a:r>
            <a:r>
              <a:rPr lang="sv-SE" dirty="0" err="1"/>
              <a:t>devices</a:t>
            </a:r>
            <a:r>
              <a:rPr lang="sv-SE" dirty="0"/>
              <a:t> and passive </a:t>
            </a:r>
            <a:r>
              <a:rPr lang="sv-SE" dirty="0" err="1"/>
              <a:t>components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/>
              <a:t>manufacturing</a:t>
            </a:r>
            <a:r>
              <a:rPr lang="sv-SE" dirty="0"/>
              <a:t> </a:t>
            </a:r>
            <a:r>
              <a:rPr lang="sv-SE" dirty="0" err="1"/>
              <a:t>costs</a:t>
            </a:r>
            <a:r>
              <a:rPr lang="sv-SE" dirty="0"/>
              <a:t>.  </a:t>
            </a:r>
          </a:p>
          <a:p>
            <a:r>
              <a:rPr lang="sv-SE" dirty="0"/>
              <a:t>   - </a:t>
            </a:r>
            <a:r>
              <a:rPr lang="sv-SE" dirty="0" err="1"/>
              <a:t>Economical</a:t>
            </a:r>
            <a:r>
              <a:rPr lang="sv-SE" dirty="0"/>
              <a:t> for </a:t>
            </a:r>
            <a:r>
              <a:rPr lang="sv-SE" dirty="0" err="1"/>
              <a:t>low</a:t>
            </a:r>
            <a:r>
              <a:rPr lang="sv-SE" dirty="0"/>
              <a:t>- and medium-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4. **</a:t>
            </a:r>
            <a:r>
              <a:rPr lang="sv-SE" dirty="0" err="1"/>
              <a:t>Compact</a:t>
            </a:r>
            <a:r>
              <a:rPr lang="sv-SE" dirty="0"/>
              <a:t> Design**  </a:t>
            </a:r>
          </a:p>
          <a:p>
            <a:r>
              <a:rPr lang="sv-SE" dirty="0"/>
              <a:t>   - </a:t>
            </a:r>
            <a:r>
              <a:rPr lang="sv-SE" dirty="0" err="1"/>
              <a:t>Smaller</a:t>
            </a:r>
            <a:r>
              <a:rPr lang="sv-SE" dirty="0"/>
              <a:t> </a:t>
            </a:r>
            <a:r>
              <a:rPr lang="sv-SE" dirty="0" err="1"/>
              <a:t>footprint</a:t>
            </a:r>
            <a:r>
              <a:rPr lang="sv-SE" dirty="0"/>
              <a:t> </a:t>
            </a:r>
            <a:r>
              <a:rPr lang="sv-SE" dirty="0" err="1"/>
              <a:t>due</a:t>
            </a:r>
            <a:r>
              <a:rPr lang="sv-SE" dirty="0"/>
              <a:t> to </a:t>
            </a:r>
            <a:r>
              <a:rPr lang="sv-SE" dirty="0" err="1"/>
              <a:t>fewer</a:t>
            </a:r>
            <a:r>
              <a:rPr lang="sv-SE" dirty="0"/>
              <a:t> </a:t>
            </a:r>
            <a:r>
              <a:rPr lang="sv-SE" dirty="0" err="1"/>
              <a:t>components</a:t>
            </a:r>
            <a:r>
              <a:rPr lang="sv-SE" dirty="0"/>
              <a:t>, </a:t>
            </a:r>
            <a:r>
              <a:rPr lang="sv-SE" dirty="0" err="1"/>
              <a:t>making</a:t>
            </a:r>
            <a:r>
              <a:rPr lang="sv-SE" dirty="0"/>
              <a:t> it </a:t>
            </a:r>
            <a:r>
              <a:rPr lang="sv-SE" dirty="0" err="1"/>
              <a:t>suitable</a:t>
            </a:r>
            <a:r>
              <a:rPr lang="sv-SE" dirty="0"/>
              <a:t> for space-</a:t>
            </a:r>
            <a:r>
              <a:rPr lang="sv-SE" dirty="0" err="1"/>
              <a:t>constrained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5. **</a:t>
            </a:r>
            <a:r>
              <a:rPr lang="sv-SE" dirty="0" err="1"/>
              <a:t>Mature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Widely</a:t>
            </a:r>
            <a:r>
              <a:rPr lang="sv-SE" dirty="0"/>
              <a:t> </a:t>
            </a:r>
            <a:r>
              <a:rPr lang="sv-SE" dirty="0" err="1"/>
              <a:t>used</a:t>
            </a:r>
            <a:r>
              <a:rPr lang="sv-SE" dirty="0"/>
              <a:t> in </a:t>
            </a:r>
            <a:r>
              <a:rPr lang="sv-SE" dirty="0" err="1"/>
              <a:t>industry</a:t>
            </a:r>
            <a:r>
              <a:rPr lang="sv-SE" dirty="0"/>
              <a:t>, </a:t>
            </a:r>
            <a:r>
              <a:rPr lang="sv-SE" dirty="0" err="1"/>
              <a:t>with</a:t>
            </a:r>
            <a:r>
              <a:rPr lang="sv-SE" dirty="0"/>
              <a:t> proven </a:t>
            </a:r>
            <a:r>
              <a:rPr lang="sv-SE" dirty="0" err="1"/>
              <a:t>reliability</a:t>
            </a:r>
            <a:r>
              <a:rPr lang="sv-SE" dirty="0"/>
              <a:t> in motor drives, UPS systems, and </a:t>
            </a:r>
            <a:r>
              <a:rPr lang="sv-SE" dirty="0" err="1"/>
              <a:t>renewable</a:t>
            </a:r>
            <a:r>
              <a:rPr lang="sv-SE" dirty="0"/>
              <a:t> </a:t>
            </a:r>
            <a:r>
              <a:rPr lang="sv-SE" dirty="0" err="1"/>
              <a:t>energy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---</a:t>
            </a:r>
          </a:p>
          <a:p>
            <a:endParaRPr lang="sv-SE" dirty="0"/>
          </a:p>
          <a:p>
            <a:r>
              <a:rPr lang="sv-SE" dirty="0"/>
              <a:t>### **</a:t>
            </a:r>
            <a:r>
              <a:rPr lang="sv-SE" dirty="0" err="1"/>
              <a:t>Cons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Two-Level</a:t>
            </a:r>
            <a:r>
              <a:rPr lang="sv-SE" dirty="0"/>
              <a:t> </a:t>
            </a:r>
            <a:r>
              <a:rPr lang="sv-SE" dirty="0" err="1"/>
              <a:t>Voltage</a:t>
            </a:r>
            <a:r>
              <a:rPr lang="sv-SE" dirty="0"/>
              <a:t> Source </a:t>
            </a:r>
            <a:r>
              <a:rPr lang="sv-SE" dirty="0" err="1"/>
              <a:t>Inverters</a:t>
            </a:r>
            <a:r>
              <a:rPr lang="sv-SE" dirty="0"/>
              <a:t> (</a:t>
            </a:r>
            <a:r>
              <a:rPr lang="sv-SE" dirty="0" err="1"/>
              <a:t>VSIs</a:t>
            </a:r>
            <a:r>
              <a:rPr lang="sv-SE" dirty="0"/>
              <a:t>)**  </a:t>
            </a:r>
          </a:p>
          <a:p>
            <a:endParaRPr lang="sv-SE" dirty="0"/>
          </a:p>
          <a:p>
            <a:r>
              <a:rPr lang="sv-SE" dirty="0"/>
              <a:t>1. **</a:t>
            </a:r>
            <a:r>
              <a:rPr lang="sv-SE" dirty="0" err="1"/>
              <a:t>High</a:t>
            </a:r>
            <a:r>
              <a:rPr lang="sv-SE" dirty="0"/>
              <a:t> </a:t>
            </a:r>
            <a:r>
              <a:rPr lang="sv-SE" dirty="0" err="1"/>
              <a:t>Voltage</a:t>
            </a:r>
            <a:r>
              <a:rPr lang="sv-SE" dirty="0"/>
              <a:t> Stress on </a:t>
            </a:r>
            <a:r>
              <a:rPr lang="sv-SE" dirty="0" err="1"/>
              <a:t>Switches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Each</a:t>
            </a:r>
            <a:r>
              <a:rPr lang="sv-SE" dirty="0"/>
              <a:t> transistor must block the full DC-</a:t>
            </a:r>
            <a:r>
              <a:rPr lang="sv-SE" dirty="0" err="1"/>
              <a:t>link</a:t>
            </a:r>
            <a:r>
              <a:rPr lang="sv-SE" dirty="0"/>
              <a:t> </a:t>
            </a:r>
            <a:r>
              <a:rPr lang="sv-SE" dirty="0" err="1"/>
              <a:t>voltage</a:t>
            </a:r>
            <a:r>
              <a:rPr lang="sv-SE" dirty="0"/>
              <a:t>, </a:t>
            </a:r>
            <a:r>
              <a:rPr lang="sv-SE" dirty="0" err="1"/>
              <a:t>requiring</a:t>
            </a:r>
            <a:r>
              <a:rPr lang="sv-SE" dirty="0"/>
              <a:t> </a:t>
            </a:r>
            <a:r>
              <a:rPr lang="sv-SE" dirty="0" err="1"/>
              <a:t>higher-rated</a:t>
            </a:r>
            <a:r>
              <a:rPr lang="sv-SE" dirty="0"/>
              <a:t> (and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expensive</a:t>
            </a:r>
            <a:r>
              <a:rPr lang="sv-SE" dirty="0"/>
              <a:t>) </a:t>
            </a:r>
            <a:r>
              <a:rPr lang="sv-SE" dirty="0" err="1"/>
              <a:t>semiconductor</a:t>
            </a:r>
            <a:r>
              <a:rPr lang="sv-SE" dirty="0"/>
              <a:t> </a:t>
            </a:r>
            <a:r>
              <a:rPr lang="sv-SE" dirty="0" err="1"/>
              <a:t>devices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2. **</a:t>
            </a:r>
            <a:r>
              <a:rPr lang="sv-SE" dirty="0" err="1"/>
              <a:t>High</a:t>
            </a:r>
            <a:r>
              <a:rPr lang="sv-SE" dirty="0"/>
              <a:t> dv/dt and EMI </a:t>
            </a:r>
            <a:r>
              <a:rPr lang="sv-SE" dirty="0" err="1"/>
              <a:t>Issues</a:t>
            </a:r>
            <a:r>
              <a:rPr lang="sv-SE" dirty="0"/>
              <a:t>**  </a:t>
            </a:r>
          </a:p>
          <a:p>
            <a:r>
              <a:rPr lang="sv-SE" dirty="0"/>
              <a:t>   - Fast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generates</a:t>
            </a:r>
            <a:r>
              <a:rPr lang="sv-SE" dirty="0"/>
              <a:t> </a:t>
            </a:r>
            <a:r>
              <a:rPr lang="sv-SE" dirty="0" err="1"/>
              <a:t>steep</a:t>
            </a:r>
            <a:r>
              <a:rPr lang="sv-SE" dirty="0"/>
              <a:t> </a:t>
            </a:r>
            <a:r>
              <a:rPr lang="sv-SE" dirty="0" err="1"/>
              <a:t>voltage</a:t>
            </a:r>
            <a:r>
              <a:rPr lang="sv-SE" dirty="0"/>
              <a:t> </a:t>
            </a:r>
            <a:r>
              <a:rPr lang="sv-SE" dirty="0" err="1"/>
              <a:t>slopes</a:t>
            </a:r>
            <a:r>
              <a:rPr lang="sv-SE" dirty="0"/>
              <a:t>, leading to </a:t>
            </a:r>
            <a:r>
              <a:rPr lang="sv-SE" dirty="0" err="1"/>
              <a:t>electromagnetic</a:t>
            </a:r>
            <a:r>
              <a:rPr lang="sv-SE" dirty="0"/>
              <a:t> </a:t>
            </a:r>
            <a:r>
              <a:rPr lang="sv-SE" dirty="0" err="1"/>
              <a:t>interference</a:t>
            </a:r>
            <a:r>
              <a:rPr lang="sv-SE" dirty="0"/>
              <a:t> (EMI) and </a:t>
            </a:r>
            <a:r>
              <a:rPr lang="sv-SE" dirty="0" err="1"/>
              <a:t>requiring</a:t>
            </a:r>
            <a:r>
              <a:rPr lang="sv-SE" dirty="0"/>
              <a:t> </a:t>
            </a:r>
            <a:r>
              <a:rPr lang="sv-SE" dirty="0" err="1"/>
              <a:t>additional</a:t>
            </a:r>
            <a:r>
              <a:rPr lang="sv-SE" dirty="0"/>
              <a:t> filters.  </a:t>
            </a:r>
          </a:p>
          <a:p>
            <a:r>
              <a:rPr lang="sv-SE" dirty="0"/>
              <a:t>   - </a:t>
            </a:r>
            <a:r>
              <a:rPr lang="sv-SE" dirty="0" err="1"/>
              <a:t>Can</a:t>
            </a:r>
            <a:r>
              <a:rPr lang="sv-SE" dirty="0"/>
              <a:t> cause </a:t>
            </a:r>
            <a:r>
              <a:rPr lang="sv-SE" dirty="0" err="1"/>
              <a:t>insulation</a:t>
            </a:r>
            <a:r>
              <a:rPr lang="sv-SE" dirty="0"/>
              <a:t> degradation in motors and transformers over </a:t>
            </a:r>
            <a:r>
              <a:rPr lang="sv-SE" dirty="0" err="1"/>
              <a:t>time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3. **</a:t>
            </a:r>
            <a:r>
              <a:rPr lang="sv-SE" dirty="0" err="1"/>
              <a:t>Harmonic</a:t>
            </a:r>
            <a:r>
              <a:rPr lang="sv-SE" dirty="0"/>
              <a:t> </a:t>
            </a:r>
            <a:r>
              <a:rPr lang="sv-SE" dirty="0" err="1"/>
              <a:t>Distortion</a:t>
            </a:r>
            <a:r>
              <a:rPr lang="sv-SE" dirty="0"/>
              <a:t> and </a:t>
            </a:r>
            <a:r>
              <a:rPr lang="sv-SE" dirty="0" err="1"/>
              <a:t>Machine</a:t>
            </a:r>
            <a:r>
              <a:rPr lang="sv-SE" dirty="0"/>
              <a:t> Stress**  </a:t>
            </a:r>
          </a:p>
          <a:p>
            <a:r>
              <a:rPr lang="sv-SE" dirty="0"/>
              <a:t>   - </a:t>
            </a:r>
            <a:r>
              <a:rPr lang="sv-SE" dirty="0" err="1"/>
              <a:t>Produces</a:t>
            </a:r>
            <a:r>
              <a:rPr lang="sv-SE" dirty="0"/>
              <a:t> </a:t>
            </a:r>
            <a:r>
              <a:rPr lang="sv-SE" dirty="0" err="1"/>
              <a:t>higher</a:t>
            </a:r>
            <a:r>
              <a:rPr lang="sv-SE" dirty="0"/>
              <a:t> total </a:t>
            </a:r>
            <a:r>
              <a:rPr lang="sv-SE" dirty="0" err="1"/>
              <a:t>harmonic</a:t>
            </a:r>
            <a:r>
              <a:rPr lang="sv-SE" dirty="0"/>
              <a:t> </a:t>
            </a:r>
            <a:r>
              <a:rPr lang="sv-SE" dirty="0" err="1"/>
              <a:t>distortion</a:t>
            </a:r>
            <a:r>
              <a:rPr lang="sv-SE" dirty="0"/>
              <a:t> (THD), </a:t>
            </a:r>
            <a:r>
              <a:rPr lang="sv-SE" dirty="0" err="1"/>
              <a:t>increasing</a:t>
            </a:r>
            <a:r>
              <a:rPr lang="sv-SE" dirty="0"/>
              <a:t> </a:t>
            </a:r>
            <a:r>
              <a:rPr lang="sv-SE" dirty="0" err="1"/>
              <a:t>losses</a:t>
            </a:r>
            <a:r>
              <a:rPr lang="sv-SE" dirty="0"/>
              <a:t> in </a:t>
            </a:r>
            <a:r>
              <a:rPr lang="sv-SE" dirty="0" err="1"/>
              <a:t>connected</a:t>
            </a:r>
            <a:r>
              <a:rPr lang="sv-SE" dirty="0"/>
              <a:t> </a:t>
            </a:r>
            <a:r>
              <a:rPr lang="sv-SE" dirty="0" err="1"/>
              <a:t>machines</a:t>
            </a:r>
            <a:r>
              <a:rPr lang="sv-SE" dirty="0"/>
              <a:t> (motors, generators).  </a:t>
            </a:r>
          </a:p>
          <a:p>
            <a:r>
              <a:rPr lang="sv-SE" dirty="0"/>
              <a:t>   - May cause </a:t>
            </a:r>
            <a:r>
              <a:rPr lang="sv-SE" dirty="0" err="1"/>
              <a:t>bearing</a:t>
            </a:r>
            <a:r>
              <a:rPr lang="sv-SE" dirty="0"/>
              <a:t> </a:t>
            </a:r>
            <a:r>
              <a:rPr lang="sv-SE" dirty="0" err="1"/>
              <a:t>currents</a:t>
            </a:r>
            <a:r>
              <a:rPr lang="sv-SE" dirty="0"/>
              <a:t> and </a:t>
            </a:r>
            <a:r>
              <a:rPr lang="sv-SE" dirty="0" err="1"/>
              <a:t>winding</a:t>
            </a:r>
            <a:r>
              <a:rPr lang="sv-SE" dirty="0"/>
              <a:t> </a:t>
            </a:r>
            <a:r>
              <a:rPr lang="sv-SE" dirty="0" err="1"/>
              <a:t>insulation</a:t>
            </a:r>
            <a:r>
              <a:rPr lang="sv-SE" dirty="0"/>
              <a:t> stress, </a:t>
            </a:r>
            <a:r>
              <a:rPr lang="sv-SE" dirty="0" err="1"/>
              <a:t>reducing</a:t>
            </a:r>
            <a:r>
              <a:rPr lang="sv-SE" dirty="0"/>
              <a:t> </a:t>
            </a:r>
            <a:r>
              <a:rPr lang="sv-SE" dirty="0" err="1"/>
              <a:t>equipment</a:t>
            </a:r>
            <a:r>
              <a:rPr lang="sv-SE" dirty="0"/>
              <a:t> </a:t>
            </a:r>
            <a:r>
              <a:rPr lang="sv-SE" dirty="0" err="1"/>
              <a:t>lifespan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4. **</a:t>
            </a:r>
            <a:r>
              <a:rPr lang="sv-SE" dirty="0" err="1"/>
              <a:t>Poor</a:t>
            </a:r>
            <a:r>
              <a:rPr lang="sv-SE" dirty="0"/>
              <a:t> </a:t>
            </a:r>
            <a:r>
              <a:rPr lang="sv-SE" dirty="0" err="1"/>
              <a:t>Efficiency</a:t>
            </a:r>
            <a:r>
              <a:rPr lang="sv-SE" dirty="0"/>
              <a:t> at </a:t>
            </a:r>
            <a:r>
              <a:rPr lang="sv-SE" dirty="0" err="1"/>
              <a:t>High</a:t>
            </a:r>
            <a:r>
              <a:rPr lang="sv-SE" dirty="0"/>
              <a:t>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Frequencies</a:t>
            </a:r>
            <a:r>
              <a:rPr lang="sv-SE" dirty="0"/>
              <a:t>**  </a:t>
            </a:r>
          </a:p>
          <a:p>
            <a:r>
              <a:rPr lang="sv-SE" dirty="0"/>
              <a:t>   - </a:t>
            </a:r>
            <a:r>
              <a:rPr lang="sv-SE" dirty="0" err="1"/>
              <a:t>Increased</a:t>
            </a:r>
            <a:r>
              <a:rPr lang="sv-SE" dirty="0"/>
              <a:t>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losses</a:t>
            </a:r>
            <a:r>
              <a:rPr lang="sv-SE" dirty="0"/>
              <a:t> at </a:t>
            </a:r>
            <a:r>
              <a:rPr lang="sv-SE" dirty="0" err="1"/>
              <a:t>higher</a:t>
            </a:r>
            <a:r>
              <a:rPr lang="sv-SE" dirty="0"/>
              <a:t> </a:t>
            </a:r>
            <a:r>
              <a:rPr lang="sv-SE" dirty="0" err="1"/>
              <a:t>frequencies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overall </a:t>
            </a:r>
            <a:r>
              <a:rPr lang="sv-SE" dirty="0" err="1"/>
              <a:t>efficiency</a:t>
            </a:r>
            <a:r>
              <a:rPr lang="sv-SE" dirty="0"/>
              <a:t>.  </a:t>
            </a:r>
          </a:p>
          <a:p>
            <a:r>
              <a:rPr lang="sv-SE" dirty="0"/>
              <a:t>   - Not ideal for </a:t>
            </a:r>
            <a:r>
              <a:rPr lang="sv-SE" dirty="0" err="1"/>
              <a:t>applications</a:t>
            </a:r>
            <a:r>
              <a:rPr lang="sv-SE" dirty="0"/>
              <a:t> </a:t>
            </a:r>
            <a:r>
              <a:rPr lang="sv-SE" dirty="0" err="1"/>
              <a:t>requiring</a:t>
            </a:r>
            <a:r>
              <a:rPr lang="sv-SE" dirty="0"/>
              <a:t> </a:t>
            </a:r>
            <a:r>
              <a:rPr lang="sv-SE" dirty="0" err="1"/>
              <a:t>high-frequency</a:t>
            </a:r>
            <a:r>
              <a:rPr lang="sv-SE" dirty="0"/>
              <a:t> operation.  </a:t>
            </a:r>
          </a:p>
          <a:p>
            <a:endParaRPr lang="sv-SE" dirty="0"/>
          </a:p>
          <a:p>
            <a:r>
              <a:rPr lang="sv-SE" dirty="0"/>
              <a:t>5. **</a:t>
            </a:r>
            <a:r>
              <a:rPr lang="sv-SE" dirty="0" err="1"/>
              <a:t>Limited</a:t>
            </a:r>
            <a:r>
              <a:rPr lang="sv-SE" dirty="0"/>
              <a:t> </a:t>
            </a:r>
            <a:r>
              <a:rPr lang="sv-SE" dirty="0" err="1"/>
              <a:t>Voltage</a:t>
            </a:r>
            <a:r>
              <a:rPr lang="sv-SE" dirty="0"/>
              <a:t> and Power Range**  </a:t>
            </a:r>
          </a:p>
          <a:p>
            <a:r>
              <a:rPr lang="sv-SE" dirty="0"/>
              <a:t>   - Not </a:t>
            </a:r>
            <a:r>
              <a:rPr lang="sv-SE" dirty="0" err="1"/>
              <a:t>suitable</a:t>
            </a:r>
            <a:r>
              <a:rPr lang="sv-SE" dirty="0"/>
              <a:t> for </a:t>
            </a:r>
            <a:r>
              <a:rPr lang="sv-SE" dirty="0" err="1"/>
              <a:t>very</a:t>
            </a:r>
            <a:r>
              <a:rPr lang="sv-SE" dirty="0"/>
              <a:t> </a:t>
            </a:r>
            <a:r>
              <a:rPr lang="sv-SE" dirty="0" err="1"/>
              <a:t>high-voltage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complex</a:t>
            </a:r>
            <a:r>
              <a:rPr lang="sv-SE" dirty="0"/>
              <a:t> series </a:t>
            </a:r>
            <a:r>
              <a:rPr lang="sv-SE" dirty="0" err="1"/>
              <a:t>connections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switches</a:t>
            </a:r>
            <a:r>
              <a:rPr lang="sv-SE" dirty="0"/>
              <a:t>.  </a:t>
            </a:r>
          </a:p>
          <a:p>
            <a:r>
              <a:rPr lang="sv-SE" dirty="0"/>
              <a:t>   - </a:t>
            </a:r>
            <a:r>
              <a:rPr lang="sv-SE" dirty="0" err="1"/>
              <a:t>Higher</a:t>
            </a:r>
            <a:r>
              <a:rPr lang="sv-SE" dirty="0"/>
              <a:t>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levels</a:t>
            </a:r>
            <a:r>
              <a:rPr lang="sv-SE" dirty="0"/>
              <a:t> </a:t>
            </a:r>
            <a:r>
              <a:rPr lang="sv-SE" dirty="0" err="1"/>
              <a:t>lead</a:t>
            </a:r>
            <a:r>
              <a:rPr lang="sv-SE" dirty="0"/>
              <a:t> to </a:t>
            </a:r>
            <a:r>
              <a:rPr lang="sv-SE" dirty="0" err="1"/>
              <a:t>increased</a:t>
            </a:r>
            <a:r>
              <a:rPr lang="sv-SE" dirty="0"/>
              <a:t> </a:t>
            </a:r>
            <a:r>
              <a:rPr lang="sv-SE" dirty="0" err="1"/>
              <a:t>losses</a:t>
            </a:r>
            <a:r>
              <a:rPr lang="sv-SE" dirty="0"/>
              <a:t> and </a:t>
            </a:r>
            <a:r>
              <a:rPr lang="sv-SE" dirty="0" err="1"/>
              <a:t>thermal</a:t>
            </a:r>
            <a:r>
              <a:rPr lang="sv-SE" dirty="0"/>
              <a:t> </a:t>
            </a:r>
            <a:r>
              <a:rPr lang="sv-SE" dirty="0" err="1"/>
              <a:t>challenges</a:t>
            </a:r>
            <a:r>
              <a:rPr lang="sv-SE" dirty="0"/>
              <a:t>.  </a:t>
            </a:r>
          </a:p>
          <a:p>
            <a:endParaRPr lang="sv-SE" dirty="0"/>
          </a:p>
          <a:p>
            <a:r>
              <a:rPr lang="sv-SE" dirty="0"/>
              <a:t>---</a:t>
            </a:r>
          </a:p>
          <a:p>
            <a:endParaRPr lang="sv-SE" dirty="0"/>
          </a:p>
          <a:p>
            <a:r>
              <a:rPr lang="sv-SE" dirty="0"/>
              <a:t>### **</a:t>
            </a:r>
            <a:r>
              <a:rPr lang="sv-SE" dirty="0" err="1"/>
              <a:t>Summary</a:t>
            </a:r>
            <a:r>
              <a:rPr lang="sv-SE" dirty="0"/>
              <a:t>**  </a:t>
            </a:r>
          </a:p>
          <a:p>
            <a:r>
              <a:rPr lang="sv-SE" dirty="0" err="1"/>
              <a:t>Two-level</a:t>
            </a:r>
            <a:r>
              <a:rPr lang="sv-SE" dirty="0"/>
              <a:t> </a:t>
            </a:r>
            <a:r>
              <a:rPr lang="sv-SE" dirty="0" err="1"/>
              <a:t>inverters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**simple, </a:t>
            </a:r>
            <a:r>
              <a:rPr lang="sv-SE" dirty="0" err="1"/>
              <a:t>cost-effective</a:t>
            </a:r>
            <a:r>
              <a:rPr lang="sv-SE" dirty="0"/>
              <a:t>, and </a:t>
            </a:r>
            <a:r>
              <a:rPr lang="sv-SE" dirty="0" err="1"/>
              <a:t>easy</a:t>
            </a:r>
            <a:r>
              <a:rPr lang="sv-SE" dirty="0"/>
              <a:t> to </a:t>
            </a:r>
            <a:r>
              <a:rPr lang="sv-SE" dirty="0" err="1"/>
              <a:t>control</a:t>
            </a:r>
            <a:r>
              <a:rPr lang="sv-SE" dirty="0"/>
              <a:t>**, </a:t>
            </a:r>
            <a:r>
              <a:rPr lang="sv-SE" dirty="0" err="1"/>
              <a:t>making</a:t>
            </a:r>
            <a:r>
              <a:rPr lang="sv-SE" dirty="0"/>
              <a:t> </a:t>
            </a:r>
            <a:r>
              <a:rPr lang="sv-SE" dirty="0" err="1"/>
              <a:t>them</a:t>
            </a:r>
            <a:r>
              <a:rPr lang="sv-SE" dirty="0"/>
              <a:t> ideal for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industrial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. </a:t>
            </a:r>
            <a:r>
              <a:rPr lang="sv-SE" dirty="0" err="1"/>
              <a:t>However</a:t>
            </a:r>
            <a:r>
              <a:rPr lang="sv-SE" dirty="0"/>
              <a:t>,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suffer</a:t>
            </a:r>
            <a:r>
              <a:rPr lang="sv-SE" dirty="0"/>
              <a:t> from **</a:t>
            </a:r>
            <a:r>
              <a:rPr lang="sv-SE" dirty="0" err="1"/>
              <a:t>high</a:t>
            </a:r>
            <a:r>
              <a:rPr lang="sv-SE" dirty="0"/>
              <a:t> </a:t>
            </a:r>
            <a:r>
              <a:rPr lang="sv-SE" dirty="0" err="1"/>
              <a:t>harmonic</a:t>
            </a:r>
            <a:r>
              <a:rPr lang="sv-SE" dirty="0"/>
              <a:t> </a:t>
            </a:r>
            <a:r>
              <a:rPr lang="sv-SE" dirty="0" err="1"/>
              <a:t>distortion</a:t>
            </a:r>
            <a:r>
              <a:rPr lang="sv-SE" dirty="0"/>
              <a:t>, </a:t>
            </a:r>
            <a:r>
              <a:rPr lang="sv-SE" dirty="0" err="1"/>
              <a:t>voltage</a:t>
            </a:r>
            <a:r>
              <a:rPr lang="sv-SE" dirty="0"/>
              <a:t> stress, and </a:t>
            </a:r>
            <a:r>
              <a:rPr lang="sv-SE" dirty="0" err="1"/>
              <a:t>efficiency</a:t>
            </a:r>
            <a:r>
              <a:rPr lang="sv-SE" dirty="0"/>
              <a:t> </a:t>
            </a:r>
            <a:r>
              <a:rPr lang="sv-SE" dirty="0" err="1"/>
              <a:t>issues</a:t>
            </a:r>
            <a:r>
              <a:rPr lang="sv-SE" dirty="0"/>
              <a:t> at </a:t>
            </a:r>
            <a:r>
              <a:rPr lang="sv-SE" dirty="0" err="1"/>
              <a:t>high</a:t>
            </a:r>
            <a:r>
              <a:rPr lang="sv-SE" dirty="0"/>
              <a:t> </a:t>
            </a:r>
            <a:r>
              <a:rPr lang="sv-SE" dirty="0" err="1"/>
              <a:t>frequencies</a:t>
            </a:r>
            <a:r>
              <a:rPr lang="sv-SE" dirty="0"/>
              <a:t>**, 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limit </a:t>
            </a:r>
            <a:r>
              <a:rPr lang="sv-SE" dirty="0" err="1"/>
              <a:t>their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in </a:t>
            </a:r>
            <a:r>
              <a:rPr lang="sv-SE" dirty="0" err="1"/>
              <a:t>demanding</a:t>
            </a:r>
            <a:r>
              <a:rPr lang="sv-SE" dirty="0"/>
              <a:t> or </a:t>
            </a:r>
            <a:r>
              <a:rPr lang="sv-SE" dirty="0" err="1"/>
              <a:t>high-power</a:t>
            </a:r>
            <a:r>
              <a:rPr lang="sv-SE" dirty="0"/>
              <a:t> systems.  </a:t>
            </a:r>
          </a:p>
          <a:p>
            <a:endParaRPr lang="sv-SE" dirty="0"/>
          </a:p>
          <a:p>
            <a:r>
              <a:rPr lang="sv-SE" dirty="0" err="1"/>
              <a:t>Would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like </a:t>
            </a:r>
            <a:r>
              <a:rPr lang="sv-SE" dirty="0" err="1"/>
              <a:t>details</a:t>
            </a:r>
            <a:r>
              <a:rPr lang="sv-SE" dirty="0"/>
              <a:t> on </a:t>
            </a:r>
            <a:r>
              <a:rPr lang="sv-SE" dirty="0" err="1"/>
              <a:t>mitigation</a:t>
            </a:r>
            <a:r>
              <a:rPr lang="sv-SE" dirty="0"/>
              <a:t> </a:t>
            </a:r>
            <a:r>
              <a:rPr lang="sv-SE" dirty="0" err="1"/>
              <a:t>techniques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., filters, soft-</a:t>
            </a:r>
            <a:r>
              <a:rPr lang="sv-SE" dirty="0" err="1"/>
              <a:t>switching</a:t>
            </a:r>
            <a:r>
              <a:rPr lang="sv-SE" dirty="0"/>
              <a:t>) to </a:t>
            </a:r>
            <a:r>
              <a:rPr lang="sv-SE" dirty="0" err="1"/>
              <a:t>address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these</a:t>
            </a:r>
            <a:r>
              <a:rPr lang="sv-SE" dirty="0"/>
              <a:t> drawbacks?</a:t>
            </a:r>
          </a:p>
        </p:txBody>
      </p:sp>
    </p:spTree>
    <p:extLst>
      <p:ext uri="{BB962C8B-B14F-4D97-AF65-F5344CB8AC3E}">
        <p14:creationId xmlns:p14="http://schemas.microsoft.com/office/powerpoint/2010/main" val="3344511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smtClean="0"/>
              <a:t>Three-</a:t>
            </a:r>
            <a:r>
              <a:rPr lang="sv-SE" b="0" dirty="0" err="1" smtClean="0"/>
              <a:t>level</a:t>
            </a:r>
            <a:r>
              <a:rPr lang="sv-SE" b="0" dirty="0" smtClean="0"/>
              <a:t> </a:t>
            </a:r>
            <a:r>
              <a:rPr lang="sv-SE" b="0" dirty="0" err="1" smtClean="0"/>
              <a:t>Inverters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14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3928" y="987574"/>
            <a:ext cx="4892374" cy="3540919"/>
          </a:xfrm>
        </p:spPr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By adding another voltage level, </a:t>
            </a:r>
            <a:r>
              <a:rPr lang="en-US" b="1" dirty="0"/>
              <a:t>harmonic losses</a:t>
            </a:r>
            <a:br>
              <a:rPr lang="en-US" b="1" dirty="0"/>
            </a:br>
            <a:r>
              <a:rPr lang="en-US" b="1" dirty="0"/>
              <a:t>and voltage slopes</a:t>
            </a:r>
            <a:r>
              <a:rPr lang="en-US" dirty="0"/>
              <a:t> can be </a:t>
            </a:r>
            <a:r>
              <a:rPr lang="en-US" b="1" dirty="0"/>
              <a:t>reduced</a:t>
            </a:r>
            <a:r>
              <a:rPr lang="en-US" dirty="0"/>
              <a:t> with a slightly</a:t>
            </a:r>
            <a:br>
              <a:rPr lang="en-US" dirty="0"/>
            </a:br>
            <a:r>
              <a:rPr lang="en-US" dirty="0"/>
              <a:t>higher control </a:t>
            </a:r>
            <a:r>
              <a:rPr lang="en-US" dirty="0" smtClean="0"/>
              <a:t>effort.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Regarding the three-level NPC inverter, the neutral point is clamped via </a:t>
            </a:r>
            <a:r>
              <a:rPr lang="en-US" dirty="0" smtClean="0"/>
              <a:t>diodes. The </a:t>
            </a:r>
            <a:r>
              <a:rPr lang="en-US" dirty="0"/>
              <a:t>t</a:t>
            </a:r>
            <a:r>
              <a:rPr lang="en-US" b="1" dirty="0"/>
              <a:t>ransistors/diodes</a:t>
            </a:r>
            <a:r>
              <a:rPr lang="en-US" dirty="0"/>
              <a:t> of the </a:t>
            </a:r>
            <a:r>
              <a:rPr lang="en-US" b="1" dirty="0"/>
              <a:t>NPC</a:t>
            </a:r>
            <a:r>
              <a:rPr lang="en-US" sz="1600" b="1" dirty="0"/>
              <a:t> </a:t>
            </a:r>
            <a:r>
              <a:rPr lang="en-US" b="1" dirty="0"/>
              <a:t>switch </a:t>
            </a:r>
            <a:r>
              <a:rPr lang="en-US" b="1" dirty="0" smtClean="0"/>
              <a:t>block </a:t>
            </a:r>
            <a:r>
              <a:rPr lang="en-US" b="1" dirty="0"/>
              <a:t>half of the </a:t>
            </a:r>
            <a:r>
              <a:rPr lang="en-US" b="1" dirty="0" smtClean="0"/>
              <a:t>DC-link </a:t>
            </a:r>
            <a:r>
              <a:rPr lang="en-US" b="1" dirty="0"/>
              <a:t>voltage</a:t>
            </a:r>
            <a:r>
              <a:rPr lang="en-US" b="1" dirty="0" smtClean="0"/>
              <a:t>.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neutral point of the three-level </a:t>
            </a:r>
            <a:r>
              <a:rPr lang="en-US" b="1" dirty="0" smtClean="0"/>
              <a:t>T-type</a:t>
            </a:r>
            <a:r>
              <a:rPr lang="en-US" dirty="0" smtClean="0"/>
              <a:t> inverter </a:t>
            </a:r>
            <a:r>
              <a:rPr lang="en-US" dirty="0"/>
              <a:t>is connected via an </a:t>
            </a:r>
            <a:r>
              <a:rPr lang="en-US" b="1" dirty="0"/>
              <a:t>active bidirectional</a:t>
            </a:r>
            <a:br>
              <a:rPr lang="en-US" b="1" dirty="0"/>
            </a:br>
            <a:r>
              <a:rPr lang="en-US" b="1" dirty="0"/>
              <a:t>switch which blocks and switches half of the</a:t>
            </a:r>
            <a:br>
              <a:rPr lang="en-US" b="1" dirty="0"/>
            </a:br>
            <a:r>
              <a:rPr lang="en-US" b="1" dirty="0"/>
              <a:t>dc-link voltage</a:t>
            </a:r>
            <a:r>
              <a:rPr lang="en-US" dirty="0" smtClean="0"/>
              <a:t>. </a:t>
            </a:r>
            <a:r>
              <a:rPr lang="en-US" dirty="0"/>
              <a:t>However, the </a:t>
            </a:r>
            <a:r>
              <a:rPr lang="en-US" b="1" dirty="0"/>
              <a:t>outer transistors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block the </a:t>
            </a:r>
            <a:r>
              <a:rPr lang="en-US" b="1" dirty="0"/>
              <a:t>full dc-link voltage</a:t>
            </a:r>
            <a:r>
              <a:rPr lang="en-US" dirty="0"/>
              <a:t>, whereas </a:t>
            </a:r>
            <a:r>
              <a:rPr lang="en-US" b="1" dirty="0"/>
              <a:t>half </a:t>
            </a:r>
            <a:r>
              <a:rPr lang="en-US" b="1" dirty="0" smtClean="0"/>
              <a:t>of </a:t>
            </a:r>
            <a:r>
              <a:rPr lang="en-US" b="1" dirty="0"/>
              <a:t>the dc-link voltage</a:t>
            </a:r>
            <a:r>
              <a:rPr lang="en-US" dirty="0"/>
              <a:t> is applied </a:t>
            </a:r>
            <a:r>
              <a:rPr lang="en-US" b="1" dirty="0"/>
              <a:t>during the </a:t>
            </a:r>
            <a:r>
              <a:rPr lang="en-US" b="1" dirty="0" smtClean="0"/>
              <a:t>switching </a:t>
            </a:r>
            <a:r>
              <a:rPr lang="en-US" dirty="0"/>
              <a:t>process.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By </a:t>
            </a:r>
            <a:r>
              <a:rPr lang="en-US" dirty="0"/>
              <a:t>replacing the diodes of the NPC inverter with</a:t>
            </a:r>
            <a:br>
              <a:rPr lang="en-US" dirty="0"/>
            </a:br>
            <a:r>
              <a:rPr lang="en-US" dirty="0"/>
              <a:t>active switches, the ANPC inverter offers more</a:t>
            </a:r>
            <a:br>
              <a:rPr lang="en-US" dirty="0"/>
            </a:br>
            <a:r>
              <a:rPr lang="en-US" dirty="0"/>
              <a:t>degrees of </a:t>
            </a:r>
            <a:r>
              <a:rPr lang="en-US" dirty="0" smtClean="0"/>
              <a:t>freedom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But, </a:t>
            </a:r>
            <a:r>
              <a:rPr lang="en-US" b="1" dirty="0" smtClean="0"/>
              <a:t>unequal</a:t>
            </a:r>
            <a:r>
              <a:rPr lang="en-US" dirty="0" smtClean="0"/>
              <a:t> </a:t>
            </a:r>
            <a:r>
              <a:rPr lang="en-US" b="1" dirty="0" smtClean="0"/>
              <a:t>loss</a:t>
            </a:r>
            <a:r>
              <a:rPr lang="en-US" dirty="0" smtClean="0"/>
              <a:t> in switches.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03598"/>
            <a:ext cx="2614976" cy="15218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47" y="3265307"/>
            <a:ext cx="2643665" cy="14502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35709" y="901508"/>
            <a:ext cx="8226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u="sng" dirty="0"/>
              <a:t>3L-NPC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9496" y="2912502"/>
            <a:ext cx="939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u="sng" dirty="0"/>
              <a:t>3L-T-type</a:t>
            </a:r>
          </a:p>
        </p:txBody>
      </p:sp>
    </p:spTree>
    <p:extLst>
      <p:ext uri="{BB962C8B-B14F-4D97-AF65-F5344CB8AC3E}">
        <p14:creationId xmlns:p14="http://schemas.microsoft.com/office/powerpoint/2010/main" val="21628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/>
              <a:t>Three-</a:t>
            </a:r>
            <a:r>
              <a:rPr lang="sv-SE" b="0" dirty="0" err="1"/>
              <a:t>level</a:t>
            </a:r>
            <a:r>
              <a:rPr lang="sv-SE" b="0" dirty="0"/>
              <a:t> </a:t>
            </a:r>
            <a:r>
              <a:rPr lang="sv-SE" b="0" dirty="0" err="1" smtClean="0"/>
              <a:t>Inverters</a:t>
            </a:r>
            <a:r>
              <a:rPr lang="sv-SE" b="0" dirty="0" smtClean="0"/>
              <a:t> - </a:t>
            </a:r>
            <a:r>
              <a:rPr lang="sv-SE" b="0" dirty="0" err="1" smtClean="0"/>
              <a:t>Comparison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15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5536" y="987575"/>
            <a:ext cx="4104456" cy="2520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u="sng" dirty="0" smtClean="0"/>
              <a:t>3L-NPC</a:t>
            </a:r>
          </a:p>
          <a:p>
            <a:pPr marL="514350" indent="-514350">
              <a:buAutoNum type="arabicPeriod"/>
            </a:pPr>
            <a:r>
              <a:rPr lang="en-US" sz="1600" dirty="0" smtClean="0"/>
              <a:t>The </a:t>
            </a:r>
            <a:r>
              <a:rPr lang="en-US" sz="1600" b="1" dirty="0"/>
              <a:t>conduction losses </a:t>
            </a:r>
            <a:r>
              <a:rPr lang="en-US" sz="1600" dirty="0"/>
              <a:t>can </a:t>
            </a:r>
            <a:r>
              <a:rPr lang="en-US" sz="1600" b="1" dirty="0"/>
              <a:t>increase</a:t>
            </a:r>
            <a:r>
              <a:rPr lang="en-US" sz="1600" dirty="0"/>
              <a:t> for </a:t>
            </a:r>
            <a:r>
              <a:rPr lang="en-US" sz="1600" dirty="0" smtClean="0"/>
              <a:t>the switches if </a:t>
            </a:r>
            <a:r>
              <a:rPr lang="en-US" sz="1600" dirty="0"/>
              <a:t>two devices with </a:t>
            </a:r>
            <a:r>
              <a:rPr lang="en-US" sz="1600" b="1" dirty="0"/>
              <a:t>half of the blocking voltage </a:t>
            </a:r>
            <a:r>
              <a:rPr lang="en-US" sz="1600" dirty="0"/>
              <a:t>are connected </a:t>
            </a:r>
            <a:r>
              <a:rPr lang="en-US" sz="1600" b="1" dirty="0"/>
              <a:t>in series </a:t>
            </a:r>
            <a:r>
              <a:rPr lang="en-US" sz="1600" dirty="0"/>
              <a:t>compared to one device providing the full blocking voltage.</a:t>
            </a:r>
          </a:p>
          <a:p>
            <a:pPr marL="514350" indent="-514350">
              <a:buAutoNum type="arabicPeriod"/>
            </a:pPr>
            <a:r>
              <a:rPr lang="en-US" sz="1600" b="1" dirty="0"/>
              <a:t>Increased</a:t>
            </a:r>
            <a:r>
              <a:rPr lang="en-US" sz="1600" dirty="0"/>
              <a:t> amount </a:t>
            </a:r>
            <a:r>
              <a:rPr lang="en-US" sz="1600" dirty="0" smtClean="0"/>
              <a:t>of </a:t>
            </a:r>
            <a:r>
              <a:rPr lang="en-US" sz="1600" b="1" dirty="0" smtClean="0"/>
              <a:t>semiconductors</a:t>
            </a:r>
            <a:r>
              <a:rPr lang="en-US" sz="1600" dirty="0" smtClean="0"/>
              <a:t> (</a:t>
            </a:r>
            <a:r>
              <a:rPr lang="en-US" sz="1600" dirty="0"/>
              <a:t>2 diodes and four MOSFETs per bridge leg)</a:t>
            </a:r>
          </a:p>
          <a:p>
            <a:pPr marL="514350" indent="-514350">
              <a:buAutoNum type="arabicPeriod"/>
            </a:pPr>
            <a:r>
              <a:rPr lang="en-US" sz="1600" b="1" dirty="0"/>
              <a:t>Increased</a:t>
            </a:r>
            <a:r>
              <a:rPr lang="en-US" sz="1600" dirty="0"/>
              <a:t> amount of </a:t>
            </a:r>
            <a:r>
              <a:rPr lang="en-US" sz="1600" b="1" dirty="0"/>
              <a:t>isolated gate drive </a:t>
            </a:r>
            <a:r>
              <a:rPr lang="en-US" sz="1600" dirty="0"/>
              <a:t>voltage supplies (6 </a:t>
            </a:r>
            <a:r>
              <a:rPr lang="en-US" sz="1600" dirty="0" smtClean="0"/>
              <a:t>additional </a:t>
            </a:r>
            <a:r>
              <a:rPr lang="en-US" sz="1600" dirty="0"/>
              <a:t>ones </a:t>
            </a:r>
            <a:r>
              <a:rPr lang="en-US" sz="1600" dirty="0" smtClean="0"/>
              <a:t>per inverter) </a:t>
            </a:r>
          </a:p>
          <a:p>
            <a:pPr marL="514350" indent="-514350">
              <a:buAutoNum type="arabicPeriod"/>
            </a:pPr>
            <a:endParaRPr lang="en-US" b="1" dirty="0"/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 txBox="1">
            <a:spLocks/>
          </p:cNvSpPr>
          <p:nvPr/>
        </p:nvSpPr>
        <p:spPr>
          <a:xfrm>
            <a:off x="4889950" y="1076452"/>
            <a:ext cx="3998360" cy="2444539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˃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u="sng" dirty="0" smtClean="0"/>
              <a:t>3L-T-type</a:t>
            </a:r>
          </a:p>
          <a:p>
            <a:pPr marL="342900" indent="-342900">
              <a:buAutoNum type="arabicPeriod"/>
            </a:pPr>
            <a:r>
              <a:rPr lang="en-US" sz="1600" b="1" dirty="0" smtClean="0"/>
              <a:t>Reduced</a:t>
            </a:r>
            <a:r>
              <a:rPr lang="en-US" sz="1600" dirty="0" smtClean="0"/>
              <a:t> both </a:t>
            </a:r>
            <a:r>
              <a:rPr lang="en-US" sz="1600" b="1" dirty="0" smtClean="0"/>
              <a:t>conduction</a:t>
            </a:r>
            <a:r>
              <a:rPr lang="en-US" sz="1600" dirty="0" smtClean="0"/>
              <a:t> </a:t>
            </a:r>
            <a:r>
              <a:rPr lang="en-US" sz="1600" dirty="0"/>
              <a:t>and </a:t>
            </a:r>
            <a:r>
              <a:rPr lang="en-US" sz="1600" b="1" dirty="0"/>
              <a:t>switching</a:t>
            </a:r>
            <a:r>
              <a:rPr lang="en-US" sz="1600" dirty="0"/>
              <a:t> </a:t>
            </a:r>
            <a:r>
              <a:rPr lang="en-US" sz="1600" dirty="0" smtClean="0"/>
              <a:t>losses. </a:t>
            </a:r>
          </a:p>
          <a:p>
            <a:pPr marL="342900" indent="-342900">
              <a:buAutoNum type="arabicPeriod"/>
            </a:pPr>
            <a:r>
              <a:rPr lang="en-US" sz="1600" b="1" dirty="0" smtClean="0"/>
              <a:t>Increased</a:t>
            </a:r>
            <a:r>
              <a:rPr lang="en-US" sz="1600" dirty="0" smtClean="0"/>
              <a:t> </a:t>
            </a:r>
            <a:r>
              <a:rPr lang="en-US" sz="1600" dirty="0"/>
              <a:t>amount of semiconductors (4 MOSFETs per bridge </a:t>
            </a:r>
            <a:r>
              <a:rPr lang="en-US" sz="1600" dirty="0" smtClean="0"/>
              <a:t>leg)</a:t>
            </a:r>
          </a:p>
          <a:p>
            <a:pPr marL="342900" indent="-342900">
              <a:buAutoNum type="arabicPeriod"/>
            </a:pPr>
            <a:r>
              <a:rPr lang="en-US" sz="1600" b="1" dirty="0" smtClean="0"/>
              <a:t>Increased</a:t>
            </a:r>
            <a:r>
              <a:rPr lang="en-US" sz="1600" dirty="0" smtClean="0"/>
              <a:t> </a:t>
            </a:r>
            <a:r>
              <a:rPr lang="en-US" sz="1600" dirty="0"/>
              <a:t>amount of </a:t>
            </a:r>
            <a:r>
              <a:rPr lang="en-US" sz="1600" b="1" dirty="0"/>
              <a:t>isolated gate drive </a:t>
            </a:r>
            <a:r>
              <a:rPr lang="en-US" sz="1600" dirty="0"/>
              <a:t>voltage supplies (3 addition ones per inverter) if midpoint is configured in common collector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317227" y="3524770"/>
            <a:ext cx="83655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</a:rPr>
              <a:t>Results show</a:t>
            </a:r>
            <a:r>
              <a:rPr lang="en-US" dirty="0" smtClean="0"/>
              <a:t> t</a:t>
            </a:r>
            <a:r>
              <a:rPr lang="en-US" dirty="0" smtClean="0">
                <a:latin typeface="Arial" panose="020B0604020202020204" pitchFamily="34" charset="0"/>
              </a:rPr>
              <a:t>hat </a:t>
            </a:r>
            <a:r>
              <a:rPr lang="en-US" dirty="0">
                <a:latin typeface="Arial" panose="020B0604020202020204" pitchFamily="34" charset="0"/>
              </a:rPr>
              <a:t>the efficiency of the VSI is higher only for </a:t>
            </a:r>
            <a:r>
              <a:rPr lang="en-US" dirty="0" smtClean="0">
                <a:latin typeface="Arial" panose="020B0604020202020204" pitchFamily="34" charset="0"/>
              </a:rPr>
              <a:t>low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frequencies </a:t>
            </a:r>
            <a:r>
              <a:rPr lang="en-US" dirty="0">
                <a:latin typeface="Arial" panose="020B0604020202020204" pitchFamily="34" charset="0"/>
              </a:rPr>
              <a:t>but drops significantly above 10 kHz. </a:t>
            </a:r>
            <a:r>
              <a:rPr lang="en-US" dirty="0" smtClean="0">
                <a:latin typeface="Arial" panose="020B0604020202020204" pitchFamily="34" charset="0"/>
              </a:rPr>
              <a:t>On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</a:rPr>
              <a:t>other hand, the TNPC is more efficient for </a:t>
            </a:r>
            <a:r>
              <a:rPr lang="en-US" dirty="0" smtClean="0">
                <a:latin typeface="Arial" panose="020B0604020202020204" pitchFamily="34" charset="0"/>
              </a:rPr>
              <a:t>medium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frequencies </a:t>
            </a:r>
            <a:r>
              <a:rPr lang="en-US" dirty="0">
                <a:latin typeface="Arial" panose="020B0604020202020204" pitchFamily="34" charset="0"/>
              </a:rPr>
              <a:t>between 10 kHz to 30 kHz, while </a:t>
            </a:r>
            <a:r>
              <a:rPr lang="en-US" dirty="0" smtClean="0">
                <a:latin typeface="Arial" panose="020B0604020202020204" pitchFamily="34" charset="0"/>
              </a:rPr>
              <a:t>the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NPC </a:t>
            </a:r>
            <a:r>
              <a:rPr lang="en-US" dirty="0">
                <a:latin typeface="Arial" panose="020B0604020202020204" pitchFamily="34" charset="0"/>
              </a:rPr>
              <a:t>becomes slightly more efficient for </a:t>
            </a:r>
            <a:r>
              <a:rPr lang="en-US" dirty="0" smtClean="0">
                <a:latin typeface="Arial" panose="020B0604020202020204" pitchFamily="34" charset="0"/>
              </a:rPr>
              <a:t>frequencies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above </a:t>
            </a:r>
            <a:r>
              <a:rPr lang="en-US" dirty="0">
                <a:latin typeface="Arial" panose="020B0604020202020204" pitchFamily="34" charset="0"/>
              </a:rPr>
              <a:t>30 </a:t>
            </a:r>
            <a:r>
              <a:rPr lang="en-US" dirty="0" smtClean="0">
                <a:latin typeface="Arial" panose="020B0604020202020204" pitchFamily="34" charset="0"/>
              </a:rPr>
              <a:t>kHz.</a:t>
            </a:r>
            <a:r>
              <a:rPr lang="en-US" dirty="0"/>
              <a:t/>
            </a:r>
            <a:br>
              <a:rPr lang="en-US" dirty="0"/>
            </a:br>
            <a:endParaRPr lang="sv-SE" dirty="0"/>
          </a:p>
        </p:txBody>
      </p:sp>
      <p:sp>
        <p:nvSpPr>
          <p:cNvPr id="3" name="Rectangle 2"/>
          <p:cNvSpPr/>
          <p:nvPr/>
        </p:nvSpPr>
        <p:spPr>
          <a:xfrm>
            <a:off x="215516" y="4517878"/>
            <a:ext cx="8568952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50" dirty="0" smtClean="0">
                <a:latin typeface="Arial" panose="020B0604020202020204" pitchFamily="34" charset="0"/>
              </a:rPr>
              <a:t>[1] J</a:t>
            </a:r>
            <a:r>
              <a:rPr lang="sv-SE" sz="950" dirty="0">
                <a:latin typeface="Arial" panose="020B0604020202020204" pitchFamily="34" charset="0"/>
              </a:rPr>
              <a:t>. Reimers, L. Dorn-</a:t>
            </a:r>
            <a:r>
              <a:rPr lang="sv-SE" sz="950" dirty="0" err="1">
                <a:latin typeface="Arial" panose="020B0604020202020204" pitchFamily="34" charset="0"/>
              </a:rPr>
              <a:t>Gomba</a:t>
            </a:r>
            <a:r>
              <a:rPr lang="sv-SE" sz="950" dirty="0">
                <a:latin typeface="Arial" panose="020B0604020202020204" pitchFamily="34" charset="0"/>
              </a:rPr>
              <a:t>, C. Mak, and A. </a:t>
            </a:r>
            <a:r>
              <a:rPr lang="sv-SE" sz="950" dirty="0" err="1">
                <a:latin typeface="Arial" panose="020B0604020202020204" pitchFamily="34" charset="0"/>
              </a:rPr>
              <a:t>Emadi</a:t>
            </a:r>
            <a:r>
              <a:rPr lang="sv-SE" sz="950" dirty="0">
                <a:latin typeface="Arial" panose="020B0604020202020204" pitchFamily="34" charset="0"/>
              </a:rPr>
              <a:t>, “</a:t>
            </a:r>
            <a:r>
              <a:rPr lang="sv-SE" sz="950" dirty="0" smtClean="0">
                <a:latin typeface="Arial" panose="020B0604020202020204" pitchFamily="34" charset="0"/>
              </a:rPr>
              <a:t>Automotive</a:t>
            </a:r>
            <a:r>
              <a:rPr lang="sv-SE" sz="950" dirty="0" smtClean="0"/>
              <a:t> </a:t>
            </a:r>
            <a:r>
              <a:rPr lang="sv-SE" sz="950" dirty="0" err="1" smtClean="0">
                <a:latin typeface="Arial" panose="020B0604020202020204" pitchFamily="34" charset="0"/>
              </a:rPr>
              <a:t>traction</a:t>
            </a:r>
            <a:r>
              <a:rPr lang="sv-SE" sz="950" dirty="0" smtClean="0">
                <a:latin typeface="Arial" panose="020B0604020202020204" pitchFamily="34" charset="0"/>
              </a:rPr>
              <a:t> </a:t>
            </a:r>
            <a:r>
              <a:rPr lang="sv-SE" sz="950" dirty="0" err="1">
                <a:latin typeface="Arial" panose="020B0604020202020204" pitchFamily="34" charset="0"/>
              </a:rPr>
              <a:t>inverters</a:t>
            </a:r>
            <a:r>
              <a:rPr lang="sv-SE" sz="950" dirty="0">
                <a:latin typeface="Arial" panose="020B0604020202020204" pitchFamily="34" charset="0"/>
              </a:rPr>
              <a:t>: </a:t>
            </a:r>
            <a:r>
              <a:rPr lang="sv-SE" sz="950" dirty="0" err="1">
                <a:latin typeface="Arial" panose="020B0604020202020204" pitchFamily="34" charset="0"/>
              </a:rPr>
              <a:t>Current</a:t>
            </a:r>
            <a:r>
              <a:rPr lang="sv-SE" sz="950" dirty="0">
                <a:latin typeface="Arial" panose="020B0604020202020204" pitchFamily="34" charset="0"/>
              </a:rPr>
              <a:t> status and </a:t>
            </a:r>
            <a:r>
              <a:rPr lang="sv-SE" sz="950" dirty="0" err="1">
                <a:latin typeface="Arial" panose="020B0604020202020204" pitchFamily="34" charset="0"/>
              </a:rPr>
              <a:t>future</a:t>
            </a:r>
            <a:r>
              <a:rPr lang="sv-SE" sz="950" dirty="0">
                <a:latin typeface="Arial" panose="020B0604020202020204" pitchFamily="34" charset="0"/>
              </a:rPr>
              <a:t> trends,” IEEE </a:t>
            </a:r>
            <a:r>
              <a:rPr lang="sv-SE" sz="950" dirty="0" err="1" smtClean="0">
                <a:latin typeface="Arial" panose="020B0604020202020204" pitchFamily="34" charset="0"/>
              </a:rPr>
              <a:t>Transactions</a:t>
            </a:r>
            <a:r>
              <a:rPr lang="sv-SE" sz="950" dirty="0" smtClean="0"/>
              <a:t> </a:t>
            </a:r>
            <a:r>
              <a:rPr lang="sv-SE" sz="950" dirty="0" smtClean="0">
                <a:latin typeface="Arial" panose="020B0604020202020204" pitchFamily="34" charset="0"/>
              </a:rPr>
              <a:t>on </a:t>
            </a:r>
            <a:r>
              <a:rPr lang="sv-SE" sz="950" dirty="0" err="1">
                <a:latin typeface="Arial" panose="020B0604020202020204" pitchFamily="34" charset="0"/>
              </a:rPr>
              <a:t>Vehicular</a:t>
            </a:r>
            <a:r>
              <a:rPr lang="sv-SE" sz="950" dirty="0">
                <a:latin typeface="Arial" panose="020B0604020202020204" pitchFamily="34" charset="0"/>
              </a:rPr>
              <a:t> </a:t>
            </a:r>
            <a:r>
              <a:rPr lang="sv-SE" sz="950" dirty="0" err="1">
                <a:latin typeface="Arial" panose="020B0604020202020204" pitchFamily="34" charset="0"/>
              </a:rPr>
              <a:t>Technology</a:t>
            </a:r>
            <a:r>
              <a:rPr lang="sv-SE" sz="950" dirty="0">
                <a:latin typeface="Arial" panose="020B0604020202020204" pitchFamily="34" charset="0"/>
              </a:rPr>
              <a:t>, vol. 68, no. 4, </a:t>
            </a:r>
            <a:r>
              <a:rPr lang="sv-SE" sz="950" dirty="0" err="1">
                <a:latin typeface="Arial" panose="020B0604020202020204" pitchFamily="34" charset="0"/>
              </a:rPr>
              <a:t>pp</a:t>
            </a:r>
            <a:r>
              <a:rPr lang="sv-SE" sz="950" dirty="0">
                <a:latin typeface="Arial" panose="020B0604020202020204" pitchFamily="34" charset="0"/>
              </a:rPr>
              <a:t>. 3337–3350, 2019</a:t>
            </a:r>
            <a:endParaRPr lang="sv-SE" sz="950" dirty="0"/>
          </a:p>
        </p:txBody>
      </p:sp>
    </p:spTree>
    <p:extLst>
      <p:ext uri="{BB962C8B-B14F-4D97-AF65-F5344CB8AC3E}">
        <p14:creationId xmlns:p14="http://schemas.microsoft.com/office/powerpoint/2010/main" val="208631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err="1" smtClean="0"/>
              <a:t>Modular</a:t>
            </a:r>
            <a:r>
              <a:rPr lang="sv-SE" b="0" dirty="0" smtClean="0"/>
              <a:t> multi-</a:t>
            </a:r>
            <a:r>
              <a:rPr lang="sv-SE" b="0" dirty="0" err="1" smtClean="0"/>
              <a:t>level</a:t>
            </a:r>
            <a:r>
              <a:rPr lang="sv-SE" b="0" dirty="0" smtClean="0"/>
              <a:t> </a:t>
            </a:r>
            <a:r>
              <a:rPr lang="sv-SE" b="0" dirty="0" err="1" smtClean="0"/>
              <a:t>converters</a:t>
            </a:r>
            <a:r>
              <a:rPr lang="sv-SE" b="0" dirty="0" smtClean="0"/>
              <a:t> (MMC)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900" smtClean="0"/>
              <a:pPr/>
              <a:t>2025-05-13</a:t>
            </a:fld>
            <a:endParaRPr lang="sv-SE" sz="9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9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900" smtClean="0"/>
              <a:pPr/>
              <a:t>16</a:t>
            </a:fld>
            <a:endParaRPr lang="sv-SE" sz="9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51920" y="771550"/>
            <a:ext cx="4892374" cy="3365656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MMCs </a:t>
            </a:r>
            <a:r>
              <a:rPr lang="en-US" dirty="0"/>
              <a:t>are considered which provide even </a:t>
            </a:r>
            <a:r>
              <a:rPr lang="en-US" b="1" dirty="0"/>
              <a:t>smaller</a:t>
            </a:r>
            <a:br>
              <a:rPr lang="en-US" b="1" dirty="0"/>
            </a:br>
            <a:r>
              <a:rPr lang="en-US" b="1" dirty="0"/>
              <a:t>voltage steps</a:t>
            </a:r>
            <a:r>
              <a:rPr lang="en-US" dirty="0"/>
              <a:t> at the inverter output </a:t>
            </a:r>
            <a:r>
              <a:rPr lang="en-US" dirty="0" smtClean="0"/>
              <a:t>terminals; thus, reducing the EMI and ripples.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Disadvantageous </a:t>
            </a:r>
            <a:r>
              <a:rPr lang="en-US" dirty="0"/>
              <a:t>are their </a:t>
            </a:r>
            <a:r>
              <a:rPr lang="en-US" b="1" dirty="0"/>
              <a:t>higher weight </a:t>
            </a:r>
            <a:r>
              <a:rPr lang="en-US" dirty="0"/>
              <a:t>due to</a:t>
            </a:r>
            <a:br>
              <a:rPr lang="en-US" dirty="0"/>
            </a:br>
            <a:r>
              <a:rPr lang="en-US" dirty="0"/>
              <a:t>their </a:t>
            </a:r>
            <a:r>
              <a:rPr lang="en-US" b="1" dirty="0"/>
              <a:t>passive components </a:t>
            </a:r>
            <a:r>
              <a:rPr lang="en-US" dirty="0"/>
              <a:t>(module capacitors</a:t>
            </a:r>
            <a:br>
              <a:rPr lang="en-US" dirty="0"/>
            </a:br>
            <a:r>
              <a:rPr lang="en-US" dirty="0"/>
              <a:t>and branch inductors) and the high complexity</a:t>
            </a:r>
            <a:br>
              <a:rPr lang="en-US" dirty="0"/>
            </a:br>
            <a:r>
              <a:rPr lang="en-US" dirty="0"/>
              <a:t>of the control </a:t>
            </a:r>
            <a:r>
              <a:rPr lang="en-US" dirty="0" smtClean="0"/>
              <a:t>system.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dirty="0"/>
              <a:t>comparison to the other topologies, MMCs</a:t>
            </a:r>
            <a:br>
              <a:rPr lang="en-US" dirty="0"/>
            </a:br>
            <a:r>
              <a:rPr lang="en-US" dirty="0"/>
              <a:t>consist of a series connection of n half-bridge</a:t>
            </a:r>
            <a:br>
              <a:rPr lang="en-US" dirty="0"/>
            </a:br>
            <a:r>
              <a:rPr lang="en-US" dirty="0"/>
              <a:t>modules in the upper and lower branches. In this</a:t>
            </a:r>
            <a:br>
              <a:rPr lang="en-US" dirty="0"/>
            </a:br>
            <a:r>
              <a:rPr lang="en-US" dirty="0"/>
              <a:t>topology, the </a:t>
            </a:r>
            <a:r>
              <a:rPr lang="en-US" b="1" dirty="0"/>
              <a:t>blocking and switching voltages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of the semiconductors are </a:t>
            </a:r>
            <a:r>
              <a:rPr lang="en-US" b="1" dirty="0"/>
              <a:t>reduced</a:t>
            </a:r>
            <a:r>
              <a:rPr lang="en-US" dirty="0"/>
              <a:t> to the voltage</a:t>
            </a:r>
            <a:br>
              <a:rPr lang="en-US" dirty="0"/>
            </a:br>
            <a:r>
              <a:rPr lang="en-US" dirty="0"/>
              <a:t>of a </a:t>
            </a:r>
            <a:r>
              <a:rPr lang="en-US" dirty="0" smtClean="0"/>
              <a:t>single-module capacitor.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Although MMC </a:t>
            </a:r>
            <a:r>
              <a:rPr lang="en-US" dirty="0"/>
              <a:t>inverters have significantly lower power </a:t>
            </a:r>
            <a:r>
              <a:rPr lang="en-US" dirty="0" smtClean="0"/>
              <a:t>densities, they have the best efficiencies.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They could be </a:t>
            </a:r>
            <a:r>
              <a:rPr lang="sv-SE" dirty="0" err="1"/>
              <a:t>integrated</a:t>
            </a:r>
            <a:r>
              <a:rPr lang="sv-SE" dirty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battery</a:t>
            </a:r>
            <a:r>
              <a:rPr lang="sv-SE" dirty="0" smtClean="0"/>
              <a:t> cells.</a:t>
            </a:r>
            <a:r>
              <a:rPr lang="en-US" dirty="0" smtClean="0"/>
              <a:t> 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87523" y="4288427"/>
            <a:ext cx="85388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>
                <a:latin typeface="Arial" panose="020B0604020202020204" pitchFamily="34" charset="0"/>
              </a:rPr>
              <a:t>[1] J</a:t>
            </a:r>
            <a:r>
              <a:rPr lang="sv-SE" sz="900" dirty="0">
                <a:latin typeface="Arial" panose="020B0604020202020204" pitchFamily="34" charset="0"/>
              </a:rPr>
              <a:t>. </a:t>
            </a:r>
            <a:r>
              <a:rPr lang="sv-SE" sz="900" dirty="0" err="1">
                <a:latin typeface="Arial" panose="020B0604020202020204" pitchFamily="34" charset="0"/>
              </a:rPr>
              <a:t>Ebersberger</a:t>
            </a:r>
            <a:r>
              <a:rPr lang="sv-SE" sz="900" dirty="0">
                <a:latin typeface="Arial" panose="020B0604020202020204" pitchFamily="34" charset="0"/>
              </a:rPr>
              <a:t>, M. </a:t>
            </a:r>
            <a:r>
              <a:rPr lang="sv-SE" sz="900" dirty="0" err="1">
                <a:latin typeface="Arial" panose="020B0604020202020204" pitchFamily="34" charset="0"/>
              </a:rPr>
              <a:t>Hagedorn</a:t>
            </a:r>
            <a:r>
              <a:rPr lang="sv-SE" sz="900" dirty="0">
                <a:latin typeface="Arial" panose="020B0604020202020204" pitchFamily="34" charset="0"/>
              </a:rPr>
              <a:t>, M. Lorenz, and A. </a:t>
            </a:r>
            <a:r>
              <a:rPr lang="sv-SE" sz="900" dirty="0" err="1">
                <a:latin typeface="Arial" panose="020B0604020202020204" pitchFamily="34" charset="0"/>
              </a:rPr>
              <a:t>Mertens</a:t>
            </a:r>
            <a:r>
              <a:rPr lang="sv-SE" sz="900" dirty="0">
                <a:latin typeface="Arial" panose="020B0604020202020204" pitchFamily="34" charset="0"/>
              </a:rPr>
              <a:t>, “</a:t>
            </a:r>
            <a:r>
              <a:rPr lang="sv-SE" sz="900" dirty="0" smtClean="0">
                <a:latin typeface="Arial" panose="020B0604020202020204" pitchFamily="34" charset="0"/>
              </a:rPr>
              <a:t>Potentials</a:t>
            </a:r>
            <a:r>
              <a:rPr lang="sv-SE" sz="900" dirty="0" smtClean="0"/>
              <a:t> </a:t>
            </a:r>
            <a:r>
              <a:rPr lang="sv-SE" sz="900" dirty="0" smtClean="0">
                <a:latin typeface="Arial" panose="020B0604020202020204" pitchFamily="34" charset="0"/>
              </a:rPr>
              <a:t>and </a:t>
            </a:r>
            <a:r>
              <a:rPr lang="sv-SE" sz="900" dirty="0" err="1">
                <a:latin typeface="Arial" panose="020B0604020202020204" pitchFamily="34" charset="0"/>
              </a:rPr>
              <a:t>comparison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of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inverter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topologies</a:t>
            </a:r>
            <a:r>
              <a:rPr lang="sv-SE" sz="900" dirty="0">
                <a:latin typeface="Arial" panose="020B0604020202020204" pitchFamily="34" charset="0"/>
              </a:rPr>
              <a:t> for </a:t>
            </a:r>
            <a:r>
              <a:rPr lang="sv-SE" sz="900" dirty="0" err="1">
                <a:latin typeface="Arial" panose="020B0604020202020204" pitchFamily="34" charset="0"/>
              </a:rPr>
              <a:t>future</a:t>
            </a:r>
            <a:r>
              <a:rPr lang="sv-SE" sz="900" dirty="0">
                <a:latin typeface="Arial" panose="020B0604020202020204" pitchFamily="34" charset="0"/>
              </a:rPr>
              <a:t> all-</a:t>
            </a:r>
            <a:r>
              <a:rPr lang="sv-SE" sz="900" dirty="0" err="1">
                <a:latin typeface="Arial" panose="020B0604020202020204" pitchFamily="34" charset="0"/>
              </a:rPr>
              <a:t>electric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 smtClean="0">
                <a:latin typeface="Arial" panose="020B0604020202020204" pitchFamily="34" charset="0"/>
              </a:rPr>
              <a:t>aircraft</a:t>
            </a:r>
            <a:r>
              <a:rPr lang="sv-SE" sz="900" dirty="0" smtClean="0"/>
              <a:t> </a:t>
            </a:r>
            <a:r>
              <a:rPr lang="sv-SE" sz="900" dirty="0" err="1" smtClean="0">
                <a:latin typeface="Arial" panose="020B0604020202020204" pitchFamily="34" charset="0"/>
              </a:rPr>
              <a:t>propulsion</a:t>
            </a:r>
            <a:r>
              <a:rPr lang="sv-SE" sz="900" dirty="0">
                <a:latin typeface="Arial" panose="020B0604020202020204" pitchFamily="34" charset="0"/>
              </a:rPr>
              <a:t>,” IEEE Journal </a:t>
            </a:r>
            <a:r>
              <a:rPr lang="sv-SE" sz="900" dirty="0" err="1">
                <a:latin typeface="Arial" panose="020B0604020202020204" pitchFamily="34" charset="0"/>
              </a:rPr>
              <a:t>of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Emerging</a:t>
            </a:r>
            <a:r>
              <a:rPr lang="sv-SE" sz="900" dirty="0">
                <a:latin typeface="Arial" panose="020B0604020202020204" pitchFamily="34" charset="0"/>
              </a:rPr>
              <a:t> and </a:t>
            </a:r>
            <a:r>
              <a:rPr lang="sv-SE" sz="900" dirty="0" err="1">
                <a:latin typeface="Arial" panose="020B0604020202020204" pitchFamily="34" charset="0"/>
              </a:rPr>
              <a:t>Selected</a:t>
            </a:r>
            <a:r>
              <a:rPr lang="sv-SE" sz="900" dirty="0">
                <a:latin typeface="Arial" panose="020B0604020202020204" pitchFamily="34" charset="0"/>
              </a:rPr>
              <a:t> </a:t>
            </a:r>
            <a:r>
              <a:rPr lang="sv-SE" sz="900" dirty="0" err="1">
                <a:latin typeface="Arial" panose="020B0604020202020204" pitchFamily="34" charset="0"/>
              </a:rPr>
              <a:t>Topics</a:t>
            </a:r>
            <a:r>
              <a:rPr lang="sv-SE" sz="900" dirty="0">
                <a:latin typeface="Arial" panose="020B0604020202020204" pitchFamily="34" charset="0"/>
              </a:rPr>
              <a:t> in </a:t>
            </a:r>
            <a:r>
              <a:rPr lang="sv-SE" sz="900" dirty="0" smtClean="0">
                <a:latin typeface="Arial" panose="020B0604020202020204" pitchFamily="34" charset="0"/>
              </a:rPr>
              <a:t>Power</a:t>
            </a:r>
            <a:r>
              <a:rPr lang="sv-SE" sz="900" dirty="0" smtClean="0"/>
              <a:t> </a:t>
            </a:r>
            <a:r>
              <a:rPr lang="sv-SE" sz="900" dirty="0" smtClean="0">
                <a:latin typeface="Arial" panose="020B0604020202020204" pitchFamily="34" charset="0"/>
              </a:rPr>
              <a:t>Electronics</a:t>
            </a:r>
            <a:r>
              <a:rPr lang="sv-SE" sz="900" dirty="0">
                <a:latin typeface="Arial" panose="020B0604020202020204" pitchFamily="34" charset="0"/>
              </a:rPr>
              <a:t>, vol. 10, no. 5, </a:t>
            </a:r>
            <a:r>
              <a:rPr lang="sv-SE" sz="900" dirty="0" err="1">
                <a:latin typeface="Arial" panose="020B0604020202020204" pitchFamily="34" charset="0"/>
              </a:rPr>
              <a:t>pp</a:t>
            </a:r>
            <a:r>
              <a:rPr lang="sv-SE" sz="900" dirty="0">
                <a:latin typeface="Arial" panose="020B0604020202020204" pitchFamily="34" charset="0"/>
              </a:rPr>
              <a:t>. 5264–5279, 2022</a:t>
            </a:r>
            <a:endParaRPr lang="sv-SE" sz="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117"/>
          <a:stretch/>
        </p:blipFill>
        <p:spPr>
          <a:xfrm>
            <a:off x="337205" y="922665"/>
            <a:ext cx="3005909" cy="15637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61794"/>
            <a:ext cx="2438772" cy="17878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87523" y="4566712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[2] M</a:t>
            </a:r>
            <a:r>
              <a:rPr lang="sv-SE" sz="900" dirty="0"/>
              <a:t>. </a:t>
            </a:r>
            <a:r>
              <a:rPr lang="sv-SE" sz="900" dirty="0" err="1"/>
              <a:t>Quraan</a:t>
            </a:r>
            <a:r>
              <a:rPr lang="sv-SE" sz="900" dirty="0"/>
              <a:t>, P. </a:t>
            </a:r>
            <a:r>
              <a:rPr lang="sv-SE" sz="900" dirty="0" err="1"/>
              <a:t>Tricoli</a:t>
            </a:r>
            <a:r>
              <a:rPr lang="sv-SE" sz="900" dirty="0"/>
              <a:t>, S. </a:t>
            </a:r>
            <a:r>
              <a:rPr lang="sv-SE" sz="900" dirty="0" err="1"/>
              <a:t>D’Arco</a:t>
            </a:r>
            <a:r>
              <a:rPr lang="sv-SE" sz="900" dirty="0"/>
              <a:t> and L. </a:t>
            </a:r>
            <a:r>
              <a:rPr lang="sv-SE" sz="900" dirty="0" err="1"/>
              <a:t>Piegari</a:t>
            </a:r>
            <a:r>
              <a:rPr lang="sv-SE" sz="900" dirty="0"/>
              <a:t>, "</a:t>
            </a:r>
            <a:r>
              <a:rPr lang="sv-SE" sz="900" dirty="0" err="1"/>
              <a:t>Efficiency</a:t>
            </a:r>
            <a:r>
              <a:rPr lang="sv-SE" sz="900" dirty="0"/>
              <a:t> </a:t>
            </a:r>
            <a:r>
              <a:rPr lang="sv-SE" sz="900" dirty="0" err="1"/>
              <a:t>Assessment</a:t>
            </a:r>
            <a:r>
              <a:rPr lang="sv-SE" sz="900" dirty="0"/>
              <a:t> </a:t>
            </a:r>
            <a:r>
              <a:rPr lang="sv-SE" sz="900" dirty="0" err="1"/>
              <a:t>of</a:t>
            </a:r>
            <a:r>
              <a:rPr lang="sv-SE" sz="900" dirty="0"/>
              <a:t> </a:t>
            </a:r>
            <a:r>
              <a:rPr lang="sv-SE" sz="900" dirty="0" err="1"/>
              <a:t>Modular</a:t>
            </a:r>
            <a:r>
              <a:rPr lang="sv-SE" sz="900" dirty="0"/>
              <a:t> </a:t>
            </a:r>
            <a:r>
              <a:rPr lang="sv-SE" sz="900" dirty="0" err="1"/>
              <a:t>Multilevel</a:t>
            </a:r>
            <a:r>
              <a:rPr lang="sv-SE" sz="900" dirty="0"/>
              <a:t> </a:t>
            </a:r>
            <a:r>
              <a:rPr lang="sv-SE" sz="900" dirty="0" err="1"/>
              <a:t>Converters</a:t>
            </a:r>
            <a:r>
              <a:rPr lang="sv-SE" sz="900" dirty="0"/>
              <a:t> for </a:t>
            </a:r>
            <a:r>
              <a:rPr lang="sv-SE" sz="900" dirty="0" err="1"/>
              <a:t>Battery</a:t>
            </a:r>
            <a:r>
              <a:rPr lang="sv-SE" sz="900" dirty="0"/>
              <a:t> Electric </a:t>
            </a:r>
            <a:r>
              <a:rPr lang="sv-SE" sz="900" dirty="0" err="1"/>
              <a:t>Vehicles</a:t>
            </a:r>
            <a:r>
              <a:rPr lang="sv-SE" sz="900" dirty="0"/>
              <a:t>," in IEEE </a:t>
            </a:r>
            <a:r>
              <a:rPr lang="sv-SE" sz="900" dirty="0" err="1"/>
              <a:t>Transactions</a:t>
            </a:r>
            <a:r>
              <a:rPr lang="sv-SE" sz="900" dirty="0"/>
              <a:t> on Power Electronics, vol. 32, no. 3, </a:t>
            </a:r>
            <a:r>
              <a:rPr lang="sv-SE" sz="900" dirty="0" err="1"/>
              <a:t>pp</a:t>
            </a:r>
            <a:r>
              <a:rPr lang="sv-SE" sz="900" dirty="0"/>
              <a:t>. 2041-2051, </a:t>
            </a:r>
            <a:r>
              <a:rPr lang="sv-SE" sz="900" dirty="0" err="1"/>
              <a:t>March</a:t>
            </a:r>
            <a:r>
              <a:rPr lang="sv-SE" sz="900" dirty="0"/>
              <a:t> 2017, </a:t>
            </a:r>
            <a:r>
              <a:rPr lang="sv-SE" sz="900" dirty="0" err="1"/>
              <a:t>doi</a:t>
            </a:r>
            <a:r>
              <a:rPr lang="sv-SE" sz="900" dirty="0"/>
              <a:t>: 10.1109/TPEL.2016.2557579.</a:t>
            </a:r>
          </a:p>
        </p:txBody>
      </p:sp>
    </p:spTree>
    <p:extLst>
      <p:ext uri="{BB962C8B-B14F-4D97-AF65-F5344CB8AC3E}">
        <p14:creationId xmlns:p14="http://schemas.microsoft.com/office/powerpoint/2010/main" val="285845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4671687" cy="647700"/>
          </a:xfrm>
        </p:spPr>
        <p:txBody>
          <a:bodyPr/>
          <a:lstStyle/>
          <a:p>
            <a:r>
              <a:rPr lang="sv-SE" b="0" dirty="0" err="1" smtClean="0"/>
              <a:t>Cascaded</a:t>
            </a:r>
            <a:r>
              <a:rPr lang="sv-SE" b="0" dirty="0" smtClean="0"/>
              <a:t> H-Bridge (CHB)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900" smtClean="0"/>
              <a:pPr/>
              <a:t>2025-05-13</a:t>
            </a:fld>
            <a:endParaRPr lang="sv-SE" sz="9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900" dirty="0" err="1"/>
              <a:t>Footer</a:t>
            </a:r>
            <a:endParaRPr lang="sv-SE" sz="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900" smtClean="0"/>
              <a:pPr/>
              <a:t>17</a:t>
            </a:fld>
            <a:endParaRPr lang="sv-SE" sz="9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9912" y="987574"/>
            <a:ext cx="4892374" cy="2721951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CHBs </a:t>
            </a:r>
            <a:r>
              <a:rPr lang="en-US" dirty="0"/>
              <a:t>are considered which provide even </a:t>
            </a:r>
            <a:r>
              <a:rPr lang="en-US" b="1" dirty="0"/>
              <a:t>smaller</a:t>
            </a:r>
            <a:br>
              <a:rPr lang="en-US" b="1" dirty="0"/>
            </a:br>
            <a:r>
              <a:rPr lang="en-US" b="1" dirty="0"/>
              <a:t>voltage steps</a:t>
            </a:r>
            <a:r>
              <a:rPr lang="en-US" dirty="0"/>
              <a:t> at the inverter output </a:t>
            </a:r>
            <a:r>
              <a:rPr lang="en-US" dirty="0" smtClean="0"/>
              <a:t>terminals.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Provides </a:t>
            </a:r>
            <a:r>
              <a:rPr lang="en-US" b="1" dirty="0" smtClean="0"/>
              <a:t>high</a:t>
            </a:r>
            <a:r>
              <a:rPr lang="en-US" dirty="0" smtClean="0"/>
              <a:t> </a:t>
            </a:r>
            <a:r>
              <a:rPr lang="en-US" b="1" dirty="0" smtClean="0"/>
              <a:t>reliability</a:t>
            </a:r>
            <a:r>
              <a:rPr lang="en-US" dirty="0" smtClean="0"/>
              <a:t> and </a:t>
            </a:r>
            <a:r>
              <a:rPr lang="en-US" b="1" dirty="0" smtClean="0"/>
              <a:t>simple</a:t>
            </a:r>
            <a:r>
              <a:rPr lang="en-US" dirty="0" smtClean="0"/>
              <a:t> </a:t>
            </a:r>
            <a:r>
              <a:rPr lang="en-US" b="1" dirty="0" smtClean="0"/>
              <a:t>control</a:t>
            </a:r>
            <a:r>
              <a:rPr lang="en-US" dirty="0" smtClean="0"/>
              <a:t>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Isolated DC sources </a:t>
            </a:r>
            <a:r>
              <a:rPr lang="en-US" dirty="0" smtClean="0"/>
              <a:t>are needed, and smaller </a:t>
            </a:r>
            <a:r>
              <a:rPr lang="en-US" b="1" dirty="0" smtClean="0"/>
              <a:t>battery packs </a:t>
            </a:r>
            <a:r>
              <a:rPr lang="en-US" dirty="0" smtClean="0"/>
              <a:t>could be implemented. 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We can use </a:t>
            </a:r>
            <a:r>
              <a:rPr lang="en-US" dirty="0" err="1" smtClean="0"/>
              <a:t>GaN</a:t>
            </a:r>
            <a:r>
              <a:rPr lang="en-US" dirty="0" smtClean="0"/>
              <a:t> or Si-based devices with </a:t>
            </a:r>
            <a:r>
              <a:rPr lang="en-US" b="1" dirty="0" smtClean="0"/>
              <a:t>lower blocking voltage.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Increased</a:t>
            </a:r>
            <a:r>
              <a:rPr lang="en-US" dirty="0" smtClean="0"/>
              <a:t> </a:t>
            </a:r>
            <a:r>
              <a:rPr lang="en-US" dirty="0"/>
              <a:t>inverter </a:t>
            </a:r>
            <a:r>
              <a:rPr lang="en-US" b="1" dirty="0"/>
              <a:t>power density </a:t>
            </a:r>
            <a:r>
              <a:rPr lang="en-US" dirty="0"/>
              <a:t>due to the </a:t>
            </a:r>
            <a:r>
              <a:rPr lang="en-US" b="1" dirty="0"/>
              <a:t>smaller cooling system.</a:t>
            </a:r>
            <a:endParaRPr lang="en-US" b="1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43508" y="4225770"/>
            <a:ext cx="8856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[1] F</a:t>
            </a:r>
            <a:r>
              <a:rPr lang="sv-SE" sz="900" dirty="0"/>
              <a:t>. Chang, O. </a:t>
            </a:r>
            <a:r>
              <a:rPr lang="sv-SE" sz="900" dirty="0" err="1"/>
              <a:t>Ilina</a:t>
            </a:r>
            <a:r>
              <a:rPr lang="sv-SE" sz="900" dirty="0"/>
              <a:t>, M. </a:t>
            </a:r>
            <a:r>
              <a:rPr lang="sv-SE" sz="900" dirty="0" err="1"/>
              <a:t>Lienkamp</a:t>
            </a:r>
            <a:r>
              <a:rPr lang="sv-SE" sz="900" dirty="0"/>
              <a:t> and L. Voss, "</a:t>
            </a:r>
            <a:r>
              <a:rPr lang="sv-SE" sz="900" dirty="0" err="1"/>
              <a:t>Improving</a:t>
            </a:r>
            <a:r>
              <a:rPr lang="sv-SE" sz="900" dirty="0"/>
              <a:t> the Overall </a:t>
            </a:r>
            <a:r>
              <a:rPr lang="sv-SE" sz="900" dirty="0" err="1"/>
              <a:t>Efficiency</a:t>
            </a:r>
            <a:r>
              <a:rPr lang="sv-SE" sz="900" dirty="0"/>
              <a:t> </a:t>
            </a:r>
            <a:r>
              <a:rPr lang="sv-SE" sz="900" dirty="0" err="1"/>
              <a:t>of</a:t>
            </a:r>
            <a:r>
              <a:rPr lang="sv-SE" sz="900" dirty="0"/>
              <a:t> Automotive </a:t>
            </a:r>
            <a:r>
              <a:rPr lang="sv-SE" sz="900" dirty="0" err="1"/>
              <a:t>Inverters</a:t>
            </a:r>
            <a:r>
              <a:rPr lang="sv-SE" sz="900" dirty="0"/>
              <a:t> </a:t>
            </a:r>
            <a:r>
              <a:rPr lang="sv-SE" sz="900" dirty="0" err="1"/>
              <a:t>Using</a:t>
            </a:r>
            <a:r>
              <a:rPr lang="sv-SE" sz="900" dirty="0"/>
              <a:t> a </a:t>
            </a:r>
            <a:r>
              <a:rPr lang="sv-SE" sz="900" dirty="0" err="1"/>
              <a:t>Multilevel</a:t>
            </a:r>
            <a:r>
              <a:rPr lang="sv-SE" sz="900" dirty="0"/>
              <a:t> </a:t>
            </a:r>
            <a:r>
              <a:rPr lang="sv-SE" sz="900" dirty="0" err="1"/>
              <a:t>Converter</a:t>
            </a:r>
            <a:r>
              <a:rPr lang="sv-SE" sz="900" dirty="0"/>
              <a:t> </a:t>
            </a:r>
            <a:r>
              <a:rPr lang="sv-SE" sz="900" dirty="0" err="1"/>
              <a:t>Composed</a:t>
            </a:r>
            <a:r>
              <a:rPr lang="sv-SE" sz="900" dirty="0"/>
              <a:t> </a:t>
            </a:r>
            <a:r>
              <a:rPr lang="sv-SE" sz="900" dirty="0" err="1"/>
              <a:t>of</a:t>
            </a:r>
            <a:r>
              <a:rPr lang="sv-SE" sz="900" dirty="0"/>
              <a:t> </a:t>
            </a:r>
            <a:r>
              <a:rPr lang="sv-SE" sz="900" dirty="0" err="1"/>
              <a:t>Low</a:t>
            </a:r>
            <a:r>
              <a:rPr lang="sv-SE" sz="900" dirty="0"/>
              <a:t> </a:t>
            </a:r>
            <a:r>
              <a:rPr lang="sv-SE" sz="900" dirty="0" err="1"/>
              <a:t>Voltage</a:t>
            </a:r>
            <a:r>
              <a:rPr lang="sv-SE" sz="900" dirty="0"/>
              <a:t> Si </a:t>
            </a:r>
            <a:r>
              <a:rPr lang="sv-SE" sz="900" dirty="0" err="1"/>
              <a:t>mosfets</a:t>
            </a:r>
            <a:r>
              <a:rPr lang="sv-SE" sz="900" dirty="0"/>
              <a:t>," in IEEE </a:t>
            </a:r>
            <a:r>
              <a:rPr lang="sv-SE" sz="900" dirty="0" err="1"/>
              <a:t>Transactions</a:t>
            </a:r>
            <a:r>
              <a:rPr lang="sv-SE" sz="900" dirty="0"/>
              <a:t> on Power Electronics, vol. 34, no. 4, </a:t>
            </a:r>
            <a:r>
              <a:rPr lang="sv-SE" sz="900" dirty="0" err="1"/>
              <a:t>pp</a:t>
            </a:r>
            <a:r>
              <a:rPr lang="sv-SE" sz="900" dirty="0"/>
              <a:t>. 3586-3602, April 2019, </a:t>
            </a:r>
            <a:r>
              <a:rPr lang="sv-SE" sz="900" dirty="0" err="1"/>
              <a:t>doi</a:t>
            </a:r>
            <a:r>
              <a:rPr lang="sv-SE" sz="900" dirty="0"/>
              <a:t>: 10.1109/TPEL.2018.2854756.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9582"/>
            <a:ext cx="3013092" cy="19556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3508" y="4561584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[2] A</a:t>
            </a:r>
            <a:r>
              <a:rPr lang="sv-SE" sz="900" dirty="0"/>
              <a:t>. </a:t>
            </a:r>
            <a:r>
              <a:rPr lang="sv-SE" sz="900" dirty="0" err="1"/>
              <a:t>Poorfakhraei</a:t>
            </a:r>
            <a:r>
              <a:rPr lang="sv-SE" sz="900" dirty="0"/>
              <a:t>, M. </a:t>
            </a:r>
            <a:r>
              <a:rPr lang="sv-SE" sz="900" dirty="0" err="1"/>
              <a:t>Narimani</a:t>
            </a:r>
            <a:r>
              <a:rPr lang="sv-SE" sz="900" dirty="0"/>
              <a:t> and A. </a:t>
            </a:r>
            <a:r>
              <a:rPr lang="sv-SE" sz="900" dirty="0" err="1"/>
              <a:t>Emadi</a:t>
            </a:r>
            <a:r>
              <a:rPr lang="sv-SE" sz="900" dirty="0"/>
              <a:t>, "A Review </a:t>
            </a:r>
            <a:r>
              <a:rPr lang="sv-SE" sz="900" dirty="0" err="1"/>
              <a:t>of</a:t>
            </a:r>
            <a:r>
              <a:rPr lang="sv-SE" sz="900" dirty="0"/>
              <a:t> </a:t>
            </a:r>
            <a:r>
              <a:rPr lang="sv-SE" sz="900" dirty="0" err="1"/>
              <a:t>Multilevel</a:t>
            </a:r>
            <a:r>
              <a:rPr lang="sv-SE" sz="900" dirty="0"/>
              <a:t> </a:t>
            </a:r>
            <a:r>
              <a:rPr lang="sv-SE" sz="900" dirty="0" err="1"/>
              <a:t>Inverter</a:t>
            </a:r>
            <a:r>
              <a:rPr lang="sv-SE" sz="900" dirty="0"/>
              <a:t> </a:t>
            </a:r>
            <a:r>
              <a:rPr lang="sv-SE" sz="900" dirty="0" err="1"/>
              <a:t>Topologies</a:t>
            </a:r>
            <a:r>
              <a:rPr lang="sv-SE" sz="900" dirty="0"/>
              <a:t> in Electric </a:t>
            </a:r>
            <a:r>
              <a:rPr lang="sv-SE" sz="900" dirty="0" err="1"/>
              <a:t>Vehicles</a:t>
            </a:r>
            <a:r>
              <a:rPr lang="sv-SE" sz="900" dirty="0"/>
              <a:t>: </a:t>
            </a:r>
            <a:r>
              <a:rPr lang="sv-SE" sz="900" dirty="0" err="1"/>
              <a:t>Current</a:t>
            </a:r>
            <a:r>
              <a:rPr lang="sv-SE" sz="900" dirty="0"/>
              <a:t> Status and </a:t>
            </a:r>
            <a:r>
              <a:rPr lang="sv-SE" sz="900" dirty="0" err="1"/>
              <a:t>Future</a:t>
            </a:r>
            <a:r>
              <a:rPr lang="sv-SE" sz="900" dirty="0"/>
              <a:t> Trends," in IEEE </a:t>
            </a:r>
            <a:r>
              <a:rPr lang="sv-SE" sz="900" dirty="0" err="1"/>
              <a:t>Open</a:t>
            </a:r>
            <a:r>
              <a:rPr lang="sv-SE" sz="900" dirty="0"/>
              <a:t> Journal </a:t>
            </a:r>
            <a:r>
              <a:rPr lang="sv-SE" sz="900" dirty="0" err="1"/>
              <a:t>of</a:t>
            </a:r>
            <a:r>
              <a:rPr lang="sv-SE" sz="900" dirty="0"/>
              <a:t> Power Electronics, vol. 2, </a:t>
            </a:r>
            <a:r>
              <a:rPr lang="sv-SE" sz="900" dirty="0" err="1"/>
              <a:t>pp</a:t>
            </a:r>
            <a:r>
              <a:rPr lang="sv-SE" sz="900" dirty="0"/>
              <a:t>. 155-170, 2021, </a:t>
            </a:r>
            <a:r>
              <a:rPr lang="sv-SE" sz="900" dirty="0" err="1"/>
              <a:t>doi</a:t>
            </a:r>
            <a:r>
              <a:rPr lang="sv-SE" sz="900" dirty="0"/>
              <a:t>: 10.1109/OJPEL.2021.3063550.</a:t>
            </a:r>
          </a:p>
        </p:txBody>
      </p:sp>
    </p:spTree>
    <p:extLst>
      <p:ext uri="{BB962C8B-B14F-4D97-AF65-F5344CB8AC3E}">
        <p14:creationId xmlns:p14="http://schemas.microsoft.com/office/powerpoint/2010/main" val="3599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19" y="123850"/>
            <a:ext cx="7763861" cy="647700"/>
          </a:xfrm>
        </p:spPr>
        <p:txBody>
          <a:bodyPr/>
          <a:lstStyle/>
          <a:p>
            <a:r>
              <a:rPr lang="sv-SE" b="0" dirty="0" err="1"/>
              <a:t>Stacked</a:t>
            </a:r>
            <a:r>
              <a:rPr lang="sv-SE" b="0" dirty="0"/>
              <a:t> </a:t>
            </a:r>
            <a:r>
              <a:rPr lang="sv-SE" b="0" dirty="0" err="1"/>
              <a:t>Polyphase</a:t>
            </a:r>
            <a:r>
              <a:rPr lang="sv-SE" b="0" dirty="0"/>
              <a:t> </a:t>
            </a:r>
            <a:r>
              <a:rPr lang="sv-SE" b="0" dirty="0" smtClean="0"/>
              <a:t>Bridge (SPB) </a:t>
            </a:r>
            <a:r>
              <a:rPr lang="sv-SE" b="0" dirty="0" err="1" smtClean="0"/>
              <a:t>Converter</a:t>
            </a:r>
            <a:r>
              <a:rPr lang="sv-SE" b="0" dirty="0" smtClean="0"/>
              <a:t> 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18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6815" y="771550"/>
            <a:ext cx="5756470" cy="357805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Trends in power semiconductor technology </a:t>
            </a:r>
            <a:r>
              <a:rPr lang="en-US" dirty="0" smtClean="0"/>
              <a:t>indicate </a:t>
            </a:r>
            <a:r>
              <a:rPr lang="en-US" dirty="0"/>
              <a:t>a tradeoff in the selection of devices </a:t>
            </a:r>
            <a:r>
              <a:rPr lang="en-US" dirty="0" smtClean="0"/>
              <a:t>in terms </a:t>
            </a:r>
            <a:r>
              <a:rPr lang="en-US" dirty="0"/>
              <a:t>of </a:t>
            </a:r>
            <a:r>
              <a:rPr lang="en-US" b="1" dirty="0"/>
              <a:t>voltage-blocking capability </a:t>
            </a:r>
            <a:r>
              <a:rPr lang="en-US" dirty="0"/>
              <a:t>and </a:t>
            </a:r>
            <a:r>
              <a:rPr lang="en-US" b="1" dirty="0" smtClean="0"/>
              <a:t>switching </a:t>
            </a:r>
            <a:r>
              <a:rPr lang="en-US" b="1" dirty="0"/>
              <a:t>frequency</a:t>
            </a:r>
            <a:r>
              <a:rPr lang="en-US" dirty="0"/>
              <a:t>. By lowering the voltage level </a:t>
            </a:r>
            <a:r>
              <a:rPr lang="en-US" dirty="0" smtClean="0"/>
              <a:t>of each submodule</a:t>
            </a:r>
            <a:r>
              <a:rPr lang="en-US" dirty="0"/>
              <a:t>, modular converters can </a:t>
            </a:r>
            <a:r>
              <a:rPr lang="en-US" dirty="0" smtClean="0"/>
              <a:t>utilize a </a:t>
            </a:r>
            <a:r>
              <a:rPr lang="en-US" dirty="0"/>
              <a:t>large variety of semiconductor </a:t>
            </a:r>
            <a:r>
              <a:rPr lang="en-US" dirty="0" smtClean="0"/>
              <a:t>devices.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SPB converter provides the possibility </a:t>
            </a:r>
            <a:r>
              <a:rPr lang="en-US" dirty="0" smtClean="0"/>
              <a:t>to use a relatively </a:t>
            </a:r>
            <a:r>
              <a:rPr lang="en-US" b="1" dirty="0"/>
              <a:t>high switching frequency </a:t>
            </a:r>
            <a:r>
              <a:rPr lang="en-US" dirty="0"/>
              <a:t>(¿</a:t>
            </a:r>
            <a:r>
              <a:rPr lang="en-US" dirty="0" smtClean="0"/>
              <a:t>100 kHz), avoiding un-optimized </a:t>
            </a:r>
            <a:r>
              <a:rPr lang="en-US" dirty="0"/>
              <a:t>component </a:t>
            </a:r>
            <a:r>
              <a:rPr lang="en-US" dirty="0" smtClean="0"/>
              <a:t>sizing, which </a:t>
            </a:r>
            <a:r>
              <a:rPr lang="en-US" dirty="0"/>
              <a:t>could restrain the compactness of a </a:t>
            </a:r>
            <a:r>
              <a:rPr lang="en-US" dirty="0" smtClean="0"/>
              <a:t>drive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Can drive </a:t>
            </a:r>
            <a:r>
              <a:rPr lang="en-US" sz="1600" b="1" dirty="0"/>
              <a:t>multi-phase </a:t>
            </a:r>
            <a:r>
              <a:rPr lang="en-US" sz="1600" dirty="0"/>
              <a:t>or multi-3-phase </a:t>
            </a:r>
            <a:r>
              <a:rPr lang="en-US" sz="1600" dirty="0" smtClean="0"/>
              <a:t>machines.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Reduces </a:t>
            </a:r>
            <a:r>
              <a:rPr lang="en-US" sz="1600" b="1" dirty="0"/>
              <a:t>capacitor size </a:t>
            </a:r>
            <a:r>
              <a:rPr lang="en-US" sz="1600" dirty="0"/>
              <a:t>in submodules, allowing for high switching </a:t>
            </a:r>
            <a:r>
              <a:rPr lang="en-US" sz="1600" dirty="0" smtClean="0"/>
              <a:t>frequencies and </a:t>
            </a:r>
            <a:r>
              <a:rPr lang="en-US" sz="1600" b="1" dirty="0" smtClean="0"/>
              <a:t>interleaving</a:t>
            </a:r>
            <a:r>
              <a:rPr lang="en-US" sz="1600" dirty="0" smtClean="0"/>
              <a:t>.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Possesses an inherent</a:t>
            </a:r>
            <a:r>
              <a:rPr lang="en-US" sz="1600" b="1" dirty="0"/>
              <a:t> fault-tolerant </a:t>
            </a:r>
            <a:r>
              <a:rPr lang="en-US" sz="1600" dirty="0"/>
              <a:t>capability.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Gives manufacturing flexibility of </a:t>
            </a:r>
            <a:r>
              <a:rPr lang="en-US" sz="1600" b="1" dirty="0" smtClean="0"/>
              <a:t>integration</a:t>
            </a:r>
            <a:r>
              <a:rPr lang="en-US" sz="1600" dirty="0" smtClean="0"/>
              <a:t> and </a:t>
            </a:r>
            <a:r>
              <a:rPr lang="en-US" sz="1600" b="1" dirty="0" smtClean="0"/>
              <a:t>scalability</a:t>
            </a:r>
            <a:r>
              <a:rPr lang="en-US" sz="1600" dirty="0"/>
              <a:t>.</a:t>
            </a: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Since the </a:t>
            </a:r>
            <a:r>
              <a:rPr lang="en-US" sz="1600" dirty="0" smtClean="0"/>
              <a:t>series-connected </a:t>
            </a:r>
            <a:r>
              <a:rPr lang="en-US" sz="1600" dirty="0"/>
              <a:t>submodules </a:t>
            </a:r>
            <a:r>
              <a:rPr lang="en-US" sz="1600" dirty="0" smtClean="0"/>
              <a:t>share </a:t>
            </a:r>
            <a:r>
              <a:rPr lang="en-US" sz="1600" dirty="0"/>
              <a:t>the dc voltage, </a:t>
            </a:r>
            <a:r>
              <a:rPr lang="en-US" sz="1600" dirty="0" smtClean="0"/>
              <a:t>the submodule </a:t>
            </a:r>
            <a:r>
              <a:rPr lang="en-US" sz="1600" b="1" dirty="0"/>
              <a:t>capacitor voltage balance </a:t>
            </a:r>
            <a:r>
              <a:rPr lang="en-US" sz="1600" dirty="0"/>
              <a:t>should be maintained under both normal and fault conditions. </a:t>
            </a:r>
          </a:p>
          <a:p>
            <a:pPr marL="0" indent="0" algn="just">
              <a:buNone/>
            </a:pPr>
            <a:endParaRPr lang="en-US" b="1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2"/>
          <a:srcRect l="20064" r="5668" b="10723"/>
          <a:stretch/>
        </p:blipFill>
        <p:spPr>
          <a:xfrm>
            <a:off x="56073" y="1059582"/>
            <a:ext cx="2952328" cy="142891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3519" y="4246419"/>
            <a:ext cx="879622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[1] L</a:t>
            </a:r>
            <a:r>
              <a:rPr lang="sv-SE" sz="800" dirty="0"/>
              <a:t>. </a:t>
            </a:r>
            <a:r>
              <a:rPr lang="sv-SE" sz="800" dirty="0" err="1"/>
              <a:t>Jin</a:t>
            </a:r>
            <a:r>
              <a:rPr lang="sv-SE" sz="800" dirty="0"/>
              <a:t>, S. Norrga, O. Wallmark and N. </a:t>
            </a:r>
            <a:r>
              <a:rPr lang="sv-SE" sz="800" dirty="0" err="1"/>
              <a:t>Apostolopoulos</a:t>
            </a:r>
            <a:r>
              <a:rPr lang="sv-SE" sz="800" dirty="0"/>
              <a:t>, "Modulation and Power </a:t>
            </a:r>
            <a:r>
              <a:rPr lang="sv-SE" sz="800" dirty="0" err="1"/>
              <a:t>Losses</a:t>
            </a:r>
            <a:r>
              <a:rPr lang="sv-SE" sz="800" dirty="0"/>
              <a:t> </a:t>
            </a:r>
            <a:r>
              <a:rPr lang="sv-SE" sz="800" dirty="0" err="1"/>
              <a:t>of</a:t>
            </a:r>
            <a:r>
              <a:rPr lang="sv-SE" sz="800" dirty="0"/>
              <a:t> a </a:t>
            </a:r>
            <a:r>
              <a:rPr lang="sv-SE" sz="800" dirty="0" err="1"/>
              <a:t>Stacked</a:t>
            </a:r>
            <a:r>
              <a:rPr lang="sv-SE" sz="800" dirty="0"/>
              <a:t> </a:t>
            </a:r>
            <a:r>
              <a:rPr lang="sv-SE" sz="800" dirty="0" err="1"/>
              <a:t>Polyphase</a:t>
            </a:r>
            <a:r>
              <a:rPr lang="sv-SE" sz="800" dirty="0"/>
              <a:t> Bridge </a:t>
            </a:r>
            <a:r>
              <a:rPr lang="sv-SE" sz="800" dirty="0" err="1"/>
              <a:t>Converter</a:t>
            </a:r>
            <a:r>
              <a:rPr lang="sv-SE" sz="800" dirty="0"/>
              <a:t>," in IEEE Journal </a:t>
            </a:r>
            <a:r>
              <a:rPr lang="sv-SE" sz="800" dirty="0" err="1"/>
              <a:t>of</a:t>
            </a:r>
            <a:r>
              <a:rPr lang="sv-SE" sz="800" dirty="0"/>
              <a:t> </a:t>
            </a:r>
            <a:r>
              <a:rPr lang="sv-SE" sz="800" dirty="0" err="1"/>
              <a:t>Emerging</a:t>
            </a:r>
            <a:r>
              <a:rPr lang="sv-SE" sz="800" dirty="0"/>
              <a:t> and </a:t>
            </a:r>
            <a:r>
              <a:rPr lang="sv-SE" sz="800" dirty="0" err="1"/>
              <a:t>Selected</a:t>
            </a:r>
            <a:r>
              <a:rPr lang="sv-SE" sz="800" dirty="0"/>
              <a:t> </a:t>
            </a:r>
            <a:r>
              <a:rPr lang="sv-SE" sz="800" dirty="0" err="1"/>
              <a:t>Topics</a:t>
            </a:r>
            <a:r>
              <a:rPr lang="sv-SE" sz="800" dirty="0"/>
              <a:t> in Power Electronics, vol. 5, no. 1, </a:t>
            </a:r>
            <a:r>
              <a:rPr lang="sv-SE" sz="800" dirty="0" err="1"/>
              <a:t>pp</a:t>
            </a:r>
            <a:r>
              <a:rPr lang="sv-SE" sz="800" dirty="0"/>
              <a:t>. 409-418, </a:t>
            </a:r>
            <a:r>
              <a:rPr lang="sv-SE" sz="800" dirty="0" err="1"/>
              <a:t>March</a:t>
            </a:r>
            <a:r>
              <a:rPr lang="sv-SE" sz="800" dirty="0"/>
              <a:t> 2017, </a:t>
            </a:r>
            <a:r>
              <a:rPr lang="sv-SE" sz="800" dirty="0" err="1"/>
              <a:t>doi</a:t>
            </a:r>
            <a:r>
              <a:rPr lang="sv-SE" sz="800" dirty="0"/>
              <a:t>: 10.1109/JESTPE.2016.2621349</a:t>
            </a:r>
            <a:r>
              <a:rPr lang="sv-SE" sz="1050" dirty="0" smtClean="0"/>
              <a:t>.</a:t>
            </a:r>
          </a:p>
          <a:p>
            <a:endParaRPr lang="sv-SE" sz="105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" y="2514542"/>
            <a:ext cx="2885541" cy="152375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3519" y="4546501"/>
            <a:ext cx="85907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800" dirty="0" smtClean="0"/>
              <a:t>[2] L</a:t>
            </a:r>
            <a:r>
              <a:rPr lang="sv-SE" sz="800" dirty="0"/>
              <a:t>. </a:t>
            </a:r>
            <a:r>
              <a:rPr lang="sv-SE" sz="800" dirty="0" err="1"/>
              <a:t>Verkroost</a:t>
            </a:r>
            <a:r>
              <a:rPr lang="sv-SE" sz="800" dirty="0"/>
              <a:t>, J. Van Damme, D. V. </a:t>
            </a:r>
            <a:r>
              <a:rPr lang="sv-SE" sz="800" dirty="0" err="1"/>
              <a:t>Bozalakov</a:t>
            </a:r>
            <a:r>
              <a:rPr lang="sv-SE" sz="800" dirty="0"/>
              <a:t>, F. De </a:t>
            </a:r>
            <a:r>
              <a:rPr lang="sv-SE" sz="800" dirty="0" err="1"/>
              <a:t>Belie</a:t>
            </a:r>
            <a:r>
              <a:rPr lang="sv-SE" sz="800" dirty="0"/>
              <a:t>, P. Sergeant and H. </a:t>
            </a:r>
            <a:r>
              <a:rPr lang="sv-SE" sz="800" dirty="0" err="1"/>
              <a:t>Vansompel</a:t>
            </a:r>
            <a:r>
              <a:rPr lang="sv-SE" sz="800" dirty="0"/>
              <a:t>, "</a:t>
            </a:r>
            <a:r>
              <a:rPr lang="sv-SE" sz="800" dirty="0" err="1"/>
              <a:t>Simultaneous</a:t>
            </a:r>
            <a:r>
              <a:rPr lang="sv-SE" sz="800" dirty="0"/>
              <a:t> DC-Link and Stator </a:t>
            </a:r>
            <a:r>
              <a:rPr lang="sv-SE" sz="800" dirty="0" err="1"/>
              <a:t>Current</a:t>
            </a:r>
            <a:r>
              <a:rPr lang="sv-SE" sz="800" dirty="0"/>
              <a:t> </a:t>
            </a:r>
            <a:r>
              <a:rPr lang="sv-SE" sz="800" dirty="0" err="1"/>
              <a:t>Ripple</a:t>
            </a:r>
            <a:r>
              <a:rPr lang="sv-SE" sz="800" dirty="0"/>
              <a:t> </a:t>
            </a:r>
            <a:r>
              <a:rPr lang="sv-SE" sz="800" dirty="0" err="1"/>
              <a:t>Reduction</a:t>
            </a:r>
            <a:r>
              <a:rPr lang="sv-SE" sz="800" dirty="0"/>
              <a:t> </a:t>
            </a:r>
            <a:r>
              <a:rPr lang="sv-SE" sz="800" dirty="0" err="1"/>
              <a:t>With</a:t>
            </a:r>
            <a:r>
              <a:rPr lang="sv-SE" sz="800" dirty="0"/>
              <a:t> </a:t>
            </a:r>
            <a:r>
              <a:rPr lang="sv-SE" sz="800" dirty="0" err="1"/>
              <a:t>Interleaved</a:t>
            </a:r>
            <a:r>
              <a:rPr lang="sv-SE" sz="800" dirty="0"/>
              <a:t> Carriers in </a:t>
            </a:r>
            <a:r>
              <a:rPr lang="sv-SE" sz="800" dirty="0" err="1"/>
              <a:t>Multiphase</a:t>
            </a:r>
            <a:r>
              <a:rPr lang="sv-SE" sz="800" dirty="0"/>
              <a:t> </a:t>
            </a:r>
            <a:r>
              <a:rPr lang="sv-SE" sz="800" dirty="0" err="1"/>
              <a:t>Controlled</a:t>
            </a:r>
            <a:r>
              <a:rPr lang="sv-SE" sz="800" dirty="0"/>
              <a:t> </a:t>
            </a:r>
            <a:r>
              <a:rPr lang="sv-SE" sz="800" dirty="0" err="1"/>
              <a:t>Integrated</a:t>
            </a:r>
            <a:r>
              <a:rPr lang="sv-SE" sz="800" dirty="0"/>
              <a:t> </a:t>
            </a:r>
            <a:r>
              <a:rPr lang="sv-SE" sz="800" dirty="0" err="1"/>
              <a:t>Modular</a:t>
            </a:r>
            <a:r>
              <a:rPr lang="sv-SE" sz="800" dirty="0"/>
              <a:t> Motor Drives," in IEEE </a:t>
            </a:r>
            <a:r>
              <a:rPr lang="sv-SE" sz="800" dirty="0" err="1"/>
              <a:t>Transactions</a:t>
            </a:r>
            <a:r>
              <a:rPr lang="sv-SE" sz="800" dirty="0"/>
              <a:t> on Industrial Electronics, vol. 68, no. 7, </a:t>
            </a:r>
            <a:r>
              <a:rPr lang="sv-SE" sz="800" dirty="0" err="1"/>
              <a:t>pp</a:t>
            </a:r>
            <a:r>
              <a:rPr lang="sv-SE" sz="800" dirty="0"/>
              <a:t>. 5616-5625, </a:t>
            </a:r>
            <a:r>
              <a:rPr lang="sv-SE" sz="800" dirty="0" err="1"/>
              <a:t>July</a:t>
            </a:r>
            <a:r>
              <a:rPr lang="sv-SE" sz="800" dirty="0"/>
              <a:t> 2021, </a:t>
            </a:r>
            <a:r>
              <a:rPr lang="sv-SE" sz="800" dirty="0" err="1"/>
              <a:t>doi</a:t>
            </a:r>
            <a:r>
              <a:rPr lang="sv-SE" sz="800" dirty="0"/>
              <a:t>: 10.1109/TIE.2020.2992965.</a:t>
            </a:r>
          </a:p>
        </p:txBody>
      </p:sp>
    </p:spTree>
    <p:extLst>
      <p:ext uri="{BB962C8B-B14F-4D97-AF65-F5344CB8AC3E}">
        <p14:creationId xmlns:p14="http://schemas.microsoft.com/office/powerpoint/2010/main" val="221219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564" y="164808"/>
            <a:ext cx="7763861" cy="647700"/>
          </a:xfrm>
        </p:spPr>
        <p:txBody>
          <a:bodyPr/>
          <a:lstStyle/>
          <a:p>
            <a:r>
              <a:rPr lang="sv-SE" b="0" dirty="0" err="1" smtClean="0"/>
              <a:t>Integrated</a:t>
            </a:r>
            <a:r>
              <a:rPr lang="sv-SE" b="0" dirty="0" smtClean="0"/>
              <a:t> </a:t>
            </a:r>
            <a:r>
              <a:rPr lang="sv-SE" b="0" dirty="0" err="1" smtClean="0"/>
              <a:t>modular</a:t>
            </a:r>
            <a:r>
              <a:rPr lang="sv-SE" b="0" dirty="0" smtClean="0"/>
              <a:t> motor drives (IMMD)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19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51920" y="900050"/>
            <a:ext cx="4892374" cy="397296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All the components of the motor drive </a:t>
            </a:r>
            <a:r>
              <a:rPr lang="en-US" dirty="0" smtClean="0"/>
              <a:t>system can </a:t>
            </a:r>
            <a:r>
              <a:rPr lang="en-US" dirty="0"/>
              <a:t>be </a:t>
            </a:r>
            <a:r>
              <a:rPr lang="en-US" b="1" dirty="0"/>
              <a:t>integrated</a:t>
            </a:r>
            <a:r>
              <a:rPr lang="en-US" dirty="0"/>
              <a:t> onto the motor </a:t>
            </a:r>
            <a:r>
              <a:rPr lang="en-US" dirty="0" smtClean="0"/>
              <a:t>including </a:t>
            </a:r>
            <a:r>
              <a:rPr lang="en-US" b="1" dirty="0" smtClean="0"/>
              <a:t>power electronics</a:t>
            </a:r>
            <a:r>
              <a:rPr lang="en-US" b="1" dirty="0"/>
              <a:t>, control electronics, </a:t>
            </a:r>
            <a:r>
              <a:rPr lang="en-US" b="1" dirty="0" smtClean="0"/>
              <a:t>passive components </a:t>
            </a:r>
            <a:r>
              <a:rPr lang="en-US" b="1" dirty="0"/>
              <a:t>and heat sink.</a:t>
            </a:r>
            <a:r>
              <a:rPr lang="en-US" dirty="0"/>
              <a:t> </a:t>
            </a:r>
            <a:r>
              <a:rPr lang="en-US" dirty="0" smtClean="0"/>
              <a:t>By </a:t>
            </a:r>
            <a:r>
              <a:rPr lang="en-US" dirty="0"/>
              <a:t>doing so, </a:t>
            </a:r>
            <a:r>
              <a:rPr lang="en-US" dirty="0" smtClean="0"/>
              <a:t>the </a:t>
            </a:r>
            <a:r>
              <a:rPr lang="en-US" b="1" dirty="0" smtClean="0"/>
              <a:t>power </a:t>
            </a:r>
            <a:r>
              <a:rPr lang="en-US" b="1" dirty="0"/>
              <a:t>density </a:t>
            </a:r>
            <a:r>
              <a:rPr lang="en-US" dirty="0"/>
              <a:t>of the system can be </a:t>
            </a:r>
            <a:r>
              <a:rPr lang="en-US" dirty="0" smtClean="0"/>
              <a:t>enhanced significantly </a:t>
            </a:r>
            <a:r>
              <a:rPr lang="en-US" dirty="0"/>
              <a:t>which is very critical in </a:t>
            </a:r>
            <a:r>
              <a:rPr lang="en-US" dirty="0" smtClean="0"/>
              <a:t>aerospace and </a:t>
            </a:r>
            <a:r>
              <a:rPr lang="en-US" dirty="0"/>
              <a:t>electric traction </a:t>
            </a:r>
            <a:r>
              <a:rPr lang="en-US" dirty="0" smtClean="0"/>
              <a:t>applications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With </a:t>
            </a:r>
            <a:r>
              <a:rPr lang="en-US" dirty="0"/>
              <a:t>modularization, the overall system is </a:t>
            </a:r>
            <a:r>
              <a:rPr lang="en-US" dirty="0" smtClean="0"/>
              <a:t>segmented </a:t>
            </a:r>
            <a:r>
              <a:rPr lang="en-US" dirty="0"/>
              <a:t>with modules sharing the total </a:t>
            </a:r>
            <a:r>
              <a:rPr lang="en-US" dirty="0" smtClean="0"/>
              <a:t>power equally</a:t>
            </a:r>
            <a:r>
              <a:rPr lang="en-US" dirty="0"/>
              <a:t>. By this way, the fault tolerance of </a:t>
            </a:r>
            <a:r>
              <a:rPr lang="en-US" dirty="0" smtClean="0"/>
              <a:t>the system </a:t>
            </a:r>
            <a:r>
              <a:rPr lang="en-US" dirty="0"/>
              <a:t>is </a:t>
            </a:r>
            <a:r>
              <a:rPr lang="en-US" dirty="0" smtClean="0"/>
              <a:t>increased.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current and voltage stress on the </a:t>
            </a:r>
            <a:r>
              <a:rPr lang="en-US" dirty="0" smtClean="0"/>
              <a:t>power semiconductor </a:t>
            </a:r>
            <a:r>
              <a:rPr lang="en-US" dirty="0"/>
              <a:t>devices can also be decreased </a:t>
            </a:r>
            <a:r>
              <a:rPr lang="en-US" dirty="0" smtClean="0"/>
              <a:t>by modularization.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manufacturing, installation and </a:t>
            </a:r>
            <a:r>
              <a:rPr lang="en-US" dirty="0" smtClean="0"/>
              <a:t>maintenance </a:t>
            </a:r>
            <a:r>
              <a:rPr lang="en-US" dirty="0"/>
              <a:t>costs decrease thanks to the </a:t>
            </a:r>
            <a:r>
              <a:rPr lang="en-US" dirty="0" smtClean="0"/>
              <a:t>modular structure. </a:t>
            </a:r>
          </a:p>
          <a:p>
            <a:pPr marL="342900" indent="-342900" algn="just"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" y="1109970"/>
            <a:ext cx="3563140" cy="179223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9988" y="3199670"/>
            <a:ext cx="36194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</a:rPr>
              <a:t>[1] In </a:t>
            </a:r>
            <a:r>
              <a:rPr lang="en-US" dirty="0">
                <a:latin typeface="Arial" panose="020B0604020202020204" pitchFamily="34" charset="0"/>
              </a:rPr>
              <a:t>the case of </a:t>
            </a:r>
            <a:r>
              <a:rPr lang="en-US" dirty="0" smtClean="0">
                <a:latin typeface="Arial" panose="020B0604020202020204" pitchFamily="34" charset="0"/>
              </a:rPr>
              <a:t>the</a:t>
            </a:r>
            <a:r>
              <a:rPr lang="en-US" dirty="0" smtClean="0"/>
              <a:t> </a:t>
            </a:r>
            <a:r>
              <a:rPr lang="en-US" b="1" dirty="0" smtClean="0">
                <a:latin typeface="Arial" panose="020B0604020202020204" pitchFamily="34" charset="0"/>
              </a:rPr>
              <a:t>Toyota </a:t>
            </a:r>
            <a:r>
              <a:rPr lang="en-US" b="1" dirty="0">
                <a:latin typeface="Arial" panose="020B0604020202020204" pitchFamily="34" charset="0"/>
              </a:rPr>
              <a:t>Prius</a:t>
            </a:r>
            <a:r>
              <a:rPr lang="en-US" dirty="0">
                <a:latin typeface="Arial" panose="020B0604020202020204" pitchFamily="34" charset="0"/>
              </a:rPr>
              <a:t>, inverter peak power density </a:t>
            </a:r>
            <a:r>
              <a:rPr lang="en-US" dirty="0" smtClean="0">
                <a:latin typeface="Arial" panose="020B0604020202020204" pitchFamily="34" charset="0"/>
              </a:rPr>
              <a:t>increased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roughly </a:t>
            </a:r>
            <a:r>
              <a:rPr lang="en-US" dirty="0">
                <a:latin typeface="Arial" panose="020B0604020202020204" pitchFamily="34" charset="0"/>
              </a:rPr>
              <a:t>from </a:t>
            </a:r>
            <a:r>
              <a:rPr lang="en-US" dirty="0" smtClean="0">
                <a:latin typeface="Arial" panose="020B0604020202020204" pitchFamily="34" charset="0"/>
              </a:rPr>
              <a:t>4.5 kW/L </a:t>
            </a:r>
            <a:r>
              <a:rPr lang="en-US" dirty="0">
                <a:latin typeface="Arial" panose="020B0604020202020204" pitchFamily="34" charset="0"/>
              </a:rPr>
              <a:t>to 11.5 kW/L as </a:t>
            </a:r>
            <a:r>
              <a:rPr lang="en-US" dirty="0" smtClean="0">
                <a:latin typeface="Arial" panose="020B0604020202020204" pitchFamily="34" charset="0"/>
              </a:rPr>
              <a:t>this technology</a:t>
            </a:r>
            <a:r>
              <a:rPr lang="en-US" dirty="0" smtClean="0"/>
              <a:t> </a:t>
            </a:r>
            <a:r>
              <a:rPr lang="en-US" dirty="0" smtClean="0">
                <a:latin typeface="Arial" panose="020B0604020202020204" pitchFamily="34" charset="0"/>
              </a:rPr>
              <a:t>evolved </a:t>
            </a:r>
            <a:r>
              <a:rPr lang="en-US" dirty="0">
                <a:latin typeface="Arial" panose="020B0604020202020204" pitchFamily="34" charset="0"/>
              </a:rPr>
              <a:t>from 2004 to 2017. </a:t>
            </a:r>
            <a:endParaRPr lang="sv-SE" dirty="0"/>
          </a:p>
        </p:txBody>
      </p:sp>
      <p:sp>
        <p:nvSpPr>
          <p:cNvPr id="3" name="Rectangle 2"/>
          <p:cNvSpPr/>
          <p:nvPr/>
        </p:nvSpPr>
        <p:spPr>
          <a:xfrm>
            <a:off x="107505" y="4464760"/>
            <a:ext cx="885698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smtClean="0">
                <a:latin typeface="Arial" panose="020B0604020202020204" pitchFamily="34" charset="0"/>
              </a:rPr>
              <a:t>[1] B</a:t>
            </a:r>
            <a:r>
              <a:rPr lang="en-US" sz="1050" dirty="0">
                <a:latin typeface="Arial" panose="020B0604020202020204" pitchFamily="34" charset="0"/>
              </a:rPr>
              <a:t>. </a:t>
            </a:r>
            <a:r>
              <a:rPr lang="en-US" sz="1050" dirty="0" err="1" smtClean="0">
                <a:latin typeface="Arial" panose="020B0604020202020204" pitchFamily="34" charset="0"/>
              </a:rPr>
              <a:t>Sarlioglu</a:t>
            </a:r>
            <a:r>
              <a:rPr lang="en-US" sz="1050" dirty="0">
                <a:latin typeface="Arial" panose="020B0604020202020204" pitchFamily="34" charset="0"/>
              </a:rPr>
              <a:t>, “Automotive power electronics: Current status and </a:t>
            </a:r>
            <a:r>
              <a:rPr lang="en-US" sz="1050" dirty="0" smtClean="0">
                <a:latin typeface="Arial" panose="020B0604020202020204" pitchFamily="34" charset="0"/>
              </a:rPr>
              <a:t>future</a:t>
            </a:r>
            <a:r>
              <a:rPr lang="en-US" sz="1050" dirty="0" smtClean="0"/>
              <a:t> </a:t>
            </a:r>
            <a:r>
              <a:rPr lang="en-US" sz="1050" dirty="0" smtClean="0">
                <a:latin typeface="Arial" panose="020B0604020202020204" pitchFamily="34" charset="0"/>
              </a:rPr>
              <a:t>trends</a:t>
            </a:r>
            <a:r>
              <a:rPr lang="en-US" sz="1050" dirty="0">
                <a:latin typeface="Arial" panose="020B0604020202020204" pitchFamily="34" charset="0"/>
              </a:rPr>
              <a:t>,” in 2019 International Aegean Conference on Electrical </a:t>
            </a:r>
            <a:r>
              <a:rPr lang="en-US" sz="1050" dirty="0" smtClean="0">
                <a:latin typeface="Arial" panose="020B0604020202020204" pitchFamily="34" charset="0"/>
              </a:rPr>
              <a:t>Machines </a:t>
            </a:r>
            <a:r>
              <a:rPr lang="en-US" sz="1050" dirty="0">
                <a:latin typeface="Arial" panose="020B0604020202020204" pitchFamily="34" charset="0"/>
              </a:rPr>
              <a:t>and Power Electronics (ACEMP) 2019 International </a:t>
            </a:r>
            <a:r>
              <a:rPr lang="en-US" sz="1050" dirty="0" smtClean="0">
                <a:latin typeface="Arial" panose="020B0604020202020204" pitchFamily="34" charset="0"/>
              </a:rPr>
              <a:t>Conference</a:t>
            </a:r>
            <a:r>
              <a:rPr lang="en-US" sz="1050" dirty="0" smtClean="0"/>
              <a:t> </a:t>
            </a:r>
            <a:r>
              <a:rPr lang="en-US" sz="1050" dirty="0" smtClean="0">
                <a:latin typeface="Arial" panose="020B0604020202020204" pitchFamily="34" charset="0"/>
              </a:rPr>
              <a:t>on </a:t>
            </a:r>
            <a:r>
              <a:rPr lang="en-US" sz="1050" dirty="0">
                <a:latin typeface="Arial" panose="020B0604020202020204" pitchFamily="34" charset="0"/>
              </a:rPr>
              <a:t>Optimization of Electrical and Electronic Equipment (OPTIM), </a:t>
            </a:r>
            <a:r>
              <a:rPr lang="en-US" sz="1050" dirty="0" smtClean="0">
                <a:latin typeface="Arial" panose="020B0604020202020204" pitchFamily="34" charset="0"/>
              </a:rPr>
              <a:t>2019,</a:t>
            </a:r>
            <a:r>
              <a:rPr lang="en-US" sz="1050" dirty="0" smtClean="0"/>
              <a:t> </a:t>
            </a:r>
            <a:r>
              <a:rPr lang="en-US" sz="1050" dirty="0" smtClean="0">
                <a:latin typeface="Arial" panose="020B0604020202020204" pitchFamily="34" charset="0"/>
              </a:rPr>
              <a:t>pp</a:t>
            </a:r>
            <a:r>
              <a:rPr lang="en-US" sz="1050" dirty="0">
                <a:latin typeface="Arial" panose="020B0604020202020204" pitchFamily="34" charset="0"/>
              </a:rPr>
              <a:t>. 1–2</a:t>
            </a:r>
            <a:endParaRPr lang="sv-SE" sz="1050" dirty="0"/>
          </a:p>
        </p:txBody>
      </p:sp>
    </p:spTree>
    <p:extLst>
      <p:ext uri="{BB962C8B-B14F-4D97-AF65-F5344CB8AC3E}">
        <p14:creationId xmlns:p14="http://schemas.microsoft.com/office/powerpoint/2010/main" val="24801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smtClean="0"/>
              <a:t>IMMD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20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2214" y="398983"/>
            <a:ext cx="5436096" cy="39729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 </a:t>
            </a:r>
            <a:r>
              <a:rPr lang="en-US" b="1" dirty="0" smtClean="0"/>
              <a:t>cost </a:t>
            </a:r>
            <a:r>
              <a:rPr lang="en-US" b="1" dirty="0"/>
              <a:t>reduction </a:t>
            </a:r>
            <a:r>
              <a:rPr lang="en-US" dirty="0"/>
              <a:t>up to 20% is possible </a:t>
            </a:r>
            <a:r>
              <a:rPr lang="en-US" dirty="0" smtClean="0"/>
              <a:t>thanks to the elimination </a:t>
            </a:r>
            <a:r>
              <a:rPr lang="en-US" dirty="0"/>
              <a:t>of enclosures and </a:t>
            </a:r>
            <a:r>
              <a:rPr lang="en-US" dirty="0" smtClean="0"/>
              <a:t>connection equipment.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components which produce heat due </a:t>
            </a:r>
            <a:r>
              <a:rPr lang="en-US" dirty="0" smtClean="0"/>
              <a:t>to power </a:t>
            </a:r>
            <a:r>
              <a:rPr lang="en-US" dirty="0"/>
              <a:t>loss are distributed in a wider </a:t>
            </a:r>
            <a:r>
              <a:rPr lang="en-US" dirty="0" smtClean="0"/>
              <a:t>surface area </a:t>
            </a:r>
            <a:r>
              <a:rPr lang="en-US" dirty="0"/>
              <a:t>which makes the </a:t>
            </a:r>
            <a:r>
              <a:rPr lang="en-US" b="1" dirty="0"/>
              <a:t>thermal design</a:t>
            </a:r>
            <a:r>
              <a:rPr lang="en-US" dirty="0"/>
              <a:t> </a:t>
            </a:r>
            <a:r>
              <a:rPr lang="en-US" dirty="0" smtClean="0"/>
              <a:t>more </a:t>
            </a:r>
            <a:r>
              <a:rPr lang="en-US" b="1" dirty="0" smtClean="0"/>
              <a:t>convenient</a:t>
            </a:r>
            <a:r>
              <a:rPr lang="en-US" dirty="0" smtClean="0"/>
              <a:t> </a:t>
            </a:r>
            <a:r>
              <a:rPr lang="en-US" dirty="0"/>
              <a:t>as well as decreases the chance </a:t>
            </a:r>
            <a:r>
              <a:rPr lang="en-US" dirty="0" smtClean="0"/>
              <a:t>of hot spots.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absence of connection cables yields </a:t>
            </a:r>
            <a:r>
              <a:rPr lang="en-US" dirty="0" smtClean="0"/>
              <a:t>less </a:t>
            </a:r>
            <a:r>
              <a:rPr lang="en-US" b="1" dirty="0" smtClean="0"/>
              <a:t>leakage </a:t>
            </a:r>
            <a:r>
              <a:rPr lang="en-US" b="1" dirty="0"/>
              <a:t>current</a:t>
            </a:r>
            <a:r>
              <a:rPr lang="en-US" dirty="0"/>
              <a:t> on the winding insulation </a:t>
            </a:r>
            <a:r>
              <a:rPr lang="en-US" dirty="0" smtClean="0"/>
              <a:t>which will </a:t>
            </a:r>
            <a:r>
              <a:rPr lang="en-US" dirty="0"/>
              <a:t>extend the lifespan of the motor as well </a:t>
            </a:r>
            <a:r>
              <a:rPr lang="en-US" dirty="0" smtClean="0"/>
              <a:t>as minimize </a:t>
            </a:r>
            <a:r>
              <a:rPr lang="en-US" dirty="0"/>
              <a:t>electromagnetic interference (</a:t>
            </a:r>
            <a:r>
              <a:rPr lang="en-US" b="1" dirty="0" smtClean="0"/>
              <a:t>EMI</a:t>
            </a:r>
            <a:r>
              <a:rPr lang="en-US" dirty="0" smtClean="0"/>
              <a:t>) problems.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b="1" dirty="0"/>
              <a:t>challenging</a:t>
            </a:r>
            <a:r>
              <a:rPr lang="en-US" dirty="0"/>
              <a:t> that </a:t>
            </a:r>
            <a:r>
              <a:rPr lang="en-US" b="1" dirty="0"/>
              <a:t>fitting</a:t>
            </a:r>
            <a:r>
              <a:rPr lang="en-US" dirty="0"/>
              <a:t> all the drive </a:t>
            </a:r>
            <a:r>
              <a:rPr lang="en-US" dirty="0" smtClean="0"/>
              <a:t>components </a:t>
            </a:r>
            <a:r>
              <a:rPr lang="en-US" dirty="0"/>
              <a:t>to the available space requires </a:t>
            </a:r>
            <a:r>
              <a:rPr lang="en-US" b="1" dirty="0" smtClean="0"/>
              <a:t>size optimization </a:t>
            </a:r>
            <a:r>
              <a:rPr lang="en-US" dirty="0"/>
              <a:t>and careful </a:t>
            </a:r>
            <a:r>
              <a:rPr lang="en-US" b="1" dirty="0"/>
              <a:t>layout </a:t>
            </a:r>
            <a:r>
              <a:rPr lang="en-US" b="1" dirty="0" smtClean="0"/>
              <a:t>design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b="1" dirty="0"/>
              <a:t>difficult</a:t>
            </a:r>
            <a:r>
              <a:rPr lang="en-US" dirty="0"/>
              <a:t> to </a:t>
            </a:r>
            <a:r>
              <a:rPr lang="en-US" b="1" dirty="0"/>
              <a:t>cool</a:t>
            </a:r>
            <a:r>
              <a:rPr lang="en-US" dirty="0"/>
              <a:t> the </a:t>
            </a:r>
            <a:r>
              <a:rPr lang="en-US" b="1" dirty="0"/>
              <a:t>motor</a:t>
            </a:r>
            <a:r>
              <a:rPr lang="en-US" dirty="0"/>
              <a:t> and </a:t>
            </a:r>
            <a:r>
              <a:rPr lang="en-US" b="1" dirty="0" smtClean="0"/>
              <a:t>drive</a:t>
            </a:r>
            <a:r>
              <a:rPr lang="en-US" dirty="0" smtClean="0"/>
              <a:t> </a:t>
            </a:r>
            <a:r>
              <a:rPr lang="en-US" b="1" dirty="0" smtClean="0"/>
              <a:t>simultaneously</a:t>
            </a:r>
            <a:r>
              <a:rPr lang="en-US" dirty="0" smtClean="0"/>
              <a:t> </a:t>
            </a:r>
            <a:r>
              <a:rPr lang="en-US" dirty="0"/>
              <a:t>since they both produce </a:t>
            </a:r>
            <a:r>
              <a:rPr lang="en-US" dirty="0" smtClean="0"/>
              <a:t>heat.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All </a:t>
            </a:r>
            <a:r>
              <a:rPr lang="en-US" dirty="0"/>
              <a:t>the electronic components are subjected </a:t>
            </a:r>
            <a:r>
              <a:rPr lang="en-US" dirty="0" smtClean="0"/>
              <a:t>to a </a:t>
            </a:r>
            <a:r>
              <a:rPr lang="en-US" b="1" dirty="0"/>
              <a:t>higher ambient temperature</a:t>
            </a:r>
            <a:r>
              <a:rPr lang="en-US" dirty="0"/>
              <a:t> and </a:t>
            </a:r>
            <a:r>
              <a:rPr lang="en-US" b="1" dirty="0" smtClean="0"/>
              <a:t>continuous vibration.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9500" t="14735"/>
          <a:stretch/>
        </p:blipFill>
        <p:spPr>
          <a:xfrm>
            <a:off x="395536" y="1027952"/>
            <a:ext cx="2376264" cy="15920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6222" y="4251881"/>
            <a:ext cx="8640960" cy="37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Hang </a:t>
            </a:r>
            <a:r>
              <a:rPr lang="it-IT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Dai, Thomas M. Jahns, Renato A. Torres, Mingda Liu, Bulent Sarlioglu, Steven Chang </a:t>
            </a:r>
            <a:r>
              <a:rPr lang="it-IT" sz="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tr-TR" sz="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201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tr-TR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900" i="1" dirty="0"/>
              <a:t>Development of High-Frequency WBG Power Modules with Reverse-Voltage-Blocking Capability for an Integrated Motor Drive using a Current-Source </a:t>
            </a:r>
            <a:r>
              <a:rPr lang="en-US" sz="900" i="1" dirty="0" smtClean="0"/>
              <a:t>Inverter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780307"/>
            <a:ext cx="2376264" cy="13978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6222" y="4554896"/>
            <a:ext cx="8458226" cy="37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 Zihan Gao, Dong Jiang, Wubin Kong, Cai Chen, Haiyang Fang, Cong Wang, Dawei Li, Yi Zhang, Ronghai Qu </a:t>
            </a:r>
            <a:r>
              <a:rPr lang="tr-TR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201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tr-TR" sz="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900" i="1" dirty="0"/>
              <a:t>A </a:t>
            </a:r>
            <a:r>
              <a:rPr lang="en-US" sz="900" i="1" dirty="0" err="1"/>
              <a:t>GaN</a:t>
            </a:r>
            <a:r>
              <a:rPr lang="en-US" sz="900" i="1" dirty="0"/>
              <a:t>-Based Integrated Modular Motor Drive for Open-Winding Permanent Magnet Synchronous Motor Application</a:t>
            </a:r>
          </a:p>
        </p:txBody>
      </p:sp>
    </p:spTree>
    <p:extLst>
      <p:ext uri="{BB962C8B-B14F-4D97-AF65-F5344CB8AC3E}">
        <p14:creationId xmlns:p14="http://schemas.microsoft.com/office/powerpoint/2010/main" val="65765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sv-SE" b="0" dirty="0" smtClean="0"/>
              <a:t>Multi </a:t>
            </a:r>
            <a:r>
              <a:rPr lang="sv-SE" b="0" dirty="0" err="1" smtClean="0"/>
              <a:t>Phase</a:t>
            </a:r>
            <a:r>
              <a:rPr lang="sv-SE" b="0" dirty="0" smtClean="0"/>
              <a:t> 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2025-05-13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21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7864" y="699542"/>
            <a:ext cx="5688632" cy="397296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dirty="0"/>
              <a:t>M</a:t>
            </a:r>
            <a:r>
              <a:rPr lang="en-US" sz="1200" dirty="0" smtClean="0"/>
              <a:t>ultiphase </a:t>
            </a:r>
            <a:r>
              <a:rPr lang="en-US" sz="1200" dirty="0"/>
              <a:t>drives (</a:t>
            </a:r>
            <a:r>
              <a:rPr lang="en-US" sz="1200" b="1" dirty="0"/>
              <a:t>MPDs</a:t>
            </a:r>
            <a:r>
              <a:rPr lang="en-US" sz="1200" dirty="0"/>
              <a:t>), </a:t>
            </a:r>
            <a:r>
              <a:rPr lang="en-US" sz="1200" dirty="0" smtClean="0"/>
              <a:t>beyond three </a:t>
            </a:r>
            <a:r>
              <a:rPr lang="en-US" sz="1200" dirty="0"/>
              <a:t>phases, thrive in </a:t>
            </a:r>
            <a:r>
              <a:rPr lang="en-US" sz="1200" b="1" dirty="0"/>
              <a:t>delivering </a:t>
            </a:r>
            <a:r>
              <a:rPr lang="en-US" sz="1200" b="1" dirty="0" smtClean="0"/>
              <a:t>high power</a:t>
            </a:r>
            <a:r>
              <a:rPr lang="en-US" sz="1200" dirty="0" smtClean="0"/>
              <a:t>, owing to </a:t>
            </a:r>
            <a:r>
              <a:rPr lang="en-US" sz="1200" dirty="0"/>
              <a:t>their improved </a:t>
            </a:r>
            <a:r>
              <a:rPr lang="en-US" sz="1200" b="1" dirty="0"/>
              <a:t>per-phase current </a:t>
            </a:r>
            <a:r>
              <a:rPr lang="en-US" sz="1200" dirty="0"/>
              <a:t>handling</a:t>
            </a:r>
            <a:r>
              <a:rPr lang="en-US" sz="12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With </a:t>
            </a:r>
            <a:r>
              <a:rPr lang="en-US" sz="1200" dirty="0"/>
              <a:t>more phases to share the required output </a:t>
            </a:r>
            <a:r>
              <a:rPr lang="en-US" sz="1200" dirty="0" smtClean="0"/>
              <a:t>power, </a:t>
            </a:r>
            <a:r>
              <a:rPr lang="en-US" sz="1200" b="1" dirty="0" smtClean="0"/>
              <a:t>device </a:t>
            </a:r>
            <a:r>
              <a:rPr lang="en-US" sz="1200" b="1" dirty="0"/>
              <a:t>paralleling </a:t>
            </a:r>
            <a:r>
              <a:rPr lang="en-US" sz="1200" dirty="0"/>
              <a:t>issues are alleviated, or </a:t>
            </a:r>
            <a:r>
              <a:rPr lang="en-US" sz="1200" b="1" dirty="0" smtClean="0"/>
              <a:t>eliminated</a:t>
            </a:r>
            <a:r>
              <a:rPr lang="en-US" sz="1200" dirty="0" smtClean="0"/>
              <a:t> altogether.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From another perspective</a:t>
            </a:r>
            <a:r>
              <a:rPr lang="en-US" sz="1200" dirty="0"/>
              <a:t>, </a:t>
            </a:r>
            <a:r>
              <a:rPr lang="en-US" sz="1200" dirty="0" smtClean="0"/>
              <a:t>MPDs </a:t>
            </a:r>
            <a:r>
              <a:rPr lang="en-US" sz="1200" b="1" dirty="0" smtClean="0"/>
              <a:t>leverage</a:t>
            </a:r>
            <a:r>
              <a:rPr lang="en-US" sz="1200" dirty="0" smtClean="0"/>
              <a:t> </a:t>
            </a:r>
            <a:r>
              <a:rPr lang="en-US" sz="1200" b="1" dirty="0"/>
              <a:t>reliability</a:t>
            </a:r>
            <a:r>
              <a:rPr lang="en-US" sz="1200" dirty="0"/>
              <a:t> as </a:t>
            </a:r>
            <a:r>
              <a:rPr lang="en-US" sz="1200" dirty="0" smtClean="0"/>
              <a:t>they have </a:t>
            </a:r>
            <a:r>
              <a:rPr lang="en-US" sz="1200" b="1" dirty="0" smtClean="0"/>
              <a:t>superior</a:t>
            </a:r>
            <a:r>
              <a:rPr lang="en-US" sz="1200" dirty="0" smtClean="0"/>
              <a:t> </a:t>
            </a:r>
            <a:r>
              <a:rPr lang="en-US" sz="1200" b="1" dirty="0" smtClean="0"/>
              <a:t>fault-tolerance capabilities.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Conventional three-phase inverters </a:t>
            </a:r>
            <a:r>
              <a:rPr lang="en-US" sz="1200" dirty="0"/>
              <a:t>are </a:t>
            </a:r>
            <a:r>
              <a:rPr lang="en-US" sz="1200" b="1" dirty="0"/>
              <a:t>extendable</a:t>
            </a:r>
            <a:r>
              <a:rPr lang="en-US" sz="1200" dirty="0"/>
              <a:t> to MPIs by simply adding</a:t>
            </a:r>
            <a:br>
              <a:rPr lang="en-US" sz="1200" dirty="0"/>
            </a:br>
            <a:r>
              <a:rPr lang="en-US" sz="1200" b="1" dirty="0"/>
              <a:t>additional switching legs </a:t>
            </a:r>
            <a:r>
              <a:rPr lang="en-US" sz="1200" dirty="0"/>
              <a:t>to the existing ones. </a:t>
            </a:r>
            <a:r>
              <a:rPr lang="en-US" sz="1200" dirty="0" smtClean="0"/>
              <a:t>Another reason </a:t>
            </a:r>
            <a:r>
              <a:rPr lang="en-US" sz="1200" dirty="0"/>
              <a:t>is the </a:t>
            </a:r>
            <a:r>
              <a:rPr lang="en-US" sz="1200" b="1" dirty="0"/>
              <a:t>modularity</a:t>
            </a:r>
            <a:r>
              <a:rPr lang="en-US" sz="1200" dirty="0"/>
              <a:t> of six-phase machines </a:t>
            </a:r>
            <a:r>
              <a:rPr lang="en-US" sz="1200" dirty="0" smtClean="0"/>
              <a:t>with two </a:t>
            </a:r>
            <a:r>
              <a:rPr lang="en-US" sz="1200" dirty="0"/>
              <a:t>isolated neutrals, which can be treated as </a:t>
            </a:r>
            <a:r>
              <a:rPr lang="en-US" sz="1200" b="1" dirty="0" smtClean="0"/>
              <a:t>two three-phase </a:t>
            </a:r>
            <a:r>
              <a:rPr lang="en-US" sz="1200" b="1" dirty="0"/>
              <a:t>sets</a:t>
            </a:r>
            <a:r>
              <a:rPr lang="en-US" sz="1200" dirty="0"/>
              <a:t>, commonly known as dual </a:t>
            </a:r>
            <a:r>
              <a:rPr lang="en-US" sz="1200" dirty="0" smtClean="0"/>
              <a:t>three-phase machines</a:t>
            </a:r>
            <a:r>
              <a:rPr lang="en-US" sz="1200" dirty="0"/>
              <a:t>. </a:t>
            </a:r>
            <a:endParaRPr lang="en-US" sz="1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In </a:t>
            </a:r>
            <a:r>
              <a:rPr lang="en-US" sz="1200" dirty="0"/>
              <a:t>principle, </a:t>
            </a:r>
            <a:r>
              <a:rPr lang="en-US" sz="1200" dirty="0" smtClean="0"/>
              <a:t>for </a:t>
            </a:r>
            <a:r>
              <a:rPr lang="en-US" sz="1200" b="1" dirty="0" smtClean="0"/>
              <a:t>n-phase </a:t>
            </a:r>
            <a:r>
              <a:rPr lang="en-US" sz="1200" b="1" dirty="0"/>
              <a:t>machine </a:t>
            </a:r>
            <a:r>
              <a:rPr lang="en-US" sz="1200" dirty="0"/>
              <a:t>with </a:t>
            </a:r>
            <a:r>
              <a:rPr lang="en-US" sz="1200" dirty="0" smtClean="0"/>
              <a:t>n multiples </a:t>
            </a:r>
            <a:r>
              <a:rPr lang="en-US" sz="1200" dirty="0"/>
              <a:t>of three, the system can be </a:t>
            </a:r>
            <a:r>
              <a:rPr lang="en-US" sz="1200" dirty="0" smtClean="0"/>
              <a:t>decomposed into </a:t>
            </a:r>
            <a:r>
              <a:rPr lang="en-US" sz="1200" b="1" dirty="0"/>
              <a:t>n/3 </a:t>
            </a:r>
            <a:r>
              <a:rPr lang="en-US" sz="1200" b="1" dirty="0" smtClean="0"/>
              <a:t>three phase </a:t>
            </a:r>
            <a:r>
              <a:rPr lang="en-US" sz="1200" b="1" dirty="0"/>
              <a:t>systems</a:t>
            </a:r>
            <a:r>
              <a:rPr lang="en-US" sz="12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smtClean="0"/>
              <a:t>The </a:t>
            </a:r>
            <a:r>
              <a:rPr lang="en-US" sz="1200" b="1" dirty="0"/>
              <a:t>dc-bus capacitor </a:t>
            </a:r>
            <a:r>
              <a:rPr lang="en-US" sz="1200" dirty="0" smtClean="0"/>
              <a:t>is </a:t>
            </a:r>
            <a:r>
              <a:rPr lang="en-US" sz="1200" b="1" dirty="0" smtClean="0"/>
              <a:t>generally</a:t>
            </a:r>
            <a:r>
              <a:rPr lang="en-US" sz="1200" dirty="0" smtClean="0"/>
              <a:t> </a:t>
            </a:r>
            <a:r>
              <a:rPr lang="en-US" sz="1200" b="1" dirty="0" smtClean="0"/>
              <a:t>bulky</a:t>
            </a:r>
            <a:r>
              <a:rPr lang="en-US" sz="1200" dirty="0" smtClean="0"/>
              <a:t> </a:t>
            </a:r>
            <a:r>
              <a:rPr lang="en-US" sz="1200" dirty="0"/>
              <a:t>and has a limited </a:t>
            </a:r>
            <a:r>
              <a:rPr lang="en-US" sz="1200" dirty="0" smtClean="0"/>
              <a:t>operating temperature </a:t>
            </a:r>
            <a:r>
              <a:rPr lang="en-US" sz="1200" dirty="0"/>
              <a:t>range. </a:t>
            </a:r>
            <a:r>
              <a:rPr lang="en-US" sz="1200" dirty="0" smtClean="0"/>
              <a:t>In fact</a:t>
            </a:r>
            <a:r>
              <a:rPr lang="en-US" sz="1200" dirty="0"/>
              <a:t>, it is the </a:t>
            </a:r>
            <a:r>
              <a:rPr lang="en-US" sz="1200" b="1" dirty="0"/>
              <a:t>bottleneck</a:t>
            </a:r>
            <a:r>
              <a:rPr lang="en-US" sz="1200" dirty="0"/>
              <a:t> in the face of achieving </a:t>
            </a:r>
            <a:r>
              <a:rPr lang="en-US" sz="1200" dirty="0" smtClean="0"/>
              <a:t>higher </a:t>
            </a:r>
            <a:r>
              <a:rPr lang="en-US" sz="1200" b="1" dirty="0" smtClean="0"/>
              <a:t>power </a:t>
            </a:r>
            <a:r>
              <a:rPr lang="en-US" sz="1200" b="1" dirty="0"/>
              <a:t>densities </a:t>
            </a:r>
            <a:r>
              <a:rPr lang="en-US" sz="1200" dirty="0"/>
              <a:t>as it occupies up to </a:t>
            </a:r>
            <a:r>
              <a:rPr lang="en-US" sz="1200" dirty="0" smtClean="0"/>
              <a:t>two-thirds </a:t>
            </a:r>
            <a:r>
              <a:rPr lang="en-US" sz="1200" dirty="0"/>
              <a:t>of </a:t>
            </a:r>
            <a:r>
              <a:rPr lang="en-US" sz="1200" dirty="0" smtClean="0"/>
              <a:t>the total </a:t>
            </a:r>
            <a:r>
              <a:rPr lang="en-US" sz="1200" dirty="0"/>
              <a:t>volume of the inverter. With </a:t>
            </a:r>
            <a:r>
              <a:rPr lang="en-US" sz="1200" dirty="0" smtClean="0"/>
              <a:t>increasing number of </a:t>
            </a:r>
            <a:r>
              <a:rPr lang="en-US" sz="1200" dirty="0"/>
              <a:t>phases, it was shown </a:t>
            </a:r>
            <a:r>
              <a:rPr lang="en-US" sz="1200" dirty="0" smtClean="0"/>
              <a:t>that </a:t>
            </a:r>
            <a:r>
              <a:rPr lang="en-US" sz="1200" dirty="0"/>
              <a:t>the required </a:t>
            </a:r>
            <a:r>
              <a:rPr lang="en-US" sz="1200" b="1" dirty="0" smtClean="0"/>
              <a:t>DC-link capacitance </a:t>
            </a:r>
            <a:r>
              <a:rPr lang="en-US" sz="1200" b="1" dirty="0"/>
              <a:t>decreases</a:t>
            </a:r>
            <a:r>
              <a:rPr lang="en-US" sz="1200" dirty="0"/>
              <a:t> with </a:t>
            </a:r>
            <a:r>
              <a:rPr lang="en-US" sz="1200" b="1" dirty="0"/>
              <a:t>increasing phase number</a:t>
            </a:r>
            <a:r>
              <a:rPr lang="en-US" sz="1200" dirty="0"/>
              <a:t>. </a:t>
            </a:r>
            <a:r>
              <a:rPr lang="en-US" sz="1200" dirty="0" smtClean="0"/>
              <a:t>A </a:t>
            </a:r>
            <a:r>
              <a:rPr lang="en-US" sz="1200" b="1" dirty="0" smtClean="0"/>
              <a:t>50% </a:t>
            </a:r>
            <a:r>
              <a:rPr lang="en-US" sz="1200" dirty="0" smtClean="0"/>
              <a:t>capacitance </a:t>
            </a:r>
            <a:r>
              <a:rPr lang="en-US" sz="1200" b="1" dirty="0"/>
              <a:t>reduction</a:t>
            </a:r>
            <a:r>
              <a:rPr lang="en-US" sz="1200" dirty="0"/>
              <a:t> can be achieved in </a:t>
            </a:r>
            <a:r>
              <a:rPr lang="en-US" sz="1200" dirty="0" smtClean="0"/>
              <a:t>a </a:t>
            </a:r>
            <a:r>
              <a:rPr lang="en-US" sz="1200" b="1" dirty="0" smtClean="0"/>
              <a:t>six-phase</a:t>
            </a:r>
            <a:r>
              <a:rPr lang="en-US" sz="1200" dirty="0" smtClean="0"/>
              <a:t> VSI</a:t>
            </a:r>
            <a:r>
              <a:rPr lang="en-US" sz="1200" dirty="0"/>
              <a:t>.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512" r="3644"/>
          <a:stretch/>
        </p:blipFill>
        <p:spPr>
          <a:xfrm>
            <a:off x="115836" y="894022"/>
            <a:ext cx="3133239" cy="17281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9512" y="4487101"/>
            <a:ext cx="878497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smtClean="0">
                <a:latin typeface="Arial" panose="020B0604020202020204" pitchFamily="34" charset="0"/>
              </a:rPr>
              <a:t>[1] W</a:t>
            </a:r>
            <a:r>
              <a:rPr lang="en-US" sz="1050" dirty="0">
                <a:latin typeface="Arial" panose="020B0604020202020204" pitchFamily="34" charset="0"/>
              </a:rPr>
              <a:t>. </a:t>
            </a:r>
            <a:r>
              <a:rPr lang="en-US" sz="1050" dirty="0" err="1">
                <a:latin typeface="Arial" panose="020B0604020202020204" pitchFamily="34" charset="0"/>
              </a:rPr>
              <a:t>Taha</a:t>
            </a:r>
            <a:r>
              <a:rPr lang="en-US" sz="1050" dirty="0">
                <a:latin typeface="Arial" panose="020B0604020202020204" pitchFamily="34" charset="0"/>
              </a:rPr>
              <a:t>, P. </a:t>
            </a:r>
            <a:r>
              <a:rPr lang="en-US" sz="1050" dirty="0" err="1">
                <a:latin typeface="Arial" panose="020B0604020202020204" pitchFamily="34" charset="0"/>
              </a:rPr>
              <a:t>Azer</a:t>
            </a:r>
            <a:r>
              <a:rPr lang="en-US" sz="1050" dirty="0">
                <a:latin typeface="Arial" panose="020B0604020202020204" pitchFamily="34" charset="0"/>
              </a:rPr>
              <a:t>, A. D. </a:t>
            </a:r>
            <a:r>
              <a:rPr lang="en-US" sz="1050" dirty="0" err="1">
                <a:latin typeface="Arial" panose="020B0604020202020204" pitchFamily="34" charset="0"/>
              </a:rPr>
              <a:t>Callegaro</a:t>
            </a:r>
            <a:r>
              <a:rPr lang="en-US" sz="1050" dirty="0">
                <a:latin typeface="Arial" panose="020B0604020202020204" pitchFamily="34" charset="0"/>
              </a:rPr>
              <a:t>, and A. </a:t>
            </a:r>
            <a:r>
              <a:rPr lang="en-US" sz="1050" dirty="0" err="1">
                <a:latin typeface="Arial" panose="020B0604020202020204" pitchFamily="34" charset="0"/>
              </a:rPr>
              <a:t>Emadi</a:t>
            </a:r>
            <a:r>
              <a:rPr lang="en-US" sz="1050" dirty="0">
                <a:latin typeface="Arial" panose="020B0604020202020204" pitchFamily="34" charset="0"/>
              </a:rPr>
              <a:t>, “Multiphase </a:t>
            </a:r>
            <a:r>
              <a:rPr lang="en-US" sz="1050" dirty="0" smtClean="0">
                <a:latin typeface="Arial" panose="020B0604020202020204" pitchFamily="34" charset="0"/>
              </a:rPr>
              <a:t>traction </a:t>
            </a:r>
            <a:r>
              <a:rPr lang="en-US" sz="1050" dirty="0">
                <a:latin typeface="Arial" panose="020B0604020202020204" pitchFamily="34" charset="0"/>
              </a:rPr>
              <a:t>inverters: State-of-the-art review and future trends,” IEEE </a:t>
            </a:r>
            <a:r>
              <a:rPr lang="en-US" sz="1050" dirty="0" err="1" smtClean="0">
                <a:latin typeface="Arial" panose="020B0604020202020204" pitchFamily="34" charset="0"/>
              </a:rPr>
              <a:t>Access,vol</a:t>
            </a:r>
            <a:r>
              <a:rPr lang="en-US" sz="1050" dirty="0">
                <a:latin typeface="Arial" panose="020B0604020202020204" pitchFamily="34" charset="0"/>
              </a:rPr>
              <a:t>. 10, pp. 4580–4599, 2022.</a:t>
            </a:r>
            <a:endParaRPr lang="sv-SE" sz="10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97" y="2662205"/>
            <a:ext cx="2952328" cy="178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2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8950" y="230375"/>
            <a:ext cx="8010320" cy="647700"/>
          </a:xfrm>
        </p:spPr>
        <p:txBody>
          <a:bodyPr/>
          <a:lstStyle/>
          <a:p>
            <a:r>
              <a:rPr lang="en-US" dirty="0" smtClean="0"/>
              <a:t>Thermal </a:t>
            </a:r>
            <a:r>
              <a:rPr lang="en-US" dirty="0"/>
              <a:t>Management </a:t>
            </a:r>
            <a:r>
              <a:rPr lang="en-US" dirty="0" smtClean="0"/>
              <a:t>(Liquid-Cooling System</a:t>
            </a:r>
            <a:r>
              <a:rPr lang="en-US" dirty="0"/>
              <a:t>)</a:t>
            </a:r>
            <a:endParaRPr lang="sv-S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17229"/>
            <a:ext cx="3488572" cy="19432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7500" y="2973373"/>
            <a:ext cx="1926449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Dominant thermal resistance is junction-to-case resistance.</a:t>
            </a:r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17168" t="1028" r="-4905" b="-1028"/>
          <a:stretch/>
        </p:blipFill>
        <p:spPr>
          <a:xfrm>
            <a:off x="891100" y="883841"/>
            <a:ext cx="2576041" cy="1877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3888" y="1203601"/>
            <a:ext cx="2016224" cy="10387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smtClean="0"/>
              <a:t>The thermal resistance of the cold plate depends on: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smtClean="0"/>
              <a:t>Coolant type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smtClean="0"/>
              <a:t>Coolant temp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smtClean="0"/>
              <a:t>Flow rate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888445"/>
            <a:ext cx="2160240" cy="1848028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6443984" y="3331164"/>
            <a:ext cx="3600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51920" y="2813436"/>
            <a:ext cx="266429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thermal model, </a:t>
            </a:r>
            <a:r>
              <a:rPr lang="en-US" dirty="0" smtClean="0"/>
              <a:t>including </a:t>
            </a:r>
            <a:r>
              <a:rPr lang="en-US" dirty="0"/>
              <a:t>just thermal </a:t>
            </a:r>
            <a:r>
              <a:rPr lang="en-US" dirty="0" smtClean="0"/>
              <a:t>resistance, is enough </a:t>
            </a:r>
            <a:r>
              <a:rPr lang="en-US" dirty="0"/>
              <a:t>to calculate steady-state junction temperature and losses for </a:t>
            </a:r>
            <a:r>
              <a:rPr lang="en-US" b="1" dirty="0"/>
              <a:t>continuous </a:t>
            </a:r>
            <a:r>
              <a:rPr lang="en-US" b="1" dirty="0" smtClean="0"/>
              <a:t>power </a:t>
            </a:r>
            <a:r>
              <a:rPr lang="en-US" dirty="0" smtClean="0"/>
              <a:t>operation</a:t>
            </a:r>
            <a:r>
              <a:rPr lang="en-US" dirty="0"/>
              <a:t>.   </a:t>
            </a:r>
            <a:endParaRPr lang="sv-SE" dirty="0"/>
          </a:p>
        </p:txBody>
      </p:sp>
      <p:sp>
        <p:nvSpPr>
          <p:cNvPr id="2" name="Rectangle 1"/>
          <p:cNvSpPr/>
          <p:nvPr/>
        </p:nvSpPr>
        <p:spPr>
          <a:xfrm>
            <a:off x="251520" y="4430683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[1] Y</a:t>
            </a:r>
            <a:r>
              <a:rPr lang="sv-SE" sz="900" dirty="0"/>
              <a:t>. Wu et al., "</a:t>
            </a:r>
            <a:r>
              <a:rPr lang="sv-SE" sz="900" dirty="0" err="1"/>
              <a:t>Electrothermal</a:t>
            </a:r>
            <a:r>
              <a:rPr lang="sv-SE" sz="900" dirty="0"/>
              <a:t>-Control Co-Design </a:t>
            </a:r>
            <a:r>
              <a:rPr lang="sv-SE" sz="900" dirty="0" err="1"/>
              <a:t>of</a:t>
            </a:r>
            <a:r>
              <a:rPr lang="sv-SE" sz="900" dirty="0"/>
              <a:t> an All Silicon Carbide 2×250 kW Dual </a:t>
            </a:r>
            <a:r>
              <a:rPr lang="sv-SE" sz="900" dirty="0" err="1"/>
              <a:t>Inverter</a:t>
            </a:r>
            <a:r>
              <a:rPr lang="sv-SE" sz="900" dirty="0"/>
              <a:t> for Heavy-</a:t>
            </a:r>
            <a:r>
              <a:rPr lang="sv-SE" sz="900" dirty="0" err="1"/>
              <a:t>Duty</a:t>
            </a:r>
            <a:r>
              <a:rPr lang="sv-SE" sz="900" dirty="0"/>
              <a:t> </a:t>
            </a:r>
            <a:r>
              <a:rPr lang="sv-SE" sz="900" dirty="0" err="1"/>
              <a:t>Traction</a:t>
            </a:r>
            <a:r>
              <a:rPr lang="sv-SE" sz="900" dirty="0"/>
              <a:t> </a:t>
            </a:r>
            <a:r>
              <a:rPr lang="sv-SE" sz="900" dirty="0" err="1"/>
              <a:t>Applications</a:t>
            </a:r>
            <a:r>
              <a:rPr lang="sv-SE" sz="900" dirty="0"/>
              <a:t>," in IEEE </a:t>
            </a:r>
            <a:r>
              <a:rPr lang="sv-SE" sz="900" dirty="0" err="1"/>
              <a:t>Transactions</a:t>
            </a:r>
            <a:r>
              <a:rPr lang="sv-SE" sz="900" dirty="0"/>
              <a:t> on Industry </a:t>
            </a:r>
            <a:r>
              <a:rPr lang="sv-SE" sz="900" dirty="0" err="1"/>
              <a:t>Applications</a:t>
            </a:r>
            <a:r>
              <a:rPr lang="sv-SE" sz="900" dirty="0"/>
              <a:t>, vol. 58, no. 1, </a:t>
            </a:r>
            <a:r>
              <a:rPr lang="sv-SE" sz="900" dirty="0" err="1"/>
              <a:t>pp</a:t>
            </a:r>
            <a:r>
              <a:rPr lang="sv-SE" sz="900" dirty="0"/>
              <a:t>. 505-516, Jan.-Feb. 2022, </a:t>
            </a:r>
            <a:r>
              <a:rPr lang="sv-SE" sz="900" dirty="0" err="1"/>
              <a:t>doi</a:t>
            </a:r>
            <a:r>
              <a:rPr lang="sv-SE" sz="900" dirty="0"/>
              <a:t>: 10.1109/TIA.2021.3127144.</a:t>
            </a:r>
          </a:p>
        </p:txBody>
      </p:sp>
    </p:spTree>
    <p:extLst>
      <p:ext uri="{BB962C8B-B14F-4D97-AF65-F5344CB8AC3E}">
        <p14:creationId xmlns:p14="http://schemas.microsoft.com/office/powerpoint/2010/main" val="185643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DC-link </a:t>
            </a:r>
            <a:r>
              <a:rPr lang="en-US" dirty="0"/>
              <a:t>Capacitor Selection</a:t>
            </a:r>
            <a:endParaRPr lang="sv-SE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23528" y="1059583"/>
            <a:ext cx="8574013" cy="3312367"/>
          </a:xfrm>
        </p:spPr>
        <p:txBody>
          <a:bodyPr>
            <a:noAutofit/>
          </a:bodyPr>
          <a:lstStyle/>
          <a:p>
            <a:r>
              <a:rPr lang="en-US" sz="1400" dirty="0" smtClean="0"/>
              <a:t>To </a:t>
            </a:r>
            <a:r>
              <a:rPr lang="en-US" sz="1400" dirty="0"/>
              <a:t>meet the </a:t>
            </a:r>
            <a:r>
              <a:rPr lang="en-US" sz="1400" b="1" dirty="0"/>
              <a:t>light</a:t>
            </a:r>
            <a:r>
              <a:rPr lang="en-US" sz="1400" dirty="0"/>
              <a:t> and </a:t>
            </a:r>
            <a:r>
              <a:rPr lang="en-US" sz="1400" b="1" dirty="0"/>
              <a:t>compact</a:t>
            </a:r>
            <a:r>
              <a:rPr lang="en-US" sz="1400" dirty="0"/>
              <a:t> design target, the capacitance and volume of the dc-link capacitor should be </a:t>
            </a:r>
            <a:r>
              <a:rPr lang="en-US" sz="1400" dirty="0" smtClean="0"/>
              <a:t>optimized.</a:t>
            </a:r>
          </a:p>
          <a:p>
            <a:r>
              <a:rPr lang="en-US" sz="1400" dirty="0"/>
              <a:t>D</a:t>
            </a:r>
            <a:r>
              <a:rPr lang="en-US" sz="1400" dirty="0" smtClean="0"/>
              <a:t>ue </a:t>
            </a:r>
            <a:r>
              <a:rPr lang="en-US" sz="1400" dirty="0"/>
              <a:t>to the </a:t>
            </a:r>
            <a:r>
              <a:rPr lang="en-US" sz="1400" b="1" dirty="0"/>
              <a:t>ripple voltage </a:t>
            </a:r>
            <a:r>
              <a:rPr lang="en-US" sz="1400" dirty="0"/>
              <a:t>and </a:t>
            </a:r>
            <a:r>
              <a:rPr lang="en-US" sz="1400" b="1" dirty="0"/>
              <a:t>ripple current </a:t>
            </a:r>
            <a:r>
              <a:rPr lang="en-US" sz="1400" dirty="0"/>
              <a:t>caused by the </a:t>
            </a:r>
            <a:r>
              <a:rPr lang="en-US" sz="1400" b="1" dirty="0"/>
              <a:t>switching</a:t>
            </a:r>
            <a:r>
              <a:rPr lang="en-US" sz="1400" dirty="0"/>
              <a:t> behavior of </a:t>
            </a:r>
            <a:r>
              <a:rPr lang="en-US" sz="1400" dirty="0" err="1"/>
              <a:t>SiC</a:t>
            </a:r>
            <a:r>
              <a:rPr lang="en-US" sz="1400" dirty="0"/>
              <a:t> MOSFET</a:t>
            </a:r>
            <a:r>
              <a:rPr lang="en-US" sz="1400" dirty="0" smtClean="0"/>
              <a:t>, the DC-link </a:t>
            </a:r>
            <a:r>
              <a:rPr lang="en-US" sz="1400" dirty="0"/>
              <a:t>capacitor is one of the weakest elements in the </a:t>
            </a:r>
            <a:r>
              <a:rPr lang="en-US" sz="1400" dirty="0" smtClean="0"/>
              <a:t>inverter.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Constraints: </a:t>
            </a:r>
          </a:p>
          <a:p>
            <a:pPr marL="800100" lvl="1" indent="-342900">
              <a:buAutoNum type="arabicPeriod"/>
            </a:pPr>
            <a:r>
              <a:rPr lang="en-US" sz="1400" dirty="0" smtClean="0"/>
              <a:t>Ripple voltage</a:t>
            </a:r>
          </a:p>
          <a:p>
            <a:pPr marL="800100" lvl="1" indent="-342900">
              <a:buAutoNum type="arabicPeriod"/>
            </a:pPr>
            <a:r>
              <a:rPr lang="en-US" sz="1400" dirty="0" smtClean="0"/>
              <a:t>Ripple </a:t>
            </a:r>
            <a:r>
              <a:rPr lang="en-US" sz="1400" dirty="0"/>
              <a:t>current </a:t>
            </a:r>
          </a:p>
          <a:p>
            <a:pPr marL="800100" lvl="1" indent="-342900">
              <a:buAutoNum type="arabicPeriod"/>
            </a:pPr>
            <a:r>
              <a:rPr lang="en-US" sz="1400" dirty="0" smtClean="0"/>
              <a:t>Cost</a:t>
            </a:r>
          </a:p>
          <a:p>
            <a:pPr marL="800100" lvl="1" indent="-342900">
              <a:buAutoNum type="arabicPeriod"/>
            </a:pPr>
            <a:r>
              <a:rPr lang="en-US" sz="1400" dirty="0" smtClean="0"/>
              <a:t>Size</a:t>
            </a:r>
          </a:p>
          <a:p>
            <a:pPr marL="800100" lvl="1" indent="-342900">
              <a:buAutoNum type="arabicPeriod"/>
            </a:pPr>
            <a:r>
              <a:rPr lang="en-US" sz="1400" dirty="0" smtClean="0"/>
              <a:t>Weight</a:t>
            </a:r>
            <a:endParaRPr lang="sv-SE" sz="1400" dirty="0"/>
          </a:p>
          <a:p>
            <a:endParaRPr lang="en-US" sz="1600" dirty="0"/>
          </a:p>
          <a:p>
            <a:pPr marL="0" indent="0">
              <a:buNone/>
            </a:pPr>
            <a:endParaRPr lang="en-US" sz="1600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483768" y="2067694"/>
                <a:ext cx="6336704" cy="2261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1400" dirty="0" smtClean="0"/>
                  <a:t>Materials:</a:t>
                </a:r>
                <a:endParaRPr lang="en-US" sz="1400" dirty="0"/>
              </a:p>
              <a:p>
                <a:pPr marL="971550" lvl="2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Ceramic</a:t>
                </a:r>
                <a:r>
                  <a:rPr lang="en-US" sz="1400" dirty="0"/>
                  <a:t> can endure </a:t>
                </a:r>
                <a:r>
                  <a:rPr lang="en-US" sz="1400" b="1" dirty="0"/>
                  <a:t>high temperatures</a:t>
                </a:r>
                <a:r>
                  <a:rPr lang="en-US" sz="1400" dirty="0"/>
                  <a:t>, but </a:t>
                </a:r>
                <a:r>
                  <a:rPr lang="en-US" sz="1400" b="1" dirty="0"/>
                  <a:t>its capacitance is small</a:t>
                </a:r>
                <a:r>
                  <a:rPr lang="en-US" sz="1400" dirty="0"/>
                  <a:t> and sensitive to humidity. Power density is about </a:t>
                </a:r>
                <a:r>
                  <a:rPr lang="en-US" sz="1400" b="1" dirty="0"/>
                  <a:t>2</a:t>
                </a:r>
                <a14:m>
                  <m:oMath xmlns:m="http://schemas.openxmlformats.org/officeDocument/2006/math">
                    <m:r>
                      <a:rPr lang="el-GR" sz="1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4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400" dirty="0"/>
                  <a:t>. It is much more </a:t>
                </a:r>
                <a:r>
                  <a:rPr lang="en-US" sz="1400" b="1" dirty="0"/>
                  <a:t>expensive</a:t>
                </a:r>
                <a:r>
                  <a:rPr lang="en-US" sz="1400" dirty="0"/>
                  <a:t> than others.</a:t>
                </a:r>
              </a:p>
              <a:p>
                <a:pPr marL="971550" lvl="2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Electrolytic</a:t>
                </a:r>
                <a:r>
                  <a:rPr lang="en-US" sz="1400" dirty="0"/>
                  <a:t> has a </a:t>
                </a:r>
                <a:r>
                  <a:rPr lang="en-US" sz="1400" b="1" dirty="0"/>
                  <a:t>large capacitance</a:t>
                </a:r>
                <a:r>
                  <a:rPr lang="en-US" sz="1400" dirty="0"/>
                  <a:t>, it </a:t>
                </a:r>
                <a:r>
                  <a:rPr lang="en-US" sz="1400" b="1" dirty="0"/>
                  <a:t>cannot</a:t>
                </a:r>
                <a:r>
                  <a:rPr lang="en-US" sz="1400" dirty="0"/>
                  <a:t> </a:t>
                </a:r>
                <a:r>
                  <a:rPr lang="en-US" sz="1400" b="1" dirty="0"/>
                  <a:t>endure high temperature</a:t>
                </a:r>
                <a:r>
                  <a:rPr lang="en-US" sz="1400" dirty="0"/>
                  <a:t>. The hot operation condition dries the electrolytic out and damages the capacitor. </a:t>
                </a:r>
                <a:r>
                  <a:rPr lang="en-US" sz="1400" b="1" dirty="0"/>
                  <a:t>Higher power density</a:t>
                </a:r>
                <a:r>
                  <a:rPr lang="en-US" sz="1400" dirty="0"/>
                  <a:t>, which is greater than </a:t>
                </a:r>
                <a14:m>
                  <m:oMath xmlns:m="http://schemas.openxmlformats.org/officeDocument/2006/math">
                    <m:r>
                      <a:rPr lang="el-GR" sz="1400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l-GR" sz="1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4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marL="971550" lvl="2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Film</a:t>
                </a:r>
                <a:r>
                  <a:rPr lang="en-US" sz="1400" dirty="0"/>
                  <a:t> are between the ceramic and electrolytic capacitors. Power density is about </a:t>
                </a:r>
                <a:r>
                  <a:rPr lang="en-US" sz="1400" b="1" dirty="0"/>
                  <a:t>1</a:t>
                </a:r>
                <a14:m>
                  <m:oMath xmlns:m="http://schemas.openxmlformats.org/officeDocument/2006/math">
                    <m:r>
                      <a:rPr lang="el-GR" sz="1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4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sv-SE" sz="1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67694"/>
                <a:ext cx="6336704" cy="2261196"/>
              </a:xfrm>
              <a:prstGeom prst="rect">
                <a:avLst/>
              </a:prstGeom>
              <a:blipFill>
                <a:blip r:embed="rId2"/>
                <a:stretch>
                  <a:fillRect t="-539" r="-962" b="-215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4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788" y="264380"/>
            <a:ext cx="7763861" cy="647700"/>
          </a:xfrm>
        </p:spPr>
        <p:txBody>
          <a:bodyPr/>
          <a:lstStyle/>
          <a:p>
            <a:r>
              <a:rPr lang="en-US" sz="2800" dirty="0" smtClean="0"/>
              <a:t>Minimization of the DC-link capacitance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dirty="0" smtClean="0"/>
              <a:t> 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858" y="2380121"/>
            <a:ext cx="2683656" cy="20256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6" y="653130"/>
            <a:ext cx="3386159" cy="24280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8365"/>
          <a:stretch/>
        </p:blipFill>
        <p:spPr>
          <a:xfrm>
            <a:off x="5015610" y="3081136"/>
            <a:ext cx="3907159" cy="11698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324544" y="982551"/>
            <a:ext cx="5616624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Considering </a:t>
            </a:r>
            <a:r>
              <a:rPr lang="en-US" sz="1300" dirty="0"/>
              <a:t>the </a:t>
            </a:r>
            <a:r>
              <a:rPr lang="en-US" sz="1300" b="1" dirty="0"/>
              <a:t>ripple voltage </a:t>
            </a:r>
            <a:r>
              <a:rPr lang="en-US" sz="1300" dirty="0"/>
              <a:t>of the inverter, the minimum capacitance </a:t>
            </a:r>
            <a:r>
              <a:rPr lang="en-US" sz="1300" dirty="0" smtClean="0"/>
              <a:t>can </a:t>
            </a:r>
            <a:r>
              <a:rPr lang="en-US" sz="1300" dirty="0"/>
              <a:t>be found respecting topology. 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sz="1300" dirty="0"/>
              <a:t>Considering the </a:t>
            </a:r>
            <a:r>
              <a:rPr lang="en-US" sz="1300" b="1" dirty="0"/>
              <a:t>ripple current</a:t>
            </a:r>
            <a:r>
              <a:rPr lang="en-US" sz="1300" dirty="0"/>
              <a:t>, the minimum capacitance </a:t>
            </a:r>
            <a:r>
              <a:rPr lang="en-US" sz="1300" dirty="0" smtClean="0"/>
              <a:t>can </a:t>
            </a:r>
            <a:r>
              <a:rPr lang="en-US" sz="1300" dirty="0"/>
              <a:t>be found respecting topology. 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sz="1300" b="1" dirty="0" smtClean="0"/>
              <a:t>Multi-level</a:t>
            </a:r>
            <a:r>
              <a:rPr lang="en-US" sz="1300" dirty="0" smtClean="0"/>
              <a:t> </a:t>
            </a:r>
            <a:r>
              <a:rPr lang="en-US" sz="1300" dirty="0"/>
              <a:t>or </a:t>
            </a:r>
            <a:r>
              <a:rPr lang="en-US" sz="1300" b="1" dirty="0"/>
              <a:t>multi-module</a:t>
            </a:r>
            <a:r>
              <a:rPr lang="en-US" sz="1300" dirty="0"/>
              <a:t> decreases the capacitance </a:t>
            </a:r>
            <a:r>
              <a:rPr lang="en-US" sz="1300" dirty="0" smtClean="0"/>
              <a:t>requirement</a:t>
            </a:r>
            <a:r>
              <a:rPr lang="en-US" sz="1300" dirty="0"/>
              <a:t>.</a:t>
            </a:r>
            <a:endParaRPr lang="en-US" sz="1300" dirty="0" smtClean="0"/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sz="1300" b="1" dirty="0" smtClean="0"/>
              <a:t>Switching frequency </a:t>
            </a:r>
            <a:r>
              <a:rPr lang="en-US" sz="1300" dirty="0" smtClean="0"/>
              <a:t>affects the capacitance requirement.</a:t>
            </a:r>
            <a:endParaRPr lang="en-US" sz="1300" dirty="0"/>
          </a:p>
        </p:txBody>
      </p:sp>
      <p:sp>
        <p:nvSpPr>
          <p:cNvPr id="9" name="Rectangle 8"/>
          <p:cNvSpPr/>
          <p:nvPr/>
        </p:nvSpPr>
        <p:spPr>
          <a:xfrm>
            <a:off x="328341" y="4420435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[1] Y</a:t>
            </a:r>
            <a:r>
              <a:rPr lang="sv-SE" sz="900" dirty="0"/>
              <a:t>. Wu et al., "</a:t>
            </a:r>
            <a:r>
              <a:rPr lang="sv-SE" sz="900" dirty="0" err="1"/>
              <a:t>Electrothermal</a:t>
            </a:r>
            <a:r>
              <a:rPr lang="sv-SE" sz="900" dirty="0"/>
              <a:t>-Control Co-Design </a:t>
            </a:r>
            <a:r>
              <a:rPr lang="sv-SE" sz="900" dirty="0" err="1"/>
              <a:t>of</a:t>
            </a:r>
            <a:r>
              <a:rPr lang="sv-SE" sz="900" dirty="0"/>
              <a:t> an All Silicon Carbide 2×250 kW Dual </a:t>
            </a:r>
            <a:r>
              <a:rPr lang="sv-SE" sz="900" dirty="0" err="1"/>
              <a:t>Inverter</a:t>
            </a:r>
            <a:r>
              <a:rPr lang="sv-SE" sz="900" dirty="0"/>
              <a:t> for Heavy-</a:t>
            </a:r>
            <a:r>
              <a:rPr lang="sv-SE" sz="900" dirty="0" err="1"/>
              <a:t>Duty</a:t>
            </a:r>
            <a:r>
              <a:rPr lang="sv-SE" sz="900" dirty="0"/>
              <a:t> </a:t>
            </a:r>
            <a:r>
              <a:rPr lang="sv-SE" sz="900" dirty="0" err="1"/>
              <a:t>Traction</a:t>
            </a:r>
            <a:r>
              <a:rPr lang="sv-SE" sz="900" dirty="0"/>
              <a:t> </a:t>
            </a:r>
            <a:r>
              <a:rPr lang="sv-SE" sz="900" dirty="0" err="1"/>
              <a:t>Applications</a:t>
            </a:r>
            <a:r>
              <a:rPr lang="sv-SE" sz="900" dirty="0"/>
              <a:t>," in IEEE </a:t>
            </a:r>
            <a:r>
              <a:rPr lang="sv-SE" sz="900" dirty="0" err="1"/>
              <a:t>Transactions</a:t>
            </a:r>
            <a:r>
              <a:rPr lang="sv-SE" sz="900" dirty="0"/>
              <a:t> on Industry </a:t>
            </a:r>
            <a:r>
              <a:rPr lang="sv-SE" sz="900" dirty="0" err="1"/>
              <a:t>Applications</a:t>
            </a:r>
            <a:r>
              <a:rPr lang="sv-SE" sz="900" dirty="0"/>
              <a:t>, vol. 58, no. 1, </a:t>
            </a:r>
            <a:r>
              <a:rPr lang="sv-SE" sz="900" dirty="0" err="1"/>
              <a:t>pp</a:t>
            </a:r>
            <a:r>
              <a:rPr lang="sv-SE" sz="900" dirty="0"/>
              <a:t>. 505-516, Jan.-Feb. 2022, </a:t>
            </a:r>
            <a:r>
              <a:rPr lang="sv-SE" sz="900" dirty="0" err="1"/>
              <a:t>doi</a:t>
            </a:r>
            <a:r>
              <a:rPr lang="sv-SE" sz="900" dirty="0"/>
              <a:t>: 10.1109/TIA.2021.3127144.</a:t>
            </a:r>
          </a:p>
        </p:txBody>
      </p:sp>
    </p:spTree>
    <p:extLst>
      <p:ext uri="{BB962C8B-B14F-4D97-AF65-F5344CB8AC3E}">
        <p14:creationId xmlns:p14="http://schemas.microsoft.com/office/powerpoint/2010/main" val="241689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Prices and Power Densities</a:t>
            </a:r>
            <a:endParaRPr lang="sv-S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416"/>
          <a:stretch/>
        </p:blipFill>
        <p:spPr>
          <a:xfrm>
            <a:off x="4644008" y="2355726"/>
            <a:ext cx="3825984" cy="154728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37275"/>
            <a:ext cx="3558604" cy="21653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3528" y="4443958"/>
            <a:ext cx="8892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900" dirty="0" smtClean="0"/>
              <a:t>[1] </a:t>
            </a:r>
            <a:r>
              <a:rPr lang="sv-SE" sz="900" dirty="0"/>
              <a:t>Z. </a:t>
            </a:r>
            <a:r>
              <a:rPr lang="sv-SE" sz="900" dirty="0" err="1"/>
              <a:t>Zeng</a:t>
            </a:r>
            <a:r>
              <a:rPr lang="sv-SE" sz="900" dirty="0"/>
              <a:t>, X. Zhang, F. </a:t>
            </a:r>
            <a:r>
              <a:rPr lang="sv-SE" sz="900" dirty="0" err="1"/>
              <a:t>Blaabjerg</a:t>
            </a:r>
            <a:r>
              <a:rPr lang="sv-SE" sz="900" dirty="0"/>
              <a:t>, H. Chen and T. </a:t>
            </a:r>
            <a:r>
              <a:rPr lang="sv-SE" sz="900" dirty="0" err="1"/>
              <a:t>Sun</a:t>
            </a:r>
            <a:r>
              <a:rPr lang="sv-SE" sz="900" dirty="0"/>
              <a:t>, "</a:t>
            </a:r>
            <a:r>
              <a:rPr lang="sv-SE" sz="900" dirty="0" err="1"/>
              <a:t>Stepwise</a:t>
            </a:r>
            <a:r>
              <a:rPr lang="sv-SE" sz="900" dirty="0"/>
              <a:t> Design </a:t>
            </a:r>
            <a:r>
              <a:rPr lang="sv-SE" sz="900" dirty="0" err="1"/>
              <a:t>Methodology</a:t>
            </a:r>
            <a:r>
              <a:rPr lang="sv-SE" sz="900" dirty="0"/>
              <a:t> and </a:t>
            </a:r>
            <a:r>
              <a:rPr lang="sv-SE" sz="900" dirty="0" err="1"/>
              <a:t>Heterogeneous</a:t>
            </a:r>
            <a:r>
              <a:rPr lang="sv-SE" sz="900" dirty="0"/>
              <a:t> Integration </a:t>
            </a:r>
            <a:r>
              <a:rPr lang="sv-SE" sz="900" dirty="0" err="1"/>
              <a:t>Routine</a:t>
            </a:r>
            <a:r>
              <a:rPr lang="sv-SE" sz="900" dirty="0"/>
              <a:t> </a:t>
            </a:r>
            <a:r>
              <a:rPr lang="sv-SE" sz="900" dirty="0" err="1"/>
              <a:t>of</a:t>
            </a:r>
            <a:r>
              <a:rPr lang="sv-SE" sz="900" dirty="0"/>
              <a:t> Air-</a:t>
            </a:r>
            <a:r>
              <a:rPr lang="sv-SE" sz="900" dirty="0" err="1"/>
              <a:t>Cooled</a:t>
            </a:r>
            <a:r>
              <a:rPr lang="sv-SE" sz="900" dirty="0"/>
              <a:t> </a:t>
            </a:r>
            <a:r>
              <a:rPr lang="sv-SE" sz="900" dirty="0" err="1"/>
              <a:t>SiC</a:t>
            </a:r>
            <a:r>
              <a:rPr lang="sv-SE" sz="900" dirty="0"/>
              <a:t> </a:t>
            </a:r>
            <a:r>
              <a:rPr lang="sv-SE" sz="900" dirty="0" err="1"/>
              <a:t>Inverter</a:t>
            </a:r>
            <a:r>
              <a:rPr lang="sv-SE" sz="900" dirty="0"/>
              <a:t> for Electric </a:t>
            </a:r>
            <a:r>
              <a:rPr lang="sv-SE" sz="900" dirty="0" err="1"/>
              <a:t>Vehicle</a:t>
            </a:r>
            <a:r>
              <a:rPr lang="sv-SE" sz="900" dirty="0"/>
              <a:t>," in IEEE </a:t>
            </a:r>
            <a:r>
              <a:rPr lang="sv-SE" sz="900" dirty="0" err="1"/>
              <a:t>Transactions</a:t>
            </a:r>
            <a:r>
              <a:rPr lang="sv-SE" sz="900" dirty="0"/>
              <a:t> on Power Electronics, vol. 35, no. 4, </a:t>
            </a:r>
            <a:r>
              <a:rPr lang="sv-SE" sz="900" dirty="0" err="1"/>
              <a:t>pp</a:t>
            </a:r>
            <a:r>
              <a:rPr lang="sv-SE" sz="900" dirty="0"/>
              <a:t>. 3973-3988, April 2020, </a:t>
            </a:r>
            <a:r>
              <a:rPr lang="sv-SE" sz="900" dirty="0" err="1"/>
              <a:t>doi</a:t>
            </a:r>
            <a:r>
              <a:rPr lang="sv-SE" sz="900" dirty="0"/>
              <a:t>: 10.1109/TPEL.2019.2937135.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35943"/>
            <a:ext cx="3791457" cy="116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6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Busbar</a:t>
            </a:r>
            <a:r>
              <a:rPr lang="en-US" dirty="0" smtClean="0"/>
              <a:t> Design</a:t>
            </a:r>
            <a:endParaRPr lang="sv-S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43608" y="897732"/>
            <a:ext cx="7765653" cy="343852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High switching speed of </a:t>
            </a:r>
            <a:r>
              <a:rPr lang="en-US" sz="1800" dirty="0" err="1"/>
              <a:t>SiC</a:t>
            </a:r>
            <a:r>
              <a:rPr lang="en-US" sz="1800" dirty="0"/>
              <a:t> may potentially cause:</a:t>
            </a:r>
          </a:p>
          <a:p>
            <a:pPr lvl="1"/>
            <a:r>
              <a:rPr lang="en-US" dirty="0"/>
              <a:t>Excessive voltage overshoot</a:t>
            </a:r>
          </a:p>
          <a:p>
            <a:pPr lvl="1"/>
            <a:r>
              <a:rPr lang="sv-SE" dirty="0" err="1"/>
              <a:t>Ringing</a:t>
            </a:r>
            <a:r>
              <a:rPr lang="sv-SE" dirty="0"/>
              <a:t>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1800" dirty="0"/>
              <a:t>The overshoot voltage during </a:t>
            </a:r>
            <a:r>
              <a:rPr lang="en-US" sz="1800" dirty="0" err="1"/>
              <a:t>turn-OFF</a:t>
            </a:r>
            <a:r>
              <a:rPr lang="en-US" sz="1800" dirty="0"/>
              <a:t> transient is a common issue. </a:t>
            </a:r>
            <a:r>
              <a:rPr lang="sv-SE" sz="1800" dirty="0"/>
              <a:t>It </a:t>
            </a:r>
            <a:r>
              <a:rPr lang="sv-SE" sz="1800" dirty="0" err="1"/>
              <a:t>stems</a:t>
            </a:r>
            <a:r>
              <a:rPr lang="sv-SE" sz="1800" dirty="0"/>
              <a:t> from: </a:t>
            </a:r>
          </a:p>
          <a:p>
            <a:pPr lvl="1"/>
            <a:r>
              <a:rPr lang="en-US" dirty="0"/>
              <a:t>high di/</a:t>
            </a:r>
            <a:r>
              <a:rPr lang="en-US" dirty="0" err="1"/>
              <a:t>dt</a:t>
            </a:r>
            <a:r>
              <a:rPr lang="en-US" dirty="0"/>
              <a:t> (5-10  times higher than Si)</a:t>
            </a:r>
          </a:p>
          <a:p>
            <a:pPr lvl="1"/>
            <a:r>
              <a:rPr lang="en-US" dirty="0"/>
              <a:t>the total stray inductance in the current commutation loops </a:t>
            </a:r>
            <a:r>
              <a:rPr lang="en-US" dirty="0" smtClean="0"/>
              <a:t>(</a:t>
            </a:r>
            <a:r>
              <a:rPr lang="en-US" dirty="0"/>
              <a:t>CCLs)</a:t>
            </a:r>
          </a:p>
          <a:p>
            <a:pPr lvl="2"/>
            <a:r>
              <a:rPr lang="en-US" sz="1400" dirty="0"/>
              <a:t>the parasitic inductance of the dc-link capacitors</a:t>
            </a:r>
          </a:p>
          <a:p>
            <a:pPr lvl="2"/>
            <a:r>
              <a:rPr lang="en-US" sz="1400" dirty="0"/>
              <a:t>the stray inductance of the semiconductor devices or power modules</a:t>
            </a:r>
          </a:p>
          <a:p>
            <a:pPr lvl="2"/>
            <a:r>
              <a:rPr lang="en-US" sz="1400" dirty="0"/>
              <a:t>the stray inductance on the bus bars connecting the capacitors and the power devices.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9122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Busbar</a:t>
            </a:r>
            <a:r>
              <a:rPr lang="en-US" dirty="0" smtClean="0"/>
              <a:t> Design</a:t>
            </a:r>
            <a:endParaRPr lang="sv-S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43608" y="897732"/>
            <a:ext cx="7765653" cy="343852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The laminated bus bar structure</a:t>
            </a:r>
            <a:r>
              <a:rPr lang="en-US" sz="2000" dirty="0"/>
              <a:t>, which consists of multiple copper sheets, separated from each other by a </a:t>
            </a:r>
            <a:r>
              <a:rPr lang="en-US" sz="2000" b="1" dirty="0"/>
              <a:t>dielectric material</a:t>
            </a:r>
            <a:r>
              <a:rPr lang="en-US" sz="2000" dirty="0"/>
              <a:t>, is commonly used since it can effectively reduce the stray inductance. A proper </a:t>
            </a:r>
            <a:r>
              <a:rPr lang="en-US" sz="2000" dirty="0" err="1"/>
              <a:t>busbar</a:t>
            </a:r>
            <a:r>
              <a:rPr lang="en-US" sz="2000" dirty="0"/>
              <a:t> decrease: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voltage overshoot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electromagnetic interference (EMI) emission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switching losses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thermal stress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7103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Busbar</a:t>
            </a:r>
            <a:r>
              <a:rPr lang="en-US" dirty="0" smtClean="0"/>
              <a:t> Design</a:t>
            </a:r>
            <a:endParaRPr lang="sv-SE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31590"/>
            <a:ext cx="3672408" cy="3438525"/>
          </a:xfrm>
        </p:spPr>
        <p:txBody>
          <a:bodyPr/>
          <a:lstStyle/>
          <a:p>
            <a:pPr marL="285750" indent="-285750"/>
            <a:r>
              <a:rPr lang="en-US" sz="1500" dirty="0" smtClean="0"/>
              <a:t>High-frequency current flow paths should be considered.</a:t>
            </a:r>
          </a:p>
          <a:p>
            <a:pPr marL="285750" indent="-285750"/>
            <a:r>
              <a:rPr lang="en-US" sz="1500" dirty="0" smtClean="0"/>
              <a:t>The layout of the </a:t>
            </a:r>
            <a:r>
              <a:rPr lang="en-US" sz="1500" dirty="0" err="1" smtClean="0"/>
              <a:t>busbar</a:t>
            </a:r>
            <a:r>
              <a:rPr lang="en-US" sz="1500" dirty="0" smtClean="0"/>
              <a:t> should be symmetric.</a:t>
            </a:r>
          </a:p>
          <a:p>
            <a:pPr marL="285750" indent="-285750"/>
            <a:r>
              <a:rPr lang="en-US" sz="1500" dirty="0" smtClean="0"/>
              <a:t>Current distribution should be homogenized.</a:t>
            </a:r>
          </a:p>
          <a:p>
            <a:pPr marL="285750" indent="-285750"/>
            <a:endParaRPr lang="en-US" sz="1500" dirty="0" smtClean="0"/>
          </a:p>
          <a:p>
            <a:pPr marL="0" indent="0">
              <a:buNone/>
            </a:pPr>
            <a:r>
              <a:rPr lang="en-US" sz="1500" dirty="0" smtClean="0"/>
              <a:t>Analytical calculations or FEA can be used to calculate stray inductances. </a:t>
            </a:r>
          </a:p>
          <a:p>
            <a:pPr marL="0" indent="0">
              <a:buNone/>
            </a:pPr>
            <a:r>
              <a:rPr lang="en-US" sz="1500" dirty="0" smtClean="0"/>
              <a:t>The stray inductances in current commutation loops should be minimized. (Typically order of 10nH)</a:t>
            </a:r>
          </a:p>
          <a:p>
            <a:pPr marL="0" indent="0">
              <a:buNone/>
            </a:pPr>
            <a:endParaRPr lang="sv-SE" sz="1500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 rotWithShape="1">
          <a:blip r:embed="rId2"/>
          <a:srcRect l="4462" t="3108" r="7375" b="879"/>
          <a:stretch/>
        </p:blipFill>
        <p:spPr>
          <a:xfrm>
            <a:off x="4139952" y="3075806"/>
            <a:ext cx="2300778" cy="14329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8400" t="3712" r="7605" b="1143"/>
          <a:stretch/>
        </p:blipFill>
        <p:spPr>
          <a:xfrm>
            <a:off x="3881813" y="1008045"/>
            <a:ext cx="2267594" cy="1842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8744" t="11355" r="7727"/>
          <a:stretch/>
        </p:blipFill>
        <p:spPr>
          <a:xfrm>
            <a:off x="6263530" y="1059582"/>
            <a:ext cx="2436476" cy="16765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311" r="13921"/>
          <a:stretch/>
        </p:blipFill>
        <p:spPr>
          <a:xfrm>
            <a:off x="6660232" y="3119632"/>
            <a:ext cx="2068872" cy="14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2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9558</TotalTime>
  <Words>4837</Words>
  <Application>Microsoft Office PowerPoint</Application>
  <PresentationFormat>On-screen Show (16:9)</PresentationFormat>
  <Paragraphs>387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Times New Roman</vt:lpstr>
      <vt:lpstr>Office-tema</vt:lpstr>
      <vt:lpstr>Holistic Design of 300kW (600kW) Traction Inverter</vt:lpstr>
      <vt:lpstr>Agenda</vt:lpstr>
      <vt:lpstr>Key parameter indicators (KPIs)</vt:lpstr>
      <vt:lpstr>Commercial Traction Drives</vt:lpstr>
      <vt:lpstr>Commercial Traction Drives</vt:lpstr>
      <vt:lpstr>Commercial Traction Drives and Targets</vt:lpstr>
      <vt:lpstr>Trends</vt:lpstr>
      <vt:lpstr>Design Chapters for Holistic Design</vt:lpstr>
      <vt:lpstr>Stepwise Design Methodologies</vt:lpstr>
      <vt:lpstr>Traction Drives Topologies</vt:lpstr>
      <vt:lpstr>PowerPoint Presentation</vt:lpstr>
      <vt:lpstr>Two-level Conventional Inverters</vt:lpstr>
      <vt:lpstr>PowerPoint Presentation</vt:lpstr>
      <vt:lpstr>Three-level Inverters</vt:lpstr>
      <vt:lpstr>Three-level Inverters - Comparison</vt:lpstr>
      <vt:lpstr>Modular multi-level converters (MMC)</vt:lpstr>
      <vt:lpstr>Cascaded H-Bridge (CHB)</vt:lpstr>
      <vt:lpstr>Stacked Polyphase Bridge (SPB) Converter </vt:lpstr>
      <vt:lpstr>Integrated modular motor drives (IMMD)</vt:lpstr>
      <vt:lpstr>IMMD</vt:lpstr>
      <vt:lpstr>Multi Phase </vt:lpstr>
      <vt:lpstr>Thermal Management (Liquid-Cooling System)</vt:lpstr>
      <vt:lpstr>DC-link Capacitor Selection</vt:lpstr>
      <vt:lpstr>Minimization of the DC-link capacitance  </vt:lpstr>
      <vt:lpstr>Prices and Power Densities</vt:lpstr>
      <vt:lpstr>Busbar Design</vt:lpstr>
      <vt:lpstr>Busbar Design</vt:lpstr>
      <vt:lpstr>Busbar Design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124</cp:revision>
  <dcterms:created xsi:type="dcterms:W3CDTF">2019-12-10T08:55:59Z</dcterms:created>
  <dcterms:modified xsi:type="dcterms:W3CDTF">2025-05-19T12:05:44Z</dcterms:modified>
</cp:coreProperties>
</file>