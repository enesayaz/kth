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5"/>
  </p:notesMasterIdLst>
  <p:sldIdLst>
    <p:sldId id="256" r:id="rId2"/>
    <p:sldId id="261" r:id="rId3"/>
    <p:sldId id="263" r:id="rId4"/>
  </p:sldIdLst>
  <p:sldSz cx="12192000" cy="6858000"/>
  <p:notesSz cx="6858000" cy="9144000"/>
  <p:embeddedFontLst>
    <p:embeddedFont>
      <p:font typeface="Figtree" panose="020B0604020202020204" charset="0"/>
      <p:regular r:id="rId6"/>
      <p:bold r:id="rId7"/>
      <p:italic r:id="rId8"/>
      <p:boldItalic r:id="rId9"/>
    </p:embeddedFont>
    <p:embeddedFont>
      <p:font typeface="Calibri" panose="020F0502020204030204" pitchFamily="34" charset="0"/>
      <p:regular r:id="rId10"/>
      <p:bold r:id="rId11"/>
      <p:italic r:id="rId12"/>
      <p:boldItalic r:id="rId13"/>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448" autoAdjust="0"/>
    <p:restoredTop sz="96327"/>
  </p:normalViewPr>
  <p:slideViewPr>
    <p:cSldViewPr snapToGrid="0">
      <p:cViewPr varScale="1">
        <p:scale>
          <a:sx n="160" d="100"/>
          <a:sy n="160" d="100"/>
        </p:scale>
        <p:origin x="306"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font" Target="fonts/font8.fntdata"/><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font" Target="fonts/font7.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font" Target="fonts/font6.fntdata"/><Relationship Id="rId5" Type="http://schemas.openxmlformats.org/officeDocument/2006/relationships/notesMaster" Target="notesMasters/notesMaster1.xml"/><Relationship Id="rId15" Type="http://schemas.openxmlformats.org/officeDocument/2006/relationships/viewProps" Target="viewProps.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2025-12-02</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2025-12-02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2025-12-02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2025-12-02</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2025-12-02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2025-12-02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2025-12-02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2025-12-02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2025-12-02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2025-12-02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2025-12-02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2025-12-02</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2025-12-02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2025-12-02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2025-12-02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2025-12-02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2025-12-02</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2025-12-02</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2025-12-02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2025-12-02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2025-12-02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2025-12-02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2025-12-02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2025-12-02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2025-12-02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2025-12-02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2025-12-02</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2025-12-02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2025-12-02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2025-12-02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2025-12-02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2025-12-02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2025-12-02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2025-12-02</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2025-12-02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2025-12-02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2025-12-02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2025-12-02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2025-12-02</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2025-12-02</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2025-12-02</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2025-12-02</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2025-12-02</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2025-12-02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2025-12-02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2025-12-02</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2025-12-02</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G"/><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 Id="rId4"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201737" y="307628"/>
            <a:ext cx="10990263" cy="568412"/>
          </a:xfrm>
        </p:spPr>
        <p:txBody>
          <a:bodyPr/>
          <a:lstStyle/>
          <a:p>
            <a:r>
              <a:rPr lang="en-US" dirty="0" smtClean="0"/>
              <a:t>Raising the </a:t>
            </a:r>
            <a:r>
              <a:rPr lang="en-US" dirty="0"/>
              <a:t>DC-Link Voltage </a:t>
            </a:r>
            <a:r>
              <a:rPr lang="en-US" dirty="0" smtClean="0"/>
              <a:t>in Traction Inverter</a:t>
            </a:r>
            <a:r>
              <a:rPr lang="en-US" dirty="0"/>
              <a:t/>
            </a:r>
            <a:br>
              <a:rPr lang="en-US" dirty="0"/>
            </a:br>
            <a:endParaRPr lang="sv-SE" dirty="0"/>
          </a:p>
        </p:txBody>
      </p:sp>
      <p:pic>
        <p:nvPicPr>
          <p:cNvPr id="14" name="Picture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9619" y="1145255"/>
            <a:ext cx="4085568" cy="1904179"/>
          </a:xfrm>
          <a:prstGeom prst="rect">
            <a:avLst/>
          </a:prstGeom>
        </p:spPr>
      </p:pic>
      <p:pic>
        <p:nvPicPr>
          <p:cNvPr id="24" name="Picture 2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99" y="3764343"/>
            <a:ext cx="4257676" cy="2174132"/>
          </a:xfrm>
          <a:prstGeom prst="rect">
            <a:avLst/>
          </a:prstGeom>
        </p:spPr>
      </p:pic>
      <p:pic>
        <p:nvPicPr>
          <p:cNvPr id="22" name="Picture 2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57118" y="3096968"/>
            <a:ext cx="3670570" cy="1874333"/>
          </a:xfrm>
          <a:prstGeom prst="rect">
            <a:avLst/>
          </a:prstGeom>
        </p:spPr>
      </p:pic>
      <p:pic>
        <p:nvPicPr>
          <p:cNvPr id="21" name="Picture 20" descr="EfficiencyMap.png"/>
          <p:cNvPicPr>
            <a:picLocks noChangeAspect="1"/>
          </p:cNvPicPr>
          <p:nvPr/>
        </p:nvPicPr>
        <p:blipFill>
          <a:blip r:embed="rId5"/>
          <a:stretch>
            <a:fillRect/>
          </a:stretch>
        </p:blipFill>
        <p:spPr>
          <a:xfrm>
            <a:off x="4379347" y="4971301"/>
            <a:ext cx="3426112" cy="1749503"/>
          </a:xfrm>
          <a:prstGeom prst="rect">
            <a:avLst/>
          </a:prstGeom>
        </p:spPr>
      </p:pic>
      <p:sp>
        <p:nvSpPr>
          <p:cNvPr id="32" name="Rectangle 31"/>
          <p:cNvSpPr/>
          <p:nvPr/>
        </p:nvSpPr>
        <p:spPr>
          <a:xfrm>
            <a:off x="76199" y="1115555"/>
            <a:ext cx="4257676" cy="1754326"/>
          </a:xfrm>
          <a:prstGeom prst="rect">
            <a:avLst/>
          </a:prstGeom>
        </p:spPr>
        <p:txBody>
          <a:bodyPr wrap="square">
            <a:spAutoFit/>
          </a:bodyPr>
          <a:lstStyle/>
          <a:p>
            <a:pPr marL="342900" indent="-342900">
              <a:buFont typeface="+mj-lt"/>
              <a:buAutoNum type="arabicPeriod"/>
            </a:pPr>
            <a:r>
              <a:rPr lang="en-US" dirty="0"/>
              <a:t>Transitioning to </a:t>
            </a:r>
            <a:r>
              <a:rPr lang="en-US" b="1" dirty="0"/>
              <a:t>1200 V </a:t>
            </a:r>
            <a:r>
              <a:rPr lang="en-US" b="1" dirty="0" smtClean="0"/>
              <a:t>DC-link </a:t>
            </a:r>
            <a:r>
              <a:rPr lang="en-US" dirty="0" smtClean="0"/>
              <a:t>(from 800V) </a:t>
            </a:r>
            <a:r>
              <a:rPr lang="en-US" dirty="0"/>
              <a:t>reduces current by ~45 % for the same power</a:t>
            </a:r>
            <a:r>
              <a:rPr lang="en-US" dirty="0" smtClean="0"/>
              <a:t>.</a:t>
            </a:r>
          </a:p>
          <a:p>
            <a:pPr marL="342900" indent="-342900">
              <a:buFont typeface="+mj-lt"/>
              <a:buAutoNum type="arabicPeriod"/>
            </a:pPr>
            <a:r>
              <a:rPr lang="en-US" b="1" dirty="0" smtClean="0"/>
              <a:t>Lower </a:t>
            </a:r>
            <a:r>
              <a:rPr lang="en-US" b="1" dirty="0"/>
              <a:t>current </a:t>
            </a:r>
            <a:r>
              <a:rPr lang="en-US" dirty="0"/>
              <a:t>→ </a:t>
            </a:r>
            <a:r>
              <a:rPr lang="en-US" b="1" dirty="0"/>
              <a:t>lower conduction and copper losses (</a:t>
            </a:r>
            <a:r>
              <a:rPr lang="en-US" dirty="0"/>
              <a:t>~40 </a:t>
            </a:r>
            <a:r>
              <a:rPr lang="en-US" dirty="0" smtClean="0"/>
              <a:t>%).</a:t>
            </a:r>
          </a:p>
          <a:p>
            <a:pPr marL="342900" indent="-342900">
              <a:buFont typeface="+mj-lt"/>
              <a:buAutoNum type="arabicPeriod"/>
            </a:pPr>
            <a:r>
              <a:rPr lang="en-US" dirty="0" smtClean="0"/>
              <a:t>Enables </a:t>
            </a:r>
            <a:r>
              <a:rPr lang="en-US" b="1" dirty="0" smtClean="0"/>
              <a:t>Megawatt </a:t>
            </a:r>
            <a:r>
              <a:rPr lang="en-US" b="1" dirty="0"/>
              <a:t>fast </a:t>
            </a:r>
            <a:r>
              <a:rPr lang="en-US" b="1" dirty="0" smtClean="0"/>
              <a:t>charging</a:t>
            </a:r>
            <a:endParaRPr lang="sv-SE" b="1" dirty="0"/>
          </a:p>
        </p:txBody>
      </p:sp>
      <p:sp>
        <p:nvSpPr>
          <p:cNvPr id="34" name="Rectangle 33"/>
          <p:cNvSpPr/>
          <p:nvPr/>
        </p:nvSpPr>
        <p:spPr>
          <a:xfrm>
            <a:off x="8135187" y="1115555"/>
            <a:ext cx="4056813" cy="2308324"/>
          </a:xfrm>
          <a:prstGeom prst="rect">
            <a:avLst/>
          </a:prstGeom>
        </p:spPr>
        <p:txBody>
          <a:bodyPr wrap="square">
            <a:spAutoFit/>
          </a:bodyPr>
          <a:lstStyle/>
          <a:p>
            <a:pPr marL="342900" indent="-342900">
              <a:buFont typeface="+mj-lt"/>
              <a:buAutoNum type="arabicPeriod"/>
            </a:pPr>
            <a:r>
              <a:rPr lang="sv-SE" b="1" dirty="0" err="1"/>
              <a:t>Two-level</a:t>
            </a:r>
            <a:r>
              <a:rPr lang="sv-SE" b="1" dirty="0"/>
              <a:t> </a:t>
            </a:r>
            <a:r>
              <a:rPr lang="sv-SE" b="1" dirty="0" err="1"/>
              <a:t>SiC</a:t>
            </a:r>
            <a:r>
              <a:rPr lang="sv-SE" b="1" dirty="0"/>
              <a:t> </a:t>
            </a:r>
            <a:r>
              <a:rPr lang="sv-SE" b="1" dirty="0" err="1"/>
              <a:t>inverter</a:t>
            </a:r>
            <a:r>
              <a:rPr lang="sv-SE" b="1" dirty="0"/>
              <a:t> </a:t>
            </a:r>
            <a:r>
              <a:rPr lang="sv-SE" dirty="0" err="1"/>
              <a:t>remains</a:t>
            </a:r>
            <a:r>
              <a:rPr lang="sv-SE" dirty="0"/>
              <a:t> </a:t>
            </a:r>
            <a:r>
              <a:rPr lang="sv-SE" dirty="0" err="1"/>
              <a:t>compact</a:t>
            </a:r>
            <a:r>
              <a:rPr lang="sv-SE" dirty="0"/>
              <a:t> and </a:t>
            </a:r>
            <a:r>
              <a:rPr lang="sv-SE" dirty="0" err="1"/>
              <a:t>efficient</a:t>
            </a:r>
            <a:r>
              <a:rPr lang="sv-SE" dirty="0"/>
              <a:t> at </a:t>
            </a:r>
            <a:r>
              <a:rPr lang="sv-SE" dirty="0" err="1"/>
              <a:t>higher</a:t>
            </a:r>
            <a:r>
              <a:rPr lang="sv-SE" dirty="0"/>
              <a:t> </a:t>
            </a:r>
            <a:r>
              <a:rPr lang="sv-SE" dirty="0" err="1"/>
              <a:t>voltage</a:t>
            </a:r>
            <a:r>
              <a:rPr lang="sv-SE" dirty="0" smtClean="0"/>
              <a:t>.</a:t>
            </a:r>
          </a:p>
          <a:p>
            <a:pPr marL="342900" indent="-342900">
              <a:buFont typeface="+mj-lt"/>
              <a:buAutoNum type="arabicPeriod"/>
            </a:pPr>
            <a:r>
              <a:rPr lang="sv-SE" b="1" dirty="0" smtClean="0"/>
              <a:t>Optimal </a:t>
            </a:r>
            <a:r>
              <a:rPr lang="sv-SE" b="1" dirty="0" err="1"/>
              <a:t>die</a:t>
            </a:r>
            <a:r>
              <a:rPr lang="sv-SE" b="1" dirty="0"/>
              <a:t> area &amp; </a:t>
            </a:r>
            <a:r>
              <a:rPr lang="sv-SE" b="1" dirty="0" err="1"/>
              <a:t>switching</a:t>
            </a:r>
            <a:r>
              <a:rPr lang="sv-SE" b="1" dirty="0"/>
              <a:t> </a:t>
            </a:r>
            <a:r>
              <a:rPr lang="sv-SE" b="1" dirty="0" err="1"/>
              <a:t>frequency</a:t>
            </a:r>
            <a:r>
              <a:rPr lang="sv-SE" b="1" dirty="0"/>
              <a:t> </a:t>
            </a:r>
            <a:r>
              <a:rPr lang="sv-SE" b="1" dirty="0" smtClean="0"/>
              <a:t>(≈ 14 kHz) </a:t>
            </a:r>
            <a:r>
              <a:rPr lang="sv-SE" dirty="0" err="1" smtClean="0"/>
              <a:t>selected</a:t>
            </a:r>
            <a:r>
              <a:rPr lang="sv-SE" dirty="0" smtClean="0"/>
              <a:t> </a:t>
            </a:r>
            <a:r>
              <a:rPr lang="sv-SE" dirty="0"/>
              <a:t>for loss </a:t>
            </a:r>
            <a:r>
              <a:rPr lang="sv-SE" dirty="0" err="1"/>
              <a:t>balance</a:t>
            </a:r>
            <a:r>
              <a:rPr lang="sv-SE" dirty="0" smtClean="0"/>
              <a:t>.</a:t>
            </a:r>
          </a:p>
          <a:p>
            <a:pPr marL="342900" indent="-342900">
              <a:buFont typeface="+mj-lt"/>
              <a:buAutoNum type="arabicPeriod"/>
            </a:pPr>
            <a:r>
              <a:rPr lang="sv-SE" dirty="0" err="1" smtClean="0"/>
              <a:t>Achieves</a:t>
            </a:r>
            <a:r>
              <a:rPr lang="sv-SE" dirty="0" smtClean="0"/>
              <a:t> </a:t>
            </a:r>
            <a:r>
              <a:rPr lang="el-GR" b="1" dirty="0"/>
              <a:t>η ≈ </a:t>
            </a:r>
            <a:r>
              <a:rPr lang="el-GR" b="1" dirty="0" smtClean="0"/>
              <a:t>99.</a:t>
            </a:r>
            <a:r>
              <a:rPr lang="en-US" b="1" dirty="0" smtClean="0"/>
              <a:t>5</a:t>
            </a:r>
            <a:r>
              <a:rPr lang="el-GR" b="1" dirty="0" smtClean="0"/>
              <a:t> </a:t>
            </a:r>
            <a:r>
              <a:rPr lang="el-GR" b="1" dirty="0"/>
              <a:t>%, ~35 % </a:t>
            </a:r>
            <a:r>
              <a:rPr lang="sv-SE" b="1" dirty="0" err="1"/>
              <a:t>smaller</a:t>
            </a:r>
            <a:r>
              <a:rPr lang="sv-SE" dirty="0"/>
              <a:t> DC-</a:t>
            </a:r>
            <a:r>
              <a:rPr lang="sv-SE" dirty="0" err="1"/>
              <a:t>link</a:t>
            </a:r>
            <a:r>
              <a:rPr lang="sv-SE" dirty="0"/>
              <a:t> </a:t>
            </a:r>
            <a:r>
              <a:rPr lang="sv-SE" dirty="0" err="1"/>
              <a:t>capacitor</a:t>
            </a:r>
            <a:r>
              <a:rPr lang="sv-SE" dirty="0"/>
              <a:t> </a:t>
            </a:r>
            <a:r>
              <a:rPr lang="sv-SE" dirty="0" err="1"/>
              <a:t>volume</a:t>
            </a:r>
            <a:r>
              <a:rPr lang="sv-SE" dirty="0"/>
              <a:t>.</a:t>
            </a:r>
          </a:p>
        </p:txBody>
      </p:sp>
      <p:sp>
        <p:nvSpPr>
          <p:cNvPr id="35" name="Title 12"/>
          <p:cNvSpPr txBox="1">
            <a:spLocks/>
          </p:cNvSpPr>
          <p:nvPr/>
        </p:nvSpPr>
        <p:spPr>
          <a:xfrm>
            <a:off x="183691" y="6349157"/>
            <a:ext cx="11609388" cy="324196"/>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pPr algn="just"/>
            <a:r>
              <a:rPr lang="en-US" sz="2000" b="0" dirty="0" smtClean="0"/>
              <a:t>Enes Ayaz 									enesa@kth.se </a:t>
            </a:r>
            <a:r>
              <a:rPr lang="en-US" sz="3200" dirty="0" smtClean="0"/>
              <a:t/>
            </a:r>
            <a:br>
              <a:rPr lang="en-US" sz="3200" dirty="0" smtClean="0"/>
            </a:br>
            <a:r>
              <a:rPr lang="en-US" sz="3200" dirty="0" smtClean="0"/>
              <a:t> </a:t>
            </a:r>
            <a:br>
              <a:rPr lang="en-US" sz="3200" dirty="0" smtClean="0"/>
            </a:br>
            <a:endParaRPr lang="sv-SE" sz="3200" dirty="0"/>
          </a:p>
        </p:txBody>
      </p:sp>
      <p:pic>
        <p:nvPicPr>
          <p:cNvPr id="12" name="Picture 11" descr="TotalLossOptimization.png"/>
          <p:cNvPicPr>
            <a:picLocks noChangeAspect="1"/>
          </p:cNvPicPr>
          <p:nvPr/>
        </p:nvPicPr>
        <p:blipFill>
          <a:blip r:embed="rId6"/>
          <a:stretch>
            <a:fillRect/>
          </a:stretch>
        </p:blipFill>
        <p:spPr>
          <a:xfrm>
            <a:off x="8377110" y="3794219"/>
            <a:ext cx="3397906" cy="2265271"/>
          </a:xfrm>
          <a:prstGeom prst="rect">
            <a:avLst/>
          </a:prstGeom>
        </p:spPr>
      </p:pic>
    </p:spTree>
    <p:extLst>
      <p:ext uri="{BB962C8B-B14F-4D97-AF65-F5344CB8AC3E}">
        <p14:creationId xmlns:p14="http://schemas.microsoft.com/office/powerpoint/2010/main" val="11910489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201737" y="307628"/>
            <a:ext cx="10990263" cy="568412"/>
          </a:xfrm>
        </p:spPr>
        <p:txBody>
          <a:bodyPr/>
          <a:lstStyle/>
          <a:p>
            <a:r>
              <a:rPr lang="en-US" dirty="0" smtClean="0"/>
              <a:t>System-Level </a:t>
            </a:r>
            <a:r>
              <a:rPr lang="en-US" dirty="0"/>
              <a:t>Efficiency and Loss Trade-offs</a:t>
            </a:r>
            <a:br>
              <a:rPr lang="en-US" dirty="0"/>
            </a:br>
            <a:r>
              <a:rPr lang="en-US" dirty="0"/>
              <a:t> </a:t>
            </a:r>
            <a:br>
              <a:rPr lang="en-US" dirty="0"/>
            </a:br>
            <a:endParaRPr lang="sv-SE" dirty="0"/>
          </a:p>
        </p:txBody>
      </p:sp>
      <p:pic>
        <p:nvPicPr>
          <p:cNvPr id="16" name="Picture 15" descr="InverterLoss.png"/>
          <p:cNvPicPr>
            <a:picLocks noChangeAspect="1"/>
          </p:cNvPicPr>
          <p:nvPr/>
        </p:nvPicPr>
        <p:blipFill>
          <a:blip r:embed="rId2"/>
          <a:stretch>
            <a:fillRect/>
          </a:stretch>
        </p:blipFill>
        <p:spPr>
          <a:xfrm>
            <a:off x="166687" y="3321051"/>
            <a:ext cx="3905250" cy="2603500"/>
          </a:xfrm>
          <a:prstGeom prst="rect">
            <a:avLst/>
          </a:prstGeom>
        </p:spPr>
      </p:pic>
      <p:pic>
        <p:nvPicPr>
          <p:cNvPr id="17" name="Picture 16" descr="MotorLosses.png"/>
          <p:cNvPicPr>
            <a:picLocks noChangeAspect="1"/>
          </p:cNvPicPr>
          <p:nvPr/>
        </p:nvPicPr>
        <p:blipFill>
          <a:blip r:embed="rId3"/>
          <a:stretch>
            <a:fillRect/>
          </a:stretch>
        </p:blipFill>
        <p:spPr>
          <a:xfrm>
            <a:off x="8208167" y="3321051"/>
            <a:ext cx="3824289" cy="2549526"/>
          </a:xfrm>
          <a:prstGeom prst="rect">
            <a:avLst/>
          </a:prstGeom>
        </p:spPr>
      </p:pic>
      <p:pic>
        <p:nvPicPr>
          <p:cNvPr id="18" name="Picture 17" descr="TotalLossOptimization.png"/>
          <p:cNvPicPr>
            <a:picLocks noChangeAspect="1"/>
          </p:cNvPicPr>
          <p:nvPr/>
        </p:nvPicPr>
        <p:blipFill>
          <a:blip r:embed="rId4"/>
          <a:stretch>
            <a:fillRect/>
          </a:stretch>
        </p:blipFill>
        <p:spPr>
          <a:xfrm>
            <a:off x="4198142" y="3321051"/>
            <a:ext cx="4010025" cy="2673350"/>
          </a:xfrm>
          <a:prstGeom prst="rect">
            <a:avLst/>
          </a:prstGeom>
        </p:spPr>
      </p:pic>
      <p:sp>
        <p:nvSpPr>
          <p:cNvPr id="4" name="Rectangle 3"/>
          <p:cNvSpPr/>
          <p:nvPr/>
        </p:nvSpPr>
        <p:spPr>
          <a:xfrm>
            <a:off x="2119312" y="1082883"/>
            <a:ext cx="8924132" cy="2031325"/>
          </a:xfrm>
          <a:prstGeom prst="rect">
            <a:avLst/>
          </a:prstGeom>
        </p:spPr>
        <p:txBody>
          <a:bodyPr wrap="square">
            <a:spAutoFit/>
          </a:bodyPr>
          <a:lstStyle/>
          <a:p>
            <a:pPr marL="342900" indent="-342900">
              <a:buFont typeface="+mj-lt"/>
              <a:buAutoNum type="arabicPeriod"/>
            </a:pPr>
            <a:r>
              <a:rPr lang="sv-SE" dirty="0"/>
              <a:t>Total </a:t>
            </a:r>
            <a:r>
              <a:rPr lang="sv-SE" dirty="0" err="1"/>
              <a:t>losses</a:t>
            </a:r>
            <a:r>
              <a:rPr lang="sv-SE" dirty="0"/>
              <a:t> = </a:t>
            </a:r>
            <a:r>
              <a:rPr lang="sv-SE" dirty="0" err="1"/>
              <a:t>inverter</a:t>
            </a:r>
            <a:r>
              <a:rPr lang="sv-SE" dirty="0"/>
              <a:t> + motor </a:t>
            </a:r>
            <a:r>
              <a:rPr lang="sv-SE" dirty="0" err="1"/>
              <a:t>harmonic</a:t>
            </a:r>
            <a:r>
              <a:rPr lang="sv-SE" dirty="0"/>
              <a:t> </a:t>
            </a:r>
            <a:r>
              <a:rPr lang="sv-SE" dirty="0" err="1"/>
              <a:t>losses</a:t>
            </a:r>
            <a:r>
              <a:rPr lang="sv-SE" dirty="0" smtClean="0"/>
              <a:t>.</a:t>
            </a:r>
          </a:p>
          <a:p>
            <a:pPr marL="342900" indent="-342900">
              <a:buFont typeface="+mj-lt"/>
              <a:buAutoNum type="arabicPeriod"/>
            </a:pPr>
            <a:r>
              <a:rPr lang="sv-SE" dirty="0" err="1" smtClean="0"/>
              <a:t>Inverter</a:t>
            </a:r>
            <a:r>
              <a:rPr lang="sv-SE" dirty="0" smtClean="0"/>
              <a:t> </a:t>
            </a:r>
            <a:r>
              <a:rPr lang="sv-SE" dirty="0" err="1"/>
              <a:t>losses</a:t>
            </a:r>
            <a:r>
              <a:rPr lang="sv-SE" dirty="0"/>
              <a:t> </a:t>
            </a:r>
            <a:r>
              <a:rPr lang="sv-SE" dirty="0" err="1"/>
              <a:t>increase</a:t>
            </a:r>
            <a:r>
              <a:rPr lang="sv-SE" dirty="0"/>
              <a:t> </a:t>
            </a:r>
            <a:r>
              <a:rPr lang="sv-SE" dirty="0" err="1"/>
              <a:t>with</a:t>
            </a:r>
            <a:r>
              <a:rPr lang="sv-SE" dirty="0"/>
              <a:t> </a:t>
            </a:r>
            <a:r>
              <a:rPr lang="sv-SE" dirty="0" err="1"/>
              <a:t>switching</a:t>
            </a:r>
            <a:r>
              <a:rPr lang="sv-SE" dirty="0"/>
              <a:t> </a:t>
            </a:r>
            <a:r>
              <a:rPr lang="sv-SE" dirty="0" err="1"/>
              <a:t>frequency,while</a:t>
            </a:r>
            <a:r>
              <a:rPr lang="sv-SE" dirty="0"/>
              <a:t> motor </a:t>
            </a:r>
            <a:r>
              <a:rPr lang="sv-SE" dirty="0" err="1"/>
              <a:t>harmonic</a:t>
            </a:r>
            <a:r>
              <a:rPr lang="sv-SE" dirty="0"/>
              <a:t> </a:t>
            </a:r>
            <a:r>
              <a:rPr lang="sv-SE" dirty="0" err="1"/>
              <a:t>losses</a:t>
            </a:r>
            <a:r>
              <a:rPr lang="sv-SE" dirty="0"/>
              <a:t> </a:t>
            </a:r>
            <a:r>
              <a:rPr lang="sv-SE" dirty="0" err="1"/>
              <a:t>decrease</a:t>
            </a:r>
            <a:r>
              <a:rPr lang="sv-SE" dirty="0"/>
              <a:t> — </a:t>
            </a:r>
            <a:r>
              <a:rPr lang="sv-SE" dirty="0" err="1"/>
              <a:t>trade</a:t>
            </a:r>
            <a:r>
              <a:rPr lang="sv-SE" dirty="0"/>
              <a:t>-off </a:t>
            </a:r>
            <a:r>
              <a:rPr lang="sv-SE" dirty="0" err="1"/>
              <a:t>point</a:t>
            </a:r>
            <a:r>
              <a:rPr lang="sv-SE" dirty="0"/>
              <a:t> ≈ 14 kHz</a:t>
            </a:r>
            <a:r>
              <a:rPr lang="sv-SE" dirty="0" smtClean="0"/>
              <a:t>.</a:t>
            </a:r>
          </a:p>
          <a:p>
            <a:pPr marL="342900" indent="-342900">
              <a:buFont typeface="+mj-lt"/>
              <a:buAutoNum type="arabicPeriod"/>
            </a:pPr>
            <a:r>
              <a:rPr lang="sv-SE" dirty="0" err="1" smtClean="0"/>
              <a:t>Equal</a:t>
            </a:r>
            <a:r>
              <a:rPr lang="sv-SE" dirty="0" smtClean="0"/>
              <a:t>-loss </a:t>
            </a:r>
            <a:r>
              <a:rPr lang="sv-SE" dirty="0"/>
              <a:t>design </a:t>
            </a:r>
            <a:r>
              <a:rPr lang="sv-SE" dirty="0" err="1"/>
              <a:t>ensures</a:t>
            </a:r>
            <a:r>
              <a:rPr lang="sv-SE" dirty="0"/>
              <a:t> fair </a:t>
            </a:r>
            <a:r>
              <a:rPr lang="sv-SE" dirty="0" err="1"/>
              <a:t>comparison</a:t>
            </a:r>
            <a:r>
              <a:rPr lang="sv-SE" dirty="0"/>
              <a:t> </a:t>
            </a:r>
            <a:r>
              <a:rPr lang="sv-SE" dirty="0" err="1"/>
              <a:t>between</a:t>
            </a:r>
            <a:r>
              <a:rPr lang="sv-SE" dirty="0"/>
              <a:t> 800 V and 1200 V systems</a:t>
            </a:r>
            <a:r>
              <a:rPr lang="sv-SE" dirty="0" smtClean="0"/>
              <a:t>.</a:t>
            </a:r>
          </a:p>
          <a:p>
            <a:pPr marL="342900" indent="-342900">
              <a:buFont typeface="+mj-lt"/>
              <a:buAutoNum type="arabicPeriod"/>
            </a:pPr>
            <a:r>
              <a:rPr lang="sv-SE" dirty="0" err="1" smtClean="0"/>
              <a:t>Holistic</a:t>
            </a:r>
            <a:r>
              <a:rPr lang="sv-SE" dirty="0" smtClean="0"/>
              <a:t> </a:t>
            </a:r>
            <a:r>
              <a:rPr lang="sv-SE" dirty="0" err="1"/>
              <a:t>optimization</a:t>
            </a:r>
            <a:r>
              <a:rPr lang="sv-SE" dirty="0"/>
              <a:t> </a:t>
            </a:r>
            <a:r>
              <a:rPr lang="sv-SE" dirty="0" err="1"/>
              <a:t>yields</a:t>
            </a:r>
            <a:r>
              <a:rPr lang="sv-SE" dirty="0"/>
              <a:t> </a:t>
            </a:r>
            <a:r>
              <a:rPr lang="el-GR" dirty="0"/>
              <a:t>η ≈ 99.3 % </a:t>
            </a:r>
            <a:r>
              <a:rPr lang="sv-SE" dirty="0"/>
              <a:t>and </a:t>
            </a:r>
            <a:r>
              <a:rPr lang="el-GR" dirty="0"/>
              <a:t>ρ_</a:t>
            </a:r>
            <a:r>
              <a:rPr lang="sv-SE" dirty="0"/>
              <a:t>P ≈ 30 kW/L at 1200 V</a:t>
            </a:r>
            <a:r>
              <a:rPr lang="sv-SE" dirty="0" smtClean="0"/>
              <a:t>.</a:t>
            </a:r>
          </a:p>
          <a:p>
            <a:pPr marL="342900" indent="-342900">
              <a:buFont typeface="+mj-lt"/>
              <a:buAutoNum type="arabicPeriod"/>
            </a:pPr>
            <a:r>
              <a:rPr lang="sv-SE" dirty="0" err="1" smtClean="0"/>
              <a:t>Analytical</a:t>
            </a:r>
            <a:r>
              <a:rPr lang="sv-SE" dirty="0" smtClean="0"/>
              <a:t> </a:t>
            </a:r>
            <a:r>
              <a:rPr lang="sv-SE" dirty="0" err="1"/>
              <a:t>results</a:t>
            </a:r>
            <a:r>
              <a:rPr lang="sv-SE" dirty="0"/>
              <a:t> </a:t>
            </a:r>
            <a:r>
              <a:rPr lang="sv-SE" dirty="0" err="1"/>
              <a:t>validated</a:t>
            </a:r>
            <a:r>
              <a:rPr lang="sv-SE" dirty="0"/>
              <a:t> via </a:t>
            </a:r>
            <a:r>
              <a:rPr lang="sv-SE" dirty="0" err="1"/>
              <a:t>calorimetric</a:t>
            </a:r>
            <a:r>
              <a:rPr lang="sv-SE" dirty="0"/>
              <a:t> </a:t>
            </a:r>
            <a:r>
              <a:rPr lang="sv-SE" dirty="0" err="1"/>
              <a:t>measurements</a:t>
            </a:r>
            <a:r>
              <a:rPr lang="sv-SE" dirty="0"/>
              <a:t> (</a:t>
            </a:r>
            <a:r>
              <a:rPr lang="el-GR" dirty="0"/>
              <a:t>Δ &lt; 3 </a:t>
            </a:r>
            <a:r>
              <a:rPr lang="el-GR" dirty="0" smtClean="0"/>
              <a:t>%).</a:t>
            </a:r>
            <a:endParaRPr lang="en-US" dirty="0" smtClean="0"/>
          </a:p>
          <a:p>
            <a:pPr marL="342900" indent="-342900">
              <a:buFont typeface="+mj-lt"/>
              <a:buAutoNum type="arabicPeriod"/>
            </a:pPr>
            <a:r>
              <a:rPr lang="sv-SE" dirty="0" err="1" smtClean="0"/>
              <a:t>Improved</a:t>
            </a:r>
            <a:r>
              <a:rPr lang="sv-SE" dirty="0" smtClean="0"/>
              <a:t> </a:t>
            </a:r>
            <a:r>
              <a:rPr lang="sv-SE" dirty="0"/>
              <a:t>overall </a:t>
            </a:r>
            <a:r>
              <a:rPr lang="sv-SE" dirty="0" err="1"/>
              <a:t>efficiency</a:t>
            </a:r>
            <a:r>
              <a:rPr lang="sv-SE" dirty="0"/>
              <a:t> → </a:t>
            </a:r>
            <a:r>
              <a:rPr lang="sv-SE" dirty="0" err="1"/>
              <a:t>lower</a:t>
            </a:r>
            <a:r>
              <a:rPr lang="sv-SE" dirty="0"/>
              <a:t> </a:t>
            </a:r>
            <a:r>
              <a:rPr lang="sv-SE" dirty="0" err="1"/>
              <a:t>lifecycle</a:t>
            </a:r>
            <a:r>
              <a:rPr lang="sv-SE" dirty="0"/>
              <a:t> </a:t>
            </a:r>
            <a:r>
              <a:rPr lang="sv-SE" dirty="0" err="1"/>
              <a:t>energy</a:t>
            </a:r>
            <a:r>
              <a:rPr lang="sv-SE" dirty="0"/>
              <a:t> </a:t>
            </a:r>
            <a:r>
              <a:rPr lang="sv-SE" dirty="0" err="1"/>
              <a:t>cost</a:t>
            </a:r>
            <a:r>
              <a:rPr lang="sv-SE" dirty="0"/>
              <a:t> and </a:t>
            </a:r>
            <a:r>
              <a:rPr lang="sv-SE" dirty="0" err="1"/>
              <a:t>thermal</a:t>
            </a:r>
            <a:r>
              <a:rPr lang="sv-SE" dirty="0"/>
              <a:t> </a:t>
            </a:r>
            <a:r>
              <a:rPr lang="sv-SE" dirty="0" err="1"/>
              <a:t>load</a:t>
            </a:r>
            <a:r>
              <a:rPr lang="sv-SE" dirty="0"/>
              <a:t>.</a:t>
            </a:r>
          </a:p>
        </p:txBody>
      </p:sp>
      <p:sp>
        <p:nvSpPr>
          <p:cNvPr id="23" name="Title 12"/>
          <p:cNvSpPr txBox="1">
            <a:spLocks/>
          </p:cNvSpPr>
          <p:nvPr/>
        </p:nvSpPr>
        <p:spPr>
          <a:xfrm>
            <a:off x="183691" y="6349157"/>
            <a:ext cx="11609388" cy="324196"/>
          </a:xfrm>
          <a:prstGeom prst="rect">
            <a:avLst/>
          </a:prstGeom>
        </p:spPr>
        <p:txBody>
          <a:bodyPr vert="horz" lIns="91440" tIns="108000" rIns="91440" bIns="45720" rtlCol="0" anchor="t">
            <a:noAutofit/>
          </a:bodyPr>
          <a:lst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a:lstStyle>
          <a:p>
            <a:pPr algn="just"/>
            <a:r>
              <a:rPr lang="en-US" sz="2000" b="0" dirty="0" smtClean="0"/>
              <a:t>Enes Ayaz 									enesa@kth.se </a:t>
            </a:r>
            <a:r>
              <a:rPr lang="en-US" sz="3200" dirty="0" smtClean="0"/>
              <a:t/>
            </a:r>
            <a:br>
              <a:rPr lang="en-US" sz="3200" dirty="0" smtClean="0"/>
            </a:br>
            <a:r>
              <a:rPr lang="en-US" sz="3200" dirty="0" smtClean="0"/>
              <a:t> </a:t>
            </a:r>
            <a:br>
              <a:rPr lang="en-US" sz="3200" dirty="0" smtClean="0"/>
            </a:br>
            <a:endParaRPr lang="sv-SE" sz="3200" dirty="0"/>
          </a:p>
        </p:txBody>
      </p:sp>
    </p:spTree>
    <p:extLst>
      <p:ext uri="{BB962C8B-B14F-4D97-AF65-F5344CB8AC3E}">
        <p14:creationId xmlns:p14="http://schemas.microsoft.com/office/powerpoint/2010/main" val="2405859044"/>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PPT figtree 240110.pptx" id="{795072EE-DD45-42AC-A6E6-0EB4211C5CBA}" vid="{6CE82EEB-BD08-490A-AACD-D5E6FAB6BFD7}"/>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figtree 240110</Template>
  <TotalTime>1136</TotalTime>
  <Words>201</Words>
  <Application>Microsoft Office PowerPoint</Application>
  <PresentationFormat>Widescreen</PresentationFormat>
  <Paragraphs>16</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Figtree</vt:lpstr>
      <vt:lpstr>Arial</vt:lpstr>
      <vt:lpstr>Calibri</vt:lpstr>
      <vt:lpstr>Office-tema</vt:lpstr>
      <vt:lpstr>PowerPoint Presentation</vt:lpstr>
      <vt:lpstr>Raising the DC-Link Voltage in Traction Inverter </vt:lpstr>
      <vt:lpstr>System-Level Efficiency and Loss Trade-offs   </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Enes Ayaz</dc:creator>
  <cp:lastModifiedBy>Enes Ayaz</cp:lastModifiedBy>
  <cp:revision>17</cp:revision>
  <dcterms:created xsi:type="dcterms:W3CDTF">2025-11-04T14:01:16Z</dcterms:created>
  <dcterms:modified xsi:type="dcterms:W3CDTF">2025-12-02T12:04:25Z</dcterms:modified>
</cp:coreProperties>
</file>