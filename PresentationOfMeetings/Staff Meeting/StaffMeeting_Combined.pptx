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9"/>
  </p:notesMasterIdLst>
  <p:sldIdLst>
    <p:sldId id="256" r:id="rId2"/>
    <p:sldId id="264" r:id="rId3"/>
    <p:sldId id="265" r:id="rId4"/>
    <p:sldId id="261" r:id="rId5"/>
    <p:sldId id="266" r:id="rId6"/>
    <p:sldId id="262" r:id="rId7"/>
    <p:sldId id="263" r:id="rId8"/>
  </p:sldIdLst>
  <p:sldSz cx="12192000" cy="6858000"/>
  <p:notesSz cx="6858000" cy="9144000"/>
  <p:embeddedFontLst>
    <p:embeddedFont>
      <p:font typeface="Adobe Fan Heiti Std B" panose="020B0700000000000000" charset="-128"/>
      <p:bold r:id="rId10"/>
    </p:embeddedFont>
    <p:embeddedFont>
      <p:font typeface="Figtree" panose="020B0604020202020204" charset="0"/>
      <p:regular r:id="rId11"/>
      <p:bold r:id="rId12"/>
      <p:italic r:id="rId13"/>
      <p:boldItalic r:id="rId14"/>
    </p:embeddedFont>
    <p:embeddedFont>
      <p:font typeface="Calibri" panose="020F0502020204030204" pitchFamily="34" charset="0"/>
      <p:regular r:id="rId15"/>
      <p:bold r:id="rId16"/>
      <p:italic r:id="rId17"/>
      <p:boldItalic r:id="rId18"/>
    </p:embeddedFont>
    <p:embeddedFont>
      <p:font typeface="Verdana" panose="020B0604030504040204" pitchFamily="34" charset="0"/>
      <p:regular r:id="rId19"/>
      <p:bold r:id="rId20"/>
      <p:italic r:id="rId21"/>
      <p:boldItalic r:id="rId22"/>
    </p:embeddedFont>
    <p:embeddedFont>
      <p:font typeface="Cambria Math" panose="02040503050406030204" pitchFamily="18" charset="0"/>
      <p:regular r:id="rId23"/>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48" autoAdjust="0"/>
    <p:restoredTop sz="96327"/>
  </p:normalViewPr>
  <p:slideViewPr>
    <p:cSldViewPr snapToGrid="0">
      <p:cViewPr varScale="1">
        <p:scale>
          <a:sx n="111" d="100"/>
          <a:sy n="111" d="100"/>
        </p:scale>
        <p:origin x="54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font" Target="fonts/font14.fntdata"/><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font" Target="fonts/font1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2025-12-03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Low-frequency interactions between the RFC and the vehicle were registered on the line from </a:t>
            </a:r>
            <a:r>
              <a:rPr lang="en-US" dirty="0" err="1" smtClean="0"/>
              <a:t>Alvesta</a:t>
            </a:r>
            <a:r>
              <a:rPr lang="en-US" dirty="0" smtClean="0"/>
              <a:t>. This line is doubly fed by two RFCs. To emulate a weak grid, one side of the line was disconnected during the test.</a:t>
            </a:r>
            <a:endParaRPr lang="sv-SE" dirty="0"/>
          </a:p>
        </p:txBody>
      </p:sp>
      <p:sp>
        <p:nvSpPr>
          <p:cNvPr id="4" name="Slide Number Placeholder 3"/>
          <p:cNvSpPr>
            <a:spLocks noGrp="1"/>
          </p:cNvSpPr>
          <p:nvPr>
            <p:ph type="sldNum" sz="quarter" idx="10"/>
          </p:nvPr>
        </p:nvSpPr>
        <p:spPr/>
        <p:txBody>
          <a:bodyPr/>
          <a:lstStyle/>
          <a:p>
            <a:fld id="{19702129-24FE-4746-9897-C7E55345F5DD}" type="slidenum">
              <a:rPr lang="sv-SE" smtClean="0"/>
              <a:t>6</a:t>
            </a:fld>
            <a:endParaRPr lang="sv-SE"/>
          </a:p>
        </p:txBody>
      </p:sp>
    </p:spTree>
    <p:extLst>
      <p:ext uri="{BB962C8B-B14F-4D97-AF65-F5344CB8AC3E}">
        <p14:creationId xmlns:p14="http://schemas.microsoft.com/office/powerpoint/2010/main" val="27974160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2025-12-03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2025-12-03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2025-12-03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2025-12-03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2025-12-03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2025-12-03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2025-12-03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2025-12-03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2025-12-03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2025-12-03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2025-12-03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5.png"/><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12.xml"/><Relationship Id="rId6" Type="http://schemas.openxmlformats.org/officeDocument/2006/relationships/image" Target="../media/image39.emf"/><Relationship Id="rId5" Type="http://schemas.openxmlformats.org/officeDocument/2006/relationships/image" Target="../media/image270.png"/><Relationship Id="rId4" Type="http://schemas.openxmlformats.org/officeDocument/2006/relationships/image" Target="../media/image3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endParaRPr lang="sv-SE"/>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E3043-A6F1-0A76-B46A-63CE25B6CE30}"/>
              </a:ext>
            </a:extLst>
          </p:cNvPr>
          <p:cNvSpPr>
            <a:spLocks noGrp="1"/>
          </p:cNvSpPr>
          <p:nvPr>
            <p:ph type="title"/>
          </p:nvPr>
        </p:nvSpPr>
        <p:spPr>
          <a:xfrm>
            <a:off x="6289672" y="394296"/>
            <a:ext cx="5655900" cy="568412"/>
          </a:xfrm>
        </p:spPr>
        <p:txBody>
          <a:bodyPr/>
          <a:lstStyle/>
          <a:p>
            <a:r>
              <a:rPr lang="en-US" sz="1800" dirty="0"/>
              <a:t>Shahriar Sarmast 		shsg@kth.se</a:t>
            </a:r>
          </a:p>
        </p:txBody>
      </p:sp>
      <p:sp>
        <p:nvSpPr>
          <p:cNvPr id="3" name="Content Placeholder 2">
            <a:extLst>
              <a:ext uri="{FF2B5EF4-FFF2-40B4-BE49-F238E27FC236}">
                <a16:creationId xmlns:a16="http://schemas.microsoft.com/office/drawing/2014/main" id="{4DD7D325-848B-0293-1E92-4198F3037489}"/>
              </a:ext>
            </a:extLst>
          </p:cNvPr>
          <p:cNvSpPr>
            <a:spLocks noGrp="1"/>
          </p:cNvSpPr>
          <p:nvPr>
            <p:ph idx="1"/>
          </p:nvPr>
        </p:nvSpPr>
        <p:spPr>
          <a:xfrm>
            <a:off x="632366" y="1277608"/>
            <a:ext cx="4741599" cy="4530302"/>
          </a:xfrm>
        </p:spPr>
        <p:txBody>
          <a:bodyPr/>
          <a:lstStyle/>
          <a:p>
            <a:r>
              <a:rPr lang="sv-SE" b="1" dirty="0"/>
              <a:t>Degradation studies on </a:t>
            </a:r>
            <a:r>
              <a:rPr lang="sv-SE" b="1" dirty="0" err="1"/>
              <a:t>SiC</a:t>
            </a:r>
            <a:r>
              <a:rPr lang="sv-SE" b="1" dirty="0"/>
              <a:t> </a:t>
            </a:r>
            <a:r>
              <a:rPr lang="sv-SE" b="1" dirty="0" err="1" smtClean="0"/>
              <a:t>MOSFETs</a:t>
            </a:r>
            <a:endParaRPr lang="sv-SE" dirty="0"/>
          </a:p>
          <a:p>
            <a:pPr lvl="1"/>
            <a:r>
              <a:rPr lang="en-US" dirty="0"/>
              <a:t>Double pulse test  </a:t>
            </a:r>
            <a:r>
              <a:rPr lang="en-US" dirty="0" smtClean="0"/>
              <a:t>setup</a:t>
            </a:r>
            <a:endParaRPr lang="en-US" dirty="0"/>
          </a:p>
          <a:p>
            <a:pPr lvl="1"/>
            <a:r>
              <a:rPr lang="en-US" dirty="0"/>
              <a:t>FEM modeling of multichip power </a:t>
            </a:r>
            <a:r>
              <a:rPr lang="en-US" dirty="0" smtClean="0"/>
              <a:t>module</a:t>
            </a:r>
            <a:endParaRPr lang="en-US" dirty="0"/>
          </a:p>
          <a:p>
            <a:pPr lvl="1"/>
            <a:r>
              <a:rPr lang="en-US" dirty="0"/>
              <a:t>Power cycling setup with calorimetry loss measurement capability (under construction!)</a:t>
            </a:r>
          </a:p>
          <a:p>
            <a:pPr lvl="1"/>
            <a:endParaRPr lang="en-US" dirty="0"/>
          </a:p>
          <a:p>
            <a:pPr lvl="1"/>
            <a:endParaRPr lang="en-US" dirty="0"/>
          </a:p>
        </p:txBody>
      </p:sp>
      <p:pic>
        <p:nvPicPr>
          <p:cNvPr id="9" name="Picture 8" descr="A computer generated image of a circuit board&#10;&#10;AI-generated content may be incorrect.">
            <a:extLst>
              <a:ext uri="{FF2B5EF4-FFF2-40B4-BE49-F238E27FC236}">
                <a16:creationId xmlns:a16="http://schemas.microsoft.com/office/drawing/2014/main" id="{2EAD6965-0589-1B19-CA31-5CD09BA8D041}"/>
              </a:ext>
            </a:extLst>
          </p:cNvPr>
          <p:cNvPicPr>
            <a:picLocks noChangeAspect="1"/>
          </p:cNvPicPr>
          <p:nvPr/>
        </p:nvPicPr>
        <p:blipFill>
          <a:blip r:embed="rId2"/>
          <a:stretch>
            <a:fillRect/>
          </a:stretch>
        </p:blipFill>
        <p:spPr>
          <a:xfrm>
            <a:off x="5918383" y="4161245"/>
            <a:ext cx="2658750" cy="2209650"/>
          </a:xfrm>
          <a:prstGeom prst="rect">
            <a:avLst/>
          </a:prstGeom>
        </p:spPr>
      </p:pic>
      <p:pic>
        <p:nvPicPr>
          <p:cNvPr id="4" name="Picture 3" descr="A diagram of a heat exchanger&#10;&#10;AI-generated content may be incorrect.">
            <a:extLst>
              <a:ext uri="{FF2B5EF4-FFF2-40B4-BE49-F238E27FC236}">
                <a16:creationId xmlns:a16="http://schemas.microsoft.com/office/drawing/2014/main" id="{2F650D06-3933-9265-1D9B-54394E8B2DD7}"/>
              </a:ext>
            </a:extLst>
          </p:cNvPr>
          <p:cNvPicPr>
            <a:picLocks noChangeAspect="1"/>
          </p:cNvPicPr>
          <p:nvPr/>
        </p:nvPicPr>
        <p:blipFill>
          <a:blip r:embed="rId3"/>
          <a:stretch>
            <a:fillRect/>
          </a:stretch>
        </p:blipFill>
        <p:spPr>
          <a:xfrm>
            <a:off x="8586014" y="4161245"/>
            <a:ext cx="3071789" cy="2160910"/>
          </a:xfrm>
          <a:prstGeom prst="rect">
            <a:avLst/>
          </a:prstGeom>
        </p:spPr>
      </p:pic>
      <p:pic>
        <p:nvPicPr>
          <p:cNvPr id="6" name="Content Placeholder 4" descr="A machine with wires and wires&#10;&#10;Description automatically generated">
            <a:extLst>
              <a:ext uri="{FF2B5EF4-FFF2-40B4-BE49-F238E27FC236}">
                <a16:creationId xmlns:a16="http://schemas.microsoft.com/office/drawing/2014/main" id="{59457D66-3DE8-787D-902B-128B128F7C02}"/>
              </a:ext>
            </a:extLst>
          </p:cNvPr>
          <p:cNvPicPr>
            <a:picLocks noChangeAspect="1"/>
          </p:cNvPicPr>
          <p:nvPr/>
        </p:nvPicPr>
        <p:blipFill>
          <a:blip r:embed="rId4"/>
          <a:stretch>
            <a:fillRect/>
          </a:stretch>
        </p:blipFill>
        <p:spPr>
          <a:xfrm>
            <a:off x="5821652" y="1227961"/>
            <a:ext cx="3018032" cy="2160910"/>
          </a:xfrm>
          <a:prstGeom prst="rect">
            <a:avLst/>
          </a:prstGeom>
        </p:spPr>
      </p:pic>
      <p:pic>
        <p:nvPicPr>
          <p:cNvPr id="7" name="Picture 6" descr="A diagram of a voltage diagram&#10;&#10;Description automatically generated">
            <a:extLst>
              <a:ext uri="{FF2B5EF4-FFF2-40B4-BE49-F238E27FC236}">
                <a16:creationId xmlns:a16="http://schemas.microsoft.com/office/drawing/2014/main" id="{7A2E7FEF-EBE5-9E0B-BB78-9B8957A06870}"/>
              </a:ext>
            </a:extLst>
          </p:cNvPr>
          <p:cNvPicPr>
            <a:picLocks noChangeAspect="1"/>
          </p:cNvPicPr>
          <p:nvPr/>
        </p:nvPicPr>
        <p:blipFill>
          <a:blip r:embed="rId5"/>
          <a:stretch>
            <a:fillRect/>
          </a:stretch>
        </p:blipFill>
        <p:spPr>
          <a:xfrm>
            <a:off x="8882139" y="1143099"/>
            <a:ext cx="2834775" cy="2245772"/>
          </a:xfrm>
          <a:prstGeom prst="rect">
            <a:avLst/>
          </a:prstGeom>
        </p:spPr>
      </p:pic>
      <p:pic>
        <p:nvPicPr>
          <p:cNvPr id="10" name="Picture 9" descr="A diagram of a machine&#10;&#10;AI-generated content may be incorrect.">
            <a:extLst>
              <a:ext uri="{FF2B5EF4-FFF2-40B4-BE49-F238E27FC236}">
                <a16:creationId xmlns:a16="http://schemas.microsoft.com/office/drawing/2014/main" id="{1EC6DEFE-A611-988B-2F94-A2235162452B}"/>
              </a:ext>
            </a:extLst>
          </p:cNvPr>
          <p:cNvPicPr>
            <a:picLocks noChangeAspect="1"/>
          </p:cNvPicPr>
          <p:nvPr/>
        </p:nvPicPr>
        <p:blipFill>
          <a:blip r:embed="rId6"/>
          <a:stretch>
            <a:fillRect/>
          </a:stretch>
        </p:blipFill>
        <p:spPr>
          <a:xfrm>
            <a:off x="1441082" y="3920736"/>
            <a:ext cx="2495237" cy="2506553"/>
          </a:xfrm>
          <a:prstGeom prst="rect">
            <a:avLst/>
          </a:prstGeom>
        </p:spPr>
      </p:pic>
      <p:sp>
        <p:nvSpPr>
          <p:cNvPr id="14" name="TextBox 13">
            <a:extLst>
              <a:ext uri="{FF2B5EF4-FFF2-40B4-BE49-F238E27FC236}">
                <a16:creationId xmlns:a16="http://schemas.microsoft.com/office/drawing/2014/main" id="{CE18F3EB-9756-A7AD-F73B-CA526B5A579E}"/>
              </a:ext>
            </a:extLst>
          </p:cNvPr>
          <p:cNvSpPr txBox="1"/>
          <p:nvPr/>
        </p:nvSpPr>
        <p:spPr>
          <a:xfrm>
            <a:off x="7584097" y="3388871"/>
            <a:ext cx="3418501" cy="307777"/>
          </a:xfrm>
          <a:prstGeom prst="rect">
            <a:avLst/>
          </a:prstGeom>
          <a:noFill/>
        </p:spPr>
        <p:txBody>
          <a:bodyPr wrap="square" rtlCol="0">
            <a:spAutoFit/>
          </a:bodyPr>
          <a:lstStyle/>
          <a:p>
            <a:r>
              <a:rPr lang="en-US" sz="1400" i="1" dirty="0">
                <a:latin typeface="Adobe Fan Heiti Std B" panose="020B0700000000000000" pitchFamily="34" charset="-128"/>
                <a:ea typeface="Adobe Fan Heiti Std B" panose="020B0700000000000000" pitchFamily="34" charset="-128"/>
              </a:rPr>
              <a:t>Double pulse test setup</a:t>
            </a:r>
          </a:p>
        </p:txBody>
      </p:sp>
      <p:sp>
        <p:nvSpPr>
          <p:cNvPr id="15" name="TextBox 14">
            <a:extLst>
              <a:ext uri="{FF2B5EF4-FFF2-40B4-BE49-F238E27FC236}">
                <a16:creationId xmlns:a16="http://schemas.microsoft.com/office/drawing/2014/main" id="{B4D05A9A-AFCC-DC73-7A0B-5543459C2506}"/>
              </a:ext>
            </a:extLst>
          </p:cNvPr>
          <p:cNvSpPr txBox="1"/>
          <p:nvPr/>
        </p:nvSpPr>
        <p:spPr>
          <a:xfrm>
            <a:off x="7332417" y="6390806"/>
            <a:ext cx="3418501" cy="307777"/>
          </a:xfrm>
          <a:prstGeom prst="rect">
            <a:avLst/>
          </a:prstGeom>
          <a:noFill/>
        </p:spPr>
        <p:txBody>
          <a:bodyPr wrap="square" rtlCol="0">
            <a:spAutoFit/>
          </a:bodyPr>
          <a:lstStyle/>
          <a:p>
            <a:r>
              <a:rPr lang="en-US" sz="1400" i="1" dirty="0">
                <a:latin typeface="Adobe Fan Heiti Std B" panose="020B0700000000000000" pitchFamily="34" charset="-128"/>
                <a:ea typeface="Adobe Fan Heiti Std B" panose="020B0700000000000000" pitchFamily="34" charset="-128"/>
              </a:rPr>
              <a:t>Q3D  </a:t>
            </a:r>
            <a:r>
              <a:rPr lang="en-US" sz="1400" i="1" dirty="0" err="1">
                <a:latin typeface="Adobe Fan Heiti Std B" panose="020B0700000000000000" pitchFamily="34" charset="-128"/>
                <a:ea typeface="Adobe Fan Heiti Std B" panose="020B0700000000000000" pitchFamily="34" charset="-128"/>
              </a:rPr>
              <a:t>SiC</a:t>
            </a:r>
            <a:r>
              <a:rPr lang="en-US" sz="1400" i="1" dirty="0">
                <a:latin typeface="Adobe Fan Heiti Std B" panose="020B0700000000000000" pitchFamily="34" charset="-128"/>
                <a:ea typeface="Adobe Fan Heiti Std B" panose="020B0700000000000000" pitchFamily="34" charset="-128"/>
              </a:rPr>
              <a:t> MOSFET Modeling </a:t>
            </a:r>
          </a:p>
        </p:txBody>
      </p:sp>
      <p:sp>
        <p:nvSpPr>
          <p:cNvPr id="16" name="TextBox 15">
            <a:extLst>
              <a:ext uri="{FF2B5EF4-FFF2-40B4-BE49-F238E27FC236}">
                <a16:creationId xmlns:a16="http://schemas.microsoft.com/office/drawing/2014/main" id="{14E1D6B9-27BD-2B6F-1AEA-A526CE8F8BE1}"/>
              </a:ext>
            </a:extLst>
          </p:cNvPr>
          <p:cNvSpPr txBox="1"/>
          <p:nvPr/>
        </p:nvSpPr>
        <p:spPr>
          <a:xfrm>
            <a:off x="1441082" y="6482497"/>
            <a:ext cx="3418501" cy="307777"/>
          </a:xfrm>
          <a:prstGeom prst="rect">
            <a:avLst/>
          </a:prstGeom>
          <a:noFill/>
        </p:spPr>
        <p:txBody>
          <a:bodyPr wrap="square" rtlCol="0">
            <a:spAutoFit/>
          </a:bodyPr>
          <a:lstStyle/>
          <a:p>
            <a:r>
              <a:rPr lang="en-US" sz="1400" i="1" dirty="0">
                <a:latin typeface="Adobe Fan Heiti Std B" panose="020B0700000000000000" pitchFamily="34" charset="-128"/>
                <a:ea typeface="Adobe Fan Heiti Std B" panose="020B0700000000000000" pitchFamily="34" charset="-128"/>
              </a:rPr>
              <a:t>Calorimetric loss measurement</a:t>
            </a:r>
          </a:p>
        </p:txBody>
      </p:sp>
      <p:sp>
        <p:nvSpPr>
          <p:cNvPr id="5" name="Title 1">
            <a:extLst>
              <a:ext uri="{FF2B5EF4-FFF2-40B4-BE49-F238E27FC236}">
                <a16:creationId xmlns:a16="http://schemas.microsoft.com/office/drawing/2014/main" id="{78741D1D-AC40-5051-1756-ED4813580FF5}"/>
              </a:ext>
            </a:extLst>
          </p:cNvPr>
          <p:cNvSpPr txBox="1">
            <a:spLocks/>
          </p:cNvSpPr>
          <p:nvPr/>
        </p:nvSpPr>
        <p:spPr>
          <a:xfrm>
            <a:off x="955309" y="280526"/>
            <a:ext cx="10990263" cy="568412"/>
          </a:xfrm>
          <a:prstGeom prst="rect">
            <a:avLst/>
          </a:prstGeom>
        </p:spPr>
        <p:txBody>
          <a:bodyPr vert="horz" lIns="91440" tIns="108000" rIns="91440" bIns="45720" rtlCol="0" anchor="t">
            <a:noAutofit/>
          </a:bodyPr>
          <a:lstStyle>
            <a:lvl1pPr algn="l" defTabSz="914400" rtl="0" eaLnBrk="1" latinLnBrk="0" hangingPunct="1">
              <a:lnSpc>
                <a:spcPct val="80000"/>
              </a:lnSpc>
              <a:spcBef>
                <a:spcPct val="0"/>
              </a:spcBef>
              <a:buNone/>
              <a:defRPr sz="3600" b="1" kern="1200">
                <a:solidFill>
                  <a:schemeClr val="tx2"/>
                </a:solidFill>
                <a:latin typeface="+mj-lt"/>
                <a:ea typeface="+mj-ea"/>
                <a:cs typeface="+mj-cs"/>
              </a:defRPr>
            </a:lvl1pPr>
          </a:lstStyle>
          <a:p>
            <a:r>
              <a:rPr lang="en-US" dirty="0"/>
              <a:t>Reliability Studies</a:t>
            </a:r>
          </a:p>
        </p:txBody>
      </p:sp>
    </p:spTree>
    <p:extLst>
      <p:ext uri="{BB962C8B-B14F-4D97-AF65-F5344CB8AC3E}">
        <p14:creationId xmlns:p14="http://schemas.microsoft.com/office/powerpoint/2010/main" val="1058810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C9764-AC87-A6E5-EB6A-5A5A7D62F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02F2EF-1D9F-529A-10BD-35C11381E808}"/>
              </a:ext>
            </a:extLst>
          </p:cNvPr>
          <p:cNvSpPr>
            <a:spLocks noGrp="1"/>
          </p:cNvSpPr>
          <p:nvPr>
            <p:ph type="title"/>
          </p:nvPr>
        </p:nvSpPr>
        <p:spPr>
          <a:xfrm>
            <a:off x="1030381" y="318691"/>
            <a:ext cx="10990263" cy="568412"/>
          </a:xfrm>
        </p:spPr>
        <p:txBody>
          <a:bodyPr/>
          <a:lstStyle/>
          <a:p>
            <a:r>
              <a:rPr lang="en-US" dirty="0"/>
              <a:t>Back-to-Back Setup</a:t>
            </a:r>
          </a:p>
        </p:txBody>
      </p:sp>
      <p:sp>
        <p:nvSpPr>
          <p:cNvPr id="6" name="Content Placeholder 2">
            <a:extLst>
              <a:ext uri="{FF2B5EF4-FFF2-40B4-BE49-F238E27FC236}">
                <a16:creationId xmlns:a16="http://schemas.microsoft.com/office/drawing/2014/main" id="{AEAA843D-4605-9E3B-2410-32A06F015B2A}"/>
              </a:ext>
            </a:extLst>
          </p:cNvPr>
          <p:cNvSpPr txBox="1">
            <a:spLocks/>
          </p:cNvSpPr>
          <p:nvPr/>
        </p:nvSpPr>
        <p:spPr>
          <a:xfrm>
            <a:off x="600075" y="1795850"/>
            <a:ext cx="5396688" cy="45303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8" name="Content Placeholder 7" descr="A screenshot of a computer&#10;&#10;AI-generated content may be incorrect.">
            <a:extLst>
              <a:ext uri="{FF2B5EF4-FFF2-40B4-BE49-F238E27FC236}">
                <a16:creationId xmlns:a16="http://schemas.microsoft.com/office/drawing/2014/main" id="{7AC814D2-D5D5-8D8A-862E-79675CFD76DC}"/>
              </a:ext>
            </a:extLst>
          </p:cNvPr>
          <p:cNvPicPr>
            <a:picLocks noGrp="1" noChangeAspect="1"/>
          </p:cNvPicPr>
          <p:nvPr>
            <p:ph idx="1"/>
          </p:nvPr>
        </p:nvPicPr>
        <p:blipFill>
          <a:blip r:embed="rId2"/>
          <a:stretch>
            <a:fillRect/>
          </a:stretch>
        </p:blipFill>
        <p:spPr>
          <a:xfrm>
            <a:off x="6301563" y="1542548"/>
            <a:ext cx="5062435" cy="1563627"/>
          </a:xfrm>
        </p:spPr>
      </p:pic>
      <p:sp>
        <p:nvSpPr>
          <p:cNvPr id="13" name="Content Placeholder 2">
            <a:extLst>
              <a:ext uri="{FF2B5EF4-FFF2-40B4-BE49-F238E27FC236}">
                <a16:creationId xmlns:a16="http://schemas.microsoft.com/office/drawing/2014/main" id="{8ED3E3F8-E2BA-6D7C-E1CC-D355DB0167F4}"/>
              </a:ext>
            </a:extLst>
          </p:cNvPr>
          <p:cNvSpPr txBox="1">
            <a:spLocks/>
          </p:cNvSpPr>
          <p:nvPr/>
        </p:nvSpPr>
        <p:spPr>
          <a:xfrm>
            <a:off x="752475" y="1948250"/>
            <a:ext cx="5396688" cy="45303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768"/>
              </a:spcBef>
              <a:buClrTx/>
              <a:buSzPts val="3200"/>
            </a:pPr>
            <a:endParaRPr lang="en-US" dirty="0">
              <a:effectLst/>
            </a:endParaRPr>
          </a:p>
        </p:txBody>
      </p:sp>
      <p:pic>
        <p:nvPicPr>
          <p:cNvPr id="5" name="Picture 4">
            <a:extLst>
              <a:ext uri="{FF2B5EF4-FFF2-40B4-BE49-F238E27FC236}">
                <a16:creationId xmlns:a16="http://schemas.microsoft.com/office/drawing/2014/main" id="{EF9E10D8-451D-DF98-F2B7-BDA1069E26FF}"/>
              </a:ext>
            </a:extLst>
          </p:cNvPr>
          <p:cNvPicPr>
            <a:picLocks noChangeAspect="1"/>
          </p:cNvPicPr>
          <p:nvPr/>
        </p:nvPicPr>
        <p:blipFill>
          <a:blip r:embed="rId3"/>
          <a:stretch/>
        </p:blipFill>
        <p:spPr bwMode="auto">
          <a:xfrm>
            <a:off x="6980998" y="3423023"/>
            <a:ext cx="4290005" cy="2981719"/>
          </a:xfrm>
          <a:prstGeom prst="rect">
            <a:avLst/>
          </a:prstGeom>
        </p:spPr>
      </p:pic>
      <p:sp>
        <p:nvSpPr>
          <p:cNvPr id="3" name="Content Placeholder 2">
            <a:extLst>
              <a:ext uri="{FF2B5EF4-FFF2-40B4-BE49-F238E27FC236}">
                <a16:creationId xmlns:a16="http://schemas.microsoft.com/office/drawing/2014/main" id="{79B9789D-0B0E-1025-51CA-F404AAD879D0}"/>
              </a:ext>
            </a:extLst>
          </p:cNvPr>
          <p:cNvSpPr txBox="1">
            <a:spLocks/>
          </p:cNvSpPr>
          <p:nvPr/>
        </p:nvSpPr>
        <p:spPr>
          <a:xfrm>
            <a:off x="799147" y="1281873"/>
            <a:ext cx="4741599" cy="453030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Optimizing the back-to-back setup to emulate the 300kW motor connected inverter.</a:t>
            </a:r>
          </a:p>
          <a:p>
            <a:endParaRPr lang="sv-SE" sz="1800" dirty="0"/>
          </a:p>
          <a:p>
            <a:pPr lvl="1"/>
            <a:r>
              <a:rPr lang="en-US" sz="1800" dirty="0"/>
              <a:t>DC-Bus voltage increase to 1.2kV to enable the megawatt charging system for long-haul trucks.</a:t>
            </a:r>
          </a:p>
          <a:p>
            <a:pPr lvl="1"/>
            <a:endParaRPr lang="en-US" sz="1800" dirty="0"/>
          </a:p>
          <a:p>
            <a:pPr lvl="1"/>
            <a:r>
              <a:rPr lang="en-US" sz="1800" dirty="0"/>
              <a:t>Calorimetric loss measurement to study remaining lifetime of the MCPMs.</a:t>
            </a:r>
          </a:p>
          <a:p>
            <a:pPr lvl="1"/>
            <a:endParaRPr lang="en-US" sz="1800" dirty="0"/>
          </a:p>
          <a:p>
            <a:pPr lvl="1"/>
            <a:r>
              <a:rPr lang="en-US" sz="1800" dirty="0"/>
              <a:t>Gate driver optimization</a:t>
            </a:r>
          </a:p>
          <a:p>
            <a:pPr lvl="2"/>
            <a:endParaRPr lang="en-US" sz="1800" dirty="0"/>
          </a:p>
          <a:p>
            <a:pPr lvl="2"/>
            <a:r>
              <a:rPr lang="en-US" sz="1800" dirty="0"/>
              <a:t>Current source gate driver for short transients and lower switching loss on MCPM</a:t>
            </a:r>
          </a:p>
          <a:p>
            <a:pPr lvl="2"/>
            <a:r>
              <a:rPr lang="en-US" sz="1800" dirty="0"/>
              <a:t>High voltage  </a:t>
            </a:r>
          </a:p>
          <a:p>
            <a:pPr lvl="1"/>
            <a:endParaRPr lang="en-US" dirty="0"/>
          </a:p>
          <a:p>
            <a:pPr lvl="1"/>
            <a:endParaRPr lang="en-US" dirty="0"/>
          </a:p>
        </p:txBody>
      </p:sp>
      <p:sp>
        <p:nvSpPr>
          <p:cNvPr id="9" name="Title 1">
            <a:extLst>
              <a:ext uri="{FF2B5EF4-FFF2-40B4-BE49-F238E27FC236}">
                <a16:creationId xmlns:a16="http://schemas.microsoft.com/office/drawing/2014/main" id="{057E3043-A6F1-0A76-B46A-63CE25B6CE30}"/>
              </a:ext>
            </a:extLst>
          </p:cNvPr>
          <p:cNvSpPr txBox="1">
            <a:spLocks/>
          </p:cNvSpPr>
          <p:nvPr/>
        </p:nvSpPr>
        <p:spPr>
          <a:xfrm>
            <a:off x="6289672" y="394296"/>
            <a:ext cx="5655900"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sz="1800" smtClean="0"/>
              <a:t>Shahriar Sarmast 		shsg@kth.se</a:t>
            </a:r>
            <a:endParaRPr lang="en-US" sz="1800" dirty="0"/>
          </a:p>
        </p:txBody>
      </p:sp>
    </p:spTree>
    <p:extLst>
      <p:ext uri="{BB962C8B-B14F-4D97-AF65-F5344CB8AC3E}">
        <p14:creationId xmlns:p14="http://schemas.microsoft.com/office/powerpoint/2010/main" val="4017142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201737" y="307628"/>
            <a:ext cx="10990263" cy="568412"/>
          </a:xfrm>
        </p:spPr>
        <p:txBody>
          <a:bodyPr/>
          <a:lstStyle/>
          <a:p>
            <a:r>
              <a:rPr lang="en-US" dirty="0" smtClean="0"/>
              <a:t>Raising the </a:t>
            </a:r>
            <a:r>
              <a:rPr lang="en-US" dirty="0"/>
              <a:t>DC-Link Voltage </a:t>
            </a:r>
            <a:r>
              <a:rPr lang="en-US" dirty="0" smtClean="0"/>
              <a:t>in Traction Inverters</a:t>
            </a:r>
            <a:r>
              <a:rPr lang="en-US" dirty="0"/>
              <a:t/>
            </a:r>
            <a:br>
              <a:rPr lang="en-US" dirty="0"/>
            </a:br>
            <a:endParaRPr lang="sv-SE" dirty="0"/>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9619" y="1145255"/>
            <a:ext cx="4085568" cy="1904179"/>
          </a:xfrm>
          <a:prstGeom prst="rect">
            <a:avLst/>
          </a:prstGeom>
        </p:spPr>
      </p:pic>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99" y="3764343"/>
            <a:ext cx="4257676" cy="2174132"/>
          </a:xfrm>
          <a:prstGeom prst="rect">
            <a:avLst/>
          </a:prstGeom>
        </p:spPr>
      </p:pic>
      <p:pic>
        <p:nvPicPr>
          <p:cNvPr id="22" name="Picture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8792" y="3096968"/>
            <a:ext cx="3670570" cy="1874333"/>
          </a:xfrm>
          <a:prstGeom prst="rect">
            <a:avLst/>
          </a:prstGeom>
        </p:spPr>
      </p:pic>
      <p:pic>
        <p:nvPicPr>
          <p:cNvPr id="21" name="Picture 20" descr="EfficiencyMap.png"/>
          <p:cNvPicPr>
            <a:picLocks noChangeAspect="1"/>
          </p:cNvPicPr>
          <p:nvPr/>
        </p:nvPicPr>
        <p:blipFill>
          <a:blip r:embed="rId5"/>
          <a:stretch>
            <a:fillRect/>
          </a:stretch>
        </p:blipFill>
        <p:spPr>
          <a:xfrm>
            <a:off x="4379347" y="4971301"/>
            <a:ext cx="3426112" cy="1749503"/>
          </a:xfrm>
          <a:prstGeom prst="rect">
            <a:avLst/>
          </a:prstGeom>
        </p:spPr>
      </p:pic>
      <p:sp>
        <p:nvSpPr>
          <p:cNvPr id="32" name="Rectangle 31"/>
          <p:cNvSpPr/>
          <p:nvPr/>
        </p:nvSpPr>
        <p:spPr>
          <a:xfrm>
            <a:off x="76199" y="1115555"/>
            <a:ext cx="4257676" cy="1754326"/>
          </a:xfrm>
          <a:prstGeom prst="rect">
            <a:avLst/>
          </a:prstGeom>
        </p:spPr>
        <p:txBody>
          <a:bodyPr wrap="square">
            <a:spAutoFit/>
          </a:bodyPr>
          <a:lstStyle/>
          <a:p>
            <a:pPr marL="342900" indent="-342900">
              <a:buFont typeface="+mj-lt"/>
              <a:buAutoNum type="arabicPeriod"/>
            </a:pPr>
            <a:r>
              <a:rPr lang="en-US" dirty="0"/>
              <a:t>Transitioning to </a:t>
            </a:r>
            <a:r>
              <a:rPr lang="en-US" b="1" dirty="0"/>
              <a:t>1200 V </a:t>
            </a:r>
            <a:r>
              <a:rPr lang="en-US" b="1" dirty="0" smtClean="0"/>
              <a:t>DC-link </a:t>
            </a:r>
            <a:r>
              <a:rPr lang="en-US" dirty="0" smtClean="0"/>
              <a:t>(from 800V) </a:t>
            </a:r>
            <a:r>
              <a:rPr lang="en-US" dirty="0"/>
              <a:t>reduces current by </a:t>
            </a:r>
            <a:r>
              <a:rPr lang="en-US" dirty="0" smtClean="0"/>
              <a:t>~33 </a:t>
            </a:r>
            <a:r>
              <a:rPr lang="en-US" dirty="0"/>
              <a:t>% for the same power</a:t>
            </a:r>
            <a:r>
              <a:rPr lang="en-US" dirty="0" smtClean="0"/>
              <a:t>.</a:t>
            </a:r>
          </a:p>
          <a:p>
            <a:pPr marL="342900" indent="-342900">
              <a:buFont typeface="+mj-lt"/>
              <a:buAutoNum type="arabicPeriod"/>
            </a:pPr>
            <a:r>
              <a:rPr lang="en-US" b="1" dirty="0" smtClean="0"/>
              <a:t>Lower </a:t>
            </a:r>
            <a:r>
              <a:rPr lang="en-US" b="1" dirty="0"/>
              <a:t>current </a:t>
            </a:r>
            <a:r>
              <a:rPr lang="en-US" dirty="0"/>
              <a:t>→ </a:t>
            </a:r>
            <a:r>
              <a:rPr lang="en-US" b="1" dirty="0"/>
              <a:t>lower conduction and copper losses (</a:t>
            </a:r>
            <a:r>
              <a:rPr lang="en-US" dirty="0"/>
              <a:t>~</a:t>
            </a:r>
            <a:r>
              <a:rPr lang="en-US" dirty="0" smtClean="0"/>
              <a:t>44 %).</a:t>
            </a:r>
          </a:p>
          <a:p>
            <a:pPr marL="342900" indent="-342900">
              <a:buFont typeface="+mj-lt"/>
              <a:buAutoNum type="arabicPeriod"/>
            </a:pPr>
            <a:r>
              <a:rPr lang="en-US" dirty="0" smtClean="0"/>
              <a:t>Enables </a:t>
            </a:r>
            <a:r>
              <a:rPr lang="en-US" b="1" dirty="0" smtClean="0"/>
              <a:t>Megawatt </a:t>
            </a:r>
            <a:r>
              <a:rPr lang="en-US" b="1" dirty="0"/>
              <a:t>fast </a:t>
            </a:r>
            <a:r>
              <a:rPr lang="en-US" b="1" dirty="0" smtClean="0"/>
              <a:t>charging</a:t>
            </a:r>
            <a:endParaRPr lang="sv-SE" b="1" dirty="0"/>
          </a:p>
        </p:txBody>
      </p:sp>
      <p:sp>
        <p:nvSpPr>
          <p:cNvPr id="34" name="Rectangle 33"/>
          <p:cNvSpPr/>
          <p:nvPr/>
        </p:nvSpPr>
        <p:spPr>
          <a:xfrm>
            <a:off x="8135187" y="1115555"/>
            <a:ext cx="4056813" cy="2308324"/>
          </a:xfrm>
          <a:prstGeom prst="rect">
            <a:avLst/>
          </a:prstGeom>
        </p:spPr>
        <p:txBody>
          <a:bodyPr wrap="square">
            <a:spAutoFit/>
          </a:bodyPr>
          <a:lstStyle/>
          <a:p>
            <a:pPr marL="342900" indent="-342900">
              <a:buFont typeface="+mj-lt"/>
              <a:buAutoNum type="arabicPeriod"/>
            </a:pPr>
            <a:r>
              <a:rPr lang="sv-SE" b="1" dirty="0" err="1"/>
              <a:t>Two-level</a:t>
            </a:r>
            <a:r>
              <a:rPr lang="sv-SE" b="1" dirty="0"/>
              <a:t> </a:t>
            </a:r>
            <a:r>
              <a:rPr lang="sv-SE" b="1" dirty="0" err="1"/>
              <a:t>SiC</a:t>
            </a:r>
            <a:r>
              <a:rPr lang="sv-SE" b="1" dirty="0"/>
              <a:t> </a:t>
            </a:r>
            <a:r>
              <a:rPr lang="sv-SE" b="1" dirty="0" err="1"/>
              <a:t>inverter</a:t>
            </a:r>
            <a:r>
              <a:rPr lang="sv-SE" b="1" dirty="0"/>
              <a:t> </a:t>
            </a:r>
            <a:r>
              <a:rPr lang="sv-SE" dirty="0" err="1"/>
              <a:t>remains</a:t>
            </a:r>
            <a:r>
              <a:rPr lang="sv-SE" dirty="0"/>
              <a:t> </a:t>
            </a:r>
            <a:r>
              <a:rPr lang="sv-SE" dirty="0" err="1"/>
              <a:t>compact</a:t>
            </a:r>
            <a:r>
              <a:rPr lang="sv-SE" dirty="0"/>
              <a:t> and </a:t>
            </a:r>
            <a:r>
              <a:rPr lang="sv-SE" dirty="0" err="1"/>
              <a:t>efficient</a:t>
            </a:r>
            <a:r>
              <a:rPr lang="sv-SE" dirty="0"/>
              <a:t> at </a:t>
            </a:r>
            <a:r>
              <a:rPr lang="sv-SE" dirty="0" err="1"/>
              <a:t>higher</a:t>
            </a:r>
            <a:r>
              <a:rPr lang="sv-SE" dirty="0"/>
              <a:t> </a:t>
            </a:r>
            <a:r>
              <a:rPr lang="sv-SE" dirty="0" err="1"/>
              <a:t>voltage</a:t>
            </a:r>
            <a:r>
              <a:rPr lang="sv-SE" dirty="0" smtClean="0"/>
              <a:t>.</a:t>
            </a:r>
          </a:p>
          <a:p>
            <a:pPr marL="342900" indent="-342900">
              <a:buFont typeface="+mj-lt"/>
              <a:buAutoNum type="arabicPeriod"/>
            </a:pPr>
            <a:r>
              <a:rPr lang="sv-SE" b="1" dirty="0" smtClean="0"/>
              <a:t>Optimal </a:t>
            </a:r>
            <a:r>
              <a:rPr lang="sv-SE" b="1" dirty="0" err="1"/>
              <a:t>die</a:t>
            </a:r>
            <a:r>
              <a:rPr lang="sv-SE" b="1" dirty="0"/>
              <a:t> area &amp; </a:t>
            </a:r>
            <a:r>
              <a:rPr lang="sv-SE" b="1" dirty="0" err="1"/>
              <a:t>switching</a:t>
            </a:r>
            <a:r>
              <a:rPr lang="sv-SE" b="1" dirty="0"/>
              <a:t> </a:t>
            </a:r>
            <a:r>
              <a:rPr lang="sv-SE" b="1" dirty="0" err="1"/>
              <a:t>frequency</a:t>
            </a:r>
            <a:r>
              <a:rPr lang="sv-SE" b="1" dirty="0"/>
              <a:t> </a:t>
            </a:r>
            <a:r>
              <a:rPr lang="sv-SE" b="1" dirty="0" smtClean="0"/>
              <a:t>(≈ 12 kHz) </a:t>
            </a:r>
            <a:r>
              <a:rPr lang="sv-SE" dirty="0" err="1" smtClean="0"/>
              <a:t>selected</a:t>
            </a:r>
            <a:r>
              <a:rPr lang="sv-SE" dirty="0" smtClean="0"/>
              <a:t> </a:t>
            </a:r>
            <a:r>
              <a:rPr lang="sv-SE" dirty="0"/>
              <a:t>for loss </a:t>
            </a:r>
            <a:r>
              <a:rPr lang="sv-SE" dirty="0" err="1"/>
              <a:t>balance</a:t>
            </a:r>
            <a:r>
              <a:rPr lang="sv-SE" dirty="0" smtClean="0"/>
              <a:t>.</a:t>
            </a:r>
          </a:p>
          <a:p>
            <a:pPr marL="342900" indent="-342900">
              <a:buFont typeface="+mj-lt"/>
              <a:buAutoNum type="arabicPeriod"/>
            </a:pPr>
            <a:r>
              <a:rPr lang="sv-SE" dirty="0" err="1" smtClean="0"/>
              <a:t>Achieves</a:t>
            </a:r>
            <a:r>
              <a:rPr lang="sv-SE" dirty="0" smtClean="0"/>
              <a:t> </a:t>
            </a:r>
            <a:r>
              <a:rPr lang="el-GR" b="1" dirty="0"/>
              <a:t>η ≈ </a:t>
            </a:r>
            <a:r>
              <a:rPr lang="el-GR" b="1" dirty="0" smtClean="0"/>
              <a:t>99.</a:t>
            </a:r>
            <a:r>
              <a:rPr lang="en-US" b="1" dirty="0" smtClean="0"/>
              <a:t>5</a:t>
            </a:r>
            <a:r>
              <a:rPr lang="el-GR" b="1" dirty="0" smtClean="0"/>
              <a:t> </a:t>
            </a:r>
            <a:r>
              <a:rPr lang="el-GR" b="1" dirty="0"/>
              <a:t>%, </a:t>
            </a:r>
            <a:r>
              <a:rPr lang="el-GR" b="1" dirty="0" smtClean="0"/>
              <a:t>~3</a:t>
            </a:r>
            <a:r>
              <a:rPr lang="en-US" b="1" dirty="0" smtClean="0"/>
              <a:t>0</a:t>
            </a:r>
            <a:r>
              <a:rPr lang="el-GR" b="1" dirty="0" smtClean="0"/>
              <a:t> </a:t>
            </a:r>
            <a:r>
              <a:rPr lang="el-GR" b="1" dirty="0"/>
              <a:t>% </a:t>
            </a:r>
            <a:r>
              <a:rPr lang="sv-SE" b="1" dirty="0" err="1"/>
              <a:t>smaller</a:t>
            </a:r>
            <a:r>
              <a:rPr lang="sv-SE" dirty="0"/>
              <a:t> DC-</a:t>
            </a:r>
            <a:r>
              <a:rPr lang="sv-SE" dirty="0" err="1"/>
              <a:t>link</a:t>
            </a:r>
            <a:r>
              <a:rPr lang="sv-SE" dirty="0"/>
              <a:t> </a:t>
            </a:r>
            <a:r>
              <a:rPr lang="sv-SE" dirty="0" err="1"/>
              <a:t>capacitor</a:t>
            </a:r>
            <a:r>
              <a:rPr lang="sv-SE" dirty="0"/>
              <a:t> </a:t>
            </a:r>
            <a:r>
              <a:rPr lang="sv-SE" dirty="0" err="1"/>
              <a:t>volume</a:t>
            </a:r>
            <a:r>
              <a:rPr lang="sv-SE" dirty="0"/>
              <a:t>.</a:t>
            </a:r>
          </a:p>
        </p:txBody>
      </p:sp>
      <p:sp>
        <p:nvSpPr>
          <p:cNvPr id="35" name="Title 12"/>
          <p:cNvSpPr txBox="1">
            <a:spLocks/>
          </p:cNvSpPr>
          <p:nvPr/>
        </p:nvSpPr>
        <p:spPr>
          <a:xfrm>
            <a:off x="183691" y="6349157"/>
            <a:ext cx="11609388" cy="324196"/>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sz="2000" b="0" dirty="0" smtClean="0"/>
              <a:t>Enes Ayaz 									</a:t>
            </a:r>
            <a:r>
              <a:rPr lang="en-US" sz="3200" dirty="0" smtClean="0"/>
              <a:t/>
            </a:r>
            <a:br>
              <a:rPr lang="en-US" sz="3200" dirty="0" smtClean="0"/>
            </a:br>
            <a:endParaRPr lang="sv-SE" sz="3200" dirty="0"/>
          </a:p>
        </p:txBody>
      </p:sp>
      <p:pic>
        <p:nvPicPr>
          <p:cNvPr id="12" name="Picture 11" descr="TotalLossOptimization.png"/>
          <p:cNvPicPr>
            <a:picLocks noChangeAspect="1"/>
          </p:cNvPicPr>
          <p:nvPr/>
        </p:nvPicPr>
        <p:blipFill>
          <a:blip r:embed="rId6"/>
          <a:stretch>
            <a:fillRect/>
          </a:stretch>
        </p:blipFill>
        <p:spPr>
          <a:xfrm>
            <a:off x="8377110" y="3794219"/>
            <a:ext cx="3397906" cy="2265271"/>
          </a:xfrm>
          <a:prstGeom prst="rect">
            <a:avLst/>
          </a:prstGeom>
        </p:spPr>
      </p:pic>
    </p:spTree>
    <p:extLst>
      <p:ext uri="{BB962C8B-B14F-4D97-AF65-F5344CB8AC3E}">
        <p14:creationId xmlns:p14="http://schemas.microsoft.com/office/powerpoint/2010/main" val="1191048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itle 12"/>
          <p:cNvSpPr txBox="1">
            <a:spLocks/>
          </p:cNvSpPr>
          <p:nvPr/>
        </p:nvSpPr>
        <p:spPr>
          <a:xfrm>
            <a:off x="183691" y="6349157"/>
            <a:ext cx="11609388" cy="324196"/>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sz="2000" b="0" dirty="0" smtClean="0"/>
              <a:t>Enes Ayaz 									</a:t>
            </a:r>
            <a:r>
              <a:rPr lang="en-US" sz="3200" dirty="0" smtClean="0"/>
              <a:t/>
            </a:r>
            <a:br>
              <a:rPr lang="en-US" sz="3200" dirty="0" smtClean="0"/>
            </a:br>
            <a:endParaRPr lang="sv-SE" sz="3200" dirty="0"/>
          </a:p>
        </p:txBody>
      </p:sp>
      <p:sp>
        <p:nvSpPr>
          <p:cNvPr id="2" name="Rectangle 1"/>
          <p:cNvSpPr/>
          <p:nvPr/>
        </p:nvSpPr>
        <p:spPr>
          <a:xfrm>
            <a:off x="1081740" y="373785"/>
            <a:ext cx="9723717" cy="4801314"/>
          </a:xfrm>
          <a:prstGeom prst="rect">
            <a:avLst/>
          </a:prstGeom>
        </p:spPr>
        <p:txBody>
          <a:bodyPr wrap="square">
            <a:spAutoFit/>
          </a:bodyPr>
          <a:lstStyle/>
          <a:p>
            <a:r>
              <a:rPr lang="en-US" dirty="0"/>
              <a:t>“Hello, I am Enes, </a:t>
            </a:r>
            <a:r>
              <a:rPr lang="en-US" dirty="0" smtClean="0"/>
              <a:t>have been doing PHD here for two and a half year. </a:t>
            </a:r>
          </a:p>
          <a:p>
            <a:r>
              <a:rPr lang="en-US" dirty="0" smtClean="0"/>
              <a:t>I work </a:t>
            </a:r>
            <a:r>
              <a:rPr lang="en-US" dirty="0"/>
              <a:t>in the </a:t>
            </a:r>
            <a:r>
              <a:rPr lang="en-US" dirty="0" err="1"/>
              <a:t>PowerizeD</a:t>
            </a:r>
            <a:r>
              <a:rPr lang="en-US" dirty="0"/>
              <a:t> and </a:t>
            </a:r>
            <a:r>
              <a:rPr lang="en-US" dirty="0" err="1"/>
              <a:t>HemiZero</a:t>
            </a:r>
            <a:r>
              <a:rPr lang="en-US" dirty="0"/>
              <a:t> projects on high-voltage traction </a:t>
            </a:r>
            <a:r>
              <a:rPr lang="en-US" dirty="0" smtClean="0"/>
              <a:t>inverters, looking at the advantages of raising voltage and design tradeoffs.</a:t>
            </a:r>
          </a:p>
          <a:p>
            <a:endParaRPr lang="en-US" dirty="0"/>
          </a:p>
          <a:p>
            <a:pPr marL="342900" indent="-342900">
              <a:buFont typeface="+mj-lt"/>
              <a:buAutoNum type="arabicPeriod"/>
            </a:pPr>
            <a:r>
              <a:rPr lang="en-US" dirty="0"/>
              <a:t>Raising the DC-link voltage from 800 V to 1200 V reduces current by about one-third, which directly cuts conduction and copper losses by roughly 44</a:t>
            </a:r>
            <a:r>
              <a:rPr lang="en-US" dirty="0" smtClean="0"/>
              <a:t>%.</a:t>
            </a:r>
          </a:p>
          <a:p>
            <a:pPr marL="342900" indent="-342900">
              <a:buFont typeface="+mj-lt"/>
              <a:buAutoNum type="arabicPeriod"/>
            </a:pPr>
            <a:endParaRPr lang="en-US" dirty="0"/>
          </a:p>
          <a:p>
            <a:pPr marL="342900" indent="-342900">
              <a:buFont typeface="+mj-lt"/>
              <a:buAutoNum type="arabicPeriod"/>
            </a:pPr>
            <a:r>
              <a:rPr lang="en-US" dirty="0"/>
              <a:t>Lower current also </a:t>
            </a:r>
            <a:r>
              <a:rPr lang="en-US" dirty="0" smtClean="0"/>
              <a:t>enables </a:t>
            </a:r>
            <a:r>
              <a:rPr lang="en-US" dirty="0"/>
              <a:t>lighter cabling and </a:t>
            </a:r>
            <a:r>
              <a:rPr lang="en-US" dirty="0" smtClean="0"/>
              <a:t>supports </a:t>
            </a:r>
            <a:r>
              <a:rPr lang="en-US" dirty="0"/>
              <a:t>megawatt fast charging</a:t>
            </a:r>
            <a:r>
              <a:rPr lang="en-US" dirty="0" smtClean="0"/>
              <a:t>.</a:t>
            </a:r>
          </a:p>
          <a:p>
            <a:pPr marL="342900" indent="-342900">
              <a:buFont typeface="+mj-lt"/>
              <a:buAutoNum type="arabicPeriod"/>
            </a:pPr>
            <a:endParaRPr lang="en-US" dirty="0"/>
          </a:p>
          <a:p>
            <a:pPr marL="342900" indent="-342900">
              <a:buFont typeface="+mj-lt"/>
              <a:buAutoNum type="arabicPeriod"/>
            </a:pPr>
            <a:r>
              <a:rPr lang="en-US" dirty="0"/>
              <a:t>A two-level </a:t>
            </a:r>
            <a:r>
              <a:rPr lang="en-US" dirty="0" err="1"/>
              <a:t>SiC</a:t>
            </a:r>
            <a:r>
              <a:rPr lang="en-US" dirty="0"/>
              <a:t> inverter remains compact and efficient at 1200 V, </a:t>
            </a:r>
            <a:r>
              <a:rPr lang="en-US" dirty="0" smtClean="0"/>
              <a:t>but we need to use higher blocking voltage for the semiconductor.</a:t>
            </a:r>
          </a:p>
          <a:p>
            <a:pPr marL="342900" indent="-342900">
              <a:buFont typeface="+mj-lt"/>
              <a:buAutoNum type="arabicPeriod"/>
            </a:pPr>
            <a:endParaRPr lang="en-US" dirty="0"/>
          </a:p>
          <a:p>
            <a:pPr marL="342900" indent="-342900">
              <a:buFont typeface="+mj-lt"/>
              <a:buAutoNum type="arabicPeriod"/>
            </a:pPr>
            <a:r>
              <a:rPr lang="en-US" dirty="0"/>
              <a:t>Our </a:t>
            </a:r>
            <a:r>
              <a:rPr lang="en-US" dirty="0" err="1"/>
              <a:t>optimisation</a:t>
            </a:r>
            <a:r>
              <a:rPr lang="en-US" dirty="0"/>
              <a:t> identifies ~12 kHz as the best switching frequency, balancing conduction, switching, and motor harmonic losses</a:t>
            </a:r>
            <a:r>
              <a:rPr lang="en-US" dirty="0" smtClean="0"/>
              <a:t>.</a:t>
            </a:r>
          </a:p>
          <a:p>
            <a:pPr marL="342900" indent="-342900">
              <a:buFont typeface="+mj-lt"/>
              <a:buAutoNum type="arabicPeriod"/>
            </a:pPr>
            <a:endParaRPr lang="en-US" dirty="0"/>
          </a:p>
          <a:p>
            <a:pPr marL="342900" indent="-342900">
              <a:buFont typeface="+mj-lt"/>
              <a:buAutoNum type="arabicPeriod"/>
            </a:pPr>
            <a:r>
              <a:rPr lang="en-US" dirty="0"/>
              <a:t>Overall, we achieve around 99.5% efficiency and ~30% smaller DC-link capacitor </a:t>
            </a:r>
            <a:r>
              <a:rPr lang="en-US" dirty="0" smtClean="0"/>
              <a:t>volume</a:t>
            </a:r>
            <a:r>
              <a:rPr lang="en-US" dirty="0"/>
              <a:t> </a:t>
            </a:r>
            <a:r>
              <a:rPr lang="en-US" dirty="0" smtClean="0"/>
              <a:t>with high voltage. </a:t>
            </a:r>
            <a:endParaRPr lang="en-US" dirty="0"/>
          </a:p>
        </p:txBody>
      </p:sp>
    </p:spTree>
    <p:extLst>
      <p:ext uri="{BB962C8B-B14F-4D97-AF65-F5344CB8AC3E}">
        <p14:creationId xmlns:p14="http://schemas.microsoft.com/office/powerpoint/2010/main" val="64418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075" y="2214519"/>
            <a:ext cx="4663415" cy="3530104"/>
          </a:xfrm>
          <a:prstGeom prst="rect">
            <a:avLst/>
          </a:prstGeom>
        </p:spPr>
      </p:pic>
      <p:sp>
        <p:nvSpPr>
          <p:cNvPr id="2" name="Title 1"/>
          <p:cNvSpPr>
            <a:spLocks noGrp="1"/>
          </p:cNvSpPr>
          <p:nvPr>
            <p:ph type="title"/>
          </p:nvPr>
        </p:nvSpPr>
        <p:spPr/>
        <p:txBody>
          <a:bodyPr/>
          <a:lstStyle/>
          <a:p>
            <a:r>
              <a:rPr lang="sv-SE" dirty="0" smtClean="0"/>
              <a:t>AC </a:t>
            </a:r>
            <a:r>
              <a:rPr lang="sv-SE" dirty="0" err="1" smtClean="0"/>
              <a:t>railway</a:t>
            </a:r>
            <a:r>
              <a:rPr lang="sv-SE" dirty="0" smtClean="0"/>
              <a:t> </a:t>
            </a:r>
            <a:r>
              <a:rPr lang="sv-SE" dirty="0" err="1" smtClean="0"/>
              <a:t>power</a:t>
            </a:r>
            <a:r>
              <a:rPr lang="sv-SE" dirty="0" smtClean="0"/>
              <a:t> systems</a:t>
            </a:r>
            <a:endParaRPr lang="sv-SE" dirty="0"/>
          </a:p>
        </p:txBody>
      </p:sp>
      <p:sp>
        <p:nvSpPr>
          <p:cNvPr id="25" name="TextBox 24"/>
          <p:cNvSpPr txBox="1"/>
          <p:nvPr/>
        </p:nvSpPr>
        <p:spPr>
          <a:xfrm>
            <a:off x="600075" y="5812764"/>
            <a:ext cx="3806825" cy="215444"/>
          </a:xfrm>
          <a:prstGeom prst="rect">
            <a:avLst/>
          </a:prstGeom>
          <a:noFill/>
        </p:spPr>
        <p:txBody>
          <a:bodyPr wrap="square" rtlCol="0">
            <a:spAutoFit/>
          </a:bodyPr>
          <a:lstStyle/>
          <a:p>
            <a:pPr algn="ctr"/>
            <a:r>
              <a:rPr lang="sv-SE" sz="800" dirty="0" smtClean="0">
                <a:ea typeface="Verdana" panose="020B0604030504040204" pitchFamily="34" charset="0"/>
                <a:cs typeface="Verdana" panose="020B0604030504040204" pitchFamily="34" charset="0"/>
              </a:rPr>
              <a:t>Fig. 1.1. </a:t>
            </a:r>
            <a:r>
              <a:rPr lang="sv-SE" sz="800" dirty="0" err="1" smtClean="0">
                <a:ea typeface="Verdana" panose="020B0604030504040204" pitchFamily="34" charset="0"/>
                <a:cs typeface="Verdana" panose="020B0604030504040204" pitchFamily="34" charset="0"/>
              </a:rPr>
              <a:t>European</a:t>
            </a:r>
            <a:r>
              <a:rPr lang="sv-SE" sz="800" dirty="0" smtClean="0">
                <a:ea typeface="Verdana" panose="020B0604030504040204" pitchFamily="34" charset="0"/>
                <a:cs typeface="Verdana" panose="020B0604030504040204" pitchFamily="34" charset="0"/>
              </a:rPr>
              <a:t> </a:t>
            </a:r>
            <a:r>
              <a:rPr lang="sv-SE" sz="800" dirty="0" err="1" smtClean="0">
                <a:ea typeface="Verdana" panose="020B0604030504040204" pitchFamily="34" charset="0"/>
                <a:cs typeface="Verdana" panose="020B0604030504040204" pitchFamily="34" charset="0"/>
              </a:rPr>
              <a:t>railway</a:t>
            </a:r>
            <a:r>
              <a:rPr lang="sv-SE" sz="800" dirty="0" smtClean="0">
                <a:ea typeface="Verdana" panose="020B0604030504040204" pitchFamily="34" charset="0"/>
                <a:cs typeface="Verdana" panose="020B0604030504040204" pitchFamily="34" charset="0"/>
              </a:rPr>
              <a:t> </a:t>
            </a:r>
            <a:r>
              <a:rPr lang="sv-SE" sz="800" dirty="0" err="1" smtClean="0">
                <a:ea typeface="Verdana" panose="020B0604030504040204" pitchFamily="34" charset="0"/>
                <a:cs typeface="Verdana" panose="020B0604030504040204" pitchFamily="34" charset="0"/>
              </a:rPr>
              <a:t>power</a:t>
            </a:r>
            <a:r>
              <a:rPr lang="sv-SE" sz="800" dirty="0" smtClean="0">
                <a:ea typeface="Verdana" panose="020B0604030504040204" pitchFamily="34" charset="0"/>
                <a:cs typeface="Verdana" panose="020B0604030504040204" pitchFamily="34" charset="0"/>
              </a:rPr>
              <a:t> system </a:t>
            </a:r>
            <a:r>
              <a:rPr lang="sv-SE" sz="800" dirty="0" err="1" smtClean="0">
                <a:ea typeface="Verdana" panose="020B0604030504040204" pitchFamily="34" charset="0"/>
                <a:cs typeface="Verdana" panose="020B0604030504040204" pitchFamily="34" charset="0"/>
              </a:rPr>
              <a:t>map</a:t>
            </a:r>
            <a:r>
              <a:rPr lang="sv-SE" sz="800" dirty="0" smtClean="0">
                <a:ea typeface="Verdana" panose="020B0604030504040204" pitchFamily="34" charset="0"/>
                <a:cs typeface="Verdana" panose="020B0604030504040204" pitchFamily="34" charset="0"/>
              </a:rPr>
              <a:t>.</a:t>
            </a:r>
            <a:endParaRPr lang="sv-SE" sz="800" dirty="0"/>
          </a:p>
        </p:txBody>
      </p:sp>
      <p:sp>
        <p:nvSpPr>
          <p:cNvPr id="26" name="Oval 25"/>
          <p:cNvSpPr/>
          <p:nvPr/>
        </p:nvSpPr>
        <p:spPr>
          <a:xfrm rot="1117842">
            <a:off x="2365034" y="2605295"/>
            <a:ext cx="1216572" cy="237741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9" name="TextBox 28"/>
          <p:cNvSpPr txBox="1"/>
          <p:nvPr/>
        </p:nvSpPr>
        <p:spPr>
          <a:xfrm>
            <a:off x="5573187" y="2251063"/>
            <a:ext cx="6017151" cy="738664"/>
          </a:xfrm>
          <a:prstGeom prst="rect">
            <a:avLst/>
          </a:prstGeom>
          <a:ln/>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sv-SE" sz="1400" b="1" dirty="0" smtClean="0"/>
              <a:t>Different </a:t>
            </a:r>
            <a:r>
              <a:rPr lang="sv-SE" sz="1400" b="1" dirty="0" err="1" smtClean="0"/>
              <a:t>topologies</a:t>
            </a:r>
            <a:r>
              <a:rPr lang="sv-SE" sz="1400" b="1" dirty="0" smtClean="0"/>
              <a:t> </a:t>
            </a:r>
            <a:r>
              <a:rPr lang="sv-SE" sz="1400" dirty="0" err="1" smtClean="0"/>
              <a:t>of</a:t>
            </a:r>
            <a:r>
              <a:rPr lang="sv-SE" sz="1400" dirty="0" smtClean="0"/>
              <a:t> </a:t>
            </a:r>
            <a:r>
              <a:rPr lang="sv-SE" sz="1400" dirty="0" err="1" smtClean="0"/>
              <a:t>power</a:t>
            </a:r>
            <a:r>
              <a:rPr lang="sv-SE" sz="1400" dirty="0" smtClean="0"/>
              <a:t> </a:t>
            </a:r>
            <a:r>
              <a:rPr lang="sv-SE" sz="1400" dirty="0" err="1" smtClean="0"/>
              <a:t>electronic</a:t>
            </a:r>
            <a:r>
              <a:rPr lang="sv-SE" sz="1400" dirty="0" smtClean="0"/>
              <a:t> </a:t>
            </a:r>
            <a:r>
              <a:rPr lang="sv-SE" sz="1400" dirty="0" err="1" smtClean="0"/>
              <a:t>converters</a:t>
            </a:r>
            <a:r>
              <a:rPr lang="sv-SE" sz="1400" dirty="0"/>
              <a:t> in the </a:t>
            </a:r>
            <a:r>
              <a:rPr lang="sv-SE" sz="1400" dirty="0" err="1"/>
              <a:t>traction</a:t>
            </a:r>
            <a:r>
              <a:rPr lang="sv-SE" sz="1400" dirty="0"/>
              <a:t> </a:t>
            </a:r>
            <a:r>
              <a:rPr lang="sv-SE" sz="1400" dirty="0" err="1"/>
              <a:t>power</a:t>
            </a:r>
            <a:r>
              <a:rPr lang="sv-SE" sz="1400" dirty="0"/>
              <a:t> </a:t>
            </a:r>
            <a:r>
              <a:rPr lang="sv-SE" sz="1400" dirty="0" err="1"/>
              <a:t>supply</a:t>
            </a:r>
            <a:endParaRPr lang="sv-SE" sz="1400" dirty="0" smtClean="0"/>
          </a:p>
          <a:p>
            <a:r>
              <a:rPr lang="sv-SE" sz="1400" b="1" dirty="0" smtClean="0"/>
              <a:t>(</a:t>
            </a:r>
            <a:r>
              <a:rPr lang="sv-SE" sz="1400" b="1" dirty="0" err="1" smtClean="0"/>
              <a:t>e.g</a:t>
            </a:r>
            <a:r>
              <a:rPr lang="sv-SE" sz="1400" b="1" dirty="0" smtClean="0"/>
              <a:t>. </a:t>
            </a:r>
            <a:r>
              <a:rPr lang="sv-SE" sz="1400" b="1" dirty="0" err="1" smtClean="0"/>
              <a:t>static</a:t>
            </a:r>
            <a:r>
              <a:rPr lang="sv-SE" sz="1400" b="1" dirty="0" smtClean="0"/>
              <a:t> and rotary)</a:t>
            </a:r>
            <a:endParaRPr lang="sv-SE" sz="1400" b="1" dirty="0"/>
          </a:p>
        </p:txBody>
      </p:sp>
      <p:grpSp>
        <p:nvGrpSpPr>
          <p:cNvPr id="42" name="Group 41"/>
          <p:cNvGrpSpPr/>
          <p:nvPr/>
        </p:nvGrpSpPr>
        <p:grpSpPr>
          <a:xfrm>
            <a:off x="5414725" y="3366793"/>
            <a:ext cx="3106216" cy="2377830"/>
            <a:chOff x="166103" y="3260016"/>
            <a:chExt cx="2947855" cy="2053468"/>
          </a:xfrm>
        </p:grpSpPr>
        <p:pic>
          <p:nvPicPr>
            <p:cNvPr id="43"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103" y="3260016"/>
              <a:ext cx="2947855" cy="18157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4" name="TextBox 43"/>
            <p:cNvSpPr txBox="1"/>
            <p:nvPr/>
          </p:nvSpPr>
          <p:spPr>
            <a:xfrm>
              <a:off x="166103" y="5098040"/>
              <a:ext cx="2947855" cy="215444"/>
            </a:xfrm>
            <a:prstGeom prst="rect">
              <a:avLst/>
            </a:prstGeom>
            <a:noFill/>
          </p:spPr>
          <p:txBody>
            <a:bodyPr wrap="square" rtlCol="0">
              <a:spAutoFit/>
            </a:bodyPr>
            <a:lstStyle/>
            <a:p>
              <a:pPr algn="ctr"/>
              <a:r>
                <a:rPr lang="sv-SE" sz="800" dirty="0" err="1" smtClean="0">
                  <a:solidFill>
                    <a:schemeClr val="accent1"/>
                  </a:solidFill>
                  <a:ea typeface="Verdana" panose="020B0604030504040204" pitchFamily="34" charset="0"/>
                  <a:cs typeface="Verdana" panose="020B0604030504040204" pitchFamily="34" charset="0"/>
                </a:rPr>
                <a:t>Figure</a:t>
              </a:r>
              <a:r>
                <a:rPr lang="sv-SE" sz="800" dirty="0" smtClean="0">
                  <a:solidFill>
                    <a:schemeClr val="accent1"/>
                  </a:solidFill>
                  <a:ea typeface="Verdana" panose="020B0604030504040204" pitchFamily="34" charset="0"/>
                  <a:cs typeface="Verdana" panose="020B0604030504040204" pitchFamily="34" charset="0"/>
                </a:rPr>
                <a:t> 1. </a:t>
              </a:r>
              <a:r>
                <a:rPr lang="sv-SE" sz="800" dirty="0" err="1" smtClean="0">
                  <a:solidFill>
                    <a:schemeClr val="accent1"/>
                  </a:solidFill>
                  <a:ea typeface="Verdana" panose="020B0604030504040204" pitchFamily="34" charset="0"/>
                  <a:cs typeface="Verdana" panose="020B0604030504040204" pitchFamily="34" charset="0"/>
                </a:rPr>
                <a:t>Modular</a:t>
              </a:r>
              <a:r>
                <a:rPr lang="sv-SE" sz="800" dirty="0" smtClean="0">
                  <a:solidFill>
                    <a:schemeClr val="accent1"/>
                  </a:solidFill>
                  <a:ea typeface="Verdana" panose="020B0604030504040204" pitchFamily="34" charset="0"/>
                  <a:cs typeface="Verdana" panose="020B0604030504040204" pitchFamily="34" charset="0"/>
                </a:rPr>
                <a:t> </a:t>
              </a:r>
              <a:r>
                <a:rPr lang="sv-SE" sz="800" dirty="0">
                  <a:solidFill>
                    <a:schemeClr val="accent1"/>
                  </a:solidFill>
                  <a:ea typeface="Verdana" panose="020B0604030504040204" pitchFamily="34" charset="0"/>
                  <a:cs typeface="Verdana" panose="020B0604030504040204" pitchFamily="34" charset="0"/>
                </a:rPr>
                <a:t>Multi-</a:t>
              </a:r>
              <a:r>
                <a:rPr lang="sv-SE" sz="800" dirty="0" err="1">
                  <a:solidFill>
                    <a:schemeClr val="accent1"/>
                  </a:solidFill>
                  <a:ea typeface="Verdana" panose="020B0604030504040204" pitchFamily="34" charset="0"/>
                  <a:cs typeface="Verdana" panose="020B0604030504040204" pitchFamily="34" charset="0"/>
                </a:rPr>
                <a:t>level</a:t>
              </a:r>
              <a:r>
                <a:rPr lang="sv-SE" sz="800" dirty="0">
                  <a:solidFill>
                    <a:schemeClr val="accent1"/>
                  </a:solidFill>
                  <a:ea typeface="Verdana" panose="020B0604030504040204" pitchFamily="34" charset="0"/>
                  <a:cs typeface="Verdana" panose="020B0604030504040204" pitchFamily="34" charset="0"/>
                </a:rPr>
                <a:t> </a:t>
              </a:r>
              <a:r>
                <a:rPr lang="sv-SE" sz="800" dirty="0" err="1">
                  <a:solidFill>
                    <a:schemeClr val="accent1"/>
                  </a:solidFill>
                  <a:ea typeface="Verdana" panose="020B0604030504040204" pitchFamily="34" charset="0"/>
                  <a:cs typeface="Verdana" panose="020B0604030504040204" pitchFamily="34" charset="0"/>
                </a:rPr>
                <a:t>Converter</a:t>
              </a:r>
              <a:r>
                <a:rPr lang="sv-SE" sz="800" dirty="0">
                  <a:solidFill>
                    <a:schemeClr val="accent1"/>
                  </a:solidFill>
                  <a:ea typeface="Verdana" panose="020B0604030504040204" pitchFamily="34" charset="0"/>
                  <a:cs typeface="Verdana" panose="020B0604030504040204" pitchFamily="34" charset="0"/>
                </a:rPr>
                <a:t> (M2C</a:t>
              </a:r>
              <a:r>
                <a:rPr lang="sv-SE" sz="800" dirty="0" smtClean="0">
                  <a:solidFill>
                    <a:schemeClr val="accent1"/>
                  </a:solidFill>
                  <a:ea typeface="Verdana" panose="020B0604030504040204" pitchFamily="34" charset="0"/>
                  <a:cs typeface="Verdana" panose="020B0604030504040204" pitchFamily="34" charset="0"/>
                </a:rPr>
                <a:t>).</a:t>
              </a:r>
              <a:endParaRPr lang="sv-SE" sz="800" dirty="0">
                <a:solidFill>
                  <a:schemeClr val="accent1"/>
                </a:solidFill>
              </a:endParaRPr>
            </a:p>
          </p:txBody>
        </p:sp>
      </p:grpSp>
      <p:grpSp>
        <p:nvGrpSpPr>
          <p:cNvPr id="45" name="Group 44"/>
          <p:cNvGrpSpPr/>
          <p:nvPr/>
        </p:nvGrpSpPr>
        <p:grpSpPr>
          <a:xfrm>
            <a:off x="8404462" y="4909981"/>
            <a:ext cx="3323045" cy="1252123"/>
            <a:chOff x="2842986" y="4747213"/>
            <a:chExt cx="3670086" cy="1315884"/>
          </a:xfrm>
        </p:grpSpPr>
        <p:pic>
          <p:nvPicPr>
            <p:cNvPr id="4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2987" y="4747213"/>
              <a:ext cx="3670085" cy="10948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7" name="TextBox 46"/>
            <p:cNvSpPr txBox="1"/>
            <p:nvPr/>
          </p:nvSpPr>
          <p:spPr>
            <a:xfrm>
              <a:off x="2842986" y="5847653"/>
              <a:ext cx="3670085" cy="215444"/>
            </a:xfrm>
            <a:prstGeom prst="rect">
              <a:avLst/>
            </a:prstGeom>
            <a:noFill/>
          </p:spPr>
          <p:txBody>
            <a:bodyPr wrap="square" rtlCol="0">
              <a:spAutoFit/>
            </a:bodyPr>
            <a:lstStyle/>
            <a:p>
              <a:pPr algn="ctr"/>
              <a:r>
                <a:rPr lang="sv-SE" sz="800" dirty="0" err="1" smtClean="0">
                  <a:solidFill>
                    <a:schemeClr val="accent1"/>
                  </a:solidFill>
                  <a:ea typeface="Verdana" panose="020B0604030504040204" pitchFamily="34" charset="0"/>
                  <a:cs typeface="Verdana" panose="020B0604030504040204" pitchFamily="34" charset="0"/>
                </a:rPr>
                <a:t>Figure</a:t>
              </a:r>
              <a:r>
                <a:rPr lang="sv-SE" sz="800" dirty="0" smtClean="0">
                  <a:solidFill>
                    <a:schemeClr val="accent1"/>
                  </a:solidFill>
                  <a:ea typeface="Verdana" panose="020B0604030504040204" pitchFamily="34" charset="0"/>
                  <a:cs typeface="Verdana" panose="020B0604030504040204" pitchFamily="34" charset="0"/>
                </a:rPr>
                <a:t> 2. </a:t>
              </a:r>
              <a:r>
                <a:rPr lang="sv-SE" sz="800" dirty="0">
                  <a:solidFill>
                    <a:schemeClr val="accent1"/>
                  </a:solidFill>
                  <a:ea typeface="Verdana" panose="020B0604030504040204" pitchFamily="34" charset="0"/>
                  <a:cs typeface="Verdana" panose="020B0604030504040204" pitchFamily="34" charset="0"/>
                </a:rPr>
                <a:t>Rotary </a:t>
              </a:r>
              <a:r>
                <a:rPr lang="sv-SE" sz="800" dirty="0" err="1" smtClean="0">
                  <a:solidFill>
                    <a:schemeClr val="accent1"/>
                  </a:solidFill>
                  <a:ea typeface="Verdana" panose="020B0604030504040204" pitchFamily="34" charset="0"/>
                  <a:cs typeface="Verdana" panose="020B0604030504040204" pitchFamily="34" charset="0"/>
                </a:rPr>
                <a:t>converter</a:t>
              </a:r>
              <a:r>
                <a:rPr lang="sv-SE" sz="800" dirty="0" smtClean="0">
                  <a:solidFill>
                    <a:schemeClr val="accent1"/>
                  </a:solidFill>
                  <a:ea typeface="Verdana" panose="020B0604030504040204" pitchFamily="34" charset="0"/>
                  <a:cs typeface="Verdana" panose="020B0604030504040204" pitchFamily="34" charset="0"/>
                </a:rPr>
                <a:t>.</a:t>
              </a:r>
              <a:endParaRPr lang="sv-SE" sz="800" dirty="0">
                <a:solidFill>
                  <a:schemeClr val="accent1"/>
                </a:solidFill>
              </a:endParaRPr>
            </a:p>
          </p:txBody>
        </p:sp>
      </p:grpSp>
      <p:sp>
        <p:nvSpPr>
          <p:cNvPr id="13" name="Title 12"/>
          <p:cNvSpPr txBox="1">
            <a:spLocks/>
          </p:cNvSpPr>
          <p:nvPr/>
        </p:nvSpPr>
        <p:spPr>
          <a:xfrm>
            <a:off x="183691" y="6349157"/>
            <a:ext cx="11609388" cy="324196"/>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sz="2000" b="0" dirty="0" smtClean="0"/>
              <a:t>Carla </a:t>
            </a:r>
            <a:r>
              <a:rPr lang="en-US" sz="2000" b="0" dirty="0" err="1" smtClean="0"/>
              <a:t>Petta</a:t>
            </a:r>
            <a:r>
              <a:rPr lang="en-US" sz="2000" b="0" dirty="0" smtClean="0"/>
              <a:t> 									</a:t>
            </a:r>
            <a:r>
              <a:rPr lang="en-US" sz="3200" dirty="0" smtClean="0"/>
              <a:t/>
            </a:r>
            <a:br>
              <a:rPr lang="en-US" sz="3200" dirty="0" smtClean="0"/>
            </a:br>
            <a:endParaRPr lang="sv-SE" sz="3200" dirty="0"/>
          </a:p>
        </p:txBody>
      </p:sp>
    </p:spTree>
    <p:extLst>
      <p:ext uri="{BB962C8B-B14F-4D97-AF65-F5344CB8AC3E}">
        <p14:creationId xmlns:p14="http://schemas.microsoft.com/office/powerpoint/2010/main" val="311417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err="1" smtClean="0"/>
              <a:t>Compatibility</a:t>
            </a:r>
            <a:r>
              <a:rPr lang="sv-SE" dirty="0" smtClean="0"/>
              <a:t> </a:t>
            </a:r>
            <a:r>
              <a:rPr lang="sv-SE" dirty="0" err="1" smtClean="0"/>
              <a:t>challenges</a:t>
            </a:r>
            <a:endParaRPr lang="sv-SE" dirty="0"/>
          </a:p>
        </p:txBody>
      </p:sp>
      <p:sp>
        <p:nvSpPr>
          <p:cNvPr id="3" name="Content Placeholder 2"/>
          <p:cNvSpPr>
            <a:spLocks noGrp="1"/>
          </p:cNvSpPr>
          <p:nvPr>
            <p:ph idx="1"/>
          </p:nvPr>
        </p:nvSpPr>
        <p:spPr/>
        <p:txBody>
          <a:bodyPr/>
          <a:lstStyle/>
          <a:p>
            <a:endParaRPr lang="sv-SE" dirty="0"/>
          </a:p>
        </p:txBody>
      </p:sp>
      <p:pic>
        <p:nvPicPr>
          <p:cNvPr id="15" name="Content Placeholder 3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8256" y="2577377"/>
            <a:ext cx="1913356" cy="1418086"/>
          </a:xfrm>
          <a:prstGeom prst="rect">
            <a:avLst/>
          </a:prstGeom>
        </p:spPr>
      </p:pic>
      <p:pic>
        <p:nvPicPr>
          <p:cNvPr id="16" name="Picture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3916" y="4400433"/>
            <a:ext cx="2095380" cy="1418086"/>
          </a:xfrm>
          <a:prstGeom prst="rect">
            <a:avLst/>
          </a:prstGeom>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58624" y="4400433"/>
            <a:ext cx="1972620" cy="1375754"/>
          </a:xfrm>
          <a:prstGeom prst="rect">
            <a:avLst/>
          </a:prstGeom>
        </p:spPr>
      </p:pic>
      <p:cxnSp>
        <p:nvCxnSpPr>
          <p:cNvPr id="19" name="Straight Arrow Connector 18"/>
          <p:cNvCxnSpPr/>
          <p:nvPr/>
        </p:nvCxnSpPr>
        <p:spPr>
          <a:xfrm flipV="1">
            <a:off x="8604636" y="2717800"/>
            <a:ext cx="620969" cy="244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9971881" y="4829465"/>
            <a:ext cx="1" cy="61436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p:cNvSpPr txBox="1"/>
              <p:nvPr/>
            </p:nvSpPr>
            <p:spPr>
              <a:xfrm>
                <a:off x="9861550" y="4527778"/>
                <a:ext cx="908050" cy="307777"/>
              </a:xfrm>
              <a:prstGeom prst="rect">
                <a:avLst/>
              </a:prstGeom>
              <a:noFill/>
            </p:spPr>
            <p:txBody>
              <a:bodyPr wrap="square" rtlCol="0">
                <a:spAutoFit/>
              </a:bodyPr>
              <a:lstStyle/>
              <a:p>
                <a14:m>
                  <m:oMath xmlns:m="http://schemas.openxmlformats.org/officeDocument/2006/math">
                    <m:r>
                      <a:rPr lang="sv-SE" sz="1400" b="0" i="1" smtClean="0">
                        <a:solidFill>
                          <a:srgbClr val="FF0000"/>
                        </a:solidFill>
                        <a:latin typeface="Cambria Math" panose="02040503050406030204" pitchFamily="18" charset="0"/>
                      </a:rPr>
                      <m:t>2.4</m:t>
                    </m:r>
                  </m:oMath>
                </a14:m>
                <a:r>
                  <a:rPr lang="sv-SE" sz="1400" dirty="0" smtClean="0">
                    <a:solidFill>
                      <a:srgbClr val="FF0000"/>
                    </a:solidFill>
                  </a:rPr>
                  <a:t> </a:t>
                </a:r>
                <a:r>
                  <a:rPr lang="sv-SE" sz="1400" dirty="0" smtClean="0">
                    <a:solidFill>
                      <a:srgbClr val="FF0000"/>
                    </a:solidFill>
                    <a:latin typeface="Times New Roman" panose="02020603050405020304" pitchFamily="18" charset="0"/>
                    <a:cs typeface="Times New Roman" panose="02020603050405020304" pitchFamily="18" charset="0"/>
                  </a:rPr>
                  <a:t>Hz</a:t>
                </a:r>
                <a:endParaRPr lang="sv-SE" sz="1400" dirty="0">
                  <a:solidFill>
                    <a:srgbClr val="FF0000"/>
                  </a:solidFill>
                  <a:latin typeface="Times New Roman" panose="02020603050405020304" pitchFamily="18" charset="0"/>
                  <a:cs typeface="Times New Roman" panose="02020603050405020304" pitchFamily="18" charset="0"/>
                </a:endParaRPr>
              </a:p>
            </p:txBody>
          </p:sp>
        </mc:Choice>
        <mc:Fallback xmlns="">
          <p:sp>
            <p:nvSpPr>
              <p:cNvPr id="21" name="TextBox 20"/>
              <p:cNvSpPr txBox="1">
                <a:spLocks noRot="1" noChangeAspect="1" noMove="1" noResize="1" noEditPoints="1" noAdjustHandles="1" noChangeArrowheads="1" noChangeShapeType="1" noTextEdit="1"/>
              </p:cNvSpPr>
              <p:nvPr/>
            </p:nvSpPr>
            <p:spPr>
              <a:xfrm>
                <a:off x="9861550" y="4527778"/>
                <a:ext cx="908050" cy="307777"/>
              </a:xfrm>
              <a:prstGeom prst="rect">
                <a:avLst/>
              </a:prstGeom>
              <a:blipFill>
                <a:blip r:embed="rId5"/>
                <a:stretch>
                  <a:fillRect t="-4000" b="-20000"/>
                </a:stretch>
              </a:blipFill>
            </p:spPr>
            <p:txBody>
              <a:bodyPr/>
              <a:lstStyle/>
              <a:p>
                <a:r>
                  <a:rPr lang="sv-SE">
                    <a:noFill/>
                  </a:rPr>
                  <a:t> </a:t>
                </a:r>
              </a:p>
            </p:txBody>
          </p:sp>
        </mc:Fallback>
      </mc:AlternateContent>
      <p:sp>
        <p:nvSpPr>
          <p:cNvPr id="22" name="TextBox 21"/>
          <p:cNvSpPr txBox="1"/>
          <p:nvPr/>
        </p:nvSpPr>
        <p:spPr>
          <a:xfrm>
            <a:off x="7649172" y="5876765"/>
            <a:ext cx="3022476" cy="215444"/>
          </a:xfrm>
          <a:prstGeom prst="rect">
            <a:avLst/>
          </a:prstGeom>
          <a:noFill/>
        </p:spPr>
        <p:txBody>
          <a:bodyPr wrap="square" rtlCol="0">
            <a:spAutoFit/>
          </a:bodyPr>
          <a:lstStyle/>
          <a:p>
            <a:pPr algn="ctr"/>
            <a:r>
              <a:rPr lang="sv-SE" sz="800" dirty="0" smtClean="0">
                <a:ea typeface="Verdana" panose="020B0604030504040204" pitchFamily="34" charset="0"/>
                <a:cs typeface="Verdana" panose="020B0604030504040204" pitchFamily="34" charset="0"/>
              </a:rPr>
              <a:t>Fig. 3.4. Alvesta </a:t>
            </a:r>
            <a:r>
              <a:rPr lang="sv-SE" sz="800" dirty="0" err="1" smtClean="0">
                <a:ea typeface="Verdana" panose="020B0604030504040204" pitchFamily="34" charset="0"/>
                <a:cs typeface="Verdana" panose="020B0604030504040204" pitchFamily="34" charset="0"/>
              </a:rPr>
              <a:t>measurements</a:t>
            </a:r>
            <a:r>
              <a:rPr lang="sv-SE" sz="800" dirty="0" smtClean="0">
                <a:ea typeface="Verdana" panose="020B0604030504040204" pitchFamily="34" charset="0"/>
                <a:cs typeface="Verdana" panose="020B0604030504040204" pitchFamily="34" charset="0"/>
              </a:rPr>
              <a:t> and FFT </a:t>
            </a:r>
            <a:r>
              <a:rPr lang="sv-SE" sz="800" dirty="0" err="1" smtClean="0">
                <a:ea typeface="Verdana" panose="020B0604030504040204" pitchFamily="34" charset="0"/>
                <a:cs typeface="Verdana" panose="020B0604030504040204" pitchFamily="34" charset="0"/>
              </a:rPr>
              <a:t>of</a:t>
            </a:r>
            <a:r>
              <a:rPr lang="sv-SE" sz="800" dirty="0" smtClean="0">
                <a:ea typeface="Verdana" panose="020B0604030504040204" pitchFamily="34" charset="0"/>
                <a:cs typeface="Verdana" panose="020B0604030504040204" pitchFamily="34" charset="0"/>
              </a:rPr>
              <a:t> the </a:t>
            </a:r>
            <a:r>
              <a:rPr lang="sv-SE" sz="800" dirty="0" err="1" smtClean="0">
                <a:ea typeface="Verdana" panose="020B0604030504040204" pitchFamily="34" charset="0"/>
                <a:cs typeface="Verdana" panose="020B0604030504040204" pitchFamily="34" charset="0"/>
              </a:rPr>
              <a:t>line</a:t>
            </a:r>
            <a:r>
              <a:rPr lang="sv-SE" sz="800" dirty="0" smtClean="0">
                <a:ea typeface="Verdana" panose="020B0604030504040204" pitchFamily="34" charset="0"/>
                <a:cs typeface="Verdana" panose="020B0604030504040204" pitchFamily="34" charset="0"/>
              </a:rPr>
              <a:t> </a:t>
            </a:r>
            <a:r>
              <a:rPr lang="sv-SE" sz="800" dirty="0" err="1" smtClean="0">
                <a:ea typeface="Verdana" panose="020B0604030504040204" pitchFamily="34" charset="0"/>
                <a:cs typeface="Verdana" panose="020B0604030504040204" pitchFamily="34" charset="0"/>
              </a:rPr>
              <a:t>current</a:t>
            </a:r>
            <a:r>
              <a:rPr lang="sv-SE" sz="800" dirty="0" smtClean="0">
                <a:ea typeface="Verdana" panose="020B0604030504040204" pitchFamily="34" charset="0"/>
                <a:cs typeface="Verdana" panose="020B0604030504040204" pitchFamily="34" charset="0"/>
              </a:rPr>
              <a:t>.</a:t>
            </a:r>
            <a:endParaRPr lang="sv-SE" sz="800" dirty="0"/>
          </a:p>
        </p:txBody>
      </p:sp>
      <p:pic>
        <p:nvPicPr>
          <p:cNvPr id="23" name="Picture 2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23916" y="2508944"/>
            <a:ext cx="1913356" cy="1418086"/>
          </a:xfrm>
          <a:prstGeom prst="rect">
            <a:avLst/>
          </a:prstGeom>
        </p:spPr>
      </p:pic>
      <p:sp>
        <p:nvSpPr>
          <p:cNvPr id="24" name="Oval 23"/>
          <p:cNvSpPr/>
          <p:nvPr/>
        </p:nvSpPr>
        <p:spPr>
          <a:xfrm>
            <a:off x="7496731" y="2508944"/>
            <a:ext cx="1107905" cy="422604"/>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5" name="TextBox 44"/>
          <p:cNvSpPr txBox="1"/>
          <p:nvPr/>
        </p:nvSpPr>
        <p:spPr>
          <a:xfrm>
            <a:off x="600075" y="2336878"/>
            <a:ext cx="4415577" cy="1624939"/>
          </a:xfrm>
          <a:prstGeom prst="rect">
            <a:avLst/>
          </a:prstGeom>
        </p:spPr>
        <p:style>
          <a:lnRef idx="0">
            <a:schemeClr val="accent3"/>
          </a:lnRef>
          <a:fillRef idx="3">
            <a:schemeClr val="accent3"/>
          </a:fillRef>
          <a:effectRef idx="3">
            <a:schemeClr val="accent3"/>
          </a:effectRef>
          <a:fontRef idx="minor">
            <a:schemeClr val="lt1"/>
          </a:fontRef>
        </p:style>
        <p:txBody>
          <a:bodyPr wrap="square" rtlCol="0">
            <a:spAutoFit/>
          </a:bodyPr>
          <a:lstStyle/>
          <a:p>
            <a:r>
              <a:rPr lang="sv-SE" sz="1400" b="1" dirty="0" err="1" smtClean="0"/>
              <a:t>Compatibility</a:t>
            </a:r>
            <a:r>
              <a:rPr lang="sv-SE" sz="1400" b="1" dirty="0" smtClean="0"/>
              <a:t> problems </a:t>
            </a:r>
            <a:r>
              <a:rPr lang="sv-SE" sz="1400" dirty="0" smtClean="0"/>
              <a:t>in the </a:t>
            </a:r>
            <a:r>
              <a:rPr lang="sv-SE" sz="1400" dirty="0" err="1" smtClean="0"/>
              <a:t>traction</a:t>
            </a:r>
            <a:r>
              <a:rPr lang="sv-SE" sz="1400" dirty="0" smtClean="0"/>
              <a:t> </a:t>
            </a:r>
            <a:r>
              <a:rPr lang="sv-SE" sz="1400" dirty="0" err="1" smtClean="0"/>
              <a:t>power</a:t>
            </a:r>
            <a:r>
              <a:rPr lang="sv-SE" sz="1400" dirty="0" smtClean="0"/>
              <a:t> </a:t>
            </a:r>
            <a:r>
              <a:rPr lang="sv-SE" sz="1400" dirty="0" err="1" smtClean="0"/>
              <a:t>supply</a:t>
            </a:r>
            <a:r>
              <a:rPr lang="sv-SE" sz="1400" dirty="0" smtClean="0"/>
              <a:t>:</a:t>
            </a:r>
          </a:p>
          <a:p>
            <a:pPr marL="285750" indent="-285750">
              <a:buFont typeface="Arial" panose="020B0604020202020204" pitchFamily="34" charset="0"/>
              <a:buChar char="•"/>
            </a:pPr>
            <a:r>
              <a:rPr lang="sv-SE" sz="1400" dirty="0" err="1" smtClean="0"/>
              <a:t>Low</a:t>
            </a:r>
            <a:r>
              <a:rPr lang="sv-SE" sz="1400" dirty="0" smtClean="0"/>
              <a:t> </a:t>
            </a:r>
            <a:r>
              <a:rPr lang="sv-SE" sz="1400" dirty="0" err="1" smtClean="0"/>
              <a:t>frequency</a:t>
            </a:r>
            <a:r>
              <a:rPr lang="sv-SE" sz="1400" dirty="0" smtClean="0"/>
              <a:t> </a:t>
            </a:r>
            <a:r>
              <a:rPr lang="sv-SE" sz="1400" dirty="0" err="1" smtClean="0"/>
              <a:t>instability</a:t>
            </a:r>
            <a:endParaRPr lang="sv-SE" sz="1400" dirty="0" smtClean="0"/>
          </a:p>
          <a:p>
            <a:pPr marL="285750" indent="-285750">
              <a:buFont typeface="Arial" panose="020B0604020202020204" pitchFamily="34" charset="0"/>
              <a:buChar char="•"/>
            </a:pPr>
            <a:r>
              <a:rPr lang="sv-SE" sz="1400" dirty="0" err="1" smtClean="0"/>
              <a:t>Electrical</a:t>
            </a:r>
            <a:r>
              <a:rPr lang="sv-SE" sz="1400" dirty="0" smtClean="0"/>
              <a:t> </a:t>
            </a:r>
            <a:r>
              <a:rPr lang="sv-SE" sz="1400" dirty="0" err="1" smtClean="0"/>
              <a:t>resonance</a:t>
            </a:r>
            <a:r>
              <a:rPr lang="sv-SE" sz="1400" dirty="0" smtClean="0"/>
              <a:t> </a:t>
            </a:r>
          </a:p>
          <a:p>
            <a:pPr marL="285750" indent="-285750">
              <a:buFont typeface="Arial" panose="020B0604020202020204" pitchFamily="34" charset="0"/>
              <a:buChar char="•"/>
            </a:pPr>
            <a:r>
              <a:rPr lang="sv-SE" sz="1400" dirty="0" err="1" smtClean="0"/>
              <a:t>Load</a:t>
            </a:r>
            <a:r>
              <a:rPr lang="sv-SE" sz="1400" dirty="0" smtClean="0"/>
              <a:t> </a:t>
            </a:r>
            <a:r>
              <a:rPr lang="sv-SE" sz="1400" dirty="0" err="1" smtClean="0"/>
              <a:t>sharing</a:t>
            </a:r>
            <a:r>
              <a:rPr lang="sv-SE" sz="1400" dirty="0" smtClean="0"/>
              <a:t> </a:t>
            </a:r>
            <a:r>
              <a:rPr lang="sv-SE" sz="1400" dirty="0" err="1" smtClean="0"/>
              <a:t>issues</a:t>
            </a:r>
            <a:endParaRPr lang="sv-SE" sz="1400" dirty="0" smtClean="0"/>
          </a:p>
          <a:p>
            <a:pPr marL="285750" indent="-285750">
              <a:buFont typeface="Arial" panose="020B0604020202020204" pitchFamily="34" charset="0"/>
              <a:buChar char="•"/>
            </a:pPr>
            <a:r>
              <a:rPr lang="sv-SE" sz="1400" dirty="0" smtClean="0"/>
              <a:t>Distribution </a:t>
            </a:r>
            <a:r>
              <a:rPr lang="sv-SE" sz="1400" dirty="0" err="1" smtClean="0"/>
              <a:t>of</a:t>
            </a:r>
            <a:r>
              <a:rPr lang="sv-SE" sz="1400" dirty="0" smtClean="0"/>
              <a:t> short-</a:t>
            </a:r>
            <a:r>
              <a:rPr lang="sv-SE" sz="1400" dirty="0" err="1" smtClean="0"/>
              <a:t>circuit</a:t>
            </a:r>
            <a:r>
              <a:rPr lang="sv-SE" sz="1400" dirty="0" smtClean="0"/>
              <a:t> </a:t>
            </a:r>
            <a:r>
              <a:rPr lang="sv-SE" sz="1400" dirty="0" err="1" smtClean="0"/>
              <a:t>current</a:t>
            </a:r>
            <a:r>
              <a:rPr lang="sv-SE" sz="1400" dirty="0" smtClean="0"/>
              <a:t>, </a:t>
            </a:r>
            <a:r>
              <a:rPr lang="sv-SE" sz="1400" dirty="0" err="1" smtClean="0"/>
              <a:t>harmonic</a:t>
            </a:r>
            <a:r>
              <a:rPr lang="sv-SE" sz="1400" dirty="0" smtClean="0"/>
              <a:t> </a:t>
            </a:r>
            <a:r>
              <a:rPr lang="sv-SE" sz="1400" dirty="0" err="1" smtClean="0"/>
              <a:t>current</a:t>
            </a:r>
            <a:endParaRPr lang="sv-SE" sz="1400" dirty="0"/>
          </a:p>
        </p:txBody>
      </p:sp>
      <p:sp>
        <p:nvSpPr>
          <p:cNvPr id="48" name="TextBox 47"/>
          <p:cNvSpPr txBox="1"/>
          <p:nvPr/>
        </p:nvSpPr>
        <p:spPr>
          <a:xfrm>
            <a:off x="616597" y="4767943"/>
            <a:ext cx="4406665" cy="1384995"/>
          </a:xfrm>
          <a:prstGeom prst="rect">
            <a:avLst/>
          </a:prstGeom>
          <a:effectLst>
            <a:outerShdw blurRad="57150" dist="19050" dir="5400000" algn="ctr" rotWithShape="0">
              <a:srgbClr val="000000">
                <a:alpha val="63000"/>
              </a:srgbClr>
            </a:outerShdw>
            <a:softEdge rad="0"/>
          </a:effectLst>
        </p:spPr>
        <p:style>
          <a:lnRef idx="0">
            <a:schemeClr val="accent3"/>
          </a:lnRef>
          <a:fillRef idx="3">
            <a:schemeClr val="accent3"/>
          </a:fillRef>
          <a:effectRef idx="3">
            <a:schemeClr val="accent3"/>
          </a:effectRef>
          <a:fontRef idx="minor">
            <a:schemeClr val="lt1"/>
          </a:fontRef>
        </p:style>
        <p:txBody>
          <a:bodyPr wrap="square" rtlCol="0">
            <a:spAutoFit/>
          </a:bodyPr>
          <a:lstStyle/>
          <a:p>
            <a:pPr marL="342900" indent="-342900">
              <a:buFont typeface="+mj-lt"/>
              <a:buAutoNum type="arabicPeriod"/>
            </a:pPr>
            <a:r>
              <a:rPr lang="sv-SE" sz="1400" b="1" dirty="0" err="1" smtClean="0"/>
              <a:t>Model</a:t>
            </a:r>
            <a:r>
              <a:rPr lang="sv-SE" sz="1400" b="1" dirty="0" smtClean="0"/>
              <a:t> </a:t>
            </a:r>
            <a:r>
              <a:rPr lang="sv-SE" sz="1400" b="1" dirty="0" err="1" smtClean="0"/>
              <a:t>development</a:t>
            </a:r>
            <a:r>
              <a:rPr lang="sv-SE" sz="1400" b="1" dirty="0" smtClean="0"/>
              <a:t> </a:t>
            </a:r>
            <a:r>
              <a:rPr lang="sv-SE" sz="1400" dirty="0" err="1" smtClean="0"/>
              <a:t>of</a:t>
            </a:r>
            <a:r>
              <a:rPr lang="sv-SE" sz="1400" dirty="0" smtClean="0"/>
              <a:t> the different </a:t>
            </a:r>
            <a:r>
              <a:rPr lang="sv-SE" sz="1400" dirty="0" err="1" smtClean="0"/>
              <a:t>converter</a:t>
            </a:r>
            <a:r>
              <a:rPr lang="sv-SE" sz="1400" dirty="0" smtClean="0"/>
              <a:t> </a:t>
            </a:r>
            <a:r>
              <a:rPr lang="sv-SE" sz="1400" dirty="0" err="1" smtClean="0"/>
              <a:t>topologies</a:t>
            </a:r>
            <a:r>
              <a:rPr lang="sv-SE" sz="1400" dirty="0" smtClean="0"/>
              <a:t> for </a:t>
            </a:r>
            <a:r>
              <a:rPr lang="sv-SE" sz="1400" dirty="0" err="1" smtClean="0"/>
              <a:t>interaction</a:t>
            </a:r>
            <a:r>
              <a:rPr lang="sv-SE" sz="1400" dirty="0" smtClean="0"/>
              <a:t> studies in </a:t>
            </a:r>
            <a:r>
              <a:rPr lang="sv-SE" sz="1400" dirty="0" err="1" smtClean="0"/>
              <a:t>time</a:t>
            </a:r>
            <a:r>
              <a:rPr lang="sv-SE" sz="1400" dirty="0" smtClean="0"/>
              <a:t> and </a:t>
            </a:r>
            <a:r>
              <a:rPr lang="sv-SE" sz="1400" dirty="0" err="1" smtClean="0"/>
              <a:t>frequency</a:t>
            </a:r>
            <a:r>
              <a:rPr lang="sv-SE" sz="1400" dirty="0" smtClean="0"/>
              <a:t> </a:t>
            </a:r>
            <a:r>
              <a:rPr lang="sv-SE" sz="1400" dirty="0" err="1" smtClean="0"/>
              <a:t>domains</a:t>
            </a:r>
            <a:r>
              <a:rPr lang="sv-SE" sz="1400" dirty="0" smtClean="0"/>
              <a:t>.</a:t>
            </a:r>
          </a:p>
          <a:p>
            <a:pPr marL="342900" indent="-342900">
              <a:buFont typeface="+mj-lt"/>
              <a:buAutoNum type="arabicPeriod" startAt="2"/>
            </a:pPr>
            <a:r>
              <a:rPr lang="en-US" sz="1400" dirty="0" smtClean="0"/>
              <a:t>How to develop </a:t>
            </a:r>
            <a:r>
              <a:rPr lang="en-US" sz="1400" b="1" dirty="0" smtClean="0"/>
              <a:t>functional and technical requirements </a:t>
            </a:r>
            <a:r>
              <a:rPr lang="en-US" sz="1400" b="1" dirty="0"/>
              <a:t>and test methodologies </a:t>
            </a:r>
            <a:r>
              <a:rPr lang="en-US" sz="1400" dirty="0" smtClean="0"/>
              <a:t>to </a:t>
            </a:r>
            <a:r>
              <a:rPr lang="en-US" sz="1400" dirty="0"/>
              <a:t>prevent future problems?</a:t>
            </a:r>
            <a:endParaRPr lang="en-GB" sz="1400" dirty="0" smtClean="0"/>
          </a:p>
        </p:txBody>
      </p:sp>
      <p:sp>
        <p:nvSpPr>
          <p:cNvPr id="49" name="TextBox 48"/>
          <p:cNvSpPr txBox="1"/>
          <p:nvPr/>
        </p:nvSpPr>
        <p:spPr>
          <a:xfrm>
            <a:off x="624206" y="4343112"/>
            <a:ext cx="4399056"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sv-SE" b="1" dirty="0" smtClean="0"/>
              <a:t>Research </a:t>
            </a:r>
            <a:r>
              <a:rPr lang="sv-SE" b="1" dirty="0" err="1" smtClean="0"/>
              <a:t>questions</a:t>
            </a:r>
            <a:endParaRPr lang="sv-SE" b="1" dirty="0"/>
          </a:p>
        </p:txBody>
      </p:sp>
      <p:sp>
        <p:nvSpPr>
          <p:cNvPr id="50" name="TextBox 49"/>
          <p:cNvSpPr txBox="1"/>
          <p:nvPr/>
        </p:nvSpPr>
        <p:spPr>
          <a:xfrm>
            <a:off x="616597" y="1916130"/>
            <a:ext cx="4406665" cy="369332"/>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sv-SE" b="1" dirty="0" smtClean="0"/>
              <a:t>Problem </a:t>
            </a:r>
            <a:r>
              <a:rPr lang="sv-SE" b="1" dirty="0" err="1" smtClean="0"/>
              <a:t>statement</a:t>
            </a:r>
            <a:endParaRPr lang="sv-SE" b="1" dirty="0"/>
          </a:p>
        </p:txBody>
      </p:sp>
      <p:sp>
        <p:nvSpPr>
          <p:cNvPr id="18" name="Title 12"/>
          <p:cNvSpPr txBox="1">
            <a:spLocks/>
          </p:cNvSpPr>
          <p:nvPr/>
        </p:nvSpPr>
        <p:spPr>
          <a:xfrm>
            <a:off x="183691" y="6349157"/>
            <a:ext cx="11609388" cy="324196"/>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sz="2000" b="0" dirty="0" smtClean="0"/>
              <a:t>Carla </a:t>
            </a:r>
            <a:r>
              <a:rPr lang="en-US" sz="2000" b="0" dirty="0" err="1" smtClean="0"/>
              <a:t>Petta</a:t>
            </a:r>
            <a:r>
              <a:rPr lang="en-US" sz="2000" b="0" dirty="0" smtClean="0"/>
              <a:t> 									</a:t>
            </a:r>
            <a:r>
              <a:rPr lang="en-US" sz="3200" dirty="0" smtClean="0"/>
              <a:t/>
            </a:r>
            <a:br>
              <a:rPr lang="en-US" sz="3200" dirty="0" smtClean="0"/>
            </a:br>
            <a:endParaRPr lang="sv-SE" sz="3200" dirty="0"/>
          </a:p>
        </p:txBody>
      </p:sp>
    </p:spTree>
    <p:extLst>
      <p:ext uri="{BB962C8B-B14F-4D97-AF65-F5344CB8AC3E}">
        <p14:creationId xmlns:p14="http://schemas.microsoft.com/office/powerpoint/2010/main" val="2185719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4" grpId="0" animBg="1"/>
      <p:bldP spid="48" grpId="0" animBg="1"/>
      <p:bldP spid="49" grpId="0" animBg="1"/>
    </p:bld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1225</TotalTime>
  <Words>554</Words>
  <Application>Microsoft Office PowerPoint</Application>
  <PresentationFormat>Widescreen</PresentationFormat>
  <Paragraphs>64</Paragraphs>
  <Slides>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Adobe Fan Heiti Std B</vt:lpstr>
      <vt:lpstr>Figtree</vt:lpstr>
      <vt:lpstr>Arial</vt:lpstr>
      <vt:lpstr>Calibri</vt:lpstr>
      <vt:lpstr>Verdana</vt:lpstr>
      <vt:lpstr>Cambria Math</vt:lpstr>
      <vt:lpstr>Times New Roman</vt:lpstr>
      <vt:lpstr>Office-tema</vt:lpstr>
      <vt:lpstr>PowerPoint Presentation</vt:lpstr>
      <vt:lpstr>Shahriar Sarmast   shsg@kth.se</vt:lpstr>
      <vt:lpstr>Back-to-Back Setup</vt:lpstr>
      <vt:lpstr>Raising the DC-Link Voltage in Traction Inverters </vt:lpstr>
      <vt:lpstr>PowerPoint Presentation</vt:lpstr>
      <vt:lpstr>AC railway power systems</vt:lpstr>
      <vt:lpstr>Compatibility challenges</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28</cp:revision>
  <dcterms:created xsi:type="dcterms:W3CDTF">2025-11-04T14:01:16Z</dcterms:created>
  <dcterms:modified xsi:type="dcterms:W3CDTF">2025-12-03T10:28:51Z</dcterms:modified>
</cp:coreProperties>
</file>