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4"/>
  </p:notesMasterIdLst>
  <p:sldIdLst>
    <p:sldId id="256" r:id="rId2"/>
    <p:sldId id="286" r:id="rId3"/>
    <p:sldId id="287" r:id="rId4"/>
    <p:sldId id="296" r:id="rId5"/>
    <p:sldId id="288" r:id="rId6"/>
    <p:sldId id="297" r:id="rId7"/>
    <p:sldId id="298" r:id="rId8"/>
    <p:sldId id="299" r:id="rId9"/>
    <p:sldId id="302" r:id="rId10"/>
    <p:sldId id="300" r:id="rId11"/>
    <p:sldId id="301" r:id="rId12"/>
    <p:sldId id="303" r:id="rId13"/>
    <p:sldId id="289" r:id="rId14"/>
    <p:sldId id="290" r:id="rId15"/>
    <p:sldId id="304" r:id="rId16"/>
    <p:sldId id="291" r:id="rId17"/>
    <p:sldId id="292" r:id="rId18"/>
    <p:sldId id="305" r:id="rId19"/>
    <p:sldId id="306" r:id="rId20"/>
    <p:sldId id="295" r:id="rId21"/>
    <p:sldId id="294" r:id="rId22"/>
    <p:sldId id="281" r:id="rId23"/>
  </p:sldIdLst>
  <p:sldSz cx="12192000" cy="6858000"/>
  <p:notesSz cx="6858000" cy="9144000"/>
  <p:embeddedFontLst>
    <p:embeddedFont>
      <p:font typeface="Calibri" panose="020F0502020204030204" pitchFamily="34" charset="0"/>
      <p:regular r:id="rId25"/>
      <p:bold r:id="rId26"/>
      <p:italic r:id="rId27"/>
      <p:boldItalic r:id="rId28"/>
    </p:embeddedFont>
    <p:embeddedFont>
      <p:font typeface="Figtree" panose="020B0604020202020204" charset="0"/>
      <p:regular r:id="rId29"/>
      <p:bold r:id="rId30"/>
      <p:italic r:id="rId31"/>
      <p:boldItalic r:id="rId32"/>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1" autoAdjust="0"/>
    <p:restoredTop sz="96327"/>
  </p:normalViewPr>
  <p:slideViewPr>
    <p:cSldViewPr snapToGrid="0">
      <p:cViewPr varScale="1">
        <p:scale>
          <a:sx n="154" d="100"/>
          <a:sy n="154" d="100"/>
        </p:scale>
        <p:origin x="52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2025-12-17</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E7320ED-CC30-40CA-9CE4-6E3D40AC6940}" type="datetime1">
              <a:rPr lang="sv-SE" smtClean="0"/>
              <a:t>2025-12-17</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C49BCAB-5A06-4223-BFB2-ED3A362D31FB}" type="datetime1">
              <a:rPr lang="sv-SE" smtClean="0"/>
              <a:t>2025-12-17</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DE1E4F4-915F-4BDA-8018-0E8D85ADB3AE}" type="datetime1">
              <a:rPr lang="sv-SE" smtClean="0"/>
              <a:t>2025-12-17</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838F692-DF1B-4705-97B1-EA9A7FECE70D}" type="datetime1">
              <a:rPr lang="sv-SE" smtClean="0"/>
              <a:t>2025-12-17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FFB1190-7C65-4056-BED4-EB7E51E067BA}" type="datetime1">
              <a:rPr lang="sv-SE" smtClean="0"/>
              <a:t>2025-12-17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1DF53C7D-A530-4CB2-81B7-4822E854671D}" type="datetime1">
              <a:rPr lang="sv-SE" smtClean="0"/>
              <a:t>2025-12-17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3F2BC08D-9DE6-4B18-97D4-94C41C7C750B}" type="datetime1">
              <a:rPr lang="sv-SE" smtClean="0"/>
              <a:t>2025-12-17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174ABE9A-BFC9-4414-99F3-C04009DDD507}" type="datetime1">
              <a:rPr lang="sv-SE" smtClean="0"/>
              <a:t>2025-12-17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37F410EA-42AD-48B6-9D51-9A9648286DDE}" type="datetime1">
              <a:rPr lang="sv-SE" smtClean="0"/>
              <a:t>2025-12-17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69AB505C-0FE7-46CC-9442-496C62ABF749}" type="datetime1">
              <a:rPr lang="sv-SE" smtClean="0"/>
              <a:t>2025-12-17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F27EA40-ECA7-45D6-A8C4-30B44DDB041D}" type="datetime1">
              <a:rPr lang="sv-SE" smtClean="0"/>
              <a:t>2025-12-17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BFD7CF34-B1D4-4C4D-9A17-FE1AB55311BA}" type="datetime1">
              <a:rPr lang="sv-SE" smtClean="0"/>
              <a:t>2025-12-17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A89EC2E1-56DF-43E3-9653-4E5C33165AAD}" type="datetime1">
              <a:rPr lang="sv-SE" smtClean="0"/>
              <a:t>2025-12-17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484A3420-E8D2-4E05-B041-68E36F39639A}" type="datetime1">
              <a:rPr lang="sv-SE" smtClean="0"/>
              <a:t>2025-12-17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87B91D26-6A42-4A6A-9C66-69F2C39EF0CF}" type="datetime1">
              <a:rPr lang="sv-SE" smtClean="0"/>
              <a:t>2025-12-17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BD14C729-1F95-49E6-8483-86575ECFCB6E}" type="datetime1">
              <a:rPr lang="sv-SE" smtClean="0"/>
              <a:t>2025-12-17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3BAA5190-CB07-4BB7-A900-3DAB2E0E415F}" type="datetime1">
              <a:rPr lang="sv-SE" smtClean="0"/>
              <a:t>2025-12-17</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8C85BA78-3D1B-4158-B001-FE61CF1C222E}" type="datetime1">
              <a:rPr lang="sv-SE" smtClean="0"/>
              <a:t>2025-12-17</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10E95EC-C335-4145-ACE1-392060E44822}" type="datetime1">
              <a:rPr lang="sv-SE" smtClean="0"/>
              <a:t>2025-12-17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6DCC37F-AD05-44BD-A36C-1A828CB70665}" type="datetime1">
              <a:rPr lang="sv-SE" smtClean="0"/>
              <a:t>2025-12-17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5474E43-27D6-41CC-B429-196AE525BDB8}" type="datetime1">
              <a:rPr lang="sv-SE" smtClean="0"/>
              <a:t>2025-12-17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4FBD4B1-3F11-4E01-82C5-9CB645F147B5}" type="datetime1">
              <a:rPr lang="sv-SE" smtClean="0"/>
              <a:t>2025-12-17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3F11B96-60EF-445F-B5C7-65AC07B1D82A}" type="datetime1">
              <a:rPr lang="sv-SE" smtClean="0"/>
              <a:t>2025-12-17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75E3B09-F8CC-4D44-B8C1-07449FEFEBED}" type="datetime1">
              <a:rPr lang="sv-SE" smtClean="0"/>
              <a:t>2025-12-17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4D10F1A-1AAF-4648-B199-DA18729AAA1B}" type="datetime1">
              <a:rPr lang="sv-SE" smtClean="0"/>
              <a:t>2025-12-17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C05208B1-A039-4927-BF83-AF5ABAE532ED}" type="datetime1">
              <a:rPr lang="sv-SE" smtClean="0"/>
              <a:t>2025-12-17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DDC1B5E-84F3-4205-8CC9-0ED2BBDCB308}" type="datetime1">
              <a:rPr lang="sv-SE" smtClean="0"/>
              <a:t>2025-12-17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7BDF3CC5-CBCD-4293-A7FF-8E4824E89ADA}" type="datetime1">
              <a:rPr lang="sv-SE" smtClean="0"/>
              <a:t>2025-12-17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62414029-E44B-455F-B177-B428A7ECCE47}" type="datetime1">
              <a:rPr lang="sv-SE" smtClean="0"/>
              <a:t>2025-12-17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14A26C4-8A72-461A-A198-B820420183ED}" type="datetime1">
              <a:rPr lang="sv-SE" smtClean="0"/>
              <a:t>2025-12-17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B92C207A-D86B-4817-A025-C1A14F1B0FDD}" type="datetime1">
              <a:rPr lang="sv-SE" smtClean="0"/>
              <a:t>2025-12-17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C0178818-F141-4E84-90B4-E52F899B5AB4}" type="datetime1">
              <a:rPr lang="sv-SE" smtClean="0"/>
              <a:t>2025-12-17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15BABAD-AE8C-42F9-A95A-EFB43FAAD5FF}" type="datetime1">
              <a:rPr lang="sv-SE" smtClean="0"/>
              <a:t>2025-12-17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624DCEF-49E6-4B70-95E7-A8F3F6BA5952}" type="datetime1">
              <a:rPr lang="sv-SE" smtClean="0"/>
              <a:t>2025-12-17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FFB7F76B-1D00-49DE-9F67-10C8EBA28D6F}" type="datetime1">
              <a:rPr lang="sv-SE" smtClean="0"/>
              <a:t>2025-12-17</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D41F8B-E864-4DEF-898D-AEB5E7A12997}" type="datetime1">
              <a:rPr lang="sv-SE" smtClean="0"/>
              <a:t>2025-12-17</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D5583B8-425F-424D-A537-19C487A0E825}" type="datetime1">
              <a:rPr lang="sv-SE" smtClean="0"/>
              <a:t>2025-12-17</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D197700-4604-4353-957C-82710342673E}" type="datetime1">
              <a:rPr lang="sv-SE" smtClean="0"/>
              <a:t>2025-12-17</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2AD88B0-5D04-4CBC-9F9D-A68222D2221C}" type="datetime1">
              <a:rPr lang="sv-SE" smtClean="0"/>
              <a:t>2025-12-17</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2CB5245D-D3F1-47DD-81B7-B707BD426610}" type="datetime1">
              <a:rPr lang="sv-SE" smtClean="0"/>
              <a:t>2025-12-17</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49C9B160-C296-4714-BAC5-2F363C7BBC45}" type="datetime1">
              <a:rPr lang="sv-SE" smtClean="0"/>
              <a:t>2025-12-17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6EEE5CF1-D461-4F9F-A64C-35EE4209EA91}" type="datetime1">
              <a:rPr lang="sv-SE" smtClean="0"/>
              <a:t>2025-12-17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77A04451-31EE-427C-97F1-FC087CBD92A2}" type="datetime1">
              <a:rPr lang="sv-SE" smtClean="0"/>
              <a:t>2025-12-17</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7AC8713D-BB8F-49B9-88A5-23DB39DD36E0}" type="datetime1">
              <a:rPr lang="sv-SE" smtClean="0"/>
              <a:t>2025-12-17</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095E2F45-FF78-44AE-91B9-C057DBFFB11E}" type="datetime1">
              <a:rPr lang="sv-SE" smtClean="0"/>
              <a:t>2025-12-17</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310876DD-1031-4BCC-948D-E42E85795B8B}" type="datetime1">
              <a:rPr lang="sv-SE" smtClean="0"/>
              <a:t>2025-12-17</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9ABDBC88-D4D4-4F58-ADA3-A0DCC8EC5BFF}" type="datetime1">
              <a:rPr lang="sv-SE" smtClean="0"/>
              <a:t>2025-12-17</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D8870112-0760-459F-8E4C-E4F09A70E3E0}" type="datetime1">
              <a:rPr lang="sv-SE" smtClean="0"/>
              <a:t>2025-12-17</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1.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1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5.png"/></Relationships>
</file>

<file path=ppt/slides/_rels/slide12.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png"/><Relationship Id="rId1" Type="http://schemas.openxmlformats.org/officeDocument/2006/relationships/slideLayout" Target="../slideLayouts/slideLayout1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1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2.xml"/><Relationship Id="rId5" Type="http://schemas.openxmlformats.org/officeDocument/2006/relationships/image" Target="../media/image66.png"/><Relationship Id="rId4" Type="http://schemas.openxmlformats.org/officeDocument/2006/relationships/image" Target="../media/image65.png"/></Relationships>
</file>

<file path=ppt/slides/_rels/slide1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1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2.xml"/><Relationship Id="rId5" Type="http://schemas.openxmlformats.org/officeDocument/2006/relationships/image" Target="../media/image77.png"/><Relationship Id="rId4" Type="http://schemas.openxmlformats.org/officeDocument/2006/relationships/image" Target="../media/image76.png"/></Relationships>
</file>

<file path=ppt/slides/_rels/slide1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1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2.xml"/><Relationship Id="rId4" Type="http://schemas.openxmlformats.org/officeDocument/2006/relationships/image" Target="../media/image8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312543"/>
            <a:ext cx="8798701" cy="1913508"/>
          </a:xfrm>
        </p:spPr>
        <p:txBody>
          <a:bodyPr/>
          <a:lstStyle/>
          <a:p>
            <a:r>
              <a:rPr lang="en-US" dirty="0"/>
              <a:t>1.2 kV Heavy-Duty Electric Vehicle Powertrains</a:t>
            </a:r>
            <a:r>
              <a:rPr lang="en-US" dirty="0" smtClean="0"/>
              <a:t>: System-Level </a:t>
            </a:r>
            <a:r>
              <a:rPr lang="en-US" dirty="0"/>
              <a:t>Analysis and Holistic </a:t>
            </a:r>
            <a:r>
              <a:rPr lang="en-US" dirty="0" smtClean="0"/>
              <a:t>Efficiency Optimization</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normAutofit/>
          </a:bodyPr>
          <a:lstStyle/>
          <a:p>
            <a:r>
              <a:rPr lang="sv-SE" dirty="0"/>
              <a:t>Enes </a:t>
            </a:r>
            <a:r>
              <a:rPr lang="sv-SE" dirty="0" smtClean="0"/>
              <a:t>Ayaz</a:t>
            </a:r>
            <a:endParaRPr lang="sv-SE" dirty="0"/>
          </a:p>
        </p:txBody>
      </p:sp>
      <p:sp>
        <p:nvSpPr>
          <p:cNvPr id="2" name="Slide Number Placeholder 1"/>
          <p:cNvSpPr>
            <a:spLocks noGrp="1"/>
          </p:cNvSpPr>
          <p:nvPr>
            <p:ph type="sldNum" sz="quarter" idx="12"/>
          </p:nvPr>
        </p:nvSpPr>
        <p:spPr/>
        <p:txBody>
          <a:bodyPr/>
          <a:lstStyle/>
          <a:p>
            <a:fld id="{B716C8F4-20CD-364A-8A8E-DE130115B178}" type="slidenum">
              <a:rPr lang="sv-SE" smtClean="0"/>
              <a:pPr/>
              <a:t>1</a:t>
            </a:fld>
            <a:endParaRPr lang="sv-SE"/>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smtClean="0"/>
              <a:t>Introduction</a:t>
            </a:r>
            <a:endParaRPr lang="en-US" dirty="0"/>
          </a:p>
        </p:txBody>
      </p:sp>
      <p:sp>
        <p:nvSpPr>
          <p:cNvPr id="3" name="Content Placeholder 2"/>
          <p:cNvSpPr>
            <a:spLocks noGrp="1"/>
          </p:cNvSpPr>
          <p:nvPr>
            <p:ph idx="1"/>
          </p:nvPr>
        </p:nvSpPr>
        <p:spPr>
          <a:xfrm>
            <a:off x="3800894" y="1528929"/>
            <a:ext cx="7841412" cy="1036296"/>
          </a:xfrm>
        </p:spPr>
        <p:txBody>
          <a:bodyPr/>
          <a:lstStyle/>
          <a:p>
            <a:pPr marL="0" indent="0" algn="just">
              <a:buNone/>
            </a:pPr>
            <a:r>
              <a:rPr lang="en-US" sz="1800" dirty="0" smtClean="0"/>
              <a:t>The shift </a:t>
            </a:r>
            <a:r>
              <a:rPr lang="en-US" sz="1800" dirty="0"/>
              <a:t>towards </a:t>
            </a:r>
            <a:r>
              <a:rPr lang="en-US" sz="1800" b="1" dirty="0">
                <a:solidFill>
                  <a:schemeClr val="accent6">
                    <a:lumMod val="75000"/>
                  </a:schemeClr>
                </a:solidFill>
              </a:rPr>
              <a:t>electrifying heavy-duty vehicles</a:t>
            </a:r>
            <a:r>
              <a:rPr lang="en-US" sz="1800" dirty="0">
                <a:solidFill>
                  <a:schemeClr val="accent6">
                    <a:lumMod val="75000"/>
                  </a:schemeClr>
                </a:solidFill>
              </a:rPr>
              <a:t> </a:t>
            </a:r>
            <a:r>
              <a:rPr lang="en-US" sz="1800" dirty="0"/>
              <a:t>is driven by the increasing need for </a:t>
            </a:r>
            <a:r>
              <a:rPr lang="en-US" sz="1800" b="1" dirty="0">
                <a:solidFill>
                  <a:schemeClr val="accent6">
                    <a:lumMod val="75000"/>
                  </a:schemeClr>
                </a:solidFill>
              </a:rPr>
              <a:t>sustainable transportation solutions</a:t>
            </a:r>
            <a:r>
              <a:rPr lang="en-US" sz="1800" dirty="0">
                <a:solidFill>
                  <a:schemeClr val="accent6">
                    <a:lumMod val="75000"/>
                  </a:schemeClr>
                </a:solidFill>
              </a:rPr>
              <a:t> </a:t>
            </a:r>
            <a:r>
              <a:rPr lang="en-US" sz="1800" dirty="0"/>
              <a:t>to address </a:t>
            </a:r>
            <a:r>
              <a:rPr lang="en-US" sz="1800" b="1" dirty="0">
                <a:solidFill>
                  <a:schemeClr val="accent6">
                    <a:lumMod val="75000"/>
                  </a:schemeClr>
                </a:solidFill>
              </a:rPr>
              <a:t>environmental challenges</a:t>
            </a:r>
            <a:r>
              <a:rPr lang="en-US" sz="1800" dirty="0">
                <a:solidFill>
                  <a:schemeClr val="accent6">
                    <a:lumMod val="75000"/>
                  </a:schemeClr>
                </a:solidFill>
              </a:rPr>
              <a:t> </a:t>
            </a:r>
            <a:r>
              <a:rPr lang="en-US" sz="1800" dirty="0"/>
              <a:t>and reduce emissions.</a:t>
            </a:r>
            <a:endParaRPr lang="en-US" dirty="0" smtClean="0"/>
          </a:p>
          <a:p>
            <a:pPr marL="457200" lvl="1" indent="0">
              <a:buNone/>
            </a:pPr>
            <a:r>
              <a:rPr lang="en-US" dirty="0" smtClean="0"/>
              <a:t>	</a:t>
            </a:r>
            <a:endParaRPr lang="sv-SE" dirty="0" smtClean="0"/>
          </a:p>
        </p:txBody>
      </p:sp>
      <p:pic>
        <p:nvPicPr>
          <p:cNvPr id="5" name="Picture 2" descr="Scania Australia | Driving The Future | Scania Austral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447" y="1252868"/>
            <a:ext cx="2921816" cy="194376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66011" y="3336332"/>
            <a:ext cx="6077969" cy="1477328"/>
          </a:xfrm>
          <a:prstGeom prst="rect">
            <a:avLst/>
          </a:prstGeom>
          <a:noFill/>
        </p:spPr>
        <p:txBody>
          <a:bodyPr wrap="square" rtlCol="0">
            <a:spAutoFit/>
          </a:bodyPr>
          <a:lstStyle/>
          <a:p>
            <a:pPr marL="342900" indent="-342900" algn="just">
              <a:buFont typeface="Arial" panose="020B0604020202020204" pitchFamily="34" charset="0"/>
              <a:buChar char="•"/>
            </a:pPr>
            <a:r>
              <a:rPr lang="en-US" b="1" dirty="0" smtClean="0">
                <a:solidFill>
                  <a:schemeClr val="accent6">
                    <a:lumMod val="75000"/>
                  </a:schemeClr>
                </a:solidFill>
              </a:rPr>
              <a:t>Power Ratings</a:t>
            </a:r>
            <a:r>
              <a:rPr lang="en-US" dirty="0" smtClean="0">
                <a:solidFill>
                  <a:schemeClr val="accent3">
                    <a:lumMod val="90000"/>
                    <a:lumOff val="10000"/>
                  </a:schemeClr>
                </a:solidFill>
              </a:rPr>
              <a:t>: </a:t>
            </a:r>
            <a:r>
              <a:rPr lang="en-US" dirty="0" smtClean="0"/>
              <a:t>Electric </a:t>
            </a:r>
            <a:r>
              <a:rPr lang="en-US" dirty="0"/>
              <a:t>trucks require high power </a:t>
            </a:r>
            <a:r>
              <a:rPr lang="en-US" dirty="0" smtClean="0"/>
              <a:t>ratings.</a:t>
            </a:r>
            <a:endParaRPr lang="en-US" dirty="0"/>
          </a:p>
          <a:p>
            <a:pPr marL="342900" indent="-342900" algn="just">
              <a:buFont typeface="Arial" panose="020B0604020202020204" pitchFamily="34" charset="0"/>
              <a:buChar char="•"/>
            </a:pPr>
            <a:r>
              <a:rPr lang="en-US" dirty="0" smtClean="0"/>
              <a:t> </a:t>
            </a:r>
            <a:r>
              <a:rPr lang="en-US" b="1" dirty="0" smtClean="0">
                <a:solidFill>
                  <a:schemeClr val="accent6">
                    <a:lumMod val="75000"/>
                  </a:schemeClr>
                </a:solidFill>
              </a:rPr>
              <a:t>Megawatt </a:t>
            </a:r>
            <a:r>
              <a:rPr lang="en-US" b="1" dirty="0">
                <a:solidFill>
                  <a:schemeClr val="accent6">
                    <a:lumMod val="75000"/>
                  </a:schemeClr>
                </a:solidFill>
              </a:rPr>
              <a:t>charging systems (MCS)</a:t>
            </a:r>
            <a:r>
              <a:rPr lang="en-US" dirty="0">
                <a:solidFill>
                  <a:schemeClr val="accent6">
                    <a:lumMod val="75000"/>
                  </a:schemeClr>
                </a:solidFill>
              </a:rPr>
              <a:t> </a:t>
            </a:r>
            <a:r>
              <a:rPr lang="en-US" dirty="0"/>
              <a:t>are essential to support rapid charging, aligning with the operational demands of electric trucks</a:t>
            </a:r>
            <a:r>
              <a:rPr lang="en-US" dirty="0" smtClean="0"/>
              <a:t>.</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13" name="Rectangle 2"/>
          <p:cNvSpPr>
            <a:spLocks noChangeArrowheads="1"/>
          </p:cNvSpPr>
          <p:nvPr/>
        </p:nvSpPr>
        <p:spPr bwMode="auto">
          <a:xfrm>
            <a:off x="254065" y="5091862"/>
            <a:ext cx="608991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b="1" dirty="0">
                <a:solidFill>
                  <a:schemeClr val="accent6">
                    <a:lumMod val="75000"/>
                  </a:schemeClr>
                </a:solidFill>
              </a:rPr>
              <a:t>European Union's regulation on driving times</a:t>
            </a:r>
            <a:endParaRPr kumimoji="0" lang="sv-SE" altLang="sv-SE" sz="1800" b="1" i="0" u="none" strike="noStrike" cap="none" normalizeH="0" baseline="0" dirty="0" smtClean="0">
              <a:ln>
                <a:noFill/>
              </a:ln>
              <a:solidFill>
                <a:schemeClr val="accent6">
                  <a:lumMod val="75000"/>
                </a:schemeClr>
              </a:solidFill>
              <a:effectLst/>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sv-SE" altLang="sv-SE" b="0" i="0" u="none" strike="noStrike" cap="none" normalizeH="0" baseline="0" dirty="0" smtClean="0">
                <a:ln>
                  <a:noFill/>
                </a:ln>
                <a:solidFill>
                  <a:schemeClr val="tx1"/>
                </a:solidFill>
                <a:effectLst/>
                <a:latin typeface="Arial" panose="020B0604020202020204" pitchFamily="34" charset="0"/>
              </a:rPr>
              <a:t>Drivers </a:t>
            </a:r>
            <a:r>
              <a:rPr kumimoji="0" lang="sv-SE" altLang="sv-SE" b="0" i="0" u="none" strike="noStrike" cap="none" normalizeH="0" baseline="0" dirty="0" err="1" smtClean="0">
                <a:ln>
                  <a:noFill/>
                </a:ln>
                <a:solidFill>
                  <a:schemeClr val="tx1"/>
                </a:solidFill>
                <a:effectLst/>
                <a:latin typeface="Arial" panose="020B0604020202020204" pitchFamily="34" charset="0"/>
              </a:rPr>
              <a:t>may</a:t>
            </a:r>
            <a:r>
              <a:rPr kumimoji="0" lang="sv-SE" altLang="sv-SE" b="0" i="0" u="none" strike="noStrike" cap="none" normalizeH="0" baseline="0" dirty="0" smtClean="0">
                <a:ln>
                  <a:noFill/>
                </a:ln>
                <a:solidFill>
                  <a:schemeClr val="tx1"/>
                </a:solidFill>
                <a:effectLst/>
                <a:latin typeface="Arial" panose="020B0604020202020204" pitchFamily="34" charset="0"/>
              </a:rPr>
              <a:t> drive for a maximum </a:t>
            </a:r>
            <a:r>
              <a:rPr kumimoji="0" lang="sv-SE" altLang="sv-SE" b="0" i="0" u="none" strike="noStrike" cap="none" normalizeH="0" baseline="0" dirty="0" err="1" smtClean="0">
                <a:ln>
                  <a:noFill/>
                </a:ln>
                <a:solidFill>
                  <a:schemeClr val="tx1"/>
                </a:solidFill>
                <a:effectLst/>
                <a:latin typeface="Arial" panose="020B0604020202020204" pitchFamily="34" charset="0"/>
              </a:rPr>
              <a:t>of</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4.5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hours</a:t>
            </a:r>
            <a:r>
              <a:rPr kumimoji="0" lang="sv-SE" altLang="sv-SE"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continuously</a:t>
            </a:r>
            <a:r>
              <a:rPr kumimoji="0" lang="sv-SE" altLang="sv-SE" b="0" i="0" u="none" strike="noStrike" cap="none" normalizeH="0" baseline="0" dirty="0" smtClean="0">
                <a:ln>
                  <a:noFill/>
                </a:ln>
                <a:solidFill>
                  <a:schemeClr val="tx1"/>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lang="en-US" dirty="0"/>
              <a:t>After 4.5 hours, a driver must take a </a:t>
            </a:r>
            <a:r>
              <a:rPr lang="en-US" b="1" dirty="0">
                <a:solidFill>
                  <a:schemeClr val="accent6">
                    <a:lumMod val="75000"/>
                  </a:schemeClr>
                </a:solidFill>
              </a:rPr>
              <a:t>minimum</a:t>
            </a:r>
            <a:r>
              <a:rPr lang="en-US" b="1" dirty="0"/>
              <a:t> </a:t>
            </a:r>
            <a:r>
              <a:rPr lang="en-US" b="1" dirty="0">
                <a:solidFill>
                  <a:schemeClr val="accent6">
                    <a:lumMod val="75000"/>
                  </a:schemeClr>
                </a:solidFill>
              </a:rPr>
              <a:t>45-minute </a:t>
            </a:r>
            <a:r>
              <a:rPr lang="en-US" b="1" dirty="0" smtClean="0">
                <a:solidFill>
                  <a:schemeClr val="accent6">
                    <a:lumMod val="75000"/>
                  </a:schemeClr>
                </a:solidFill>
              </a:rPr>
              <a:t>rest</a:t>
            </a:r>
            <a:r>
              <a:rPr lang="en-US" b="1" dirty="0" smtClean="0"/>
              <a:t>.</a:t>
            </a: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4" name="Slide Number Placeholder 3"/>
          <p:cNvSpPr>
            <a:spLocks noGrp="1"/>
          </p:cNvSpPr>
          <p:nvPr>
            <p:ph type="sldNum" sz="quarter" idx="12"/>
          </p:nvPr>
        </p:nvSpPr>
        <p:spPr/>
        <p:txBody>
          <a:bodyPr/>
          <a:lstStyle/>
          <a:p>
            <a:fld id="{B716C8F4-20CD-364A-8A8E-DE130115B178}" type="slidenum">
              <a:rPr lang="sv-SE" smtClean="0"/>
              <a:t>2</a:t>
            </a:fld>
            <a:endParaRPr lang="sv-SE"/>
          </a:p>
        </p:txBody>
      </p:sp>
      <p:sp>
        <p:nvSpPr>
          <p:cNvPr id="7" name="Rectangle 6"/>
          <p:cNvSpPr/>
          <p:nvPr/>
        </p:nvSpPr>
        <p:spPr>
          <a:xfrm>
            <a:off x="7128693" y="2898563"/>
            <a:ext cx="4498347" cy="646331"/>
          </a:xfrm>
          <a:prstGeom prst="rect">
            <a:avLst/>
          </a:prstGeom>
        </p:spPr>
        <p:txBody>
          <a:bodyPr wrap="none">
            <a:spAutoFit/>
          </a:bodyPr>
          <a:lstStyle/>
          <a:p>
            <a:r>
              <a:rPr lang="en-US" b="1" dirty="0">
                <a:solidFill>
                  <a:schemeClr val="accent6">
                    <a:lumMod val="75000"/>
                  </a:schemeClr>
                </a:solidFill>
              </a:rPr>
              <a:t>Limitations of 400–800 V architectures</a:t>
            </a:r>
            <a:r>
              <a:rPr lang="en-US" b="1" dirty="0" smtClean="0">
                <a:solidFill>
                  <a:schemeClr val="accent6">
                    <a:lumMod val="75000"/>
                  </a:schemeClr>
                </a:solidFill>
              </a:rPr>
              <a:t>:</a:t>
            </a:r>
          </a:p>
          <a:p>
            <a:endParaRPr lang="sv-SE" dirty="0"/>
          </a:p>
        </p:txBody>
      </p:sp>
      <p:pic>
        <p:nvPicPr>
          <p:cNvPr id="14" name="Picture 13"/>
          <p:cNvPicPr>
            <a:picLocks noChangeAspect="1"/>
          </p:cNvPicPr>
          <p:nvPr/>
        </p:nvPicPr>
        <p:blipFill>
          <a:blip r:embed="rId3"/>
          <a:stretch>
            <a:fillRect/>
          </a:stretch>
        </p:blipFill>
        <p:spPr>
          <a:xfrm>
            <a:off x="7769532" y="3438932"/>
            <a:ext cx="3523861" cy="2749456"/>
          </a:xfrm>
          <a:prstGeom prst="rect">
            <a:avLst/>
          </a:prstGeom>
        </p:spPr>
      </p:pic>
    </p:spTree>
    <p:extLst>
      <p:ext uri="{BB962C8B-B14F-4D97-AF65-F5344CB8AC3E}">
        <p14:creationId xmlns:p14="http://schemas.microsoft.com/office/powerpoint/2010/main" val="38104549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Research Motivation &amp; Problem Statement</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3</a:t>
            </a:fld>
            <a:endParaRPr lang="sv-SE"/>
          </a:p>
        </p:txBody>
      </p:sp>
      <p:sp>
        <p:nvSpPr>
          <p:cNvPr id="12" name="Rectangle 11"/>
          <p:cNvSpPr/>
          <p:nvPr/>
        </p:nvSpPr>
        <p:spPr>
          <a:xfrm>
            <a:off x="563706" y="1110645"/>
            <a:ext cx="10713894" cy="5078313"/>
          </a:xfrm>
          <a:prstGeom prst="rect">
            <a:avLst/>
          </a:prstGeom>
        </p:spPr>
        <p:txBody>
          <a:bodyPr wrap="square">
            <a:spAutoFit/>
          </a:bodyPr>
          <a:lstStyle/>
          <a:p>
            <a:r>
              <a:rPr lang="en-US" b="1" dirty="0">
                <a:solidFill>
                  <a:schemeClr val="accent6">
                    <a:lumMod val="75000"/>
                  </a:schemeClr>
                </a:solidFill>
              </a:rPr>
              <a:t>Research </a:t>
            </a:r>
            <a:r>
              <a:rPr lang="en-US" b="1" dirty="0" smtClean="0">
                <a:solidFill>
                  <a:schemeClr val="accent6">
                    <a:lumMod val="75000"/>
                  </a:schemeClr>
                </a:solidFill>
              </a:rPr>
              <a:t>gap</a:t>
            </a:r>
            <a:endParaRPr lang="en-US" dirty="0">
              <a:solidFill>
                <a:schemeClr val="accent6">
                  <a:lumMod val="75000"/>
                </a:schemeClr>
              </a:solidFill>
            </a:endParaRPr>
          </a:p>
          <a:p>
            <a:r>
              <a:rPr lang="en-US" dirty="0"/>
              <a:t>Literature mostly:</a:t>
            </a:r>
          </a:p>
          <a:p>
            <a:pPr marL="742950" lvl="1" indent="-285750">
              <a:buFont typeface="Arial" panose="020B0604020202020204" pitchFamily="34" charset="0"/>
              <a:buChar char="•"/>
            </a:pPr>
            <a:r>
              <a:rPr lang="en-US" dirty="0"/>
              <a:t>Subsystem-level</a:t>
            </a:r>
          </a:p>
          <a:p>
            <a:pPr marL="742950" lvl="1" indent="-285750">
              <a:buFont typeface="Arial" panose="020B0604020202020204" pitchFamily="34" charset="0"/>
              <a:buChar char="•"/>
            </a:pPr>
            <a:r>
              <a:rPr lang="en-US" dirty="0"/>
              <a:t>Focused on passenger EVs (≤ 800 V)</a:t>
            </a:r>
          </a:p>
          <a:p>
            <a:r>
              <a:rPr lang="en-US" dirty="0"/>
              <a:t>Lack of:</a:t>
            </a:r>
          </a:p>
          <a:p>
            <a:pPr marL="742950" lvl="1" indent="-285750">
              <a:buFont typeface="Arial" panose="020B0604020202020204" pitchFamily="34" charset="0"/>
              <a:buChar char="•"/>
            </a:pPr>
            <a:r>
              <a:rPr lang="en-US" dirty="0"/>
              <a:t>Unified HDV-scale analysis (&gt; 1 kV</a:t>
            </a:r>
            <a:r>
              <a:rPr lang="en-US" dirty="0" smtClean="0"/>
              <a:t>)</a:t>
            </a:r>
          </a:p>
          <a:p>
            <a:pPr marL="742950" lvl="1" indent="-285750">
              <a:buFont typeface="Arial" panose="020B0604020202020204" pitchFamily="34" charset="0"/>
              <a:buChar char="•"/>
            </a:pPr>
            <a:endParaRPr lang="en-US" b="1" dirty="0" smtClean="0"/>
          </a:p>
          <a:p>
            <a:r>
              <a:rPr lang="en-US" b="1" dirty="0" smtClean="0">
                <a:solidFill>
                  <a:schemeClr val="accent6">
                    <a:lumMod val="75000"/>
                  </a:schemeClr>
                </a:solidFill>
              </a:rPr>
              <a:t>The </a:t>
            </a:r>
            <a:r>
              <a:rPr lang="en-US" b="1" dirty="0">
                <a:solidFill>
                  <a:schemeClr val="accent6">
                    <a:lumMod val="75000"/>
                  </a:schemeClr>
                </a:solidFill>
              </a:rPr>
              <a:t>research </a:t>
            </a:r>
            <a:r>
              <a:rPr lang="en-US" b="1" dirty="0" smtClean="0">
                <a:solidFill>
                  <a:schemeClr val="accent6">
                    <a:lumMod val="75000"/>
                  </a:schemeClr>
                </a:solidFill>
              </a:rPr>
              <a:t>objective</a:t>
            </a:r>
            <a:endParaRPr lang="en-US" dirty="0">
              <a:solidFill>
                <a:schemeClr val="accent6">
                  <a:lumMod val="75000"/>
                </a:schemeClr>
              </a:solidFill>
            </a:endParaRPr>
          </a:p>
          <a:p>
            <a:pPr marL="285750" indent="-285750">
              <a:buFont typeface="Arial" panose="020B0604020202020204" pitchFamily="34" charset="0"/>
              <a:buChar char="•"/>
            </a:pPr>
            <a:r>
              <a:rPr lang="en-US" dirty="0"/>
              <a:t>Quantify </a:t>
            </a:r>
            <a:r>
              <a:rPr lang="en-US" dirty="0" smtClean="0"/>
              <a:t>the </a:t>
            </a:r>
            <a:r>
              <a:rPr lang="en-US" b="1" dirty="0">
                <a:solidFill>
                  <a:schemeClr val="accent6">
                    <a:lumMod val="75000"/>
                  </a:schemeClr>
                </a:solidFill>
              </a:rPr>
              <a:t>system-level impact</a:t>
            </a:r>
            <a:r>
              <a:rPr lang="en-US" dirty="0">
                <a:solidFill>
                  <a:schemeClr val="accent6">
                    <a:lumMod val="75000"/>
                  </a:schemeClr>
                </a:solidFill>
              </a:rPr>
              <a:t> </a:t>
            </a:r>
            <a:r>
              <a:rPr lang="en-US" dirty="0"/>
              <a:t>of increasing DC-link voltage from </a:t>
            </a:r>
            <a:r>
              <a:rPr lang="en-US" b="1" dirty="0">
                <a:solidFill>
                  <a:schemeClr val="accent6">
                    <a:lumMod val="75000"/>
                  </a:schemeClr>
                </a:solidFill>
              </a:rPr>
              <a:t>800 V to 1200 V</a:t>
            </a:r>
            <a:r>
              <a:rPr lang="en-US" dirty="0">
                <a:solidFill>
                  <a:schemeClr val="accent6">
                    <a:lumMod val="75000"/>
                  </a:schemeClr>
                </a:solidFill>
              </a:rPr>
              <a:t> </a:t>
            </a:r>
            <a:r>
              <a:rPr lang="en-US" dirty="0"/>
              <a:t>in </a:t>
            </a:r>
            <a:r>
              <a:rPr lang="en-US" dirty="0" smtClean="0"/>
              <a:t>heavy-duty electric vehicles.</a:t>
            </a:r>
          </a:p>
          <a:p>
            <a:pPr>
              <a:buFont typeface="Arial" panose="020B0604020202020204" pitchFamily="34" charset="0"/>
              <a:buChar char="•"/>
            </a:pPr>
            <a:endParaRPr lang="en-US" dirty="0"/>
          </a:p>
          <a:p>
            <a:r>
              <a:rPr lang="en-US" b="1" dirty="0">
                <a:solidFill>
                  <a:schemeClr val="accent6">
                    <a:lumMod val="75000"/>
                  </a:schemeClr>
                </a:solidFill>
              </a:rPr>
              <a:t>Key </a:t>
            </a:r>
            <a:r>
              <a:rPr lang="en-US" b="1" dirty="0" smtClean="0">
                <a:solidFill>
                  <a:schemeClr val="accent6">
                    <a:lumMod val="75000"/>
                  </a:schemeClr>
                </a:solidFill>
              </a:rPr>
              <a:t>questions</a:t>
            </a:r>
            <a:endParaRPr lang="en-US" dirty="0">
              <a:solidFill>
                <a:schemeClr val="accent6">
                  <a:lumMod val="75000"/>
                </a:schemeClr>
              </a:solidFill>
            </a:endParaRPr>
          </a:p>
          <a:p>
            <a:pPr marL="285750" indent="-285750">
              <a:buFont typeface="Arial" panose="020B0604020202020204" pitchFamily="34" charset="0"/>
              <a:buChar char="•"/>
            </a:pPr>
            <a:r>
              <a:rPr lang="en-US" dirty="0"/>
              <a:t>What </a:t>
            </a:r>
            <a:r>
              <a:rPr lang="en-US" b="1" dirty="0"/>
              <a:t>a</a:t>
            </a:r>
            <a:r>
              <a:rPr lang="en-US" b="1" dirty="0" smtClean="0"/>
              <a:t>re performance improvements</a:t>
            </a:r>
            <a:r>
              <a:rPr lang="en-US" dirty="0" smtClean="0"/>
              <a:t> </a:t>
            </a:r>
            <a:r>
              <a:rPr lang="en-US" dirty="0"/>
              <a:t>enabled by increasing the DC-link voltage from 800 V to 1200 V at the system level</a:t>
            </a:r>
            <a:r>
              <a:rPr lang="en-US" dirty="0" smtClean="0"/>
              <a:t>?</a:t>
            </a:r>
          </a:p>
          <a:p>
            <a:pPr marL="285750" indent="-285750">
              <a:buFont typeface="Arial" panose="020B0604020202020204" pitchFamily="34" charset="0"/>
              <a:buChar char="•"/>
            </a:pPr>
            <a:r>
              <a:rPr lang="en-US" dirty="0" smtClean="0"/>
              <a:t>What </a:t>
            </a:r>
            <a:r>
              <a:rPr lang="en-US" b="1" dirty="0" smtClean="0"/>
              <a:t>new penalties and constraints</a:t>
            </a:r>
            <a:r>
              <a:rPr lang="en-US" dirty="0" smtClean="0"/>
              <a:t> (losses, stresses, sizing) are introduced by high-voltage operation?</a:t>
            </a:r>
          </a:p>
          <a:p>
            <a:pPr marL="285750" indent="-285750">
              <a:buFont typeface="Arial" panose="020B0604020202020204" pitchFamily="34" charset="0"/>
              <a:buChar char="•"/>
            </a:pPr>
            <a:r>
              <a:rPr lang="en-US" dirty="0"/>
              <a:t>Under which </a:t>
            </a:r>
            <a:r>
              <a:rPr lang="en-US" b="1" dirty="0"/>
              <a:t>design conditions</a:t>
            </a:r>
            <a:r>
              <a:rPr lang="en-US" dirty="0"/>
              <a:t> does a 1200 V architecture become preferable to an 800 V system?</a:t>
            </a:r>
            <a:endParaRPr lang="en-US" dirty="0" smtClean="0"/>
          </a:p>
        </p:txBody>
      </p:sp>
    </p:spTree>
    <p:extLst>
      <p:ext uri="{BB962C8B-B14F-4D97-AF65-F5344CB8AC3E}">
        <p14:creationId xmlns:p14="http://schemas.microsoft.com/office/powerpoint/2010/main" val="40922808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System Overview &amp; </a:t>
            </a:r>
            <a:r>
              <a:rPr lang="en-US" dirty="0" smtClean="0"/>
              <a:t>Methodology</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4</a:t>
            </a:fld>
            <a:endParaRPr lang="sv-SE"/>
          </a:p>
        </p:txBody>
      </p:sp>
      <p:sp>
        <p:nvSpPr>
          <p:cNvPr id="12" name="Rectangle 11"/>
          <p:cNvSpPr/>
          <p:nvPr/>
        </p:nvSpPr>
        <p:spPr>
          <a:xfrm>
            <a:off x="1438646" y="4580851"/>
            <a:ext cx="4126481" cy="1200329"/>
          </a:xfrm>
          <a:prstGeom prst="rect">
            <a:avLst/>
          </a:prstGeom>
        </p:spPr>
        <p:txBody>
          <a:bodyPr wrap="square">
            <a:spAutoFit/>
          </a:bodyPr>
          <a:lstStyle/>
          <a:p>
            <a:r>
              <a:rPr lang="en-US" b="1" dirty="0"/>
              <a:t>Studied system</a:t>
            </a:r>
            <a:endParaRPr lang="en-US" dirty="0"/>
          </a:p>
          <a:p>
            <a:pPr marL="742950" lvl="1" indent="-285750">
              <a:buFont typeface="Arial" panose="020B0604020202020204" pitchFamily="34" charset="0"/>
              <a:buChar char="•"/>
            </a:pPr>
            <a:r>
              <a:rPr lang="en-US" dirty="0" smtClean="0"/>
              <a:t>Battery </a:t>
            </a:r>
            <a:r>
              <a:rPr lang="en-US" dirty="0"/>
              <a:t>+ charging</a:t>
            </a:r>
          </a:p>
          <a:p>
            <a:pPr marL="742950" lvl="1" indent="-285750">
              <a:buFont typeface="Arial" panose="020B0604020202020204" pitchFamily="34" charset="0"/>
              <a:buChar char="•"/>
            </a:pPr>
            <a:r>
              <a:rPr lang="en-US" dirty="0"/>
              <a:t>T</a:t>
            </a:r>
            <a:r>
              <a:rPr lang="en-US" dirty="0" smtClean="0"/>
              <a:t>raction inverter</a:t>
            </a:r>
            <a:endParaRPr lang="en-US" dirty="0"/>
          </a:p>
          <a:p>
            <a:pPr marL="742950" lvl="1" indent="-285750">
              <a:buFont typeface="Arial" panose="020B0604020202020204" pitchFamily="34" charset="0"/>
              <a:buChar char="•"/>
            </a:pPr>
            <a:r>
              <a:rPr lang="en-US" dirty="0"/>
              <a:t>Traction </a:t>
            </a:r>
            <a:r>
              <a:rPr lang="en-US" dirty="0" smtClean="0"/>
              <a:t>motor</a:t>
            </a:r>
            <a:endParaRPr lang="en-US" dirty="0"/>
          </a:p>
        </p:txBody>
      </p:sp>
      <p:sp>
        <p:nvSpPr>
          <p:cNvPr id="3" name="Rectangle 2"/>
          <p:cNvSpPr/>
          <p:nvPr/>
        </p:nvSpPr>
        <p:spPr>
          <a:xfrm>
            <a:off x="6391276" y="4580851"/>
            <a:ext cx="5286568" cy="1200329"/>
          </a:xfrm>
          <a:prstGeom prst="rect">
            <a:avLst/>
          </a:prstGeom>
        </p:spPr>
        <p:txBody>
          <a:bodyPr wrap="square">
            <a:spAutoFit/>
          </a:bodyPr>
          <a:lstStyle/>
          <a:p>
            <a:r>
              <a:rPr lang="en-US" b="1" dirty="0"/>
              <a:t>Methodology</a:t>
            </a:r>
            <a:endParaRPr lang="en-US" dirty="0"/>
          </a:p>
          <a:p>
            <a:pPr marL="742950" lvl="1" indent="-285750">
              <a:buFont typeface="Arial" panose="020B0604020202020204" pitchFamily="34" charset="0"/>
              <a:buChar char="•"/>
            </a:pPr>
            <a:r>
              <a:rPr lang="en-US" dirty="0"/>
              <a:t>Unified virtual-prototyping framework</a:t>
            </a:r>
          </a:p>
          <a:p>
            <a:pPr marL="742950" lvl="1" indent="-285750">
              <a:buFont typeface="Arial" panose="020B0604020202020204" pitchFamily="34" charset="0"/>
              <a:buChar char="•"/>
            </a:pPr>
            <a:r>
              <a:rPr lang="en-US" dirty="0"/>
              <a:t>Equal-power &amp; equal-loss benchmarking</a:t>
            </a:r>
          </a:p>
          <a:p>
            <a:pPr marL="742950" lvl="1" indent="-285750">
              <a:buFont typeface="Arial" panose="020B0604020202020204" pitchFamily="34" charset="0"/>
              <a:buChar char="•"/>
            </a:pPr>
            <a:r>
              <a:rPr lang="en-US" dirty="0"/>
              <a:t>Analytical </a:t>
            </a:r>
            <a:r>
              <a:rPr lang="en-US" dirty="0" smtClean="0"/>
              <a:t>&amp; experimental approach</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646" y="1232578"/>
            <a:ext cx="6514729" cy="2747239"/>
          </a:xfrm>
          <a:prstGeom prst="rect">
            <a:avLst/>
          </a:prstGeom>
        </p:spPr>
      </p:pic>
      <p:pic>
        <p:nvPicPr>
          <p:cNvPr id="8" name="Picture 7"/>
          <p:cNvPicPr>
            <a:picLocks noChangeAspect="1"/>
          </p:cNvPicPr>
          <p:nvPr/>
        </p:nvPicPr>
        <p:blipFill>
          <a:blip r:embed="rId3"/>
          <a:stretch>
            <a:fillRect/>
          </a:stretch>
        </p:blipFill>
        <p:spPr>
          <a:xfrm>
            <a:off x="738187" y="3950584"/>
            <a:ext cx="6453188" cy="329749"/>
          </a:xfrm>
          <a:prstGeom prst="rect">
            <a:avLst/>
          </a:prstGeom>
        </p:spPr>
      </p:pic>
      <p:pic>
        <p:nvPicPr>
          <p:cNvPr id="10" name="Picture 9"/>
          <p:cNvPicPr>
            <a:picLocks noChangeAspect="1"/>
          </p:cNvPicPr>
          <p:nvPr/>
        </p:nvPicPr>
        <p:blipFill>
          <a:blip r:embed="rId4"/>
          <a:stretch>
            <a:fillRect/>
          </a:stretch>
        </p:blipFill>
        <p:spPr>
          <a:xfrm>
            <a:off x="7404689" y="1505953"/>
            <a:ext cx="4625596" cy="2382750"/>
          </a:xfrm>
          <a:prstGeom prst="rect">
            <a:avLst/>
          </a:prstGeom>
        </p:spPr>
      </p:pic>
    </p:spTree>
    <p:extLst>
      <p:ext uri="{BB962C8B-B14F-4D97-AF65-F5344CB8AC3E}">
        <p14:creationId xmlns:p14="http://schemas.microsoft.com/office/powerpoint/2010/main" val="8787344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2"/>
          <a:stretch>
            <a:fillRect/>
          </a:stretch>
        </p:blipFill>
        <p:spPr>
          <a:xfrm>
            <a:off x="4271648" y="4984715"/>
            <a:ext cx="1302284" cy="702212"/>
          </a:xfrm>
          <a:prstGeom prst="rect">
            <a:avLst/>
          </a:prstGeom>
        </p:spPr>
      </p:pic>
      <p:sp>
        <p:nvSpPr>
          <p:cNvPr id="2" name="Title 1"/>
          <p:cNvSpPr>
            <a:spLocks noGrp="1"/>
          </p:cNvSpPr>
          <p:nvPr>
            <p:ph type="title"/>
          </p:nvPr>
        </p:nvSpPr>
        <p:spPr>
          <a:xfrm>
            <a:off x="1040022" y="336507"/>
            <a:ext cx="10990263" cy="568412"/>
          </a:xfrm>
        </p:spPr>
        <p:txBody>
          <a:bodyPr/>
          <a:lstStyle/>
          <a:p>
            <a:r>
              <a:rPr lang="sv-SE" dirty="0" err="1"/>
              <a:t>Battery</a:t>
            </a:r>
            <a:r>
              <a:rPr lang="sv-SE" dirty="0"/>
              <a:t> &amp; Fast-</a:t>
            </a:r>
            <a:r>
              <a:rPr lang="sv-SE" dirty="0" err="1"/>
              <a:t>Charging</a:t>
            </a:r>
            <a:r>
              <a:rPr lang="sv-SE" dirty="0"/>
              <a:t> </a:t>
            </a:r>
            <a:r>
              <a:rPr lang="sv-SE" dirty="0" err="1"/>
              <a:t>Analysis</a:t>
            </a:r>
            <a:endParaRPr lang="en-US" dirty="0"/>
          </a:p>
        </p:txBody>
      </p:sp>
      <p:sp>
        <p:nvSpPr>
          <p:cNvPr id="4" name="Slide Number Placeholder 3"/>
          <p:cNvSpPr>
            <a:spLocks noGrp="1"/>
          </p:cNvSpPr>
          <p:nvPr>
            <p:ph type="sldNum" sz="quarter" idx="12"/>
          </p:nvPr>
        </p:nvSpPr>
        <p:spPr>
          <a:xfrm>
            <a:off x="8772736" y="6244728"/>
            <a:ext cx="2743200" cy="94775"/>
          </a:xfrm>
        </p:spPr>
        <p:txBody>
          <a:bodyPr/>
          <a:lstStyle/>
          <a:p>
            <a:fld id="{B716C8F4-20CD-364A-8A8E-DE130115B178}" type="slidenum">
              <a:rPr lang="sv-SE" smtClean="0"/>
              <a:t>5</a:t>
            </a:fld>
            <a:endParaRPr lang="sv-SE"/>
          </a:p>
        </p:txBody>
      </p:sp>
      <p:pic>
        <p:nvPicPr>
          <p:cNvPr id="3" name="Picture 2"/>
          <p:cNvPicPr>
            <a:picLocks noChangeAspect="1"/>
          </p:cNvPicPr>
          <p:nvPr/>
        </p:nvPicPr>
        <p:blipFill rotWithShape="1">
          <a:blip r:embed="rId3"/>
          <a:srcRect l="12534"/>
          <a:stretch/>
        </p:blipFill>
        <p:spPr>
          <a:xfrm>
            <a:off x="2969365" y="1101669"/>
            <a:ext cx="2604567" cy="600430"/>
          </a:xfrm>
          <a:prstGeom prst="rect">
            <a:avLst/>
          </a:prstGeom>
        </p:spPr>
      </p:pic>
      <p:pic>
        <p:nvPicPr>
          <p:cNvPr id="5" name="Picture 4"/>
          <p:cNvPicPr>
            <a:picLocks noChangeAspect="1"/>
          </p:cNvPicPr>
          <p:nvPr/>
        </p:nvPicPr>
        <p:blipFill>
          <a:blip r:embed="rId4"/>
          <a:stretch>
            <a:fillRect/>
          </a:stretch>
        </p:blipFill>
        <p:spPr>
          <a:xfrm>
            <a:off x="3990610" y="1802228"/>
            <a:ext cx="2662515" cy="592624"/>
          </a:xfrm>
          <a:prstGeom prst="rect">
            <a:avLst/>
          </a:prstGeom>
        </p:spPr>
      </p:pic>
      <p:sp>
        <p:nvSpPr>
          <p:cNvPr id="7" name="Rectangle 6"/>
          <p:cNvSpPr/>
          <p:nvPr/>
        </p:nvSpPr>
        <p:spPr>
          <a:xfrm>
            <a:off x="485255" y="1234525"/>
            <a:ext cx="2702984" cy="369332"/>
          </a:xfrm>
          <a:prstGeom prst="rect">
            <a:avLst/>
          </a:prstGeom>
        </p:spPr>
        <p:txBody>
          <a:bodyPr wrap="none">
            <a:spAutoFit/>
          </a:bodyPr>
          <a:lstStyle/>
          <a:p>
            <a:r>
              <a:rPr lang="sv-SE" b="1" dirty="0" smtClean="0">
                <a:solidFill>
                  <a:schemeClr val="accent6">
                    <a:lumMod val="75000"/>
                  </a:schemeClr>
                </a:solidFill>
              </a:rPr>
              <a:t>Total </a:t>
            </a:r>
            <a:r>
              <a:rPr lang="sv-SE" b="1" dirty="0" err="1" smtClean="0">
                <a:solidFill>
                  <a:schemeClr val="accent6">
                    <a:lumMod val="75000"/>
                  </a:schemeClr>
                </a:solidFill>
              </a:rPr>
              <a:t>energy</a:t>
            </a:r>
            <a:r>
              <a:rPr lang="sv-SE" b="1" dirty="0" smtClean="0">
                <a:solidFill>
                  <a:schemeClr val="accent6">
                    <a:lumMod val="75000"/>
                  </a:schemeClr>
                </a:solidFill>
              </a:rPr>
              <a:t> </a:t>
            </a:r>
            <a:r>
              <a:rPr lang="sv-SE" b="1" dirty="0" err="1" smtClean="0">
                <a:solidFill>
                  <a:schemeClr val="accent6">
                    <a:lumMod val="75000"/>
                  </a:schemeClr>
                </a:solidFill>
              </a:rPr>
              <a:t>storaged</a:t>
            </a:r>
            <a:r>
              <a:rPr lang="sv-SE" b="1" dirty="0">
                <a:solidFill>
                  <a:schemeClr val="accent6">
                    <a:lumMod val="75000"/>
                  </a:schemeClr>
                </a:solidFill>
              </a:rPr>
              <a:t>:</a:t>
            </a:r>
            <a:endParaRPr lang="sv-SE" dirty="0"/>
          </a:p>
        </p:txBody>
      </p:sp>
      <p:pic>
        <p:nvPicPr>
          <p:cNvPr id="8" name="Picture 7"/>
          <p:cNvPicPr>
            <a:picLocks noChangeAspect="1"/>
          </p:cNvPicPr>
          <p:nvPr/>
        </p:nvPicPr>
        <p:blipFill>
          <a:blip r:embed="rId5"/>
          <a:stretch>
            <a:fillRect/>
          </a:stretch>
        </p:blipFill>
        <p:spPr>
          <a:xfrm>
            <a:off x="4271648" y="2485724"/>
            <a:ext cx="1402345" cy="647236"/>
          </a:xfrm>
          <a:prstGeom prst="rect">
            <a:avLst/>
          </a:prstGeom>
        </p:spPr>
      </p:pic>
      <p:pic>
        <p:nvPicPr>
          <p:cNvPr id="10" name="Picture 9"/>
          <p:cNvPicPr>
            <a:picLocks noChangeAspect="1"/>
          </p:cNvPicPr>
          <p:nvPr/>
        </p:nvPicPr>
        <p:blipFill>
          <a:blip r:embed="rId6"/>
          <a:stretch>
            <a:fillRect/>
          </a:stretch>
        </p:blipFill>
        <p:spPr>
          <a:xfrm>
            <a:off x="4972820" y="3424735"/>
            <a:ext cx="1903786" cy="566416"/>
          </a:xfrm>
          <a:prstGeom prst="rect">
            <a:avLst/>
          </a:prstGeom>
        </p:spPr>
      </p:pic>
      <p:pic>
        <p:nvPicPr>
          <p:cNvPr id="12" name="Picture 11"/>
          <p:cNvPicPr>
            <a:picLocks noChangeAspect="1"/>
          </p:cNvPicPr>
          <p:nvPr/>
        </p:nvPicPr>
        <p:blipFill>
          <a:blip r:embed="rId7"/>
          <a:stretch>
            <a:fillRect/>
          </a:stretch>
        </p:blipFill>
        <p:spPr>
          <a:xfrm>
            <a:off x="3564942" y="4096607"/>
            <a:ext cx="2254833" cy="795824"/>
          </a:xfrm>
          <a:prstGeom prst="rect">
            <a:avLst/>
          </a:prstGeom>
        </p:spPr>
      </p:pic>
      <p:pic>
        <p:nvPicPr>
          <p:cNvPr id="13" name="Picture 12"/>
          <p:cNvPicPr>
            <a:picLocks noChangeAspect="1"/>
          </p:cNvPicPr>
          <p:nvPr/>
        </p:nvPicPr>
        <p:blipFill rotWithShape="1">
          <a:blip r:embed="rId8"/>
          <a:srcRect t="37677"/>
          <a:stretch/>
        </p:blipFill>
        <p:spPr>
          <a:xfrm>
            <a:off x="2461116" y="5903964"/>
            <a:ext cx="2422257" cy="381746"/>
          </a:xfrm>
          <a:prstGeom prst="rect">
            <a:avLst/>
          </a:prstGeom>
        </p:spPr>
      </p:pic>
      <p:sp>
        <p:nvSpPr>
          <p:cNvPr id="14" name="Rectangle 13"/>
          <p:cNvSpPr/>
          <p:nvPr/>
        </p:nvSpPr>
        <p:spPr>
          <a:xfrm>
            <a:off x="485255" y="1929407"/>
            <a:ext cx="3555782" cy="369332"/>
          </a:xfrm>
          <a:prstGeom prst="rect">
            <a:avLst/>
          </a:prstGeom>
        </p:spPr>
        <p:txBody>
          <a:bodyPr wrap="none">
            <a:spAutoFit/>
          </a:bodyPr>
          <a:lstStyle/>
          <a:p>
            <a:r>
              <a:rPr lang="sv-SE" b="1" dirty="0" err="1" smtClean="0">
                <a:solidFill>
                  <a:schemeClr val="accent6">
                    <a:lumMod val="75000"/>
                  </a:schemeClr>
                </a:solidFill>
              </a:rPr>
              <a:t>Higher</a:t>
            </a:r>
            <a:r>
              <a:rPr lang="sv-SE" b="1" dirty="0" smtClean="0">
                <a:solidFill>
                  <a:schemeClr val="accent6">
                    <a:lumMod val="75000"/>
                  </a:schemeClr>
                </a:solidFill>
              </a:rPr>
              <a:t> </a:t>
            </a:r>
            <a:r>
              <a:rPr lang="sv-SE" b="1" dirty="0" err="1">
                <a:solidFill>
                  <a:schemeClr val="accent6">
                    <a:lumMod val="75000"/>
                  </a:schemeClr>
                </a:solidFill>
              </a:rPr>
              <a:t>voltage</a:t>
            </a:r>
            <a:r>
              <a:rPr lang="sv-SE" b="1" dirty="0">
                <a:solidFill>
                  <a:schemeClr val="accent6">
                    <a:lumMod val="75000"/>
                  </a:schemeClr>
                </a:solidFill>
              </a:rPr>
              <a:t> → </a:t>
            </a:r>
            <a:r>
              <a:rPr lang="sv-SE" b="1" dirty="0" err="1">
                <a:solidFill>
                  <a:schemeClr val="accent6">
                    <a:lumMod val="75000"/>
                  </a:schemeClr>
                </a:solidFill>
              </a:rPr>
              <a:t>lower</a:t>
            </a:r>
            <a:r>
              <a:rPr lang="sv-SE" b="1" dirty="0">
                <a:solidFill>
                  <a:schemeClr val="accent6">
                    <a:lumMod val="75000"/>
                  </a:schemeClr>
                </a:solidFill>
              </a:rPr>
              <a:t> </a:t>
            </a:r>
            <a:r>
              <a:rPr lang="sv-SE" b="1" dirty="0" err="1" smtClean="0">
                <a:solidFill>
                  <a:schemeClr val="accent6">
                    <a:lumMod val="75000"/>
                  </a:schemeClr>
                </a:solidFill>
              </a:rPr>
              <a:t>current</a:t>
            </a:r>
            <a:r>
              <a:rPr lang="sv-SE" b="1" dirty="0" smtClean="0">
                <a:solidFill>
                  <a:schemeClr val="accent6">
                    <a:lumMod val="75000"/>
                  </a:schemeClr>
                </a:solidFill>
              </a:rPr>
              <a:t>:</a:t>
            </a:r>
            <a:endParaRPr lang="sv-SE" b="1" dirty="0">
              <a:solidFill>
                <a:schemeClr val="accent6">
                  <a:lumMod val="75000"/>
                </a:schemeClr>
              </a:solidFill>
            </a:endParaRPr>
          </a:p>
        </p:txBody>
      </p:sp>
      <p:sp>
        <p:nvSpPr>
          <p:cNvPr id="15" name="Rectangle 14"/>
          <p:cNvSpPr/>
          <p:nvPr/>
        </p:nvSpPr>
        <p:spPr>
          <a:xfrm>
            <a:off x="6653125" y="1885663"/>
            <a:ext cx="4596337" cy="369332"/>
          </a:xfrm>
          <a:prstGeom prst="rect">
            <a:avLst/>
          </a:prstGeom>
        </p:spPr>
        <p:txBody>
          <a:bodyPr wrap="square">
            <a:spAutoFit/>
          </a:bodyPr>
          <a:lstStyle/>
          <a:p>
            <a:r>
              <a:rPr lang="en-US" dirty="0" smtClean="0"/>
              <a:t>(Preserving the </a:t>
            </a:r>
            <a:r>
              <a:rPr lang="en-US" dirty="0"/>
              <a:t>same total </a:t>
            </a:r>
            <a:r>
              <a:rPr lang="en-US" dirty="0" smtClean="0"/>
              <a:t>energy.)</a:t>
            </a:r>
            <a:endParaRPr lang="sv-SE" b="1" dirty="0">
              <a:solidFill>
                <a:schemeClr val="accent6">
                  <a:lumMod val="75000"/>
                </a:schemeClr>
              </a:solidFill>
            </a:endParaRPr>
          </a:p>
        </p:txBody>
      </p:sp>
      <p:sp>
        <p:nvSpPr>
          <p:cNvPr id="17" name="Rectangle 16"/>
          <p:cNvSpPr/>
          <p:nvPr/>
        </p:nvSpPr>
        <p:spPr>
          <a:xfrm>
            <a:off x="485255" y="2624289"/>
            <a:ext cx="3913251" cy="369332"/>
          </a:xfrm>
          <a:prstGeom prst="rect">
            <a:avLst/>
          </a:prstGeom>
        </p:spPr>
        <p:txBody>
          <a:bodyPr wrap="none">
            <a:spAutoFit/>
          </a:bodyPr>
          <a:lstStyle/>
          <a:p>
            <a:r>
              <a:rPr lang="sv-SE" b="1" dirty="0" smtClean="0">
                <a:solidFill>
                  <a:schemeClr val="accent6">
                    <a:lumMod val="75000"/>
                  </a:schemeClr>
                </a:solidFill>
              </a:rPr>
              <a:t>The </a:t>
            </a:r>
            <a:r>
              <a:rPr lang="sv-SE" b="1" dirty="0" err="1" smtClean="0">
                <a:solidFill>
                  <a:schemeClr val="accent6">
                    <a:lumMod val="75000"/>
                  </a:schemeClr>
                </a:solidFill>
              </a:rPr>
              <a:t>instantenous</a:t>
            </a:r>
            <a:r>
              <a:rPr lang="sv-SE" b="1" dirty="0" smtClean="0">
                <a:solidFill>
                  <a:schemeClr val="accent6">
                    <a:lumMod val="75000"/>
                  </a:schemeClr>
                </a:solidFill>
              </a:rPr>
              <a:t> </a:t>
            </a:r>
            <a:r>
              <a:rPr lang="sv-SE" b="1" dirty="0" err="1" smtClean="0">
                <a:solidFill>
                  <a:schemeClr val="accent6">
                    <a:lumMod val="75000"/>
                  </a:schemeClr>
                </a:solidFill>
              </a:rPr>
              <a:t>charging</a:t>
            </a:r>
            <a:r>
              <a:rPr lang="sv-SE" b="1" dirty="0" smtClean="0">
                <a:solidFill>
                  <a:schemeClr val="accent6">
                    <a:lumMod val="75000"/>
                  </a:schemeClr>
                </a:solidFill>
              </a:rPr>
              <a:t> </a:t>
            </a:r>
            <a:r>
              <a:rPr lang="sv-SE" b="1" dirty="0" err="1" smtClean="0">
                <a:solidFill>
                  <a:schemeClr val="accent6">
                    <a:lumMod val="75000"/>
                  </a:schemeClr>
                </a:solidFill>
              </a:rPr>
              <a:t>current</a:t>
            </a:r>
            <a:r>
              <a:rPr lang="sv-SE" b="1" dirty="0" smtClean="0">
                <a:solidFill>
                  <a:schemeClr val="accent6">
                    <a:lumMod val="75000"/>
                  </a:schemeClr>
                </a:solidFill>
              </a:rPr>
              <a:t>:</a:t>
            </a:r>
            <a:endParaRPr lang="sv-SE" b="1" dirty="0">
              <a:solidFill>
                <a:schemeClr val="accent6">
                  <a:lumMod val="75000"/>
                </a:schemeClr>
              </a:solidFill>
            </a:endParaRPr>
          </a:p>
        </p:txBody>
      </p:sp>
      <p:sp>
        <p:nvSpPr>
          <p:cNvPr id="18" name="Rectangle 17"/>
          <p:cNvSpPr/>
          <p:nvPr/>
        </p:nvSpPr>
        <p:spPr>
          <a:xfrm>
            <a:off x="485255" y="3527948"/>
            <a:ext cx="4655442" cy="369332"/>
          </a:xfrm>
          <a:prstGeom prst="rect">
            <a:avLst/>
          </a:prstGeom>
        </p:spPr>
        <p:txBody>
          <a:bodyPr wrap="none">
            <a:spAutoFit/>
          </a:bodyPr>
          <a:lstStyle/>
          <a:p>
            <a:r>
              <a:rPr lang="sv-SE" b="1" dirty="0" smtClean="0">
                <a:solidFill>
                  <a:schemeClr val="accent6">
                    <a:lumMod val="75000"/>
                  </a:schemeClr>
                </a:solidFill>
              </a:rPr>
              <a:t>The </a:t>
            </a:r>
            <a:r>
              <a:rPr lang="sv-SE" b="1" dirty="0" err="1" smtClean="0">
                <a:solidFill>
                  <a:schemeClr val="accent6">
                    <a:lumMod val="75000"/>
                  </a:schemeClr>
                </a:solidFill>
              </a:rPr>
              <a:t>corresponding</a:t>
            </a:r>
            <a:r>
              <a:rPr lang="sv-SE" b="1" dirty="0" smtClean="0">
                <a:solidFill>
                  <a:schemeClr val="accent6">
                    <a:lumMod val="75000"/>
                  </a:schemeClr>
                </a:solidFill>
              </a:rPr>
              <a:t> </a:t>
            </a:r>
            <a:r>
              <a:rPr lang="sv-SE" b="1" dirty="0" err="1" smtClean="0">
                <a:solidFill>
                  <a:schemeClr val="accent6">
                    <a:lumMod val="75000"/>
                  </a:schemeClr>
                </a:solidFill>
              </a:rPr>
              <a:t>cable</a:t>
            </a:r>
            <a:r>
              <a:rPr lang="sv-SE" b="1" dirty="0" smtClean="0">
                <a:solidFill>
                  <a:schemeClr val="accent6">
                    <a:lumMod val="75000"/>
                  </a:schemeClr>
                </a:solidFill>
              </a:rPr>
              <a:t> </a:t>
            </a:r>
            <a:r>
              <a:rPr lang="sv-SE" b="1" dirty="0" err="1" smtClean="0">
                <a:solidFill>
                  <a:schemeClr val="accent6">
                    <a:lumMod val="75000"/>
                  </a:schemeClr>
                </a:solidFill>
              </a:rPr>
              <a:t>conduction</a:t>
            </a:r>
            <a:r>
              <a:rPr lang="sv-SE" b="1" dirty="0" smtClean="0">
                <a:solidFill>
                  <a:schemeClr val="accent6">
                    <a:lumMod val="75000"/>
                  </a:schemeClr>
                </a:solidFill>
              </a:rPr>
              <a:t> loss :</a:t>
            </a:r>
            <a:endParaRPr lang="sv-SE" b="1" dirty="0">
              <a:solidFill>
                <a:schemeClr val="accent6">
                  <a:lumMod val="75000"/>
                </a:schemeClr>
              </a:solidFill>
            </a:endParaRPr>
          </a:p>
        </p:txBody>
      </p:sp>
      <p:sp>
        <p:nvSpPr>
          <p:cNvPr id="19" name="Rectangle 18"/>
          <p:cNvSpPr/>
          <p:nvPr/>
        </p:nvSpPr>
        <p:spPr>
          <a:xfrm>
            <a:off x="485255" y="5892903"/>
            <a:ext cx="2218877" cy="369332"/>
          </a:xfrm>
          <a:prstGeom prst="rect">
            <a:avLst/>
          </a:prstGeom>
        </p:spPr>
        <p:txBody>
          <a:bodyPr wrap="none">
            <a:spAutoFit/>
          </a:bodyPr>
          <a:lstStyle/>
          <a:p>
            <a:r>
              <a:rPr lang="sv-SE" b="1" dirty="0" smtClean="0">
                <a:solidFill>
                  <a:schemeClr val="accent6">
                    <a:lumMod val="75000"/>
                  </a:schemeClr>
                </a:solidFill>
              </a:rPr>
              <a:t>Power is </a:t>
            </a:r>
            <a:r>
              <a:rPr lang="sv-SE" b="1" dirty="0" err="1" smtClean="0">
                <a:solidFill>
                  <a:schemeClr val="accent6">
                    <a:lumMod val="75000"/>
                  </a:schemeClr>
                </a:solidFill>
              </a:rPr>
              <a:t>scaled</a:t>
            </a:r>
            <a:r>
              <a:rPr lang="sv-SE" b="1" dirty="0" smtClean="0">
                <a:solidFill>
                  <a:schemeClr val="accent6">
                    <a:lumMod val="75000"/>
                  </a:schemeClr>
                </a:solidFill>
              </a:rPr>
              <a:t> by:</a:t>
            </a:r>
            <a:endParaRPr lang="sv-SE" b="1" dirty="0">
              <a:solidFill>
                <a:schemeClr val="accent6">
                  <a:lumMod val="75000"/>
                </a:schemeClr>
              </a:solidFill>
            </a:endParaRPr>
          </a:p>
        </p:txBody>
      </p:sp>
      <p:sp>
        <p:nvSpPr>
          <p:cNvPr id="20" name="Rectangle 19"/>
          <p:cNvSpPr/>
          <p:nvPr/>
        </p:nvSpPr>
        <p:spPr>
          <a:xfrm>
            <a:off x="5721842" y="4376565"/>
            <a:ext cx="4596337" cy="369332"/>
          </a:xfrm>
          <a:prstGeom prst="rect">
            <a:avLst/>
          </a:prstGeom>
        </p:spPr>
        <p:txBody>
          <a:bodyPr wrap="square">
            <a:spAutoFit/>
          </a:bodyPr>
          <a:lstStyle/>
          <a:p>
            <a:r>
              <a:rPr lang="en-US" dirty="0" smtClean="0"/>
              <a:t>(while keeping the same conductor area.)</a:t>
            </a:r>
            <a:endParaRPr lang="sv-SE" b="1" dirty="0">
              <a:solidFill>
                <a:schemeClr val="accent6">
                  <a:lumMod val="75000"/>
                </a:schemeClr>
              </a:solidFill>
            </a:endParaRPr>
          </a:p>
        </p:txBody>
      </p:sp>
      <p:sp>
        <p:nvSpPr>
          <p:cNvPr id="21" name="Rectangle 20"/>
          <p:cNvSpPr/>
          <p:nvPr/>
        </p:nvSpPr>
        <p:spPr>
          <a:xfrm>
            <a:off x="485255" y="4345993"/>
            <a:ext cx="3244799" cy="369332"/>
          </a:xfrm>
          <a:prstGeom prst="rect">
            <a:avLst/>
          </a:prstGeom>
        </p:spPr>
        <p:txBody>
          <a:bodyPr wrap="none">
            <a:spAutoFit/>
          </a:bodyPr>
          <a:lstStyle/>
          <a:p>
            <a:r>
              <a:rPr lang="sv-SE" b="1" dirty="0" err="1" smtClean="0">
                <a:solidFill>
                  <a:schemeClr val="accent6">
                    <a:lumMod val="75000"/>
                  </a:schemeClr>
                </a:solidFill>
              </a:rPr>
              <a:t>Conduction</a:t>
            </a:r>
            <a:r>
              <a:rPr lang="sv-SE" b="1" dirty="0" smtClean="0">
                <a:solidFill>
                  <a:schemeClr val="accent6">
                    <a:lumMod val="75000"/>
                  </a:schemeClr>
                </a:solidFill>
              </a:rPr>
              <a:t> loss is </a:t>
            </a:r>
            <a:r>
              <a:rPr lang="sv-SE" b="1" dirty="0" err="1" smtClean="0">
                <a:solidFill>
                  <a:schemeClr val="accent6">
                    <a:lumMod val="75000"/>
                  </a:schemeClr>
                </a:solidFill>
              </a:rPr>
              <a:t>scaled</a:t>
            </a:r>
            <a:r>
              <a:rPr lang="sv-SE" b="1" dirty="0" smtClean="0">
                <a:solidFill>
                  <a:schemeClr val="accent6">
                    <a:lumMod val="75000"/>
                  </a:schemeClr>
                </a:solidFill>
              </a:rPr>
              <a:t> by:</a:t>
            </a:r>
            <a:endParaRPr lang="sv-SE" b="1" dirty="0">
              <a:solidFill>
                <a:schemeClr val="accent6">
                  <a:lumMod val="75000"/>
                </a:schemeClr>
              </a:solidFill>
            </a:endParaRPr>
          </a:p>
        </p:txBody>
      </p:sp>
      <p:sp>
        <p:nvSpPr>
          <p:cNvPr id="22" name="Rectangle 21"/>
          <p:cNvSpPr/>
          <p:nvPr/>
        </p:nvSpPr>
        <p:spPr>
          <a:xfrm>
            <a:off x="4826386" y="5845674"/>
            <a:ext cx="4596337" cy="369332"/>
          </a:xfrm>
          <a:prstGeom prst="rect">
            <a:avLst/>
          </a:prstGeom>
        </p:spPr>
        <p:txBody>
          <a:bodyPr wrap="square">
            <a:spAutoFit/>
          </a:bodyPr>
          <a:lstStyle/>
          <a:p>
            <a:r>
              <a:rPr lang="en-US" dirty="0" smtClean="0"/>
              <a:t>(if cable current is fixed.)</a:t>
            </a:r>
            <a:endParaRPr lang="sv-SE" b="1" dirty="0">
              <a:solidFill>
                <a:schemeClr val="accent6">
                  <a:lumMod val="75000"/>
                </a:schemeClr>
              </a:solidFill>
            </a:endParaRPr>
          </a:p>
        </p:txBody>
      </p:sp>
      <p:sp>
        <p:nvSpPr>
          <p:cNvPr id="23" name="Rectangle 22"/>
          <p:cNvSpPr/>
          <p:nvPr/>
        </p:nvSpPr>
        <p:spPr>
          <a:xfrm>
            <a:off x="485255" y="5109468"/>
            <a:ext cx="4065537" cy="369332"/>
          </a:xfrm>
          <a:prstGeom prst="rect">
            <a:avLst/>
          </a:prstGeom>
        </p:spPr>
        <p:txBody>
          <a:bodyPr wrap="none">
            <a:spAutoFit/>
          </a:bodyPr>
          <a:lstStyle/>
          <a:p>
            <a:r>
              <a:rPr lang="sv-SE" b="1" dirty="0" smtClean="0">
                <a:solidFill>
                  <a:schemeClr val="accent6">
                    <a:lumMod val="75000"/>
                  </a:schemeClr>
                </a:solidFill>
              </a:rPr>
              <a:t>Cable cross </a:t>
            </a:r>
            <a:r>
              <a:rPr lang="sv-SE" b="1" dirty="0" err="1" smtClean="0">
                <a:solidFill>
                  <a:schemeClr val="accent6">
                    <a:lumMod val="75000"/>
                  </a:schemeClr>
                </a:solidFill>
              </a:rPr>
              <a:t>section</a:t>
            </a:r>
            <a:r>
              <a:rPr lang="sv-SE" b="1" dirty="0" smtClean="0">
                <a:solidFill>
                  <a:schemeClr val="accent6">
                    <a:lumMod val="75000"/>
                  </a:schemeClr>
                </a:solidFill>
              </a:rPr>
              <a:t> </a:t>
            </a:r>
            <a:r>
              <a:rPr lang="sv-SE" b="1" dirty="0" err="1" smtClean="0">
                <a:solidFill>
                  <a:schemeClr val="accent6">
                    <a:lumMod val="75000"/>
                  </a:schemeClr>
                </a:solidFill>
              </a:rPr>
              <a:t>can</a:t>
            </a:r>
            <a:r>
              <a:rPr lang="sv-SE" b="1" dirty="0" smtClean="0">
                <a:solidFill>
                  <a:schemeClr val="accent6">
                    <a:lumMod val="75000"/>
                  </a:schemeClr>
                </a:solidFill>
              </a:rPr>
              <a:t> be </a:t>
            </a:r>
            <a:r>
              <a:rPr lang="sv-SE" b="1" dirty="0" err="1" smtClean="0">
                <a:solidFill>
                  <a:schemeClr val="accent6">
                    <a:lumMod val="75000"/>
                  </a:schemeClr>
                </a:solidFill>
              </a:rPr>
              <a:t>reduced</a:t>
            </a:r>
            <a:r>
              <a:rPr lang="sv-SE" b="1" dirty="0" smtClean="0">
                <a:solidFill>
                  <a:schemeClr val="accent6">
                    <a:lumMod val="75000"/>
                  </a:schemeClr>
                </a:solidFill>
              </a:rPr>
              <a:t> :</a:t>
            </a:r>
            <a:endParaRPr lang="sv-SE" b="1" dirty="0">
              <a:solidFill>
                <a:schemeClr val="accent6">
                  <a:lumMod val="75000"/>
                </a:schemeClr>
              </a:solidFill>
            </a:endParaRPr>
          </a:p>
        </p:txBody>
      </p:sp>
    </p:spTree>
    <p:extLst>
      <p:ext uri="{BB962C8B-B14F-4D97-AF65-F5344CB8AC3E}">
        <p14:creationId xmlns:p14="http://schemas.microsoft.com/office/powerpoint/2010/main" val="40742690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Battery</a:t>
            </a:r>
            <a:r>
              <a:rPr lang="sv-SE" dirty="0"/>
              <a:t> &amp; Fast-</a:t>
            </a:r>
            <a:r>
              <a:rPr lang="sv-SE" dirty="0" err="1"/>
              <a:t>Charging</a:t>
            </a:r>
            <a:r>
              <a:rPr lang="sv-SE" dirty="0"/>
              <a:t> </a:t>
            </a:r>
            <a:r>
              <a:rPr lang="sv-SE" dirty="0" err="1"/>
              <a:t>Analysis</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6</a:t>
            </a:fld>
            <a:endParaRPr lang="sv-SE"/>
          </a:p>
        </p:txBody>
      </p:sp>
      <p:sp>
        <p:nvSpPr>
          <p:cNvPr id="6" name="Rectangle 5"/>
          <p:cNvSpPr/>
          <p:nvPr/>
        </p:nvSpPr>
        <p:spPr>
          <a:xfrm>
            <a:off x="3028950" y="4649231"/>
            <a:ext cx="5581649" cy="1754326"/>
          </a:xfrm>
          <a:prstGeom prst="rect">
            <a:avLst/>
          </a:prstGeom>
        </p:spPr>
        <p:txBody>
          <a:bodyPr wrap="square">
            <a:spAutoFit/>
          </a:bodyPr>
          <a:lstStyle/>
          <a:p>
            <a:r>
              <a:rPr lang="sv-SE" b="1" dirty="0" smtClean="0">
                <a:solidFill>
                  <a:schemeClr val="accent6">
                    <a:lumMod val="75000"/>
                  </a:schemeClr>
                </a:solidFill>
              </a:rPr>
              <a:t>Main </a:t>
            </a:r>
            <a:r>
              <a:rPr lang="sv-SE" b="1" dirty="0" err="1" smtClean="0">
                <a:solidFill>
                  <a:schemeClr val="accent6">
                    <a:lumMod val="75000"/>
                  </a:schemeClr>
                </a:solidFill>
              </a:rPr>
              <a:t>findings</a:t>
            </a:r>
            <a:r>
              <a:rPr lang="sv-SE" b="1" dirty="0" smtClean="0">
                <a:solidFill>
                  <a:schemeClr val="accent6">
                    <a:lumMod val="75000"/>
                  </a:schemeClr>
                </a:solidFill>
              </a:rPr>
              <a:t>:</a:t>
            </a:r>
            <a:endParaRPr lang="sv-SE" dirty="0">
              <a:solidFill>
                <a:schemeClr val="accent6">
                  <a:lumMod val="75000"/>
                </a:schemeClr>
              </a:solidFill>
            </a:endParaRPr>
          </a:p>
          <a:p>
            <a:pPr marL="285750" indent="-285750">
              <a:buFont typeface="Arial" panose="020B0604020202020204" pitchFamily="34" charset="0"/>
              <a:buChar char="•"/>
            </a:pPr>
            <a:r>
              <a:rPr lang="sv-SE" dirty="0"/>
              <a:t>Same </a:t>
            </a:r>
            <a:r>
              <a:rPr lang="sv-SE" dirty="0" err="1"/>
              <a:t>energy</a:t>
            </a:r>
            <a:r>
              <a:rPr lang="sv-SE" dirty="0"/>
              <a:t> : </a:t>
            </a:r>
            <a:r>
              <a:rPr lang="sv-SE" dirty="0" err="1"/>
              <a:t>higher</a:t>
            </a:r>
            <a:r>
              <a:rPr lang="sv-SE" dirty="0"/>
              <a:t> </a:t>
            </a:r>
            <a:r>
              <a:rPr lang="sv-SE" dirty="0" err="1"/>
              <a:t>voltage</a:t>
            </a:r>
            <a:r>
              <a:rPr lang="sv-SE" dirty="0"/>
              <a:t> → </a:t>
            </a:r>
            <a:r>
              <a:rPr lang="sv-SE" dirty="0" err="1"/>
              <a:t>lower</a:t>
            </a:r>
            <a:r>
              <a:rPr lang="sv-SE" dirty="0"/>
              <a:t> </a:t>
            </a:r>
            <a:r>
              <a:rPr lang="sv-SE" dirty="0" err="1" smtClean="0"/>
              <a:t>current</a:t>
            </a:r>
            <a:endParaRPr lang="sv-SE" dirty="0"/>
          </a:p>
          <a:p>
            <a:pPr marL="285750" indent="-285750">
              <a:buFont typeface="Arial" panose="020B0604020202020204" pitchFamily="34" charset="0"/>
              <a:buChar char="•"/>
            </a:pPr>
            <a:r>
              <a:rPr lang="sv-SE" dirty="0" smtClean="0"/>
              <a:t>~33</a:t>
            </a:r>
            <a:r>
              <a:rPr lang="sv-SE" dirty="0"/>
              <a:t>% </a:t>
            </a:r>
            <a:r>
              <a:rPr lang="sv-SE" dirty="0" err="1"/>
              <a:t>current</a:t>
            </a:r>
            <a:r>
              <a:rPr lang="sv-SE" dirty="0"/>
              <a:t> </a:t>
            </a:r>
            <a:r>
              <a:rPr lang="sv-SE" dirty="0" err="1"/>
              <a:t>reduction</a:t>
            </a:r>
            <a:r>
              <a:rPr lang="sv-SE" dirty="0"/>
              <a:t> at 1200 V</a:t>
            </a:r>
          </a:p>
          <a:p>
            <a:pPr marL="285750" indent="-285750">
              <a:buFont typeface="Arial" panose="020B0604020202020204" pitchFamily="34" charset="0"/>
              <a:buChar char="•"/>
            </a:pPr>
            <a:r>
              <a:rPr lang="sv-SE" dirty="0" smtClean="0"/>
              <a:t>~56</a:t>
            </a:r>
            <a:r>
              <a:rPr lang="sv-SE" dirty="0"/>
              <a:t>% </a:t>
            </a:r>
            <a:r>
              <a:rPr lang="sv-SE" dirty="0" err="1"/>
              <a:t>reduction</a:t>
            </a:r>
            <a:r>
              <a:rPr lang="sv-SE" dirty="0"/>
              <a:t> in I²R </a:t>
            </a:r>
            <a:r>
              <a:rPr lang="sv-SE" dirty="0" err="1"/>
              <a:t>cable</a:t>
            </a:r>
            <a:r>
              <a:rPr lang="sv-SE" dirty="0"/>
              <a:t> </a:t>
            </a:r>
            <a:r>
              <a:rPr lang="sv-SE" dirty="0" err="1"/>
              <a:t>losses</a:t>
            </a:r>
            <a:endParaRPr lang="sv-SE" dirty="0"/>
          </a:p>
          <a:p>
            <a:pPr marL="285750" indent="-285750">
              <a:buFont typeface="Arial" panose="020B0604020202020204" pitchFamily="34" charset="0"/>
              <a:buChar char="•"/>
            </a:pPr>
            <a:r>
              <a:rPr lang="sv-SE" dirty="0" smtClean="0"/>
              <a:t>~40–45</a:t>
            </a:r>
            <a:r>
              <a:rPr lang="sv-SE" dirty="0"/>
              <a:t>% </a:t>
            </a:r>
            <a:r>
              <a:rPr lang="sv-SE" dirty="0" err="1"/>
              <a:t>cable</a:t>
            </a:r>
            <a:r>
              <a:rPr lang="sv-SE" dirty="0"/>
              <a:t> </a:t>
            </a:r>
            <a:r>
              <a:rPr lang="sv-SE" dirty="0" err="1"/>
              <a:t>mass</a:t>
            </a:r>
            <a:r>
              <a:rPr lang="sv-SE" dirty="0"/>
              <a:t> </a:t>
            </a:r>
            <a:r>
              <a:rPr lang="sv-SE" dirty="0" err="1"/>
              <a:t>reduction</a:t>
            </a:r>
            <a:endParaRPr lang="sv-SE" dirty="0"/>
          </a:p>
          <a:p>
            <a:pPr marL="285750" indent="-285750">
              <a:buFont typeface="Arial" panose="020B0604020202020204" pitchFamily="34" charset="0"/>
              <a:buChar char="•"/>
            </a:pPr>
            <a:r>
              <a:rPr lang="sv-SE" dirty="0"/>
              <a:t>Full </a:t>
            </a:r>
            <a:r>
              <a:rPr lang="sv-SE" dirty="0" err="1"/>
              <a:t>compatibility</a:t>
            </a:r>
            <a:r>
              <a:rPr lang="sv-SE" dirty="0"/>
              <a:t> </a:t>
            </a:r>
            <a:r>
              <a:rPr lang="sv-SE" dirty="0" err="1"/>
              <a:t>with</a:t>
            </a:r>
            <a:r>
              <a:rPr lang="sv-SE" dirty="0"/>
              <a:t> MCS </a:t>
            </a:r>
            <a:r>
              <a:rPr lang="sv-SE" dirty="0" smtClean="0"/>
              <a:t>standards(&gt; </a:t>
            </a:r>
            <a:r>
              <a:rPr lang="sv-SE" dirty="0"/>
              <a:t>1 MW</a:t>
            </a:r>
            <a:r>
              <a:rPr lang="sv-SE" dirty="0" smtClean="0"/>
              <a:t>)</a:t>
            </a:r>
          </a:p>
        </p:txBody>
      </p:sp>
      <p:pic>
        <p:nvPicPr>
          <p:cNvPr id="11" name="Picture 10"/>
          <p:cNvPicPr>
            <a:picLocks noChangeAspect="1"/>
          </p:cNvPicPr>
          <p:nvPr/>
        </p:nvPicPr>
        <p:blipFill>
          <a:blip r:embed="rId2"/>
          <a:stretch>
            <a:fillRect/>
          </a:stretch>
        </p:blipFill>
        <p:spPr>
          <a:xfrm>
            <a:off x="2113929" y="1186582"/>
            <a:ext cx="7087221" cy="3180986"/>
          </a:xfrm>
          <a:prstGeom prst="rect">
            <a:avLst/>
          </a:prstGeom>
        </p:spPr>
      </p:pic>
    </p:spTree>
    <p:extLst>
      <p:ext uri="{BB962C8B-B14F-4D97-AF65-F5344CB8AC3E}">
        <p14:creationId xmlns:p14="http://schemas.microsoft.com/office/powerpoint/2010/main" val="14079968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a:t>
            </a:r>
            <a:r>
              <a:rPr lang="en-US" dirty="0" smtClean="0"/>
              <a:t>Inverter Benchmark</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7</a:t>
            </a:fld>
            <a:endParaRPr lang="sv-SE"/>
          </a:p>
        </p:txBody>
      </p:sp>
      <p:sp>
        <p:nvSpPr>
          <p:cNvPr id="3" name="Rectangle 2"/>
          <p:cNvSpPr/>
          <p:nvPr/>
        </p:nvSpPr>
        <p:spPr>
          <a:xfrm>
            <a:off x="6628204" y="1536477"/>
            <a:ext cx="4646403" cy="923330"/>
          </a:xfrm>
          <a:prstGeom prst="rect">
            <a:avLst/>
          </a:prstGeom>
        </p:spPr>
        <p:txBody>
          <a:bodyPr wrap="square">
            <a:spAutoFit/>
          </a:bodyPr>
          <a:lstStyle/>
          <a:p>
            <a:r>
              <a:rPr lang="en-US" b="1" dirty="0">
                <a:solidFill>
                  <a:schemeClr val="accent6">
                    <a:lumMod val="75000"/>
                  </a:schemeClr>
                </a:solidFill>
              </a:rPr>
              <a:t>Benchmark setup</a:t>
            </a:r>
            <a:endParaRPr lang="en-US" dirty="0">
              <a:solidFill>
                <a:schemeClr val="accent6">
                  <a:lumMod val="75000"/>
                </a:schemeClr>
              </a:solidFill>
            </a:endParaRPr>
          </a:p>
          <a:p>
            <a:pPr marL="285750" indent="-285750">
              <a:buFont typeface="Arial" panose="020B0604020202020204" pitchFamily="34" charset="0"/>
              <a:buChar char="•"/>
            </a:pPr>
            <a:r>
              <a:rPr lang="en-US" dirty="0"/>
              <a:t>800 V (1.2 kV </a:t>
            </a:r>
            <a:r>
              <a:rPr lang="en-US" dirty="0" err="1"/>
              <a:t>SiC</a:t>
            </a:r>
            <a:r>
              <a:rPr lang="en-US" dirty="0"/>
              <a:t>) vs 1200 V (2 kV </a:t>
            </a:r>
            <a:r>
              <a:rPr lang="en-US" dirty="0" err="1"/>
              <a:t>SiC</a:t>
            </a:r>
            <a:r>
              <a:rPr lang="en-US" dirty="0"/>
              <a:t>)</a:t>
            </a:r>
          </a:p>
          <a:p>
            <a:pPr marL="285750" indent="-285750">
              <a:buFont typeface="Arial" panose="020B0604020202020204" pitchFamily="34" charset="0"/>
              <a:buChar char="•"/>
            </a:pPr>
            <a:r>
              <a:rPr lang="en-US" dirty="0"/>
              <a:t>Same power, same thermal limits</a:t>
            </a:r>
          </a:p>
        </p:txBody>
      </p:sp>
      <p:sp>
        <p:nvSpPr>
          <p:cNvPr id="5" name="Rectangle 4"/>
          <p:cNvSpPr/>
          <p:nvPr/>
        </p:nvSpPr>
        <p:spPr>
          <a:xfrm>
            <a:off x="6705705" y="2896907"/>
            <a:ext cx="5086245" cy="3139321"/>
          </a:xfrm>
          <a:prstGeom prst="rect">
            <a:avLst/>
          </a:prstGeom>
        </p:spPr>
        <p:txBody>
          <a:bodyPr wrap="square">
            <a:spAutoFit/>
          </a:bodyPr>
          <a:lstStyle/>
          <a:p>
            <a:r>
              <a:rPr lang="sv-SE" b="1" dirty="0">
                <a:solidFill>
                  <a:schemeClr val="accent6">
                    <a:lumMod val="75000"/>
                  </a:schemeClr>
                </a:solidFill>
              </a:rPr>
              <a:t>Loss </a:t>
            </a:r>
            <a:r>
              <a:rPr lang="sv-SE" b="1" dirty="0" err="1">
                <a:solidFill>
                  <a:schemeClr val="accent6">
                    <a:lumMod val="75000"/>
                  </a:schemeClr>
                </a:solidFill>
              </a:rPr>
              <a:t>modeling</a:t>
            </a:r>
            <a:endParaRPr lang="sv-SE" b="1" dirty="0">
              <a:solidFill>
                <a:schemeClr val="accent6">
                  <a:lumMod val="75000"/>
                </a:schemeClr>
              </a:solidFill>
            </a:endParaRPr>
          </a:p>
          <a:p>
            <a:pPr marL="742950" lvl="1" indent="-285750">
              <a:buFont typeface="Arial" panose="020B0604020202020204" pitchFamily="34" charset="0"/>
              <a:buChar char="•"/>
            </a:pPr>
            <a:r>
              <a:rPr lang="sv-SE" dirty="0" err="1"/>
              <a:t>Conduction</a:t>
            </a:r>
            <a:r>
              <a:rPr lang="sv-SE" dirty="0"/>
              <a:t> vs </a:t>
            </a:r>
            <a:r>
              <a:rPr lang="sv-SE" dirty="0" err="1" smtClean="0"/>
              <a:t>switching</a:t>
            </a:r>
            <a:endParaRPr lang="sv-SE" dirty="0" smtClean="0"/>
          </a:p>
          <a:p>
            <a:r>
              <a:rPr lang="en-US" b="1" dirty="0" smtClean="0">
                <a:solidFill>
                  <a:schemeClr val="accent6">
                    <a:lumMod val="75000"/>
                  </a:schemeClr>
                </a:solidFill>
              </a:rPr>
              <a:t>Device Rating</a:t>
            </a:r>
            <a:endParaRPr lang="sv-SE" b="1" dirty="0">
              <a:solidFill>
                <a:schemeClr val="accent6">
                  <a:lumMod val="75000"/>
                </a:schemeClr>
              </a:solidFill>
            </a:endParaRPr>
          </a:p>
          <a:p>
            <a:pPr marL="742950" lvl="1" indent="-285750">
              <a:buFont typeface="Arial" panose="020B0604020202020204" pitchFamily="34" charset="0"/>
              <a:buChar char="•"/>
            </a:pPr>
            <a:r>
              <a:rPr lang="sv-SE" dirty="0" err="1"/>
              <a:t>Die</a:t>
            </a:r>
            <a:r>
              <a:rPr lang="sv-SE" dirty="0"/>
              <a:t>-area </a:t>
            </a:r>
            <a:r>
              <a:rPr lang="sv-SE" dirty="0" err="1" smtClean="0"/>
              <a:t>optimization</a:t>
            </a:r>
            <a:endParaRPr lang="sv-SE" dirty="0" smtClean="0"/>
          </a:p>
          <a:p>
            <a:r>
              <a:rPr lang="en-US" b="1" dirty="0" smtClean="0">
                <a:solidFill>
                  <a:schemeClr val="accent6">
                    <a:lumMod val="75000"/>
                  </a:schemeClr>
                </a:solidFill>
              </a:rPr>
              <a:t>Cooling System</a:t>
            </a:r>
          </a:p>
          <a:p>
            <a:pPr marL="742950" lvl="1" indent="-285750">
              <a:buFont typeface="Arial" panose="020B0604020202020204" pitchFamily="34" charset="0"/>
              <a:buChar char="•"/>
            </a:pPr>
            <a:r>
              <a:rPr lang="en-US" dirty="0" smtClean="0"/>
              <a:t>Cooling-system performance index </a:t>
            </a:r>
          </a:p>
          <a:p>
            <a:r>
              <a:rPr lang="en-US" b="1" dirty="0" smtClean="0">
                <a:solidFill>
                  <a:schemeClr val="accent6">
                    <a:lumMod val="75000"/>
                  </a:schemeClr>
                </a:solidFill>
              </a:rPr>
              <a:t>DC-Link Capacitance</a:t>
            </a:r>
          </a:p>
          <a:p>
            <a:pPr marL="742950" lvl="1" indent="-285750">
              <a:buFont typeface="Arial" panose="020B0604020202020204" pitchFamily="34" charset="0"/>
              <a:buChar char="•"/>
            </a:pPr>
            <a:r>
              <a:rPr lang="en-US" dirty="0" smtClean="0"/>
              <a:t>Capacitance value and volume </a:t>
            </a:r>
          </a:p>
          <a:p>
            <a:r>
              <a:rPr lang="en-US" b="1" dirty="0" smtClean="0">
                <a:solidFill>
                  <a:schemeClr val="accent6">
                    <a:lumMod val="75000"/>
                  </a:schemeClr>
                </a:solidFill>
              </a:rPr>
              <a:t>Design Selection</a:t>
            </a:r>
            <a:endParaRPr lang="sv-SE" b="1" dirty="0">
              <a:solidFill>
                <a:schemeClr val="accent6">
                  <a:lumMod val="75000"/>
                </a:schemeClr>
              </a:solidFill>
            </a:endParaRPr>
          </a:p>
          <a:p>
            <a:pPr marL="742950" lvl="1" indent="-285750">
              <a:buFont typeface="Arial" panose="020B0604020202020204" pitchFamily="34" charset="0"/>
              <a:buChar char="•"/>
            </a:pPr>
            <a:r>
              <a:rPr lang="sv-SE" dirty="0" err="1" smtClean="0"/>
              <a:t>Efficiency</a:t>
            </a:r>
            <a:r>
              <a:rPr lang="sv-SE" dirty="0" smtClean="0"/>
              <a:t> </a:t>
            </a:r>
            <a:r>
              <a:rPr lang="sv-SE" dirty="0" err="1" smtClean="0"/>
              <a:t>map</a:t>
            </a:r>
            <a:endParaRPr lang="sv-SE" dirty="0" smtClean="0"/>
          </a:p>
          <a:p>
            <a:pPr marL="285750" indent="-285750">
              <a:buFont typeface="Arial" panose="020B0604020202020204" pitchFamily="34" charset="0"/>
              <a:buChar char="•"/>
            </a:pPr>
            <a:endParaRPr lang="sv-SE"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119" y="1998142"/>
            <a:ext cx="5962132" cy="2778797"/>
          </a:xfrm>
          <a:prstGeom prst="rect">
            <a:avLst/>
          </a:prstGeom>
        </p:spPr>
      </p:pic>
      <p:pic>
        <p:nvPicPr>
          <p:cNvPr id="7" name="Picture 6"/>
          <p:cNvPicPr>
            <a:picLocks noChangeAspect="1"/>
          </p:cNvPicPr>
          <p:nvPr/>
        </p:nvPicPr>
        <p:blipFill>
          <a:blip r:embed="rId3"/>
          <a:stretch>
            <a:fillRect/>
          </a:stretch>
        </p:blipFill>
        <p:spPr>
          <a:xfrm>
            <a:off x="743573" y="4813277"/>
            <a:ext cx="5229225" cy="393227"/>
          </a:xfrm>
          <a:prstGeom prst="rect">
            <a:avLst/>
          </a:prstGeom>
        </p:spPr>
      </p:pic>
    </p:spTree>
    <p:extLst>
      <p:ext uri="{BB962C8B-B14F-4D97-AF65-F5344CB8AC3E}">
        <p14:creationId xmlns:p14="http://schemas.microsoft.com/office/powerpoint/2010/main" val="26516642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a:t>
            </a:r>
            <a:r>
              <a:rPr lang="en-US" dirty="0" smtClean="0"/>
              <a:t>Inverter Loss Calculation</a:t>
            </a:r>
            <a:endParaRPr lang="en-US" dirty="0"/>
          </a:p>
        </p:txBody>
      </p:sp>
      <p:sp>
        <p:nvSpPr>
          <p:cNvPr id="4" name="Slide Number Placeholder 3"/>
          <p:cNvSpPr>
            <a:spLocks noGrp="1"/>
          </p:cNvSpPr>
          <p:nvPr>
            <p:ph type="sldNum" sz="quarter" idx="12"/>
          </p:nvPr>
        </p:nvSpPr>
        <p:spPr>
          <a:xfrm>
            <a:off x="9138926" y="6991605"/>
            <a:ext cx="2743200" cy="94775"/>
          </a:xfrm>
        </p:spPr>
        <p:txBody>
          <a:bodyPr/>
          <a:lstStyle/>
          <a:p>
            <a:fld id="{B716C8F4-20CD-364A-8A8E-DE130115B178}" type="slidenum">
              <a:rPr lang="sv-SE" smtClean="0"/>
              <a:t>8</a:t>
            </a:fld>
            <a:endParaRPr lang="sv-SE"/>
          </a:p>
        </p:txBody>
      </p:sp>
      <p:pic>
        <p:nvPicPr>
          <p:cNvPr id="8" name="Picture 7"/>
          <p:cNvPicPr>
            <a:picLocks noChangeAspect="1"/>
          </p:cNvPicPr>
          <p:nvPr/>
        </p:nvPicPr>
        <p:blipFill>
          <a:blip r:embed="rId2"/>
          <a:stretch>
            <a:fillRect/>
          </a:stretch>
        </p:blipFill>
        <p:spPr>
          <a:xfrm>
            <a:off x="985382" y="1511525"/>
            <a:ext cx="3204219" cy="818008"/>
          </a:xfrm>
          <a:prstGeom prst="rect">
            <a:avLst/>
          </a:prstGeom>
        </p:spPr>
      </p:pic>
      <p:pic>
        <p:nvPicPr>
          <p:cNvPr id="9" name="Picture 8"/>
          <p:cNvPicPr>
            <a:picLocks noChangeAspect="1"/>
          </p:cNvPicPr>
          <p:nvPr/>
        </p:nvPicPr>
        <p:blipFill rotWithShape="1">
          <a:blip r:embed="rId3"/>
          <a:srcRect t="17308"/>
          <a:stretch/>
        </p:blipFill>
        <p:spPr>
          <a:xfrm>
            <a:off x="1568054" y="4488813"/>
            <a:ext cx="1578534" cy="756289"/>
          </a:xfrm>
          <a:prstGeom prst="rect">
            <a:avLst/>
          </a:prstGeom>
        </p:spPr>
      </p:pic>
      <p:pic>
        <p:nvPicPr>
          <p:cNvPr id="10" name="Picture 9"/>
          <p:cNvPicPr>
            <a:picLocks noChangeAspect="1"/>
          </p:cNvPicPr>
          <p:nvPr/>
        </p:nvPicPr>
        <p:blipFill>
          <a:blip r:embed="rId4"/>
          <a:stretch>
            <a:fillRect/>
          </a:stretch>
        </p:blipFill>
        <p:spPr>
          <a:xfrm>
            <a:off x="7708482" y="4346074"/>
            <a:ext cx="2915420" cy="591996"/>
          </a:xfrm>
          <a:prstGeom prst="rect">
            <a:avLst/>
          </a:prstGeom>
        </p:spPr>
      </p:pic>
      <p:pic>
        <p:nvPicPr>
          <p:cNvPr id="12" name="Picture 11"/>
          <p:cNvPicPr>
            <a:picLocks noChangeAspect="1"/>
          </p:cNvPicPr>
          <p:nvPr/>
        </p:nvPicPr>
        <p:blipFill rotWithShape="1">
          <a:blip r:embed="rId5"/>
          <a:srcRect t="16484" r="9312"/>
          <a:stretch/>
        </p:blipFill>
        <p:spPr>
          <a:xfrm>
            <a:off x="6305277" y="5552135"/>
            <a:ext cx="4976879" cy="543698"/>
          </a:xfrm>
          <a:prstGeom prst="rect">
            <a:avLst/>
          </a:prstGeom>
        </p:spPr>
      </p:pic>
      <p:pic>
        <p:nvPicPr>
          <p:cNvPr id="14" name="Picture 13"/>
          <p:cNvPicPr>
            <a:picLocks noChangeAspect="1"/>
          </p:cNvPicPr>
          <p:nvPr/>
        </p:nvPicPr>
        <p:blipFill>
          <a:blip r:embed="rId6"/>
          <a:stretch>
            <a:fillRect/>
          </a:stretch>
        </p:blipFill>
        <p:spPr>
          <a:xfrm>
            <a:off x="6953460" y="1635460"/>
            <a:ext cx="3920967" cy="728969"/>
          </a:xfrm>
          <a:prstGeom prst="rect">
            <a:avLst/>
          </a:prstGeom>
        </p:spPr>
      </p:pic>
      <p:sp>
        <p:nvSpPr>
          <p:cNvPr id="17" name="Rectangle 16"/>
          <p:cNvSpPr/>
          <p:nvPr/>
        </p:nvSpPr>
        <p:spPr>
          <a:xfrm>
            <a:off x="513201" y="2551619"/>
            <a:ext cx="5070204" cy="830997"/>
          </a:xfrm>
          <a:prstGeom prst="rect">
            <a:avLst/>
          </a:prstGeom>
        </p:spPr>
        <p:txBody>
          <a:bodyPr wrap="square">
            <a:spAutoFit/>
          </a:bodyPr>
          <a:lstStyle/>
          <a:p>
            <a:pPr algn="just"/>
            <a:r>
              <a:rPr lang="en-US" sz="1600" dirty="0"/>
              <a:t>where </a:t>
            </a:r>
            <a:r>
              <a:rPr lang="en-US" sz="1600" b="1" dirty="0">
                <a:solidFill>
                  <a:schemeClr val="accent6">
                    <a:lumMod val="75000"/>
                  </a:schemeClr>
                </a:solidFill>
              </a:rPr>
              <a:t>duty cycles </a:t>
            </a:r>
            <a:r>
              <a:rPr lang="en-US" sz="1600" dirty="0"/>
              <a:t>(D(θ)), </a:t>
            </a:r>
            <a:r>
              <a:rPr lang="en-US" sz="1600" b="1" dirty="0">
                <a:solidFill>
                  <a:schemeClr val="accent6">
                    <a:lumMod val="75000"/>
                  </a:schemeClr>
                </a:solidFill>
              </a:rPr>
              <a:t>switch current </a:t>
            </a:r>
            <a:r>
              <a:rPr lang="en-US" sz="1600" dirty="0"/>
              <a:t>(i</a:t>
            </a:r>
            <a:r>
              <a:rPr lang="en-US" sz="700" dirty="0"/>
              <a:t>ds</a:t>
            </a:r>
            <a:r>
              <a:rPr lang="en-US" sz="1600" dirty="0"/>
              <a:t>(θ)), </a:t>
            </a:r>
            <a:r>
              <a:rPr lang="en-US" sz="1600" b="1" dirty="0" smtClean="0">
                <a:solidFill>
                  <a:schemeClr val="accent6">
                    <a:lumMod val="75000"/>
                  </a:schemeClr>
                </a:solidFill>
              </a:rPr>
              <a:t>conduction angles</a:t>
            </a:r>
            <a:r>
              <a:rPr lang="en-US" sz="1600" dirty="0" smtClean="0"/>
              <a:t> </a:t>
            </a:r>
            <a:r>
              <a:rPr lang="en-US" sz="1600" dirty="0"/>
              <a:t>(θ</a:t>
            </a:r>
            <a:r>
              <a:rPr lang="en-US" sz="700" dirty="0"/>
              <a:t>C1 </a:t>
            </a:r>
            <a:r>
              <a:rPr lang="en-US" sz="1600" dirty="0"/>
              <a:t>to θ</a:t>
            </a:r>
            <a:r>
              <a:rPr lang="en-US" sz="700" dirty="0"/>
              <a:t>C2</a:t>
            </a:r>
            <a:r>
              <a:rPr lang="en-US" sz="1600" dirty="0"/>
              <a:t>), and </a:t>
            </a:r>
            <a:r>
              <a:rPr lang="en-US" sz="1600" b="1" dirty="0">
                <a:solidFill>
                  <a:schemeClr val="accent6">
                    <a:lumMod val="75000"/>
                  </a:schemeClr>
                </a:solidFill>
              </a:rPr>
              <a:t>on-state resistance </a:t>
            </a:r>
            <a:r>
              <a:rPr lang="en-US" sz="1600" dirty="0"/>
              <a:t>(</a:t>
            </a:r>
            <a:r>
              <a:rPr lang="en-US" sz="1600" dirty="0" err="1"/>
              <a:t>r</a:t>
            </a:r>
            <a:r>
              <a:rPr lang="en-US" sz="700" dirty="0" err="1"/>
              <a:t>ds</a:t>
            </a:r>
            <a:r>
              <a:rPr lang="en-US" sz="1600" dirty="0"/>
              <a:t>) are required.</a:t>
            </a:r>
            <a:endParaRPr lang="sv-SE" sz="1600" dirty="0"/>
          </a:p>
        </p:txBody>
      </p:sp>
      <p:sp>
        <p:nvSpPr>
          <p:cNvPr id="30" name="Rectangle 29"/>
          <p:cNvSpPr/>
          <p:nvPr/>
        </p:nvSpPr>
        <p:spPr>
          <a:xfrm>
            <a:off x="1461111" y="1013542"/>
            <a:ext cx="1960793" cy="369332"/>
          </a:xfrm>
          <a:prstGeom prst="rect">
            <a:avLst/>
          </a:prstGeom>
        </p:spPr>
        <p:txBody>
          <a:bodyPr wrap="none">
            <a:spAutoFit/>
          </a:bodyPr>
          <a:lstStyle/>
          <a:p>
            <a:r>
              <a:rPr lang="sv-SE" b="1" dirty="0" err="1" smtClean="0">
                <a:solidFill>
                  <a:schemeClr val="accent6">
                    <a:lumMod val="75000"/>
                  </a:schemeClr>
                </a:solidFill>
              </a:rPr>
              <a:t>Conduction</a:t>
            </a:r>
            <a:r>
              <a:rPr lang="sv-SE" b="1" dirty="0" smtClean="0">
                <a:solidFill>
                  <a:schemeClr val="accent6">
                    <a:lumMod val="75000"/>
                  </a:schemeClr>
                </a:solidFill>
              </a:rPr>
              <a:t> Loss</a:t>
            </a:r>
            <a:endParaRPr lang="sv-SE" dirty="0">
              <a:solidFill>
                <a:schemeClr val="accent6">
                  <a:lumMod val="75000"/>
                </a:schemeClr>
              </a:solidFill>
            </a:endParaRPr>
          </a:p>
        </p:txBody>
      </p:sp>
      <p:sp>
        <p:nvSpPr>
          <p:cNvPr id="33" name="Rectangle 32"/>
          <p:cNvSpPr/>
          <p:nvPr/>
        </p:nvSpPr>
        <p:spPr>
          <a:xfrm>
            <a:off x="449246" y="5434923"/>
            <a:ext cx="5134159" cy="584775"/>
          </a:xfrm>
          <a:prstGeom prst="rect">
            <a:avLst/>
          </a:prstGeom>
        </p:spPr>
        <p:txBody>
          <a:bodyPr wrap="square">
            <a:spAutoFit/>
          </a:bodyPr>
          <a:lstStyle/>
          <a:p>
            <a:r>
              <a:rPr lang="en-US" sz="1600" dirty="0"/>
              <a:t>where </a:t>
            </a:r>
            <a:r>
              <a:rPr lang="en-US" sz="1600" dirty="0" err="1"/>
              <a:t>k</a:t>
            </a:r>
            <a:r>
              <a:rPr lang="en-US" sz="700" dirty="0" err="1"/>
              <a:t>r</a:t>
            </a:r>
            <a:r>
              <a:rPr lang="en-US" sz="700" dirty="0"/>
              <a:t> </a:t>
            </a:r>
            <a:r>
              <a:rPr lang="en-US" sz="1600" dirty="0"/>
              <a:t>and α</a:t>
            </a:r>
            <a:r>
              <a:rPr lang="en-US" sz="700" dirty="0"/>
              <a:t>r </a:t>
            </a:r>
            <a:r>
              <a:rPr lang="en-US" sz="1600" dirty="0" smtClean="0"/>
              <a:t>are </a:t>
            </a:r>
            <a:r>
              <a:rPr lang="en-US" sz="1600" b="1" dirty="0" smtClean="0">
                <a:solidFill>
                  <a:schemeClr val="accent6">
                    <a:lumMod val="75000"/>
                  </a:schemeClr>
                </a:solidFill>
              </a:rPr>
              <a:t>technology-dependent </a:t>
            </a:r>
            <a:r>
              <a:rPr lang="en-US" sz="1600" b="1" dirty="0">
                <a:solidFill>
                  <a:schemeClr val="accent6">
                    <a:lumMod val="75000"/>
                  </a:schemeClr>
                </a:solidFill>
              </a:rPr>
              <a:t>coefficients</a:t>
            </a:r>
            <a:r>
              <a:rPr lang="en-US" sz="1600" dirty="0"/>
              <a:t>.</a:t>
            </a:r>
            <a:endParaRPr lang="sv-SE" sz="1600" dirty="0"/>
          </a:p>
        </p:txBody>
      </p:sp>
      <p:sp>
        <p:nvSpPr>
          <p:cNvPr id="35" name="Rectangle 34"/>
          <p:cNvSpPr/>
          <p:nvPr/>
        </p:nvSpPr>
        <p:spPr>
          <a:xfrm>
            <a:off x="513201" y="3527176"/>
            <a:ext cx="5070204" cy="830997"/>
          </a:xfrm>
          <a:prstGeom prst="rect">
            <a:avLst/>
          </a:prstGeom>
        </p:spPr>
        <p:txBody>
          <a:bodyPr wrap="square">
            <a:spAutoFit/>
          </a:bodyPr>
          <a:lstStyle/>
          <a:p>
            <a:r>
              <a:rPr lang="en-US" sz="1600" dirty="0"/>
              <a:t>The on-state resistance depends on the </a:t>
            </a:r>
            <a:r>
              <a:rPr lang="en-US" sz="1600" b="1" dirty="0">
                <a:solidFill>
                  <a:schemeClr val="accent6">
                    <a:lumMod val="75000"/>
                  </a:schemeClr>
                </a:solidFill>
              </a:rPr>
              <a:t>voltage rating </a:t>
            </a:r>
            <a:r>
              <a:rPr lang="en-US" sz="1600" dirty="0"/>
              <a:t>(U</a:t>
            </a:r>
            <a:r>
              <a:rPr lang="en-US" sz="700" dirty="0"/>
              <a:t>B</a:t>
            </a:r>
            <a:r>
              <a:rPr lang="en-US" sz="1600" dirty="0"/>
              <a:t>) </a:t>
            </a:r>
            <a:r>
              <a:rPr lang="en-US" sz="1600" dirty="0" smtClean="0"/>
              <a:t>and </a:t>
            </a:r>
            <a:r>
              <a:rPr lang="en-US" sz="1600" b="1" dirty="0" smtClean="0">
                <a:solidFill>
                  <a:schemeClr val="accent6">
                    <a:lumMod val="75000"/>
                  </a:schemeClr>
                </a:solidFill>
              </a:rPr>
              <a:t>die </a:t>
            </a:r>
            <a:r>
              <a:rPr lang="en-US" sz="1600" b="1" dirty="0">
                <a:solidFill>
                  <a:schemeClr val="accent6">
                    <a:lumMod val="75000"/>
                  </a:schemeClr>
                </a:solidFill>
              </a:rPr>
              <a:t>area </a:t>
            </a:r>
            <a:r>
              <a:rPr lang="en-US" sz="1600" dirty="0"/>
              <a:t>(A</a:t>
            </a:r>
            <a:r>
              <a:rPr lang="en-US" sz="700" dirty="0"/>
              <a:t>die</a:t>
            </a:r>
            <a:r>
              <a:rPr lang="en-US" sz="1600" dirty="0"/>
              <a:t>) that can be roughly </a:t>
            </a:r>
            <a:r>
              <a:rPr lang="en-US" sz="1600" dirty="0" smtClean="0"/>
              <a:t>calculated:</a:t>
            </a:r>
            <a:endParaRPr lang="sv-SE" sz="1600" dirty="0"/>
          </a:p>
        </p:txBody>
      </p:sp>
      <p:sp>
        <p:nvSpPr>
          <p:cNvPr id="36" name="Rectangle 35"/>
          <p:cNvSpPr/>
          <p:nvPr/>
        </p:nvSpPr>
        <p:spPr>
          <a:xfrm>
            <a:off x="8154536" y="1086910"/>
            <a:ext cx="2023311" cy="369332"/>
          </a:xfrm>
          <a:prstGeom prst="rect">
            <a:avLst/>
          </a:prstGeom>
        </p:spPr>
        <p:txBody>
          <a:bodyPr wrap="none">
            <a:spAutoFit/>
          </a:bodyPr>
          <a:lstStyle/>
          <a:p>
            <a:r>
              <a:rPr lang="sv-SE" b="1" dirty="0" err="1" smtClean="0">
                <a:solidFill>
                  <a:schemeClr val="accent6">
                    <a:lumMod val="75000"/>
                  </a:schemeClr>
                </a:solidFill>
              </a:rPr>
              <a:t>Switching</a:t>
            </a:r>
            <a:r>
              <a:rPr lang="sv-SE" b="1" dirty="0" smtClean="0">
                <a:solidFill>
                  <a:schemeClr val="accent6">
                    <a:lumMod val="75000"/>
                  </a:schemeClr>
                </a:solidFill>
              </a:rPr>
              <a:t> </a:t>
            </a:r>
            <a:r>
              <a:rPr lang="sv-SE" b="1" dirty="0" err="1" smtClean="0">
                <a:solidFill>
                  <a:schemeClr val="accent6">
                    <a:lumMod val="75000"/>
                  </a:schemeClr>
                </a:solidFill>
              </a:rPr>
              <a:t>Losse</a:t>
            </a:r>
            <a:r>
              <a:rPr lang="sv-SE" b="1" dirty="0" err="1">
                <a:solidFill>
                  <a:schemeClr val="accent6">
                    <a:lumMod val="75000"/>
                  </a:schemeClr>
                </a:solidFill>
              </a:rPr>
              <a:t>s</a:t>
            </a:r>
            <a:endParaRPr lang="sv-SE" dirty="0">
              <a:solidFill>
                <a:schemeClr val="accent6">
                  <a:lumMod val="75000"/>
                </a:schemeClr>
              </a:solidFill>
            </a:endParaRPr>
          </a:p>
        </p:txBody>
      </p:sp>
      <p:sp>
        <p:nvSpPr>
          <p:cNvPr id="37" name="Rectangle 36"/>
          <p:cNvSpPr/>
          <p:nvPr/>
        </p:nvSpPr>
        <p:spPr>
          <a:xfrm>
            <a:off x="6389052" y="3532023"/>
            <a:ext cx="4774485" cy="830997"/>
          </a:xfrm>
          <a:prstGeom prst="rect">
            <a:avLst/>
          </a:prstGeom>
        </p:spPr>
        <p:txBody>
          <a:bodyPr wrap="square">
            <a:spAutoFit/>
          </a:bodyPr>
          <a:lstStyle/>
          <a:p>
            <a:pPr algn="just"/>
            <a:r>
              <a:rPr lang="sv-SE" sz="1600" dirty="0"/>
              <a:t>The </a:t>
            </a:r>
            <a:r>
              <a:rPr lang="sv-SE" sz="1600" b="1" dirty="0" err="1" smtClean="0">
                <a:solidFill>
                  <a:schemeClr val="accent6">
                    <a:lumMod val="75000"/>
                  </a:schemeClr>
                </a:solidFill>
              </a:rPr>
              <a:t>zero</a:t>
            </a:r>
            <a:r>
              <a:rPr lang="sv-SE" sz="1600" b="1" dirty="0" smtClean="0">
                <a:solidFill>
                  <a:schemeClr val="accent6">
                    <a:lumMod val="75000"/>
                  </a:schemeClr>
                </a:solidFill>
              </a:rPr>
              <a:t> </a:t>
            </a:r>
            <a:r>
              <a:rPr lang="en-US" sz="1600" b="1" dirty="0" smtClean="0">
                <a:solidFill>
                  <a:schemeClr val="accent6">
                    <a:lumMod val="75000"/>
                  </a:schemeClr>
                </a:solidFill>
              </a:rPr>
              <a:t>current </a:t>
            </a:r>
            <a:r>
              <a:rPr lang="en-US" sz="1600" b="1" dirty="0">
                <a:solidFill>
                  <a:schemeClr val="accent6">
                    <a:lumMod val="75000"/>
                  </a:schemeClr>
                </a:solidFill>
              </a:rPr>
              <a:t>switching energy </a:t>
            </a:r>
            <a:r>
              <a:rPr lang="en-US" sz="1600" dirty="0"/>
              <a:t>is reliant on the </a:t>
            </a:r>
            <a:r>
              <a:rPr lang="en-US" sz="1600" b="1" dirty="0">
                <a:solidFill>
                  <a:schemeClr val="accent6">
                    <a:lumMod val="75000"/>
                  </a:schemeClr>
                </a:solidFill>
              </a:rPr>
              <a:t>output </a:t>
            </a:r>
            <a:r>
              <a:rPr lang="en-US" sz="1600" b="1" dirty="0" smtClean="0">
                <a:solidFill>
                  <a:schemeClr val="accent6">
                    <a:lumMod val="75000"/>
                  </a:schemeClr>
                </a:solidFill>
              </a:rPr>
              <a:t>capacitance </a:t>
            </a:r>
            <a:r>
              <a:rPr lang="en-US" sz="1600" dirty="0" smtClean="0"/>
              <a:t>(</a:t>
            </a:r>
            <a:r>
              <a:rPr lang="en-US" sz="1600" dirty="0" err="1" smtClean="0"/>
              <a:t>C</a:t>
            </a:r>
            <a:r>
              <a:rPr lang="en-US" sz="700" dirty="0" err="1" smtClean="0"/>
              <a:t>oss,Q</a:t>
            </a:r>
            <a:r>
              <a:rPr lang="en-US" sz="1600" dirty="0"/>
              <a:t>) and </a:t>
            </a:r>
            <a:r>
              <a:rPr lang="en-US" sz="1600" b="1" dirty="0">
                <a:solidFill>
                  <a:schemeClr val="accent6">
                    <a:lumMod val="75000"/>
                  </a:schemeClr>
                </a:solidFill>
              </a:rPr>
              <a:t>switching voltage </a:t>
            </a:r>
            <a:r>
              <a:rPr lang="en-US" sz="1600" dirty="0"/>
              <a:t>(</a:t>
            </a:r>
            <a:r>
              <a:rPr lang="en-US" sz="1600" dirty="0" err="1"/>
              <a:t>U</a:t>
            </a:r>
            <a:r>
              <a:rPr lang="en-US" sz="700" dirty="0" err="1"/>
              <a:t>dc</a:t>
            </a:r>
            <a:r>
              <a:rPr lang="en-US" sz="1600" dirty="0" smtClean="0"/>
              <a:t>).</a:t>
            </a:r>
            <a:endParaRPr lang="sv-SE" sz="1600" dirty="0"/>
          </a:p>
        </p:txBody>
      </p:sp>
      <p:sp>
        <p:nvSpPr>
          <p:cNvPr id="40" name="Rectangle 39"/>
          <p:cNvSpPr/>
          <p:nvPr/>
        </p:nvSpPr>
        <p:spPr>
          <a:xfrm>
            <a:off x="6423897" y="4952715"/>
            <a:ext cx="4739640" cy="584775"/>
          </a:xfrm>
          <a:prstGeom prst="rect">
            <a:avLst/>
          </a:prstGeom>
        </p:spPr>
        <p:txBody>
          <a:bodyPr wrap="square">
            <a:spAutoFit/>
          </a:bodyPr>
          <a:lstStyle/>
          <a:p>
            <a:pPr algn="just"/>
            <a:r>
              <a:rPr lang="en-US" sz="1600" b="1" dirty="0" smtClean="0">
                <a:solidFill>
                  <a:schemeClr val="accent6">
                    <a:lumMod val="75000"/>
                  </a:schemeClr>
                </a:solidFill>
              </a:rPr>
              <a:t>The overlapping energy </a:t>
            </a:r>
            <a:r>
              <a:rPr lang="en-US" sz="1600" dirty="0" smtClean="0"/>
              <a:t>aligns with a second order polynomial:  </a:t>
            </a:r>
            <a:r>
              <a:rPr lang="en-US" sz="1600" b="1" dirty="0" smtClean="0">
                <a:solidFill>
                  <a:schemeClr val="accent6">
                    <a:lumMod val="75000"/>
                  </a:schemeClr>
                </a:solidFill>
              </a:rPr>
              <a:t> </a:t>
            </a:r>
            <a:endParaRPr lang="sv-SE" sz="1600" dirty="0"/>
          </a:p>
        </p:txBody>
      </p:sp>
      <p:sp>
        <p:nvSpPr>
          <p:cNvPr id="41" name="Rectangle 40"/>
          <p:cNvSpPr/>
          <p:nvPr/>
        </p:nvSpPr>
        <p:spPr>
          <a:xfrm>
            <a:off x="6423897" y="2551542"/>
            <a:ext cx="5606388" cy="1077218"/>
          </a:xfrm>
          <a:prstGeom prst="rect">
            <a:avLst/>
          </a:prstGeom>
        </p:spPr>
        <p:txBody>
          <a:bodyPr wrap="square">
            <a:spAutoFit/>
          </a:bodyPr>
          <a:lstStyle/>
          <a:p>
            <a:r>
              <a:rPr lang="en-US" sz="1600" dirty="0" smtClean="0">
                <a:latin typeface="CMMI10"/>
              </a:rPr>
              <a:t>Where θ</a:t>
            </a:r>
            <a:r>
              <a:rPr lang="en-US" sz="700" dirty="0" smtClean="0">
                <a:latin typeface="CMMI7"/>
              </a:rPr>
              <a:t>SW</a:t>
            </a:r>
            <a:r>
              <a:rPr lang="en-US" sz="700" dirty="0" smtClean="0">
                <a:latin typeface="CMR7"/>
              </a:rPr>
              <a:t>1  </a:t>
            </a:r>
            <a:r>
              <a:rPr lang="en-US" sz="1600" dirty="0" smtClean="0">
                <a:latin typeface="NimbusRomNo9L-Regu"/>
              </a:rPr>
              <a:t>and </a:t>
            </a:r>
            <a:r>
              <a:rPr lang="en-US" sz="1600" dirty="0" smtClean="0">
                <a:latin typeface="CMMI10"/>
              </a:rPr>
              <a:t>θ</a:t>
            </a:r>
            <a:r>
              <a:rPr lang="en-US" sz="700" dirty="0" smtClean="0">
                <a:latin typeface="CMMI7"/>
              </a:rPr>
              <a:t>SW</a:t>
            </a:r>
            <a:r>
              <a:rPr lang="en-US" sz="700" dirty="0" smtClean="0">
                <a:latin typeface="CMR7"/>
              </a:rPr>
              <a:t>2</a:t>
            </a:r>
            <a:r>
              <a:rPr lang="en-US" sz="1600" dirty="0">
                <a:latin typeface="NimbusRomNo9L-Regu"/>
              </a:rPr>
              <a:t> </a:t>
            </a:r>
            <a:r>
              <a:rPr lang="en-US" sz="1600" dirty="0" smtClean="0">
                <a:latin typeface="NimbusRomNo9L-Regu"/>
              </a:rPr>
              <a:t>are </a:t>
            </a:r>
            <a:r>
              <a:rPr lang="en-US" sz="1600" b="1" dirty="0">
                <a:solidFill>
                  <a:schemeClr val="accent6">
                    <a:lumMod val="75000"/>
                  </a:schemeClr>
                </a:solidFill>
                <a:latin typeface="NimbusRomNo9L-Regu"/>
              </a:rPr>
              <a:t>switching </a:t>
            </a:r>
            <a:r>
              <a:rPr lang="en-US" sz="1600" b="1" dirty="0" smtClean="0">
                <a:solidFill>
                  <a:schemeClr val="accent6">
                    <a:lumMod val="75000"/>
                  </a:schemeClr>
                </a:solidFill>
                <a:latin typeface="NimbusRomNo9L-Regu"/>
              </a:rPr>
              <a:t>angles</a:t>
            </a:r>
            <a:r>
              <a:rPr lang="en-US" sz="1600" dirty="0" smtClean="0">
                <a:latin typeface="NimbusRomNo9L-Regu"/>
              </a:rPr>
              <a:t>,</a:t>
            </a:r>
            <a:r>
              <a:rPr lang="en-US" sz="1600" dirty="0"/>
              <a:t> </a:t>
            </a:r>
            <a:r>
              <a:rPr lang="en-US" sz="1600" dirty="0" err="1" smtClean="0"/>
              <a:t>E</a:t>
            </a:r>
            <a:r>
              <a:rPr lang="en-US" sz="1200" dirty="0" err="1" smtClean="0"/>
              <a:t>sw,zcs</a:t>
            </a:r>
            <a:r>
              <a:rPr lang="en-US" sz="1200" dirty="0" smtClean="0"/>
              <a:t>  </a:t>
            </a:r>
            <a:r>
              <a:rPr lang="en-US" sz="1600" dirty="0" smtClean="0"/>
              <a:t>and </a:t>
            </a:r>
            <a:r>
              <a:rPr lang="en-US" sz="1600" dirty="0" err="1" smtClean="0"/>
              <a:t>E</a:t>
            </a:r>
            <a:r>
              <a:rPr lang="en-US" sz="1400" dirty="0" err="1" smtClean="0"/>
              <a:t>sw,overlap</a:t>
            </a:r>
            <a:r>
              <a:rPr lang="en-US" sz="1600" dirty="0" smtClean="0"/>
              <a:t>  are </a:t>
            </a:r>
            <a:r>
              <a:rPr lang="sv-SE" sz="1600" b="1" dirty="0" err="1">
                <a:solidFill>
                  <a:schemeClr val="accent6">
                    <a:lumMod val="75000"/>
                  </a:schemeClr>
                </a:solidFill>
              </a:rPr>
              <a:t>zero</a:t>
            </a:r>
            <a:r>
              <a:rPr lang="sv-SE" sz="1600" b="1" dirty="0">
                <a:solidFill>
                  <a:schemeClr val="accent6">
                    <a:lumMod val="75000"/>
                  </a:schemeClr>
                </a:solidFill>
              </a:rPr>
              <a:t> </a:t>
            </a:r>
            <a:r>
              <a:rPr lang="en-US" sz="1600" b="1" dirty="0">
                <a:solidFill>
                  <a:schemeClr val="accent6">
                    <a:lumMod val="75000"/>
                  </a:schemeClr>
                </a:solidFill>
              </a:rPr>
              <a:t>current switching energy </a:t>
            </a:r>
            <a:r>
              <a:rPr lang="en-US" sz="1600" b="1" dirty="0" smtClean="0">
                <a:solidFill>
                  <a:schemeClr val="accent6">
                    <a:lumMod val="75000"/>
                  </a:schemeClr>
                </a:solidFill>
              </a:rPr>
              <a:t>and overlapping energy.</a:t>
            </a:r>
          </a:p>
          <a:p>
            <a:endParaRPr lang="sv-SE" sz="1600" dirty="0"/>
          </a:p>
        </p:txBody>
      </p:sp>
      <p:sp>
        <p:nvSpPr>
          <p:cNvPr id="42" name="Rectangle 41"/>
          <p:cNvSpPr/>
          <p:nvPr/>
        </p:nvSpPr>
        <p:spPr>
          <a:xfrm>
            <a:off x="449246" y="1013542"/>
            <a:ext cx="5169004" cy="5482508"/>
          </a:xfrm>
          <a:prstGeom prst="rect">
            <a:avLst/>
          </a:prstGeom>
          <a:solidFill>
            <a:schemeClr val="accent3">
              <a:lumMod val="10000"/>
              <a:lumOff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3" name="Rectangle 42"/>
          <p:cNvSpPr/>
          <p:nvPr/>
        </p:nvSpPr>
        <p:spPr>
          <a:xfrm>
            <a:off x="6287854" y="1013543"/>
            <a:ext cx="5214106" cy="5482508"/>
          </a:xfrm>
          <a:prstGeom prst="rect">
            <a:avLst/>
          </a:prstGeom>
          <a:solidFill>
            <a:schemeClr val="tx2">
              <a:lumMod val="25000"/>
              <a:lumOff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Tree>
    <p:extLst>
      <p:ext uri="{BB962C8B-B14F-4D97-AF65-F5344CB8AC3E}">
        <p14:creationId xmlns:p14="http://schemas.microsoft.com/office/powerpoint/2010/main" val="39423368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a:t>
            </a:r>
            <a:r>
              <a:rPr lang="en-US" dirty="0" smtClean="0"/>
              <a:t>Inverter Loss Calculation</a:t>
            </a:r>
            <a:endParaRPr lang="en-US" dirty="0"/>
          </a:p>
        </p:txBody>
      </p:sp>
      <p:sp>
        <p:nvSpPr>
          <p:cNvPr id="4" name="Slide Number Placeholder 3"/>
          <p:cNvSpPr>
            <a:spLocks noGrp="1"/>
          </p:cNvSpPr>
          <p:nvPr>
            <p:ph type="sldNum" sz="quarter" idx="12"/>
          </p:nvPr>
        </p:nvSpPr>
        <p:spPr>
          <a:xfrm>
            <a:off x="9138926" y="6991605"/>
            <a:ext cx="2743200" cy="94775"/>
          </a:xfrm>
        </p:spPr>
        <p:txBody>
          <a:bodyPr/>
          <a:lstStyle/>
          <a:p>
            <a:fld id="{B716C8F4-20CD-364A-8A8E-DE130115B178}" type="slidenum">
              <a:rPr lang="sv-SE" smtClean="0"/>
              <a:t>9</a:t>
            </a:fld>
            <a:endParaRPr lang="sv-SE"/>
          </a:p>
        </p:txBody>
      </p:sp>
      <p:pic>
        <p:nvPicPr>
          <p:cNvPr id="3" name="Picture 2"/>
          <p:cNvPicPr>
            <a:picLocks noChangeAspect="1"/>
          </p:cNvPicPr>
          <p:nvPr/>
        </p:nvPicPr>
        <p:blipFill>
          <a:blip r:embed="rId2"/>
          <a:stretch>
            <a:fillRect/>
          </a:stretch>
        </p:blipFill>
        <p:spPr>
          <a:xfrm>
            <a:off x="2956924" y="1062381"/>
            <a:ext cx="6054724" cy="3047830"/>
          </a:xfrm>
          <a:prstGeom prst="rect">
            <a:avLst/>
          </a:prstGeom>
        </p:spPr>
      </p:pic>
      <p:pic>
        <p:nvPicPr>
          <p:cNvPr id="5" name="Picture 4"/>
          <p:cNvPicPr>
            <a:picLocks noChangeAspect="1"/>
          </p:cNvPicPr>
          <p:nvPr/>
        </p:nvPicPr>
        <p:blipFill>
          <a:blip r:embed="rId3"/>
          <a:stretch>
            <a:fillRect/>
          </a:stretch>
        </p:blipFill>
        <p:spPr>
          <a:xfrm>
            <a:off x="7341973" y="4568499"/>
            <a:ext cx="3988706" cy="1355335"/>
          </a:xfrm>
          <a:prstGeom prst="rect">
            <a:avLst/>
          </a:prstGeom>
        </p:spPr>
      </p:pic>
      <p:sp>
        <p:nvSpPr>
          <p:cNvPr id="6" name="Rectangle 5"/>
          <p:cNvSpPr/>
          <p:nvPr/>
        </p:nvSpPr>
        <p:spPr>
          <a:xfrm>
            <a:off x="457200" y="4513336"/>
            <a:ext cx="6438900" cy="2031325"/>
          </a:xfrm>
          <a:prstGeom prst="rect">
            <a:avLst/>
          </a:prstGeom>
        </p:spPr>
        <p:txBody>
          <a:bodyPr wrap="square">
            <a:spAutoFit/>
          </a:bodyPr>
          <a:lstStyle/>
          <a:p>
            <a:pPr marL="285750" indent="-285750">
              <a:buFont typeface="Arial" panose="020B0604020202020204" pitchFamily="34" charset="0"/>
              <a:buChar char="•"/>
            </a:pPr>
            <a:r>
              <a:rPr lang="en-US" dirty="0" smtClean="0"/>
              <a:t>The </a:t>
            </a:r>
            <a:r>
              <a:rPr lang="en-US" dirty="0"/>
              <a:t>voltage and current slew rates </a:t>
            </a:r>
            <a:r>
              <a:rPr lang="en-US" dirty="0" smtClean="0"/>
              <a:t>determine coefficients </a:t>
            </a:r>
            <a:r>
              <a:rPr lang="en-US" dirty="0"/>
              <a:t>α1 and α2s during the switching transitions</a:t>
            </a:r>
            <a:r>
              <a:rPr lang="en-US" dirty="0" smtClean="0"/>
              <a:t>.</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a:t>W</a:t>
            </a:r>
            <a:r>
              <a:rPr lang="en-US" dirty="0" smtClean="0"/>
              <a:t>hile </a:t>
            </a:r>
            <a:r>
              <a:rPr lang="en-US" dirty="0"/>
              <a:t>faster transitions reduce α1 and α2 but aggravate electromagnetic interference (EMI) and common-mode voltage stress. </a:t>
            </a:r>
            <a:endParaRPr lang="sv-SE" dirty="0"/>
          </a:p>
          <a:p>
            <a:r>
              <a:rPr lang="en-US" dirty="0" smtClean="0"/>
              <a:t> </a:t>
            </a:r>
            <a:endParaRPr lang="sv-SE" dirty="0"/>
          </a:p>
        </p:txBody>
      </p:sp>
    </p:spTree>
    <p:extLst>
      <p:ext uri="{BB962C8B-B14F-4D97-AF65-F5344CB8AC3E}">
        <p14:creationId xmlns:p14="http://schemas.microsoft.com/office/powerpoint/2010/main" val="28316088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smtClean="0"/>
              <a:t>Cooling System &amp; DC-Link Capacitance</a:t>
            </a:r>
            <a:endParaRPr lang="en-US" dirty="0"/>
          </a:p>
        </p:txBody>
      </p:sp>
      <p:pic>
        <p:nvPicPr>
          <p:cNvPr id="3" name="Picture 2"/>
          <p:cNvPicPr>
            <a:picLocks noChangeAspect="1"/>
          </p:cNvPicPr>
          <p:nvPr/>
        </p:nvPicPr>
        <p:blipFill>
          <a:blip r:embed="rId2"/>
          <a:stretch>
            <a:fillRect/>
          </a:stretch>
        </p:blipFill>
        <p:spPr>
          <a:xfrm>
            <a:off x="1743136" y="1930070"/>
            <a:ext cx="1890712" cy="839645"/>
          </a:xfrm>
          <a:prstGeom prst="rect">
            <a:avLst/>
          </a:prstGeom>
        </p:spPr>
      </p:pic>
      <p:pic>
        <p:nvPicPr>
          <p:cNvPr id="5" name="Picture 4"/>
          <p:cNvPicPr>
            <a:picLocks noChangeAspect="1"/>
          </p:cNvPicPr>
          <p:nvPr/>
        </p:nvPicPr>
        <p:blipFill>
          <a:blip r:embed="rId3"/>
          <a:stretch>
            <a:fillRect/>
          </a:stretch>
        </p:blipFill>
        <p:spPr>
          <a:xfrm>
            <a:off x="734009" y="3678727"/>
            <a:ext cx="3614738" cy="809420"/>
          </a:xfrm>
          <a:prstGeom prst="rect">
            <a:avLst/>
          </a:prstGeom>
        </p:spPr>
      </p:pic>
      <p:pic>
        <p:nvPicPr>
          <p:cNvPr id="6" name="Picture 5"/>
          <p:cNvPicPr>
            <a:picLocks noChangeAspect="1"/>
          </p:cNvPicPr>
          <p:nvPr/>
        </p:nvPicPr>
        <p:blipFill>
          <a:blip r:embed="rId4"/>
          <a:stretch>
            <a:fillRect/>
          </a:stretch>
        </p:blipFill>
        <p:spPr>
          <a:xfrm>
            <a:off x="1432103" y="5684442"/>
            <a:ext cx="2218550" cy="795727"/>
          </a:xfrm>
          <a:prstGeom prst="rect">
            <a:avLst/>
          </a:prstGeom>
        </p:spPr>
      </p:pic>
      <p:sp>
        <p:nvSpPr>
          <p:cNvPr id="7" name="Rectangle 6"/>
          <p:cNvSpPr/>
          <p:nvPr/>
        </p:nvSpPr>
        <p:spPr>
          <a:xfrm>
            <a:off x="443036" y="1130221"/>
            <a:ext cx="5169004" cy="646331"/>
          </a:xfrm>
          <a:prstGeom prst="rect">
            <a:avLst/>
          </a:prstGeom>
        </p:spPr>
        <p:txBody>
          <a:bodyPr wrap="square">
            <a:spAutoFit/>
          </a:bodyPr>
          <a:lstStyle/>
          <a:p>
            <a:r>
              <a:rPr lang="sv-SE" dirty="0"/>
              <a:t>The </a:t>
            </a:r>
            <a:r>
              <a:rPr lang="sv-SE" dirty="0" err="1"/>
              <a:t>junction</a:t>
            </a:r>
            <a:r>
              <a:rPr lang="sv-SE" dirty="0"/>
              <a:t>-to-</a:t>
            </a:r>
            <a:r>
              <a:rPr lang="sv-SE" dirty="0" err="1"/>
              <a:t>case</a:t>
            </a:r>
            <a:r>
              <a:rPr lang="sv-SE" dirty="0"/>
              <a:t> </a:t>
            </a:r>
            <a:r>
              <a:rPr lang="sv-SE" dirty="0" err="1"/>
              <a:t>thermal</a:t>
            </a:r>
            <a:r>
              <a:rPr lang="sv-SE" dirty="0"/>
              <a:t> </a:t>
            </a:r>
            <a:r>
              <a:rPr lang="sv-SE" dirty="0" err="1"/>
              <a:t>resistance</a:t>
            </a:r>
            <a:r>
              <a:rPr lang="sv-SE" dirty="0"/>
              <a:t> </a:t>
            </a:r>
            <a:r>
              <a:rPr lang="sv-SE" dirty="0" err="1"/>
              <a:t>decreases</a:t>
            </a:r>
            <a:r>
              <a:rPr lang="sv-SE" dirty="0"/>
              <a:t> </a:t>
            </a:r>
            <a:r>
              <a:rPr lang="sv-SE" dirty="0" err="1"/>
              <a:t>with</a:t>
            </a:r>
            <a:r>
              <a:rPr lang="sv-SE" dirty="0"/>
              <a:t> </a:t>
            </a:r>
            <a:r>
              <a:rPr lang="sv-SE" dirty="0" err="1"/>
              <a:t>die</a:t>
            </a:r>
            <a:r>
              <a:rPr lang="sv-SE" dirty="0"/>
              <a:t> area</a:t>
            </a:r>
          </a:p>
        </p:txBody>
      </p:sp>
      <p:sp>
        <p:nvSpPr>
          <p:cNvPr id="16" name="Rectangle 15"/>
          <p:cNvSpPr/>
          <p:nvPr/>
        </p:nvSpPr>
        <p:spPr>
          <a:xfrm>
            <a:off x="443036" y="2725361"/>
            <a:ext cx="5169004" cy="646331"/>
          </a:xfrm>
          <a:prstGeom prst="rect">
            <a:avLst/>
          </a:prstGeom>
        </p:spPr>
        <p:txBody>
          <a:bodyPr wrap="square">
            <a:spAutoFit/>
          </a:bodyPr>
          <a:lstStyle/>
          <a:p>
            <a:r>
              <a:rPr lang="en-US" dirty="0"/>
              <a:t>The required heatsink-to-ambient thermal resistance to </a:t>
            </a:r>
            <a:r>
              <a:rPr lang="en-US" dirty="0" smtClean="0"/>
              <a:t>limit junction temperature: </a:t>
            </a:r>
            <a:endParaRPr lang="sv-SE" dirty="0"/>
          </a:p>
        </p:txBody>
      </p:sp>
      <p:sp>
        <p:nvSpPr>
          <p:cNvPr id="18" name="Rectangle 17"/>
          <p:cNvSpPr/>
          <p:nvPr/>
        </p:nvSpPr>
        <p:spPr>
          <a:xfrm>
            <a:off x="443036" y="4662785"/>
            <a:ext cx="5169004" cy="646331"/>
          </a:xfrm>
          <a:prstGeom prst="rect">
            <a:avLst/>
          </a:prstGeom>
        </p:spPr>
        <p:txBody>
          <a:bodyPr wrap="square">
            <a:spAutoFit/>
          </a:bodyPr>
          <a:lstStyle/>
          <a:p>
            <a:r>
              <a:rPr lang="en-US" dirty="0"/>
              <a:t>The heatsink volume is then estimated from the </a:t>
            </a:r>
            <a:r>
              <a:rPr lang="en-US" dirty="0" smtClean="0"/>
              <a:t>cooling system </a:t>
            </a:r>
            <a:r>
              <a:rPr lang="en-US" dirty="0"/>
              <a:t>performance index (CSPI</a:t>
            </a:r>
            <a:r>
              <a:rPr lang="en-US" dirty="0" smtClean="0"/>
              <a:t>): </a:t>
            </a:r>
            <a:endParaRPr lang="sv-SE" dirty="0"/>
          </a:p>
        </p:txBody>
      </p:sp>
      <p:pic>
        <p:nvPicPr>
          <p:cNvPr id="19" name="Picture 18"/>
          <p:cNvPicPr>
            <a:picLocks noChangeAspect="1"/>
          </p:cNvPicPr>
          <p:nvPr/>
        </p:nvPicPr>
        <p:blipFill>
          <a:blip r:embed="rId5"/>
          <a:stretch>
            <a:fillRect/>
          </a:stretch>
        </p:blipFill>
        <p:spPr>
          <a:xfrm>
            <a:off x="7415790" y="1715671"/>
            <a:ext cx="2838450" cy="1054044"/>
          </a:xfrm>
          <a:prstGeom prst="rect">
            <a:avLst/>
          </a:prstGeom>
        </p:spPr>
      </p:pic>
      <p:sp>
        <p:nvSpPr>
          <p:cNvPr id="20" name="Rectangle 19"/>
          <p:cNvSpPr/>
          <p:nvPr/>
        </p:nvSpPr>
        <p:spPr>
          <a:xfrm>
            <a:off x="6401041" y="1164235"/>
            <a:ext cx="5214106" cy="646331"/>
          </a:xfrm>
          <a:prstGeom prst="rect">
            <a:avLst/>
          </a:prstGeom>
        </p:spPr>
        <p:txBody>
          <a:bodyPr wrap="square">
            <a:spAutoFit/>
          </a:bodyPr>
          <a:lstStyle/>
          <a:p>
            <a:r>
              <a:rPr lang="en-US" dirty="0" smtClean="0"/>
              <a:t>The </a:t>
            </a:r>
            <a:r>
              <a:rPr lang="en-US" dirty="0"/>
              <a:t>instantaneous dc-link capacitor current is expressed as </a:t>
            </a:r>
            <a:endParaRPr lang="sv-SE" dirty="0"/>
          </a:p>
        </p:txBody>
      </p:sp>
      <p:sp>
        <p:nvSpPr>
          <p:cNvPr id="21" name="Rectangle 20"/>
          <p:cNvSpPr/>
          <p:nvPr/>
        </p:nvSpPr>
        <p:spPr>
          <a:xfrm>
            <a:off x="6401041" y="3035276"/>
            <a:ext cx="5214106" cy="646331"/>
          </a:xfrm>
          <a:prstGeom prst="rect">
            <a:avLst/>
          </a:prstGeom>
        </p:spPr>
        <p:txBody>
          <a:bodyPr wrap="square">
            <a:spAutoFit/>
          </a:bodyPr>
          <a:lstStyle/>
          <a:p>
            <a:r>
              <a:rPr lang="en-US" dirty="0"/>
              <a:t>The minimum required </a:t>
            </a:r>
            <a:r>
              <a:rPr lang="en-US" dirty="0" err="1"/>
              <a:t>dclink</a:t>
            </a:r>
            <a:r>
              <a:rPr lang="en-US" dirty="0"/>
              <a:t> capacitance for a specified voltage ripple ∆V pp is calculated a</a:t>
            </a:r>
            <a:endParaRPr lang="sv-SE" dirty="0"/>
          </a:p>
        </p:txBody>
      </p:sp>
      <p:pic>
        <p:nvPicPr>
          <p:cNvPr id="34" name="Picture 33"/>
          <p:cNvPicPr>
            <a:picLocks noChangeAspect="1"/>
          </p:cNvPicPr>
          <p:nvPr/>
        </p:nvPicPr>
        <p:blipFill>
          <a:blip r:embed="rId6"/>
          <a:stretch>
            <a:fillRect/>
          </a:stretch>
        </p:blipFill>
        <p:spPr>
          <a:xfrm>
            <a:off x="6157913" y="4050272"/>
            <a:ext cx="5186362" cy="711428"/>
          </a:xfrm>
          <a:prstGeom prst="rect">
            <a:avLst/>
          </a:prstGeom>
        </p:spPr>
      </p:pic>
      <p:sp>
        <p:nvSpPr>
          <p:cNvPr id="38" name="Rectangle 37"/>
          <p:cNvSpPr/>
          <p:nvPr/>
        </p:nvSpPr>
        <p:spPr>
          <a:xfrm>
            <a:off x="10582275" y="5124450"/>
            <a:ext cx="762000" cy="3042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1" name="Rectangle 40"/>
          <p:cNvSpPr/>
          <p:nvPr/>
        </p:nvSpPr>
        <p:spPr>
          <a:xfrm>
            <a:off x="6401041" y="5084277"/>
            <a:ext cx="5214106" cy="1200329"/>
          </a:xfrm>
          <a:prstGeom prst="rect">
            <a:avLst/>
          </a:prstGeom>
        </p:spPr>
        <p:txBody>
          <a:bodyPr wrap="square">
            <a:spAutoFit/>
          </a:bodyPr>
          <a:lstStyle/>
          <a:p>
            <a:r>
              <a:rPr lang="en-US" dirty="0"/>
              <a:t>At constant power, a higher dc-link voltage proportionally reduces the capacitor ripple current, thereby decreasing the required capacitance and volume</a:t>
            </a:r>
            <a:endParaRPr lang="sv-SE" dirty="0"/>
          </a:p>
        </p:txBody>
      </p:sp>
      <p:sp>
        <p:nvSpPr>
          <p:cNvPr id="43" name="Rectangle 42"/>
          <p:cNvSpPr/>
          <p:nvPr/>
        </p:nvSpPr>
        <p:spPr>
          <a:xfrm>
            <a:off x="6296266" y="1020542"/>
            <a:ext cx="5214106" cy="5482508"/>
          </a:xfrm>
          <a:prstGeom prst="rect">
            <a:avLst/>
          </a:prstGeom>
          <a:solidFill>
            <a:schemeClr val="tx2">
              <a:lumMod val="25000"/>
              <a:lumOff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2" name="Rectangle 41"/>
          <p:cNvSpPr/>
          <p:nvPr/>
        </p:nvSpPr>
        <p:spPr>
          <a:xfrm>
            <a:off x="415332" y="1020542"/>
            <a:ext cx="5169004" cy="5482508"/>
          </a:xfrm>
          <a:prstGeom prst="rect">
            <a:avLst/>
          </a:prstGeom>
          <a:solidFill>
            <a:schemeClr val="accent3">
              <a:lumMod val="10000"/>
              <a:lumOff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Tree>
    <p:extLst>
      <p:ext uri="{BB962C8B-B14F-4D97-AF65-F5344CB8AC3E}">
        <p14:creationId xmlns:p14="http://schemas.microsoft.com/office/powerpoint/2010/main" val="18162451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2967"/>
          <a:stretch/>
        </p:blipFill>
        <p:spPr>
          <a:xfrm>
            <a:off x="30480" y="988044"/>
            <a:ext cx="4299834" cy="2262809"/>
          </a:xfrm>
          <a:prstGeom prst="rect">
            <a:avLst/>
          </a:prstGeom>
        </p:spPr>
      </p:pic>
      <p:pic>
        <p:nvPicPr>
          <p:cNvPr id="12" name="Picture 11"/>
          <p:cNvPicPr>
            <a:picLocks noChangeAspect="1"/>
          </p:cNvPicPr>
          <p:nvPr/>
        </p:nvPicPr>
        <p:blipFill>
          <a:blip r:embed="rId3"/>
          <a:stretch>
            <a:fillRect/>
          </a:stretch>
        </p:blipFill>
        <p:spPr>
          <a:xfrm>
            <a:off x="3981451" y="1110906"/>
            <a:ext cx="4419600" cy="1226821"/>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48060" y="3009183"/>
            <a:ext cx="5823515" cy="2973710"/>
          </a:xfrm>
          <a:prstGeom prst="rect">
            <a:avLst/>
          </a:prstGeom>
        </p:spPr>
      </p:pic>
      <p:sp>
        <p:nvSpPr>
          <p:cNvPr id="2" name="Title 1"/>
          <p:cNvSpPr>
            <a:spLocks noGrp="1"/>
          </p:cNvSpPr>
          <p:nvPr>
            <p:ph type="title"/>
          </p:nvPr>
        </p:nvSpPr>
        <p:spPr>
          <a:xfrm>
            <a:off x="1040022" y="336507"/>
            <a:ext cx="10990263" cy="568412"/>
          </a:xfrm>
        </p:spPr>
        <p:txBody>
          <a:bodyPr/>
          <a:lstStyle/>
          <a:p>
            <a:r>
              <a:rPr lang="en-US" dirty="0" smtClean="0"/>
              <a:t>Loss Analyses: Switching Frequency &amp; Die Area</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11</a:t>
            </a:fld>
            <a:endParaRPr lang="sv-SE"/>
          </a:p>
        </p:txBody>
      </p:sp>
      <p:pic>
        <p:nvPicPr>
          <p:cNvPr id="6" name="Picture 5"/>
          <p:cNvPicPr>
            <a:picLocks noChangeAspect="1"/>
          </p:cNvPicPr>
          <p:nvPr/>
        </p:nvPicPr>
        <p:blipFill rotWithShape="1">
          <a:blip r:embed="rId5">
            <a:extLst>
              <a:ext uri="{28A0092B-C50C-407E-A947-70E740481C1C}">
                <a14:useLocalDpi xmlns:a14="http://schemas.microsoft.com/office/drawing/2010/main" val="0"/>
              </a:ext>
            </a:extLst>
          </a:blip>
          <a:srcRect r="6367"/>
          <a:stretch/>
        </p:blipFill>
        <p:spPr>
          <a:xfrm>
            <a:off x="8042840" y="976967"/>
            <a:ext cx="4149160" cy="2262809"/>
          </a:xfrm>
          <a:prstGeom prst="rect">
            <a:avLst/>
          </a:prstGeom>
        </p:spPr>
      </p:pic>
      <p:pic>
        <p:nvPicPr>
          <p:cNvPr id="8" name="Picture 7"/>
          <p:cNvPicPr>
            <a:picLocks noChangeAspect="1"/>
          </p:cNvPicPr>
          <p:nvPr/>
        </p:nvPicPr>
        <p:blipFill>
          <a:blip r:embed="rId6"/>
          <a:stretch>
            <a:fillRect/>
          </a:stretch>
        </p:blipFill>
        <p:spPr>
          <a:xfrm>
            <a:off x="1306056" y="3239776"/>
            <a:ext cx="1617181" cy="328490"/>
          </a:xfrm>
          <a:prstGeom prst="rect">
            <a:avLst/>
          </a:prstGeom>
        </p:spPr>
      </p:pic>
      <p:pic>
        <p:nvPicPr>
          <p:cNvPr id="9" name="Picture 8"/>
          <p:cNvPicPr>
            <a:picLocks noChangeAspect="1"/>
          </p:cNvPicPr>
          <p:nvPr/>
        </p:nvPicPr>
        <p:blipFill>
          <a:blip r:embed="rId7"/>
          <a:stretch>
            <a:fillRect/>
          </a:stretch>
        </p:blipFill>
        <p:spPr>
          <a:xfrm>
            <a:off x="9657039" y="3316974"/>
            <a:ext cx="1509442" cy="262325"/>
          </a:xfrm>
          <a:prstGeom prst="rect">
            <a:avLst/>
          </a:prstGeom>
        </p:spPr>
      </p:pic>
      <p:pic>
        <p:nvPicPr>
          <p:cNvPr id="10" name="Picture 9"/>
          <p:cNvPicPr>
            <a:picLocks noChangeAspect="1"/>
          </p:cNvPicPr>
          <p:nvPr/>
        </p:nvPicPr>
        <p:blipFill rotWithShape="1">
          <a:blip r:embed="rId8"/>
          <a:srcRect b="67407"/>
          <a:stretch/>
        </p:blipFill>
        <p:spPr>
          <a:xfrm>
            <a:off x="3854705" y="5982893"/>
            <a:ext cx="4593120" cy="265507"/>
          </a:xfrm>
          <a:prstGeom prst="rect">
            <a:avLst/>
          </a:prstGeom>
        </p:spPr>
      </p:pic>
      <p:pic>
        <p:nvPicPr>
          <p:cNvPr id="14" name="Picture 13"/>
          <p:cNvPicPr>
            <a:picLocks noChangeAspect="1"/>
          </p:cNvPicPr>
          <p:nvPr/>
        </p:nvPicPr>
        <p:blipFill>
          <a:blip r:embed="rId9"/>
          <a:stretch>
            <a:fillRect/>
          </a:stretch>
        </p:blipFill>
        <p:spPr>
          <a:xfrm>
            <a:off x="3950752" y="6224563"/>
            <a:ext cx="4401025" cy="547536"/>
          </a:xfrm>
          <a:prstGeom prst="rect">
            <a:avLst/>
          </a:prstGeom>
        </p:spPr>
      </p:pic>
    </p:spTree>
    <p:extLst>
      <p:ext uri="{BB962C8B-B14F-4D97-AF65-F5344CB8AC3E}">
        <p14:creationId xmlns:p14="http://schemas.microsoft.com/office/powerpoint/2010/main" val="4728849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stretch>
            <a:fillRect/>
          </a:stretch>
        </p:blipFill>
        <p:spPr>
          <a:xfrm>
            <a:off x="6535153" y="3697581"/>
            <a:ext cx="4992024" cy="382136"/>
          </a:xfrm>
          <a:prstGeom prst="rect">
            <a:avLst/>
          </a:prstGeom>
        </p:spPr>
      </p:pic>
      <p:pic>
        <p:nvPicPr>
          <p:cNvPr id="14" name="Picture 13"/>
          <p:cNvPicPr>
            <a:picLocks noChangeAspect="1"/>
          </p:cNvPicPr>
          <p:nvPr/>
        </p:nvPicPr>
        <p:blipFill>
          <a:blip r:embed="rId3"/>
          <a:stretch>
            <a:fillRect/>
          </a:stretch>
        </p:blipFill>
        <p:spPr>
          <a:xfrm>
            <a:off x="1114425" y="3684746"/>
            <a:ext cx="4697095" cy="369057"/>
          </a:xfrm>
          <a:prstGeom prst="rect">
            <a:avLst/>
          </a:prstGeom>
        </p:spPr>
      </p:pic>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849" y="1074420"/>
            <a:ext cx="5177547" cy="2643854"/>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2770" y="960489"/>
            <a:ext cx="5475998" cy="2796254"/>
          </a:xfrm>
          <a:prstGeom prst="rect">
            <a:avLst/>
          </a:prstGeom>
        </p:spPr>
      </p:pic>
      <p:pic>
        <p:nvPicPr>
          <p:cNvPr id="16" name="Picture 15"/>
          <p:cNvPicPr>
            <a:picLocks noChangeAspect="1"/>
          </p:cNvPicPr>
          <p:nvPr/>
        </p:nvPicPr>
        <p:blipFill>
          <a:blip r:embed="rId6"/>
          <a:stretch>
            <a:fillRect/>
          </a:stretch>
        </p:blipFill>
        <p:spPr>
          <a:xfrm>
            <a:off x="3615810" y="4110640"/>
            <a:ext cx="5415355" cy="497656"/>
          </a:xfrm>
          <a:prstGeom prst="rect">
            <a:avLst/>
          </a:prstGeom>
        </p:spPr>
      </p:pic>
      <p:pic>
        <p:nvPicPr>
          <p:cNvPr id="18" name="Picture 17"/>
          <p:cNvPicPr>
            <a:picLocks noChangeAspect="1"/>
          </p:cNvPicPr>
          <p:nvPr/>
        </p:nvPicPr>
        <p:blipFill>
          <a:blip r:embed="rId7"/>
          <a:stretch>
            <a:fillRect/>
          </a:stretch>
        </p:blipFill>
        <p:spPr>
          <a:xfrm>
            <a:off x="3803452" y="4906894"/>
            <a:ext cx="5227713" cy="1740232"/>
          </a:xfrm>
          <a:prstGeom prst="rect">
            <a:avLst/>
          </a:prstGeom>
        </p:spPr>
      </p:pic>
      <p:sp>
        <p:nvSpPr>
          <p:cNvPr id="19" name="Title 1"/>
          <p:cNvSpPr txBox="1">
            <a:spLocks/>
          </p:cNvSpPr>
          <p:nvPr/>
        </p:nvSpPr>
        <p:spPr>
          <a:xfrm>
            <a:off x="1201737" y="329060"/>
            <a:ext cx="10990263" cy="568412"/>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US" dirty="0" smtClean="0"/>
              <a:t>Results: Cooling System &amp; DC-Link Capacitance</a:t>
            </a:r>
            <a:endParaRPr lang="en-US" dirty="0"/>
          </a:p>
        </p:txBody>
      </p:sp>
    </p:spTree>
    <p:extLst>
      <p:ext uri="{BB962C8B-B14F-4D97-AF65-F5344CB8AC3E}">
        <p14:creationId xmlns:p14="http://schemas.microsoft.com/office/powerpoint/2010/main" val="37065307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Inverter: Loss &amp; Power Density Trade-Offs </a:t>
            </a:r>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13</a:t>
            </a:fld>
            <a:endParaRPr lang="sv-SE"/>
          </a:p>
        </p:txBody>
      </p:sp>
      <p:sp>
        <p:nvSpPr>
          <p:cNvPr id="5" name="Rectangle 4"/>
          <p:cNvSpPr/>
          <p:nvPr/>
        </p:nvSpPr>
        <p:spPr>
          <a:xfrm>
            <a:off x="3138255" y="3406193"/>
            <a:ext cx="5417122" cy="2585323"/>
          </a:xfrm>
          <a:prstGeom prst="rect">
            <a:avLst/>
          </a:prstGeom>
        </p:spPr>
        <p:txBody>
          <a:bodyPr wrap="square">
            <a:spAutoFit/>
          </a:bodyPr>
          <a:lstStyle/>
          <a:p>
            <a:r>
              <a:rPr lang="sv-SE" b="1" dirty="0" err="1" smtClean="0">
                <a:solidFill>
                  <a:schemeClr val="accent6">
                    <a:lumMod val="75000"/>
                  </a:schemeClr>
                </a:solidFill>
              </a:rPr>
              <a:t>Key</a:t>
            </a:r>
            <a:r>
              <a:rPr lang="sv-SE" b="1" dirty="0" smtClean="0">
                <a:solidFill>
                  <a:schemeClr val="accent6">
                    <a:lumMod val="75000"/>
                  </a:schemeClr>
                </a:solidFill>
              </a:rPr>
              <a:t> </a:t>
            </a:r>
            <a:r>
              <a:rPr lang="sv-SE" b="1" dirty="0" err="1" smtClean="0">
                <a:solidFill>
                  <a:schemeClr val="accent6">
                    <a:lumMod val="75000"/>
                  </a:schemeClr>
                </a:solidFill>
              </a:rPr>
              <a:t>results</a:t>
            </a:r>
            <a:endParaRPr lang="sv-SE" b="1" dirty="0" smtClean="0">
              <a:solidFill>
                <a:schemeClr val="accent6">
                  <a:lumMod val="75000"/>
                </a:schemeClr>
              </a:solidFill>
            </a:endParaRPr>
          </a:p>
          <a:p>
            <a:endParaRPr lang="sv-SE" dirty="0"/>
          </a:p>
          <a:p>
            <a:pPr marL="285750" indent="-285750">
              <a:buFont typeface="Arial" panose="020B0604020202020204" pitchFamily="34" charset="0"/>
              <a:buChar char="•"/>
            </a:pPr>
            <a:r>
              <a:rPr lang="sv-SE" dirty="0" err="1"/>
              <a:t>Similar</a:t>
            </a:r>
            <a:r>
              <a:rPr lang="sv-SE" dirty="0"/>
              <a:t> </a:t>
            </a:r>
            <a:r>
              <a:rPr lang="sv-SE" dirty="0" err="1"/>
              <a:t>efficiency</a:t>
            </a:r>
            <a:r>
              <a:rPr lang="sv-SE" dirty="0"/>
              <a:t> (~</a:t>
            </a:r>
            <a:r>
              <a:rPr lang="sv-SE" dirty="0" smtClean="0"/>
              <a:t>99.2%)</a:t>
            </a:r>
          </a:p>
          <a:p>
            <a:pPr marL="285750" indent="-285750">
              <a:buFont typeface="Arial" panose="020B0604020202020204" pitchFamily="34" charset="0"/>
              <a:buChar char="•"/>
            </a:pPr>
            <a:endParaRPr lang="sv-SE" dirty="0"/>
          </a:p>
          <a:p>
            <a:pPr marL="285750" indent="-285750">
              <a:buFont typeface="Arial" panose="020B0604020202020204" pitchFamily="34" charset="0"/>
              <a:buChar char="•"/>
            </a:pPr>
            <a:r>
              <a:rPr lang="sv-SE" dirty="0" err="1"/>
              <a:t>Lower</a:t>
            </a:r>
            <a:r>
              <a:rPr lang="sv-SE" dirty="0"/>
              <a:t> </a:t>
            </a:r>
            <a:r>
              <a:rPr lang="sv-SE" dirty="0" err="1"/>
              <a:t>current</a:t>
            </a:r>
            <a:r>
              <a:rPr lang="sv-SE" dirty="0"/>
              <a:t> ≠ </a:t>
            </a:r>
            <a:r>
              <a:rPr lang="sv-SE" dirty="0" err="1"/>
              <a:t>automatically</a:t>
            </a:r>
            <a:r>
              <a:rPr lang="sv-SE" dirty="0"/>
              <a:t> </a:t>
            </a:r>
            <a:r>
              <a:rPr lang="sv-SE" dirty="0" err="1"/>
              <a:t>lower</a:t>
            </a:r>
            <a:r>
              <a:rPr lang="sv-SE" dirty="0"/>
              <a:t> </a:t>
            </a:r>
            <a:r>
              <a:rPr lang="sv-SE" dirty="0" err="1" smtClean="0"/>
              <a:t>losses</a:t>
            </a:r>
            <a:endParaRPr lang="sv-SE" dirty="0" smtClean="0"/>
          </a:p>
          <a:p>
            <a:pPr marL="285750" indent="-285750">
              <a:buFont typeface="Arial" panose="020B0604020202020204" pitchFamily="34" charset="0"/>
              <a:buChar char="•"/>
            </a:pPr>
            <a:endParaRPr lang="sv-SE" dirty="0"/>
          </a:p>
          <a:p>
            <a:pPr marL="285750" indent="-285750">
              <a:buFont typeface="Arial" panose="020B0604020202020204" pitchFamily="34" charset="0"/>
              <a:buChar char="•"/>
            </a:pPr>
            <a:r>
              <a:rPr lang="sv-SE" dirty="0"/>
              <a:t>1200 V → </a:t>
            </a:r>
            <a:r>
              <a:rPr lang="sv-SE" dirty="0" err="1"/>
              <a:t>smaller</a:t>
            </a:r>
            <a:r>
              <a:rPr lang="sv-SE" dirty="0"/>
              <a:t> DC-</a:t>
            </a:r>
            <a:r>
              <a:rPr lang="sv-SE" dirty="0" err="1"/>
              <a:t>link</a:t>
            </a:r>
            <a:r>
              <a:rPr lang="sv-SE" dirty="0"/>
              <a:t> </a:t>
            </a:r>
            <a:r>
              <a:rPr lang="sv-SE" dirty="0" err="1" smtClean="0"/>
              <a:t>capacitor</a:t>
            </a:r>
            <a:endParaRPr lang="sv-SE" dirty="0" smtClean="0"/>
          </a:p>
          <a:p>
            <a:pPr marL="285750" indent="-285750">
              <a:buFont typeface="Arial" panose="020B0604020202020204" pitchFamily="34" charset="0"/>
              <a:buChar char="•"/>
            </a:pPr>
            <a:endParaRPr lang="sv-SE" dirty="0" smtClean="0"/>
          </a:p>
          <a:p>
            <a:pPr marL="285750" indent="-285750">
              <a:buFont typeface="Arial" panose="020B0604020202020204" pitchFamily="34" charset="0"/>
              <a:buChar char="•"/>
            </a:pPr>
            <a:r>
              <a:rPr lang="sv-SE" dirty="0" smtClean="0"/>
              <a:t>Power </a:t>
            </a:r>
            <a:r>
              <a:rPr lang="sv-SE" dirty="0" err="1" smtClean="0"/>
              <a:t>density</a:t>
            </a:r>
            <a:r>
              <a:rPr lang="sv-SE" dirty="0"/>
              <a:t> </a:t>
            </a:r>
            <a:r>
              <a:rPr lang="sv-SE" dirty="0" err="1" smtClean="0"/>
              <a:t>increased</a:t>
            </a:r>
            <a:r>
              <a:rPr lang="sv-SE" dirty="0" smtClean="0"/>
              <a:t> by 13%</a:t>
            </a:r>
            <a:endParaRPr lang="sv-SE" dirty="0"/>
          </a:p>
        </p:txBody>
      </p:sp>
      <p:pic>
        <p:nvPicPr>
          <p:cNvPr id="6" name="Picture 5"/>
          <p:cNvPicPr>
            <a:picLocks noChangeAspect="1"/>
          </p:cNvPicPr>
          <p:nvPr/>
        </p:nvPicPr>
        <p:blipFill>
          <a:blip r:embed="rId2"/>
          <a:stretch>
            <a:fillRect/>
          </a:stretch>
        </p:blipFill>
        <p:spPr>
          <a:xfrm>
            <a:off x="2477179" y="1244906"/>
            <a:ext cx="6274935" cy="2072605"/>
          </a:xfrm>
          <a:prstGeom prst="rect">
            <a:avLst/>
          </a:prstGeom>
        </p:spPr>
      </p:pic>
    </p:spTree>
    <p:extLst>
      <p:ext uri="{BB962C8B-B14F-4D97-AF65-F5344CB8AC3E}">
        <p14:creationId xmlns:p14="http://schemas.microsoft.com/office/powerpoint/2010/main" val="2239818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smtClean="0"/>
              <a:t>Traction</a:t>
            </a:r>
            <a:r>
              <a:rPr lang="sv-SE" dirty="0" smtClean="0"/>
              <a:t> Motor Loss </a:t>
            </a:r>
            <a:r>
              <a:rPr lang="sv-SE" dirty="0" err="1" smtClean="0"/>
              <a:t>Analyses</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14</a:t>
            </a:fld>
            <a:endParaRPr lang="sv-SE"/>
          </a:p>
        </p:txBody>
      </p:sp>
      <p:sp>
        <p:nvSpPr>
          <p:cNvPr id="3" name="Rectangle 2"/>
          <p:cNvSpPr/>
          <p:nvPr/>
        </p:nvSpPr>
        <p:spPr>
          <a:xfrm>
            <a:off x="666750" y="1084560"/>
            <a:ext cx="10820400" cy="1200329"/>
          </a:xfrm>
          <a:prstGeom prst="rect">
            <a:avLst/>
          </a:prstGeom>
        </p:spPr>
        <p:txBody>
          <a:bodyPr wrap="square">
            <a:spAutoFit/>
          </a:bodyPr>
          <a:lstStyle/>
          <a:p>
            <a:pPr marL="285750" indent="-285750">
              <a:buFont typeface="Arial" panose="020B0604020202020204" pitchFamily="34" charset="0"/>
              <a:buChar char="•"/>
            </a:pPr>
            <a:r>
              <a:rPr lang="en-US" dirty="0" smtClean="0"/>
              <a:t>The </a:t>
            </a:r>
            <a:r>
              <a:rPr lang="en-US" b="1" dirty="0">
                <a:solidFill>
                  <a:schemeClr val="accent6">
                    <a:lumMod val="75000"/>
                  </a:schemeClr>
                </a:solidFill>
              </a:rPr>
              <a:t>same</a:t>
            </a:r>
            <a:r>
              <a:rPr lang="en-US" dirty="0"/>
              <a:t> motor </a:t>
            </a:r>
            <a:r>
              <a:rPr lang="en-US" b="1" dirty="0">
                <a:solidFill>
                  <a:schemeClr val="accent6">
                    <a:lumMod val="75000"/>
                  </a:schemeClr>
                </a:solidFill>
              </a:rPr>
              <a:t>geometry</a:t>
            </a:r>
            <a:r>
              <a:rPr lang="en-US" dirty="0"/>
              <a:t> and </a:t>
            </a:r>
            <a:r>
              <a:rPr lang="en-US" b="1" dirty="0">
                <a:solidFill>
                  <a:schemeClr val="accent6">
                    <a:lumMod val="75000"/>
                  </a:schemeClr>
                </a:solidFill>
              </a:rPr>
              <a:t>electromagnetic design </a:t>
            </a:r>
            <a:r>
              <a:rPr lang="en-US" dirty="0"/>
              <a:t>are maintained</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smtClean="0"/>
              <a:t>A  </a:t>
            </a:r>
            <a:r>
              <a:rPr lang="en-US" dirty="0"/>
              <a:t>higher dc-link voltage is accommodated by </a:t>
            </a:r>
            <a:r>
              <a:rPr lang="en-US" b="1" dirty="0">
                <a:solidFill>
                  <a:schemeClr val="accent6">
                    <a:lumMod val="75000"/>
                  </a:schemeClr>
                </a:solidFill>
              </a:rPr>
              <a:t>reconnecting the existing parallel winding paths in </a:t>
            </a:r>
            <a:r>
              <a:rPr lang="en-US" b="1" dirty="0" smtClean="0">
                <a:solidFill>
                  <a:schemeClr val="accent6">
                    <a:lumMod val="75000"/>
                  </a:schemeClr>
                </a:solidFill>
              </a:rPr>
              <a:t>series</a:t>
            </a:r>
            <a:r>
              <a:rPr lang="en-US" dirty="0"/>
              <a:t>.</a:t>
            </a:r>
            <a:endParaRPr lang="sv-SE" dirty="0"/>
          </a:p>
        </p:txBody>
      </p:sp>
      <p:sp>
        <p:nvSpPr>
          <p:cNvPr id="8" name="Rectangle 7"/>
          <p:cNvSpPr/>
          <p:nvPr/>
        </p:nvSpPr>
        <p:spPr>
          <a:xfrm>
            <a:off x="666750" y="2558894"/>
            <a:ext cx="3876382" cy="369332"/>
          </a:xfrm>
          <a:prstGeom prst="rect">
            <a:avLst/>
          </a:prstGeom>
        </p:spPr>
        <p:txBody>
          <a:bodyPr wrap="none">
            <a:spAutoFit/>
          </a:bodyPr>
          <a:lstStyle/>
          <a:p>
            <a:r>
              <a:rPr lang="sv-SE" b="1" dirty="0" err="1">
                <a:solidFill>
                  <a:schemeClr val="accent6">
                    <a:lumMod val="75000"/>
                  </a:schemeClr>
                </a:solidFill>
              </a:rPr>
              <a:t>Impedance-based</a:t>
            </a:r>
            <a:r>
              <a:rPr lang="sv-SE" b="1" dirty="0">
                <a:solidFill>
                  <a:schemeClr val="accent6">
                    <a:lumMod val="75000"/>
                  </a:schemeClr>
                </a:solidFill>
              </a:rPr>
              <a:t> loss </a:t>
            </a:r>
            <a:r>
              <a:rPr lang="sv-SE" b="1" dirty="0" err="1">
                <a:solidFill>
                  <a:schemeClr val="accent6">
                    <a:lumMod val="75000"/>
                  </a:schemeClr>
                </a:solidFill>
              </a:rPr>
              <a:t>factor</a:t>
            </a:r>
            <a:r>
              <a:rPr lang="sv-SE" b="1" dirty="0">
                <a:solidFill>
                  <a:schemeClr val="accent6">
                    <a:lumMod val="75000"/>
                  </a:schemeClr>
                </a:solidFill>
              </a:rPr>
              <a:t> </a:t>
            </a:r>
            <a:r>
              <a:rPr lang="el-GR" b="1" dirty="0" smtClean="0">
                <a:solidFill>
                  <a:schemeClr val="accent6">
                    <a:lumMod val="75000"/>
                  </a:schemeClr>
                </a:solidFill>
              </a:rPr>
              <a:t>Φ(ω</a:t>
            </a:r>
            <a:r>
              <a:rPr lang="en-US" b="1" dirty="0" smtClean="0">
                <a:solidFill>
                  <a:schemeClr val="accent6">
                    <a:lumMod val="75000"/>
                  </a:schemeClr>
                </a:solidFill>
              </a:rPr>
              <a:t>)</a:t>
            </a:r>
            <a:endParaRPr lang="sv-SE" b="1" dirty="0">
              <a:solidFill>
                <a:schemeClr val="accent6">
                  <a:lumMod val="75000"/>
                </a:schemeClr>
              </a:solidFill>
            </a:endParaRPr>
          </a:p>
        </p:txBody>
      </p:sp>
      <p:pic>
        <p:nvPicPr>
          <p:cNvPr id="9" name="Picture 8"/>
          <p:cNvPicPr>
            <a:picLocks noChangeAspect="1"/>
          </p:cNvPicPr>
          <p:nvPr/>
        </p:nvPicPr>
        <p:blipFill>
          <a:blip r:embed="rId2"/>
          <a:stretch>
            <a:fillRect/>
          </a:stretch>
        </p:blipFill>
        <p:spPr>
          <a:xfrm>
            <a:off x="357187" y="6088990"/>
            <a:ext cx="5395913" cy="242513"/>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613" y="3136618"/>
            <a:ext cx="4047751" cy="2698501"/>
          </a:xfrm>
          <a:prstGeom prst="rect">
            <a:avLst/>
          </a:prstGeom>
        </p:spPr>
      </p:pic>
      <p:sp>
        <p:nvSpPr>
          <p:cNvPr id="12" name="Rectangle 11"/>
          <p:cNvSpPr/>
          <p:nvPr/>
        </p:nvSpPr>
        <p:spPr>
          <a:xfrm>
            <a:off x="6076950" y="4289107"/>
            <a:ext cx="5514975" cy="1754326"/>
          </a:xfrm>
          <a:prstGeom prst="rect">
            <a:avLst/>
          </a:prstGeom>
        </p:spPr>
        <p:txBody>
          <a:bodyPr wrap="square">
            <a:spAutoFit/>
          </a:bodyPr>
          <a:lstStyle/>
          <a:p>
            <a:r>
              <a:rPr lang="sv-SE" b="1" dirty="0" err="1">
                <a:solidFill>
                  <a:schemeClr val="accent6">
                    <a:lumMod val="75000"/>
                  </a:schemeClr>
                </a:solidFill>
              </a:rPr>
              <a:t>Key</a:t>
            </a:r>
            <a:r>
              <a:rPr lang="sv-SE" b="1" dirty="0">
                <a:solidFill>
                  <a:schemeClr val="accent6">
                    <a:lumMod val="75000"/>
                  </a:schemeClr>
                </a:solidFill>
              </a:rPr>
              <a:t> </a:t>
            </a:r>
            <a:r>
              <a:rPr lang="sv-SE" b="1" dirty="0" err="1" smtClean="0">
                <a:solidFill>
                  <a:schemeClr val="accent6">
                    <a:lumMod val="75000"/>
                  </a:schemeClr>
                </a:solidFill>
              </a:rPr>
              <a:t>insight</a:t>
            </a:r>
            <a:endParaRPr lang="sv-SE" b="1" dirty="0" smtClean="0">
              <a:solidFill>
                <a:schemeClr val="accent6">
                  <a:lumMod val="75000"/>
                </a:schemeClr>
              </a:solidFill>
            </a:endParaRPr>
          </a:p>
          <a:p>
            <a:pPr marL="742950" lvl="1" indent="-285750">
              <a:buFont typeface="Arial" panose="020B0604020202020204" pitchFamily="34" charset="0"/>
              <a:buChar char="•"/>
            </a:pPr>
            <a:r>
              <a:rPr lang="sv-SE" b="1" dirty="0" smtClean="0">
                <a:solidFill>
                  <a:schemeClr val="accent6">
                    <a:lumMod val="75000"/>
                  </a:schemeClr>
                </a:solidFill>
              </a:rPr>
              <a:t>Same </a:t>
            </a:r>
            <a:r>
              <a:rPr lang="sv-SE" b="1" dirty="0" err="1">
                <a:solidFill>
                  <a:schemeClr val="accent6">
                    <a:lumMod val="75000"/>
                  </a:schemeClr>
                </a:solidFill>
              </a:rPr>
              <a:t>harmonic</a:t>
            </a:r>
            <a:r>
              <a:rPr lang="sv-SE" b="1" dirty="0">
                <a:solidFill>
                  <a:schemeClr val="accent6">
                    <a:lumMod val="75000"/>
                  </a:schemeClr>
                </a:solidFill>
              </a:rPr>
              <a:t> </a:t>
            </a:r>
            <a:r>
              <a:rPr lang="sv-SE" b="1" dirty="0" err="1" smtClean="0">
                <a:solidFill>
                  <a:schemeClr val="accent6">
                    <a:lumMod val="75000"/>
                  </a:schemeClr>
                </a:solidFill>
              </a:rPr>
              <a:t>losses</a:t>
            </a:r>
            <a:r>
              <a:rPr lang="sv-SE" b="1" dirty="0" smtClean="0">
                <a:solidFill>
                  <a:schemeClr val="accent6">
                    <a:lumMod val="75000"/>
                  </a:schemeClr>
                </a:solidFill>
              </a:rPr>
              <a:t>: </a:t>
            </a:r>
            <a:r>
              <a:rPr lang="sv-SE" dirty="0" err="1" smtClean="0"/>
              <a:t>scaled</a:t>
            </a:r>
            <a:r>
              <a:rPr lang="sv-SE" dirty="0" smtClean="0"/>
              <a:t> loss </a:t>
            </a:r>
            <a:r>
              <a:rPr lang="sv-SE" dirty="0" err="1" smtClean="0"/>
              <a:t>factor</a:t>
            </a:r>
            <a:r>
              <a:rPr lang="sv-SE" dirty="0" smtClean="0"/>
              <a:t> and </a:t>
            </a:r>
            <a:r>
              <a:rPr lang="sv-SE" dirty="0" err="1" smtClean="0"/>
              <a:t>voltage</a:t>
            </a:r>
            <a:r>
              <a:rPr lang="sv-SE" dirty="0" smtClean="0"/>
              <a:t> </a:t>
            </a:r>
            <a:r>
              <a:rPr lang="sv-SE" dirty="0" err="1" smtClean="0"/>
              <a:t>levels</a:t>
            </a:r>
            <a:r>
              <a:rPr lang="sv-SE" dirty="0" smtClean="0"/>
              <a:t>.</a:t>
            </a:r>
            <a:endParaRPr lang="sv-SE" b="1" dirty="0">
              <a:solidFill>
                <a:schemeClr val="accent6">
                  <a:lumMod val="75000"/>
                </a:schemeClr>
              </a:solidFill>
            </a:endParaRPr>
          </a:p>
          <a:p>
            <a:pPr marL="742950" lvl="1" indent="-285750">
              <a:buFont typeface="Arial" panose="020B0604020202020204" pitchFamily="34" charset="0"/>
              <a:buChar char="•"/>
            </a:pPr>
            <a:r>
              <a:rPr lang="sv-SE" b="1" dirty="0" err="1">
                <a:solidFill>
                  <a:schemeClr val="accent6">
                    <a:lumMod val="75000"/>
                  </a:schemeClr>
                </a:solidFill>
              </a:rPr>
              <a:t>Slight</a:t>
            </a:r>
            <a:r>
              <a:rPr lang="sv-SE" b="1" dirty="0">
                <a:solidFill>
                  <a:schemeClr val="accent6">
                    <a:lumMod val="75000"/>
                  </a:schemeClr>
                </a:solidFill>
              </a:rPr>
              <a:t> </a:t>
            </a:r>
            <a:r>
              <a:rPr lang="sv-SE" b="1" dirty="0" err="1">
                <a:solidFill>
                  <a:schemeClr val="accent6">
                    <a:lumMod val="75000"/>
                  </a:schemeClr>
                </a:solidFill>
              </a:rPr>
              <a:t>copper</a:t>
            </a:r>
            <a:r>
              <a:rPr lang="sv-SE" b="1" dirty="0">
                <a:solidFill>
                  <a:schemeClr val="accent6">
                    <a:lumMod val="75000"/>
                  </a:schemeClr>
                </a:solidFill>
              </a:rPr>
              <a:t>-loss </a:t>
            </a:r>
            <a:r>
              <a:rPr lang="sv-SE" b="1" dirty="0" err="1" smtClean="0">
                <a:solidFill>
                  <a:schemeClr val="accent6">
                    <a:lumMod val="75000"/>
                  </a:schemeClr>
                </a:solidFill>
              </a:rPr>
              <a:t>increase</a:t>
            </a:r>
            <a:r>
              <a:rPr lang="sv-SE" b="1" dirty="0" smtClean="0">
                <a:solidFill>
                  <a:schemeClr val="accent6">
                    <a:lumMod val="75000"/>
                  </a:schemeClr>
                </a:solidFill>
              </a:rPr>
              <a:t> </a:t>
            </a:r>
            <a:r>
              <a:rPr lang="sv-SE" dirty="0" smtClean="0"/>
              <a:t>: </a:t>
            </a:r>
            <a:r>
              <a:rPr lang="en-US" dirty="0" smtClean="0"/>
              <a:t>higher </a:t>
            </a:r>
            <a:r>
              <a:rPr lang="en-US" dirty="0"/>
              <a:t>insulation requirements </a:t>
            </a:r>
            <a:r>
              <a:rPr lang="en-US" dirty="0" smtClean="0"/>
              <a:t>typically </a:t>
            </a:r>
            <a:r>
              <a:rPr lang="en-US" dirty="0"/>
              <a:t>mandate thicker </a:t>
            </a:r>
            <a:r>
              <a:rPr lang="en-US" dirty="0" err="1"/>
              <a:t>groundwall</a:t>
            </a:r>
            <a:r>
              <a:rPr lang="en-US" dirty="0"/>
              <a:t> and turn </a:t>
            </a:r>
            <a:r>
              <a:rPr lang="en-US" dirty="0" smtClean="0"/>
              <a:t>insulation.</a:t>
            </a:r>
            <a:endParaRPr lang="sv-SE" dirty="0"/>
          </a:p>
        </p:txBody>
      </p:sp>
      <p:pic>
        <p:nvPicPr>
          <p:cNvPr id="13" name="Picture 12"/>
          <p:cNvPicPr>
            <a:picLocks noChangeAspect="1"/>
          </p:cNvPicPr>
          <p:nvPr/>
        </p:nvPicPr>
        <p:blipFill>
          <a:blip r:embed="rId4"/>
          <a:stretch>
            <a:fillRect/>
          </a:stretch>
        </p:blipFill>
        <p:spPr>
          <a:xfrm>
            <a:off x="6794333" y="3531715"/>
            <a:ext cx="2615867" cy="757392"/>
          </a:xfrm>
          <a:prstGeom prst="rect">
            <a:avLst/>
          </a:prstGeom>
        </p:spPr>
      </p:pic>
      <p:pic>
        <p:nvPicPr>
          <p:cNvPr id="14" name="Picture 13"/>
          <p:cNvPicPr>
            <a:picLocks noChangeAspect="1"/>
          </p:cNvPicPr>
          <p:nvPr/>
        </p:nvPicPr>
        <p:blipFill>
          <a:blip r:embed="rId5"/>
          <a:stretch>
            <a:fillRect/>
          </a:stretch>
        </p:blipFill>
        <p:spPr>
          <a:xfrm>
            <a:off x="6076950" y="2151745"/>
            <a:ext cx="4965315" cy="1227142"/>
          </a:xfrm>
          <a:prstGeom prst="rect">
            <a:avLst/>
          </a:prstGeom>
        </p:spPr>
      </p:pic>
    </p:spTree>
    <p:extLst>
      <p:ext uri="{BB962C8B-B14F-4D97-AF65-F5344CB8AC3E}">
        <p14:creationId xmlns:p14="http://schemas.microsoft.com/office/powerpoint/2010/main" val="16703317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Common-Mode </a:t>
            </a:r>
            <a:r>
              <a:rPr lang="sv-SE" dirty="0" err="1"/>
              <a:t>Voltage</a:t>
            </a:r>
            <a:r>
              <a:rPr lang="sv-SE" dirty="0"/>
              <a:t> &amp; </a:t>
            </a:r>
            <a:r>
              <a:rPr lang="sv-SE" dirty="0" err="1"/>
              <a:t>Bearing</a:t>
            </a:r>
            <a:r>
              <a:rPr lang="sv-SE" dirty="0"/>
              <a:t> Stress </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15</a:t>
            </a:fld>
            <a:endParaRPr lang="sv-SE"/>
          </a:p>
        </p:txBody>
      </p:sp>
      <p:pic>
        <p:nvPicPr>
          <p:cNvPr id="5" name="Picture 4"/>
          <p:cNvPicPr>
            <a:picLocks noChangeAspect="1"/>
          </p:cNvPicPr>
          <p:nvPr/>
        </p:nvPicPr>
        <p:blipFill>
          <a:blip r:embed="rId2"/>
          <a:stretch>
            <a:fillRect/>
          </a:stretch>
        </p:blipFill>
        <p:spPr>
          <a:xfrm>
            <a:off x="1656503" y="1768702"/>
            <a:ext cx="2804160" cy="776910"/>
          </a:xfrm>
          <a:prstGeom prst="rect">
            <a:avLst/>
          </a:prstGeom>
        </p:spPr>
      </p:pic>
      <p:sp>
        <p:nvSpPr>
          <p:cNvPr id="7" name="Rectangle 6"/>
          <p:cNvSpPr/>
          <p:nvPr/>
        </p:nvSpPr>
        <p:spPr>
          <a:xfrm>
            <a:off x="563880" y="1282303"/>
            <a:ext cx="5311140" cy="369332"/>
          </a:xfrm>
          <a:prstGeom prst="rect">
            <a:avLst/>
          </a:prstGeom>
        </p:spPr>
        <p:txBody>
          <a:bodyPr wrap="square">
            <a:spAutoFit/>
          </a:bodyPr>
          <a:lstStyle/>
          <a:p>
            <a:r>
              <a:rPr lang="sv-SE" b="1" dirty="0" err="1" smtClean="0">
                <a:solidFill>
                  <a:schemeClr val="accent6">
                    <a:lumMod val="75000"/>
                  </a:schemeClr>
                </a:solidFill>
              </a:rPr>
              <a:t>Concern</a:t>
            </a:r>
            <a:r>
              <a:rPr lang="sv-SE" b="1" dirty="0" smtClean="0">
                <a:solidFill>
                  <a:schemeClr val="accent6">
                    <a:lumMod val="75000"/>
                  </a:schemeClr>
                </a:solidFill>
              </a:rPr>
              <a:t> : </a:t>
            </a:r>
            <a:r>
              <a:rPr lang="sv-SE" dirty="0" err="1" smtClean="0"/>
              <a:t>Higher</a:t>
            </a:r>
            <a:r>
              <a:rPr lang="sv-SE" dirty="0" smtClean="0"/>
              <a:t> </a:t>
            </a:r>
            <a:r>
              <a:rPr lang="sv-SE" dirty="0" err="1"/>
              <a:t>Vdc</a:t>
            </a:r>
            <a:r>
              <a:rPr lang="sv-SE" dirty="0"/>
              <a:t> → </a:t>
            </a:r>
            <a:r>
              <a:rPr lang="sv-SE" dirty="0" err="1"/>
              <a:t>higher</a:t>
            </a:r>
            <a:r>
              <a:rPr lang="sv-SE" dirty="0"/>
              <a:t> CMV </a:t>
            </a:r>
            <a:r>
              <a:rPr lang="sv-SE" dirty="0" err="1"/>
              <a:t>amplitude</a:t>
            </a:r>
            <a:endParaRPr lang="sv-SE" dirty="0"/>
          </a:p>
        </p:txBody>
      </p:sp>
      <p:sp>
        <p:nvSpPr>
          <p:cNvPr id="8" name="Rectangle 7"/>
          <p:cNvSpPr/>
          <p:nvPr/>
        </p:nvSpPr>
        <p:spPr>
          <a:xfrm>
            <a:off x="563880" y="2673265"/>
            <a:ext cx="4696895" cy="646331"/>
          </a:xfrm>
          <a:prstGeom prst="rect">
            <a:avLst/>
          </a:prstGeom>
        </p:spPr>
        <p:txBody>
          <a:bodyPr wrap="square">
            <a:spAutoFit/>
          </a:bodyPr>
          <a:lstStyle/>
          <a:p>
            <a:r>
              <a:rPr lang="sv-SE" b="1" dirty="0" err="1" smtClean="0">
                <a:solidFill>
                  <a:schemeClr val="accent6">
                    <a:lumMod val="75000"/>
                  </a:schemeClr>
                </a:solidFill>
              </a:rPr>
              <a:t>Bearing</a:t>
            </a:r>
            <a:r>
              <a:rPr lang="sv-SE" b="1" dirty="0" smtClean="0">
                <a:solidFill>
                  <a:schemeClr val="accent6">
                    <a:lumMod val="75000"/>
                  </a:schemeClr>
                </a:solidFill>
              </a:rPr>
              <a:t> </a:t>
            </a:r>
            <a:r>
              <a:rPr lang="sv-SE" b="1" dirty="0" err="1">
                <a:solidFill>
                  <a:schemeClr val="accent6">
                    <a:lumMod val="75000"/>
                  </a:schemeClr>
                </a:solidFill>
              </a:rPr>
              <a:t>Voltage</a:t>
            </a:r>
            <a:r>
              <a:rPr lang="sv-SE" b="1" dirty="0">
                <a:solidFill>
                  <a:schemeClr val="accent6">
                    <a:lumMod val="75000"/>
                  </a:schemeClr>
                </a:solidFill>
              </a:rPr>
              <a:t> </a:t>
            </a:r>
            <a:r>
              <a:rPr lang="sv-SE" b="1" dirty="0" err="1">
                <a:solidFill>
                  <a:schemeClr val="accent6">
                    <a:lumMod val="75000"/>
                  </a:schemeClr>
                </a:solidFill>
              </a:rPr>
              <a:t>Ratio</a:t>
            </a:r>
            <a:r>
              <a:rPr lang="sv-SE" b="1" dirty="0">
                <a:solidFill>
                  <a:schemeClr val="accent6">
                    <a:lumMod val="75000"/>
                  </a:schemeClr>
                </a:solidFill>
              </a:rPr>
              <a:t> (BVR</a:t>
            </a:r>
            <a:r>
              <a:rPr lang="sv-SE" b="1" dirty="0" smtClean="0">
                <a:solidFill>
                  <a:schemeClr val="accent6">
                    <a:lumMod val="75000"/>
                  </a:schemeClr>
                </a:solidFill>
              </a:rPr>
              <a:t>) </a:t>
            </a:r>
            <a:r>
              <a:rPr lang="en-US" dirty="0"/>
              <a:t>quantifies the coupling of CMV to the rotor shaft</a:t>
            </a:r>
            <a:r>
              <a:rPr lang="sv-SE" dirty="0" smtClean="0"/>
              <a:t>: </a:t>
            </a:r>
            <a:endParaRPr lang="sv-SE" dirty="0"/>
          </a:p>
        </p:txBody>
      </p:sp>
      <p:pic>
        <p:nvPicPr>
          <p:cNvPr id="9" name="Picture 8"/>
          <p:cNvPicPr>
            <a:picLocks noChangeAspect="1"/>
          </p:cNvPicPr>
          <p:nvPr/>
        </p:nvPicPr>
        <p:blipFill>
          <a:blip r:embed="rId3"/>
          <a:stretch>
            <a:fillRect/>
          </a:stretch>
        </p:blipFill>
        <p:spPr>
          <a:xfrm>
            <a:off x="1343130" y="3313855"/>
            <a:ext cx="3295439" cy="608711"/>
          </a:xfrm>
          <a:prstGeom prst="rect">
            <a:avLst/>
          </a:prstGeom>
        </p:spPr>
      </p:pic>
      <p:sp>
        <p:nvSpPr>
          <p:cNvPr id="10" name="Rectangle 9"/>
          <p:cNvSpPr/>
          <p:nvPr/>
        </p:nvSpPr>
        <p:spPr>
          <a:xfrm>
            <a:off x="544722" y="4144335"/>
            <a:ext cx="4989406" cy="1477328"/>
          </a:xfrm>
          <a:prstGeom prst="rect">
            <a:avLst/>
          </a:prstGeom>
        </p:spPr>
        <p:txBody>
          <a:bodyPr wrap="square">
            <a:spAutoFit/>
          </a:bodyPr>
          <a:lstStyle/>
          <a:p>
            <a:r>
              <a:rPr lang="en-US" dirty="0" smtClean="0"/>
              <a:t>In </a:t>
            </a:r>
            <a:r>
              <a:rPr lang="en-US" b="1" dirty="0">
                <a:solidFill>
                  <a:schemeClr val="accent6">
                    <a:lumMod val="75000"/>
                  </a:schemeClr>
                </a:solidFill>
              </a:rPr>
              <a:t>higher-voltage machines</a:t>
            </a:r>
            <a:r>
              <a:rPr lang="en-US" dirty="0"/>
              <a:t>, shielding materials </a:t>
            </a:r>
            <a:r>
              <a:rPr lang="en-US" dirty="0" smtClean="0"/>
              <a:t>can </a:t>
            </a:r>
            <a:r>
              <a:rPr lang="en-US" dirty="0"/>
              <a:t>be employed to further reduce the bearing voltage ratio (BVR), while </a:t>
            </a:r>
            <a:r>
              <a:rPr lang="en-US" b="1" dirty="0">
                <a:solidFill>
                  <a:schemeClr val="accent6">
                    <a:lumMod val="75000"/>
                  </a:schemeClr>
                </a:solidFill>
              </a:rPr>
              <a:t>reinforced insulation</a:t>
            </a:r>
            <a:r>
              <a:rPr lang="en-US" dirty="0"/>
              <a:t> </a:t>
            </a:r>
            <a:r>
              <a:rPr lang="en-US" dirty="0" smtClean="0"/>
              <a:t>decreases </a:t>
            </a:r>
            <a:r>
              <a:rPr lang="en-US" dirty="0"/>
              <a:t>the winding-to-rotor capacitance (</a:t>
            </a:r>
            <a:r>
              <a:rPr lang="en-US" dirty="0" err="1"/>
              <a:t>Cwr</a:t>
            </a:r>
            <a:r>
              <a:rPr lang="en-US" dirty="0" smtClean="0"/>
              <a:t>).</a:t>
            </a:r>
            <a:endParaRPr lang="sv-SE" dirty="0"/>
          </a:p>
        </p:txBody>
      </p:sp>
      <p:pic>
        <p:nvPicPr>
          <p:cNvPr id="12" name="Picture 11"/>
          <p:cNvPicPr>
            <a:picLocks noChangeAspect="1"/>
          </p:cNvPicPr>
          <p:nvPr/>
        </p:nvPicPr>
        <p:blipFill>
          <a:blip r:embed="rId4"/>
          <a:stretch>
            <a:fillRect/>
          </a:stretch>
        </p:blipFill>
        <p:spPr>
          <a:xfrm>
            <a:off x="593525" y="5733802"/>
            <a:ext cx="4667250" cy="834301"/>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68923" y="1469934"/>
            <a:ext cx="4163584" cy="4163584"/>
          </a:xfrm>
          <a:prstGeom prst="rect">
            <a:avLst/>
          </a:prstGeom>
        </p:spPr>
      </p:pic>
      <p:pic>
        <p:nvPicPr>
          <p:cNvPr id="14" name="Picture 13"/>
          <p:cNvPicPr>
            <a:picLocks noChangeAspect="1"/>
          </p:cNvPicPr>
          <p:nvPr/>
        </p:nvPicPr>
        <p:blipFill>
          <a:blip r:embed="rId6"/>
          <a:stretch>
            <a:fillRect/>
          </a:stretch>
        </p:blipFill>
        <p:spPr>
          <a:xfrm>
            <a:off x="6535153" y="5722791"/>
            <a:ext cx="5231125" cy="467717"/>
          </a:xfrm>
          <a:prstGeom prst="rect">
            <a:avLst/>
          </a:prstGeom>
        </p:spPr>
      </p:pic>
    </p:spTree>
    <p:extLst>
      <p:ext uri="{BB962C8B-B14F-4D97-AF65-F5344CB8AC3E}">
        <p14:creationId xmlns:p14="http://schemas.microsoft.com/office/powerpoint/2010/main" val="16997756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Holistic</a:t>
            </a:r>
            <a:r>
              <a:rPr lang="sv-SE" dirty="0"/>
              <a:t> </a:t>
            </a:r>
            <a:r>
              <a:rPr lang="sv-SE" dirty="0" err="1"/>
              <a:t>Optimization</a:t>
            </a:r>
            <a:r>
              <a:rPr lang="sv-SE" dirty="0"/>
              <a:t>: </a:t>
            </a:r>
            <a:r>
              <a:rPr lang="sv-SE" dirty="0" err="1"/>
              <a:t>Switching</a:t>
            </a:r>
            <a:r>
              <a:rPr lang="sv-SE" dirty="0"/>
              <a:t> </a:t>
            </a:r>
            <a:r>
              <a:rPr lang="sv-SE" dirty="0" err="1"/>
              <a:t>Frequency</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16</a:t>
            </a:fld>
            <a:endParaRPr lang="sv-SE"/>
          </a:p>
        </p:txBody>
      </p:sp>
      <p:sp>
        <p:nvSpPr>
          <p:cNvPr id="5" name="Rectangle 4"/>
          <p:cNvSpPr/>
          <p:nvPr/>
        </p:nvSpPr>
        <p:spPr>
          <a:xfrm>
            <a:off x="3554621" y="1300327"/>
            <a:ext cx="4732128" cy="1200329"/>
          </a:xfrm>
          <a:prstGeom prst="rect">
            <a:avLst/>
          </a:prstGeom>
        </p:spPr>
        <p:txBody>
          <a:bodyPr wrap="square">
            <a:spAutoFit/>
          </a:bodyPr>
          <a:lstStyle/>
          <a:p>
            <a:r>
              <a:rPr lang="sv-SE" b="1" dirty="0" err="1">
                <a:solidFill>
                  <a:schemeClr val="accent6">
                    <a:lumMod val="75000"/>
                  </a:schemeClr>
                </a:solidFill>
              </a:rPr>
              <a:t>Why</a:t>
            </a:r>
            <a:r>
              <a:rPr lang="sv-SE" b="1" dirty="0">
                <a:solidFill>
                  <a:schemeClr val="accent6">
                    <a:lumMod val="75000"/>
                  </a:schemeClr>
                </a:solidFill>
              </a:rPr>
              <a:t> </a:t>
            </a:r>
            <a:r>
              <a:rPr lang="sv-SE" b="1" dirty="0" err="1">
                <a:solidFill>
                  <a:schemeClr val="accent6">
                    <a:lumMod val="75000"/>
                  </a:schemeClr>
                </a:solidFill>
              </a:rPr>
              <a:t>holistic</a:t>
            </a:r>
            <a:r>
              <a:rPr lang="sv-SE" b="1" dirty="0">
                <a:solidFill>
                  <a:schemeClr val="accent6">
                    <a:lumMod val="75000"/>
                  </a:schemeClr>
                </a:solidFill>
              </a:rPr>
              <a:t>?</a:t>
            </a:r>
            <a:endParaRPr lang="sv-SE" dirty="0">
              <a:solidFill>
                <a:schemeClr val="accent6">
                  <a:lumMod val="75000"/>
                </a:schemeClr>
              </a:solidFill>
            </a:endParaRPr>
          </a:p>
          <a:p>
            <a:pPr marL="285750" indent="-285750">
              <a:buFont typeface="Arial" panose="020B0604020202020204" pitchFamily="34" charset="0"/>
              <a:buChar char="•"/>
            </a:pPr>
            <a:r>
              <a:rPr lang="sv-SE" dirty="0" err="1"/>
              <a:t>I</a:t>
            </a:r>
            <a:r>
              <a:rPr lang="sv-SE" dirty="0" err="1" smtClean="0"/>
              <a:t>nverter</a:t>
            </a:r>
            <a:r>
              <a:rPr lang="sv-SE" dirty="0" smtClean="0"/>
              <a:t> </a:t>
            </a:r>
            <a:r>
              <a:rPr lang="sv-SE" dirty="0" err="1"/>
              <a:t>losses</a:t>
            </a:r>
            <a:r>
              <a:rPr lang="sv-SE" dirty="0"/>
              <a:t> ↑ </a:t>
            </a:r>
            <a:r>
              <a:rPr lang="sv-SE" dirty="0" err="1"/>
              <a:t>with</a:t>
            </a:r>
            <a:r>
              <a:rPr lang="sv-SE" dirty="0"/>
              <a:t> </a:t>
            </a:r>
            <a:r>
              <a:rPr lang="sv-SE" dirty="0" err="1"/>
              <a:t>fsw</a:t>
            </a:r>
            <a:endParaRPr lang="sv-SE" dirty="0"/>
          </a:p>
          <a:p>
            <a:pPr marL="285750" indent="-285750">
              <a:buFont typeface="Arial" panose="020B0604020202020204" pitchFamily="34" charset="0"/>
              <a:buChar char="•"/>
            </a:pPr>
            <a:r>
              <a:rPr lang="sv-SE" dirty="0"/>
              <a:t>Motor </a:t>
            </a:r>
            <a:r>
              <a:rPr lang="sv-SE" dirty="0" err="1"/>
              <a:t>harmonic</a:t>
            </a:r>
            <a:r>
              <a:rPr lang="sv-SE" dirty="0"/>
              <a:t> </a:t>
            </a:r>
            <a:r>
              <a:rPr lang="sv-SE" dirty="0" err="1"/>
              <a:t>losses</a:t>
            </a:r>
            <a:r>
              <a:rPr lang="sv-SE" dirty="0"/>
              <a:t> ↓ </a:t>
            </a:r>
            <a:r>
              <a:rPr lang="sv-SE" dirty="0" err="1"/>
              <a:t>with</a:t>
            </a:r>
            <a:r>
              <a:rPr lang="sv-SE" dirty="0"/>
              <a:t> </a:t>
            </a:r>
            <a:r>
              <a:rPr lang="sv-SE" dirty="0" err="1" smtClean="0"/>
              <a:t>fsw</a:t>
            </a:r>
            <a:endParaRPr lang="sv-SE" dirty="0" smtClean="0"/>
          </a:p>
          <a:p>
            <a:endParaRPr lang="sv-SE" dirty="0"/>
          </a:p>
        </p:txBody>
      </p:sp>
      <p:pic>
        <p:nvPicPr>
          <p:cNvPr id="3" name="Picture 2"/>
          <p:cNvPicPr>
            <a:picLocks noChangeAspect="1"/>
          </p:cNvPicPr>
          <p:nvPr/>
        </p:nvPicPr>
        <p:blipFill>
          <a:blip r:embed="rId2"/>
          <a:stretch>
            <a:fillRect/>
          </a:stretch>
        </p:blipFill>
        <p:spPr>
          <a:xfrm>
            <a:off x="3311622" y="5851566"/>
            <a:ext cx="5994304" cy="47993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4621" y="2296953"/>
            <a:ext cx="5223973" cy="3482649"/>
          </a:xfrm>
          <a:prstGeom prst="rect">
            <a:avLst/>
          </a:prstGeom>
        </p:spPr>
      </p:pic>
    </p:spTree>
    <p:extLst>
      <p:ext uri="{BB962C8B-B14F-4D97-AF65-F5344CB8AC3E}">
        <p14:creationId xmlns:p14="http://schemas.microsoft.com/office/powerpoint/2010/main" val="21228491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Experimental </a:t>
            </a:r>
            <a:r>
              <a:rPr lang="sv-SE" dirty="0" err="1" smtClean="0"/>
              <a:t>Validation</a:t>
            </a:r>
            <a:r>
              <a:rPr lang="sv-SE" dirty="0" smtClean="0"/>
              <a:t>: B2B Setup </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17</a:t>
            </a:fld>
            <a:endParaRPr lang="sv-SE"/>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0000" y="1476375"/>
            <a:ext cx="2896550" cy="4625478"/>
          </a:xfrm>
          <a:prstGeom prst="rect">
            <a:avLst/>
          </a:prstGeom>
        </p:spPr>
      </p:pic>
      <p:pic>
        <p:nvPicPr>
          <p:cNvPr id="6" name="Picture 5"/>
          <p:cNvPicPr>
            <a:picLocks noChangeAspect="1"/>
          </p:cNvPicPr>
          <p:nvPr/>
        </p:nvPicPr>
        <p:blipFill>
          <a:blip r:embed="rId3"/>
          <a:stretch>
            <a:fillRect/>
          </a:stretch>
        </p:blipFill>
        <p:spPr>
          <a:xfrm>
            <a:off x="332262" y="6101853"/>
            <a:ext cx="5444004" cy="346277"/>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0679" y="1685091"/>
            <a:ext cx="4758665" cy="3389989"/>
          </a:xfrm>
          <a:prstGeom prst="rect">
            <a:avLst/>
          </a:prstGeom>
        </p:spPr>
      </p:pic>
      <p:pic>
        <p:nvPicPr>
          <p:cNvPr id="8" name="Picture 7"/>
          <p:cNvPicPr>
            <a:picLocks noChangeAspect="1"/>
          </p:cNvPicPr>
          <p:nvPr/>
        </p:nvPicPr>
        <p:blipFill>
          <a:blip r:embed="rId5"/>
          <a:stretch>
            <a:fillRect/>
          </a:stretch>
        </p:blipFill>
        <p:spPr>
          <a:xfrm>
            <a:off x="6340679" y="5358694"/>
            <a:ext cx="5016091" cy="689194"/>
          </a:xfrm>
          <a:prstGeom prst="rect">
            <a:avLst/>
          </a:prstGeom>
        </p:spPr>
      </p:pic>
    </p:spTree>
    <p:extLst>
      <p:ext uri="{BB962C8B-B14F-4D97-AF65-F5344CB8AC3E}">
        <p14:creationId xmlns:p14="http://schemas.microsoft.com/office/powerpoint/2010/main" val="19243339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Experimental </a:t>
            </a:r>
            <a:r>
              <a:rPr lang="sv-SE" dirty="0" err="1" smtClean="0"/>
              <a:t>Validation</a:t>
            </a:r>
            <a:r>
              <a:rPr lang="sv-SE" dirty="0" smtClean="0"/>
              <a:t> : Loss </a:t>
            </a:r>
            <a:r>
              <a:rPr lang="sv-SE" dirty="0" err="1" smtClean="0"/>
              <a:t>Seperation</a:t>
            </a:r>
            <a:r>
              <a:rPr lang="sv-SE" dirty="0" smtClean="0"/>
              <a:t> </a:t>
            </a:r>
            <a:endParaRPr lang="en-US" dirty="0"/>
          </a:p>
        </p:txBody>
      </p:sp>
      <p:pic>
        <p:nvPicPr>
          <p:cNvPr id="3" name="Picture 2"/>
          <p:cNvPicPr>
            <a:picLocks noChangeAspect="1"/>
          </p:cNvPicPr>
          <p:nvPr/>
        </p:nvPicPr>
        <p:blipFill>
          <a:blip r:embed="rId2"/>
          <a:stretch>
            <a:fillRect/>
          </a:stretch>
        </p:blipFill>
        <p:spPr>
          <a:xfrm>
            <a:off x="850618" y="1333500"/>
            <a:ext cx="5347264" cy="1709737"/>
          </a:xfrm>
          <a:prstGeom prst="rect">
            <a:avLst/>
          </a:prstGeom>
        </p:spPr>
      </p:pic>
      <p:pic>
        <p:nvPicPr>
          <p:cNvPr id="9" name="Picture 8"/>
          <p:cNvPicPr>
            <a:picLocks noChangeAspect="1"/>
          </p:cNvPicPr>
          <p:nvPr/>
        </p:nvPicPr>
        <p:blipFill>
          <a:blip r:embed="rId3"/>
          <a:stretch>
            <a:fillRect/>
          </a:stretch>
        </p:blipFill>
        <p:spPr>
          <a:xfrm>
            <a:off x="266700" y="3471818"/>
            <a:ext cx="6515100" cy="2909928"/>
          </a:xfrm>
          <a:prstGeom prst="rect">
            <a:avLst/>
          </a:prstGeom>
        </p:spPr>
      </p:pic>
      <p:pic>
        <p:nvPicPr>
          <p:cNvPr id="10" name="Picture 9"/>
          <p:cNvPicPr>
            <a:picLocks noChangeAspect="1"/>
          </p:cNvPicPr>
          <p:nvPr/>
        </p:nvPicPr>
        <p:blipFill>
          <a:blip r:embed="rId4"/>
          <a:stretch>
            <a:fillRect/>
          </a:stretch>
        </p:blipFill>
        <p:spPr>
          <a:xfrm>
            <a:off x="6781800" y="2409825"/>
            <a:ext cx="5078449" cy="2862218"/>
          </a:xfrm>
          <a:prstGeom prst="rect">
            <a:avLst/>
          </a:prstGeom>
        </p:spPr>
      </p:pic>
    </p:spTree>
    <p:extLst>
      <p:ext uri="{BB962C8B-B14F-4D97-AF65-F5344CB8AC3E}">
        <p14:creationId xmlns:p14="http://schemas.microsoft.com/office/powerpoint/2010/main" val="15042225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Experimental </a:t>
            </a:r>
            <a:r>
              <a:rPr lang="sv-SE" dirty="0" err="1" smtClean="0"/>
              <a:t>Validation</a:t>
            </a:r>
            <a:r>
              <a:rPr lang="sv-SE" dirty="0" smtClean="0"/>
              <a:t>: </a:t>
            </a:r>
            <a:r>
              <a:rPr lang="sv-SE" dirty="0" err="1" smtClean="0"/>
              <a:t>Effiency</a:t>
            </a:r>
            <a:r>
              <a:rPr lang="sv-SE" dirty="0" smtClean="0"/>
              <a:t> and </a:t>
            </a:r>
            <a:r>
              <a:rPr lang="sv-SE" dirty="0" err="1" smtClean="0"/>
              <a:t>Paremeters</a:t>
            </a:r>
            <a:endParaRPr lang="en-US" dirty="0"/>
          </a:p>
        </p:txBody>
      </p:sp>
      <p:pic>
        <p:nvPicPr>
          <p:cNvPr id="4" name="Picture 3"/>
          <p:cNvPicPr>
            <a:picLocks noChangeAspect="1"/>
          </p:cNvPicPr>
          <p:nvPr/>
        </p:nvPicPr>
        <p:blipFill>
          <a:blip r:embed="rId2"/>
          <a:stretch>
            <a:fillRect/>
          </a:stretch>
        </p:blipFill>
        <p:spPr>
          <a:xfrm>
            <a:off x="585433" y="1805775"/>
            <a:ext cx="5286375" cy="241935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5132" y="1211824"/>
            <a:ext cx="5483459" cy="2800064"/>
          </a:xfrm>
          <a:prstGeom prst="rect">
            <a:avLst/>
          </a:prstGeom>
        </p:spPr>
      </p:pic>
      <p:pic>
        <p:nvPicPr>
          <p:cNvPr id="6" name="Picture 5"/>
          <p:cNvPicPr>
            <a:picLocks noChangeAspect="1"/>
          </p:cNvPicPr>
          <p:nvPr/>
        </p:nvPicPr>
        <p:blipFill>
          <a:blip r:embed="rId4"/>
          <a:stretch>
            <a:fillRect/>
          </a:stretch>
        </p:blipFill>
        <p:spPr>
          <a:xfrm>
            <a:off x="6631780" y="3978528"/>
            <a:ext cx="4976813" cy="539597"/>
          </a:xfrm>
          <a:prstGeom prst="rect">
            <a:avLst/>
          </a:prstGeom>
        </p:spPr>
      </p:pic>
      <p:sp>
        <p:nvSpPr>
          <p:cNvPr id="12" name="Rectangle 11"/>
          <p:cNvSpPr/>
          <p:nvPr/>
        </p:nvSpPr>
        <p:spPr>
          <a:xfrm>
            <a:off x="1492348" y="4912744"/>
            <a:ext cx="9575702" cy="1754326"/>
          </a:xfrm>
          <a:prstGeom prst="rect">
            <a:avLst/>
          </a:prstGeom>
        </p:spPr>
        <p:txBody>
          <a:bodyPr wrap="square">
            <a:spAutoFit/>
          </a:bodyPr>
          <a:lstStyle/>
          <a:p>
            <a:pPr marL="285750" indent="-285750">
              <a:buFont typeface="Arial" panose="020B0604020202020204" pitchFamily="34" charset="0"/>
              <a:buChar char="•"/>
            </a:pPr>
            <a:r>
              <a:rPr lang="en-US" dirty="0"/>
              <a:t>Equivalent output capacitance matches datasheet-based output </a:t>
            </a:r>
            <a:r>
              <a:rPr lang="en-US" dirty="0" smtClean="0"/>
              <a:t>energy</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smtClean="0"/>
              <a:t>Switching-loss </a:t>
            </a:r>
            <a:r>
              <a:rPr lang="en-US" dirty="0"/>
              <a:t>parameters show good agreement with </a:t>
            </a:r>
            <a:r>
              <a:rPr lang="en-US" dirty="0" smtClean="0"/>
              <a:t>the analytical model (</a:t>
            </a:r>
            <a:r>
              <a:rPr lang="en-US" dirty="0"/>
              <a:t>8%–20% deviation</a:t>
            </a:r>
            <a:r>
              <a:rPr lang="en-US" dirty="0" smtClean="0"/>
              <a:t>)</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smtClean="0"/>
              <a:t>Total </a:t>
            </a:r>
            <a:r>
              <a:rPr lang="en-US" dirty="0"/>
              <a:t>loss estimation agrees with </a:t>
            </a:r>
            <a:r>
              <a:rPr lang="en-US" dirty="0" smtClean="0"/>
              <a:t>experiments (</a:t>
            </a:r>
            <a:r>
              <a:rPr lang="en-US" dirty="0"/>
              <a:t>error &lt; 10%)</a:t>
            </a:r>
            <a:endParaRPr lang="sv-SE" dirty="0"/>
          </a:p>
        </p:txBody>
      </p:sp>
    </p:spTree>
    <p:extLst>
      <p:ext uri="{BB962C8B-B14F-4D97-AF65-F5344CB8AC3E}">
        <p14:creationId xmlns:p14="http://schemas.microsoft.com/office/powerpoint/2010/main" val="24413673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Conclusion</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20</a:t>
            </a:fld>
            <a:endParaRPr lang="sv-SE"/>
          </a:p>
        </p:txBody>
      </p:sp>
      <p:sp>
        <p:nvSpPr>
          <p:cNvPr id="3" name="Rectangle 2"/>
          <p:cNvSpPr/>
          <p:nvPr/>
        </p:nvSpPr>
        <p:spPr>
          <a:xfrm>
            <a:off x="619125" y="1017776"/>
            <a:ext cx="10363200" cy="5078313"/>
          </a:xfrm>
          <a:prstGeom prst="rect">
            <a:avLst/>
          </a:prstGeom>
        </p:spPr>
        <p:txBody>
          <a:bodyPr wrap="square">
            <a:spAutoFit/>
          </a:bodyPr>
          <a:lstStyle/>
          <a:p>
            <a:pPr marL="285750" indent="-285750" algn="just">
              <a:buFont typeface="Arial" panose="020B0604020202020204" pitchFamily="34" charset="0"/>
              <a:buChar char="•"/>
            </a:pPr>
            <a:r>
              <a:rPr lang="en-US" b="1" dirty="0">
                <a:solidFill>
                  <a:schemeClr val="accent6">
                    <a:lumMod val="75000"/>
                  </a:schemeClr>
                </a:solidFill>
              </a:rPr>
              <a:t>1200 V is not merely a voltage increase</a:t>
            </a:r>
            <a:r>
              <a:rPr lang="en-US" dirty="0"/>
              <a:t>; it fundamentally reshapes the </a:t>
            </a:r>
            <a:r>
              <a:rPr lang="en-US" b="1" dirty="0">
                <a:solidFill>
                  <a:schemeClr val="accent6">
                    <a:lumMod val="75000"/>
                  </a:schemeClr>
                </a:solidFill>
              </a:rPr>
              <a:t>entire </a:t>
            </a:r>
            <a:r>
              <a:rPr lang="en-US" b="1" dirty="0" smtClean="0">
                <a:solidFill>
                  <a:schemeClr val="accent6">
                    <a:lumMod val="75000"/>
                  </a:schemeClr>
                </a:solidFill>
              </a:rPr>
              <a:t>powertrain </a:t>
            </a:r>
            <a:r>
              <a:rPr lang="en-US" b="1" dirty="0">
                <a:solidFill>
                  <a:schemeClr val="accent6">
                    <a:lumMod val="75000"/>
                  </a:schemeClr>
                </a:solidFill>
              </a:rPr>
              <a:t>architecture</a:t>
            </a:r>
            <a:r>
              <a:rPr lang="en-US" dirty="0"/>
              <a:t>, rather than optimizing individual </a:t>
            </a:r>
            <a:r>
              <a:rPr lang="en-US" dirty="0" smtClean="0"/>
              <a:t>subsystems.</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chemeClr val="accent6">
                    <a:lumMod val="75000"/>
                  </a:schemeClr>
                </a:solidFill>
              </a:rPr>
              <a:t>At the charging level</a:t>
            </a:r>
            <a:r>
              <a:rPr lang="en-US" dirty="0">
                <a:solidFill>
                  <a:schemeClr val="accent6">
                    <a:lumMod val="75000"/>
                  </a:schemeClr>
                </a:solidFill>
              </a:rPr>
              <a:t>, </a:t>
            </a:r>
            <a:r>
              <a:rPr lang="en-US" dirty="0"/>
              <a:t>higher DC-link voltage enables </a:t>
            </a:r>
            <a:r>
              <a:rPr lang="en-US" b="1" dirty="0">
                <a:solidFill>
                  <a:schemeClr val="accent6">
                    <a:lumMod val="75000"/>
                  </a:schemeClr>
                </a:solidFill>
              </a:rPr>
              <a:t>megawatt-class fast charging </a:t>
            </a:r>
            <a:r>
              <a:rPr lang="en-US" dirty="0"/>
              <a:t>with substantially reduced current, lower cable losses, and significant reductions in cable mass, making compliance with MCS and long-haul operational constraints feasible</a:t>
            </a:r>
            <a:r>
              <a:rPr lang="en-US" dirty="0" smtClean="0"/>
              <a:t>.</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chemeClr val="accent6">
                    <a:lumMod val="75000"/>
                  </a:schemeClr>
                </a:solidFill>
              </a:rPr>
              <a:t>At the inverter level</a:t>
            </a:r>
            <a:r>
              <a:rPr lang="en-US" dirty="0">
                <a:solidFill>
                  <a:schemeClr val="accent6">
                    <a:lumMod val="75000"/>
                  </a:schemeClr>
                </a:solidFill>
              </a:rPr>
              <a:t>, </a:t>
            </a:r>
            <a:r>
              <a:rPr lang="en-US" dirty="0"/>
              <a:t>higher voltage operation reduces current stress and DC-link capacitor requirements. </a:t>
            </a:r>
            <a:r>
              <a:rPr lang="en-US" dirty="0" smtClean="0"/>
              <a:t> When </a:t>
            </a:r>
            <a:r>
              <a:rPr lang="en-US" dirty="0"/>
              <a:t>semiconductor die area and switching frequency are properly optimized, </a:t>
            </a:r>
            <a:r>
              <a:rPr lang="en-US" b="1" dirty="0">
                <a:solidFill>
                  <a:schemeClr val="accent6">
                    <a:lumMod val="75000"/>
                  </a:schemeClr>
                </a:solidFill>
              </a:rPr>
              <a:t>comparable efficiencies to 800 V systems are achieved</a:t>
            </a:r>
            <a:r>
              <a:rPr lang="en-US" dirty="0"/>
              <a:t>, while enabling </a:t>
            </a:r>
            <a:r>
              <a:rPr lang="en-US" b="1" dirty="0">
                <a:solidFill>
                  <a:schemeClr val="accent6">
                    <a:lumMod val="75000"/>
                  </a:schemeClr>
                </a:solidFill>
              </a:rPr>
              <a:t>higher power density</a:t>
            </a:r>
            <a:r>
              <a:rPr lang="en-US" dirty="0" smtClean="0">
                <a:solidFill>
                  <a:schemeClr val="accent6">
                    <a:lumMod val="75000"/>
                  </a:schemeClr>
                </a:solidFill>
              </a:rPr>
              <a:t>.</a:t>
            </a:r>
          </a:p>
          <a:p>
            <a:pPr algn="just"/>
            <a:endParaRPr lang="en-US" dirty="0"/>
          </a:p>
          <a:p>
            <a:pPr marL="285750" indent="-285750" algn="just">
              <a:buFont typeface="Arial" panose="020B0604020202020204" pitchFamily="34" charset="0"/>
              <a:buChar char="•"/>
            </a:pPr>
            <a:r>
              <a:rPr lang="en-US" b="1" dirty="0">
                <a:solidFill>
                  <a:schemeClr val="accent6">
                    <a:lumMod val="75000"/>
                  </a:schemeClr>
                </a:solidFill>
              </a:rPr>
              <a:t>At the system level</a:t>
            </a:r>
            <a:r>
              <a:rPr lang="en-US" dirty="0"/>
              <a:t>, a holistic </a:t>
            </a:r>
            <a:r>
              <a:rPr lang="en-US" dirty="0" smtClean="0"/>
              <a:t>optimization, jointly </a:t>
            </a:r>
            <a:r>
              <a:rPr lang="en-US" dirty="0"/>
              <a:t>considering inverter losses, motor harmonic losses, and switching </a:t>
            </a:r>
            <a:r>
              <a:rPr lang="en-US" dirty="0" smtClean="0"/>
              <a:t>frequency, reveals </a:t>
            </a:r>
            <a:r>
              <a:rPr lang="en-US" dirty="0"/>
              <a:t>optimal operating regions that cannot be identified using inverter-only or motor-only design approaches</a:t>
            </a:r>
            <a:r>
              <a:rPr lang="en-US" dirty="0" smtClean="0"/>
              <a:t>.</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chemeClr val="accent6">
                    <a:lumMod val="75000"/>
                  </a:schemeClr>
                </a:solidFill>
              </a:rPr>
              <a:t>This work provides experimentally validated design guidance</a:t>
            </a:r>
            <a:r>
              <a:rPr lang="en-US" dirty="0">
                <a:solidFill>
                  <a:schemeClr val="accent6">
                    <a:lumMod val="75000"/>
                  </a:schemeClr>
                </a:solidFill>
              </a:rPr>
              <a:t> </a:t>
            </a:r>
            <a:r>
              <a:rPr lang="en-US" dirty="0"/>
              <a:t>for next-generation heavy-duty electric vehicles, bridging analytical modeling and high-power laboratory validation, and establishing a practical framework for future high-voltage </a:t>
            </a:r>
            <a:r>
              <a:rPr lang="en-US" dirty="0" smtClean="0"/>
              <a:t>powertrain </a:t>
            </a:r>
            <a:r>
              <a:rPr lang="en-US" dirty="0"/>
              <a:t>development.</a:t>
            </a:r>
          </a:p>
        </p:txBody>
      </p:sp>
    </p:spTree>
    <p:extLst>
      <p:ext uri="{BB962C8B-B14F-4D97-AF65-F5344CB8AC3E}">
        <p14:creationId xmlns:p14="http://schemas.microsoft.com/office/powerpoint/2010/main" val="20814733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smtClean="0"/>
              <a:t>Limitations </a:t>
            </a:r>
            <a:r>
              <a:rPr lang="sv-SE" dirty="0" smtClean="0"/>
              <a:t>&amp; </a:t>
            </a:r>
            <a:r>
              <a:rPr lang="sv-SE" dirty="0" err="1" smtClean="0"/>
              <a:t>Future</a:t>
            </a:r>
            <a:r>
              <a:rPr lang="sv-SE" dirty="0" smtClean="0"/>
              <a:t> </a:t>
            </a:r>
            <a:r>
              <a:rPr lang="sv-SE" dirty="0" err="1" smtClean="0"/>
              <a:t>Work</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21</a:t>
            </a:fld>
            <a:endParaRPr lang="sv-SE"/>
          </a:p>
        </p:txBody>
      </p:sp>
      <p:sp>
        <p:nvSpPr>
          <p:cNvPr id="3" name="Rectangle 2"/>
          <p:cNvSpPr/>
          <p:nvPr/>
        </p:nvSpPr>
        <p:spPr>
          <a:xfrm>
            <a:off x="717550" y="1540718"/>
            <a:ext cx="4587875" cy="3139321"/>
          </a:xfrm>
          <a:prstGeom prst="rect">
            <a:avLst/>
          </a:prstGeom>
        </p:spPr>
        <p:txBody>
          <a:bodyPr wrap="square">
            <a:spAutoFit/>
          </a:bodyPr>
          <a:lstStyle/>
          <a:p>
            <a:r>
              <a:rPr lang="en-US" b="1" dirty="0" smtClean="0">
                <a:solidFill>
                  <a:schemeClr val="accent6">
                    <a:lumMod val="75000"/>
                  </a:schemeClr>
                </a:solidFill>
              </a:rPr>
              <a:t>Limitations</a:t>
            </a:r>
          </a:p>
          <a:p>
            <a:endParaRPr lang="en-US" b="1" dirty="0" smtClean="0">
              <a:solidFill>
                <a:schemeClr val="accent6">
                  <a:lumMod val="75000"/>
                </a:schemeClr>
              </a:solidFill>
            </a:endParaRPr>
          </a:p>
          <a:p>
            <a:pPr marL="285750" indent="-285750">
              <a:buFont typeface="Arial" panose="020B0604020202020204" pitchFamily="34" charset="0"/>
              <a:buChar char="•"/>
            </a:pPr>
            <a:r>
              <a:rPr lang="en-US" dirty="0" smtClean="0"/>
              <a:t>Single </a:t>
            </a:r>
            <a:r>
              <a:rPr lang="en-US" dirty="0"/>
              <a:t>topology (2-level</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smtClean="0"/>
              <a:t>Only rated </a:t>
            </a:r>
            <a:r>
              <a:rPr lang="en-US" dirty="0"/>
              <a:t>operating </a:t>
            </a:r>
            <a:r>
              <a:rPr lang="en-US" dirty="0" smtClean="0"/>
              <a:t>point , </a:t>
            </a:r>
            <a:r>
              <a:rPr lang="en-US" dirty="0"/>
              <a:t>n</a:t>
            </a:r>
            <a:r>
              <a:rPr lang="en-US" dirty="0" smtClean="0"/>
              <a:t>o </a:t>
            </a:r>
            <a:r>
              <a:rPr lang="en-US" dirty="0"/>
              <a:t>drive-cycle </a:t>
            </a:r>
            <a:r>
              <a:rPr lang="en-US" dirty="0" smtClean="0"/>
              <a:t>weighting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No </a:t>
            </a:r>
            <a:r>
              <a:rPr lang="en-US" dirty="0" smtClean="0"/>
              <a:t>lifetime/aging modeling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Limited </a:t>
            </a:r>
            <a:r>
              <a:rPr lang="en-US" dirty="0" smtClean="0"/>
              <a:t>CMV/motor harmonic loss </a:t>
            </a:r>
            <a:r>
              <a:rPr lang="en-US" dirty="0"/>
              <a:t>experimental validation</a:t>
            </a:r>
          </a:p>
        </p:txBody>
      </p:sp>
      <p:sp>
        <p:nvSpPr>
          <p:cNvPr id="5" name="Rectangle 4"/>
          <p:cNvSpPr/>
          <p:nvPr/>
        </p:nvSpPr>
        <p:spPr>
          <a:xfrm>
            <a:off x="6535152" y="1540718"/>
            <a:ext cx="4951997" cy="3139321"/>
          </a:xfrm>
          <a:prstGeom prst="rect">
            <a:avLst/>
          </a:prstGeom>
        </p:spPr>
        <p:txBody>
          <a:bodyPr wrap="square">
            <a:spAutoFit/>
          </a:bodyPr>
          <a:lstStyle/>
          <a:p>
            <a:r>
              <a:rPr lang="en-US" b="1" dirty="0" smtClean="0">
                <a:solidFill>
                  <a:schemeClr val="accent6">
                    <a:lumMod val="75000"/>
                  </a:schemeClr>
                </a:solidFill>
              </a:rPr>
              <a:t>Future work can be</a:t>
            </a:r>
          </a:p>
          <a:p>
            <a:endParaRPr lang="en-US" b="1" dirty="0">
              <a:solidFill>
                <a:schemeClr val="accent6">
                  <a:lumMod val="75000"/>
                </a:schemeClr>
              </a:solidFill>
            </a:endParaRPr>
          </a:p>
          <a:p>
            <a:pPr marL="285750" indent="-285750">
              <a:buFont typeface="Arial" panose="020B0604020202020204" pitchFamily="34" charset="0"/>
              <a:buChar char="•"/>
            </a:pPr>
            <a:r>
              <a:rPr lang="en-US" dirty="0"/>
              <a:t>3-level topologies (NPC / T-type</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Drive-cycle-based </a:t>
            </a:r>
            <a:r>
              <a:rPr lang="en-US" dirty="0" smtClean="0"/>
              <a:t>optimization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Reliability &amp; lifetime (</a:t>
            </a:r>
            <a:r>
              <a:rPr lang="en-US" dirty="0" err="1"/>
              <a:t>SiC</a:t>
            </a:r>
            <a:r>
              <a:rPr lang="en-US" dirty="0"/>
              <a:t> + capacitors</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CO₂ &amp; life-cycle cost </a:t>
            </a:r>
            <a:r>
              <a:rPr lang="en-US" dirty="0" smtClean="0"/>
              <a:t>optimization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EMI / CMV experimental campaigns</a:t>
            </a:r>
          </a:p>
        </p:txBody>
      </p:sp>
    </p:spTree>
    <p:extLst>
      <p:ext uri="{BB962C8B-B14F-4D97-AF65-F5344CB8AC3E}">
        <p14:creationId xmlns:p14="http://schemas.microsoft.com/office/powerpoint/2010/main" val="6443776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312543"/>
            <a:ext cx="8798701" cy="1913508"/>
          </a:xfrm>
        </p:spPr>
        <p:txBody>
          <a:bodyPr/>
          <a:lstStyle/>
          <a:p>
            <a:r>
              <a:rPr lang="en-US" dirty="0" smtClean="0"/>
              <a:t>Thank you !!! </a:t>
            </a:r>
            <a:endParaRPr lang="sv-SE" dirty="0"/>
          </a:p>
        </p:txBody>
      </p:sp>
      <p:sp>
        <p:nvSpPr>
          <p:cNvPr id="2" name="Rectangle 1"/>
          <p:cNvSpPr/>
          <p:nvPr/>
        </p:nvSpPr>
        <p:spPr>
          <a:xfrm>
            <a:off x="1150491" y="5082003"/>
            <a:ext cx="9889423" cy="1200329"/>
          </a:xfrm>
          <a:prstGeom prst="rect">
            <a:avLst/>
          </a:prstGeom>
        </p:spPr>
        <p:txBody>
          <a:bodyPr wrap="square">
            <a:spAutoFit/>
          </a:bodyPr>
          <a:lstStyle/>
          <a:p>
            <a:pPr algn="just"/>
            <a:r>
              <a:rPr lang="en-US" dirty="0">
                <a:solidFill>
                  <a:schemeClr val="bg1"/>
                </a:solidFill>
                <a:latin typeface="NimbusRomNo9L-Regu"/>
              </a:rPr>
              <a:t>Research leading to these results has received funding from the EU </a:t>
            </a:r>
            <a:r>
              <a:rPr lang="en-US" dirty="0" err="1" smtClean="0">
                <a:solidFill>
                  <a:schemeClr val="bg1"/>
                </a:solidFill>
                <a:latin typeface="NimbusRomNo9L-Regu"/>
              </a:rPr>
              <a:t>CHIPSJoint</a:t>
            </a:r>
            <a:r>
              <a:rPr lang="en-US" dirty="0" smtClean="0">
                <a:solidFill>
                  <a:schemeClr val="bg1"/>
                </a:solidFill>
                <a:latin typeface="NimbusRomNo9L-Regu"/>
              </a:rPr>
              <a:t> Undertaking </a:t>
            </a:r>
            <a:r>
              <a:rPr lang="en-US" dirty="0">
                <a:solidFill>
                  <a:schemeClr val="bg1"/>
                </a:solidFill>
                <a:latin typeface="NimbusRomNo9L-Regu"/>
              </a:rPr>
              <a:t>under grant agreement </a:t>
            </a:r>
            <a:r>
              <a:rPr lang="en-US" dirty="0">
                <a:solidFill>
                  <a:schemeClr val="bg1"/>
                </a:solidFill>
                <a:latin typeface="CMMI8"/>
              </a:rPr>
              <a:t>n</a:t>
            </a:r>
            <a:r>
              <a:rPr lang="en-US" sz="800" dirty="0">
                <a:solidFill>
                  <a:schemeClr val="bg1"/>
                </a:solidFill>
                <a:latin typeface="CMMI6"/>
              </a:rPr>
              <a:t>o </a:t>
            </a:r>
            <a:r>
              <a:rPr lang="en-US" dirty="0">
                <a:solidFill>
                  <a:schemeClr val="bg1"/>
                </a:solidFill>
                <a:latin typeface="NimbusRomNo9L-Regu"/>
              </a:rPr>
              <a:t>101007326 (project </a:t>
            </a:r>
            <a:r>
              <a:rPr lang="en-US" dirty="0" err="1" smtClean="0">
                <a:solidFill>
                  <a:schemeClr val="bg1"/>
                </a:solidFill>
                <a:latin typeface="NimbusRomNo9L-Regu"/>
              </a:rPr>
              <a:t>PowerizeD</a:t>
            </a:r>
            <a:r>
              <a:rPr lang="en-US" dirty="0" smtClean="0">
                <a:solidFill>
                  <a:schemeClr val="bg1"/>
                </a:solidFill>
                <a:latin typeface="NimbusRomNo9L-Regu"/>
              </a:rPr>
              <a:t>) and </a:t>
            </a:r>
            <a:r>
              <a:rPr lang="en-US" dirty="0">
                <a:solidFill>
                  <a:schemeClr val="bg1"/>
                </a:solidFill>
                <a:latin typeface="NimbusRomNo9L-Regu"/>
              </a:rPr>
              <a:t>from the (Swedish) partner national funding authority </a:t>
            </a:r>
            <a:r>
              <a:rPr lang="en-US" dirty="0" err="1">
                <a:solidFill>
                  <a:schemeClr val="bg1"/>
                </a:solidFill>
                <a:latin typeface="NimbusRomNo9L-Regu"/>
              </a:rPr>
              <a:t>Vinnova</a:t>
            </a:r>
            <a:r>
              <a:rPr lang="en-US" dirty="0">
                <a:solidFill>
                  <a:schemeClr val="bg1"/>
                </a:solidFill>
                <a:latin typeface="NimbusRomNo9L-Regu"/>
              </a:rPr>
              <a:t>. </a:t>
            </a:r>
            <a:r>
              <a:rPr lang="en-US" dirty="0" smtClean="0">
                <a:solidFill>
                  <a:schemeClr val="bg1"/>
                </a:solidFill>
                <a:latin typeface="NimbusRomNo9L-Regu"/>
              </a:rPr>
              <a:t>Funding for </a:t>
            </a:r>
            <a:r>
              <a:rPr lang="en-US" dirty="0">
                <a:solidFill>
                  <a:schemeClr val="bg1"/>
                </a:solidFill>
                <a:latin typeface="NimbusRomNo9L-Regu"/>
              </a:rPr>
              <a:t>this research has also been received from the Swedish Energy </a:t>
            </a:r>
            <a:r>
              <a:rPr lang="en-US" dirty="0" smtClean="0">
                <a:solidFill>
                  <a:schemeClr val="bg1"/>
                </a:solidFill>
                <a:latin typeface="NimbusRomNo9L-Regu"/>
              </a:rPr>
              <a:t>Agency </a:t>
            </a:r>
            <a:r>
              <a:rPr lang="sv-SE" dirty="0" err="1" smtClean="0">
                <a:solidFill>
                  <a:schemeClr val="bg1"/>
                </a:solidFill>
                <a:latin typeface="NimbusRomNo9L-Regu"/>
              </a:rPr>
              <a:t>through</a:t>
            </a:r>
            <a:r>
              <a:rPr lang="sv-SE" dirty="0" smtClean="0">
                <a:solidFill>
                  <a:schemeClr val="bg1"/>
                </a:solidFill>
                <a:latin typeface="NimbusRomNo9L-Regu"/>
              </a:rPr>
              <a:t> </a:t>
            </a:r>
            <a:r>
              <a:rPr lang="sv-SE" dirty="0">
                <a:solidFill>
                  <a:schemeClr val="bg1"/>
                </a:solidFill>
                <a:latin typeface="NimbusRomNo9L-Regu"/>
              </a:rPr>
              <a:t>the HEMIZERO </a:t>
            </a:r>
            <a:r>
              <a:rPr lang="sv-SE" dirty="0" err="1">
                <a:solidFill>
                  <a:schemeClr val="bg1"/>
                </a:solidFill>
                <a:latin typeface="NimbusRomNo9L-Regu"/>
              </a:rPr>
              <a:t>project</a:t>
            </a:r>
            <a:r>
              <a:rPr lang="sv-SE" dirty="0">
                <a:solidFill>
                  <a:schemeClr val="bg1"/>
                </a:solidFill>
                <a:latin typeface="NimbusRomNo9L-Regu"/>
              </a:rPr>
              <a:t>.</a:t>
            </a:r>
            <a:endParaRPr lang="sv-SE" dirty="0">
              <a:solidFill>
                <a:schemeClr val="bg1"/>
              </a:solidFill>
            </a:endParaRPr>
          </a:p>
        </p:txBody>
      </p:sp>
      <p:sp>
        <p:nvSpPr>
          <p:cNvPr id="3" name="Slide Number Placeholder 2"/>
          <p:cNvSpPr>
            <a:spLocks noGrp="1"/>
          </p:cNvSpPr>
          <p:nvPr>
            <p:ph type="sldNum" sz="quarter" idx="12"/>
          </p:nvPr>
        </p:nvSpPr>
        <p:spPr/>
        <p:txBody>
          <a:bodyPr/>
          <a:lstStyle/>
          <a:p>
            <a:fld id="{B716C8F4-20CD-364A-8A8E-DE130115B178}" type="slidenum">
              <a:rPr lang="sv-SE" smtClean="0"/>
              <a:pPr/>
              <a:t>22</a:t>
            </a:fld>
            <a:endParaRPr lang="sv-SE"/>
          </a:p>
        </p:txBody>
      </p:sp>
    </p:spTree>
    <p:extLst>
      <p:ext uri="{BB962C8B-B14F-4D97-AF65-F5344CB8AC3E}">
        <p14:creationId xmlns:p14="http://schemas.microsoft.com/office/powerpoint/2010/main" val="93382768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95072EE-DD45-42AC-A6E6-0EB4211C5CBA}" vid="{6CE82EEB-BD08-490A-AACD-D5E6FAB6BFD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figtree 240110</Template>
  <TotalTime>7268</TotalTime>
  <Words>1199</Words>
  <Application>Microsoft Office PowerPoint</Application>
  <PresentationFormat>Widescreen</PresentationFormat>
  <Paragraphs>195</Paragraphs>
  <Slides>22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CMMI7</vt:lpstr>
      <vt:lpstr>Arial</vt:lpstr>
      <vt:lpstr>CMMI6</vt:lpstr>
      <vt:lpstr>CMMI10</vt:lpstr>
      <vt:lpstr>CMR7</vt:lpstr>
      <vt:lpstr>Calibri</vt:lpstr>
      <vt:lpstr>NimbusRomNo9L-Regu</vt:lpstr>
      <vt:lpstr>Figtree</vt:lpstr>
      <vt:lpstr>CMMI8</vt:lpstr>
      <vt:lpstr>Office-tema</vt:lpstr>
      <vt:lpstr>1.2 kV Heavy-Duty Electric Vehicle Powertrains: System-Level Analysis and Holistic Efficiency Optimization</vt:lpstr>
      <vt:lpstr>Introduction</vt:lpstr>
      <vt:lpstr>Research Motivation &amp; Problem Statement</vt:lpstr>
      <vt:lpstr>System Overview &amp; Methodology</vt:lpstr>
      <vt:lpstr>Battery &amp; Fast-Charging Analysis</vt:lpstr>
      <vt:lpstr>Battery &amp; Fast-Charging Analysis</vt:lpstr>
      <vt:lpstr>Traction Inverter Benchmark</vt:lpstr>
      <vt:lpstr>Traction Inverter Loss Calculation</vt:lpstr>
      <vt:lpstr>Traction Inverter Loss Calculation</vt:lpstr>
      <vt:lpstr>Cooling System &amp; DC-Link Capacitance</vt:lpstr>
      <vt:lpstr>Loss Analyses: Switching Frequency &amp; Die Area</vt:lpstr>
      <vt:lpstr>PowerPoint Presentation</vt:lpstr>
      <vt:lpstr>Traction Inverter: Loss &amp; Power Density Trade-Offs </vt:lpstr>
      <vt:lpstr>Traction Motor Loss Analyses</vt:lpstr>
      <vt:lpstr>Common-Mode Voltage &amp; Bearing Stress </vt:lpstr>
      <vt:lpstr>Holistic Optimization: Switching Frequency</vt:lpstr>
      <vt:lpstr>Experimental Validation: B2B Setup </vt:lpstr>
      <vt:lpstr>Experimental Validation : Loss Seperation </vt:lpstr>
      <vt:lpstr>Experimental Validation: Effiency and Paremeters</vt:lpstr>
      <vt:lpstr>Conclusion</vt:lpstr>
      <vt:lpstr>Limitations &amp; Future Work</vt:lpstr>
      <vt:lpstr>Thank you !!!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Enes Ayaz</dc:creator>
  <cp:lastModifiedBy>Enes Ayaz</cp:lastModifiedBy>
  <cp:revision>178</cp:revision>
  <dcterms:created xsi:type="dcterms:W3CDTF">2024-11-29T08:44:28Z</dcterms:created>
  <dcterms:modified xsi:type="dcterms:W3CDTF">2025-12-17T11:45:32Z</dcterms:modified>
</cp:coreProperties>
</file>