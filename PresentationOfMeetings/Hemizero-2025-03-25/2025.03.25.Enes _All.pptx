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3"/>
  </p:notesMasterIdLst>
  <p:sldIdLst>
    <p:sldId id="256" r:id="rId2"/>
    <p:sldId id="289" r:id="rId3"/>
    <p:sldId id="281" r:id="rId4"/>
    <p:sldId id="284" r:id="rId5"/>
    <p:sldId id="285" r:id="rId6"/>
    <p:sldId id="277" r:id="rId7"/>
    <p:sldId id="279" r:id="rId8"/>
    <p:sldId id="280" r:id="rId9"/>
    <p:sldId id="278" r:id="rId10"/>
    <p:sldId id="276" r:id="rId11"/>
    <p:sldId id="294" r:id="rId12"/>
    <p:sldId id="295" r:id="rId13"/>
    <p:sldId id="290" r:id="rId14"/>
    <p:sldId id="296" r:id="rId15"/>
    <p:sldId id="300" r:id="rId16"/>
    <p:sldId id="299" r:id="rId17"/>
    <p:sldId id="291" r:id="rId18"/>
    <p:sldId id="293" r:id="rId19"/>
    <p:sldId id="292" r:id="rId20"/>
    <p:sldId id="301" r:id="rId21"/>
    <p:sldId id="302" r:id="rId22"/>
  </p:sldIdLst>
  <p:sldSz cx="12192000" cy="6858000"/>
  <p:notesSz cx="6858000" cy="9144000"/>
  <p:embeddedFontLst>
    <p:embeddedFont>
      <p:font typeface="Figtree" panose="020B0604020202020204" charset="0"/>
      <p:regular r:id="rId24"/>
      <p:bold r:id="rId25"/>
      <p:italic r:id="rId26"/>
      <p:boldItalic r:id="rId27"/>
    </p:embeddedFont>
    <p:embeddedFont>
      <p:font typeface="Calibri" panose="020F0502020204030204" pitchFamily="34" charset="0"/>
      <p:regular r:id="rId28"/>
      <p:bold r:id="rId29"/>
      <p:italic r:id="rId30"/>
      <p:boldItalic r:id="rId31"/>
    </p:embeddedFont>
    <p:embeddedFont>
      <p:font typeface="Cambria Math" panose="02040503050406030204" pitchFamily="18" charset="0"/>
      <p:regular r:id="rId32"/>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42" autoAdjust="0"/>
    <p:restoredTop sz="96327"/>
  </p:normalViewPr>
  <p:slideViewPr>
    <p:cSldViewPr snapToGrid="0">
      <p:cViewPr varScale="1">
        <p:scale>
          <a:sx n="160" d="100"/>
          <a:sy n="160" d="100"/>
        </p:scale>
        <p:origin x="498"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2025-03-25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2025-03-25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2025-03-25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2025-03-25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2025-03-25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2025-03-25</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2025-03-25</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2025-03-25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2025-03-25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2025-03-25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2025-03-25</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2025-03-25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2025-03-25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2025-03-25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2025-03-25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2025-03-25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2025-03-25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2025-03-25</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4.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12.xml"/><Relationship Id="rId4" Type="http://schemas.openxmlformats.org/officeDocument/2006/relationships/image" Target="../media/image37.emf"/></Relationships>
</file>

<file path=ppt/slides/_rels/slide7.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12.xml"/><Relationship Id="rId5" Type="http://schemas.openxmlformats.org/officeDocument/2006/relationships/image" Target="../media/image43.emf"/><Relationship Id="rId4" Type="http://schemas.openxmlformats.org/officeDocument/2006/relationships/image" Target="../media/image42.emf"/></Relationships>
</file>

<file path=ppt/slides/_rels/slide9.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12.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2.xml"/><Relationship Id="rId4" Type="http://schemas.openxmlformats.org/officeDocument/2006/relationships/image" Target="../media/image62.png"/></Relationships>
</file>

<file path=ppt/slides/_rels/slide1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png"/><Relationship Id="rId1" Type="http://schemas.openxmlformats.org/officeDocument/2006/relationships/slideLayout" Target="../slideLayouts/slideLayout1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smtClean="0"/>
              <a:t>PhD Works</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smtClean="0"/>
              <a:t>Enes Ayaz </a:t>
            </a:r>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Outline</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Content Placeholder 1"/>
              <p:cNvSpPr>
                <a:spLocks noGrp="1"/>
              </p:cNvSpPr>
              <p:nvPr>
                <p:ph idx="1"/>
              </p:nvPr>
            </p:nvSpPr>
            <p:spPr>
              <a:xfrm>
                <a:off x="594098" y="1842462"/>
                <a:ext cx="10990263" cy="4453808"/>
              </a:xfrm>
            </p:spPr>
            <p:txBody>
              <a:bodyPr/>
              <a:lstStyle/>
              <a:p>
                <a:pPr>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The Effects of the </a:t>
                </a:r>
                <a:r>
                  <a:rPr lang="en-US" sz="2400" dirty="0" err="1" smtClean="0">
                    <a:latin typeface="Times New Roman" panose="02020603050405020304" pitchFamily="18" charset="0"/>
                    <a:cs typeface="Times New Roman" panose="02020603050405020304" pitchFamily="18" charset="0"/>
                  </a:rPr>
                  <a:t>Busbar</a:t>
                </a:r>
                <a:r>
                  <a:rPr lang="en-US" sz="2400" dirty="0" smtClean="0">
                    <a:latin typeface="Times New Roman" panose="02020603050405020304" pitchFamily="18" charset="0"/>
                    <a:cs typeface="Times New Roman" panose="02020603050405020304" pitchFamily="18" charset="0"/>
                  </a:rPr>
                  <a:t> and Battery Parasitic Inductances</a:t>
                </a:r>
              </a:p>
              <a:p>
                <a:pPr>
                  <a:buFont typeface="Wingdings" panose="05000000000000000000" pitchFamily="2" charset="2"/>
                  <a:buChar char="q"/>
                </a:pP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Conventional Back-to-Back Inverter Setup </a:t>
                </a:r>
              </a:p>
              <a:p>
                <a:pPr>
                  <a:buFont typeface="Wingdings" panose="05000000000000000000" pitchFamily="2" charset="2"/>
                  <a:buChar char="q"/>
                </a:pPr>
                <a:endParaRPr lang="en-US" sz="2400" dirty="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Intelligent Gate Driver Measurement Unit: </a:t>
                </a:r>
                <a:r>
                  <a:rPr lang="en-US" sz="2400" dirty="0">
                    <a:solidFill>
                      <a:srgbClr val="C0C0C0"/>
                    </a:solidFill>
                    <a:latin typeface="Times New Roman" panose="02020603050405020304" pitchFamily="18" charset="0"/>
                    <a:cs typeface="Times New Roman" panose="02020603050405020304" pitchFamily="18" charset="0"/>
                  </a:rPr>
                  <a:t>Online </a:t>
                </a:r>
                <a14:m>
                  <m:oMath xmlns:m="http://schemas.openxmlformats.org/officeDocument/2006/math">
                    <m:sSub>
                      <m:sSubPr>
                        <m:ctrlPr>
                          <a:rPr lang="en-US" sz="2400" i="1" dirty="0">
                            <a:solidFill>
                              <a:srgbClr val="C0C0C0"/>
                            </a:solidFill>
                            <a:latin typeface="Cambria Math" panose="02040503050406030204" pitchFamily="18" charset="0"/>
                            <a:cs typeface="Times New Roman" panose="02020603050405020304" pitchFamily="18" charset="0"/>
                          </a:rPr>
                        </m:ctrlPr>
                      </m:sSubPr>
                      <m:e>
                        <m:r>
                          <a:rPr lang="en-US" sz="2400" i="1" dirty="0">
                            <a:solidFill>
                              <a:srgbClr val="C0C0C0"/>
                            </a:solidFill>
                            <a:latin typeface="Cambria Math" panose="02040503050406030204" pitchFamily="18" charset="0"/>
                            <a:cs typeface="Times New Roman" panose="02020603050405020304" pitchFamily="18" charset="0"/>
                          </a:rPr>
                          <m:t>𝑅</m:t>
                        </m:r>
                      </m:e>
                      <m:sub>
                        <m:r>
                          <a:rPr lang="en-US" sz="2400" i="1" dirty="0">
                            <a:solidFill>
                              <a:srgbClr val="C0C0C0"/>
                            </a:solidFill>
                            <a:latin typeface="Cambria Math" panose="02040503050406030204" pitchFamily="18" charset="0"/>
                            <a:cs typeface="Times New Roman" panose="02020603050405020304" pitchFamily="18" charset="0"/>
                          </a:rPr>
                          <m:t>𝑑𝑠</m:t>
                        </m:r>
                      </m:sub>
                    </m:sSub>
                  </m:oMath>
                </a14:m>
                <a:r>
                  <a:rPr lang="en-US" sz="2400" dirty="0">
                    <a:solidFill>
                      <a:srgbClr val="C0C0C0"/>
                    </a:solidFill>
                    <a:latin typeface="Times New Roman" panose="02020603050405020304" pitchFamily="18" charset="0"/>
                    <a:cs typeface="Times New Roman" panose="02020603050405020304" pitchFamily="18" charset="0"/>
                  </a:rPr>
                  <a:t> </a:t>
                </a:r>
                <a:r>
                  <a:rPr lang="en-US" sz="2400" dirty="0" smtClean="0">
                    <a:solidFill>
                      <a:srgbClr val="C0C0C0"/>
                    </a:solidFill>
                    <a:latin typeface="Times New Roman" panose="02020603050405020304" pitchFamily="18" charset="0"/>
                    <a:cs typeface="Times New Roman" panose="02020603050405020304" pitchFamily="18" charset="0"/>
                  </a:rPr>
                  <a:t>Measurement</a:t>
                </a:r>
              </a:p>
              <a:p>
                <a:pPr>
                  <a:buFont typeface="Wingdings" panose="05000000000000000000" pitchFamily="2" charset="2"/>
                  <a:buChar char="q"/>
                </a:pPr>
                <a:endParaRPr lang="en-US" sz="2400" dirty="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ECCE-Europe Paper Digest</a:t>
                </a:r>
              </a:p>
              <a:p>
                <a:pPr>
                  <a:buFont typeface="Wingdings" panose="05000000000000000000" pitchFamily="2" charset="2"/>
                  <a:buChar char="q"/>
                </a:pPr>
                <a:endParaRPr lang="en-US" dirty="0" smtClean="0">
                  <a:latin typeface="Times New Roman" panose="02020603050405020304" pitchFamily="18" charset="0"/>
                  <a:cs typeface="Times New Roman" panose="02020603050405020304" pitchFamily="18" charset="0"/>
                </a:endParaRPr>
              </a:p>
            </p:txBody>
          </p:sp>
        </mc:Choice>
        <mc:Fallback>
          <p:sp>
            <p:nvSpPr>
              <p:cNvPr id="2" name="Content Placeholder 1"/>
              <p:cNvSpPr>
                <a:spLocks noGrp="1" noRot="1" noChangeAspect="1" noMove="1" noResize="1" noEditPoints="1" noAdjustHandles="1" noChangeArrowheads="1" noChangeShapeType="1" noTextEdit="1"/>
              </p:cNvSpPr>
              <p:nvPr>
                <p:ph idx="1"/>
              </p:nvPr>
            </p:nvSpPr>
            <p:spPr>
              <a:xfrm>
                <a:off x="594098" y="1842462"/>
                <a:ext cx="10990263" cy="4453808"/>
              </a:xfrm>
              <a:blipFill>
                <a:blip r:embed="rId2"/>
                <a:stretch>
                  <a:fillRect l="-721" t="-1915"/>
                </a:stretch>
              </a:blipFill>
            </p:spPr>
            <p:txBody>
              <a:bodyPr/>
              <a:lstStyle/>
              <a:p>
                <a:r>
                  <a:rPr lang="sv-SE">
                    <a:noFill/>
                  </a:rPr>
                  <a:t> </a:t>
                </a:r>
              </a:p>
            </p:txBody>
          </p:sp>
        </mc:Fallback>
      </mc:AlternateContent>
    </p:spTree>
    <p:extLst>
      <p:ext uri="{BB962C8B-B14F-4D97-AF65-F5344CB8AC3E}">
        <p14:creationId xmlns:p14="http://schemas.microsoft.com/office/powerpoint/2010/main" val="39655296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Simplified Inverter Model </a:t>
            </a:r>
            <a:endParaRPr lang="sv-SE"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E137606-0038-4161-A922-143AD7681AB4}"/>
              </a:ext>
            </a:extLst>
          </p:cNvPr>
          <p:cNvPicPr>
            <a:picLocks noChangeAspect="1"/>
          </p:cNvPicPr>
          <p:nvPr/>
        </p:nvPicPr>
        <p:blipFill rotWithShape="1">
          <a:blip r:embed="rId2"/>
          <a:srcRect t="9374"/>
          <a:stretch/>
        </p:blipFill>
        <p:spPr>
          <a:xfrm>
            <a:off x="337345" y="1178575"/>
            <a:ext cx="4664961" cy="1982344"/>
          </a:xfrm>
          <a:prstGeom prst="rect">
            <a:avLst/>
          </a:prstGeom>
        </p:spPr>
      </p:pic>
      <p:sp>
        <p:nvSpPr>
          <p:cNvPr id="7" name="TextBox 6"/>
          <p:cNvSpPr txBox="1"/>
          <p:nvPr/>
        </p:nvSpPr>
        <p:spPr>
          <a:xfrm>
            <a:off x="5424855" y="1066602"/>
            <a:ext cx="6022092" cy="369332"/>
          </a:xfrm>
          <a:prstGeom prst="rect">
            <a:avLst/>
          </a:prstGeom>
          <a:noFill/>
        </p:spPr>
        <p:txBody>
          <a:bodyPr wrap="square" rtlCol="0">
            <a:spAutoFit/>
          </a:bodyPr>
          <a:lstStyle/>
          <a:p>
            <a:r>
              <a:rPr lang="sv-SE" dirty="0" err="1" smtClean="0">
                <a:latin typeface="Times New Roman" panose="02020603050405020304" pitchFamily="18" charset="0"/>
                <a:cs typeface="Times New Roman" panose="02020603050405020304" pitchFamily="18" charset="0"/>
              </a:rPr>
              <a:t>We</a:t>
            </a:r>
            <a:r>
              <a:rPr lang="sv-SE" dirty="0" smtClean="0">
                <a:latin typeface="Times New Roman" panose="02020603050405020304" pitchFamily="18" charset="0"/>
                <a:cs typeface="Times New Roman" panose="02020603050405020304" pitchFamily="18" charset="0"/>
              </a:rPr>
              <a:t> do not </a:t>
            </a:r>
            <a:r>
              <a:rPr lang="sv-SE" dirty="0" err="1" smtClean="0">
                <a:latin typeface="Times New Roman" panose="02020603050405020304" pitchFamily="18" charset="0"/>
                <a:cs typeface="Times New Roman" panose="02020603050405020304" pitchFamily="18" charset="0"/>
              </a:rPr>
              <a:t>consider</a:t>
            </a:r>
            <a:r>
              <a:rPr lang="sv-SE" dirty="0" smtClean="0">
                <a:latin typeface="Times New Roman" panose="02020603050405020304" pitchFamily="18" charset="0"/>
                <a:cs typeface="Times New Roman" panose="02020603050405020304" pitchFamily="18" charset="0"/>
              </a:rPr>
              <a:t> output </a:t>
            </a:r>
            <a:r>
              <a:rPr lang="sv-SE" dirty="0" err="1" smtClean="0">
                <a:latin typeface="Times New Roman" panose="02020603050405020304" pitchFamily="18" charset="0"/>
                <a:cs typeface="Times New Roman" panose="02020603050405020304" pitchFamily="18" charset="0"/>
              </a:rPr>
              <a:t>harmonics</a:t>
            </a:r>
            <a:r>
              <a:rPr lang="sv-SE" dirty="0" smtClean="0">
                <a:latin typeface="Times New Roman" panose="02020603050405020304" pitchFamily="18" charset="0"/>
                <a:cs typeface="Times New Roman" panose="02020603050405020304" pitchFamily="18" charset="0"/>
              </a:rPr>
              <a:t> for the </a:t>
            </a:r>
            <a:r>
              <a:rPr lang="sv-SE" dirty="0" err="1" smtClean="0">
                <a:latin typeface="Times New Roman" panose="02020603050405020304" pitchFamily="18" charset="0"/>
                <a:cs typeface="Times New Roman" panose="02020603050405020304" pitchFamily="18" charset="0"/>
              </a:rPr>
              <a:t>phase</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currents</a:t>
            </a:r>
            <a:r>
              <a:rPr lang="sv-SE" dirty="0" smtClean="0">
                <a:latin typeface="Times New Roman" panose="02020603050405020304" pitchFamily="18" charset="0"/>
                <a:cs typeface="Times New Roman" panose="02020603050405020304" pitchFamily="18" charset="0"/>
              </a:rPr>
              <a:t> </a:t>
            </a:r>
            <a:endParaRPr lang="sv-SE"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05359" y="3054376"/>
            <a:ext cx="3704011" cy="369332"/>
          </a:xfrm>
          <a:prstGeom prst="rect">
            <a:avLst/>
          </a:prstGeom>
          <a:noFill/>
        </p:spPr>
        <p:txBody>
          <a:bodyPr wrap="square" rtlCol="0">
            <a:spAutoFit/>
          </a:bodyPr>
          <a:lstStyle/>
          <a:p>
            <a:r>
              <a:rPr lang="sv-SE" dirty="0" err="1" smtClean="0">
                <a:latin typeface="Times New Roman" panose="02020603050405020304" pitchFamily="18" charset="0"/>
                <a:cs typeface="Times New Roman" panose="02020603050405020304" pitchFamily="18" charset="0"/>
              </a:rPr>
              <a:t>Combined</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Inverter</a:t>
            </a:r>
            <a:r>
              <a:rPr lang="sv-SE" dirty="0" smtClean="0">
                <a:latin typeface="Times New Roman" panose="02020603050405020304" pitchFamily="18" charset="0"/>
                <a:cs typeface="Times New Roman" panose="02020603050405020304" pitchFamily="18" charset="0"/>
              </a:rPr>
              <a:t> and </a:t>
            </a:r>
            <a:r>
              <a:rPr lang="sv-SE" dirty="0" err="1" smtClean="0">
                <a:latin typeface="Times New Roman" panose="02020603050405020304" pitchFamily="18" charset="0"/>
                <a:cs typeface="Times New Roman" panose="02020603050405020304" pitchFamily="18" charset="0"/>
              </a:rPr>
              <a:t>battery</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model</a:t>
            </a:r>
            <a:endParaRPr lang="sv-SE"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CE53E73-1058-4484-9F31-376B4590F2A9}"/>
              </a:ext>
            </a:extLst>
          </p:cNvPr>
          <p:cNvPicPr>
            <a:picLocks noChangeAspect="1"/>
          </p:cNvPicPr>
          <p:nvPr/>
        </p:nvPicPr>
        <p:blipFill rotWithShape="1">
          <a:blip r:embed="rId3"/>
          <a:srcRect l="5820" t="9591"/>
          <a:stretch/>
        </p:blipFill>
        <p:spPr>
          <a:xfrm>
            <a:off x="605359" y="3774629"/>
            <a:ext cx="3404853" cy="1506036"/>
          </a:xfrm>
          <a:prstGeom prst="rect">
            <a:avLst/>
          </a:prstGeom>
        </p:spPr>
      </p:pic>
      <p:sp>
        <p:nvSpPr>
          <p:cNvPr id="10" name="TextBox 9"/>
          <p:cNvSpPr txBox="1"/>
          <p:nvPr/>
        </p:nvSpPr>
        <p:spPr>
          <a:xfrm>
            <a:off x="554956" y="5378292"/>
            <a:ext cx="3550880" cy="923330"/>
          </a:xfrm>
          <a:prstGeom prst="rect">
            <a:avLst/>
          </a:prstGeom>
          <a:noFill/>
        </p:spPr>
        <p:txBody>
          <a:bodyPr wrap="square" rtlCol="0">
            <a:spAutoFit/>
          </a:bodyPr>
          <a:lstStyle/>
          <a:p>
            <a:pPr algn="just"/>
            <a:r>
              <a:rPr lang="sv-SE" dirty="0" smtClean="0">
                <a:latin typeface="Times New Roman" panose="02020603050405020304" pitchFamily="18" charset="0"/>
                <a:cs typeface="Times New Roman" panose="02020603050405020304" pitchFamily="18" charset="0"/>
              </a:rPr>
              <a:t>The </a:t>
            </a:r>
            <a:r>
              <a:rPr lang="sv-SE" dirty="0" err="1" smtClean="0">
                <a:latin typeface="Times New Roman" panose="02020603050405020304" pitchFamily="18" charset="0"/>
                <a:cs typeface="Times New Roman" panose="02020603050405020304" pitchFamily="18" charset="0"/>
              </a:rPr>
              <a:t>inverter</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can</a:t>
            </a:r>
            <a:r>
              <a:rPr lang="sv-SE" dirty="0" smtClean="0">
                <a:latin typeface="Times New Roman" panose="02020603050405020304" pitchFamily="18" charset="0"/>
                <a:cs typeface="Times New Roman" panose="02020603050405020304" pitchFamily="18" charset="0"/>
              </a:rPr>
              <a:t> be </a:t>
            </a:r>
            <a:r>
              <a:rPr lang="sv-SE" dirty="0" err="1" smtClean="0">
                <a:latin typeface="Times New Roman" panose="02020603050405020304" pitchFamily="18" charset="0"/>
                <a:cs typeface="Times New Roman" panose="02020603050405020304" pitchFamily="18" charset="0"/>
              </a:rPr>
              <a:t>modeled</a:t>
            </a:r>
            <a:r>
              <a:rPr lang="sv-SE" dirty="0" smtClean="0">
                <a:latin typeface="Times New Roman" panose="02020603050405020304" pitchFamily="18" charset="0"/>
                <a:cs typeface="Times New Roman" panose="02020603050405020304" pitchFamily="18" charset="0"/>
              </a:rPr>
              <a:t> as </a:t>
            </a:r>
            <a:r>
              <a:rPr lang="sv-SE" dirty="0" err="1" smtClean="0">
                <a:latin typeface="Times New Roman" panose="02020603050405020304" pitchFamily="18" charset="0"/>
                <a:cs typeface="Times New Roman" panose="02020603050405020304" pitchFamily="18" charset="0"/>
              </a:rPr>
              <a:t>current</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sources</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of</a:t>
            </a:r>
            <a:r>
              <a:rPr lang="sv-SE" dirty="0" smtClean="0">
                <a:latin typeface="Times New Roman" panose="02020603050405020304" pitchFamily="18" charset="0"/>
                <a:cs typeface="Times New Roman" panose="02020603050405020304" pitchFamily="18" charset="0"/>
              </a:rPr>
              <a:t> </a:t>
            </a:r>
            <a:r>
              <a:rPr lang="tr-TR" dirty="0" smtClean="0">
                <a:latin typeface="Times New Roman" panose="02020603050405020304" pitchFamily="18" charset="0"/>
                <a:cs typeface="Times New Roman" panose="02020603050405020304" pitchFamily="18" charset="0"/>
              </a:rPr>
              <a:t>harmonic</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components</a:t>
            </a:r>
            <a:r>
              <a:rPr lang="sv-SE" dirty="0" smtClean="0">
                <a:latin typeface="Times New Roman" panose="02020603050405020304" pitchFamily="18" charset="0"/>
                <a:cs typeface="Times New Roman" panose="02020603050405020304" pitchFamily="18" charset="0"/>
              </a:rPr>
              <a:t>.</a:t>
            </a:r>
            <a:endParaRPr lang="sv-SE" dirty="0">
              <a:latin typeface="Times New Roman" panose="02020603050405020304" pitchFamily="18" charset="0"/>
              <a:cs typeface="Times New Roman" panose="02020603050405020304" pitchFamily="18" charset="0"/>
            </a:endParaRPr>
          </a:p>
        </p:txBody>
      </p:sp>
      <p:pic>
        <p:nvPicPr>
          <p:cNvPr id="12" name="Content Placeholder 3">
            <a:extLst>
              <a:ext uri="{FF2B5EF4-FFF2-40B4-BE49-F238E27FC236}">
                <a16:creationId xmlns:a16="http://schemas.microsoft.com/office/drawing/2014/main" id="{2152BF20-F541-4796-9466-8B9519526A7D}"/>
              </a:ext>
            </a:extLst>
          </p:cNvPr>
          <p:cNvPicPr>
            <a:picLocks noGrp="1" noChangeAspect="1"/>
          </p:cNvPicPr>
          <p:nvPr>
            <p:ph idx="1"/>
          </p:nvPr>
        </p:nvPicPr>
        <p:blipFill>
          <a:blip r:embed="rId4"/>
          <a:stretch>
            <a:fillRect/>
          </a:stretch>
        </p:blipFill>
        <p:spPr>
          <a:xfrm>
            <a:off x="6539927" y="4277579"/>
            <a:ext cx="3636559" cy="2386230"/>
          </a:xfrm>
          <a:prstGeom prst="rect">
            <a:avLst/>
          </a:prstGeom>
        </p:spPr>
      </p:pic>
      <mc:AlternateContent xmlns:mc="http://schemas.openxmlformats.org/markup-compatibility/2006">
        <mc:Choice xmlns:a14="http://schemas.microsoft.com/office/drawing/2010/main" Requires="a14">
          <p:sp>
            <p:nvSpPr>
              <p:cNvPr id="13" name="TextBox 12"/>
              <p:cNvSpPr txBox="1"/>
              <p:nvPr/>
            </p:nvSpPr>
            <p:spPr>
              <a:xfrm>
                <a:off x="5342264" y="3210031"/>
                <a:ext cx="3322156" cy="369332"/>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sv-SE" b="0" i="1" smtClean="0">
                            <a:latin typeface="Cambria Math" panose="02040503050406030204" pitchFamily="18" charset="0"/>
                          </a:rPr>
                          <m:t>𝑆</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sv-SE" dirty="0" smtClean="0">
                    <a:latin typeface="Times New Roman" panose="02020603050405020304" pitchFamily="18" charset="0"/>
                    <a:cs typeface="Times New Roman" panose="02020603050405020304" pitchFamily="18" charset="0"/>
                    <a:sym typeface="Wingdings" panose="05000000000000000000" pitchFamily="2" charset="2"/>
                  </a:rPr>
                  <a:t></a:t>
                </a:r>
                <a14:m>
                  <m:oMath xmlns:m="http://schemas.openxmlformats.org/officeDocument/2006/math">
                    <m:sSub>
                      <m:sSubPr>
                        <m:ctrlPr>
                          <a:rPr lang="en-US" i="1">
                            <a:latin typeface="Cambria Math" panose="02040503050406030204" pitchFamily="18" charset="0"/>
                          </a:rPr>
                        </m:ctrlPr>
                      </m:sSubPr>
                      <m:e>
                        <m:r>
                          <a:rPr lang="sv-SE" i="1">
                            <a:latin typeface="Cambria Math" panose="02040503050406030204" pitchFamily="18" charset="0"/>
                          </a:rPr>
                          <m:t>𝑆</m:t>
                        </m:r>
                      </m:e>
                      <m:sub>
                        <m:r>
                          <a:rPr lang="en-US" i="1">
                            <a:latin typeface="Cambria Math" panose="02040503050406030204" pitchFamily="18" charset="0"/>
                          </a:rPr>
                          <m:t>𝐴</m:t>
                        </m:r>
                      </m:sub>
                    </m:sSub>
                    <m:r>
                      <a:rPr lang="en-US" i="1">
                        <a:latin typeface="Cambria Math" panose="02040503050406030204" pitchFamily="18" charset="0"/>
                      </a:rPr>
                      <m:t>(</m:t>
                    </m:r>
                    <m:r>
                      <a:rPr lang="en-US" i="1">
                        <a:latin typeface="Cambria Math" panose="02040503050406030204" pitchFamily="18" charset="0"/>
                      </a:rPr>
                      <m:t>𝜔</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𝐼</m:t>
                        </m:r>
                      </m:e>
                      <m:sub>
                        <m:r>
                          <a:rPr lang="en-US" i="1">
                            <a:latin typeface="Cambria Math" panose="02040503050406030204" pitchFamily="18" charset="0"/>
                          </a:rPr>
                          <m:t>𝐴</m:t>
                        </m:r>
                      </m:sub>
                    </m:sSub>
                    <m:r>
                      <a:rPr lang="en-US" i="1">
                        <a:latin typeface="Cambria Math" panose="02040503050406030204" pitchFamily="18" charset="0"/>
                      </a:rPr>
                      <m:t>(</m:t>
                    </m:r>
                    <m:r>
                      <a:rPr lang="en-US" i="1">
                        <a:latin typeface="Cambria Math" panose="02040503050406030204" pitchFamily="18" charset="0"/>
                      </a:rPr>
                      <m:t>𝜔</m:t>
                    </m:r>
                    <m:r>
                      <a:rPr lang="en-US" i="1">
                        <a:latin typeface="Cambria Math" panose="02040503050406030204" pitchFamily="18" charset="0"/>
                      </a:rPr>
                      <m:t>)</m:t>
                    </m:r>
                  </m:oMath>
                </a14:m>
                <a:endParaRPr lang="sv-SE" dirty="0">
                  <a:latin typeface="Times New Roman" panose="02020603050405020304" pitchFamily="18" charset="0"/>
                  <a:cs typeface="Times New Roman" panose="02020603050405020304" pitchFamily="18" charset="0"/>
                </a:endParaRPr>
              </a:p>
            </p:txBody>
          </p:sp>
        </mc:Choice>
        <mc:Fallback>
          <p:sp>
            <p:nvSpPr>
              <p:cNvPr id="13" name="TextBox 12"/>
              <p:cNvSpPr txBox="1">
                <a:spLocks noRot="1" noChangeAspect="1" noMove="1" noResize="1" noEditPoints="1" noAdjustHandles="1" noChangeArrowheads="1" noChangeShapeType="1" noTextEdit="1"/>
              </p:cNvSpPr>
              <p:nvPr/>
            </p:nvSpPr>
            <p:spPr>
              <a:xfrm>
                <a:off x="5342264" y="3210031"/>
                <a:ext cx="3322156" cy="369332"/>
              </a:xfrm>
              <a:prstGeom prst="rect">
                <a:avLst/>
              </a:prstGeom>
              <a:blipFill>
                <a:blip r:embed="rId5"/>
                <a:stretch>
                  <a:fillRect t="-10000" b="-26667"/>
                </a:stretch>
              </a:blipFill>
            </p:spPr>
            <p:txBody>
              <a:bodyPr/>
              <a:lstStyle/>
              <a:p>
                <a:r>
                  <a:rPr lang="sv-SE">
                    <a:noFill/>
                  </a:rPr>
                  <a:t> </a:t>
                </a:r>
              </a:p>
            </p:txBody>
          </p:sp>
        </mc:Fallback>
      </mc:AlternateContent>
      <p:sp>
        <p:nvSpPr>
          <p:cNvPr id="14" name="Rectangle 13"/>
          <p:cNvSpPr/>
          <p:nvPr/>
        </p:nvSpPr>
        <p:spPr>
          <a:xfrm>
            <a:off x="8238678" y="3039941"/>
            <a:ext cx="3401105" cy="830997"/>
          </a:xfrm>
          <a:prstGeom prst="rect">
            <a:avLst/>
          </a:prstGeom>
        </p:spPr>
        <p:txBody>
          <a:bodyPr wrap="square">
            <a:spAutoFit/>
          </a:bodyPr>
          <a:lstStyle/>
          <a:p>
            <a:pPr algn="just"/>
            <a:r>
              <a:rPr lang="sv-SE" sz="1600" dirty="0">
                <a:latin typeface="Times New Roman" panose="02020603050405020304" pitchFamily="18" charset="0"/>
                <a:cs typeface="Times New Roman" panose="02020603050405020304" pitchFamily="18" charset="0"/>
                <a:sym typeface="Wingdings" panose="05000000000000000000" pitchFamily="2" charset="2"/>
              </a:rPr>
              <a:t>Leg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sz="1600" dirty="0">
                <a:latin typeface="Times New Roman" panose="02020603050405020304" pitchFamily="18" charset="0"/>
                <a:cs typeface="Times New Roman" panose="02020603050405020304" pitchFamily="18" charset="0"/>
                <a:sym typeface="Wingdings" panose="05000000000000000000" pitchFamily="2" charset="2"/>
              </a:rPr>
              <a:t> in the  </a:t>
            </a:r>
            <a:r>
              <a:rPr lang="sv-SE" sz="1600" dirty="0" err="1" smtClean="0">
                <a:latin typeface="Times New Roman" panose="02020603050405020304" pitchFamily="18" charset="0"/>
                <a:cs typeface="Times New Roman" panose="02020603050405020304" pitchFamily="18" charset="0"/>
                <a:sym typeface="Wingdings" panose="05000000000000000000" pitchFamily="2" charset="2"/>
              </a:rPr>
              <a:t>frequency</a:t>
            </a:r>
            <a:r>
              <a:rPr lang="sv-SE" sz="1600"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domain</a:t>
            </a:r>
            <a:r>
              <a:rPr lang="sv-SE" sz="1600" dirty="0">
                <a:latin typeface="Times New Roman" panose="02020603050405020304" pitchFamily="18" charset="0"/>
                <a:cs typeface="Times New Roman" panose="02020603050405020304" pitchFamily="18" charset="0"/>
                <a:sym typeface="Wingdings" panose="05000000000000000000" pitchFamily="2" charset="2"/>
              </a:rPr>
              <a:t> is the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convolution</a:t>
            </a:r>
            <a:r>
              <a:rPr lang="sv-SE" sz="1600" dirty="0">
                <a:latin typeface="Times New Roman" panose="02020603050405020304" pitchFamily="18" charset="0"/>
                <a:cs typeface="Times New Roman" panose="02020603050405020304" pitchFamily="18" charset="0"/>
                <a:sym typeface="Wingdings" panose="05000000000000000000" pitchFamily="2" charset="2"/>
              </a:rPr>
              <a:t>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of</a:t>
            </a:r>
            <a:r>
              <a:rPr lang="sv-SE" sz="1600" dirty="0">
                <a:latin typeface="Times New Roman" panose="02020603050405020304" pitchFamily="18" charset="0"/>
                <a:cs typeface="Times New Roman" panose="02020603050405020304" pitchFamily="18" charset="0"/>
                <a:sym typeface="Wingdings" panose="05000000000000000000" pitchFamily="2" charset="2"/>
              </a:rPr>
              <a:t> the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phase</a:t>
            </a:r>
            <a:r>
              <a:rPr lang="sv-SE" sz="1600" dirty="0">
                <a:latin typeface="Times New Roman" panose="02020603050405020304" pitchFamily="18" charset="0"/>
                <a:cs typeface="Times New Roman" panose="02020603050405020304" pitchFamily="18" charset="0"/>
                <a:sym typeface="Wingdings" panose="05000000000000000000" pitchFamily="2" charset="2"/>
              </a:rPr>
              <a:t>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sz="1600" dirty="0">
                <a:latin typeface="Times New Roman" panose="02020603050405020304" pitchFamily="18" charset="0"/>
                <a:cs typeface="Times New Roman" panose="02020603050405020304" pitchFamily="18" charset="0"/>
                <a:sym typeface="Wingdings" panose="05000000000000000000" pitchFamily="2" charset="2"/>
              </a:rPr>
              <a:t> and </a:t>
            </a:r>
            <a:r>
              <a:rPr lang="sv-SE" sz="1600" dirty="0" err="1">
                <a:latin typeface="Times New Roman" panose="02020603050405020304" pitchFamily="18" charset="0"/>
                <a:cs typeface="Times New Roman" panose="02020603050405020304" pitchFamily="18" charset="0"/>
                <a:sym typeface="Wingdings" panose="05000000000000000000" pitchFamily="2" charset="2"/>
              </a:rPr>
              <a:t>switching</a:t>
            </a:r>
            <a:r>
              <a:rPr lang="sv-SE" sz="1600" dirty="0">
                <a:latin typeface="Times New Roman" panose="02020603050405020304" pitchFamily="18" charset="0"/>
                <a:cs typeface="Times New Roman" panose="02020603050405020304" pitchFamily="18" charset="0"/>
                <a:sym typeface="Wingdings" panose="05000000000000000000" pitchFamily="2" charset="2"/>
              </a:rPr>
              <a:t> </a:t>
            </a:r>
            <a:r>
              <a:rPr lang="sv-SE" sz="1600" dirty="0" err="1" smtClean="0">
                <a:latin typeface="Times New Roman" panose="02020603050405020304" pitchFamily="18" charset="0"/>
                <a:cs typeface="Times New Roman" panose="02020603050405020304" pitchFamily="18" charset="0"/>
                <a:sym typeface="Wingdings" panose="05000000000000000000" pitchFamily="2" charset="2"/>
              </a:rPr>
              <a:t>function</a:t>
            </a:r>
            <a:r>
              <a:rPr lang="sv-SE" sz="1600" dirty="0">
                <a:latin typeface="Times New Roman" panose="02020603050405020304" pitchFamily="18" charset="0"/>
                <a:cs typeface="Times New Roman" panose="02020603050405020304" pitchFamily="18" charset="0"/>
                <a:sym typeface="Wingdings" panose="05000000000000000000" pitchFamily="2" charset="2"/>
              </a:rPr>
              <a:t>.</a:t>
            </a:r>
            <a:endParaRPr lang="sv-SE" sz="1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TextBox 5"/>
              <p:cNvSpPr txBox="1"/>
              <p:nvPr/>
            </p:nvSpPr>
            <p:spPr>
              <a:xfrm>
                <a:off x="8335766" y="2167837"/>
                <a:ext cx="25162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𝑖𝑛𝑣</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𝐴</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𝐴</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𝐵</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𝐵</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𝐶</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𝑐</m:t>
                          </m:r>
                        </m:sub>
                      </m:sSub>
                    </m:oMath>
                  </m:oMathPara>
                </a14:m>
                <a:endParaRPr lang="sv-SE" dirty="0">
                  <a:latin typeface="Times New Roman" panose="02020603050405020304" pitchFamily="18" charset="0"/>
                  <a:cs typeface="Times New Roman" panose="02020603050405020304" pitchFamily="18" charset="0"/>
                </a:endParaRPr>
              </a:p>
            </p:txBody>
          </p:sp>
        </mc:Choice>
        <mc:Fallback>
          <p:sp>
            <p:nvSpPr>
              <p:cNvPr id="6" name="TextBox 5"/>
              <p:cNvSpPr txBox="1">
                <a:spLocks noRot="1" noChangeAspect="1" noMove="1" noResize="1" noEditPoints="1" noAdjustHandles="1" noChangeArrowheads="1" noChangeShapeType="1" noTextEdit="1"/>
              </p:cNvSpPr>
              <p:nvPr/>
            </p:nvSpPr>
            <p:spPr>
              <a:xfrm>
                <a:off x="8335766" y="2167837"/>
                <a:ext cx="2516266" cy="276999"/>
              </a:xfrm>
              <a:prstGeom prst="rect">
                <a:avLst/>
              </a:prstGeom>
              <a:blipFill>
                <a:blip r:embed="rId6"/>
                <a:stretch>
                  <a:fillRect l="-1695" b="-20000"/>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6" name="Rectangle 15"/>
              <p:cNvSpPr/>
              <p:nvPr/>
            </p:nvSpPr>
            <p:spPr>
              <a:xfrm>
                <a:off x="5270320" y="1574462"/>
                <a:ext cx="22363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𝐴</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𝑜</m:t>
                          </m:r>
                        </m:sub>
                      </m:sSub>
                      <m:r>
                        <m:rPr>
                          <m:sty m:val="p"/>
                        </m:rPr>
                        <a:rPr lang="en-US" b="0" i="0" smtClean="0">
                          <a:latin typeface="Cambria Math" panose="02040503050406030204" pitchFamily="18" charset="0"/>
                        </a:rPr>
                        <m:t>cos</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𝑜</m:t>
                          </m:r>
                        </m:sub>
                      </m:s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oMath>
                  </m:oMathPara>
                </a14:m>
                <a:endParaRPr lang="sv-SE" dirty="0">
                  <a:latin typeface="Times New Roman" panose="02020603050405020304" pitchFamily="18" charset="0"/>
                  <a:cs typeface="Times New Roman" panose="02020603050405020304" pitchFamily="18" charset="0"/>
                </a:endParaRPr>
              </a:p>
            </p:txBody>
          </p:sp>
        </mc:Choice>
        <mc:Fallback>
          <p:sp>
            <p:nvSpPr>
              <p:cNvPr id="16" name="Rectangle 15"/>
              <p:cNvSpPr>
                <a:spLocks noRot="1" noChangeAspect="1" noMove="1" noResize="1" noEditPoints="1" noAdjustHandles="1" noChangeArrowheads="1" noChangeShapeType="1" noTextEdit="1"/>
              </p:cNvSpPr>
              <p:nvPr/>
            </p:nvSpPr>
            <p:spPr>
              <a:xfrm>
                <a:off x="5270320" y="1574462"/>
                <a:ext cx="2236381" cy="369332"/>
              </a:xfrm>
              <a:prstGeom prst="rect">
                <a:avLst/>
              </a:prstGeom>
              <a:blipFill>
                <a:blip r:embed="rId7"/>
                <a:stretch>
                  <a:fillRect b="-14754"/>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7" name="Rectangle 16"/>
              <p:cNvSpPr/>
              <p:nvPr/>
            </p:nvSpPr>
            <p:spPr>
              <a:xfrm>
                <a:off x="5270320" y="1893111"/>
                <a:ext cx="2797432" cy="610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𝐵</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𝑜</m:t>
                          </m:r>
                        </m:sub>
                      </m:sSub>
                      <m:r>
                        <m:rPr>
                          <m:sty m:val="p"/>
                        </m:rPr>
                        <a:rPr lang="en-US">
                          <a:latin typeface="Cambria Math" panose="02040503050406030204" pitchFamily="18" charset="0"/>
                        </a:rPr>
                        <m:t>cos</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𝑜</m:t>
                          </m:r>
                        </m:sub>
                      </m:sSub>
                      <m:r>
                        <a:rPr lang="en-US" i="1">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𝜋</m:t>
                          </m:r>
                        </m:num>
                        <m:den>
                          <m:r>
                            <a:rPr lang="en-US" b="0" i="1" smtClean="0">
                              <a:latin typeface="Cambria Math" panose="02040503050406030204" pitchFamily="18" charset="0"/>
                            </a:rPr>
                            <m:t>3</m:t>
                          </m:r>
                        </m:den>
                      </m:f>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oMath>
                  </m:oMathPara>
                </a14:m>
                <a:endParaRPr lang="sv-SE" dirty="0">
                  <a:latin typeface="Times New Roman" panose="02020603050405020304" pitchFamily="18" charset="0"/>
                  <a:cs typeface="Times New Roman" panose="02020603050405020304" pitchFamily="18" charset="0"/>
                </a:endParaRPr>
              </a:p>
            </p:txBody>
          </p:sp>
        </mc:Choice>
        <mc:Fallback>
          <p:sp>
            <p:nvSpPr>
              <p:cNvPr id="17" name="Rectangle 16"/>
              <p:cNvSpPr>
                <a:spLocks noRot="1" noChangeAspect="1" noMove="1" noResize="1" noEditPoints="1" noAdjustHandles="1" noChangeArrowheads="1" noChangeShapeType="1" noTextEdit="1"/>
              </p:cNvSpPr>
              <p:nvPr/>
            </p:nvSpPr>
            <p:spPr>
              <a:xfrm>
                <a:off x="5270320" y="1893111"/>
                <a:ext cx="2797432" cy="610936"/>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8" name="Rectangle 17"/>
              <p:cNvSpPr/>
              <p:nvPr/>
            </p:nvSpPr>
            <p:spPr>
              <a:xfrm>
                <a:off x="5251725" y="2427209"/>
                <a:ext cx="2834622"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𝐶</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𝑜</m:t>
                          </m:r>
                        </m:sub>
                      </m:sSub>
                      <m:r>
                        <m:rPr>
                          <m:sty m:val="p"/>
                        </m:rPr>
                        <a:rPr lang="en-US">
                          <a:latin typeface="Cambria Math" panose="02040503050406030204" pitchFamily="18" charset="0"/>
                        </a:rPr>
                        <m:t>cos</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𝑜</m:t>
                          </m:r>
                        </m:sub>
                      </m:sSub>
                      <m:r>
                        <a:rPr lang="en-US" i="1">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𝜋</m:t>
                          </m:r>
                        </m:num>
                        <m:den>
                          <m:r>
                            <a:rPr lang="en-US" b="0" i="1" smtClean="0">
                              <a:latin typeface="Cambria Math" panose="02040503050406030204" pitchFamily="18" charset="0"/>
                            </a:rPr>
                            <m:t>3</m:t>
                          </m:r>
                        </m:den>
                      </m:f>
                      <m:r>
                        <a:rPr lang="en-US" i="1">
                          <a:latin typeface="Cambria Math" panose="02040503050406030204" pitchFamily="18" charset="0"/>
                        </a:rPr>
                        <m:t>+</m:t>
                      </m:r>
                      <m:r>
                        <a:rPr lang="en-US" i="1">
                          <a:latin typeface="Cambria Math" panose="02040503050406030204" pitchFamily="18" charset="0"/>
                        </a:rPr>
                        <m:t>𝜙</m:t>
                      </m:r>
                      <m:r>
                        <a:rPr lang="en-US" i="1">
                          <a:latin typeface="Cambria Math" panose="02040503050406030204" pitchFamily="18" charset="0"/>
                        </a:rPr>
                        <m:t>)</m:t>
                      </m:r>
                    </m:oMath>
                  </m:oMathPara>
                </a14:m>
                <a:endParaRPr lang="sv-SE" dirty="0">
                  <a:latin typeface="Times New Roman" panose="02020603050405020304" pitchFamily="18" charset="0"/>
                  <a:cs typeface="Times New Roman" panose="02020603050405020304" pitchFamily="18" charset="0"/>
                </a:endParaRPr>
              </a:p>
            </p:txBody>
          </p:sp>
        </mc:Choice>
        <mc:Fallback>
          <p:sp>
            <p:nvSpPr>
              <p:cNvPr id="18" name="Rectangle 17"/>
              <p:cNvSpPr>
                <a:spLocks noRot="1" noChangeAspect="1" noMove="1" noResize="1" noEditPoints="1" noAdjustHandles="1" noChangeArrowheads="1" noChangeShapeType="1" noTextEdit="1"/>
              </p:cNvSpPr>
              <p:nvPr/>
            </p:nvSpPr>
            <p:spPr>
              <a:xfrm>
                <a:off x="5251725" y="2427209"/>
                <a:ext cx="2834622" cy="612732"/>
              </a:xfrm>
              <a:prstGeom prst="rect">
                <a:avLst/>
              </a:prstGeom>
              <a:blipFill>
                <a:blip r:embed="rId9"/>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19050526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The Aim of Using Impedance Model</a:t>
            </a:r>
            <a:endParaRPr lang="sv-SE"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449076" y="2452324"/>
            <a:ext cx="5354918" cy="1754326"/>
          </a:xfrm>
          <a:prstGeom prst="rect">
            <a:avLst/>
          </a:prstGeom>
          <a:noFill/>
        </p:spPr>
        <p:txBody>
          <a:bodyPr wrap="square" rtlCol="0">
            <a:spAutoFit/>
          </a:bodyPr>
          <a:lstStyle/>
          <a:p>
            <a:pPr marL="342900" indent="-34290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A simplified model does not provide the effective capacitance values for each phase. </a:t>
            </a:r>
          </a:p>
          <a:p>
            <a:pPr marL="342900" indent="-34290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Additionally</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 resonant structure is created because of the capacitors and stray inductances, which create high impedance for some frequencies. </a:t>
            </a:r>
          </a:p>
        </p:txBody>
      </p:sp>
      <p:pic>
        <p:nvPicPr>
          <p:cNvPr id="22" name="Picture 21"/>
          <p:cNvPicPr>
            <a:picLocks noChangeAspect="1"/>
          </p:cNvPicPr>
          <p:nvPr/>
        </p:nvPicPr>
        <p:blipFill>
          <a:blip r:embed="rId2"/>
          <a:stretch>
            <a:fillRect/>
          </a:stretch>
        </p:blipFill>
        <p:spPr>
          <a:xfrm>
            <a:off x="5947429" y="1807149"/>
            <a:ext cx="5682783" cy="4023955"/>
          </a:xfrm>
          <a:prstGeom prst="rect">
            <a:avLst/>
          </a:prstGeom>
        </p:spPr>
      </p:pic>
      <p:cxnSp>
        <p:nvCxnSpPr>
          <p:cNvPr id="24" name="Straight Arrow Connector 23"/>
          <p:cNvCxnSpPr/>
          <p:nvPr/>
        </p:nvCxnSpPr>
        <p:spPr>
          <a:xfrm flipV="1">
            <a:off x="9418918" y="1141471"/>
            <a:ext cx="561788" cy="16734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9705788" y="1141471"/>
            <a:ext cx="400424" cy="1930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887013" y="699816"/>
            <a:ext cx="2743199"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High impedance points</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30788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err="1" smtClean="0">
                <a:latin typeface="Times New Roman" panose="02020603050405020304" pitchFamily="18" charset="0"/>
                <a:cs typeface="Times New Roman" panose="02020603050405020304" pitchFamily="18" charset="0"/>
              </a:rPr>
              <a:t>Busbar</a:t>
            </a:r>
            <a:r>
              <a:rPr lang="en-US" dirty="0" smtClean="0">
                <a:latin typeface="Times New Roman" panose="02020603050405020304" pitchFamily="18" charset="0"/>
                <a:cs typeface="Times New Roman" panose="02020603050405020304" pitchFamily="18" charset="0"/>
              </a:rPr>
              <a:t> Geometry 62mm Power Module</a:t>
            </a:r>
            <a:endParaRPr lang="sv-SE" dirty="0">
              <a:latin typeface="Times New Roman" panose="02020603050405020304" pitchFamily="18" charset="0"/>
              <a:cs typeface="Times New Roman" panose="02020603050405020304" pitchFamily="18" charset="0"/>
            </a:endParaRPr>
          </a:p>
        </p:txBody>
      </p:sp>
      <p:grpSp>
        <p:nvGrpSpPr>
          <p:cNvPr id="4" name="Group 3"/>
          <p:cNvGrpSpPr/>
          <p:nvPr/>
        </p:nvGrpSpPr>
        <p:grpSpPr>
          <a:xfrm>
            <a:off x="1309393" y="5082420"/>
            <a:ext cx="1766315" cy="1305466"/>
            <a:chOff x="4736795" y="2809450"/>
            <a:chExt cx="2526554" cy="1832770"/>
          </a:xfrm>
        </p:grpSpPr>
        <p:sp>
          <p:nvSpPr>
            <p:cNvPr id="17" name="Rectangle 16"/>
            <p:cNvSpPr/>
            <p:nvPr/>
          </p:nvSpPr>
          <p:spPr>
            <a:xfrm>
              <a:off x="4736796" y="2881167"/>
              <a:ext cx="304470" cy="295835"/>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latin typeface="Times New Roman" panose="02020603050405020304" pitchFamily="18" charset="0"/>
                <a:cs typeface="Times New Roman" panose="02020603050405020304" pitchFamily="18" charset="0"/>
              </a:endParaRPr>
            </a:p>
          </p:txBody>
        </p:sp>
        <p:sp>
          <p:nvSpPr>
            <p:cNvPr id="18" name="Rectangle 17"/>
            <p:cNvSpPr/>
            <p:nvPr/>
          </p:nvSpPr>
          <p:spPr>
            <a:xfrm>
              <a:off x="4736796" y="3371238"/>
              <a:ext cx="292286" cy="262965"/>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214583" y="2809450"/>
              <a:ext cx="1679388" cy="432094"/>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Capacitor</a:t>
              </a:r>
              <a:endParaRPr lang="sv-SE" sz="1400" dirty="0">
                <a:latin typeface="Times New Roman" panose="02020603050405020304" pitchFamily="18" charset="0"/>
                <a:cs typeface="Times New Roman" panose="02020603050405020304" pitchFamily="18" charset="0"/>
              </a:endParaRPr>
            </a:p>
          </p:txBody>
        </p:sp>
        <p:sp>
          <p:nvSpPr>
            <p:cNvPr id="19" name="TextBox 18"/>
            <p:cNvSpPr txBox="1"/>
            <p:nvPr/>
          </p:nvSpPr>
          <p:spPr>
            <a:xfrm>
              <a:off x="5204455" y="3309694"/>
              <a:ext cx="2058894" cy="432094"/>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Power Modules</a:t>
              </a:r>
              <a:endParaRPr lang="sv-SE" sz="1400" dirty="0">
                <a:latin typeface="Times New Roman" panose="02020603050405020304" pitchFamily="18" charset="0"/>
                <a:cs typeface="Times New Roman" panose="02020603050405020304" pitchFamily="18" charset="0"/>
              </a:endParaRPr>
            </a:p>
          </p:txBody>
        </p:sp>
        <p:sp>
          <p:nvSpPr>
            <p:cNvPr id="8" name="Oval 7"/>
            <p:cNvSpPr/>
            <p:nvPr/>
          </p:nvSpPr>
          <p:spPr>
            <a:xfrm>
              <a:off x="4736796" y="3897168"/>
              <a:ext cx="214823" cy="191247"/>
            </a:xfrm>
            <a:prstGeom prst="ellipse">
              <a:avLst/>
            </a:prstGeom>
            <a:solidFill>
              <a:srgbClr val="0029ED"/>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5183538" y="3808125"/>
              <a:ext cx="2058894" cy="432094"/>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DC- Nodes</a:t>
              </a:r>
              <a:endParaRPr lang="sv-SE" sz="1400" dirty="0">
                <a:latin typeface="Times New Roman" panose="02020603050405020304" pitchFamily="18" charset="0"/>
                <a:cs typeface="Times New Roman" panose="02020603050405020304" pitchFamily="18" charset="0"/>
              </a:endParaRPr>
            </a:p>
          </p:txBody>
        </p:sp>
        <p:sp>
          <p:nvSpPr>
            <p:cNvPr id="21" name="Oval 20"/>
            <p:cNvSpPr/>
            <p:nvPr/>
          </p:nvSpPr>
          <p:spPr>
            <a:xfrm>
              <a:off x="4736795" y="4279363"/>
              <a:ext cx="214823" cy="191247"/>
            </a:xfrm>
            <a:prstGeom prst="ellipse">
              <a:avLst/>
            </a:prstGeom>
            <a:solidFill>
              <a:srgbClr val="FF0000"/>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4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5183536" y="4210126"/>
              <a:ext cx="2058894" cy="432094"/>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DC+ Nodes</a:t>
              </a:r>
              <a:endParaRPr lang="sv-SE" sz="1400" dirty="0">
                <a:latin typeface="Times New Roman" panose="02020603050405020304" pitchFamily="18" charset="0"/>
                <a:cs typeface="Times New Roman" panose="02020603050405020304" pitchFamily="18" charset="0"/>
              </a:endParaRPr>
            </a:p>
          </p:txBody>
        </p:sp>
      </p:grpSp>
      <p:grpSp>
        <p:nvGrpSpPr>
          <p:cNvPr id="3" name="Group 2"/>
          <p:cNvGrpSpPr/>
          <p:nvPr/>
        </p:nvGrpSpPr>
        <p:grpSpPr>
          <a:xfrm>
            <a:off x="294878" y="1195753"/>
            <a:ext cx="3580131" cy="3628323"/>
            <a:chOff x="620993" y="1296894"/>
            <a:chExt cx="4022495" cy="4678176"/>
          </a:xfrm>
        </p:grpSpPr>
        <p:pic>
          <p:nvPicPr>
            <p:cNvPr id="5" name="Picture 4"/>
            <p:cNvPicPr>
              <a:picLocks noChangeAspect="1"/>
            </p:cNvPicPr>
            <p:nvPr/>
          </p:nvPicPr>
          <p:blipFill>
            <a:blip r:embed="rId2"/>
            <a:stretch>
              <a:fillRect/>
            </a:stretch>
          </p:blipFill>
          <p:spPr>
            <a:xfrm>
              <a:off x="620993" y="1296894"/>
              <a:ext cx="4022495" cy="4678176"/>
            </a:xfrm>
            <a:prstGeom prst="rect">
              <a:avLst/>
            </a:prstGeom>
          </p:spPr>
        </p:pic>
        <p:sp>
          <p:nvSpPr>
            <p:cNvPr id="6" name="Rectangle 5"/>
            <p:cNvSpPr/>
            <p:nvPr/>
          </p:nvSpPr>
          <p:spPr>
            <a:xfrm>
              <a:off x="1326776" y="1751106"/>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9" name="Rectangle 8"/>
            <p:cNvSpPr/>
            <p:nvPr/>
          </p:nvSpPr>
          <p:spPr>
            <a:xfrm>
              <a:off x="2823882" y="1795929"/>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11" name="Rectangle 10"/>
            <p:cNvSpPr/>
            <p:nvPr/>
          </p:nvSpPr>
          <p:spPr>
            <a:xfrm>
              <a:off x="1326776" y="317878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13" name="Rectangle 12"/>
            <p:cNvSpPr/>
            <p:nvPr/>
          </p:nvSpPr>
          <p:spPr>
            <a:xfrm>
              <a:off x="2823882" y="317878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14" name="Rectangle 13"/>
            <p:cNvSpPr/>
            <p:nvPr/>
          </p:nvSpPr>
          <p:spPr>
            <a:xfrm>
              <a:off x="3236819"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15" name="Rectangle 14"/>
            <p:cNvSpPr/>
            <p:nvPr/>
          </p:nvSpPr>
          <p:spPr>
            <a:xfrm>
              <a:off x="2188767"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16" name="Rectangle 15"/>
            <p:cNvSpPr/>
            <p:nvPr/>
          </p:nvSpPr>
          <p:spPr>
            <a:xfrm>
              <a:off x="1140715"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sz="1200"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3139471" y="3474737"/>
              <a:ext cx="483622" cy="357148"/>
            </a:xfrm>
            <a:prstGeom prst="rect">
              <a:avLst/>
            </a:prstGeom>
            <a:noFill/>
          </p:spPr>
          <p:txBody>
            <a:bodyPr wrap="square" rtlCol="0">
              <a:spAutoFit/>
            </a:bodyPr>
            <a:lstStyle/>
            <a:p>
              <a:r>
                <a:rPr lang="sv-SE" sz="1200" dirty="0" smtClean="0">
                  <a:latin typeface="Times New Roman" panose="02020603050405020304" pitchFamily="18" charset="0"/>
                  <a:cs typeface="Times New Roman" panose="02020603050405020304" pitchFamily="18" charset="0"/>
                </a:rPr>
                <a:t>C1</a:t>
              </a:r>
              <a:endParaRPr lang="sv-SE" sz="1200" dirty="0">
                <a:latin typeface="Times New Roman" panose="02020603050405020304" pitchFamily="18" charset="0"/>
                <a:cs typeface="Times New Roman" panose="02020603050405020304" pitchFamily="18" charset="0"/>
              </a:endParaRPr>
            </a:p>
          </p:txBody>
        </p:sp>
        <p:sp>
          <p:nvSpPr>
            <p:cNvPr id="24" name="TextBox 23"/>
            <p:cNvSpPr txBox="1"/>
            <p:nvPr/>
          </p:nvSpPr>
          <p:spPr>
            <a:xfrm>
              <a:off x="1647273" y="3474737"/>
              <a:ext cx="483622" cy="357148"/>
            </a:xfrm>
            <a:prstGeom prst="rect">
              <a:avLst/>
            </a:prstGeom>
            <a:noFill/>
          </p:spPr>
          <p:txBody>
            <a:bodyPr wrap="square" rtlCol="0">
              <a:spAutoFit/>
            </a:bodyPr>
            <a:lstStyle/>
            <a:p>
              <a:r>
                <a:rPr lang="sv-SE" sz="1200" dirty="0" smtClean="0">
                  <a:latin typeface="Times New Roman" panose="02020603050405020304" pitchFamily="18" charset="0"/>
                  <a:cs typeface="Times New Roman" panose="02020603050405020304" pitchFamily="18" charset="0"/>
                </a:rPr>
                <a:t>C2</a:t>
              </a:r>
              <a:endParaRPr lang="sv-SE" sz="12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1631813" y="1996363"/>
              <a:ext cx="483622" cy="357148"/>
            </a:xfrm>
            <a:prstGeom prst="rect">
              <a:avLst/>
            </a:prstGeom>
            <a:noFill/>
          </p:spPr>
          <p:txBody>
            <a:bodyPr wrap="square" rtlCol="0">
              <a:spAutoFit/>
            </a:bodyPr>
            <a:lstStyle/>
            <a:p>
              <a:r>
                <a:rPr lang="sv-SE" sz="1200" dirty="0" smtClean="0">
                  <a:latin typeface="Times New Roman" panose="02020603050405020304" pitchFamily="18" charset="0"/>
                  <a:cs typeface="Times New Roman" panose="02020603050405020304" pitchFamily="18" charset="0"/>
                </a:rPr>
                <a:t>C3</a:t>
              </a:r>
              <a:endParaRPr lang="sv-SE" sz="1200" dirty="0">
                <a:latin typeface="Times New Roman" panose="02020603050405020304" pitchFamily="18" charset="0"/>
                <a:cs typeface="Times New Roman" panose="02020603050405020304" pitchFamily="18" charset="0"/>
              </a:endParaRPr>
            </a:p>
          </p:txBody>
        </p:sp>
        <p:sp>
          <p:nvSpPr>
            <p:cNvPr id="26" name="TextBox 25"/>
            <p:cNvSpPr txBox="1"/>
            <p:nvPr/>
          </p:nvSpPr>
          <p:spPr>
            <a:xfrm>
              <a:off x="3115132" y="1996363"/>
              <a:ext cx="507962" cy="357148"/>
            </a:xfrm>
            <a:prstGeom prst="rect">
              <a:avLst/>
            </a:prstGeom>
            <a:noFill/>
          </p:spPr>
          <p:txBody>
            <a:bodyPr wrap="square" rtlCol="0">
              <a:spAutoFit/>
            </a:bodyPr>
            <a:lstStyle/>
            <a:p>
              <a:r>
                <a:rPr lang="sv-SE" sz="1200" dirty="0" smtClean="0">
                  <a:latin typeface="Times New Roman" panose="02020603050405020304" pitchFamily="18" charset="0"/>
                  <a:cs typeface="Times New Roman" panose="02020603050405020304" pitchFamily="18" charset="0"/>
                </a:rPr>
                <a:t>C4</a:t>
              </a:r>
              <a:endParaRPr lang="sv-SE" sz="1200" dirty="0">
                <a:latin typeface="Times New Roman" panose="02020603050405020304" pitchFamily="18" charset="0"/>
                <a:cs typeface="Times New Roman" panose="02020603050405020304" pitchFamily="18" charset="0"/>
              </a:endParaRPr>
            </a:p>
          </p:txBody>
        </p:sp>
      </p:grpSp>
      <mc:AlternateContent xmlns:mc="http://schemas.openxmlformats.org/markup-compatibility/2006">
        <mc:Choice xmlns:a14="http://schemas.microsoft.com/office/drawing/2010/main" Requires="a14">
          <p:graphicFrame>
            <p:nvGraphicFramePr>
              <p:cNvPr id="27" name="Table 26"/>
              <p:cNvGraphicFramePr>
                <a:graphicFrameLocks noGrp="1"/>
              </p:cNvGraphicFramePr>
              <p:nvPr>
                <p:extLst>
                  <p:ext uri="{D42A27DB-BD31-4B8C-83A1-F6EECF244321}">
                    <p14:modId xmlns:p14="http://schemas.microsoft.com/office/powerpoint/2010/main" val="2923514034"/>
                  </p:ext>
                </p:extLst>
              </p:nvPr>
            </p:nvGraphicFramePr>
            <p:xfrm>
              <a:off x="4635943" y="1181114"/>
              <a:ext cx="6880380" cy="1828800"/>
            </p:xfrm>
            <a:graphic>
              <a:graphicData uri="http://schemas.openxmlformats.org/drawingml/2006/table">
                <a:tbl>
                  <a:tblPr firstRow="1" bandRow="1">
                    <a:tableStyleId>{5C22544A-7EE6-4342-B048-85BDC9FD1C3A}</a:tableStyleId>
                  </a:tblPr>
                  <a:tblGrid>
                    <a:gridCol w="1720095">
                      <a:extLst>
                        <a:ext uri="{9D8B030D-6E8A-4147-A177-3AD203B41FA5}">
                          <a16:colId xmlns:a16="http://schemas.microsoft.com/office/drawing/2014/main" val="278631582"/>
                        </a:ext>
                      </a:extLst>
                    </a:gridCol>
                    <a:gridCol w="1720095">
                      <a:extLst>
                        <a:ext uri="{9D8B030D-6E8A-4147-A177-3AD203B41FA5}">
                          <a16:colId xmlns:a16="http://schemas.microsoft.com/office/drawing/2014/main" val="844494951"/>
                        </a:ext>
                      </a:extLst>
                    </a:gridCol>
                    <a:gridCol w="1720095">
                      <a:extLst>
                        <a:ext uri="{9D8B030D-6E8A-4147-A177-3AD203B41FA5}">
                          <a16:colId xmlns:a16="http://schemas.microsoft.com/office/drawing/2014/main" val="3775262176"/>
                        </a:ext>
                      </a:extLst>
                    </a:gridCol>
                    <a:gridCol w="1720095">
                      <a:extLst>
                        <a:ext uri="{9D8B030D-6E8A-4147-A177-3AD203B41FA5}">
                          <a16:colId xmlns:a16="http://schemas.microsoft.com/office/drawing/2014/main" val="3461459550"/>
                        </a:ext>
                      </a:extLst>
                    </a:gridCol>
                  </a:tblGrid>
                  <a:tr h="272369">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276152">
                    <a:tc>
                      <a:txBody>
                        <a:bodyPr/>
                        <a:lstStyle/>
                        <a:p>
                          <a:r>
                            <a:rPr lang="en-US" dirty="0" smtClean="0"/>
                            <a:t>Capacitor-1</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3304193326"/>
                      </a:ext>
                    </a:extLst>
                  </a:tr>
                  <a:tr h="276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904248960"/>
                      </a:ext>
                    </a:extLst>
                  </a:tr>
                  <a:tr h="276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2005996215"/>
                      </a:ext>
                    </a:extLst>
                  </a:tr>
                  <a:tr h="2761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tr-TR"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1700131790"/>
                      </a:ext>
                    </a:extLst>
                  </a:tr>
                </a:tbl>
              </a:graphicData>
            </a:graphic>
          </p:graphicFrame>
        </mc:Choice>
        <mc:Fallback>
          <p:graphicFrame>
            <p:nvGraphicFramePr>
              <p:cNvPr id="27" name="Table 26"/>
              <p:cNvGraphicFramePr>
                <a:graphicFrameLocks noGrp="1"/>
              </p:cNvGraphicFramePr>
              <p:nvPr>
                <p:extLst>
                  <p:ext uri="{D42A27DB-BD31-4B8C-83A1-F6EECF244321}">
                    <p14:modId xmlns:p14="http://schemas.microsoft.com/office/powerpoint/2010/main" val="2923514034"/>
                  </p:ext>
                </p:extLst>
              </p:nvPr>
            </p:nvGraphicFramePr>
            <p:xfrm>
              <a:off x="4635943" y="1181114"/>
              <a:ext cx="6880380" cy="1828800"/>
            </p:xfrm>
            <a:graphic>
              <a:graphicData uri="http://schemas.openxmlformats.org/drawingml/2006/table">
                <a:tbl>
                  <a:tblPr firstRow="1" bandRow="1">
                    <a:tableStyleId>{5C22544A-7EE6-4342-B048-85BDC9FD1C3A}</a:tableStyleId>
                  </a:tblPr>
                  <a:tblGrid>
                    <a:gridCol w="1720095">
                      <a:extLst>
                        <a:ext uri="{9D8B030D-6E8A-4147-A177-3AD203B41FA5}">
                          <a16:colId xmlns:a16="http://schemas.microsoft.com/office/drawing/2014/main" val="278631582"/>
                        </a:ext>
                      </a:extLst>
                    </a:gridCol>
                    <a:gridCol w="1720095">
                      <a:extLst>
                        <a:ext uri="{9D8B030D-6E8A-4147-A177-3AD203B41FA5}">
                          <a16:colId xmlns:a16="http://schemas.microsoft.com/office/drawing/2014/main" val="844494951"/>
                        </a:ext>
                      </a:extLst>
                    </a:gridCol>
                    <a:gridCol w="1720095">
                      <a:extLst>
                        <a:ext uri="{9D8B030D-6E8A-4147-A177-3AD203B41FA5}">
                          <a16:colId xmlns:a16="http://schemas.microsoft.com/office/drawing/2014/main" val="3775262176"/>
                        </a:ext>
                      </a:extLst>
                    </a:gridCol>
                    <a:gridCol w="1720095">
                      <a:extLst>
                        <a:ext uri="{9D8B030D-6E8A-4147-A177-3AD203B41FA5}">
                          <a16:colId xmlns:a16="http://schemas.microsoft.com/office/drawing/2014/main" val="3461459550"/>
                        </a:ext>
                      </a:extLst>
                    </a:gridCol>
                  </a:tblGrid>
                  <a:tr h="36576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65760">
                    <a:tc>
                      <a:txBody>
                        <a:bodyPr/>
                        <a:lstStyle/>
                        <a:p>
                          <a:r>
                            <a:rPr lang="en-US" dirty="0" smtClean="0"/>
                            <a:t>Capacitor-1</a:t>
                          </a:r>
                          <a:endParaRPr lang="sv-SE" dirty="0"/>
                        </a:p>
                      </a:txBody>
                      <a:tcPr/>
                    </a:tc>
                    <a:tc>
                      <a:txBody>
                        <a:bodyPr/>
                        <a:lstStyle/>
                        <a:p>
                          <a:endParaRPr lang="sv-SE"/>
                        </a:p>
                      </a:txBody>
                      <a:tcPr>
                        <a:blipFill>
                          <a:blip r:embed="rId3"/>
                          <a:stretch>
                            <a:fillRect l="-100709" t="-108333" r="-201773" b="-328333"/>
                          </a:stretch>
                        </a:blipFill>
                      </a:tcPr>
                    </a:tc>
                    <a:tc>
                      <a:txBody>
                        <a:bodyPr/>
                        <a:lstStyle/>
                        <a:p>
                          <a:endParaRPr lang="sv-SE"/>
                        </a:p>
                      </a:txBody>
                      <a:tcPr>
                        <a:blipFill>
                          <a:blip r:embed="rId3"/>
                          <a:stretch>
                            <a:fillRect l="-200000" t="-108333" r="-101060" b="-328333"/>
                          </a:stretch>
                        </a:blipFill>
                      </a:tcPr>
                    </a:tc>
                    <a:tc>
                      <a:txBody>
                        <a:bodyPr/>
                        <a:lstStyle/>
                        <a:p>
                          <a:endParaRPr lang="sv-SE"/>
                        </a:p>
                      </a:txBody>
                      <a:tcPr>
                        <a:blipFill>
                          <a:blip r:embed="rId3"/>
                          <a:stretch>
                            <a:fillRect l="-301064" t="-108333" r="-1418" b="-328333"/>
                          </a:stretch>
                        </a:blipFill>
                      </a:tcPr>
                    </a:tc>
                    <a:extLst>
                      <a:ext uri="{0D108BD9-81ED-4DB2-BD59-A6C34878D82A}">
                        <a16:rowId xmlns:a16="http://schemas.microsoft.com/office/drawing/2014/main" val="3304193326"/>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endParaRPr lang="sv-SE"/>
                        </a:p>
                      </a:txBody>
                      <a:tcPr>
                        <a:blipFill>
                          <a:blip r:embed="rId3"/>
                          <a:stretch>
                            <a:fillRect l="-100709" t="-204918" r="-201773" b="-222951"/>
                          </a:stretch>
                        </a:blipFill>
                      </a:tcPr>
                    </a:tc>
                    <a:tc>
                      <a:txBody>
                        <a:bodyPr/>
                        <a:lstStyle/>
                        <a:p>
                          <a:endParaRPr lang="sv-SE"/>
                        </a:p>
                      </a:txBody>
                      <a:tcPr>
                        <a:blipFill>
                          <a:blip r:embed="rId3"/>
                          <a:stretch>
                            <a:fillRect l="-200000" t="-204918" r="-101060" b="-222951"/>
                          </a:stretch>
                        </a:blipFill>
                      </a:tcPr>
                    </a:tc>
                    <a:tc>
                      <a:txBody>
                        <a:bodyPr/>
                        <a:lstStyle/>
                        <a:p>
                          <a:endParaRPr lang="sv-SE"/>
                        </a:p>
                      </a:txBody>
                      <a:tcPr>
                        <a:blipFill>
                          <a:blip r:embed="rId3"/>
                          <a:stretch>
                            <a:fillRect l="-301064" t="-204918" r="-1418" b="-222951"/>
                          </a:stretch>
                        </a:blipFill>
                      </a:tcPr>
                    </a:tc>
                    <a:extLst>
                      <a:ext uri="{0D108BD9-81ED-4DB2-BD59-A6C34878D82A}">
                        <a16:rowId xmlns:a16="http://schemas.microsoft.com/office/drawing/2014/main" val="904248960"/>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endParaRPr lang="sv-SE"/>
                        </a:p>
                      </a:txBody>
                      <a:tcPr>
                        <a:blipFill>
                          <a:blip r:embed="rId3"/>
                          <a:stretch>
                            <a:fillRect l="-100709" t="-310000" r="-201773" b="-126667"/>
                          </a:stretch>
                        </a:blipFill>
                      </a:tcPr>
                    </a:tc>
                    <a:tc>
                      <a:txBody>
                        <a:bodyPr/>
                        <a:lstStyle/>
                        <a:p>
                          <a:endParaRPr lang="sv-SE"/>
                        </a:p>
                      </a:txBody>
                      <a:tcPr>
                        <a:blipFill>
                          <a:blip r:embed="rId3"/>
                          <a:stretch>
                            <a:fillRect l="-200000" t="-310000" r="-101060" b="-126667"/>
                          </a:stretch>
                        </a:blipFill>
                      </a:tcPr>
                    </a:tc>
                    <a:tc>
                      <a:txBody>
                        <a:bodyPr/>
                        <a:lstStyle/>
                        <a:p>
                          <a:endParaRPr lang="sv-SE"/>
                        </a:p>
                      </a:txBody>
                      <a:tcPr>
                        <a:blipFill>
                          <a:blip r:embed="rId3"/>
                          <a:stretch>
                            <a:fillRect l="-301064" t="-310000" r="-1418" b="-126667"/>
                          </a:stretch>
                        </a:blipFill>
                      </a:tcPr>
                    </a:tc>
                    <a:extLst>
                      <a:ext uri="{0D108BD9-81ED-4DB2-BD59-A6C34878D82A}">
                        <a16:rowId xmlns:a16="http://schemas.microsoft.com/office/drawing/2014/main" val="2005996215"/>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endParaRPr lang="sv-SE"/>
                        </a:p>
                      </a:txBody>
                      <a:tcPr>
                        <a:blipFill>
                          <a:blip r:embed="rId3"/>
                          <a:stretch>
                            <a:fillRect l="-100709" t="-410000" r="-201773" b="-26667"/>
                          </a:stretch>
                        </a:blipFill>
                      </a:tcPr>
                    </a:tc>
                    <a:tc>
                      <a:txBody>
                        <a:bodyPr/>
                        <a:lstStyle/>
                        <a:p>
                          <a:endParaRPr lang="sv-SE"/>
                        </a:p>
                      </a:txBody>
                      <a:tcPr>
                        <a:blipFill>
                          <a:blip r:embed="rId3"/>
                          <a:stretch>
                            <a:fillRect l="-200000" t="-410000" r="-101060" b="-26667"/>
                          </a:stretch>
                        </a:blipFill>
                      </a:tcPr>
                    </a:tc>
                    <a:tc>
                      <a:txBody>
                        <a:bodyPr/>
                        <a:lstStyle/>
                        <a:p>
                          <a:endParaRPr lang="sv-SE"/>
                        </a:p>
                      </a:txBody>
                      <a:tcPr>
                        <a:blipFill>
                          <a:blip r:embed="rId3"/>
                          <a:stretch>
                            <a:fillRect l="-301064" t="-410000" r="-1418" b="-26667"/>
                          </a:stretch>
                        </a:blipFill>
                      </a:tcPr>
                    </a:tc>
                    <a:extLst>
                      <a:ext uri="{0D108BD9-81ED-4DB2-BD59-A6C34878D82A}">
                        <a16:rowId xmlns:a16="http://schemas.microsoft.com/office/drawing/2014/main" val="1700131790"/>
                      </a:ext>
                    </a:extLst>
                  </a:tr>
                </a:tbl>
              </a:graphicData>
            </a:graphic>
          </p:graphicFrame>
        </mc:Fallback>
      </mc:AlternateContent>
      <p:sp>
        <p:nvSpPr>
          <p:cNvPr id="29" name="TextBox 28"/>
          <p:cNvSpPr txBox="1"/>
          <p:nvPr/>
        </p:nvSpPr>
        <p:spPr>
          <a:xfrm>
            <a:off x="6441998" y="768207"/>
            <a:ext cx="4733365"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Step response of capacitors to each leg</a:t>
            </a:r>
            <a:endParaRPr lang="sv-SE" dirty="0">
              <a:latin typeface="Times New Roman" panose="02020603050405020304" pitchFamily="18" charset="0"/>
              <a:cs typeface="Times New Roman" panose="02020603050405020304" pitchFamily="18" charset="0"/>
            </a:endParaRPr>
          </a:p>
        </p:txBody>
      </p:sp>
      <p:sp>
        <p:nvSpPr>
          <p:cNvPr id="30" name="Rectangle 29">
            <a:extLst>
              <a:ext uri="{FF2B5EF4-FFF2-40B4-BE49-F238E27FC236}">
                <a16:creationId xmlns:a16="http://schemas.microsoft.com/office/drawing/2014/main" id="{5FD27746-BC71-497E-87F6-231B78DB66C2}"/>
              </a:ext>
            </a:extLst>
          </p:cNvPr>
          <p:cNvSpPr/>
          <p:nvPr/>
        </p:nvSpPr>
        <p:spPr>
          <a:xfrm>
            <a:off x="4970347" y="3422821"/>
            <a:ext cx="6286336" cy="646331"/>
          </a:xfrm>
          <a:prstGeom prst="rect">
            <a:avLst/>
          </a:prstGeom>
        </p:spPr>
        <p:txBody>
          <a:bodyPr wrap="none">
            <a:spAutoFit/>
          </a:bodyPr>
          <a:lstStyle/>
          <a:p>
            <a:r>
              <a:rPr lang="tr-TR" dirty="0" err="1">
                <a:latin typeface="Times New Roman" panose="02020603050405020304" pitchFamily="18" charset="0"/>
                <a:cs typeface="Times New Roman" panose="02020603050405020304" pitchFamily="18" charset="0"/>
              </a:rPr>
              <a:t>The</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response</a:t>
            </a:r>
            <a:r>
              <a:rPr lang="tr-TR" dirty="0">
                <a:latin typeface="Times New Roman" panose="02020603050405020304" pitchFamily="18" charset="0"/>
                <a:cs typeface="Times New Roman" panose="02020603050405020304" pitchFamily="18" charset="0"/>
              </a:rPr>
              <a:t> of </a:t>
            </a:r>
            <a:r>
              <a:rPr lang="tr-TR" dirty="0" err="1">
                <a:latin typeface="Times New Roman" panose="02020603050405020304" pitchFamily="18" charset="0"/>
                <a:cs typeface="Times New Roman" panose="02020603050405020304" pitchFamily="18" charset="0"/>
              </a:rPr>
              <a:t>capacitor</a:t>
            </a:r>
            <a:r>
              <a:rPr lang="tr-TR" dirty="0">
                <a:latin typeface="Times New Roman" panose="02020603050405020304" pitchFamily="18" charset="0"/>
                <a:cs typeface="Times New Roman" panose="02020603050405020304" pitchFamily="18" charset="0"/>
              </a:rPr>
              <a:t> A </a:t>
            </a:r>
            <a:r>
              <a:rPr lang="tr-TR" dirty="0" err="1">
                <a:latin typeface="Times New Roman" panose="02020603050405020304" pitchFamily="18" charset="0"/>
                <a:cs typeface="Times New Roman" panose="02020603050405020304" pitchFamily="18" charset="0"/>
              </a:rPr>
              <a:t>for</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each</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leg</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should</a:t>
            </a:r>
            <a:r>
              <a:rPr lang="tr-TR" dirty="0">
                <a:latin typeface="Times New Roman" panose="02020603050405020304" pitchFamily="18" charset="0"/>
                <a:cs typeface="Times New Roman" panose="02020603050405020304" pitchFamily="18" charset="0"/>
              </a:rPr>
              <a:t> be </a:t>
            </a:r>
            <a:r>
              <a:rPr lang="tr-TR" dirty="0" err="1">
                <a:latin typeface="Times New Roman" panose="02020603050405020304" pitchFamily="18" charset="0"/>
                <a:cs typeface="Times New Roman" panose="02020603050405020304" pitchFamily="18" charset="0"/>
              </a:rPr>
              <a:t>calculated</a:t>
            </a:r>
            <a:r>
              <a:rPr lang="tr-TR" dirty="0">
                <a:latin typeface="Times New Roman" panose="02020603050405020304" pitchFamily="18" charset="0"/>
                <a:cs typeface="Times New Roman" panose="02020603050405020304" pitchFamily="18" charset="0"/>
              </a:rPr>
              <a:t> as: </a:t>
            </a:r>
          </a:p>
          <a:p>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1" name="Rectangle 30">
                <a:extLst>
                  <a:ext uri="{FF2B5EF4-FFF2-40B4-BE49-F238E27FC236}">
                    <a16:creationId xmlns:a16="http://schemas.microsoft.com/office/drawing/2014/main" id="{EA414EB2-1DD8-401E-96DE-5071FE225EAE}"/>
                  </a:ext>
                </a:extLst>
              </p:cNvPr>
              <p:cNvSpPr/>
              <p:nvPr/>
            </p:nvSpPr>
            <p:spPr>
              <a:xfrm>
                <a:off x="4933285" y="3911520"/>
                <a:ext cx="6323398" cy="390748"/>
              </a:xfrm>
              <a:prstGeom prst="rect">
                <a:avLst/>
              </a:prstGeom>
            </p:spPr>
            <p:txBody>
              <a:bodyPr wrap="none">
                <a:spAutoFit/>
              </a:bodyPr>
              <a:lstStyle/>
              <a:p>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𝑐𝑎𝑝𝐴</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𝐴</m:t>
                            </m:r>
                          </m:sub>
                        </m:sSub>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𝐴</m:t>
                            </m:r>
                          </m:sub>
                        </m:sSub>
                        <m:r>
                          <a:rPr lang="en-US" b="0" i="1" smtClean="0">
                            <a:latin typeface="Cambria Math" panose="02040503050406030204" pitchFamily="18" charset="0"/>
                          </a:rPr>
                          <m:t> )</m:t>
                        </m:r>
                        <m:r>
                          <a:rPr lang="tr-TR" b="0" i="1" smtClean="0">
                            <a:latin typeface="Cambria Math" panose="02040503050406030204" pitchFamily="18" charset="0"/>
                          </a:rPr>
                          <m:t>𝐻</m:t>
                        </m:r>
                      </m:e>
                      <m:sub>
                        <m:r>
                          <a:rPr lang="en-US" b="0" i="1" smtClean="0">
                            <a:latin typeface="Cambria Math" panose="02040503050406030204" pitchFamily="18" charset="0"/>
                          </a:rPr>
                          <m:t>1</m:t>
                        </m:r>
                        <m:r>
                          <a:rPr lang="tr-TR" b="0" i="1" smtClean="0">
                            <a:latin typeface="Cambria Math" panose="02040503050406030204" pitchFamily="18" charset="0"/>
                          </a:rPr>
                          <m:t>𝐴</m:t>
                        </m:r>
                      </m:sub>
                    </m:sSub>
                    <m:d>
                      <m:dPr>
                        <m:ctrlPr>
                          <a:rPr lang="tr-TR" b="0" i="1" smtClean="0">
                            <a:latin typeface="Cambria Math" panose="02040503050406030204" pitchFamily="18" charset="0"/>
                          </a:rPr>
                        </m:ctrlPr>
                      </m:dPr>
                      <m:e>
                        <m:r>
                          <a:rPr lang="tr-TR" b="0" i="1" smtClean="0">
                            <a:latin typeface="Cambria Math" panose="02040503050406030204" pitchFamily="18" charset="0"/>
                          </a:rPr>
                          <m:t>𝜔</m:t>
                        </m:r>
                      </m:e>
                    </m:d>
                    <m:r>
                      <a:rPr lang="tr-TR" b="0" i="0" smtClean="0">
                        <a:latin typeface="Cambria Math" panose="02040503050406030204" pitchFamily="18" charset="0"/>
                      </a:rPr>
                      <m:t>+</m:t>
                    </m:r>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𝐵</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𝐵</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𝐵</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r>
                  <a:rPr lang="en-US" dirty="0" smtClean="0">
                    <a:latin typeface="Times New Roman" panose="02020603050405020304" pitchFamily="18" charset="0"/>
                    <a:cs typeface="Times New Roman" panose="02020603050405020304" pitchFamily="18" charset="0"/>
                  </a:rPr>
                  <a:t>+</a:t>
                </a:r>
                <a14:m>
                  <m:oMath xmlns:m="http://schemas.openxmlformats.org/officeDocument/2006/math">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𝐶</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𝐶</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𝐶</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endParaRPr lang="en-US" dirty="0">
                  <a:latin typeface="Times New Roman" panose="02020603050405020304" pitchFamily="18" charset="0"/>
                  <a:cs typeface="Times New Roman" panose="02020603050405020304" pitchFamily="18" charset="0"/>
                </a:endParaRPr>
              </a:p>
            </p:txBody>
          </p:sp>
        </mc:Choice>
        <mc:Fallback>
          <p:sp>
            <p:nvSpPr>
              <p:cNvPr id="31" name="Rectangle 30">
                <a:extLst>
                  <a:ext uri="{FF2B5EF4-FFF2-40B4-BE49-F238E27FC236}">
                    <a16:creationId xmlns:a16="http://schemas.microsoft.com/office/drawing/2014/main" id="{EA414EB2-1DD8-401E-96DE-5071FE225EAE}"/>
                  </a:ext>
                </a:extLst>
              </p:cNvPr>
              <p:cNvSpPr>
                <a:spLocks noRot="1" noChangeAspect="1" noMove="1" noResize="1" noEditPoints="1" noAdjustHandles="1" noChangeArrowheads="1" noChangeShapeType="1" noTextEdit="1"/>
              </p:cNvSpPr>
              <p:nvPr/>
            </p:nvSpPr>
            <p:spPr>
              <a:xfrm>
                <a:off x="4933285" y="3911520"/>
                <a:ext cx="6323398" cy="390748"/>
              </a:xfrm>
              <a:prstGeom prst="rect">
                <a:avLst/>
              </a:prstGeom>
              <a:blipFill>
                <a:blip r:embed="rId4"/>
                <a:stretch>
                  <a:fillRect t="-9375" b="-18750"/>
                </a:stretch>
              </a:blipFill>
            </p:spPr>
            <p:txBody>
              <a:bodyPr/>
              <a:lstStyle/>
              <a:p>
                <a:r>
                  <a:rPr lang="sv-SE">
                    <a:noFill/>
                  </a:rPr>
                  <a:t> </a:t>
                </a:r>
              </a:p>
            </p:txBody>
          </p:sp>
        </mc:Fallback>
      </mc:AlternateContent>
      <p:pic>
        <p:nvPicPr>
          <p:cNvPr id="32" name="Picture 31"/>
          <p:cNvPicPr>
            <a:picLocks noChangeAspect="1"/>
          </p:cNvPicPr>
          <p:nvPr/>
        </p:nvPicPr>
        <p:blipFill>
          <a:blip r:embed="rId5"/>
          <a:stretch>
            <a:fillRect/>
          </a:stretch>
        </p:blipFill>
        <p:spPr>
          <a:xfrm>
            <a:off x="6441998" y="4571455"/>
            <a:ext cx="3343034" cy="2042343"/>
          </a:xfrm>
          <a:prstGeom prst="rect">
            <a:avLst/>
          </a:prstGeom>
        </p:spPr>
      </p:pic>
    </p:spTree>
    <p:extLst>
      <p:ext uri="{BB962C8B-B14F-4D97-AF65-F5344CB8AC3E}">
        <p14:creationId xmlns:p14="http://schemas.microsoft.com/office/powerpoint/2010/main" val="19757863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257175" y="832247"/>
            <a:ext cx="4264025" cy="3198019"/>
          </a:xfrm>
          <a:prstGeom prst="rect">
            <a:avLst/>
          </a:prstGeom>
        </p:spPr>
      </p:pic>
      <p:pic>
        <p:nvPicPr>
          <p:cNvPr id="10" name="Picture 9"/>
          <p:cNvPicPr>
            <a:picLocks noChangeAspect="1"/>
          </p:cNvPicPr>
          <p:nvPr/>
        </p:nvPicPr>
        <p:blipFill>
          <a:blip r:embed="rId3"/>
          <a:stretch>
            <a:fillRect/>
          </a:stretch>
        </p:blipFill>
        <p:spPr>
          <a:xfrm>
            <a:off x="8070850" y="990600"/>
            <a:ext cx="3896783" cy="2922587"/>
          </a:xfrm>
          <a:prstGeom prst="rect">
            <a:avLst/>
          </a:prstGeom>
        </p:spPr>
      </p:pic>
      <p:pic>
        <p:nvPicPr>
          <p:cNvPr id="11" name="Picture 10"/>
          <p:cNvPicPr>
            <a:picLocks noChangeAspect="1"/>
          </p:cNvPicPr>
          <p:nvPr/>
        </p:nvPicPr>
        <p:blipFill>
          <a:blip r:embed="rId4"/>
          <a:stretch>
            <a:fillRect/>
          </a:stretch>
        </p:blipFill>
        <p:spPr>
          <a:xfrm>
            <a:off x="4305606" y="3527047"/>
            <a:ext cx="3937000" cy="2952750"/>
          </a:xfrm>
          <a:prstGeom prst="rect">
            <a:avLst/>
          </a:prstGeom>
        </p:spPr>
      </p:pic>
      <p:sp>
        <p:nvSpPr>
          <p:cNvPr id="13"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DC Link Current (Positive/Negative/Zero Sequences)</a:t>
            </a:r>
            <a:endParaRPr lang="sv-SE" dirty="0">
              <a:latin typeface="Times New Roman" panose="02020603050405020304" pitchFamily="18" charset="0"/>
              <a:cs typeface="Times New Roman" panose="02020603050405020304" pitchFamily="18" charset="0"/>
            </a:endParaRPr>
          </a:p>
        </p:txBody>
      </p:sp>
      <p:sp>
        <p:nvSpPr>
          <p:cNvPr id="2" name="TextBox 1"/>
          <p:cNvSpPr txBox="1"/>
          <p:nvPr/>
        </p:nvSpPr>
        <p:spPr>
          <a:xfrm>
            <a:off x="5931273" y="6479797"/>
            <a:ext cx="2862730"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6</a:t>
            </a:r>
            <a:r>
              <a:rPr lang="en-US" baseline="30000" dirty="0" smtClean="0">
                <a:latin typeface="Times New Roman" panose="02020603050405020304" pitchFamily="18" charset="0"/>
                <a:cs typeface="Times New Roman" panose="02020603050405020304" pitchFamily="18" charset="0"/>
              </a:rPr>
              <a:t>th</a:t>
            </a:r>
            <a:r>
              <a:rPr lang="en-US" dirty="0" smtClean="0">
                <a:latin typeface="Times New Roman" panose="02020603050405020304" pitchFamily="18" charset="0"/>
                <a:cs typeface="Times New Roman" panose="02020603050405020304" pitchFamily="18" charset="0"/>
              </a:rPr>
              <a:t> 12</a:t>
            </a:r>
            <a:r>
              <a:rPr lang="en-US" baseline="30000" dirty="0" smtClean="0">
                <a:latin typeface="Times New Roman" panose="02020603050405020304" pitchFamily="18" charset="0"/>
                <a:cs typeface="Times New Roman" panose="02020603050405020304" pitchFamily="18" charset="0"/>
              </a:rPr>
              <a:t>th</a:t>
            </a:r>
            <a:r>
              <a:rPr lang="en-US" dirty="0" smtClean="0">
                <a:latin typeface="Times New Roman" panose="02020603050405020304" pitchFamily="18" charset="0"/>
                <a:cs typeface="Times New Roman" panose="02020603050405020304" pitchFamily="18" charset="0"/>
                <a:sym typeface="Wingdings" panose="05000000000000000000" pitchFamily="2" charset="2"/>
              </a:rPr>
              <a:t>  </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14261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240" y="300762"/>
            <a:ext cx="10990263" cy="568412"/>
          </a:xfrm>
        </p:spPr>
        <p:txBody>
          <a:bodyPr/>
          <a:lstStyle/>
          <a:p>
            <a:r>
              <a:rPr lang="en-US" dirty="0" smtClean="0">
                <a:latin typeface="Times New Roman" panose="02020603050405020304" pitchFamily="18" charset="0"/>
                <a:cs typeface="Times New Roman" panose="02020603050405020304" pitchFamily="18" charset="0"/>
              </a:rPr>
              <a:t>Without Battery Model</a:t>
            </a:r>
            <a:endParaRPr lang="sv-SE"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685800" y="1799292"/>
            <a:ext cx="5334000" cy="4000500"/>
          </a:xfrm>
          <a:prstGeom prst="rect">
            <a:avLst/>
          </a:prstGeom>
        </p:spPr>
      </p:pic>
      <p:sp>
        <p:nvSpPr>
          <p:cNvPr id="6" name="TextBox 5"/>
          <p:cNvSpPr txBox="1"/>
          <p:nvPr/>
        </p:nvSpPr>
        <p:spPr>
          <a:xfrm>
            <a:off x="1740754" y="1543836"/>
            <a:ext cx="3583232"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Capacitor Responses to Phase-A</a:t>
            </a:r>
            <a:endParaRPr lang="sv-SE"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6453094" y="1799292"/>
            <a:ext cx="5334000" cy="4000500"/>
          </a:xfrm>
          <a:prstGeom prst="rect">
            <a:avLst/>
          </a:prstGeom>
        </p:spPr>
      </p:pic>
      <p:sp>
        <p:nvSpPr>
          <p:cNvPr id="8" name="TextBox 7"/>
          <p:cNvSpPr txBox="1"/>
          <p:nvPr/>
        </p:nvSpPr>
        <p:spPr>
          <a:xfrm>
            <a:off x="7203692" y="1543836"/>
            <a:ext cx="4695621"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Capacitor-1 Response to </a:t>
            </a:r>
            <a:r>
              <a:rPr lang="en-US" dirty="0" smtClean="0">
                <a:latin typeface="Times New Roman" panose="02020603050405020304" pitchFamily="18" charset="0"/>
                <a:cs typeface="Times New Roman" panose="02020603050405020304" pitchFamily="18" charset="0"/>
              </a:rPr>
              <a:t>All-phases</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28544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240783" y="2194689"/>
            <a:ext cx="5334000" cy="4000500"/>
          </a:xfrm>
          <a:prstGeom prst="rect">
            <a:avLst/>
          </a:prstGeom>
        </p:spPr>
      </p:pic>
      <p:sp>
        <p:nvSpPr>
          <p:cNvPr id="7" name="TextBox 6"/>
          <p:cNvSpPr txBox="1"/>
          <p:nvPr/>
        </p:nvSpPr>
        <p:spPr>
          <a:xfrm>
            <a:off x="709206" y="2194689"/>
            <a:ext cx="2277374" cy="307777"/>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Low</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3346884" y="1900665"/>
            <a:ext cx="2277374" cy="523220"/>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High</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endParaRPr lang="sv-SE" sz="1400" dirty="0" smtClean="0">
              <a:latin typeface="Times New Roman" panose="02020603050405020304" pitchFamily="18" charset="0"/>
              <a:cs typeface="Times New Roman" panose="02020603050405020304" pitchFamily="18" charset="0"/>
            </a:endParaRPr>
          </a:p>
          <a:p>
            <a:pPr algn="ct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cxnSp>
        <p:nvCxnSpPr>
          <p:cNvPr id="4" name="Straight Arrow Connector 3"/>
          <p:cNvCxnSpPr/>
          <p:nvPr/>
        </p:nvCxnSpPr>
        <p:spPr>
          <a:xfrm>
            <a:off x="1888048" y="2517724"/>
            <a:ext cx="887281" cy="5020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6" idx="2"/>
          </p:cNvCxnSpPr>
          <p:nvPr/>
        </p:nvCxnSpPr>
        <p:spPr>
          <a:xfrm>
            <a:off x="4416617" y="3574144"/>
            <a:ext cx="68954" cy="1208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The Effect of the Battery Connection</a:t>
            </a:r>
            <a:endParaRPr lang="sv-SE"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254346" y="1365474"/>
            <a:ext cx="4695621"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Capacitor-1 Response to </a:t>
            </a:r>
            <a:r>
              <a:rPr lang="en-US" dirty="0" smtClean="0">
                <a:latin typeface="Times New Roman" panose="02020603050405020304" pitchFamily="18" charset="0"/>
                <a:cs typeface="Times New Roman" panose="02020603050405020304" pitchFamily="18" charset="0"/>
              </a:rPr>
              <a:t>All-phases</a:t>
            </a:r>
            <a:endParaRPr lang="sv-SE" dirty="0">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3"/>
          <a:stretch>
            <a:fillRect/>
          </a:stretch>
        </p:blipFill>
        <p:spPr>
          <a:xfrm>
            <a:off x="3702164" y="2502466"/>
            <a:ext cx="1428905" cy="1071678"/>
          </a:xfrm>
          <a:prstGeom prst="rect">
            <a:avLst/>
          </a:prstGeom>
        </p:spPr>
      </p:pic>
      <p:pic>
        <p:nvPicPr>
          <p:cNvPr id="12" name="Picture 11"/>
          <p:cNvPicPr>
            <a:picLocks noChangeAspect="1"/>
          </p:cNvPicPr>
          <p:nvPr/>
        </p:nvPicPr>
        <p:blipFill>
          <a:blip r:embed="rId4"/>
          <a:stretch>
            <a:fillRect/>
          </a:stretch>
        </p:blipFill>
        <p:spPr>
          <a:xfrm>
            <a:off x="6369164" y="2194689"/>
            <a:ext cx="5334000" cy="4000500"/>
          </a:xfrm>
          <a:prstGeom prst="rect">
            <a:avLst/>
          </a:prstGeom>
        </p:spPr>
      </p:pic>
      <p:pic>
        <p:nvPicPr>
          <p:cNvPr id="14" name="Picture 13"/>
          <p:cNvPicPr>
            <a:picLocks noChangeAspect="1"/>
          </p:cNvPicPr>
          <p:nvPr/>
        </p:nvPicPr>
        <p:blipFill>
          <a:blip r:embed="rId5"/>
          <a:stretch>
            <a:fillRect/>
          </a:stretch>
        </p:blipFill>
        <p:spPr>
          <a:xfrm>
            <a:off x="9848292" y="2502146"/>
            <a:ext cx="1406406" cy="1054805"/>
          </a:xfrm>
          <a:prstGeom prst="rect">
            <a:avLst/>
          </a:prstGeom>
        </p:spPr>
      </p:pic>
      <p:sp>
        <p:nvSpPr>
          <p:cNvPr id="17" name="TextBox 16"/>
          <p:cNvSpPr txBox="1"/>
          <p:nvPr/>
        </p:nvSpPr>
        <p:spPr>
          <a:xfrm>
            <a:off x="6970041" y="2654198"/>
            <a:ext cx="2277374" cy="307777"/>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Low</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9460549" y="1933079"/>
            <a:ext cx="2277374" cy="523220"/>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High</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endParaRPr lang="sv-SE" sz="1400" dirty="0" smtClean="0">
              <a:latin typeface="Times New Roman" panose="02020603050405020304" pitchFamily="18" charset="0"/>
              <a:cs typeface="Times New Roman" panose="02020603050405020304" pitchFamily="18" charset="0"/>
            </a:endParaRPr>
          </a:p>
          <a:p>
            <a:pPr algn="ct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cxnSp>
        <p:nvCxnSpPr>
          <p:cNvPr id="19" name="Straight Arrow Connector 18"/>
          <p:cNvCxnSpPr/>
          <p:nvPr/>
        </p:nvCxnSpPr>
        <p:spPr>
          <a:xfrm>
            <a:off x="8148883" y="2977233"/>
            <a:ext cx="887281" cy="5020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10589302" y="3556951"/>
            <a:ext cx="9934" cy="4951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382418" y="1410937"/>
            <a:ext cx="3583232"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Capacitor Responses to Phase-A</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21011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7450" y="933790"/>
            <a:ext cx="3092450"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14 kHz  </a:t>
            </a:r>
            <a:r>
              <a:rPr lang="en-US" dirty="0">
                <a:latin typeface="Times New Roman" panose="02020603050405020304" pitchFamily="18" charset="0"/>
                <a:cs typeface="Times New Roman" panose="02020603050405020304" pitchFamily="18" charset="0"/>
              </a:rPr>
              <a:t>Switching</a:t>
            </a:r>
            <a:endParaRPr lang="sv-SE" dirty="0">
              <a:latin typeface="Times New Roman" panose="02020603050405020304" pitchFamily="18" charset="0"/>
              <a:cs typeface="Times New Roman" panose="02020603050405020304" pitchFamily="18" charset="0"/>
            </a:endParaRPr>
          </a:p>
          <a:p>
            <a:endParaRPr lang="sv-SE" dirty="0">
              <a:latin typeface="Times New Roman" panose="02020603050405020304" pitchFamily="18" charset="0"/>
              <a:cs typeface="Times New Roman" panose="02020603050405020304" pitchFamily="18" charset="0"/>
            </a:endParaRPr>
          </a:p>
        </p:txBody>
      </p:sp>
      <p:sp>
        <p:nvSpPr>
          <p:cNvPr id="6" name="TextBox 5"/>
          <p:cNvSpPr txBox="1"/>
          <p:nvPr/>
        </p:nvSpPr>
        <p:spPr>
          <a:xfrm>
            <a:off x="8418512" y="903222"/>
            <a:ext cx="287178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24kHz Switching</a:t>
            </a:r>
            <a:endParaRPr lang="sv-SE"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6629400" y="1087888"/>
            <a:ext cx="5334000" cy="4000500"/>
          </a:xfrm>
          <a:prstGeom prst="rect">
            <a:avLst/>
          </a:prstGeom>
        </p:spPr>
      </p:pic>
      <p:pic>
        <p:nvPicPr>
          <p:cNvPr id="8" name="Picture 7"/>
          <p:cNvPicPr>
            <a:picLocks noChangeAspect="1"/>
          </p:cNvPicPr>
          <p:nvPr/>
        </p:nvPicPr>
        <p:blipFill>
          <a:blip r:embed="rId3"/>
          <a:stretch>
            <a:fillRect/>
          </a:stretch>
        </p:blipFill>
        <p:spPr>
          <a:xfrm>
            <a:off x="876300" y="1256956"/>
            <a:ext cx="4883150" cy="3662363"/>
          </a:xfrm>
          <a:prstGeom prst="rect">
            <a:avLst/>
          </a:prstGeom>
        </p:spPr>
      </p:pic>
      <p:sp>
        <p:nvSpPr>
          <p:cNvPr id="10"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High Frequency Resonance</a:t>
            </a:r>
            <a:endParaRPr lang="sv-SE" dirty="0">
              <a:latin typeface="Times New Roman" panose="02020603050405020304" pitchFamily="18" charset="0"/>
              <a:cs typeface="Times New Roman" panose="02020603050405020304" pitchFamily="18" charset="0"/>
            </a:endParaRPr>
          </a:p>
        </p:txBody>
      </p:sp>
      <p:sp>
        <p:nvSpPr>
          <p:cNvPr id="3" name="Rectangle 2"/>
          <p:cNvSpPr/>
          <p:nvPr/>
        </p:nvSpPr>
        <p:spPr>
          <a:xfrm>
            <a:off x="2677833" y="4674721"/>
            <a:ext cx="1667435" cy="3107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4" name="TextBox 3"/>
          <p:cNvSpPr txBox="1"/>
          <p:nvPr/>
        </p:nvSpPr>
        <p:spPr>
          <a:xfrm>
            <a:off x="2585149" y="4674721"/>
            <a:ext cx="2336334"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Harmonic number</a:t>
            </a:r>
            <a:endParaRPr lang="sv-SE" sz="1400" dirty="0">
              <a:latin typeface="Times New Roman" panose="02020603050405020304" pitchFamily="18" charset="0"/>
              <a:cs typeface="Times New Roman" panose="02020603050405020304" pitchFamily="18" charset="0"/>
            </a:endParaRPr>
          </a:p>
        </p:txBody>
      </p:sp>
      <p:sp>
        <p:nvSpPr>
          <p:cNvPr id="9" name="Rectangle 8"/>
          <p:cNvSpPr/>
          <p:nvPr/>
        </p:nvSpPr>
        <p:spPr>
          <a:xfrm>
            <a:off x="8615457" y="4828609"/>
            <a:ext cx="1667435" cy="3107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8522773" y="4828609"/>
            <a:ext cx="2336334"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Harmonic number</a:t>
            </a:r>
            <a:endParaRPr lang="sv-SE" sz="14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90500" y="5402589"/>
            <a:ext cx="11772900" cy="923330"/>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P.S: The high-frequency resonance might be considerable if we have a  dual-3-phase-inverter (6-phase) structure and we desire to interleave them to reduce capacitance requirements. (We should look at </a:t>
            </a:r>
            <a:r>
              <a:rPr lang="en-US" dirty="0" smtClean="0">
                <a:latin typeface="Times New Roman" panose="02020603050405020304" pitchFamily="18" charset="0"/>
                <a:cs typeface="Times New Roman" panose="02020603050405020304" pitchFamily="18" charset="0"/>
              </a:rPr>
              <a:t>phase-response (not magnitude response) </a:t>
            </a:r>
            <a:r>
              <a:rPr lang="en-US" dirty="0" smtClean="0">
                <a:latin typeface="Times New Roman" panose="02020603050405020304" pitchFamily="18" charset="0"/>
                <a:cs typeface="Times New Roman" panose="02020603050405020304" pitchFamily="18" charset="0"/>
              </a:rPr>
              <a:t>at such a scenario)</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9411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9862" y="1319852"/>
            <a:ext cx="5719763" cy="5296847"/>
          </a:xfrm>
          <a:prstGeom prst="rect">
            <a:avLst/>
          </a:prstGeom>
        </p:spPr>
      </p:pic>
      <p:pic>
        <p:nvPicPr>
          <p:cNvPr id="5" name="Picture 4"/>
          <p:cNvPicPr>
            <a:picLocks noChangeAspect="1"/>
          </p:cNvPicPr>
          <p:nvPr/>
        </p:nvPicPr>
        <p:blipFill>
          <a:blip r:embed="rId3"/>
          <a:stretch>
            <a:fillRect/>
          </a:stretch>
        </p:blipFill>
        <p:spPr>
          <a:xfrm>
            <a:off x="5481705" y="1528439"/>
            <a:ext cx="6944751" cy="5042957"/>
          </a:xfrm>
          <a:prstGeom prst="rect">
            <a:avLst/>
          </a:prstGeom>
        </p:spPr>
      </p:pic>
      <p:sp>
        <p:nvSpPr>
          <p:cNvPr id="2" name="TextBox 1"/>
          <p:cNvSpPr txBox="1"/>
          <p:nvPr/>
        </p:nvSpPr>
        <p:spPr>
          <a:xfrm>
            <a:off x="1871009" y="1135186"/>
            <a:ext cx="3092450"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700 Hz Fundamental</a:t>
            </a:r>
            <a:endParaRPr lang="sv-SE" dirty="0">
              <a:latin typeface="Times New Roman" panose="02020603050405020304" pitchFamily="18" charset="0"/>
              <a:cs typeface="Times New Roman" panose="02020603050405020304" pitchFamily="18" charset="0"/>
            </a:endParaRPr>
          </a:p>
        </p:txBody>
      </p:sp>
      <p:sp>
        <p:nvSpPr>
          <p:cNvPr id="6" name="TextBox 5"/>
          <p:cNvSpPr txBox="1"/>
          <p:nvPr/>
        </p:nvSpPr>
        <p:spPr>
          <a:xfrm>
            <a:off x="8202612" y="1159107"/>
            <a:ext cx="287178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200 Hz Fundamental</a:t>
            </a:r>
            <a:endParaRPr lang="sv-SE" dirty="0">
              <a:latin typeface="Times New Roman" panose="02020603050405020304" pitchFamily="18" charset="0"/>
              <a:cs typeface="Times New Roman" panose="02020603050405020304" pitchFamily="18" charset="0"/>
            </a:endParaRPr>
          </a:p>
        </p:txBody>
      </p:sp>
      <p:sp>
        <p:nvSpPr>
          <p:cNvPr id="7"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Low Frequency Resonance</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5630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Parasitic Inductances (Switching Speed Limitation)</a:t>
            </a:r>
            <a:endParaRPr lang="sv-SE" dirty="0">
              <a:latin typeface="Times New Roman" panose="02020603050405020304" pitchFamily="18" charset="0"/>
              <a:cs typeface="Times New Roman" panose="02020603050405020304" pitchFamily="18" charset="0"/>
            </a:endParaRPr>
          </a:p>
        </p:txBody>
      </p:sp>
      <p:graphicFrame>
        <p:nvGraphicFramePr>
          <p:cNvPr id="31" name="Table 30"/>
          <p:cNvGraphicFramePr>
            <a:graphicFrameLocks noGrp="1"/>
          </p:cNvGraphicFramePr>
          <p:nvPr>
            <p:extLst>
              <p:ext uri="{D42A27DB-BD31-4B8C-83A1-F6EECF244321}">
                <p14:modId xmlns:p14="http://schemas.microsoft.com/office/powerpoint/2010/main" val="1723386888"/>
              </p:ext>
            </p:extLst>
          </p:nvPr>
        </p:nvGraphicFramePr>
        <p:xfrm>
          <a:off x="3355984" y="1207770"/>
          <a:ext cx="4540241" cy="1474087"/>
        </p:xfrm>
        <a:graphic>
          <a:graphicData uri="http://schemas.openxmlformats.org/drawingml/2006/table">
            <a:tbl>
              <a:tblPr/>
              <a:tblGrid>
                <a:gridCol w="2326637">
                  <a:extLst>
                    <a:ext uri="{9D8B030D-6E8A-4147-A177-3AD203B41FA5}">
                      <a16:colId xmlns:a16="http://schemas.microsoft.com/office/drawing/2014/main" val="2465863165"/>
                    </a:ext>
                  </a:extLst>
                </a:gridCol>
                <a:gridCol w="2213604">
                  <a:extLst>
                    <a:ext uri="{9D8B030D-6E8A-4147-A177-3AD203B41FA5}">
                      <a16:colId xmlns:a16="http://schemas.microsoft.com/office/drawing/2014/main" val="471941430"/>
                    </a:ext>
                  </a:extLst>
                </a:gridCol>
              </a:tblGrid>
              <a:tr h="376807">
                <a:tc>
                  <a:txBody>
                    <a:bodyPr/>
                    <a:lstStyle/>
                    <a:p>
                      <a:r>
                        <a:rPr lang="en-US" b="1" dirty="0" smtClean="0"/>
                        <a:t>Parasitic</a:t>
                      </a:r>
                      <a:r>
                        <a:rPr lang="en-US" b="1" baseline="0" dirty="0" smtClean="0"/>
                        <a:t> Sources</a:t>
                      </a:r>
                      <a:endParaRPr lang="sv-SE" b="1"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smtClean="0"/>
                        <a:t>Inductance </a:t>
                      </a:r>
                      <a:endParaRPr lang="sv-SE" b="1"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2615574"/>
                  </a:ext>
                </a:extLst>
              </a:tr>
              <a:tr h="278258">
                <a:tc>
                  <a:txBody>
                    <a:bodyPr/>
                    <a:lstStyle/>
                    <a:p>
                      <a:r>
                        <a:rPr lang="en-US" dirty="0" smtClean="0"/>
                        <a:t>Power module</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50</a:t>
                      </a:r>
                      <a:r>
                        <a:rPr lang="en-US" baseline="0" dirty="0" smtClean="0"/>
                        <a:t> </a:t>
                      </a:r>
                      <a:r>
                        <a:rPr lang="en-US" baseline="0" dirty="0" err="1" smtClean="0"/>
                        <a:t>nH</a:t>
                      </a:r>
                      <a:endParaRPr lang="sv-SE" dirty="0"/>
                    </a:p>
                  </a:txBody>
                  <a:tcPr>
                    <a:lnL w="12700" cmpd="sng">
                      <a:solidFill>
                        <a:schemeClr val="tx1"/>
                      </a:solid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7665588"/>
                  </a:ext>
                </a:extLst>
              </a:tr>
              <a:tr h="278258">
                <a:tc>
                  <a:txBody>
                    <a:bodyPr/>
                    <a:lstStyle/>
                    <a:p>
                      <a:r>
                        <a:rPr lang="en-US" dirty="0" smtClean="0"/>
                        <a:t>Capacitor ESL</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r>
                        <a:rPr lang="en-US" dirty="0" smtClean="0"/>
                        <a:t>50nH</a:t>
                      </a:r>
                      <a:endParaRPr lang="sv-SE"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0047769"/>
                  </a:ext>
                </a:extLst>
              </a:tr>
              <a:tr h="278258">
                <a:tc>
                  <a:txBody>
                    <a:bodyPr/>
                    <a:lstStyle/>
                    <a:p>
                      <a:r>
                        <a:rPr lang="en-US" dirty="0" err="1" smtClean="0"/>
                        <a:t>Busbar</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noFill/>
                      <a:prstDash val="solid"/>
                      <a:round/>
                      <a:headEnd type="none" w="med" len="med"/>
                      <a:tailEnd type="none" w="med" len="med"/>
                    </a:lnB>
                  </a:tcPr>
                </a:tc>
                <a:tc>
                  <a:txBody>
                    <a:bodyPr/>
                    <a:lstStyle/>
                    <a:p>
                      <a:r>
                        <a:rPr lang="en-US" dirty="0" smtClean="0"/>
                        <a:t>Overall &lt;20nH</a:t>
                      </a:r>
                      <a:endParaRPr lang="sv-SE"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solidFill>
                        <a:schemeClr val="tx1"/>
                      </a:solidFill>
                      <a:prstDash val="solid"/>
                    </a:lnT>
                    <a:lnB w="12700" cap="flat" cmpd="sng" algn="ctr">
                      <a:noFill/>
                      <a:prstDash val="solid"/>
                      <a:round/>
                      <a:headEnd type="none" w="med" len="med"/>
                      <a:tailEnd type="none" w="med" len="med"/>
                    </a:lnB>
                  </a:tcPr>
                </a:tc>
                <a:extLst>
                  <a:ext uri="{0D108BD9-81ED-4DB2-BD59-A6C34878D82A}">
                    <a16:rowId xmlns:a16="http://schemas.microsoft.com/office/drawing/2014/main" val="2544227180"/>
                  </a:ext>
                </a:extLst>
              </a:tr>
            </a:tbl>
          </a:graphicData>
        </a:graphic>
      </p:graphicFrame>
      <p:pic>
        <p:nvPicPr>
          <p:cNvPr id="32" name="Picture 31"/>
          <p:cNvPicPr>
            <a:picLocks noChangeAspect="1"/>
          </p:cNvPicPr>
          <p:nvPr/>
        </p:nvPicPr>
        <p:blipFill rotWithShape="1">
          <a:blip r:embed="rId2"/>
          <a:srcRect t="7832"/>
          <a:stretch/>
        </p:blipFill>
        <p:spPr>
          <a:xfrm>
            <a:off x="1645956" y="2681857"/>
            <a:ext cx="7578584" cy="3484844"/>
          </a:xfrm>
          <a:prstGeom prst="rect">
            <a:avLst/>
          </a:prstGeom>
        </p:spPr>
      </p:pic>
    </p:spTree>
    <p:extLst>
      <p:ext uri="{BB962C8B-B14F-4D97-AF65-F5344CB8AC3E}">
        <p14:creationId xmlns:p14="http://schemas.microsoft.com/office/powerpoint/2010/main" val="30507929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Parasitic Inductances (Switching Speed Limitation)</a:t>
            </a:r>
            <a:endParaRPr lang="sv-SE"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597949578"/>
              </p:ext>
            </p:extLst>
          </p:nvPr>
        </p:nvGraphicFramePr>
        <p:xfrm>
          <a:off x="549440" y="1247446"/>
          <a:ext cx="10589615" cy="742567"/>
        </p:xfrm>
        <a:graphic>
          <a:graphicData uri="http://schemas.openxmlformats.org/drawingml/2006/table">
            <a:tbl>
              <a:tblPr/>
              <a:tblGrid>
                <a:gridCol w="3648025">
                  <a:extLst>
                    <a:ext uri="{9D8B030D-6E8A-4147-A177-3AD203B41FA5}">
                      <a16:colId xmlns:a16="http://schemas.microsoft.com/office/drawing/2014/main" val="2465863165"/>
                    </a:ext>
                  </a:extLst>
                </a:gridCol>
                <a:gridCol w="3470795">
                  <a:extLst>
                    <a:ext uri="{9D8B030D-6E8A-4147-A177-3AD203B41FA5}">
                      <a16:colId xmlns:a16="http://schemas.microsoft.com/office/drawing/2014/main" val="471941430"/>
                    </a:ext>
                  </a:extLst>
                </a:gridCol>
                <a:gridCol w="3470795">
                  <a:extLst>
                    <a:ext uri="{9D8B030D-6E8A-4147-A177-3AD203B41FA5}">
                      <a16:colId xmlns:a16="http://schemas.microsoft.com/office/drawing/2014/main" val="3986868260"/>
                    </a:ext>
                  </a:extLst>
                </a:gridCol>
              </a:tblGrid>
              <a:tr h="376807">
                <a:tc>
                  <a:txBody>
                    <a:bodyPr/>
                    <a:lstStyle/>
                    <a:p>
                      <a:pPr algn="ctr"/>
                      <a:r>
                        <a:rPr lang="en-US" b="1" dirty="0" smtClean="0"/>
                        <a:t>Maximum Current (</a:t>
                      </a:r>
                      <a:r>
                        <a:rPr lang="en-US" b="1" dirty="0" err="1" smtClean="0"/>
                        <a:t>MaxA</a:t>
                      </a:r>
                      <a:r>
                        <a:rPr lang="en-US" b="1" dirty="0" smtClean="0"/>
                        <a:t>)</a:t>
                      </a:r>
                      <a:r>
                        <a:rPr lang="en-US" b="1" baseline="0" dirty="0" smtClean="0"/>
                        <a:t> (</a:t>
                      </a:r>
                      <a:r>
                        <a:rPr lang="en-US" b="1" baseline="0" dirty="0" err="1" smtClean="0"/>
                        <a:t>inA</a:t>
                      </a:r>
                      <a:r>
                        <a:rPr lang="en-US" b="1" baseline="0" dirty="0" smtClean="0"/>
                        <a:t>)</a:t>
                      </a:r>
                      <a:endParaRPr lang="sv-SE" b="1"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smtClean="0"/>
                        <a:t>dv/</a:t>
                      </a:r>
                      <a:r>
                        <a:rPr lang="en-US" b="1" dirty="0" err="1" smtClean="0"/>
                        <a:t>dt</a:t>
                      </a:r>
                      <a:r>
                        <a:rPr lang="en-US" b="1" dirty="0" smtClean="0"/>
                        <a:t>  (in V/</a:t>
                      </a:r>
                      <a:r>
                        <a:rPr lang="en-US" b="1" dirty="0" err="1" smtClean="0"/>
                        <a:t>nS</a:t>
                      </a:r>
                      <a:r>
                        <a:rPr lang="en-US" b="1" dirty="0" smtClean="0"/>
                        <a:t>) @</a:t>
                      </a:r>
                      <a:r>
                        <a:rPr lang="en-US" b="1" baseline="0" dirty="0" smtClean="0"/>
                        <a:t> </a:t>
                      </a:r>
                      <a:r>
                        <a:rPr lang="en-US" b="1" dirty="0" err="1" smtClean="0"/>
                        <a:t>MaxA</a:t>
                      </a:r>
                      <a:endParaRPr lang="sv-SE"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smtClean="0"/>
                        <a:t>Overshoot (in %) @</a:t>
                      </a:r>
                      <a:r>
                        <a:rPr lang="en-US" b="1" baseline="0" dirty="0" smtClean="0"/>
                        <a:t> </a:t>
                      </a:r>
                      <a:r>
                        <a:rPr lang="en-US" b="1" dirty="0" err="1" smtClean="0"/>
                        <a:t>MaxA</a:t>
                      </a:r>
                      <a:endParaRPr lang="sv-SE" b="1" dirty="0" smtClean="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2615574"/>
                  </a:ext>
                </a:extLst>
              </a:tr>
              <a:tr h="278258">
                <a:tc>
                  <a:txBody>
                    <a:bodyPr/>
                    <a:lstStyle/>
                    <a:p>
                      <a:pPr algn="ctr"/>
                      <a:r>
                        <a:rPr lang="en-US" dirty="0" smtClean="0"/>
                        <a:t>380 A</a:t>
                      </a:r>
                      <a:endParaRPr lang="sv-SE"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dirty="0" smtClean="0"/>
                        <a:t>35 V/ns</a:t>
                      </a:r>
                      <a:endParaRPr lang="sv-SE"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dirty="0" smtClean="0"/>
                        <a:t>40 %</a:t>
                      </a:r>
                      <a:endParaRPr lang="sv-SE" dirty="0"/>
                    </a:p>
                  </a:txBody>
                  <a:tcPr>
                    <a:lnL w="12700" cmpd="sng">
                      <a:solidFill>
                        <a:schemeClr val="tx1"/>
                      </a:solidFill>
                      <a:prstDash val="soli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07665588"/>
                  </a:ext>
                </a:extLst>
              </a:tr>
            </a:tbl>
          </a:graphicData>
        </a:graphic>
      </p:graphicFrame>
      <p:pic>
        <p:nvPicPr>
          <p:cNvPr id="6" name="Picture 5"/>
          <p:cNvPicPr>
            <a:picLocks noChangeAspect="1"/>
          </p:cNvPicPr>
          <p:nvPr/>
        </p:nvPicPr>
        <p:blipFill>
          <a:blip r:embed="rId2"/>
          <a:stretch>
            <a:fillRect/>
          </a:stretch>
        </p:blipFill>
        <p:spPr>
          <a:xfrm>
            <a:off x="1597214" y="2361735"/>
            <a:ext cx="8599260" cy="2171873"/>
          </a:xfrm>
          <a:prstGeom prst="rect">
            <a:avLst/>
          </a:prstGeom>
        </p:spPr>
      </p:pic>
      <p:sp>
        <p:nvSpPr>
          <p:cNvPr id="9" name="Rectangle 8"/>
          <p:cNvSpPr/>
          <p:nvPr/>
        </p:nvSpPr>
        <p:spPr>
          <a:xfrm>
            <a:off x="2585601" y="4882506"/>
            <a:ext cx="1717201" cy="369332"/>
          </a:xfrm>
          <a:prstGeom prst="rect">
            <a:avLst/>
          </a:prstGeom>
        </p:spPr>
        <p:txBody>
          <a:bodyPr wrap="none">
            <a:spAutoFit/>
          </a:bodyPr>
          <a:lstStyle/>
          <a:p>
            <a:r>
              <a:rPr lang="en-US" dirty="0" smtClean="0">
                <a:latin typeface="Times New Roman" panose="02020603050405020304" pitchFamily="18" charset="0"/>
                <a:cs typeface="Times New Roman" panose="02020603050405020304" pitchFamily="18" charset="0"/>
              </a:rPr>
              <a:t>Phase-A Current</a:t>
            </a:r>
            <a:endParaRPr lang="sv-SE" dirty="0">
              <a:latin typeface="Times New Roman" panose="02020603050405020304" pitchFamily="18" charset="0"/>
              <a:cs typeface="Times New Roman" panose="02020603050405020304" pitchFamily="18" charset="0"/>
            </a:endParaRPr>
          </a:p>
        </p:txBody>
      </p:sp>
      <p:sp>
        <p:nvSpPr>
          <p:cNvPr id="14" name="Rectangle 13"/>
          <p:cNvSpPr/>
          <p:nvPr/>
        </p:nvSpPr>
        <p:spPr>
          <a:xfrm>
            <a:off x="5498737" y="4882506"/>
            <a:ext cx="1717137" cy="369332"/>
          </a:xfrm>
          <a:prstGeom prst="rect">
            <a:avLst/>
          </a:prstGeom>
        </p:spPr>
        <p:txBody>
          <a:bodyPr wrap="none">
            <a:spAutoFit/>
          </a:bodyPr>
          <a:lstStyle/>
          <a:p>
            <a:r>
              <a:rPr lang="en-US" dirty="0" smtClean="0">
                <a:latin typeface="Times New Roman" panose="02020603050405020304" pitchFamily="18" charset="0"/>
                <a:cs typeface="Times New Roman" panose="02020603050405020304" pitchFamily="18" charset="0"/>
              </a:rPr>
              <a:t>Phase-B Current</a:t>
            </a:r>
            <a:endParaRPr lang="sv-SE" dirty="0">
              <a:latin typeface="Times New Roman" panose="02020603050405020304" pitchFamily="18" charset="0"/>
              <a:cs typeface="Times New Roman" panose="02020603050405020304" pitchFamily="18" charset="0"/>
            </a:endParaRPr>
          </a:p>
        </p:txBody>
      </p:sp>
      <p:sp>
        <p:nvSpPr>
          <p:cNvPr id="15" name="Rectangle 14"/>
          <p:cNvSpPr/>
          <p:nvPr/>
        </p:nvSpPr>
        <p:spPr>
          <a:xfrm>
            <a:off x="8226697" y="4882506"/>
            <a:ext cx="1717137" cy="369332"/>
          </a:xfrm>
          <a:prstGeom prst="rect">
            <a:avLst/>
          </a:prstGeom>
        </p:spPr>
        <p:txBody>
          <a:bodyPr wrap="none">
            <a:spAutoFit/>
          </a:bodyPr>
          <a:lstStyle/>
          <a:p>
            <a:r>
              <a:rPr lang="en-US" dirty="0" smtClean="0">
                <a:latin typeface="Times New Roman" panose="02020603050405020304" pitchFamily="18" charset="0"/>
                <a:cs typeface="Times New Roman" panose="02020603050405020304" pitchFamily="18" charset="0"/>
              </a:rPr>
              <a:t>Phase-C Current</a:t>
            </a:r>
            <a:endParaRPr lang="sv-SE" dirty="0">
              <a:latin typeface="Times New Roman" panose="02020603050405020304" pitchFamily="18" charset="0"/>
              <a:cs typeface="Times New Roman" panose="02020603050405020304" pitchFamily="18" charset="0"/>
            </a:endParaRPr>
          </a:p>
        </p:txBody>
      </p:sp>
      <p:cxnSp>
        <p:nvCxnSpPr>
          <p:cNvPr id="20" name="Straight Arrow Connector 19"/>
          <p:cNvCxnSpPr/>
          <p:nvPr/>
        </p:nvCxnSpPr>
        <p:spPr>
          <a:xfrm flipH="1">
            <a:off x="6354704" y="4407180"/>
            <a:ext cx="1" cy="540209"/>
          </a:xfrm>
          <a:prstGeom prst="straightConnector1">
            <a:avLst/>
          </a:prstGeom>
          <a:ln w="12700">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9182248" y="4407180"/>
            <a:ext cx="1" cy="540209"/>
          </a:xfrm>
          <a:prstGeom prst="straightConnector1">
            <a:avLst/>
          </a:prstGeom>
          <a:ln w="12700">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3590679" y="4407181"/>
            <a:ext cx="1" cy="540209"/>
          </a:xfrm>
          <a:prstGeom prst="straightConnector1">
            <a:avLst/>
          </a:prstGeom>
          <a:ln w="12700">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4972691" y="4112819"/>
            <a:ext cx="2" cy="1510741"/>
          </a:xfrm>
          <a:prstGeom prst="straightConnector1">
            <a:avLst/>
          </a:prstGeom>
          <a:ln w="12700">
            <a:solidFill>
              <a:schemeClr val="tx1"/>
            </a:solidFill>
            <a:tailEnd type="triangle"/>
          </a:ln>
          <a:effectLst>
            <a:glow rad="25400">
              <a:schemeClr val="bg1"/>
            </a:glow>
          </a:effectLst>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900249" y="5623560"/>
            <a:ext cx="2144883" cy="923330"/>
          </a:xfrm>
          <a:prstGeom prst="rect">
            <a:avLst/>
          </a:prstGeom>
        </p:spPr>
        <p:txBody>
          <a:bodyPr wrap="none">
            <a:spAutoFit/>
          </a:bodyPr>
          <a:lstStyle/>
          <a:p>
            <a:pPr algn="ctr"/>
            <a:r>
              <a:rPr lang="en-US" dirty="0" smtClean="0">
                <a:latin typeface="Times New Roman" panose="02020603050405020304" pitchFamily="18" charset="0"/>
                <a:cs typeface="Times New Roman" panose="02020603050405020304" pitchFamily="18" charset="0"/>
              </a:rPr>
              <a:t>Drain-source Voltage</a:t>
            </a:r>
          </a:p>
          <a:p>
            <a:pPr algn="ctr"/>
            <a:r>
              <a:rPr lang="en-US" dirty="0" smtClean="0">
                <a:latin typeface="Times New Roman" panose="02020603050405020304" pitchFamily="18" charset="0"/>
                <a:cs typeface="Times New Roman" panose="02020603050405020304" pitchFamily="18" charset="0"/>
              </a:rPr>
              <a:t>Leg-A </a:t>
            </a:r>
          </a:p>
          <a:p>
            <a:pPr algn="ctr"/>
            <a:r>
              <a:rPr lang="en-US" dirty="0" smtClean="0">
                <a:latin typeface="Times New Roman" panose="02020603050405020304" pitchFamily="18" charset="0"/>
                <a:cs typeface="Times New Roman" panose="02020603050405020304" pitchFamily="18" charset="0"/>
              </a:rPr>
              <a:t>Bottom Switch</a:t>
            </a:r>
          </a:p>
        </p:txBody>
      </p:sp>
    </p:spTree>
    <p:extLst>
      <p:ext uri="{BB962C8B-B14F-4D97-AF65-F5344CB8AC3E}">
        <p14:creationId xmlns:p14="http://schemas.microsoft.com/office/powerpoint/2010/main" val="23218658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Outline</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Content Placeholder 1"/>
              <p:cNvSpPr>
                <a:spLocks noGrp="1"/>
              </p:cNvSpPr>
              <p:nvPr>
                <p:ph idx="1"/>
              </p:nvPr>
            </p:nvSpPr>
            <p:spPr>
              <a:xfrm>
                <a:off x="594098" y="1842462"/>
                <a:ext cx="10990263" cy="4453808"/>
              </a:xfrm>
            </p:spPr>
            <p:txBody>
              <a:bodyPr/>
              <a:lstStyle/>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The Effects of the </a:t>
                </a:r>
                <a:r>
                  <a:rPr lang="en-US" sz="2400" dirty="0" err="1" smtClean="0">
                    <a:solidFill>
                      <a:srgbClr val="C0C0C0"/>
                    </a:solidFill>
                    <a:latin typeface="Times New Roman" panose="02020603050405020304" pitchFamily="18" charset="0"/>
                    <a:cs typeface="Times New Roman" panose="02020603050405020304" pitchFamily="18" charset="0"/>
                  </a:rPr>
                  <a:t>Busbar</a:t>
                </a:r>
                <a:r>
                  <a:rPr lang="en-US" sz="2400" dirty="0" smtClean="0">
                    <a:solidFill>
                      <a:srgbClr val="C0C0C0"/>
                    </a:solidFill>
                    <a:latin typeface="Times New Roman" panose="02020603050405020304" pitchFamily="18" charset="0"/>
                    <a:cs typeface="Times New Roman" panose="02020603050405020304" pitchFamily="18" charset="0"/>
                  </a:rPr>
                  <a:t> and Battery Parasitic Inductance</a:t>
                </a:r>
              </a:p>
              <a:p>
                <a:pPr>
                  <a:buFont typeface="Wingdings" panose="05000000000000000000" pitchFamily="2" charset="2"/>
                  <a:buChar char="q"/>
                </a:pP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latin typeface="Times New Roman" panose="02020603050405020304" pitchFamily="18" charset="0"/>
                    <a:cs typeface="Times New Roman" panose="02020603050405020304" pitchFamily="18" charset="0"/>
                  </a:rPr>
                  <a:t>Conventional Back-to-Back Inverter Setup </a:t>
                </a:r>
              </a:p>
              <a:p>
                <a:pPr>
                  <a:buFont typeface="Wingdings" panose="05000000000000000000" pitchFamily="2" charset="2"/>
                  <a:buChar char="q"/>
                </a:pPr>
                <a:endParaRPr lang="en-US" sz="2400" dirty="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Intelligent Gate Driver Measurement Unit: </a:t>
                </a:r>
                <a:r>
                  <a:rPr lang="en-US" sz="2400" dirty="0">
                    <a:solidFill>
                      <a:srgbClr val="C0C0C0"/>
                    </a:solidFill>
                    <a:latin typeface="Times New Roman" panose="02020603050405020304" pitchFamily="18" charset="0"/>
                    <a:cs typeface="Times New Roman" panose="02020603050405020304" pitchFamily="18" charset="0"/>
                  </a:rPr>
                  <a:t>Online </a:t>
                </a:r>
                <a14:m>
                  <m:oMath xmlns:m="http://schemas.openxmlformats.org/officeDocument/2006/math">
                    <m:sSub>
                      <m:sSubPr>
                        <m:ctrlPr>
                          <a:rPr lang="en-US" sz="2400" i="1" dirty="0">
                            <a:solidFill>
                              <a:srgbClr val="C0C0C0"/>
                            </a:solidFill>
                            <a:latin typeface="Cambria Math" panose="02040503050406030204" pitchFamily="18" charset="0"/>
                            <a:cs typeface="Times New Roman" panose="02020603050405020304" pitchFamily="18" charset="0"/>
                          </a:rPr>
                        </m:ctrlPr>
                      </m:sSubPr>
                      <m:e>
                        <m:r>
                          <a:rPr lang="en-US" sz="2400" i="1" dirty="0">
                            <a:solidFill>
                              <a:srgbClr val="C0C0C0"/>
                            </a:solidFill>
                            <a:latin typeface="Cambria Math" panose="02040503050406030204" pitchFamily="18" charset="0"/>
                            <a:cs typeface="Times New Roman" panose="02020603050405020304" pitchFamily="18" charset="0"/>
                          </a:rPr>
                          <m:t>𝑅</m:t>
                        </m:r>
                      </m:e>
                      <m:sub>
                        <m:r>
                          <a:rPr lang="en-US" sz="2400" i="1" dirty="0">
                            <a:solidFill>
                              <a:srgbClr val="C0C0C0"/>
                            </a:solidFill>
                            <a:latin typeface="Cambria Math" panose="02040503050406030204" pitchFamily="18" charset="0"/>
                            <a:cs typeface="Times New Roman" panose="02020603050405020304" pitchFamily="18" charset="0"/>
                          </a:rPr>
                          <m:t>𝑑𝑠</m:t>
                        </m:r>
                      </m:sub>
                    </m:sSub>
                  </m:oMath>
                </a14:m>
                <a:r>
                  <a:rPr lang="en-US" sz="2400" dirty="0">
                    <a:solidFill>
                      <a:srgbClr val="C0C0C0"/>
                    </a:solidFill>
                    <a:latin typeface="Times New Roman" panose="02020603050405020304" pitchFamily="18" charset="0"/>
                    <a:cs typeface="Times New Roman" panose="02020603050405020304" pitchFamily="18" charset="0"/>
                  </a:rPr>
                  <a:t> </a:t>
                </a:r>
                <a:r>
                  <a:rPr lang="en-US" sz="2400" dirty="0" smtClean="0">
                    <a:solidFill>
                      <a:srgbClr val="C0C0C0"/>
                    </a:solidFill>
                    <a:latin typeface="Times New Roman" panose="02020603050405020304" pitchFamily="18" charset="0"/>
                    <a:cs typeface="Times New Roman" panose="02020603050405020304" pitchFamily="18" charset="0"/>
                  </a:rPr>
                  <a:t>Measurement</a:t>
                </a:r>
              </a:p>
              <a:p>
                <a:pPr>
                  <a:buFont typeface="Wingdings" panose="05000000000000000000" pitchFamily="2" charset="2"/>
                  <a:buChar char="q"/>
                </a:pPr>
                <a:endParaRPr lang="en-US" sz="2400" dirty="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solidFill>
                      <a:srgbClr val="C0C0C0"/>
                    </a:solidFill>
                    <a:latin typeface="Times New Roman" panose="02020603050405020304" pitchFamily="18" charset="0"/>
                    <a:cs typeface="Times New Roman" panose="02020603050405020304" pitchFamily="18" charset="0"/>
                  </a:rPr>
                  <a:t>ECCE-Europe Paper Digest</a:t>
                </a:r>
              </a:p>
              <a:p>
                <a:pPr marL="0" indent="0">
                  <a:buNone/>
                </a:pPr>
                <a:endParaRPr lang="en-US" sz="2400" dirty="0" smtClean="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smtClean="0">
                  <a:latin typeface="Times New Roman" panose="02020603050405020304" pitchFamily="18" charset="0"/>
                  <a:cs typeface="Times New Roman" panose="02020603050405020304" pitchFamily="18" charset="0"/>
                </a:endParaRPr>
              </a:p>
            </p:txBody>
          </p:sp>
        </mc:Choice>
        <mc:Fallback>
          <p:sp>
            <p:nvSpPr>
              <p:cNvPr id="2" name="Content Placeholder 1"/>
              <p:cNvSpPr>
                <a:spLocks noGrp="1" noRot="1" noChangeAspect="1" noMove="1" noResize="1" noEditPoints="1" noAdjustHandles="1" noChangeArrowheads="1" noChangeShapeType="1" noTextEdit="1"/>
              </p:cNvSpPr>
              <p:nvPr>
                <p:ph idx="1"/>
              </p:nvPr>
            </p:nvSpPr>
            <p:spPr>
              <a:xfrm>
                <a:off x="594098" y="1842462"/>
                <a:ext cx="10990263" cy="4453808"/>
              </a:xfrm>
              <a:blipFill>
                <a:blip r:embed="rId2"/>
                <a:stretch>
                  <a:fillRect l="-721" t="-1915"/>
                </a:stretch>
              </a:blipFill>
            </p:spPr>
            <p:txBody>
              <a:bodyPr/>
              <a:lstStyle/>
              <a:p>
                <a:r>
                  <a:rPr lang="sv-SE">
                    <a:noFill/>
                  </a:rPr>
                  <a:t> </a:t>
                </a:r>
              </a:p>
            </p:txBody>
          </p:sp>
        </mc:Fallback>
      </mc:AlternateContent>
    </p:spTree>
    <p:extLst>
      <p:ext uri="{BB962C8B-B14F-4D97-AF65-F5344CB8AC3E}">
        <p14:creationId xmlns:p14="http://schemas.microsoft.com/office/powerpoint/2010/main" val="26411852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Back-to-Back Inverter</a:t>
            </a:r>
            <a:endParaRPr lang="sv-SE"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4284" y="965463"/>
            <a:ext cx="6907114" cy="2749193"/>
          </a:xfrm>
          <a:prstGeom prst="rect">
            <a:avLst/>
          </a:prstGeom>
        </p:spPr>
      </p:pic>
      <p:pic>
        <p:nvPicPr>
          <p:cNvPr id="1026" name="Picture 2" descr="2. Introduction to the Grid Connected Inverter — Lab assignment"/>
          <p:cNvPicPr>
            <a:picLocks noChangeAspect="1" noChangeArrowheads="1"/>
          </p:cNvPicPr>
          <p:nvPr/>
        </p:nvPicPr>
        <p:blipFill rotWithShape="1">
          <a:blip r:embed="rId3">
            <a:extLst>
              <a:ext uri="{28A0092B-C50C-407E-A947-70E740481C1C}">
                <a14:useLocalDpi xmlns:a14="http://schemas.microsoft.com/office/drawing/2010/main" val="0"/>
              </a:ext>
            </a:extLst>
          </a:blip>
          <a:srcRect l="11557" t="20458" r="11099"/>
          <a:stretch/>
        </p:blipFill>
        <p:spPr bwMode="auto">
          <a:xfrm>
            <a:off x="2142576" y="3970648"/>
            <a:ext cx="2342777" cy="120464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392494" y="3677349"/>
            <a:ext cx="672860" cy="353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dirty="0" err="1" smtClean="0">
                <a:solidFill>
                  <a:schemeClr val="tx1"/>
                </a:solidFill>
                <a:latin typeface="Times New Roman" panose="02020603050405020304" pitchFamily="18" charset="0"/>
                <a:cs typeface="Times New Roman" panose="02020603050405020304" pitchFamily="18" charset="0"/>
              </a:rPr>
              <a:t>I</a:t>
            </a:r>
            <a:r>
              <a:rPr lang="sv-SE" sz="1200" dirty="0" err="1" smtClean="0">
                <a:solidFill>
                  <a:schemeClr val="tx1"/>
                </a:solidFill>
                <a:latin typeface="Times New Roman" panose="02020603050405020304" pitchFamily="18" charset="0"/>
                <a:cs typeface="Times New Roman" panose="02020603050405020304" pitchFamily="18" charset="0"/>
              </a:rPr>
              <a:t>ph</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 name="Rectangle 7"/>
          <p:cNvSpPr/>
          <p:nvPr/>
        </p:nvSpPr>
        <p:spPr>
          <a:xfrm>
            <a:off x="1447239" y="4256218"/>
            <a:ext cx="533803" cy="353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1591622" y="4369677"/>
            <a:ext cx="590226" cy="338554"/>
          </a:xfrm>
          <a:prstGeom prst="rect">
            <a:avLst/>
          </a:prstGeom>
        </p:spPr>
        <p:txBody>
          <a:bodyPr wrap="none">
            <a:spAutoFit/>
          </a:bodyPr>
          <a:lstStyle/>
          <a:p>
            <a:pPr algn="ctr"/>
            <a:r>
              <a:rPr lang="sv-SE" sz="1600" dirty="0" smtClean="0">
                <a:latin typeface="Times New Roman" panose="02020603050405020304" pitchFamily="18" charset="0"/>
                <a:cs typeface="Times New Roman" panose="02020603050405020304" pitchFamily="18" charset="0"/>
              </a:rPr>
              <a:t>V</a:t>
            </a:r>
            <a:r>
              <a:rPr lang="sv-SE" sz="1200" dirty="0" smtClean="0">
                <a:latin typeface="Times New Roman" panose="02020603050405020304" pitchFamily="18" charset="0"/>
                <a:cs typeface="Times New Roman" panose="02020603050405020304" pitchFamily="18" charset="0"/>
              </a:rPr>
              <a:t>ph</a:t>
            </a:r>
            <a:r>
              <a:rPr lang="sv-SE" sz="1600" dirty="0">
                <a:latin typeface="Times New Roman" panose="02020603050405020304" pitchFamily="18" charset="0"/>
                <a:cs typeface="Times New Roman" panose="02020603050405020304" pitchFamily="18" charset="0"/>
              </a:rPr>
              <a:t>1</a:t>
            </a:r>
            <a:endParaRPr lang="sv-SE" dirty="0">
              <a:latin typeface="Times New Roman" panose="02020603050405020304" pitchFamily="18" charset="0"/>
              <a:cs typeface="Times New Roman" panose="02020603050405020304" pitchFamily="18" charset="0"/>
            </a:endParaRPr>
          </a:p>
        </p:txBody>
      </p:sp>
      <p:sp>
        <p:nvSpPr>
          <p:cNvPr id="12" name="Rectangle 11"/>
          <p:cNvSpPr/>
          <p:nvPr/>
        </p:nvSpPr>
        <p:spPr>
          <a:xfrm>
            <a:off x="4352575" y="4325380"/>
            <a:ext cx="588623" cy="338554"/>
          </a:xfrm>
          <a:prstGeom prst="rect">
            <a:avLst/>
          </a:prstGeom>
        </p:spPr>
        <p:txBody>
          <a:bodyPr wrap="none">
            <a:spAutoFit/>
          </a:bodyPr>
          <a:lstStyle/>
          <a:p>
            <a:pPr algn="ctr"/>
            <a:r>
              <a:rPr lang="sv-SE" sz="1600" dirty="0" smtClean="0">
                <a:latin typeface="Times New Roman" panose="02020603050405020304" pitchFamily="18" charset="0"/>
                <a:cs typeface="Times New Roman" panose="02020603050405020304" pitchFamily="18" charset="0"/>
              </a:rPr>
              <a:t>V</a:t>
            </a:r>
            <a:r>
              <a:rPr lang="sv-SE" sz="1200" dirty="0" smtClean="0">
                <a:latin typeface="Times New Roman" panose="02020603050405020304" pitchFamily="18" charset="0"/>
                <a:cs typeface="Times New Roman" panose="02020603050405020304" pitchFamily="18" charset="0"/>
              </a:rPr>
              <a:t>ph</a:t>
            </a:r>
            <a:r>
              <a:rPr lang="sv-SE" sz="1600" dirty="0" smtClean="0">
                <a:latin typeface="Times New Roman" panose="02020603050405020304" pitchFamily="18" charset="0"/>
                <a:cs typeface="Times New Roman" panose="02020603050405020304" pitchFamily="18" charset="0"/>
              </a:rPr>
              <a:t>2</a:t>
            </a:r>
            <a:endParaRPr lang="sv-SE" dirty="0">
              <a:latin typeface="Times New Roman" panose="02020603050405020304" pitchFamily="18" charset="0"/>
              <a:cs typeface="Times New Roman" panose="02020603050405020304" pitchFamily="18" charset="0"/>
            </a:endParaRPr>
          </a:p>
        </p:txBody>
      </p:sp>
      <p:sp>
        <p:nvSpPr>
          <p:cNvPr id="11" name="Rectangle 10"/>
          <p:cNvSpPr/>
          <p:nvPr/>
        </p:nvSpPr>
        <p:spPr>
          <a:xfrm>
            <a:off x="490679" y="5134711"/>
            <a:ext cx="5372239" cy="954107"/>
          </a:xfrm>
          <a:prstGeom prst="rect">
            <a:avLst/>
          </a:prstGeom>
        </p:spPr>
        <p:txBody>
          <a:bodyPr wrap="square">
            <a:spAutoFit/>
          </a:bodyPr>
          <a:lstStyle/>
          <a:p>
            <a:pPr algn="just"/>
            <a:r>
              <a:rPr lang="en-US" sz="1400" dirty="0">
                <a:solidFill>
                  <a:srgbClr val="404040"/>
                </a:solidFill>
                <a:latin typeface="Times New Roman" panose="02020603050405020304" pitchFamily="18" charset="0"/>
                <a:cs typeface="Times New Roman" panose="02020603050405020304" pitchFamily="18" charset="0"/>
              </a:rPr>
              <a:t>When two AC voltage sources are connected through an inductance, the power flow between them depends on the phase difference between the voltages of the two sources and the reactance of the connecting inductance.</a:t>
            </a:r>
            <a:endParaRPr lang="sv-SE" sz="1400" dirty="0">
              <a:latin typeface="Times New Roman" panose="02020603050405020304" pitchFamily="18" charset="0"/>
              <a:cs typeface="Times New Roman" panose="02020603050405020304" pitchFamily="18" charset="0"/>
            </a:endParaRPr>
          </a:p>
        </p:txBody>
      </p:sp>
      <p:sp>
        <p:nvSpPr>
          <p:cNvPr id="2" name="Rectangle 1"/>
          <p:cNvSpPr/>
          <p:nvPr/>
        </p:nvSpPr>
        <p:spPr>
          <a:xfrm>
            <a:off x="350563" y="6366687"/>
            <a:ext cx="11261678" cy="369332"/>
          </a:xfrm>
          <a:prstGeom prst="rect">
            <a:avLst/>
          </a:prstGeom>
        </p:spPr>
        <p:txBody>
          <a:bodyPr wrap="square">
            <a:spAutoFit/>
          </a:bodyPr>
          <a:lstStyle/>
          <a:p>
            <a:r>
              <a:rPr lang="sv-SE" sz="1400" dirty="0">
                <a:latin typeface="Times New Roman" panose="02020603050405020304" pitchFamily="18" charset="0"/>
                <a:cs typeface="Times New Roman" panose="02020603050405020304" pitchFamily="18" charset="0"/>
              </a:rPr>
              <a:t>Y. </a:t>
            </a:r>
            <a:r>
              <a:rPr lang="sv-SE" sz="1400" dirty="0" err="1" smtClean="0">
                <a:latin typeface="Times New Roman" panose="02020603050405020304" pitchFamily="18" charset="0"/>
                <a:cs typeface="Times New Roman" panose="02020603050405020304" pitchFamily="18" charset="0"/>
              </a:rPr>
              <a:t>Luo</a:t>
            </a:r>
            <a:r>
              <a:rPr lang="sv-SE" sz="1400" dirty="0" smtClean="0">
                <a:latin typeface="Times New Roman" panose="02020603050405020304" pitchFamily="18" charset="0"/>
                <a:cs typeface="Times New Roman" panose="02020603050405020304" pitchFamily="18" charset="0"/>
              </a:rPr>
              <a:t>, </a:t>
            </a:r>
            <a:r>
              <a:rPr lang="sv-SE" sz="1400" dirty="0">
                <a:latin typeface="Times New Roman" panose="02020603050405020304" pitchFamily="18" charset="0"/>
                <a:cs typeface="Times New Roman" panose="02020603050405020304" pitchFamily="18" charset="0"/>
              </a:rPr>
              <a:t>"A </a:t>
            </a:r>
            <a:r>
              <a:rPr lang="sv-SE" sz="1400" dirty="0" err="1">
                <a:latin typeface="Times New Roman" panose="02020603050405020304" pitchFamily="18" charset="0"/>
                <a:cs typeface="Times New Roman" panose="02020603050405020304" pitchFamily="18" charset="0"/>
              </a:rPr>
              <a:t>Variable</a:t>
            </a:r>
            <a:r>
              <a:rPr lang="sv-SE" sz="1400" dirty="0">
                <a:latin typeface="Times New Roman" panose="02020603050405020304" pitchFamily="18" charset="0"/>
                <a:cs typeface="Times New Roman" panose="02020603050405020304" pitchFamily="18" charset="0"/>
              </a:rPr>
              <a:t> Power </a:t>
            </a:r>
            <a:r>
              <a:rPr lang="sv-SE" sz="1400" dirty="0" err="1">
                <a:latin typeface="Times New Roman" panose="02020603050405020304" pitchFamily="18" charset="0"/>
                <a:cs typeface="Times New Roman" panose="02020603050405020304" pitchFamily="18" charset="0"/>
              </a:rPr>
              <a:t>Factor</a:t>
            </a:r>
            <a:r>
              <a:rPr lang="sv-SE" sz="1400" dirty="0">
                <a:latin typeface="Times New Roman" panose="02020603050405020304" pitchFamily="18" charset="0"/>
                <a:cs typeface="Times New Roman" panose="02020603050405020304" pitchFamily="18" charset="0"/>
              </a:rPr>
              <a:t> </a:t>
            </a:r>
            <a:r>
              <a:rPr lang="sv-SE" sz="1400" dirty="0" err="1">
                <a:latin typeface="Times New Roman" panose="02020603050405020304" pitchFamily="18" charset="0"/>
                <a:cs typeface="Times New Roman" panose="02020603050405020304" pitchFamily="18" charset="0"/>
              </a:rPr>
              <a:t>High</a:t>
            </a:r>
            <a:r>
              <a:rPr lang="sv-SE" sz="1400" dirty="0">
                <a:latin typeface="Times New Roman" panose="02020603050405020304" pitchFamily="18" charset="0"/>
                <a:cs typeface="Times New Roman" panose="02020603050405020304" pitchFamily="18" charset="0"/>
              </a:rPr>
              <a:t> Power </a:t>
            </a:r>
            <a:r>
              <a:rPr lang="sv-SE" sz="1400" dirty="0" err="1">
                <a:latin typeface="Times New Roman" panose="02020603050405020304" pitchFamily="18" charset="0"/>
                <a:cs typeface="Times New Roman" panose="02020603050405020304" pitchFamily="18" charset="0"/>
              </a:rPr>
              <a:t>Testbed</a:t>
            </a:r>
            <a:r>
              <a:rPr lang="sv-SE" sz="1400" dirty="0">
                <a:latin typeface="Times New Roman" panose="02020603050405020304" pitchFamily="18" charset="0"/>
                <a:cs typeface="Times New Roman" panose="02020603050405020304" pitchFamily="18" charset="0"/>
              </a:rPr>
              <a:t> for </a:t>
            </a:r>
            <a:r>
              <a:rPr lang="sv-SE" sz="1400" dirty="0" err="1">
                <a:latin typeface="Times New Roman" panose="02020603050405020304" pitchFamily="18" charset="0"/>
                <a:cs typeface="Times New Roman" panose="02020603050405020304" pitchFamily="18" charset="0"/>
              </a:rPr>
              <a:t>Traction</a:t>
            </a:r>
            <a:r>
              <a:rPr lang="sv-SE" sz="1400" dirty="0">
                <a:latin typeface="Times New Roman" panose="02020603050405020304" pitchFamily="18" charset="0"/>
                <a:cs typeface="Times New Roman" panose="02020603050405020304" pitchFamily="18" charset="0"/>
              </a:rPr>
              <a:t> </a:t>
            </a:r>
            <a:r>
              <a:rPr lang="sv-SE" sz="1400" dirty="0" err="1">
                <a:latin typeface="Times New Roman" panose="02020603050405020304" pitchFamily="18" charset="0"/>
                <a:cs typeface="Times New Roman" panose="02020603050405020304" pitchFamily="18" charset="0"/>
              </a:rPr>
              <a:t>Inverter</a:t>
            </a:r>
            <a:r>
              <a:rPr lang="sv-SE" sz="1400" dirty="0">
                <a:latin typeface="Times New Roman" panose="02020603050405020304" pitchFamily="18" charset="0"/>
                <a:cs typeface="Times New Roman" panose="02020603050405020304" pitchFamily="18" charset="0"/>
              </a:rPr>
              <a:t> </a:t>
            </a:r>
            <a:r>
              <a:rPr lang="sv-SE" sz="1400" dirty="0" err="1">
                <a:latin typeface="Times New Roman" panose="02020603050405020304" pitchFamily="18" charset="0"/>
                <a:cs typeface="Times New Roman" panose="02020603050405020304" pitchFamily="18" charset="0"/>
              </a:rPr>
              <a:t>Using</a:t>
            </a:r>
            <a:r>
              <a:rPr lang="sv-SE" sz="1400" dirty="0">
                <a:latin typeface="Times New Roman" panose="02020603050405020304" pitchFamily="18" charset="0"/>
                <a:cs typeface="Times New Roman" panose="02020603050405020304" pitchFamily="18" charset="0"/>
              </a:rPr>
              <a:t> Back-to-Back Connection</a:t>
            </a:r>
            <a:r>
              <a:rPr lang="sv-SE" dirty="0" smtClean="0">
                <a:latin typeface="Times New Roman" panose="02020603050405020304" pitchFamily="18" charset="0"/>
                <a:cs typeface="Times New Roman" panose="02020603050405020304" pitchFamily="18" charset="0"/>
              </a:rPr>
              <a:t>,"</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4" name="TextBox 13"/>
              <p:cNvSpPr txBox="1"/>
              <p:nvPr/>
            </p:nvSpPr>
            <p:spPr>
              <a:xfrm>
                <a:off x="6752168" y="1155845"/>
                <a:ext cx="2023566" cy="59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𝑃</m:t>
                      </m:r>
                      <m:r>
                        <a:rPr lang="sv-SE" b="0" i="1" smtClean="0">
                          <a:latin typeface="Cambria Math" panose="02040503050406030204" pitchFamily="18" charset="0"/>
                        </a:rPr>
                        <m:t>=</m:t>
                      </m:r>
                      <m:f>
                        <m:fPr>
                          <m:ctrlPr>
                            <a:rPr lang="sv-SE" b="0" i="1" smtClean="0">
                              <a:latin typeface="Cambria Math" panose="02040503050406030204" pitchFamily="18" charset="0"/>
                            </a:rPr>
                          </m:ctrlPr>
                        </m:fPr>
                        <m:num>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Sub>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2</m:t>
                              </m:r>
                            </m:sub>
                          </m:sSub>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sin</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num>
                        <m:den>
                          <m:r>
                            <a:rPr lang="sv-SE" b="0" i="1" smtClean="0">
                              <a:latin typeface="Cambria Math" panose="02040503050406030204" pitchFamily="18" charset="0"/>
                            </a:rPr>
                            <m:t>𝑗</m:t>
                          </m:r>
                          <m:r>
                            <a:rPr lang="sv-SE" b="0" i="1" smtClean="0">
                              <a:latin typeface="Cambria Math" panose="02040503050406030204" pitchFamily="18" charset="0"/>
                            </a:rPr>
                            <m:t>𝜔</m:t>
                          </m:r>
                          <m:r>
                            <a:rPr lang="sv-SE" b="0" i="1" smtClean="0">
                              <a:latin typeface="Cambria Math" panose="02040503050406030204" pitchFamily="18" charset="0"/>
                            </a:rPr>
                            <m:t>𝐿</m:t>
                          </m:r>
                        </m:den>
                      </m:f>
                    </m:oMath>
                  </m:oMathPara>
                </a14:m>
                <a:endParaRPr lang="sv-SE" dirty="0">
                  <a:latin typeface="Times New Roman" panose="02020603050405020304" pitchFamily="18" charset="0"/>
                  <a:cs typeface="Times New Roman" panose="02020603050405020304" pitchFamily="18" charset="0"/>
                </a:endParaRPr>
              </a:p>
            </p:txBody>
          </p:sp>
        </mc:Choice>
        <mc:Fallback>
          <p:sp>
            <p:nvSpPr>
              <p:cNvPr id="14" name="TextBox 13"/>
              <p:cNvSpPr txBox="1">
                <a:spLocks noRot="1" noChangeAspect="1" noMove="1" noResize="1" noEditPoints="1" noAdjustHandles="1" noChangeArrowheads="1" noChangeShapeType="1" noTextEdit="1"/>
              </p:cNvSpPr>
              <p:nvPr/>
            </p:nvSpPr>
            <p:spPr>
              <a:xfrm>
                <a:off x="6752168" y="1155845"/>
                <a:ext cx="2023566" cy="593111"/>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6" name="TextBox 15"/>
              <p:cNvSpPr txBox="1"/>
              <p:nvPr/>
            </p:nvSpPr>
            <p:spPr>
              <a:xfrm>
                <a:off x="9263936" y="1155845"/>
                <a:ext cx="2300438" cy="505779"/>
              </a:xfrm>
              <a:prstGeom prst="rect">
                <a:avLst/>
              </a:prstGeom>
              <a:noFill/>
            </p:spPr>
            <p:txBody>
              <a:bodyPr wrap="none" lIns="0" tIns="0" rIns="0" bIns="0" rtlCol="0">
                <a:spAutoFit/>
              </a:bodyPr>
              <a:lstStyle/>
              <a:p>
                <a:r>
                  <a:rPr lang="sv-SE" b="0" dirty="0" smtClean="0">
                    <a:latin typeface="Times New Roman" panose="02020603050405020304" pitchFamily="18" charset="0"/>
                    <a:cs typeface="Times New Roman" panose="02020603050405020304" pitchFamily="18" charset="0"/>
                  </a:rPr>
                  <a:t>Q</a:t>
                </a:r>
                <a14:m>
                  <m:oMath xmlns:m="http://schemas.openxmlformats.org/officeDocument/2006/math">
                    <m:r>
                      <a:rPr lang="sv-SE" b="0" i="1" smtClean="0">
                        <a:latin typeface="Cambria Math" panose="02040503050406030204" pitchFamily="18" charset="0"/>
                      </a:rPr>
                      <m:t>=</m:t>
                    </m:r>
                    <m:f>
                      <m:fPr>
                        <m:ctrlPr>
                          <a:rPr lang="sv-SE" b="0" i="1" smtClean="0">
                            <a:latin typeface="Cambria Math" panose="02040503050406030204" pitchFamily="18" charset="0"/>
                          </a:rPr>
                        </m:ctrlPr>
                      </m:fPr>
                      <m:num>
                        <m:sSubSup>
                          <m:sSubSupPr>
                            <m:ctrlPr>
                              <a:rPr lang="sv-SE" b="0" i="1" smtClean="0">
                                <a:latin typeface="Cambria Math" panose="02040503050406030204" pitchFamily="18" charset="0"/>
                              </a:rPr>
                            </m:ctrlPr>
                          </m:sSubSup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up>
                            <m:r>
                              <a:rPr lang="sv-SE" b="0" i="1" smtClean="0">
                                <a:latin typeface="Cambria Math" panose="02040503050406030204" pitchFamily="18" charset="0"/>
                              </a:rPr>
                              <m:t>2</m:t>
                            </m:r>
                          </m:sup>
                        </m:sSubSup>
                        <m:r>
                          <a:rPr lang="sv-SE" b="0" i="1" smtClean="0">
                            <a:latin typeface="Cambria Math" panose="02040503050406030204" pitchFamily="18" charset="0"/>
                          </a:rPr>
                          <m:t> − </m:t>
                        </m:r>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1</m:t>
                            </m:r>
                          </m:sub>
                        </m:sSub>
                        <m:sSub>
                          <m:sSubPr>
                            <m:ctrlPr>
                              <a:rPr lang="sv-SE" b="0" i="1" smtClean="0">
                                <a:latin typeface="Cambria Math" panose="02040503050406030204" pitchFamily="18" charset="0"/>
                              </a:rPr>
                            </m:ctrlPr>
                          </m:sSubPr>
                          <m:e>
                            <m:r>
                              <a:rPr lang="sv-SE" b="0" i="1" smtClean="0">
                                <a:latin typeface="Cambria Math" panose="02040503050406030204" pitchFamily="18" charset="0"/>
                              </a:rPr>
                              <m:t>𝑉</m:t>
                            </m:r>
                          </m:e>
                          <m:sub>
                            <m:r>
                              <a:rPr lang="sv-SE" b="0" i="1" smtClean="0">
                                <a:latin typeface="Cambria Math" panose="02040503050406030204" pitchFamily="18" charset="0"/>
                              </a:rPr>
                              <m:t>𝑝h</m:t>
                            </m:r>
                            <m:r>
                              <a:rPr lang="sv-SE" b="0" i="1" smtClean="0">
                                <a:latin typeface="Cambria Math" panose="02040503050406030204" pitchFamily="18" charset="0"/>
                              </a:rPr>
                              <m:t>2</m:t>
                            </m:r>
                          </m:sub>
                        </m:sSub>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cos</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num>
                      <m:den>
                        <m:r>
                          <a:rPr lang="sv-SE" b="0" i="1" smtClean="0">
                            <a:latin typeface="Cambria Math" panose="02040503050406030204" pitchFamily="18" charset="0"/>
                          </a:rPr>
                          <m:t>𝑗</m:t>
                        </m:r>
                        <m:r>
                          <a:rPr lang="sv-SE" b="0" i="1" smtClean="0">
                            <a:latin typeface="Cambria Math" panose="02040503050406030204" pitchFamily="18" charset="0"/>
                          </a:rPr>
                          <m:t>𝜔</m:t>
                        </m:r>
                        <m:r>
                          <a:rPr lang="sv-SE" b="0" i="1" smtClean="0">
                            <a:latin typeface="Cambria Math" panose="02040503050406030204" pitchFamily="18" charset="0"/>
                          </a:rPr>
                          <m:t>𝐿</m:t>
                        </m:r>
                      </m:den>
                    </m:f>
                  </m:oMath>
                </a14:m>
                <a:endParaRPr lang="sv-SE" dirty="0">
                  <a:latin typeface="Times New Roman" panose="02020603050405020304" pitchFamily="18" charset="0"/>
                  <a:cs typeface="Times New Roman" panose="02020603050405020304" pitchFamily="18" charset="0"/>
                </a:endParaRPr>
              </a:p>
            </p:txBody>
          </p:sp>
        </mc:Choice>
        <mc:Fallback>
          <p:sp>
            <p:nvSpPr>
              <p:cNvPr id="16" name="TextBox 15"/>
              <p:cNvSpPr txBox="1">
                <a:spLocks noRot="1" noChangeAspect="1" noMove="1" noResize="1" noEditPoints="1" noAdjustHandles="1" noChangeArrowheads="1" noChangeShapeType="1" noTextEdit="1"/>
              </p:cNvSpPr>
              <p:nvPr/>
            </p:nvSpPr>
            <p:spPr>
              <a:xfrm>
                <a:off x="9263936" y="1155845"/>
                <a:ext cx="2300438" cy="505779"/>
              </a:xfrm>
              <a:prstGeom prst="rect">
                <a:avLst/>
              </a:prstGeom>
              <a:blipFill>
                <a:blip r:embed="rId5"/>
                <a:stretch>
                  <a:fillRect l="-6366" b="-8434"/>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7" name="Rectangle 16"/>
              <p:cNvSpPr/>
              <p:nvPr/>
            </p:nvSpPr>
            <p:spPr>
              <a:xfrm>
                <a:off x="6899771" y="2064129"/>
                <a:ext cx="1875963" cy="501099"/>
              </a:xfrm>
              <a:prstGeom prst="rect">
                <a:avLst/>
              </a:prstGeom>
            </p:spPr>
            <p:txBody>
              <a:bodyPr wrap="none">
                <a:spAutoFit/>
              </a:bodyPr>
              <a:lstStyle/>
              <a:p>
                <a14:m>
                  <m:oMath xmlns:m="http://schemas.openxmlformats.org/officeDocument/2006/math">
                    <m:sSub>
                      <m:sSubPr>
                        <m:ctrlPr>
                          <a:rPr lang="sv-SE" i="1" smtClean="0">
                            <a:latin typeface="Cambria Math" panose="02040503050406030204" pitchFamily="18" charset="0"/>
                          </a:rPr>
                        </m:ctrlPr>
                      </m:sSubPr>
                      <m:e>
                        <m:r>
                          <a:rPr lang="sv-SE" i="1">
                            <a:latin typeface="Cambria Math" panose="02040503050406030204" pitchFamily="18" charset="0"/>
                          </a:rPr>
                          <m:t>𝑉</m:t>
                        </m:r>
                      </m:e>
                      <m:sub>
                        <m:r>
                          <a:rPr lang="sv-SE" i="1">
                            <a:latin typeface="Cambria Math" panose="02040503050406030204" pitchFamily="18" charset="0"/>
                          </a:rPr>
                          <m:t>𝑝h</m:t>
                        </m:r>
                        <m:r>
                          <a:rPr lang="sv-SE" i="1">
                            <a:latin typeface="Cambria Math" panose="02040503050406030204" pitchFamily="18" charset="0"/>
                          </a:rPr>
                          <m:t>1</m:t>
                        </m:r>
                      </m:sub>
                    </m:sSub>
                    <m:r>
                      <a:rPr lang="en-US" b="0" i="0" smtClean="0">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den>
                    </m:f>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𝑑𝑐</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𝑀</m:t>
                            </m:r>
                          </m:e>
                          <m:sub>
                            <m:r>
                              <a:rPr lang="en-US" b="0" i="1" smtClean="0">
                                <a:latin typeface="Cambria Math" panose="02040503050406030204" pitchFamily="18" charset="0"/>
                              </a:rPr>
                              <m:t>1</m:t>
                            </m:r>
                          </m:sub>
                        </m:sSub>
                      </m:num>
                      <m:den>
                        <m:r>
                          <a:rPr lang="en-US" b="0" i="1" smtClean="0">
                            <a:latin typeface="Cambria Math" panose="02040503050406030204" pitchFamily="18" charset="0"/>
                          </a:rPr>
                          <m:t>2</m:t>
                        </m:r>
                      </m:den>
                    </m:f>
                  </m:oMath>
                </a14:m>
                <a:r>
                  <a:rPr lang="sv-SE" dirty="0" smtClean="0">
                    <a:latin typeface="Times New Roman" panose="02020603050405020304" pitchFamily="18" charset="0"/>
                    <a:cs typeface="Times New Roman" panose="02020603050405020304" pitchFamily="18" charset="0"/>
                  </a:rPr>
                  <a:t> </a:t>
                </a:r>
                <a:endParaRPr lang="sv-SE" dirty="0">
                  <a:latin typeface="Times New Roman" panose="02020603050405020304" pitchFamily="18" charset="0"/>
                  <a:cs typeface="Times New Roman" panose="02020603050405020304" pitchFamily="18" charset="0"/>
                </a:endParaRPr>
              </a:p>
            </p:txBody>
          </p:sp>
        </mc:Choice>
        <mc:Fallback>
          <p:sp>
            <p:nvSpPr>
              <p:cNvPr id="17" name="Rectangle 16"/>
              <p:cNvSpPr>
                <a:spLocks noRot="1" noChangeAspect="1" noMove="1" noResize="1" noEditPoints="1" noAdjustHandles="1" noChangeArrowheads="1" noChangeShapeType="1" noTextEdit="1"/>
              </p:cNvSpPr>
              <p:nvPr/>
            </p:nvSpPr>
            <p:spPr>
              <a:xfrm>
                <a:off x="6899771" y="2064129"/>
                <a:ext cx="1875963" cy="501099"/>
              </a:xfrm>
              <a:prstGeom prst="rect">
                <a:avLst/>
              </a:prstGeom>
              <a:blipFill>
                <a:blip r:embed="rId6"/>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8" name="Rectangle 17"/>
              <p:cNvSpPr/>
              <p:nvPr/>
            </p:nvSpPr>
            <p:spPr>
              <a:xfrm>
                <a:off x="8982572" y="2064128"/>
                <a:ext cx="1929887" cy="501099"/>
              </a:xfrm>
              <a:prstGeom prst="rect">
                <a:avLst/>
              </a:prstGeom>
            </p:spPr>
            <p:txBody>
              <a:bodyPr wrap="none">
                <a:spAutoFit/>
              </a:bodyPr>
              <a:lstStyle/>
              <a:p>
                <a14:m>
                  <m:oMath xmlns:m="http://schemas.openxmlformats.org/officeDocument/2006/math">
                    <m:sSub>
                      <m:sSubPr>
                        <m:ctrlPr>
                          <a:rPr lang="sv-SE" i="1" smtClean="0">
                            <a:latin typeface="Cambria Math" panose="02040503050406030204" pitchFamily="18" charset="0"/>
                          </a:rPr>
                        </m:ctrlPr>
                      </m:sSubPr>
                      <m:e>
                        <m:r>
                          <a:rPr lang="sv-SE" i="1">
                            <a:latin typeface="Cambria Math" panose="02040503050406030204" pitchFamily="18" charset="0"/>
                          </a:rPr>
                          <m:t>𝑉</m:t>
                        </m:r>
                      </m:e>
                      <m:sub>
                        <m:r>
                          <a:rPr lang="sv-SE" i="1">
                            <a:latin typeface="Cambria Math" panose="02040503050406030204" pitchFamily="18" charset="0"/>
                          </a:rPr>
                          <m:t>𝑝h</m:t>
                        </m:r>
                        <m:r>
                          <a:rPr lang="en-US" b="0" i="1" smtClean="0">
                            <a:latin typeface="Cambria Math" panose="02040503050406030204" pitchFamily="18" charset="0"/>
                          </a:rPr>
                          <m:t>2</m:t>
                        </m:r>
                      </m:sub>
                    </m:sSub>
                    <m:r>
                      <a:rPr lang="en-US" b="0" i="0" smtClean="0">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e>
                        </m:rad>
                      </m:den>
                    </m:f>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𝑑𝑐</m:t>
                        </m:r>
                      </m:sub>
                    </m:sSub>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𝑀</m:t>
                            </m:r>
                          </m:e>
                          <m:sub>
                            <m:r>
                              <a:rPr lang="en-US" b="0" i="1" smtClean="0">
                                <a:latin typeface="Cambria Math" panose="02040503050406030204" pitchFamily="18" charset="0"/>
                              </a:rPr>
                              <m:t>2</m:t>
                            </m:r>
                          </m:sub>
                        </m:sSub>
                      </m:num>
                      <m:den>
                        <m:r>
                          <a:rPr lang="en-US" b="0" i="1" smtClean="0">
                            <a:latin typeface="Cambria Math" panose="02040503050406030204" pitchFamily="18" charset="0"/>
                          </a:rPr>
                          <m:t>2</m:t>
                        </m:r>
                      </m:den>
                    </m:f>
                  </m:oMath>
                </a14:m>
                <a:r>
                  <a:rPr lang="sv-SE" dirty="0" smtClean="0">
                    <a:latin typeface="Times New Roman" panose="02020603050405020304" pitchFamily="18" charset="0"/>
                    <a:cs typeface="Times New Roman" panose="02020603050405020304" pitchFamily="18" charset="0"/>
                  </a:rPr>
                  <a:t> </a:t>
                </a:r>
                <a:endParaRPr lang="sv-SE" dirty="0">
                  <a:latin typeface="Times New Roman" panose="02020603050405020304" pitchFamily="18" charset="0"/>
                  <a:cs typeface="Times New Roman" panose="02020603050405020304" pitchFamily="18" charset="0"/>
                </a:endParaRPr>
              </a:p>
            </p:txBody>
          </p:sp>
        </mc:Choice>
        <mc:Fallback>
          <p:sp>
            <p:nvSpPr>
              <p:cNvPr id="18" name="Rectangle 17"/>
              <p:cNvSpPr>
                <a:spLocks noRot="1" noChangeAspect="1" noMove="1" noResize="1" noEditPoints="1" noAdjustHandles="1" noChangeArrowheads="1" noChangeShapeType="1" noTextEdit="1"/>
              </p:cNvSpPr>
              <p:nvPr/>
            </p:nvSpPr>
            <p:spPr>
              <a:xfrm>
                <a:off x="8982572" y="2064128"/>
                <a:ext cx="1929887" cy="501099"/>
              </a:xfrm>
              <a:prstGeom prst="rect">
                <a:avLst/>
              </a:prstGeom>
              <a:blipFill>
                <a:blip r:embed="rId7"/>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7168036" y="2938264"/>
                <a:ext cx="3494290" cy="671081"/>
              </a:xfrm>
              <a:prstGeom prst="rect">
                <a:avLst/>
              </a:prstGeom>
              <a:noFill/>
            </p:spPr>
            <p:txBody>
              <a:bodyPr wrap="none" lIns="0" tIns="0" rIns="0" bIns="0" rtlCol="0">
                <a:spAutoFit/>
              </a:bodyPr>
              <a:lstStyle/>
              <a:p>
                <a14:m>
                  <m:oMath xmlns:m="http://schemas.openxmlformats.org/officeDocument/2006/math">
                    <m:r>
                      <a:rPr lang="sv-SE" b="0" i="1" smtClean="0">
                        <a:latin typeface="Cambria Math" panose="02040503050406030204" pitchFamily="18" charset="0"/>
                      </a:rPr>
                      <m:t>𝑆</m:t>
                    </m:r>
                    <m:r>
                      <a:rPr lang="sv-SE" b="0" i="1" smtClean="0">
                        <a:latin typeface="Cambria Math" panose="02040503050406030204" pitchFamily="18" charset="0"/>
                      </a:rPr>
                      <m:t>=</m:t>
                    </m:r>
                    <m:f>
                      <m:fPr>
                        <m:ctrlPr>
                          <a:rPr lang="sv-SE" i="1">
                            <a:latin typeface="Cambria Math" panose="02040503050406030204" pitchFamily="18" charset="0"/>
                          </a:rPr>
                        </m:ctrlPr>
                      </m:fPr>
                      <m:num>
                        <m:r>
                          <a:rPr lang="sv-SE" i="1">
                            <a:latin typeface="Cambria Math" panose="02040503050406030204" pitchFamily="18" charset="0"/>
                          </a:rPr>
                          <m:t>3</m:t>
                        </m:r>
                      </m:num>
                      <m:den>
                        <m:r>
                          <a:rPr lang="sv-SE" i="1">
                            <a:latin typeface="Cambria Math" panose="02040503050406030204" pitchFamily="18" charset="0"/>
                          </a:rPr>
                          <m:t>2</m:t>
                        </m:r>
                      </m:den>
                    </m:f>
                    <m:sSub>
                      <m:sSubPr>
                        <m:ctrlPr>
                          <a:rPr lang="sv-SE" i="1">
                            <a:latin typeface="Cambria Math" panose="02040503050406030204" pitchFamily="18" charset="0"/>
                          </a:rPr>
                        </m:ctrlPr>
                      </m:sSubPr>
                      <m:e>
                        <m:r>
                          <a:rPr lang="sv-SE" i="1">
                            <a:latin typeface="Cambria Math" panose="02040503050406030204" pitchFamily="18" charset="0"/>
                          </a:rPr>
                          <m:t>𝑀</m:t>
                        </m:r>
                      </m:e>
                      <m:sub>
                        <m:r>
                          <a:rPr lang="sv-SE" i="1">
                            <a:latin typeface="Cambria Math" panose="02040503050406030204" pitchFamily="18" charset="0"/>
                          </a:rPr>
                          <m:t>1</m:t>
                        </m:r>
                      </m:sub>
                    </m:sSub>
                    <m:d>
                      <m:dPr>
                        <m:ctrlPr>
                          <a:rPr lang="sv-SE" i="1">
                            <a:latin typeface="Cambria Math" panose="02040503050406030204" pitchFamily="18" charset="0"/>
                          </a:rPr>
                        </m:ctrlPr>
                      </m:dPr>
                      <m:e>
                        <m:f>
                          <m:fPr>
                            <m:ctrlPr>
                              <a:rPr lang="sv-SE" i="1">
                                <a:latin typeface="Cambria Math" panose="02040503050406030204" pitchFamily="18" charset="0"/>
                              </a:rPr>
                            </m:ctrlPr>
                          </m:fPr>
                          <m:num>
                            <m:sSubSup>
                              <m:sSubSupPr>
                                <m:ctrlPr>
                                  <a:rPr lang="sv-SE" i="1">
                                    <a:latin typeface="Cambria Math" panose="02040503050406030204" pitchFamily="18" charset="0"/>
                                  </a:rPr>
                                </m:ctrlPr>
                              </m:sSubSupPr>
                              <m:e>
                                <m:r>
                                  <a:rPr lang="sv-SE" i="1">
                                    <a:latin typeface="Cambria Math" panose="02040503050406030204" pitchFamily="18" charset="0"/>
                                  </a:rPr>
                                  <m:t>𝑈</m:t>
                                </m:r>
                              </m:e>
                              <m:sub>
                                <m:r>
                                  <a:rPr lang="sv-SE" i="1">
                                    <a:latin typeface="Cambria Math" panose="02040503050406030204" pitchFamily="18" charset="0"/>
                                  </a:rPr>
                                  <m:t>𝑑𝑐</m:t>
                                </m:r>
                              </m:sub>
                              <m:sup>
                                <m:r>
                                  <a:rPr lang="sv-SE" i="1">
                                    <a:latin typeface="Cambria Math" panose="02040503050406030204" pitchFamily="18" charset="0"/>
                                  </a:rPr>
                                  <m:t>2</m:t>
                                </m:r>
                              </m:sup>
                            </m:sSubSup>
                          </m:num>
                          <m:den>
                            <m:r>
                              <a:rPr lang="sv-SE" i="1">
                                <a:latin typeface="Cambria Math" panose="02040503050406030204" pitchFamily="18" charset="0"/>
                              </a:rPr>
                              <m:t>2</m:t>
                            </m:r>
                          </m:den>
                        </m:f>
                      </m:e>
                    </m:d>
                    <m:f>
                      <m:fPr>
                        <m:ctrlPr>
                          <a:rPr lang="sv-SE" b="0" i="1" smtClean="0">
                            <a:latin typeface="Cambria Math" panose="02040503050406030204" pitchFamily="18" charset="0"/>
                          </a:rPr>
                        </m:ctrlPr>
                      </m:fPr>
                      <m:num>
                        <m:rad>
                          <m:radPr>
                            <m:degHide m:val="on"/>
                            <m:ctrlPr>
                              <a:rPr lang="sv-SE" b="0" i="1" smtClean="0">
                                <a:latin typeface="Cambria Math" panose="02040503050406030204" pitchFamily="18" charset="0"/>
                              </a:rPr>
                            </m:ctrlPr>
                          </m:radPr>
                          <m:deg/>
                          <m:e>
                            <m:sSubSup>
                              <m:sSubSupPr>
                                <m:ctrlPr>
                                  <a:rPr lang="sv-SE" b="0" i="1" smtClean="0">
                                    <a:latin typeface="Cambria Math" panose="02040503050406030204" pitchFamily="18" charset="0"/>
                                  </a:rPr>
                                </m:ctrlPr>
                              </m:sSubSupPr>
                              <m:e>
                                <m:r>
                                  <a:rPr lang="sv-SE" b="0" i="1" smtClean="0">
                                    <a:latin typeface="Cambria Math" panose="02040503050406030204" pitchFamily="18" charset="0"/>
                                  </a:rPr>
                                  <m:t>𝑀</m:t>
                                </m:r>
                              </m:e>
                              <m:sub>
                                <m:r>
                                  <a:rPr lang="sv-SE" b="0" i="1" smtClean="0">
                                    <a:latin typeface="Cambria Math" panose="02040503050406030204" pitchFamily="18" charset="0"/>
                                  </a:rPr>
                                  <m:t>1</m:t>
                                </m:r>
                              </m:sub>
                              <m:sup>
                                <m:r>
                                  <a:rPr lang="sv-SE" b="0" i="1" smtClean="0">
                                    <a:latin typeface="Cambria Math" panose="02040503050406030204" pitchFamily="18" charset="0"/>
                                  </a:rPr>
                                  <m:t>2</m:t>
                                </m:r>
                              </m:sup>
                            </m:sSubSup>
                            <m:r>
                              <a:rPr lang="sv-SE" b="0" i="1" smtClean="0">
                                <a:latin typeface="Cambria Math" panose="02040503050406030204" pitchFamily="18" charset="0"/>
                              </a:rPr>
                              <m:t>+</m:t>
                            </m:r>
                            <m:sSubSup>
                              <m:sSubSupPr>
                                <m:ctrlPr>
                                  <a:rPr lang="sv-SE" b="0" i="1" smtClean="0">
                                    <a:latin typeface="Cambria Math" panose="02040503050406030204" pitchFamily="18" charset="0"/>
                                  </a:rPr>
                                </m:ctrlPr>
                              </m:sSubSupPr>
                              <m:e>
                                <m:r>
                                  <a:rPr lang="sv-SE" b="0" i="1" smtClean="0">
                                    <a:latin typeface="Cambria Math" panose="02040503050406030204" pitchFamily="18" charset="0"/>
                                  </a:rPr>
                                  <m:t>𝑀</m:t>
                                </m:r>
                              </m:e>
                              <m:sub>
                                <m:r>
                                  <a:rPr lang="sv-SE" b="0" i="1" smtClean="0">
                                    <a:latin typeface="Cambria Math" panose="02040503050406030204" pitchFamily="18" charset="0"/>
                                  </a:rPr>
                                  <m:t>2</m:t>
                                </m:r>
                              </m:sub>
                              <m:sup>
                                <m:r>
                                  <a:rPr lang="sv-SE" b="0" i="1" smtClean="0">
                                    <a:latin typeface="Cambria Math" panose="02040503050406030204" pitchFamily="18" charset="0"/>
                                  </a:rPr>
                                  <m:t>2</m:t>
                                </m:r>
                              </m:sup>
                            </m:sSubSup>
                            <m:r>
                              <a:rPr lang="sv-SE" b="0" i="1" smtClean="0">
                                <a:latin typeface="Cambria Math" panose="02040503050406030204" pitchFamily="18" charset="0"/>
                              </a:rPr>
                              <m:t>−2</m:t>
                            </m:r>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1</m:t>
                                </m:r>
                              </m:sub>
                            </m:sSub>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2</m:t>
                                </m:r>
                              </m:sub>
                            </m:sSub>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cos</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e>
                        </m:rad>
                        <m:r>
                          <m:rPr>
                            <m:lit/>
                          </m:rPr>
                          <a:rPr lang="sv-SE" b="0" i="1" smtClean="0">
                            <a:latin typeface="Cambria Math" panose="02040503050406030204" pitchFamily="18" charset="0"/>
                          </a:rPr>
                          <m:t> </m:t>
                        </m:r>
                      </m:num>
                      <m:den>
                        <m:r>
                          <a:rPr lang="sv-SE" b="0" i="1" smtClean="0">
                            <a:latin typeface="Cambria Math" panose="02040503050406030204" pitchFamily="18" charset="0"/>
                          </a:rPr>
                          <m:t>𝑗</m:t>
                        </m:r>
                        <m:r>
                          <a:rPr lang="sv-SE" b="0" i="1" smtClean="0">
                            <a:latin typeface="Cambria Math" panose="02040503050406030204" pitchFamily="18" charset="0"/>
                          </a:rPr>
                          <m:t>𝜔</m:t>
                        </m:r>
                        <m:r>
                          <a:rPr lang="sv-SE" b="0" i="1" smtClean="0">
                            <a:latin typeface="Cambria Math" panose="02040503050406030204" pitchFamily="18" charset="0"/>
                          </a:rPr>
                          <m:t>𝐿</m:t>
                        </m:r>
                      </m:den>
                    </m:f>
                  </m:oMath>
                </a14:m>
                <a:r>
                  <a:rPr lang="sv-SE" dirty="0" smtClean="0">
                    <a:latin typeface="Times New Roman" panose="02020603050405020304" pitchFamily="18" charset="0"/>
                    <a:cs typeface="Times New Roman" panose="02020603050405020304" pitchFamily="18" charset="0"/>
                  </a:rPr>
                  <a:t> </a:t>
                </a:r>
                <a:endParaRPr lang="sv-SE" dirty="0">
                  <a:latin typeface="Times New Roman" panose="02020603050405020304" pitchFamily="18" charset="0"/>
                  <a:cs typeface="Times New Roman" panose="02020603050405020304" pitchFamily="18" charset="0"/>
                </a:endParaRPr>
              </a:p>
            </p:txBody>
          </p:sp>
        </mc:Choice>
        <mc:Fallback>
          <p:sp>
            <p:nvSpPr>
              <p:cNvPr id="19" name="TextBox 18"/>
              <p:cNvSpPr txBox="1">
                <a:spLocks noRot="1" noChangeAspect="1" noMove="1" noResize="1" noEditPoints="1" noAdjustHandles="1" noChangeArrowheads="1" noChangeShapeType="1" noTextEdit="1"/>
              </p:cNvSpPr>
              <p:nvPr/>
            </p:nvSpPr>
            <p:spPr>
              <a:xfrm>
                <a:off x="7168036" y="2938264"/>
                <a:ext cx="3494290" cy="671081"/>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20" name="Rectangle 19"/>
              <p:cNvSpPr/>
              <p:nvPr/>
            </p:nvSpPr>
            <p:spPr>
              <a:xfrm>
                <a:off x="6987328" y="4017372"/>
                <a:ext cx="3576812" cy="8971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v-SE" b="0" i="1" smtClean="0">
                          <a:latin typeface="Cambria Math" panose="02040503050406030204" pitchFamily="18" charset="0"/>
                        </a:rPr>
                        <m:t>𝑝</m:t>
                      </m:r>
                      <m:r>
                        <a:rPr lang="sv-SE" b="0" i="1" smtClean="0">
                          <a:latin typeface="Cambria Math" panose="02040503050406030204" pitchFamily="18" charset="0"/>
                        </a:rPr>
                        <m:t>.</m:t>
                      </m:r>
                      <m:r>
                        <a:rPr lang="sv-SE" b="0" i="1" smtClean="0">
                          <a:latin typeface="Cambria Math" panose="02040503050406030204" pitchFamily="18" charset="0"/>
                        </a:rPr>
                        <m:t>𝑓</m:t>
                      </m:r>
                      <m:r>
                        <a:rPr lang="sv-SE" b="0" i="1" smtClean="0">
                          <a:latin typeface="Cambria Math" panose="02040503050406030204" pitchFamily="18" charset="0"/>
                        </a:rPr>
                        <m:t>.=−</m:t>
                      </m:r>
                      <m:r>
                        <m:rPr>
                          <m:sty m:val="p"/>
                        </m:rPr>
                        <a:rPr lang="sv-SE" b="0" i="0" smtClean="0">
                          <a:latin typeface="Cambria Math" panose="02040503050406030204" pitchFamily="18" charset="0"/>
                        </a:rPr>
                        <m:t>sin</m:t>
                      </m:r>
                      <m:r>
                        <a:rPr lang="sv-SE" b="0" i="1" smtClean="0">
                          <a:latin typeface="Cambria Math" panose="02040503050406030204" pitchFamily="18" charset="0"/>
                        </a:rPr>
                        <m:t>⁡[</m:t>
                      </m:r>
                      <m:r>
                        <m:rPr>
                          <m:sty m:val="p"/>
                        </m:rPr>
                        <a:rPr lang="sv-SE" b="0" i="0" smtClean="0">
                          <a:latin typeface="Cambria Math" panose="02040503050406030204" pitchFamily="18" charset="0"/>
                        </a:rPr>
                        <m:t>arctan</m:t>
                      </m:r>
                      <m:r>
                        <a:rPr lang="sv-SE" b="0" i="1" smtClean="0">
                          <a:latin typeface="Cambria Math" panose="02040503050406030204" pitchFamily="18" charset="0"/>
                        </a:rPr>
                        <m:t>⁡(</m:t>
                      </m:r>
                      <m:f>
                        <m:fPr>
                          <m:ctrlPr>
                            <a:rPr lang="sv-SE" b="0" i="1" smtClean="0">
                              <a:latin typeface="Cambria Math" panose="02040503050406030204" pitchFamily="18" charset="0"/>
                            </a:rPr>
                          </m:ctrlPr>
                        </m:fPr>
                        <m:num>
                          <m:func>
                            <m:funcPr>
                              <m:ctrlPr>
                                <a:rPr lang="sv-SE" b="0" i="1" smtClean="0">
                                  <a:latin typeface="Cambria Math" panose="02040503050406030204" pitchFamily="18" charset="0"/>
                                </a:rPr>
                              </m:ctrlPr>
                            </m:funcPr>
                            <m:fName>
                              <m:r>
                                <m:rPr>
                                  <m:sty m:val="p"/>
                                </m:rPr>
                                <a:rPr lang="sv-SE" b="0" i="0" smtClean="0">
                                  <a:latin typeface="Cambria Math" panose="02040503050406030204" pitchFamily="18" charset="0"/>
                                </a:rPr>
                                <m:t>sin</m:t>
                              </m:r>
                            </m:fName>
                            <m:e>
                              <m:d>
                                <m:dPr>
                                  <m:ctrlPr>
                                    <a:rPr lang="sv-SE" b="0" i="1" smtClean="0">
                                      <a:latin typeface="Cambria Math" panose="02040503050406030204" pitchFamily="18" charset="0"/>
                                    </a:rPr>
                                  </m:ctrlPr>
                                </m:dPr>
                                <m:e>
                                  <m:r>
                                    <a:rPr lang="sv-SE" b="0" i="1" smtClean="0">
                                      <a:latin typeface="Cambria Math" panose="02040503050406030204" pitchFamily="18" charset="0"/>
                                    </a:rPr>
                                    <m:t>𝛿</m:t>
                                  </m:r>
                                </m:e>
                              </m:d>
                            </m:e>
                          </m:func>
                        </m:num>
                        <m:den>
                          <m:f>
                            <m:fPr>
                              <m:ctrlPr>
                                <a:rPr lang="sv-SE" b="0" i="1" smtClean="0">
                                  <a:latin typeface="Cambria Math" panose="02040503050406030204" pitchFamily="18" charset="0"/>
                                </a:rPr>
                              </m:ctrlPr>
                            </m:fPr>
                            <m:num>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1</m:t>
                                  </m:r>
                                </m:sub>
                              </m:sSub>
                            </m:num>
                            <m:den>
                              <m:sSub>
                                <m:sSubPr>
                                  <m:ctrlPr>
                                    <a:rPr lang="sv-SE" b="0" i="1" smtClean="0">
                                      <a:latin typeface="Cambria Math" panose="02040503050406030204" pitchFamily="18" charset="0"/>
                                    </a:rPr>
                                  </m:ctrlPr>
                                </m:sSubPr>
                                <m:e>
                                  <m:r>
                                    <a:rPr lang="sv-SE" b="0" i="1" smtClean="0">
                                      <a:latin typeface="Cambria Math" panose="02040503050406030204" pitchFamily="18" charset="0"/>
                                    </a:rPr>
                                    <m:t>𝑀</m:t>
                                  </m:r>
                                </m:e>
                                <m:sub>
                                  <m:r>
                                    <a:rPr lang="sv-SE" b="0" i="1" smtClean="0">
                                      <a:latin typeface="Cambria Math" panose="02040503050406030204" pitchFamily="18" charset="0"/>
                                    </a:rPr>
                                    <m:t>2</m:t>
                                  </m:r>
                                </m:sub>
                              </m:sSub>
                            </m:den>
                          </m:f>
                          <m:r>
                            <a:rPr lang="sv-SE" b="0" i="1" smtClean="0">
                              <a:latin typeface="Cambria Math" panose="02040503050406030204" pitchFamily="18" charset="0"/>
                            </a:rPr>
                            <m:t>−</m:t>
                          </m:r>
                          <m:r>
                            <m:rPr>
                              <m:sty m:val="p"/>
                            </m:rPr>
                            <a:rPr lang="sv-SE" b="0" i="0" smtClean="0">
                              <a:latin typeface="Cambria Math" panose="02040503050406030204" pitchFamily="18" charset="0"/>
                            </a:rPr>
                            <m:t>cos</m:t>
                          </m:r>
                          <m:r>
                            <a:rPr lang="sv-SE" b="0" i="1" smtClean="0">
                              <a:latin typeface="Cambria Math" panose="02040503050406030204" pitchFamily="18" charset="0"/>
                            </a:rPr>
                            <m:t>⁡(</m:t>
                          </m:r>
                          <m:r>
                            <a:rPr lang="sv-SE" b="0" i="1" smtClean="0">
                              <a:latin typeface="Cambria Math" panose="02040503050406030204" pitchFamily="18" charset="0"/>
                            </a:rPr>
                            <m:t>𝛿</m:t>
                          </m:r>
                          <m:r>
                            <a:rPr lang="sv-SE" b="0" i="1" smtClean="0">
                              <a:latin typeface="Cambria Math" panose="02040503050406030204" pitchFamily="18" charset="0"/>
                            </a:rPr>
                            <m:t>)</m:t>
                          </m:r>
                        </m:den>
                      </m:f>
                      <m:r>
                        <a:rPr lang="sv-SE" b="0" i="1" smtClean="0">
                          <a:latin typeface="Cambria Math" panose="02040503050406030204" pitchFamily="18" charset="0"/>
                        </a:rPr>
                        <m:t>)]</m:t>
                      </m:r>
                    </m:oMath>
                  </m:oMathPara>
                </a14:m>
                <a:endParaRPr lang="sv-SE" dirty="0">
                  <a:latin typeface="Times New Roman" panose="02020603050405020304" pitchFamily="18" charset="0"/>
                  <a:cs typeface="Times New Roman" panose="02020603050405020304" pitchFamily="18" charset="0"/>
                </a:endParaRPr>
              </a:p>
            </p:txBody>
          </p:sp>
        </mc:Choice>
        <mc:Fallback>
          <p:sp>
            <p:nvSpPr>
              <p:cNvPr id="20" name="Rectangle 19"/>
              <p:cNvSpPr>
                <a:spLocks noRot="1" noChangeAspect="1" noMove="1" noResize="1" noEditPoints="1" noAdjustHandles="1" noChangeArrowheads="1" noChangeShapeType="1" noTextEdit="1"/>
              </p:cNvSpPr>
              <p:nvPr/>
            </p:nvSpPr>
            <p:spPr>
              <a:xfrm>
                <a:off x="6987328" y="4017372"/>
                <a:ext cx="3576812" cy="897169"/>
              </a:xfrm>
              <a:prstGeom prst="rect">
                <a:avLst/>
              </a:prstGeom>
              <a:blipFill>
                <a:blip r:embed="rId9"/>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21" name="Rectangle 20"/>
              <p:cNvSpPr/>
              <p:nvPr/>
            </p:nvSpPr>
            <p:spPr>
              <a:xfrm>
                <a:off x="6711052" y="5322568"/>
                <a:ext cx="4350037" cy="7471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𝑑𝑐</m:t>
                              </m:r>
                            </m:sub>
                          </m:sSub>
                        </m:num>
                        <m:den>
                          <m:r>
                            <a:rPr lang="en-US" b="0" i="1" smtClean="0">
                              <a:latin typeface="Cambria Math" panose="02040503050406030204" pitchFamily="18" charset="0"/>
                            </a:rPr>
                            <m:t>4</m:t>
                          </m:r>
                        </m:den>
                      </m:f>
                      <m:f>
                        <m:fPr>
                          <m:ctrlPr>
                            <a:rPr lang="sv-SE" i="1">
                              <a:latin typeface="Cambria Math" panose="02040503050406030204" pitchFamily="18" charset="0"/>
                            </a:rPr>
                          </m:ctrlPr>
                        </m:fPr>
                        <m:num>
                          <m:rad>
                            <m:radPr>
                              <m:degHide m:val="on"/>
                              <m:ctrlPr>
                                <a:rPr lang="sv-SE" i="1">
                                  <a:latin typeface="Cambria Math" panose="02040503050406030204" pitchFamily="18" charset="0"/>
                                </a:rPr>
                              </m:ctrlPr>
                            </m:radPr>
                            <m:deg/>
                            <m:e>
                              <m:sSubSup>
                                <m:sSubSupPr>
                                  <m:ctrlPr>
                                    <a:rPr lang="sv-SE" i="1">
                                      <a:latin typeface="Cambria Math" panose="02040503050406030204" pitchFamily="18" charset="0"/>
                                    </a:rPr>
                                  </m:ctrlPr>
                                </m:sSubSupPr>
                                <m:e>
                                  <m:r>
                                    <a:rPr lang="sv-SE" i="1">
                                      <a:latin typeface="Cambria Math" panose="02040503050406030204" pitchFamily="18" charset="0"/>
                                    </a:rPr>
                                    <m:t>𝑀</m:t>
                                  </m:r>
                                </m:e>
                                <m:sub>
                                  <m:r>
                                    <a:rPr lang="sv-SE" i="1">
                                      <a:latin typeface="Cambria Math" panose="02040503050406030204" pitchFamily="18" charset="0"/>
                                    </a:rPr>
                                    <m:t>1</m:t>
                                  </m:r>
                                </m:sub>
                                <m:sup>
                                  <m:r>
                                    <a:rPr lang="sv-SE" i="1">
                                      <a:latin typeface="Cambria Math" panose="02040503050406030204" pitchFamily="18" charset="0"/>
                                    </a:rPr>
                                    <m:t>2</m:t>
                                  </m:r>
                                </m:sup>
                              </m:sSubSup>
                              <m:r>
                                <a:rPr lang="sv-SE" i="1">
                                  <a:latin typeface="Cambria Math" panose="02040503050406030204" pitchFamily="18" charset="0"/>
                                </a:rPr>
                                <m:t>+</m:t>
                              </m:r>
                              <m:sSubSup>
                                <m:sSubSupPr>
                                  <m:ctrlPr>
                                    <a:rPr lang="sv-SE" i="1">
                                      <a:latin typeface="Cambria Math" panose="02040503050406030204" pitchFamily="18" charset="0"/>
                                    </a:rPr>
                                  </m:ctrlPr>
                                </m:sSubSupPr>
                                <m:e>
                                  <m:r>
                                    <a:rPr lang="sv-SE" i="1">
                                      <a:latin typeface="Cambria Math" panose="02040503050406030204" pitchFamily="18" charset="0"/>
                                    </a:rPr>
                                    <m:t>𝑀</m:t>
                                  </m:r>
                                </m:e>
                                <m:sub>
                                  <m:r>
                                    <a:rPr lang="sv-SE" i="1">
                                      <a:latin typeface="Cambria Math" panose="02040503050406030204" pitchFamily="18" charset="0"/>
                                    </a:rPr>
                                    <m:t>2</m:t>
                                  </m:r>
                                </m:sub>
                                <m:sup>
                                  <m:r>
                                    <a:rPr lang="sv-SE" i="1">
                                      <a:latin typeface="Cambria Math" panose="02040503050406030204" pitchFamily="18" charset="0"/>
                                    </a:rPr>
                                    <m:t>2</m:t>
                                  </m:r>
                                </m:sup>
                              </m:sSubSup>
                              <m:r>
                                <a:rPr lang="sv-SE" i="1">
                                  <a:latin typeface="Cambria Math" panose="02040503050406030204" pitchFamily="18" charset="0"/>
                                </a:rPr>
                                <m:t>−2</m:t>
                              </m:r>
                              <m:sSub>
                                <m:sSubPr>
                                  <m:ctrlPr>
                                    <a:rPr lang="sv-SE" i="1">
                                      <a:latin typeface="Cambria Math" panose="02040503050406030204" pitchFamily="18" charset="0"/>
                                    </a:rPr>
                                  </m:ctrlPr>
                                </m:sSubPr>
                                <m:e>
                                  <m:r>
                                    <a:rPr lang="sv-SE" i="1">
                                      <a:latin typeface="Cambria Math" panose="02040503050406030204" pitchFamily="18" charset="0"/>
                                    </a:rPr>
                                    <m:t>𝑀</m:t>
                                  </m:r>
                                </m:e>
                                <m:sub>
                                  <m:r>
                                    <a:rPr lang="sv-SE" i="1">
                                      <a:latin typeface="Cambria Math" panose="02040503050406030204" pitchFamily="18" charset="0"/>
                                    </a:rPr>
                                    <m:t>1</m:t>
                                  </m:r>
                                </m:sub>
                              </m:sSub>
                              <m:sSub>
                                <m:sSubPr>
                                  <m:ctrlPr>
                                    <a:rPr lang="sv-SE" i="1">
                                      <a:latin typeface="Cambria Math" panose="02040503050406030204" pitchFamily="18" charset="0"/>
                                    </a:rPr>
                                  </m:ctrlPr>
                                </m:sSubPr>
                                <m:e>
                                  <m:r>
                                    <a:rPr lang="sv-SE" i="1">
                                      <a:latin typeface="Cambria Math" panose="02040503050406030204" pitchFamily="18" charset="0"/>
                                    </a:rPr>
                                    <m:t>𝑀</m:t>
                                  </m:r>
                                </m:e>
                                <m:sub>
                                  <m:r>
                                    <a:rPr lang="sv-SE" i="1">
                                      <a:latin typeface="Cambria Math" panose="02040503050406030204" pitchFamily="18" charset="0"/>
                                    </a:rPr>
                                    <m:t>2</m:t>
                                  </m:r>
                                </m:sub>
                              </m:sSub>
                              <m:func>
                                <m:funcPr>
                                  <m:ctrlPr>
                                    <a:rPr lang="sv-SE" i="1">
                                      <a:latin typeface="Cambria Math" panose="02040503050406030204" pitchFamily="18" charset="0"/>
                                    </a:rPr>
                                  </m:ctrlPr>
                                </m:funcPr>
                                <m:fName>
                                  <m:r>
                                    <m:rPr>
                                      <m:sty m:val="p"/>
                                    </m:rPr>
                                    <a:rPr lang="sv-SE">
                                      <a:latin typeface="Cambria Math" panose="02040503050406030204" pitchFamily="18" charset="0"/>
                                    </a:rPr>
                                    <m:t>cos</m:t>
                                  </m:r>
                                </m:fName>
                                <m:e>
                                  <m:d>
                                    <m:dPr>
                                      <m:ctrlPr>
                                        <a:rPr lang="sv-SE" i="1">
                                          <a:latin typeface="Cambria Math" panose="02040503050406030204" pitchFamily="18" charset="0"/>
                                        </a:rPr>
                                      </m:ctrlPr>
                                    </m:dPr>
                                    <m:e>
                                      <m:r>
                                        <a:rPr lang="sv-SE" i="1">
                                          <a:latin typeface="Cambria Math" panose="02040503050406030204" pitchFamily="18" charset="0"/>
                                        </a:rPr>
                                        <m:t>𝛿</m:t>
                                      </m:r>
                                    </m:e>
                                  </m:d>
                                </m:e>
                              </m:func>
                            </m:e>
                          </m:rad>
                          <m:r>
                            <m:rPr>
                              <m:lit/>
                            </m:rPr>
                            <a:rPr lang="sv-SE" i="1">
                              <a:latin typeface="Cambria Math" panose="02040503050406030204" pitchFamily="18" charset="0"/>
                            </a:rPr>
                            <m:t> </m:t>
                          </m:r>
                        </m:num>
                        <m:den>
                          <m:r>
                            <a:rPr lang="sv-SE" i="1">
                              <a:latin typeface="Cambria Math" panose="02040503050406030204" pitchFamily="18" charset="0"/>
                            </a:rPr>
                            <m:t>𝑗</m:t>
                          </m:r>
                          <m:r>
                            <a:rPr lang="sv-SE" i="1">
                              <a:latin typeface="Cambria Math" panose="02040503050406030204" pitchFamily="18" charset="0"/>
                            </a:rPr>
                            <m:t>𝜔</m:t>
                          </m:r>
                          <m:r>
                            <a:rPr lang="sv-SE" i="1">
                              <a:latin typeface="Cambria Math" panose="02040503050406030204" pitchFamily="18" charset="0"/>
                            </a:rPr>
                            <m:t>𝐿</m:t>
                          </m:r>
                        </m:den>
                      </m:f>
                      <m:r>
                        <a:rPr lang="sv-SE" b="0" i="1" smtClean="0">
                          <a:latin typeface="Cambria Math" panose="02040503050406030204" pitchFamily="18" charset="0"/>
                        </a:rPr>
                        <m:t>&lt;</m:t>
                      </m:r>
                      <m:sSub>
                        <m:sSubPr>
                          <m:ctrlPr>
                            <a:rPr lang="sv-SE" b="0" i="1" smtClean="0">
                              <a:latin typeface="Cambria Math" panose="02040503050406030204" pitchFamily="18" charset="0"/>
                            </a:rPr>
                          </m:ctrlPr>
                        </m:sSubPr>
                        <m:e>
                          <m:r>
                            <a:rPr lang="sv-SE" b="0" i="1" smtClean="0">
                              <a:latin typeface="Cambria Math" panose="02040503050406030204" pitchFamily="18" charset="0"/>
                            </a:rPr>
                            <m:t>𝐼</m:t>
                          </m:r>
                        </m:e>
                        <m:sub>
                          <m:r>
                            <a:rPr lang="sv-SE" b="0" i="1" smtClean="0">
                              <a:latin typeface="Cambria Math" panose="02040503050406030204" pitchFamily="18" charset="0"/>
                            </a:rPr>
                            <m:t>𝑚𝑎𝑥</m:t>
                          </m:r>
                        </m:sub>
                      </m:sSub>
                    </m:oMath>
                  </m:oMathPara>
                </a14:m>
                <a:endParaRPr lang="sv-SE" dirty="0">
                  <a:latin typeface="Times New Roman" panose="02020603050405020304" pitchFamily="18" charset="0"/>
                  <a:cs typeface="Times New Roman" panose="02020603050405020304" pitchFamily="18" charset="0"/>
                </a:endParaRPr>
              </a:p>
            </p:txBody>
          </p:sp>
        </mc:Choice>
        <mc:Fallback>
          <p:sp>
            <p:nvSpPr>
              <p:cNvPr id="21" name="Rectangle 20"/>
              <p:cNvSpPr>
                <a:spLocks noRot="1" noChangeAspect="1" noMove="1" noResize="1" noEditPoints="1" noAdjustHandles="1" noChangeArrowheads="1" noChangeShapeType="1" noTextEdit="1"/>
              </p:cNvSpPr>
              <p:nvPr/>
            </p:nvSpPr>
            <p:spPr>
              <a:xfrm>
                <a:off x="6711052" y="5322568"/>
                <a:ext cx="4350037" cy="747128"/>
              </a:xfrm>
              <a:prstGeom prst="rect">
                <a:avLst/>
              </a:prstGeom>
              <a:blipFill>
                <a:blip r:embed="rId10"/>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17170287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795" y="417824"/>
            <a:ext cx="10990263" cy="568412"/>
          </a:xfrm>
        </p:spPr>
        <p:txBody>
          <a:bodyPr/>
          <a:lstStyle/>
          <a:p>
            <a:r>
              <a:rPr lang="en-US" dirty="0" smtClean="0">
                <a:latin typeface="Times New Roman" panose="02020603050405020304" pitchFamily="18" charset="0"/>
                <a:cs typeface="Times New Roman" panose="02020603050405020304" pitchFamily="18" charset="0"/>
              </a:rPr>
              <a:t>Inverter Losses</a:t>
            </a:r>
            <a:endParaRPr lang="sv-SE"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94680" y="2952610"/>
            <a:ext cx="10828600" cy="1200329"/>
          </a:xfrm>
          <a:prstGeom prst="rect">
            <a:avLst/>
          </a:prstGeom>
          <a:noFill/>
        </p:spPr>
        <p:txBody>
          <a:bodyPr wrap="square" rtlCol="0">
            <a:spAutoFit/>
          </a:bodyPr>
          <a:lstStyle/>
          <a:p>
            <a:pPr marL="285750" indent="-2857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In a two-level inverter, we can assume the losses do not depend on the power factor.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We can control the modulation index and the current, then we can estimate the power loss for the desired operating points.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smtClean="0">
                <a:latin typeface="Times New Roman" panose="02020603050405020304" pitchFamily="18" charset="0"/>
                <a:cs typeface="Times New Roman" panose="02020603050405020304" pitchFamily="18" charset="0"/>
              </a:rPr>
              <a:t>The efficiency can be estimated then using the power </a:t>
            </a:r>
            <a:r>
              <a:rPr lang="en-US" dirty="0" smtClean="0">
                <a:latin typeface="Times New Roman" panose="02020603050405020304" pitchFamily="18" charset="0"/>
                <a:cs typeface="Times New Roman" panose="02020603050405020304" pitchFamily="18" charset="0"/>
              </a:rPr>
              <a:t>loss and operating point power.</a:t>
            </a:r>
            <a:endParaRPr lang="sv-SE" dirty="0">
              <a:latin typeface="Times New Roman" panose="02020603050405020304" pitchFamily="18" charset="0"/>
              <a:cs typeface="Times New Roman" panose="02020603050405020304" pitchFamily="18" charset="0"/>
            </a:endParaRPr>
          </a:p>
        </p:txBody>
      </p:sp>
      <p:grpSp>
        <p:nvGrpSpPr>
          <p:cNvPr id="44" name="Group 43"/>
          <p:cNvGrpSpPr/>
          <p:nvPr/>
        </p:nvGrpSpPr>
        <p:grpSpPr>
          <a:xfrm>
            <a:off x="4558212" y="4535681"/>
            <a:ext cx="2419401" cy="2173553"/>
            <a:chOff x="1579131" y="466531"/>
            <a:chExt cx="6174982" cy="5669020"/>
          </a:xfrm>
        </p:grpSpPr>
        <p:sp>
          <p:nvSpPr>
            <p:cNvPr id="8" name="Frihandsfigur: Form 10">
              <a:extLst>
                <a:ext uri="{FF2B5EF4-FFF2-40B4-BE49-F238E27FC236}">
                  <a16:creationId xmlns:a16="http://schemas.microsoft.com/office/drawing/2014/main" id="{F95688FF-9EF5-49FE-AEEF-3405B59A2059}"/>
                </a:ext>
              </a:extLst>
            </p:cNvPr>
            <p:cNvSpPr/>
            <p:nvPr/>
          </p:nvSpPr>
          <p:spPr>
            <a:xfrm>
              <a:off x="2229581" y="2264691"/>
              <a:ext cx="4633083" cy="2930290"/>
            </a:xfrm>
            <a:custGeom>
              <a:avLst/>
              <a:gdLst>
                <a:gd name="connsiteX0" fmla="*/ 0 w 4387850"/>
                <a:gd name="connsiteY0" fmla="*/ 3054350 h 3054350"/>
                <a:gd name="connsiteX1" fmla="*/ 1301750 w 4387850"/>
                <a:gd name="connsiteY1" fmla="*/ 19050 h 3054350"/>
                <a:gd name="connsiteX2" fmla="*/ 3028950 w 4387850"/>
                <a:gd name="connsiteY2" fmla="*/ 0 h 3054350"/>
                <a:gd name="connsiteX3" fmla="*/ 4387850 w 4387850"/>
                <a:gd name="connsiteY3" fmla="*/ 933450 h 3054350"/>
              </a:gdLst>
              <a:ahLst/>
              <a:cxnLst>
                <a:cxn ang="0">
                  <a:pos x="connsiteX0" y="connsiteY0"/>
                </a:cxn>
                <a:cxn ang="0">
                  <a:pos x="connsiteX1" y="connsiteY1"/>
                </a:cxn>
                <a:cxn ang="0">
                  <a:pos x="connsiteX2" y="connsiteY2"/>
                </a:cxn>
                <a:cxn ang="0">
                  <a:pos x="connsiteX3" y="connsiteY3"/>
                </a:cxn>
              </a:cxnLst>
              <a:rect l="l" t="t" r="r" b="b"/>
              <a:pathLst>
                <a:path w="4387850" h="3054350">
                  <a:moveTo>
                    <a:pt x="0" y="3054350"/>
                  </a:moveTo>
                  <a:lnTo>
                    <a:pt x="1301750" y="19050"/>
                  </a:lnTo>
                  <a:lnTo>
                    <a:pt x="3028950" y="0"/>
                  </a:lnTo>
                  <a:lnTo>
                    <a:pt x="4387850" y="933450"/>
                  </a:lnTo>
                </a:path>
              </a:pathLst>
            </a:cu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Times New Roman" panose="02020603050405020304" pitchFamily="18" charset="0"/>
                <a:cs typeface="Times New Roman" panose="02020603050405020304" pitchFamily="18" charset="0"/>
              </a:endParaRPr>
            </a:p>
          </p:txBody>
        </p:sp>
        <p:cxnSp>
          <p:nvCxnSpPr>
            <p:cNvPr id="9" name="Straight Connector 8">
              <a:extLst>
                <a:ext uri="{FF2B5EF4-FFF2-40B4-BE49-F238E27FC236}">
                  <a16:creationId xmlns:a16="http://schemas.microsoft.com/office/drawing/2014/main" id="{D69C8319-7602-477A-BEFE-B8862F6F2634}"/>
                </a:ext>
              </a:extLst>
            </p:cNvPr>
            <p:cNvCxnSpPr>
              <a:cxnSpLocks/>
            </p:cNvCxnSpPr>
            <p:nvPr/>
          </p:nvCxnSpPr>
          <p:spPr>
            <a:xfrm flipV="1">
              <a:off x="2229583" y="781538"/>
              <a:ext cx="0" cy="4400062"/>
            </a:xfrm>
            <a:prstGeom prst="line">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0" name="Rak koppling 27">
              <a:extLst>
                <a:ext uri="{FF2B5EF4-FFF2-40B4-BE49-F238E27FC236}">
                  <a16:creationId xmlns:a16="http://schemas.microsoft.com/office/drawing/2014/main" id="{ED68C74F-DE92-49DC-B4D2-DE6CF466B324}"/>
                </a:ext>
              </a:extLst>
            </p:cNvPr>
            <p:cNvCxnSpPr>
              <a:cxnSpLocks/>
            </p:cNvCxnSpPr>
            <p:nvPr/>
          </p:nvCxnSpPr>
          <p:spPr>
            <a:xfrm>
              <a:off x="3607221" y="2264690"/>
              <a:ext cx="0" cy="29179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 name="Rak koppling 27">
              <a:extLst>
                <a:ext uri="{FF2B5EF4-FFF2-40B4-BE49-F238E27FC236}">
                  <a16:creationId xmlns:a16="http://schemas.microsoft.com/office/drawing/2014/main" id="{5E91D034-25A0-4741-846A-A82849369CAD}"/>
                </a:ext>
              </a:extLst>
            </p:cNvPr>
            <p:cNvCxnSpPr>
              <a:cxnSpLocks/>
              <a:stCxn id="8" idx="2"/>
            </p:cNvCxnSpPr>
            <p:nvPr/>
          </p:nvCxnSpPr>
          <p:spPr>
            <a:xfrm>
              <a:off x="5427816" y="2264691"/>
              <a:ext cx="0" cy="289649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 name="Rak koppling 14">
              <a:extLst>
                <a:ext uri="{FF2B5EF4-FFF2-40B4-BE49-F238E27FC236}">
                  <a16:creationId xmlns:a16="http://schemas.microsoft.com/office/drawing/2014/main" id="{9114E305-1F62-45B8-95E8-00EEA3F90B71}"/>
                </a:ext>
              </a:extLst>
            </p:cNvPr>
            <p:cNvCxnSpPr>
              <a:cxnSpLocks/>
            </p:cNvCxnSpPr>
            <p:nvPr/>
          </p:nvCxnSpPr>
          <p:spPr>
            <a:xfrm>
              <a:off x="2229583" y="1486273"/>
              <a:ext cx="1109800" cy="0"/>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rihandsfigur: Form 15">
              <a:extLst>
                <a:ext uri="{FF2B5EF4-FFF2-40B4-BE49-F238E27FC236}">
                  <a16:creationId xmlns:a16="http://schemas.microsoft.com/office/drawing/2014/main" id="{17A6718E-55A8-408B-92D9-0811AB48855B}"/>
                </a:ext>
              </a:extLst>
            </p:cNvPr>
            <p:cNvSpPr/>
            <p:nvPr/>
          </p:nvSpPr>
          <p:spPr>
            <a:xfrm>
              <a:off x="3339382" y="1499655"/>
              <a:ext cx="3550627" cy="2315690"/>
            </a:xfrm>
            <a:custGeom>
              <a:avLst/>
              <a:gdLst>
                <a:gd name="connsiteX0" fmla="*/ 23177 w 2690177"/>
                <a:gd name="connsiteY0" fmla="*/ 0 h 1371600"/>
                <a:gd name="connsiteX1" fmla="*/ 206057 w 2690177"/>
                <a:gd name="connsiteY1" fmla="*/ 601980 h 1371600"/>
                <a:gd name="connsiteX2" fmla="*/ 1524317 w 2690177"/>
                <a:gd name="connsiteY2" fmla="*/ 1165860 h 1371600"/>
                <a:gd name="connsiteX3" fmla="*/ 2690177 w 2690177"/>
                <a:gd name="connsiteY3" fmla="*/ 1371600 h 1371600"/>
                <a:gd name="connsiteX0" fmla="*/ 0 w 2667000"/>
                <a:gd name="connsiteY0" fmla="*/ 0 h 1371600"/>
                <a:gd name="connsiteX1" fmla="*/ 182880 w 2667000"/>
                <a:gd name="connsiteY1" fmla="*/ 601980 h 1371600"/>
                <a:gd name="connsiteX2" fmla="*/ 1501140 w 2667000"/>
                <a:gd name="connsiteY2" fmla="*/ 1165860 h 1371600"/>
                <a:gd name="connsiteX3" fmla="*/ 2667000 w 2667000"/>
                <a:gd name="connsiteY3" fmla="*/ 1371600 h 1371600"/>
                <a:gd name="connsiteX0" fmla="*/ 0 w 2667000"/>
                <a:gd name="connsiteY0" fmla="*/ 0 h 1371600"/>
                <a:gd name="connsiteX1" fmla="*/ 182880 w 2667000"/>
                <a:gd name="connsiteY1" fmla="*/ 601980 h 1371600"/>
                <a:gd name="connsiteX2" fmla="*/ 1501140 w 2667000"/>
                <a:gd name="connsiteY2" fmla="*/ 1165860 h 1371600"/>
                <a:gd name="connsiteX3" fmla="*/ 2667000 w 2667000"/>
                <a:gd name="connsiteY3" fmla="*/ 1371600 h 1371600"/>
                <a:gd name="connsiteX0" fmla="*/ 0 w 2667000"/>
                <a:gd name="connsiteY0" fmla="*/ 0 h 1371600"/>
                <a:gd name="connsiteX1" fmla="*/ 182880 w 2667000"/>
                <a:gd name="connsiteY1" fmla="*/ 601980 h 1371600"/>
                <a:gd name="connsiteX2" fmla="*/ 1501140 w 2667000"/>
                <a:gd name="connsiteY2" fmla="*/ 1165860 h 1371600"/>
                <a:gd name="connsiteX3" fmla="*/ 2667000 w 2667000"/>
                <a:gd name="connsiteY3" fmla="*/ 1371600 h 1371600"/>
                <a:gd name="connsiteX0" fmla="*/ 0 w 2667000"/>
                <a:gd name="connsiteY0" fmla="*/ 0 h 1371600"/>
                <a:gd name="connsiteX1" fmla="*/ 182880 w 2667000"/>
                <a:gd name="connsiteY1" fmla="*/ 601980 h 1371600"/>
                <a:gd name="connsiteX2" fmla="*/ 1501140 w 2667000"/>
                <a:gd name="connsiteY2" fmla="*/ 1165860 h 1371600"/>
                <a:gd name="connsiteX3" fmla="*/ 2667000 w 2667000"/>
                <a:gd name="connsiteY3" fmla="*/ 1371600 h 1371600"/>
                <a:gd name="connsiteX0" fmla="*/ 0 w 2667000"/>
                <a:gd name="connsiteY0" fmla="*/ 0 h 1371600"/>
                <a:gd name="connsiteX1" fmla="*/ 268605 w 2667000"/>
                <a:gd name="connsiteY1" fmla="*/ 599599 h 1371600"/>
                <a:gd name="connsiteX2" fmla="*/ 1501140 w 2667000"/>
                <a:gd name="connsiteY2" fmla="*/ 1165860 h 1371600"/>
                <a:gd name="connsiteX3" fmla="*/ 2667000 w 2667000"/>
                <a:gd name="connsiteY3" fmla="*/ 1371600 h 1371600"/>
                <a:gd name="connsiteX0" fmla="*/ 0 w 2667000"/>
                <a:gd name="connsiteY0" fmla="*/ 0 h 1371600"/>
                <a:gd name="connsiteX1" fmla="*/ 268605 w 2667000"/>
                <a:gd name="connsiteY1" fmla="*/ 599599 h 1371600"/>
                <a:gd name="connsiteX2" fmla="*/ 1501140 w 2667000"/>
                <a:gd name="connsiteY2" fmla="*/ 1165860 h 1371600"/>
                <a:gd name="connsiteX3" fmla="*/ 2667000 w 2667000"/>
                <a:gd name="connsiteY3" fmla="*/ 1371600 h 1371600"/>
                <a:gd name="connsiteX0" fmla="*/ 0 w 2667000"/>
                <a:gd name="connsiteY0" fmla="*/ 0 h 1371600"/>
                <a:gd name="connsiteX1" fmla="*/ 268605 w 2667000"/>
                <a:gd name="connsiteY1" fmla="*/ 599599 h 1371600"/>
                <a:gd name="connsiteX2" fmla="*/ 1501140 w 2667000"/>
                <a:gd name="connsiteY2" fmla="*/ 1165860 h 1371600"/>
                <a:gd name="connsiteX3" fmla="*/ 2667000 w 2667000"/>
                <a:gd name="connsiteY3" fmla="*/ 1371600 h 1371600"/>
                <a:gd name="connsiteX0" fmla="*/ 0 w 2667000"/>
                <a:gd name="connsiteY0" fmla="*/ 0 h 1371600"/>
                <a:gd name="connsiteX1" fmla="*/ 268605 w 2667000"/>
                <a:gd name="connsiteY1" fmla="*/ 599599 h 1371600"/>
                <a:gd name="connsiteX2" fmla="*/ 1501140 w 2667000"/>
                <a:gd name="connsiteY2" fmla="*/ 1165860 h 1371600"/>
                <a:gd name="connsiteX3" fmla="*/ 2667000 w 2667000"/>
                <a:gd name="connsiteY3" fmla="*/ 1371600 h 1371600"/>
                <a:gd name="connsiteX0" fmla="*/ 0 w 2667000"/>
                <a:gd name="connsiteY0" fmla="*/ 0 h 1371600"/>
                <a:gd name="connsiteX1" fmla="*/ 401955 w 2667000"/>
                <a:gd name="connsiteY1" fmla="*/ 688499 h 1371600"/>
                <a:gd name="connsiteX2" fmla="*/ 1501140 w 2667000"/>
                <a:gd name="connsiteY2" fmla="*/ 1165860 h 1371600"/>
                <a:gd name="connsiteX3" fmla="*/ 2667000 w 2667000"/>
                <a:gd name="connsiteY3" fmla="*/ 1371600 h 1371600"/>
                <a:gd name="connsiteX0" fmla="*/ 0 w 2667000"/>
                <a:gd name="connsiteY0" fmla="*/ 0 h 1371600"/>
                <a:gd name="connsiteX1" fmla="*/ 435126 w 2667000"/>
                <a:gd name="connsiteY1" fmla="*/ 669449 h 1371600"/>
                <a:gd name="connsiteX2" fmla="*/ 1501140 w 2667000"/>
                <a:gd name="connsiteY2" fmla="*/ 1165860 h 1371600"/>
                <a:gd name="connsiteX3" fmla="*/ 2667000 w 2667000"/>
                <a:gd name="connsiteY3" fmla="*/ 1371600 h 1371600"/>
                <a:gd name="connsiteX0" fmla="*/ 0 w 2667000"/>
                <a:gd name="connsiteY0" fmla="*/ 0 h 1371600"/>
                <a:gd name="connsiteX1" fmla="*/ 435126 w 2667000"/>
                <a:gd name="connsiteY1" fmla="*/ 669449 h 1371600"/>
                <a:gd name="connsiteX2" fmla="*/ 1501140 w 2667000"/>
                <a:gd name="connsiteY2" fmla="*/ 1134110 h 1371600"/>
                <a:gd name="connsiteX3" fmla="*/ 2667000 w 2667000"/>
                <a:gd name="connsiteY3" fmla="*/ 1371600 h 1371600"/>
                <a:gd name="connsiteX0" fmla="*/ 0 w 2680269"/>
                <a:gd name="connsiteY0" fmla="*/ 0 h 1346200"/>
                <a:gd name="connsiteX1" fmla="*/ 435126 w 2680269"/>
                <a:gd name="connsiteY1" fmla="*/ 669449 h 1346200"/>
                <a:gd name="connsiteX2" fmla="*/ 1501140 w 2680269"/>
                <a:gd name="connsiteY2" fmla="*/ 1134110 h 1346200"/>
                <a:gd name="connsiteX3" fmla="*/ 2680269 w 2680269"/>
                <a:gd name="connsiteY3" fmla="*/ 1346200 h 1346200"/>
                <a:gd name="connsiteX0" fmla="*/ 0 w 2680269"/>
                <a:gd name="connsiteY0" fmla="*/ 0 h 1346200"/>
                <a:gd name="connsiteX1" fmla="*/ 435126 w 2680269"/>
                <a:gd name="connsiteY1" fmla="*/ 669449 h 1346200"/>
                <a:gd name="connsiteX2" fmla="*/ 1501140 w 2680269"/>
                <a:gd name="connsiteY2" fmla="*/ 1134110 h 1346200"/>
                <a:gd name="connsiteX3" fmla="*/ 2680269 w 2680269"/>
                <a:gd name="connsiteY3" fmla="*/ 1346200 h 1346200"/>
              </a:gdLst>
              <a:ahLst/>
              <a:cxnLst>
                <a:cxn ang="0">
                  <a:pos x="connsiteX0" y="connsiteY0"/>
                </a:cxn>
                <a:cxn ang="0">
                  <a:pos x="connsiteX1" y="connsiteY1"/>
                </a:cxn>
                <a:cxn ang="0">
                  <a:pos x="connsiteX2" y="connsiteY2"/>
                </a:cxn>
                <a:cxn ang="0">
                  <a:pos x="connsiteX3" y="connsiteY3"/>
                </a:cxn>
              </a:cxnLst>
              <a:rect l="l" t="t" r="r" b="b"/>
              <a:pathLst>
                <a:path w="2680269" h="1346200">
                  <a:moveTo>
                    <a:pt x="0" y="0"/>
                  </a:moveTo>
                  <a:cubicBezTo>
                    <a:pt x="85408" y="291941"/>
                    <a:pt x="184936" y="480431"/>
                    <a:pt x="435126" y="669449"/>
                  </a:cubicBezTo>
                  <a:cubicBezTo>
                    <a:pt x="685316" y="858467"/>
                    <a:pt x="1087120" y="1005840"/>
                    <a:pt x="1501140" y="1134110"/>
                  </a:cubicBezTo>
                  <a:cubicBezTo>
                    <a:pt x="1934210" y="1250474"/>
                    <a:pt x="2252980" y="1322546"/>
                    <a:pt x="2680269" y="1346200"/>
                  </a:cubicBezTo>
                </a:path>
              </a:pathLst>
            </a:cu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latin typeface="Times New Roman" panose="02020603050405020304" pitchFamily="18" charset="0"/>
                <a:cs typeface="Times New Roman" panose="02020603050405020304" pitchFamily="18" charset="0"/>
              </a:endParaRPr>
            </a:p>
          </p:txBody>
        </p:sp>
        <p:sp>
          <p:nvSpPr>
            <p:cNvPr id="14" name="Ellips 34">
              <a:extLst>
                <a:ext uri="{FF2B5EF4-FFF2-40B4-BE49-F238E27FC236}">
                  <a16:creationId xmlns:a16="http://schemas.microsoft.com/office/drawing/2014/main" id="{68F6B4D0-9109-4501-958A-725AF79D5F34}"/>
                </a:ext>
              </a:extLst>
            </p:cNvPr>
            <p:cNvSpPr/>
            <p:nvPr/>
          </p:nvSpPr>
          <p:spPr>
            <a:xfrm>
              <a:off x="2358853" y="1456931"/>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15" name="Ellips 33">
              <a:extLst>
                <a:ext uri="{FF2B5EF4-FFF2-40B4-BE49-F238E27FC236}">
                  <a16:creationId xmlns:a16="http://schemas.microsoft.com/office/drawing/2014/main" id="{FD9E4E18-5EB1-4E7C-9A2B-B962CBE29CB9}"/>
                </a:ext>
              </a:extLst>
            </p:cNvPr>
            <p:cNvSpPr/>
            <p:nvPr/>
          </p:nvSpPr>
          <p:spPr>
            <a:xfrm>
              <a:off x="3596606" y="4445341"/>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16" name="Ellips 20">
              <a:extLst>
                <a:ext uri="{FF2B5EF4-FFF2-40B4-BE49-F238E27FC236}">
                  <a16:creationId xmlns:a16="http://schemas.microsoft.com/office/drawing/2014/main" id="{F7758134-56B0-41CF-B7EB-9809A17FABAE}"/>
                </a:ext>
              </a:extLst>
            </p:cNvPr>
            <p:cNvSpPr/>
            <p:nvPr/>
          </p:nvSpPr>
          <p:spPr>
            <a:xfrm>
              <a:off x="3574177" y="2263684"/>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17" name="Ellips 21">
              <a:extLst>
                <a:ext uri="{FF2B5EF4-FFF2-40B4-BE49-F238E27FC236}">
                  <a16:creationId xmlns:a16="http://schemas.microsoft.com/office/drawing/2014/main" id="{D76009EC-4A77-46EA-8FB7-21B5D2A9BC41}"/>
                </a:ext>
              </a:extLst>
            </p:cNvPr>
            <p:cNvSpPr/>
            <p:nvPr/>
          </p:nvSpPr>
          <p:spPr>
            <a:xfrm>
              <a:off x="3556425" y="3633767"/>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18" name="textruta 25">
              <a:extLst>
                <a:ext uri="{FF2B5EF4-FFF2-40B4-BE49-F238E27FC236}">
                  <a16:creationId xmlns:a16="http://schemas.microsoft.com/office/drawing/2014/main" id="{4820FDC1-A94B-4571-8C94-67E257355A17}"/>
                </a:ext>
              </a:extLst>
            </p:cNvPr>
            <p:cNvSpPr txBox="1"/>
            <p:nvPr/>
          </p:nvSpPr>
          <p:spPr>
            <a:xfrm>
              <a:off x="3615118" y="3591085"/>
              <a:ext cx="1317136" cy="602052"/>
            </a:xfrm>
            <a:prstGeom prst="rect">
              <a:avLst/>
            </a:prstGeom>
            <a:noFill/>
          </p:spPr>
          <p:txBody>
            <a:bodyPr wrap="square"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50% of power</a:t>
              </a:r>
            </a:p>
          </p:txBody>
        </p:sp>
        <p:cxnSp>
          <p:nvCxnSpPr>
            <p:cNvPr id="19" name="Straight Connector 18">
              <a:extLst>
                <a:ext uri="{FF2B5EF4-FFF2-40B4-BE49-F238E27FC236}">
                  <a16:creationId xmlns:a16="http://schemas.microsoft.com/office/drawing/2014/main" id="{A59AFAE5-8D97-40E8-8647-B091F5A1C786}"/>
                </a:ext>
              </a:extLst>
            </p:cNvPr>
            <p:cNvCxnSpPr>
              <a:cxnSpLocks/>
            </p:cNvCxnSpPr>
            <p:nvPr/>
          </p:nvCxnSpPr>
          <p:spPr>
            <a:xfrm flipV="1">
              <a:off x="6879412" y="466531"/>
              <a:ext cx="0" cy="4715069"/>
            </a:xfrm>
            <a:prstGeom prst="line">
              <a:avLst/>
            </a:prstGeom>
            <a:ln w="15875" cap="flat" cmpd="sng" algn="ctr">
              <a:solidFill>
                <a:srgbClr val="0070C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Connector 19">
              <a:extLst>
                <a:ext uri="{FF2B5EF4-FFF2-40B4-BE49-F238E27FC236}">
                  <a16:creationId xmlns:a16="http://schemas.microsoft.com/office/drawing/2014/main" id="{E17970C9-0287-4EE9-B410-6350F077910E}"/>
                </a:ext>
              </a:extLst>
            </p:cNvPr>
            <p:cNvCxnSpPr>
              <a:cxnSpLocks/>
            </p:cNvCxnSpPr>
            <p:nvPr/>
          </p:nvCxnSpPr>
          <p:spPr>
            <a:xfrm>
              <a:off x="2229583" y="5181600"/>
              <a:ext cx="464982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ruta 24">
              <a:extLst>
                <a:ext uri="{FF2B5EF4-FFF2-40B4-BE49-F238E27FC236}">
                  <a16:creationId xmlns:a16="http://schemas.microsoft.com/office/drawing/2014/main" id="{9FF17B5D-4686-4A65-A133-67B17E21A08D}"/>
                </a:ext>
              </a:extLst>
            </p:cNvPr>
            <p:cNvSpPr txBox="1"/>
            <p:nvPr/>
          </p:nvSpPr>
          <p:spPr>
            <a:xfrm>
              <a:off x="3559547" y="2056747"/>
              <a:ext cx="1368985" cy="602052"/>
            </a:xfrm>
            <a:prstGeom prst="rect">
              <a:avLst/>
            </a:prstGeom>
            <a:noFill/>
          </p:spPr>
          <p:txBody>
            <a:bodyPr wrap="square"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100% of power</a:t>
              </a:r>
            </a:p>
          </p:txBody>
        </p:sp>
        <p:sp>
          <p:nvSpPr>
            <p:cNvPr id="22" name="textruta 23">
              <a:extLst>
                <a:ext uri="{FF2B5EF4-FFF2-40B4-BE49-F238E27FC236}">
                  <a16:creationId xmlns:a16="http://schemas.microsoft.com/office/drawing/2014/main" id="{E7C69A9B-3E5A-437E-A102-834ED849E34B}"/>
                </a:ext>
              </a:extLst>
            </p:cNvPr>
            <p:cNvSpPr txBox="1"/>
            <p:nvPr/>
          </p:nvSpPr>
          <p:spPr>
            <a:xfrm>
              <a:off x="3731591" y="4384230"/>
              <a:ext cx="1196941" cy="602052"/>
            </a:xfrm>
            <a:prstGeom prst="rect">
              <a:avLst/>
            </a:prstGeom>
            <a:noFill/>
          </p:spPr>
          <p:txBody>
            <a:bodyPr wrap="square"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25% of power</a:t>
              </a:r>
            </a:p>
          </p:txBody>
        </p:sp>
        <p:cxnSp>
          <p:nvCxnSpPr>
            <p:cNvPr id="23" name="Straight Connector 22">
              <a:extLst>
                <a:ext uri="{FF2B5EF4-FFF2-40B4-BE49-F238E27FC236}">
                  <a16:creationId xmlns:a16="http://schemas.microsoft.com/office/drawing/2014/main" id="{1214A003-6BCE-450C-BC7E-A85BBB258775}"/>
                </a:ext>
              </a:extLst>
            </p:cNvPr>
            <p:cNvCxnSpPr>
              <a:cxnSpLocks/>
            </p:cNvCxnSpPr>
            <p:nvPr/>
          </p:nvCxnSpPr>
          <p:spPr>
            <a:xfrm flipV="1">
              <a:off x="5427816" y="2242804"/>
              <a:ext cx="1451596" cy="4811"/>
            </a:xfrm>
            <a:prstGeom prst="line">
              <a:avLst/>
            </a:prstGeom>
            <a:ln w="9525" cap="flat" cmpd="sng" algn="ctr">
              <a:solidFill>
                <a:srgbClr val="0070C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AA28F72E-65C6-4B48-9D2E-0F7E5238F750}"/>
                </a:ext>
              </a:extLst>
            </p:cNvPr>
            <p:cNvSpPr txBox="1"/>
            <p:nvPr/>
          </p:nvSpPr>
          <p:spPr>
            <a:xfrm>
              <a:off x="3362302" y="5215502"/>
              <a:ext cx="995005"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2000</a:t>
              </a:r>
            </a:p>
          </p:txBody>
        </p:sp>
        <p:sp>
          <p:nvSpPr>
            <p:cNvPr id="25" name="TextBox 24">
              <a:extLst>
                <a:ext uri="{FF2B5EF4-FFF2-40B4-BE49-F238E27FC236}">
                  <a16:creationId xmlns:a16="http://schemas.microsoft.com/office/drawing/2014/main" id="{B998C7C4-9364-4106-8DFF-0B2B7D439622}"/>
                </a:ext>
              </a:extLst>
            </p:cNvPr>
            <p:cNvSpPr txBox="1"/>
            <p:nvPr/>
          </p:nvSpPr>
          <p:spPr>
            <a:xfrm>
              <a:off x="5098241" y="5228728"/>
              <a:ext cx="995005"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4500</a:t>
              </a:r>
            </a:p>
          </p:txBody>
        </p:sp>
        <p:sp>
          <p:nvSpPr>
            <p:cNvPr id="26" name="TextBox 25">
              <a:extLst>
                <a:ext uri="{FF2B5EF4-FFF2-40B4-BE49-F238E27FC236}">
                  <a16:creationId xmlns:a16="http://schemas.microsoft.com/office/drawing/2014/main" id="{34FB8E8A-710C-4C9D-9685-2971DDA008EE}"/>
                </a:ext>
              </a:extLst>
            </p:cNvPr>
            <p:cNvSpPr txBox="1"/>
            <p:nvPr/>
          </p:nvSpPr>
          <p:spPr>
            <a:xfrm>
              <a:off x="1579131" y="1384042"/>
              <a:ext cx="995005"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2500</a:t>
              </a:r>
            </a:p>
          </p:txBody>
        </p:sp>
        <p:sp>
          <p:nvSpPr>
            <p:cNvPr id="27" name="TextBox 26">
              <a:extLst>
                <a:ext uri="{FF2B5EF4-FFF2-40B4-BE49-F238E27FC236}">
                  <a16:creationId xmlns:a16="http://schemas.microsoft.com/office/drawing/2014/main" id="{861070D9-D996-41AE-B78B-F6DF1BFF2159}"/>
                </a:ext>
              </a:extLst>
            </p:cNvPr>
            <p:cNvSpPr txBox="1"/>
            <p:nvPr/>
          </p:nvSpPr>
          <p:spPr>
            <a:xfrm rot="16200000">
              <a:off x="1065888" y="2653139"/>
              <a:ext cx="1894794" cy="518452"/>
            </a:xfrm>
            <a:prstGeom prst="rect">
              <a:avLst/>
            </a:prstGeom>
            <a:noFill/>
          </p:spPr>
          <p:txBody>
            <a:bodyPr wrap="none" rtlCol="0">
              <a:spAutoFit/>
            </a:bodyPr>
            <a:lstStyle/>
            <a:p>
              <a:pPr>
                <a:lnSpc>
                  <a:spcPct val="90000"/>
                </a:lnSpc>
                <a:spcBef>
                  <a:spcPts val="1200"/>
                </a:spcBef>
              </a:pPr>
              <a:r>
                <a:rPr lang="sv-SE" sz="800" dirty="0" err="1">
                  <a:solidFill>
                    <a:schemeClr val="accent1"/>
                  </a:solidFill>
                  <a:latin typeface="Times New Roman" panose="02020603050405020304" pitchFamily="18" charset="0"/>
                  <a:cs typeface="Times New Roman" panose="02020603050405020304" pitchFamily="18" charset="0"/>
                </a:rPr>
                <a:t>Torque</a:t>
              </a:r>
              <a:r>
                <a:rPr lang="sv-SE" sz="800" dirty="0">
                  <a:solidFill>
                    <a:schemeClr val="accent1"/>
                  </a:solidFill>
                  <a:latin typeface="Times New Roman" panose="02020603050405020304" pitchFamily="18" charset="0"/>
                  <a:cs typeface="Times New Roman" panose="02020603050405020304" pitchFamily="18" charset="0"/>
                </a:rPr>
                <a:t> [Nm]</a:t>
              </a:r>
            </a:p>
          </p:txBody>
        </p:sp>
        <p:sp>
          <p:nvSpPr>
            <p:cNvPr id="28" name="TextBox 27">
              <a:extLst>
                <a:ext uri="{FF2B5EF4-FFF2-40B4-BE49-F238E27FC236}">
                  <a16:creationId xmlns:a16="http://schemas.microsoft.com/office/drawing/2014/main" id="{7DD1E063-126C-4B74-ACDE-399D3E43EC9A}"/>
                </a:ext>
              </a:extLst>
            </p:cNvPr>
            <p:cNvSpPr txBox="1"/>
            <p:nvPr/>
          </p:nvSpPr>
          <p:spPr>
            <a:xfrm rot="16200000">
              <a:off x="6298367" y="3007259"/>
              <a:ext cx="1790271" cy="518452"/>
            </a:xfrm>
            <a:prstGeom prst="rect">
              <a:avLst/>
            </a:prstGeom>
            <a:noFill/>
            <a:ln>
              <a:noFill/>
            </a:ln>
          </p:spPr>
          <p:txBody>
            <a:bodyPr wrap="none" rtlCol="0">
              <a:spAutoFit/>
            </a:bodyPr>
            <a:lstStyle/>
            <a:p>
              <a:pPr>
                <a:lnSpc>
                  <a:spcPct val="90000"/>
                </a:lnSpc>
                <a:spcBef>
                  <a:spcPts val="1200"/>
                </a:spcBef>
              </a:pPr>
              <a:r>
                <a:rPr lang="sv-SE" sz="800" dirty="0">
                  <a:solidFill>
                    <a:schemeClr val="accent1">
                      <a:lumMod val="75000"/>
                      <a:lumOff val="25000"/>
                    </a:schemeClr>
                  </a:solidFill>
                  <a:latin typeface="Times New Roman" panose="02020603050405020304" pitchFamily="18" charset="0"/>
                  <a:cs typeface="Times New Roman" panose="02020603050405020304" pitchFamily="18" charset="0"/>
                </a:rPr>
                <a:t>Power [kW]</a:t>
              </a:r>
            </a:p>
          </p:txBody>
        </p:sp>
        <p:sp>
          <p:nvSpPr>
            <p:cNvPr id="29" name="TextBox 28">
              <a:extLst>
                <a:ext uri="{FF2B5EF4-FFF2-40B4-BE49-F238E27FC236}">
                  <a16:creationId xmlns:a16="http://schemas.microsoft.com/office/drawing/2014/main" id="{C946DA04-A823-4488-9B8D-F8F2AD2E0864}"/>
                </a:ext>
              </a:extLst>
            </p:cNvPr>
            <p:cNvSpPr txBox="1"/>
            <p:nvPr/>
          </p:nvSpPr>
          <p:spPr>
            <a:xfrm>
              <a:off x="6890029" y="2117901"/>
              <a:ext cx="864084"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600</a:t>
              </a:r>
            </a:p>
          </p:txBody>
        </p:sp>
        <p:sp>
          <p:nvSpPr>
            <p:cNvPr id="30" name="TextBox 29">
              <a:extLst>
                <a:ext uri="{FF2B5EF4-FFF2-40B4-BE49-F238E27FC236}">
                  <a16:creationId xmlns:a16="http://schemas.microsoft.com/office/drawing/2014/main" id="{B7B96961-C5A2-449B-B047-032BC9230B8C}"/>
                </a:ext>
              </a:extLst>
            </p:cNvPr>
            <p:cNvSpPr txBox="1"/>
            <p:nvPr/>
          </p:nvSpPr>
          <p:spPr>
            <a:xfrm>
              <a:off x="3389997" y="5533499"/>
              <a:ext cx="2050563" cy="602052"/>
            </a:xfrm>
            <a:prstGeom prst="rect">
              <a:avLst/>
            </a:prstGeom>
            <a:noFill/>
          </p:spPr>
          <p:txBody>
            <a:bodyPr wrap="none" rtlCol="0">
              <a:spAutoFit/>
            </a:bodyPr>
            <a:lstStyle/>
            <a:p>
              <a:pPr>
                <a:lnSpc>
                  <a:spcPct val="90000"/>
                </a:lnSpc>
                <a:spcBef>
                  <a:spcPts val="1200"/>
                </a:spcBef>
              </a:pPr>
              <a:r>
                <a:rPr lang="sv-SE" sz="1000" dirty="0">
                  <a:solidFill>
                    <a:schemeClr val="accent1"/>
                  </a:solidFill>
                  <a:latin typeface="Times New Roman" panose="02020603050405020304" pitchFamily="18" charset="0"/>
                  <a:cs typeface="Times New Roman" panose="02020603050405020304" pitchFamily="18" charset="0"/>
                </a:rPr>
                <a:t>speed [rpm]</a:t>
              </a:r>
            </a:p>
          </p:txBody>
        </p:sp>
        <p:sp>
          <p:nvSpPr>
            <p:cNvPr id="31" name="TextBox 30">
              <a:extLst>
                <a:ext uri="{FF2B5EF4-FFF2-40B4-BE49-F238E27FC236}">
                  <a16:creationId xmlns:a16="http://schemas.microsoft.com/office/drawing/2014/main" id="{F42F694C-2652-4498-8284-0EBB53E8A4CB}"/>
                </a:ext>
              </a:extLst>
            </p:cNvPr>
            <p:cNvSpPr txBox="1"/>
            <p:nvPr/>
          </p:nvSpPr>
          <p:spPr>
            <a:xfrm>
              <a:off x="6565101" y="5222427"/>
              <a:ext cx="995005"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6000</a:t>
              </a:r>
            </a:p>
          </p:txBody>
        </p:sp>
        <p:sp>
          <p:nvSpPr>
            <p:cNvPr id="32" name="Ellips 32">
              <a:extLst>
                <a:ext uri="{FF2B5EF4-FFF2-40B4-BE49-F238E27FC236}">
                  <a16:creationId xmlns:a16="http://schemas.microsoft.com/office/drawing/2014/main" id="{36D60676-47A5-4BEA-9B8F-EA6782096899}"/>
                </a:ext>
              </a:extLst>
            </p:cNvPr>
            <p:cNvSpPr/>
            <p:nvPr/>
          </p:nvSpPr>
          <p:spPr>
            <a:xfrm>
              <a:off x="5376519" y="3462959"/>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33" name="textruta 44">
              <a:extLst>
                <a:ext uri="{FF2B5EF4-FFF2-40B4-BE49-F238E27FC236}">
                  <a16:creationId xmlns:a16="http://schemas.microsoft.com/office/drawing/2014/main" id="{0987F06F-8059-4FFB-98F6-309396899C94}"/>
                </a:ext>
              </a:extLst>
            </p:cNvPr>
            <p:cNvSpPr txBox="1"/>
            <p:nvPr/>
          </p:nvSpPr>
          <p:spPr>
            <a:xfrm>
              <a:off x="5460958" y="3361935"/>
              <a:ext cx="1718907" cy="421438"/>
            </a:xfrm>
            <a:prstGeom prst="rect">
              <a:avLst/>
            </a:prstGeom>
            <a:noFill/>
          </p:spPr>
          <p:txBody>
            <a:bodyPr wrap="square"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100% of power</a:t>
              </a:r>
            </a:p>
          </p:txBody>
        </p:sp>
        <p:sp>
          <p:nvSpPr>
            <p:cNvPr id="34" name="textruta 9">
              <a:extLst>
                <a:ext uri="{FF2B5EF4-FFF2-40B4-BE49-F238E27FC236}">
                  <a16:creationId xmlns:a16="http://schemas.microsoft.com/office/drawing/2014/main" id="{298F7C81-319F-4A1E-86B1-14BEFE595E2F}"/>
                </a:ext>
              </a:extLst>
            </p:cNvPr>
            <p:cNvSpPr txBox="1"/>
            <p:nvPr/>
          </p:nvSpPr>
          <p:spPr>
            <a:xfrm>
              <a:off x="2338844" y="1603002"/>
              <a:ext cx="565924"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Dp1</a:t>
              </a:r>
            </a:p>
          </p:txBody>
        </p:sp>
        <p:sp>
          <p:nvSpPr>
            <p:cNvPr id="35" name="textruta 9">
              <a:extLst>
                <a:ext uri="{FF2B5EF4-FFF2-40B4-BE49-F238E27FC236}">
                  <a16:creationId xmlns:a16="http://schemas.microsoft.com/office/drawing/2014/main" id="{7A1B2665-5556-4E7E-9E36-AD7C7A44A463}"/>
                </a:ext>
              </a:extLst>
            </p:cNvPr>
            <p:cNvSpPr txBox="1"/>
            <p:nvPr/>
          </p:nvSpPr>
          <p:spPr>
            <a:xfrm>
              <a:off x="3066761" y="2242804"/>
              <a:ext cx="500981"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Dp2</a:t>
              </a:r>
            </a:p>
          </p:txBody>
        </p:sp>
        <p:sp>
          <p:nvSpPr>
            <p:cNvPr id="36" name="textruta 9">
              <a:extLst>
                <a:ext uri="{FF2B5EF4-FFF2-40B4-BE49-F238E27FC236}">
                  <a16:creationId xmlns:a16="http://schemas.microsoft.com/office/drawing/2014/main" id="{5059F606-FA45-4218-BC0D-D1C6E90A5425}"/>
                </a:ext>
              </a:extLst>
            </p:cNvPr>
            <p:cNvSpPr txBox="1"/>
            <p:nvPr/>
          </p:nvSpPr>
          <p:spPr>
            <a:xfrm>
              <a:off x="3023835" y="3591085"/>
              <a:ext cx="496977"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Dp3</a:t>
              </a:r>
            </a:p>
          </p:txBody>
        </p:sp>
        <p:sp>
          <p:nvSpPr>
            <p:cNvPr id="37" name="textruta 9">
              <a:extLst>
                <a:ext uri="{FF2B5EF4-FFF2-40B4-BE49-F238E27FC236}">
                  <a16:creationId xmlns:a16="http://schemas.microsoft.com/office/drawing/2014/main" id="{6E0009A9-A9D3-4593-84A9-B431BB55BB4B}"/>
                </a:ext>
              </a:extLst>
            </p:cNvPr>
            <p:cNvSpPr txBox="1"/>
            <p:nvPr/>
          </p:nvSpPr>
          <p:spPr>
            <a:xfrm>
              <a:off x="2868649" y="4399055"/>
              <a:ext cx="647599"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Dp4</a:t>
              </a:r>
            </a:p>
          </p:txBody>
        </p:sp>
        <p:sp>
          <p:nvSpPr>
            <p:cNvPr id="38" name="textruta 9">
              <a:extLst>
                <a:ext uri="{FF2B5EF4-FFF2-40B4-BE49-F238E27FC236}">
                  <a16:creationId xmlns:a16="http://schemas.microsoft.com/office/drawing/2014/main" id="{358F15F1-D2CA-40E8-BD85-18F400F5756F}"/>
                </a:ext>
              </a:extLst>
            </p:cNvPr>
            <p:cNvSpPr txBox="1"/>
            <p:nvPr/>
          </p:nvSpPr>
          <p:spPr>
            <a:xfrm>
              <a:off x="4817108" y="3450553"/>
              <a:ext cx="574755"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Dp5</a:t>
              </a:r>
            </a:p>
          </p:txBody>
        </p:sp>
        <p:sp>
          <p:nvSpPr>
            <p:cNvPr id="39" name="textruta 9">
              <a:extLst>
                <a:ext uri="{FF2B5EF4-FFF2-40B4-BE49-F238E27FC236}">
                  <a16:creationId xmlns:a16="http://schemas.microsoft.com/office/drawing/2014/main" id="{71DEA210-55E3-49B7-B09D-487AAD658FBB}"/>
                </a:ext>
              </a:extLst>
            </p:cNvPr>
            <p:cNvSpPr txBox="1"/>
            <p:nvPr/>
          </p:nvSpPr>
          <p:spPr>
            <a:xfrm>
              <a:off x="4726132" y="4213013"/>
              <a:ext cx="658464" cy="370239"/>
            </a:xfrm>
            <a:prstGeom prst="rect">
              <a:avLst/>
            </a:prstGeom>
            <a:noFill/>
          </p:spPr>
          <p:txBody>
            <a:bodyPr wrap="square" lIns="36000" tIns="36000" rIns="36000" bIns="36000"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Dp6</a:t>
              </a:r>
            </a:p>
          </p:txBody>
        </p:sp>
        <p:sp>
          <p:nvSpPr>
            <p:cNvPr id="40" name="Ellips 21">
              <a:extLst>
                <a:ext uri="{FF2B5EF4-FFF2-40B4-BE49-F238E27FC236}">
                  <a16:creationId xmlns:a16="http://schemas.microsoft.com/office/drawing/2014/main" id="{D52DE2CC-2CBC-4D6C-814F-CE9E9E9FBB9F}"/>
                </a:ext>
              </a:extLst>
            </p:cNvPr>
            <p:cNvSpPr/>
            <p:nvPr/>
          </p:nvSpPr>
          <p:spPr>
            <a:xfrm>
              <a:off x="5369482" y="4295851"/>
              <a:ext cx="101592" cy="9890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1600" err="1">
                <a:latin typeface="Times New Roman" panose="02020603050405020304" pitchFamily="18" charset="0"/>
                <a:cs typeface="Times New Roman" panose="02020603050405020304" pitchFamily="18" charset="0"/>
              </a:endParaRPr>
            </a:p>
          </p:txBody>
        </p:sp>
        <p:sp>
          <p:nvSpPr>
            <p:cNvPr id="41" name="textruta 44">
              <a:extLst>
                <a:ext uri="{FF2B5EF4-FFF2-40B4-BE49-F238E27FC236}">
                  <a16:creationId xmlns:a16="http://schemas.microsoft.com/office/drawing/2014/main" id="{12C0AAA3-3364-4260-8214-EC6E13E4FA38}"/>
                </a:ext>
              </a:extLst>
            </p:cNvPr>
            <p:cNvSpPr txBox="1"/>
            <p:nvPr/>
          </p:nvSpPr>
          <p:spPr>
            <a:xfrm>
              <a:off x="5514295" y="4264074"/>
              <a:ext cx="1718907" cy="421438"/>
            </a:xfrm>
            <a:prstGeom prst="rect">
              <a:avLst/>
            </a:prstGeom>
            <a:noFill/>
          </p:spPr>
          <p:txBody>
            <a:bodyPr wrap="square" rtlCol="0">
              <a:spAutoFit/>
            </a:bodyPr>
            <a:lstStyle/>
            <a:p>
              <a:pPr>
                <a:lnSpc>
                  <a:spcPct val="90000"/>
                </a:lnSpc>
                <a:spcBef>
                  <a:spcPts val="1200"/>
                </a:spcBef>
              </a:pPr>
              <a:r>
                <a:rPr lang="en-GB" sz="500" dirty="0">
                  <a:solidFill>
                    <a:schemeClr val="accent1"/>
                  </a:solidFill>
                  <a:latin typeface="Times New Roman" panose="02020603050405020304" pitchFamily="18" charset="0"/>
                  <a:cs typeface="Times New Roman" panose="02020603050405020304" pitchFamily="18" charset="0"/>
                </a:rPr>
                <a:t>50% of power</a:t>
              </a:r>
            </a:p>
          </p:txBody>
        </p:sp>
        <p:sp>
          <p:nvSpPr>
            <p:cNvPr id="42" name="TextBox 41">
              <a:extLst>
                <a:ext uri="{FF2B5EF4-FFF2-40B4-BE49-F238E27FC236}">
                  <a16:creationId xmlns:a16="http://schemas.microsoft.com/office/drawing/2014/main" id="{7852862A-D063-437D-981B-0B7758A47758}"/>
                </a:ext>
              </a:extLst>
            </p:cNvPr>
            <p:cNvSpPr txBox="1"/>
            <p:nvPr/>
          </p:nvSpPr>
          <p:spPr>
            <a:xfrm>
              <a:off x="1758273" y="5109250"/>
              <a:ext cx="602240" cy="529808"/>
            </a:xfrm>
            <a:prstGeom prst="rect">
              <a:avLst/>
            </a:prstGeom>
            <a:noFill/>
          </p:spPr>
          <p:txBody>
            <a:bodyPr wrap="none" rtlCol="0">
              <a:spAutoFit/>
            </a:bodyPr>
            <a:lstStyle/>
            <a:p>
              <a:pPr>
                <a:lnSpc>
                  <a:spcPct val="90000"/>
                </a:lnSpc>
                <a:spcBef>
                  <a:spcPts val="1200"/>
                </a:spcBef>
              </a:pPr>
              <a:r>
                <a:rPr lang="sv-SE" sz="800" dirty="0">
                  <a:solidFill>
                    <a:schemeClr val="accent1"/>
                  </a:solidFill>
                  <a:latin typeface="Times New Roman" panose="02020603050405020304" pitchFamily="18" charset="0"/>
                  <a:cs typeface="Times New Roman" panose="02020603050405020304" pitchFamily="18" charset="0"/>
                </a:rPr>
                <a:t>0</a:t>
              </a:r>
            </a:p>
          </p:txBody>
        </p:sp>
      </p:grpSp>
      <p:pic>
        <p:nvPicPr>
          <p:cNvPr id="51" name="Picture 50"/>
          <p:cNvPicPr>
            <a:picLocks noChangeAspect="1"/>
          </p:cNvPicPr>
          <p:nvPr/>
        </p:nvPicPr>
        <p:blipFill>
          <a:blip r:embed="rId2"/>
          <a:stretch>
            <a:fillRect/>
          </a:stretch>
        </p:blipFill>
        <p:spPr>
          <a:xfrm>
            <a:off x="1159194" y="1104112"/>
            <a:ext cx="3467556" cy="781421"/>
          </a:xfrm>
          <a:prstGeom prst="rect">
            <a:avLst/>
          </a:prstGeom>
        </p:spPr>
      </p:pic>
      <p:pic>
        <p:nvPicPr>
          <p:cNvPr id="52" name="Picture 51"/>
          <p:cNvPicPr>
            <a:picLocks noChangeAspect="1"/>
          </p:cNvPicPr>
          <p:nvPr/>
        </p:nvPicPr>
        <p:blipFill>
          <a:blip r:embed="rId3"/>
          <a:stretch>
            <a:fillRect/>
          </a:stretch>
        </p:blipFill>
        <p:spPr>
          <a:xfrm>
            <a:off x="594680" y="1992317"/>
            <a:ext cx="5168393" cy="661631"/>
          </a:xfrm>
          <a:prstGeom prst="rect">
            <a:avLst/>
          </a:prstGeom>
        </p:spPr>
      </p:pic>
      <p:pic>
        <p:nvPicPr>
          <p:cNvPr id="53" name="Picture 52"/>
          <p:cNvPicPr>
            <a:picLocks noChangeAspect="1"/>
          </p:cNvPicPr>
          <p:nvPr/>
        </p:nvPicPr>
        <p:blipFill rotWithShape="1">
          <a:blip r:embed="rId4"/>
          <a:srcRect t="9022"/>
          <a:stretch/>
        </p:blipFill>
        <p:spPr>
          <a:xfrm>
            <a:off x="5870531" y="1260077"/>
            <a:ext cx="5552749" cy="1037118"/>
          </a:xfrm>
          <a:prstGeom prst="rect">
            <a:avLst/>
          </a:prstGeom>
        </p:spPr>
      </p:pic>
    </p:spTree>
    <p:extLst>
      <p:ext uri="{BB962C8B-B14F-4D97-AF65-F5344CB8AC3E}">
        <p14:creationId xmlns:p14="http://schemas.microsoft.com/office/powerpoint/2010/main" val="4123089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Phase-Shift Control </a:t>
            </a:r>
            <a:endParaRPr lang="sv-SE"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2"/>
          <a:stretch>
            <a:fillRect/>
          </a:stretch>
        </p:blipFill>
        <p:spPr>
          <a:xfrm>
            <a:off x="747667" y="1767520"/>
            <a:ext cx="9945752" cy="2171699"/>
          </a:xfrm>
          <a:prstGeom prst="rect">
            <a:avLst/>
          </a:prstGeom>
        </p:spPr>
      </p:pic>
      <p:pic>
        <p:nvPicPr>
          <p:cNvPr id="2" name="Picture 1"/>
          <p:cNvPicPr>
            <a:picLocks noChangeAspect="1"/>
          </p:cNvPicPr>
          <p:nvPr/>
        </p:nvPicPr>
        <p:blipFill>
          <a:blip r:embed="rId3"/>
          <a:stretch>
            <a:fillRect/>
          </a:stretch>
        </p:blipFill>
        <p:spPr>
          <a:xfrm>
            <a:off x="3399491" y="4095016"/>
            <a:ext cx="4642103" cy="2353742"/>
          </a:xfrm>
          <a:prstGeom prst="rect">
            <a:avLst/>
          </a:prstGeom>
        </p:spPr>
      </p:pic>
      <p:sp>
        <p:nvSpPr>
          <p:cNvPr id="3" name="TextBox 2"/>
          <p:cNvSpPr txBox="1"/>
          <p:nvPr/>
        </p:nvSpPr>
        <p:spPr>
          <a:xfrm>
            <a:off x="856371" y="1163781"/>
            <a:ext cx="9500853"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Controlling the current and apparent </a:t>
            </a:r>
            <a:r>
              <a:rPr lang="en-US" dirty="0" smtClean="0">
                <a:latin typeface="Times New Roman" panose="02020603050405020304" pitchFamily="18" charset="0"/>
                <a:cs typeface="Times New Roman" panose="02020603050405020304" pitchFamily="18" charset="0"/>
              </a:rPr>
              <a:t>power. We do not have active control on power factor. </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90644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Outline</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Content Placeholder 1"/>
              <p:cNvSpPr>
                <a:spLocks noGrp="1"/>
              </p:cNvSpPr>
              <p:nvPr>
                <p:ph idx="1"/>
              </p:nvPr>
            </p:nvSpPr>
            <p:spPr>
              <a:xfrm>
                <a:off x="594098" y="1842462"/>
                <a:ext cx="10990263" cy="4453808"/>
              </a:xfrm>
            </p:spPr>
            <p:txBody>
              <a:bodyPr/>
              <a:lstStyle/>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The Effects of the </a:t>
                </a:r>
                <a:r>
                  <a:rPr lang="en-US" sz="2400" dirty="0" err="1" smtClean="0">
                    <a:solidFill>
                      <a:srgbClr val="C0C0C0"/>
                    </a:solidFill>
                    <a:latin typeface="Times New Roman" panose="02020603050405020304" pitchFamily="18" charset="0"/>
                    <a:cs typeface="Times New Roman" panose="02020603050405020304" pitchFamily="18" charset="0"/>
                  </a:rPr>
                  <a:t>Busbar</a:t>
                </a:r>
                <a:r>
                  <a:rPr lang="en-US" sz="2400" dirty="0" smtClean="0">
                    <a:solidFill>
                      <a:srgbClr val="C0C0C0"/>
                    </a:solidFill>
                    <a:latin typeface="Times New Roman" panose="02020603050405020304" pitchFamily="18" charset="0"/>
                    <a:cs typeface="Times New Roman" panose="02020603050405020304" pitchFamily="18" charset="0"/>
                  </a:rPr>
                  <a:t> and Battery Parasitic Inductance</a:t>
                </a:r>
              </a:p>
              <a:p>
                <a:pPr>
                  <a:buFont typeface="Wingdings" panose="05000000000000000000" pitchFamily="2" charset="2"/>
                  <a:buChar char="q"/>
                </a:pPr>
                <a:endParaRPr lang="en-US" sz="2400" dirty="0" smtClean="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Conventional Back-to-Back Inverter Setup </a:t>
                </a:r>
              </a:p>
              <a:p>
                <a:pPr>
                  <a:buFont typeface="Wingdings" panose="05000000000000000000" pitchFamily="2" charset="2"/>
                  <a:buChar char="q"/>
                </a:pPr>
                <a:endParaRPr lang="en-US" sz="2400" dirty="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solidFill>
                      <a:schemeClr val="tx1"/>
                    </a:solidFill>
                    <a:latin typeface="Times New Roman" panose="02020603050405020304" pitchFamily="18" charset="0"/>
                    <a:cs typeface="Times New Roman" panose="02020603050405020304" pitchFamily="18" charset="0"/>
                  </a:rPr>
                  <a:t>Intelligent Gate Driver Measurement Unit: </a:t>
                </a:r>
                <a:r>
                  <a:rPr lang="en-US" sz="2400" dirty="0">
                    <a:solidFill>
                      <a:schemeClr val="tx1"/>
                    </a:solidFill>
                    <a:latin typeface="Times New Roman" panose="02020603050405020304" pitchFamily="18" charset="0"/>
                    <a:cs typeface="Times New Roman" panose="02020603050405020304" pitchFamily="18" charset="0"/>
                  </a:rPr>
                  <a:t>Online </a:t>
                </a:r>
                <a14:m>
                  <m:oMath xmlns:m="http://schemas.openxmlformats.org/officeDocument/2006/math">
                    <m:sSub>
                      <m:sSubPr>
                        <m:ctrlPr>
                          <a:rPr lang="en-US" sz="2400" i="1" dirty="0">
                            <a:solidFill>
                              <a:schemeClr val="tx1"/>
                            </a:solidFill>
                            <a:latin typeface="Cambria Math" panose="02040503050406030204" pitchFamily="18" charset="0"/>
                            <a:cs typeface="Times New Roman" panose="02020603050405020304" pitchFamily="18" charset="0"/>
                          </a:rPr>
                        </m:ctrlPr>
                      </m:sSubPr>
                      <m:e>
                        <m:r>
                          <a:rPr lang="en-US" sz="2400" i="1" dirty="0">
                            <a:solidFill>
                              <a:schemeClr val="tx1"/>
                            </a:solidFill>
                            <a:latin typeface="Cambria Math" panose="02040503050406030204" pitchFamily="18" charset="0"/>
                            <a:cs typeface="Times New Roman" panose="02020603050405020304" pitchFamily="18" charset="0"/>
                          </a:rPr>
                          <m:t>𝑅</m:t>
                        </m:r>
                      </m:e>
                      <m:sub>
                        <m:r>
                          <a:rPr lang="en-US" sz="2400" i="1" dirty="0">
                            <a:solidFill>
                              <a:schemeClr val="tx1"/>
                            </a:solidFill>
                            <a:latin typeface="Cambria Math" panose="02040503050406030204" pitchFamily="18" charset="0"/>
                            <a:cs typeface="Times New Roman" panose="02020603050405020304" pitchFamily="18" charset="0"/>
                          </a:rPr>
                          <m:t>𝑑𝑠</m:t>
                        </m:r>
                      </m:sub>
                    </m:sSub>
                  </m:oMath>
                </a14:m>
                <a:r>
                  <a:rPr lang="en-US" sz="2400" dirty="0">
                    <a:solidFill>
                      <a:schemeClr val="tx1"/>
                    </a:solidFill>
                    <a:latin typeface="Times New Roman" panose="02020603050405020304" pitchFamily="18" charset="0"/>
                    <a:cs typeface="Times New Roman" panose="02020603050405020304" pitchFamily="18" charset="0"/>
                  </a:rPr>
                  <a:t> </a:t>
                </a:r>
                <a:r>
                  <a:rPr lang="en-US" sz="2400" dirty="0" smtClean="0">
                    <a:solidFill>
                      <a:schemeClr val="tx1"/>
                    </a:solidFill>
                    <a:latin typeface="Times New Roman" panose="02020603050405020304" pitchFamily="18" charset="0"/>
                    <a:cs typeface="Times New Roman" panose="02020603050405020304" pitchFamily="18" charset="0"/>
                  </a:rPr>
                  <a:t>Measurement</a:t>
                </a:r>
              </a:p>
              <a:p>
                <a:pPr>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solidFill>
                      <a:srgbClr val="C0C0C0"/>
                    </a:solidFill>
                    <a:latin typeface="Times New Roman" panose="02020603050405020304" pitchFamily="18" charset="0"/>
                    <a:cs typeface="Times New Roman" panose="02020603050405020304" pitchFamily="18" charset="0"/>
                  </a:rPr>
                  <a:t>ECCE-Europe Paper Digest</a:t>
                </a:r>
              </a:p>
              <a:p>
                <a:pPr marL="0" indent="0">
                  <a:buNone/>
                </a:pPr>
                <a:endParaRPr lang="en-US" sz="2400" dirty="0" smtClean="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smtClean="0">
                  <a:latin typeface="Times New Roman" panose="02020603050405020304" pitchFamily="18" charset="0"/>
                  <a:cs typeface="Times New Roman" panose="02020603050405020304" pitchFamily="18" charset="0"/>
                </a:endParaRPr>
              </a:p>
            </p:txBody>
          </p:sp>
        </mc:Choice>
        <mc:Fallback>
          <p:sp>
            <p:nvSpPr>
              <p:cNvPr id="2" name="Content Placeholder 1"/>
              <p:cNvSpPr>
                <a:spLocks noGrp="1" noRot="1" noChangeAspect="1" noMove="1" noResize="1" noEditPoints="1" noAdjustHandles="1" noChangeArrowheads="1" noChangeShapeType="1" noTextEdit="1"/>
              </p:cNvSpPr>
              <p:nvPr>
                <p:ph idx="1"/>
              </p:nvPr>
            </p:nvSpPr>
            <p:spPr>
              <a:xfrm>
                <a:off x="594098" y="1842462"/>
                <a:ext cx="10990263" cy="4453808"/>
              </a:xfrm>
              <a:blipFill>
                <a:blip r:embed="rId2"/>
                <a:stretch>
                  <a:fillRect l="-721" t="-1915"/>
                </a:stretch>
              </a:blipFill>
            </p:spPr>
            <p:txBody>
              <a:bodyPr/>
              <a:lstStyle/>
              <a:p>
                <a:r>
                  <a:rPr lang="sv-SE">
                    <a:noFill/>
                  </a:rPr>
                  <a:t> </a:t>
                </a:r>
              </a:p>
            </p:txBody>
          </p:sp>
        </mc:Fallback>
      </mc:AlternateContent>
    </p:spTree>
    <p:extLst>
      <p:ext uri="{BB962C8B-B14F-4D97-AF65-F5344CB8AC3E}">
        <p14:creationId xmlns:p14="http://schemas.microsoft.com/office/powerpoint/2010/main" val="20813065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1014143" y="276122"/>
                <a:ext cx="10990263" cy="568412"/>
              </a:xfrm>
            </p:spPr>
            <p:txBody>
              <a:bodyPr/>
              <a:lstStyle/>
              <a:p>
                <a:r>
                  <a:rPr lang="en-US" dirty="0" smtClean="0">
                    <a:latin typeface="Times New Roman" panose="02020603050405020304" pitchFamily="18" charset="0"/>
                    <a:cs typeface="Times New Roman" panose="02020603050405020304" pitchFamily="18" charset="0"/>
                  </a:rPr>
                  <a:t>Intelligent Gate Drivers: Online </a:t>
                </a:r>
                <a14:m>
                  <m:oMath xmlns:m="http://schemas.openxmlformats.org/officeDocument/2006/math">
                    <m:sSub>
                      <m:sSubPr>
                        <m:ctrlPr>
                          <a:rPr lang="en-US" i="1" dirty="0" smtClean="0">
                            <a:latin typeface="Cambria Math" panose="02040503050406030204" pitchFamily="18" charset="0"/>
                            <a:cs typeface="Times New Roman" panose="02020603050405020304" pitchFamily="18" charset="0"/>
                          </a:rPr>
                        </m:ctrlPr>
                      </m:sSubPr>
                      <m:e>
                        <m:r>
                          <a:rPr lang="en-US" i="1" dirty="0" smtClean="0">
                            <a:latin typeface="Cambria Math" panose="02040503050406030204" pitchFamily="18" charset="0"/>
                            <a:cs typeface="Times New Roman" panose="02020603050405020304" pitchFamily="18" charset="0"/>
                          </a:rPr>
                          <m:t>𝑅</m:t>
                        </m:r>
                      </m:e>
                      <m:sub>
                        <m:r>
                          <a:rPr lang="en-US" i="1" dirty="0" smtClean="0">
                            <a:latin typeface="Cambria Math" panose="02040503050406030204" pitchFamily="18" charset="0"/>
                            <a:cs typeface="Times New Roman" panose="02020603050405020304" pitchFamily="18" charset="0"/>
                          </a:rPr>
                          <m:t>𝑑𝑠</m:t>
                        </m:r>
                      </m:sub>
                    </m:sSub>
                  </m:oMath>
                </a14:m>
                <a:r>
                  <a:rPr lang="en-US" dirty="0" smtClean="0">
                    <a:latin typeface="Times New Roman" panose="02020603050405020304" pitchFamily="18" charset="0"/>
                    <a:cs typeface="Times New Roman" panose="02020603050405020304" pitchFamily="18" charset="0"/>
                  </a:rPr>
                  <a:t> Measurement</a:t>
                </a:r>
                <a:endParaRPr lang="sv-SE" dirty="0">
                  <a:latin typeface="Times New Roman" panose="02020603050405020304" pitchFamily="18" charset="0"/>
                  <a:cs typeface="Times New Roman" panose="02020603050405020304" pitchFamily="18" charset="0"/>
                </a:endParaRPr>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1014143" y="276122"/>
                <a:ext cx="10990263" cy="568412"/>
              </a:xfrm>
              <a:blipFill>
                <a:blip r:embed="rId2"/>
                <a:stretch>
                  <a:fillRect l="-1664" t="-15957" b="-53191"/>
                </a:stretch>
              </a:blipFill>
            </p:spPr>
            <p:txBody>
              <a:bodyPr/>
              <a:lstStyle/>
              <a:p>
                <a:r>
                  <a:rPr lang="sv-SE">
                    <a:noFill/>
                  </a:rPr>
                  <a:t> </a:t>
                </a:r>
              </a:p>
            </p:txBody>
          </p:sp>
        </mc:Fallback>
      </mc:AlternateContent>
      <p:pic>
        <p:nvPicPr>
          <p:cNvPr id="6" name="Picture 5"/>
          <p:cNvPicPr>
            <a:picLocks noChangeAspect="1"/>
          </p:cNvPicPr>
          <p:nvPr/>
        </p:nvPicPr>
        <p:blipFill>
          <a:blip r:embed="rId3"/>
          <a:stretch>
            <a:fillRect/>
          </a:stretch>
        </p:blipFill>
        <p:spPr>
          <a:xfrm>
            <a:off x="7789856" y="1823028"/>
            <a:ext cx="4478877" cy="2364897"/>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289560" y="1157377"/>
                <a:ext cx="7848600" cy="1239442"/>
              </a:xfrm>
              <a:prstGeom prst="rect">
                <a:avLst/>
              </a:prstGeom>
            </p:spPr>
            <p:txBody>
              <a:bodyPr wrap="square">
                <a:spAutoFit/>
              </a:bodyPr>
              <a:lstStyle/>
              <a:p>
                <a:r>
                  <a:rPr lang="en-US" b="1" dirty="0" smtClean="0">
                    <a:solidFill>
                      <a:srgbClr val="404040"/>
                    </a:solidFill>
                    <a:latin typeface="Times New Roman" panose="02020603050405020304" pitchFamily="18" charset="0"/>
                    <a:cs typeface="Times New Roman" panose="02020603050405020304" pitchFamily="18" charset="0"/>
                  </a:rPr>
                  <a:t>Indicator of Device Health:</a:t>
                </a:r>
                <a:endParaRPr lang="en-US" dirty="0">
                  <a:solidFill>
                    <a:srgbClr val="404040"/>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14:m>
                  <m:oMath xmlns:m="http://schemas.openxmlformats.org/officeDocument/2006/math">
                    <m:sSub>
                      <m:sSubPr>
                        <m:ctrlPr>
                          <a:rPr lang="en-US" b="0" i="1" dirty="0" smtClean="0">
                            <a:solidFill>
                              <a:srgbClr val="404040"/>
                            </a:solidFill>
                            <a:latin typeface="Cambria Math" panose="02040503050406030204" pitchFamily="18" charset="0"/>
                            <a:cs typeface="Times New Roman" panose="02020603050405020304" pitchFamily="18" charset="0"/>
                          </a:rPr>
                        </m:ctrlPr>
                      </m:sSubPr>
                      <m:e>
                        <m:r>
                          <a:rPr lang="en-US" i="1" dirty="0" smtClean="0">
                            <a:solidFill>
                              <a:srgbClr val="404040"/>
                            </a:solidFill>
                            <a:latin typeface="Cambria Math" panose="02040503050406030204" pitchFamily="18" charset="0"/>
                            <a:cs typeface="Times New Roman" panose="02020603050405020304" pitchFamily="18" charset="0"/>
                          </a:rPr>
                          <m:t>𝑅</m:t>
                        </m:r>
                      </m:e>
                      <m:sub>
                        <m:r>
                          <a:rPr lang="en-US" i="1" dirty="0" smtClean="0">
                            <a:solidFill>
                              <a:srgbClr val="404040"/>
                            </a:solidFill>
                            <a:latin typeface="Cambria Math" panose="02040503050406030204" pitchFamily="18" charset="0"/>
                            <a:cs typeface="Times New Roman" panose="02020603050405020304" pitchFamily="18" charset="0"/>
                          </a:rPr>
                          <m:t>𝑑𝑠</m:t>
                        </m:r>
                        <m:d>
                          <m:dPr>
                            <m:ctrlPr>
                              <a:rPr lang="en-US" i="1" dirty="0" smtClean="0">
                                <a:solidFill>
                                  <a:srgbClr val="404040"/>
                                </a:solidFill>
                                <a:latin typeface="Cambria Math" panose="02040503050406030204" pitchFamily="18" charset="0"/>
                                <a:cs typeface="Times New Roman" panose="02020603050405020304" pitchFamily="18" charset="0"/>
                              </a:rPr>
                            </m:ctrlPr>
                          </m:dPr>
                          <m:e>
                            <m:r>
                              <a:rPr lang="en-US" i="1" dirty="0" smtClean="0">
                                <a:solidFill>
                                  <a:srgbClr val="404040"/>
                                </a:solidFill>
                                <a:latin typeface="Cambria Math" panose="02040503050406030204" pitchFamily="18" charset="0"/>
                                <a:cs typeface="Times New Roman" panose="02020603050405020304" pitchFamily="18" charset="0"/>
                              </a:rPr>
                              <m:t>𝑜𝑛</m:t>
                            </m:r>
                          </m:e>
                        </m:d>
                      </m:sub>
                    </m:sSub>
                  </m:oMath>
                </a14:m>
                <a:r>
                  <a:rPr lang="en-US" dirty="0" smtClean="0">
                    <a:solidFill>
                      <a:srgbClr val="404040"/>
                    </a:solidFill>
                    <a:latin typeface="Times New Roman" panose="02020603050405020304" pitchFamily="18" charset="0"/>
                    <a:cs typeface="Times New Roman" panose="02020603050405020304" pitchFamily="18" charset="0"/>
                  </a:rPr>
                  <a:t>​ </a:t>
                </a:r>
                <a:r>
                  <a:rPr lang="en-US" dirty="0">
                    <a:solidFill>
                      <a:srgbClr val="404040"/>
                    </a:solidFill>
                    <a:latin typeface="Times New Roman" panose="02020603050405020304" pitchFamily="18" charset="0"/>
                    <a:cs typeface="Times New Roman" panose="02020603050405020304" pitchFamily="18" charset="0"/>
                  </a:rPr>
                  <a:t> increases with gate-oxide degradation, bond-wire faults, and thermal aging, serving as an early warning for failure.</a:t>
                </a:r>
              </a:p>
              <a:p>
                <a:pPr marL="742950" lvl="1" indent="-285750">
                  <a:buFont typeface="Arial" panose="020B0604020202020204" pitchFamily="34" charset="0"/>
                  <a:buChar char="•"/>
                </a:pPr>
                <a:r>
                  <a:rPr lang="en-US" dirty="0">
                    <a:solidFill>
                      <a:srgbClr val="404040"/>
                    </a:solidFill>
                    <a:latin typeface="Times New Roman" panose="02020603050405020304" pitchFamily="18" charset="0"/>
                    <a:cs typeface="Times New Roman" panose="02020603050405020304" pitchFamily="18" charset="0"/>
                  </a:rPr>
                  <a:t>Example: A 15–125% rise in </a:t>
                </a:r>
                <a14:m>
                  <m:oMath xmlns:m="http://schemas.openxmlformats.org/officeDocument/2006/math">
                    <m:sSub>
                      <m:sSubPr>
                        <m:ctrlPr>
                          <a:rPr lang="en-US" i="1" dirty="0">
                            <a:solidFill>
                              <a:srgbClr val="404040"/>
                            </a:solidFill>
                            <a:latin typeface="Cambria Math" panose="02040503050406030204" pitchFamily="18" charset="0"/>
                            <a:cs typeface="Times New Roman" panose="02020603050405020304" pitchFamily="18" charset="0"/>
                          </a:rPr>
                        </m:ctrlPr>
                      </m:sSubPr>
                      <m:e>
                        <m:r>
                          <a:rPr lang="en-US" i="1" dirty="0">
                            <a:solidFill>
                              <a:srgbClr val="404040"/>
                            </a:solidFill>
                            <a:latin typeface="Cambria Math" panose="02040503050406030204" pitchFamily="18" charset="0"/>
                            <a:cs typeface="Times New Roman" panose="02020603050405020304" pitchFamily="18" charset="0"/>
                          </a:rPr>
                          <m:t>𝑅</m:t>
                        </m:r>
                      </m:e>
                      <m:sub>
                        <m:r>
                          <a:rPr lang="en-US" i="1" dirty="0">
                            <a:solidFill>
                              <a:srgbClr val="404040"/>
                            </a:solidFill>
                            <a:latin typeface="Cambria Math" panose="02040503050406030204" pitchFamily="18" charset="0"/>
                            <a:cs typeface="Times New Roman" panose="02020603050405020304" pitchFamily="18" charset="0"/>
                          </a:rPr>
                          <m:t>𝑑𝑠</m:t>
                        </m:r>
                        <m:d>
                          <m:dPr>
                            <m:ctrlPr>
                              <a:rPr lang="en-US" i="1" dirty="0">
                                <a:solidFill>
                                  <a:srgbClr val="404040"/>
                                </a:solidFill>
                                <a:latin typeface="Cambria Math" panose="02040503050406030204" pitchFamily="18" charset="0"/>
                                <a:cs typeface="Times New Roman" panose="02020603050405020304" pitchFamily="18" charset="0"/>
                              </a:rPr>
                            </m:ctrlPr>
                          </m:dPr>
                          <m:e>
                            <m:r>
                              <a:rPr lang="en-US" i="1" dirty="0">
                                <a:solidFill>
                                  <a:srgbClr val="404040"/>
                                </a:solidFill>
                                <a:latin typeface="Cambria Math" panose="02040503050406030204" pitchFamily="18" charset="0"/>
                                <a:cs typeface="Times New Roman" panose="02020603050405020304" pitchFamily="18" charset="0"/>
                              </a:rPr>
                              <m:t>𝑜𝑛</m:t>
                            </m:r>
                          </m:e>
                        </m:d>
                      </m:sub>
                    </m:sSub>
                  </m:oMath>
                </a14:m>
                <a:r>
                  <a:rPr lang="en-US" dirty="0">
                    <a:solidFill>
                      <a:srgbClr val="404040"/>
                    </a:solidFill>
                    <a:latin typeface="Times New Roman" panose="02020603050405020304" pitchFamily="18" charset="0"/>
                    <a:cs typeface="Times New Roman" panose="02020603050405020304" pitchFamily="18" charset="0"/>
                  </a:rPr>
                  <a:t>​ precedes </a:t>
                </a:r>
                <a:r>
                  <a:rPr lang="en-US" dirty="0" err="1">
                    <a:solidFill>
                      <a:srgbClr val="404040"/>
                    </a:solidFill>
                    <a:latin typeface="Times New Roman" panose="02020603050405020304" pitchFamily="18" charset="0"/>
                    <a:cs typeface="Times New Roman" panose="02020603050405020304" pitchFamily="18" charset="0"/>
                  </a:rPr>
                  <a:t>SiC</a:t>
                </a:r>
                <a:r>
                  <a:rPr lang="en-US" dirty="0">
                    <a:solidFill>
                      <a:srgbClr val="404040"/>
                    </a:solidFill>
                    <a:latin typeface="Times New Roman" panose="02020603050405020304" pitchFamily="18" charset="0"/>
                    <a:cs typeface="Times New Roman" panose="02020603050405020304" pitchFamily="18" charset="0"/>
                  </a:rPr>
                  <a:t> MOSFET </a:t>
                </a:r>
                <a:r>
                  <a:rPr lang="en-US" dirty="0" smtClean="0">
                    <a:solidFill>
                      <a:srgbClr val="404040"/>
                    </a:solidFill>
                    <a:latin typeface="Times New Roman" panose="02020603050405020304" pitchFamily="18" charset="0"/>
                    <a:cs typeface="Times New Roman" panose="02020603050405020304" pitchFamily="18" charset="0"/>
                  </a:rPr>
                  <a:t>failure.</a:t>
                </a:r>
                <a:endParaRPr lang="en-US" b="0" i="0" dirty="0">
                  <a:solidFill>
                    <a:srgbClr val="404040"/>
                  </a:solidFill>
                  <a:effectLst/>
                  <a:latin typeface="Times New Roman" panose="02020603050405020304" pitchFamily="18"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289560" y="1157377"/>
                <a:ext cx="7848600" cy="1239442"/>
              </a:xfrm>
              <a:prstGeom prst="rect">
                <a:avLst/>
              </a:prstGeom>
              <a:blipFill>
                <a:blip r:embed="rId4"/>
                <a:stretch>
                  <a:fillRect l="-699" t="-2956" b="-5419"/>
                </a:stretch>
              </a:blipFill>
            </p:spPr>
            <p:txBody>
              <a:bodyPr/>
              <a:lstStyle/>
              <a:p>
                <a:r>
                  <a:rPr lang="sv-SE">
                    <a:noFill/>
                  </a:rPr>
                  <a:t> </a:t>
                </a:r>
              </a:p>
            </p:txBody>
          </p:sp>
        </mc:Fallback>
      </mc:AlternateContent>
      <p:sp>
        <p:nvSpPr>
          <p:cNvPr id="10" name="Rectangle 9"/>
          <p:cNvSpPr/>
          <p:nvPr/>
        </p:nvSpPr>
        <p:spPr>
          <a:xfrm>
            <a:off x="413274" y="2429980"/>
            <a:ext cx="7450566" cy="923330"/>
          </a:xfrm>
          <a:prstGeom prst="rect">
            <a:avLst/>
          </a:prstGeom>
        </p:spPr>
        <p:txBody>
          <a:bodyPr wrap="square">
            <a:spAutoFit/>
          </a:bodyPr>
          <a:lstStyle/>
          <a:p>
            <a:r>
              <a:rPr lang="en-US" b="1" dirty="0">
                <a:solidFill>
                  <a:srgbClr val="404040"/>
                </a:solidFill>
                <a:latin typeface="Times New Roman" panose="02020603050405020304" pitchFamily="18" charset="0"/>
                <a:cs typeface="Times New Roman" panose="02020603050405020304" pitchFamily="18" charset="0"/>
              </a:rPr>
              <a:t>Fault </a:t>
            </a:r>
            <a:r>
              <a:rPr lang="en-US" b="1" dirty="0" smtClean="0">
                <a:solidFill>
                  <a:srgbClr val="404040"/>
                </a:solidFill>
                <a:latin typeface="Times New Roman" panose="02020603050405020304" pitchFamily="18" charset="0"/>
                <a:cs typeface="Times New Roman" panose="02020603050405020304" pitchFamily="18" charset="0"/>
              </a:rPr>
              <a:t>Prevention:</a:t>
            </a:r>
            <a:endParaRPr lang="en-US" dirty="0" smtClean="0">
              <a:solidFill>
                <a:srgbClr val="404040"/>
              </a:solidFill>
              <a:latin typeface="Times New Roman" panose="02020603050405020304" pitchFamily="18" charset="0"/>
              <a:cs typeface="Times New Roman" panose="02020603050405020304" pitchFamily="18" charset="0"/>
            </a:endParaRPr>
          </a:p>
          <a:p>
            <a:pPr lvl="1"/>
            <a:r>
              <a:rPr lang="en-US" dirty="0" smtClean="0">
                <a:solidFill>
                  <a:srgbClr val="404040"/>
                </a:solidFill>
                <a:latin typeface="Times New Roman" panose="02020603050405020304" pitchFamily="18" charset="0"/>
                <a:cs typeface="Times New Roman" panose="02020603050405020304" pitchFamily="18" charset="0"/>
              </a:rPr>
              <a:t>Detects </a:t>
            </a:r>
            <a:r>
              <a:rPr lang="en-US" dirty="0">
                <a:solidFill>
                  <a:srgbClr val="404040"/>
                </a:solidFill>
                <a:latin typeface="Times New Roman" panose="02020603050405020304" pitchFamily="18" charset="0"/>
                <a:cs typeface="Times New Roman" panose="02020603050405020304" pitchFamily="18" charset="0"/>
              </a:rPr>
              <a:t>chip- and package-level defects (e.g., solder cracks, oxide traps) before catastrophic failure.</a:t>
            </a:r>
            <a:endParaRPr lang="en-US" b="0" i="0" dirty="0">
              <a:solidFill>
                <a:srgbClr val="404040"/>
              </a:solidFill>
              <a:effectLst/>
              <a:latin typeface="Times New Roman" panose="02020603050405020304" pitchFamily="18" charset="0"/>
              <a:cs typeface="Times New Roman" panose="02020603050405020304" pitchFamily="18" charset="0"/>
            </a:endParaRPr>
          </a:p>
        </p:txBody>
      </p:sp>
      <p:sp>
        <p:nvSpPr>
          <p:cNvPr id="11" name="Rectangle 10"/>
          <p:cNvSpPr/>
          <p:nvPr/>
        </p:nvSpPr>
        <p:spPr>
          <a:xfrm>
            <a:off x="8577074" y="4161610"/>
            <a:ext cx="2632452" cy="584775"/>
          </a:xfrm>
          <a:prstGeom prst="rect">
            <a:avLst/>
          </a:prstGeom>
        </p:spPr>
        <p:txBody>
          <a:bodyPr wrap="none">
            <a:spAutoFit/>
          </a:bodyPr>
          <a:lstStyle/>
          <a:p>
            <a:r>
              <a:rPr lang="en-US" sz="1600" dirty="0" smtClean="0">
                <a:latin typeface="Times New Roman" panose="02020603050405020304" pitchFamily="18" charset="0"/>
                <a:cs typeface="Times New Roman" panose="02020603050405020304" pitchFamily="18" charset="0"/>
              </a:rPr>
              <a:t>Fig: Intelligent </a:t>
            </a:r>
            <a:r>
              <a:rPr lang="en-US" sz="1600" dirty="0">
                <a:latin typeface="Times New Roman" panose="02020603050405020304" pitchFamily="18" charset="0"/>
                <a:cs typeface="Times New Roman" panose="02020603050405020304" pitchFamily="18" charset="0"/>
              </a:rPr>
              <a:t>Gate </a:t>
            </a:r>
            <a:r>
              <a:rPr lang="en-US" sz="1600" dirty="0" smtClean="0">
                <a:latin typeface="Times New Roman" panose="02020603050405020304" pitchFamily="18" charset="0"/>
                <a:cs typeface="Times New Roman" panose="02020603050405020304" pitchFamily="18" charset="0"/>
              </a:rPr>
              <a:t>Drivers: </a:t>
            </a:r>
          </a:p>
          <a:p>
            <a:r>
              <a:rPr lang="en-US" sz="1600" dirty="0" err="1" smtClean="0">
                <a:latin typeface="Times New Roman" panose="02020603050405020304" pitchFamily="18" charset="0"/>
                <a:cs typeface="Times New Roman" panose="02020603050405020304" pitchFamily="18" charset="0"/>
              </a:rPr>
              <a:t>Sensing,control</a:t>
            </a:r>
            <a:r>
              <a:rPr lang="en-US" sz="1600" dirty="0" smtClean="0">
                <a:latin typeface="Times New Roman" panose="02020603050405020304" pitchFamily="18" charset="0"/>
                <a:cs typeface="Times New Roman" panose="02020603050405020304" pitchFamily="18" charset="0"/>
              </a:rPr>
              <a:t>, gate drivers</a:t>
            </a:r>
            <a:endParaRPr lang="sv-SE" sz="16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Rectangle 11"/>
              <p:cNvSpPr/>
              <p:nvPr/>
            </p:nvSpPr>
            <p:spPr>
              <a:xfrm>
                <a:off x="413274" y="3614945"/>
                <a:ext cx="7724886" cy="665888"/>
              </a:xfrm>
              <a:prstGeom prst="rect">
                <a:avLst/>
              </a:prstGeom>
            </p:spPr>
            <p:txBody>
              <a:bodyPr wrap="square">
                <a:spAutoFit/>
              </a:bodyPr>
              <a:lstStyle/>
              <a:p>
                <a:r>
                  <a:rPr lang="en-US" dirty="0" smtClean="0">
                    <a:solidFill>
                      <a:srgbClr val="404040"/>
                    </a:solidFill>
                    <a:latin typeface="Times New Roman" panose="02020603050405020304" pitchFamily="18" charset="0"/>
                    <a:cs typeface="Times New Roman" panose="02020603050405020304" pitchFamily="18" charset="0"/>
                  </a:rPr>
                  <a:t>High-frequency </a:t>
                </a:r>
                <a:r>
                  <a:rPr lang="en-US" dirty="0">
                    <a:solidFill>
                      <a:srgbClr val="404040"/>
                    </a:solidFill>
                    <a:latin typeface="Times New Roman" panose="02020603050405020304" pitchFamily="18" charset="0"/>
                    <a:cs typeface="Times New Roman" panose="02020603050405020304" pitchFamily="18" charset="0"/>
                  </a:rPr>
                  <a:t>current </a:t>
                </a:r>
                <a:r>
                  <a:rPr lang="en-US" dirty="0" smtClean="0">
                    <a:solidFill>
                      <a:srgbClr val="404040"/>
                    </a:solidFill>
                    <a:latin typeface="Times New Roman" panose="02020603050405020304" pitchFamily="18" charset="0"/>
                    <a:cs typeface="Times New Roman" panose="02020603050405020304" pitchFamily="18" charset="0"/>
                  </a:rPr>
                  <a:t>injection could be utilized to </a:t>
                </a:r>
                <a:r>
                  <a:rPr lang="en-US" dirty="0">
                    <a:solidFill>
                      <a:srgbClr val="404040"/>
                    </a:solidFill>
                    <a:latin typeface="Times New Roman" panose="02020603050405020304" pitchFamily="18" charset="0"/>
                    <a:cs typeface="Times New Roman" panose="02020603050405020304" pitchFamily="18" charset="0"/>
                  </a:rPr>
                  <a:t>isolate </a:t>
                </a:r>
                <a14:m>
                  <m:oMath xmlns:m="http://schemas.openxmlformats.org/officeDocument/2006/math">
                    <m:sSub>
                      <m:sSubPr>
                        <m:ctrlPr>
                          <a:rPr lang="en-US" i="1" dirty="0">
                            <a:solidFill>
                              <a:srgbClr val="404040"/>
                            </a:solidFill>
                            <a:latin typeface="Cambria Math" panose="02040503050406030204" pitchFamily="18" charset="0"/>
                            <a:cs typeface="Times New Roman" panose="02020603050405020304" pitchFamily="18" charset="0"/>
                          </a:rPr>
                        </m:ctrlPr>
                      </m:sSubPr>
                      <m:e>
                        <m:r>
                          <a:rPr lang="en-US" i="1" dirty="0">
                            <a:solidFill>
                              <a:srgbClr val="404040"/>
                            </a:solidFill>
                            <a:latin typeface="Cambria Math" panose="02040503050406030204" pitchFamily="18" charset="0"/>
                            <a:cs typeface="Times New Roman" panose="02020603050405020304" pitchFamily="18" charset="0"/>
                          </a:rPr>
                          <m:t>𝑅</m:t>
                        </m:r>
                      </m:e>
                      <m:sub>
                        <m:r>
                          <a:rPr lang="en-US" i="1" dirty="0">
                            <a:solidFill>
                              <a:srgbClr val="404040"/>
                            </a:solidFill>
                            <a:latin typeface="Cambria Math" panose="02040503050406030204" pitchFamily="18" charset="0"/>
                            <a:cs typeface="Times New Roman" panose="02020603050405020304" pitchFamily="18" charset="0"/>
                          </a:rPr>
                          <m:t>𝑑𝑠</m:t>
                        </m:r>
                        <m:d>
                          <m:dPr>
                            <m:ctrlPr>
                              <a:rPr lang="en-US" i="1" dirty="0">
                                <a:solidFill>
                                  <a:srgbClr val="404040"/>
                                </a:solidFill>
                                <a:latin typeface="Cambria Math" panose="02040503050406030204" pitchFamily="18" charset="0"/>
                                <a:cs typeface="Times New Roman" panose="02020603050405020304" pitchFamily="18" charset="0"/>
                              </a:rPr>
                            </m:ctrlPr>
                          </m:dPr>
                          <m:e>
                            <m:r>
                              <a:rPr lang="en-US" i="1" dirty="0">
                                <a:solidFill>
                                  <a:srgbClr val="404040"/>
                                </a:solidFill>
                                <a:latin typeface="Cambria Math" panose="02040503050406030204" pitchFamily="18" charset="0"/>
                                <a:cs typeface="Times New Roman" panose="02020603050405020304" pitchFamily="18" charset="0"/>
                              </a:rPr>
                              <m:t>𝑜𝑛</m:t>
                            </m:r>
                          </m:e>
                        </m:d>
                      </m:sub>
                    </m:sSub>
                  </m:oMath>
                </a14:m>
                <a:r>
                  <a:rPr lang="en-US" dirty="0" smtClean="0">
                    <a:solidFill>
                      <a:srgbClr val="404040"/>
                    </a:solidFill>
                    <a:latin typeface="Times New Roman" panose="02020603050405020304" pitchFamily="18" charset="0"/>
                    <a:cs typeface="Times New Roman" panose="02020603050405020304" pitchFamily="18" charset="0"/>
                  </a:rPr>
                  <a:t>​​</a:t>
                </a:r>
                <a:r>
                  <a:rPr lang="en-US" dirty="0">
                    <a:solidFill>
                      <a:srgbClr val="404040"/>
                    </a:solidFill>
                    <a:latin typeface="Times New Roman" panose="02020603050405020304" pitchFamily="18" charset="0"/>
                    <a:cs typeface="Times New Roman" panose="02020603050405020304" pitchFamily="18" charset="0"/>
                  </a:rPr>
                  <a:t> from load current, avoiding synchronization and phase-shift </a:t>
                </a:r>
                <a:r>
                  <a:rPr lang="en-US" dirty="0" smtClean="0">
                    <a:solidFill>
                      <a:srgbClr val="404040"/>
                    </a:solidFill>
                    <a:latin typeface="Times New Roman" panose="02020603050405020304" pitchFamily="18" charset="0"/>
                    <a:cs typeface="Times New Roman" panose="02020603050405020304" pitchFamily="18" charset="0"/>
                  </a:rPr>
                  <a:t>errors of the measurement.</a:t>
                </a:r>
                <a:endParaRPr lang="sv-SE" dirty="0">
                  <a:latin typeface="Times New Roman" panose="02020603050405020304" pitchFamily="18" charset="0"/>
                  <a:cs typeface="Times New Roman" panose="02020603050405020304" pitchFamily="18" charset="0"/>
                </a:endParaRPr>
              </a:p>
            </p:txBody>
          </p:sp>
        </mc:Choice>
        <mc:Fallback>
          <p:sp>
            <p:nvSpPr>
              <p:cNvPr id="12" name="Rectangle 11"/>
              <p:cNvSpPr>
                <a:spLocks noRot="1" noChangeAspect="1" noMove="1" noResize="1" noEditPoints="1" noAdjustHandles="1" noChangeArrowheads="1" noChangeShapeType="1" noTextEdit="1"/>
              </p:cNvSpPr>
              <p:nvPr/>
            </p:nvSpPr>
            <p:spPr>
              <a:xfrm>
                <a:off x="413274" y="3614945"/>
                <a:ext cx="7724886" cy="665888"/>
              </a:xfrm>
              <a:prstGeom prst="rect">
                <a:avLst/>
              </a:prstGeom>
              <a:blipFill>
                <a:blip r:embed="rId5"/>
                <a:stretch>
                  <a:fillRect l="-710" t="-4587" b="-13761"/>
                </a:stretch>
              </a:blipFill>
            </p:spPr>
            <p:txBody>
              <a:bodyPr/>
              <a:lstStyle/>
              <a:p>
                <a:r>
                  <a:rPr lang="sv-SE">
                    <a:noFill/>
                  </a:rPr>
                  <a:t> </a:t>
                </a:r>
              </a:p>
            </p:txBody>
          </p:sp>
        </mc:Fallback>
      </mc:AlternateContent>
      <p:pic>
        <p:nvPicPr>
          <p:cNvPr id="13" name="Picture 12"/>
          <p:cNvPicPr>
            <a:picLocks noChangeAspect="1"/>
          </p:cNvPicPr>
          <p:nvPr/>
        </p:nvPicPr>
        <p:blipFill>
          <a:blip r:embed="rId6"/>
          <a:stretch>
            <a:fillRect/>
          </a:stretch>
        </p:blipFill>
        <p:spPr>
          <a:xfrm>
            <a:off x="775455" y="4540512"/>
            <a:ext cx="3363102" cy="1206609"/>
          </a:xfrm>
          <a:prstGeom prst="rect">
            <a:avLst/>
          </a:prstGeom>
        </p:spPr>
      </p:pic>
      <p:pic>
        <p:nvPicPr>
          <p:cNvPr id="14" name="Picture 13"/>
          <p:cNvPicPr>
            <a:picLocks noChangeAspect="1"/>
          </p:cNvPicPr>
          <p:nvPr/>
        </p:nvPicPr>
        <p:blipFill>
          <a:blip r:embed="rId7"/>
          <a:stretch>
            <a:fillRect/>
          </a:stretch>
        </p:blipFill>
        <p:spPr>
          <a:xfrm>
            <a:off x="4213860" y="4518707"/>
            <a:ext cx="3262899" cy="1250218"/>
          </a:xfrm>
          <a:prstGeom prst="rect">
            <a:avLst/>
          </a:prstGeom>
        </p:spPr>
      </p:pic>
      <p:sp>
        <p:nvSpPr>
          <p:cNvPr id="15" name="Rectangle 14"/>
          <p:cNvSpPr/>
          <p:nvPr/>
        </p:nvSpPr>
        <p:spPr>
          <a:xfrm>
            <a:off x="151385" y="6219411"/>
            <a:ext cx="9972786" cy="276999"/>
          </a:xfrm>
          <a:prstGeom prst="rect">
            <a:avLst/>
          </a:prstGeom>
        </p:spPr>
        <p:txBody>
          <a:bodyPr wrap="square">
            <a:spAutoFit/>
          </a:bodyPr>
          <a:lstStyle/>
          <a:p>
            <a:r>
              <a:rPr lang="sv-SE" sz="1200" dirty="0">
                <a:latin typeface="Times New Roman" panose="02020603050405020304" pitchFamily="18" charset="0"/>
                <a:cs typeface="Times New Roman" panose="02020603050405020304" pitchFamily="18" charset="0"/>
              </a:rPr>
              <a:t>F. </a:t>
            </a:r>
            <a:r>
              <a:rPr lang="sv-SE" sz="1200" dirty="0" err="1">
                <a:latin typeface="Times New Roman" panose="02020603050405020304" pitchFamily="18" charset="0"/>
                <a:cs typeface="Times New Roman" panose="02020603050405020304" pitchFamily="18" charset="0"/>
              </a:rPr>
              <a:t>Karakaya</a:t>
            </a:r>
            <a:r>
              <a:rPr lang="sv-SE" sz="1200" dirty="0">
                <a:latin typeface="Times New Roman" panose="02020603050405020304" pitchFamily="18" charset="0"/>
                <a:cs typeface="Times New Roman" panose="02020603050405020304" pitchFamily="18" charset="0"/>
              </a:rPr>
              <a:t>, </a:t>
            </a:r>
            <a:r>
              <a:rPr lang="sv-SE" sz="1200" dirty="0" smtClean="0">
                <a:latin typeface="Times New Roman" panose="02020603050405020304" pitchFamily="18" charset="0"/>
                <a:cs typeface="Times New Roman" panose="02020603050405020304" pitchFamily="18" charset="0"/>
              </a:rPr>
              <a:t>"</a:t>
            </a:r>
            <a:r>
              <a:rPr lang="sv-SE" sz="1200" dirty="0">
                <a:latin typeface="Times New Roman" panose="02020603050405020304" pitchFamily="18" charset="0"/>
                <a:cs typeface="Times New Roman" panose="02020603050405020304" pitchFamily="18" charset="0"/>
              </a:rPr>
              <a:t>An Approach for Online </a:t>
            </a:r>
            <a:r>
              <a:rPr lang="sv-SE" sz="1200" dirty="0" err="1">
                <a:latin typeface="Times New Roman" panose="02020603050405020304" pitchFamily="18" charset="0"/>
                <a:cs typeface="Times New Roman" panose="02020603050405020304" pitchFamily="18" charset="0"/>
              </a:rPr>
              <a:t>Estimation</a:t>
            </a:r>
            <a:r>
              <a:rPr lang="sv-SE" sz="1200" dirty="0">
                <a:latin typeface="Times New Roman" panose="02020603050405020304" pitchFamily="18" charset="0"/>
                <a:cs typeface="Times New Roman" panose="02020603050405020304" pitchFamily="18" charset="0"/>
              </a:rPr>
              <a:t> </a:t>
            </a:r>
            <a:r>
              <a:rPr lang="sv-SE" sz="1200" dirty="0" err="1">
                <a:latin typeface="Times New Roman" panose="02020603050405020304" pitchFamily="18" charset="0"/>
                <a:cs typeface="Times New Roman" panose="02020603050405020304" pitchFamily="18" charset="0"/>
              </a:rPr>
              <a:t>of</a:t>
            </a:r>
            <a:r>
              <a:rPr lang="sv-SE" sz="1200" dirty="0">
                <a:latin typeface="Times New Roman" panose="02020603050405020304" pitchFamily="18" charset="0"/>
                <a:cs typeface="Times New Roman" panose="02020603050405020304" pitchFamily="18" charset="0"/>
              </a:rPr>
              <a:t> On-State </a:t>
            </a:r>
            <a:r>
              <a:rPr lang="sv-SE" sz="1200" dirty="0" err="1">
                <a:latin typeface="Times New Roman" panose="02020603050405020304" pitchFamily="18" charset="0"/>
                <a:cs typeface="Times New Roman" panose="02020603050405020304" pitchFamily="18" charset="0"/>
              </a:rPr>
              <a:t>Resistance</a:t>
            </a:r>
            <a:r>
              <a:rPr lang="sv-SE" sz="1200" dirty="0">
                <a:latin typeface="Times New Roman" panose="02020603050405020304" pitchFamily="18" charset="0"/>
                <a:cs typeface="Times New Roman" panose="02020603050405020304" pitchFamily="18" charset="0"/>
              </a:rPr>
              <a:t> in </a:t>
            </a:r>
            <a:r>
              <a:rPr lang="sv-SE" sz="1200" dirty="0" err="1">
                <a:latin typeface="Times New Roman" panose="02020603050405020304" pitchFamily="18" charset="0"/>
                <a:cs typeface="Times New Roman" panose="02020603050405020304" pitchFamily="18" charset="0"/>
              </a:rPr>
              <a:t>SiC</a:t>
            </a:r>
            <a:r>
              <a:rPr lang="sv-SE" sz="1200" dirty="0">
                <a:latin typeface="Times New Roman" panose="02020603050405020304" pitchFamily="18" charset="0"/>
                <a:cs typeface="Times New Roman" panose="02020603050405020304" pitchFamily="18" charset="0"/>
              </a:rPr>
              <a:t> </a:t>
            </a:r>
            <a:r>
              <a:rPr lang="sv-SE" sz="1200" dirty="0" err="1">
                <a:latin typeface="Times New Roman" panose="02020603050405020304" pitchFamily="18" charset="0"/>
                <a:cs typeface="Times New Roman" panose="02020603050405020304" pitchFamily="18" charset="0"/>
              </a:rPr>
              <a:t>MOSFETs</a:t>
            </a:r>
            <a:r>
              <a:rPr lang="sv-SE" sz="1200" dirty="0">
                <a:latin typeface="Times New Roman" panose="02020603050405020304" pitchFamily="18" charset="0"/>
                <a:cs typeface="Times New Roman" panose="02020603050405020304" pitchFamily="18" charset="0"/>
              </a:rPr>
              <a:t> </a:t>
            </a:r>
            <a:r>
              <a:rPr lang="sv-SE" sz="1200" dirty="0" err="1">
                <a:latin typeface="Times New Roman" panose="02020603050405020304" pitchFamily="18" charset="0"/>
                <a:cs typeface="Times New Roman" panose="02020603050405020304" pitchFamily="18" charset="0"/>
              </a:rPr>
              <a:t>Without</a:t>
            </a:r>
            <a:r>
              <a:rPr lang="sv-SE" sz="1200" dirty="0">
                <a:latin typeface="Times New Roman" panose="02020603050405020304" pitchFamily="18" charset="0"/>
                <a:cs typeface="Times New Roman" panose="02020603050405020304" pitchFamily="18" charset="0"/>
              </a:rPr>
              <a:t> </a:t>
            </a:r>
            <a:r>
              <a:rPr lang="sv-SE" sz="1200" dirty="0" err="1">
                <a:latin typeface="Times New Roman" panose="02020603050405020304" pitchFamily="18" charset="0"/>
                <a:cs typeface="Times New Roman" panose="02020603050405020304" pitchFamily="18" charset="0"/>
              </a:rPr>
              <a:t>Current</a:t>
            </a:r>
            <a:r>
              <a:rPr lang="sv-SE" sz="1200" dirty="0">
                <a:latin typeface="Times New Roman" panose="02020603050405020304" pitchFamily="18" charset="0"/>
                <a:cs typeface="Times New Roman" panose="02020603050405020304" pitchFamily="18" charset="0"/>
              </a:rPr>
              <a:t> </a:t>
            </a:r>
            <a:r>
              <a:rPr lang="sv-SE" sz="1200" dirty="0" err="1">
                <a:latin typeface="Times New Roman" panose="02020603050405020304" pitchFamily="18" charset="0"/>
                <a:cs typeface="Times New Roman" panose="02020603050405020304" pitchFamily="18" charset="0"/>
              </a:rPr>
              <a:t>Measurement</a:t>
            </a:r>
            <a:r>
              <a:rPr lang="sv-SE" sz="1200" dirty="0" smtClean="0">
                <a:latin typeface="Times New Roman" panose="02020603050405020304" pitchFamily="18" charset="0"/>
                <a:cs typeface="Times New Roman" panose="02020603050405020304" pitchFamily="18" charset="0"/>
              </a:rPr>
              <a:t>,</a:t>
            </a:r>
            <a:endParaRPr lang="sv-SE" sz="1200" dirty="0">
              <a:latin typeface="Times New Roman" panose="02020603050405020304" pitchFamily="18" charset="0"/>
              <a:cs typeface="Times New Roman" panose="02020603050405020304" pitchFamily="18" charset="0"/>
            </a:endParaRPr>
          </a:p>
        </p:txBody>
      </p:sp>
      <p:sp>
        <p:nvSpPr>
          <p:cNvPr id="17" name="Rectangle 16"/>
          <p:cNvSpPr/>
          <p:nvPr/>
        </p:nvSpPr>
        <p:spPr>
          <a:xfrm>
            <a:off x="151385" y="6434837"/>
            <a:ext cx="4464684" cy="276999"/>
          </a:xfrm>
          <a:prstGeom prst="rect">
            <a:avLst/>
          </a:prstGeom>
        </p:spPr>
        <p:txBody>
          <a:bodyPr wrap="none">
            <a:spAutoFit/>
          </a:bodyPr>
          <a:lstStyle/>
          <a:p>
            <a:r>
              <a:rPr lang="sv-SE" sz="1200" dirty="0">
                <a:latin typeface="Times New Roman" panose="02020603050405020304" pitchFamily="18" charset="0"/>
                <a:cs typeface="Times New Roman" panose="02020603050405020304" pitchFamily="18" charset="0"/>
              </a:rPr>
              <a:t>Jochen </a:t>
            </a:r>
            <a:r>
              <a:rPr lang="sv-SE" sz="1200" dirty="0" err="1" smtClean="0">
                <a:latin typeface="Times New Roman" panose="02020603050405020304" pitchFamily="18" charset="0"/>
                <a:cs typeface="Times New Roman" panose="02020603050405020304" pitchFamily="18" charset="0"/>
              </a:rPr>
              <a:t>Henn</a:t>
            </a:r>
            <a:r>
              <a:rPr lang="sv-SE" sz="1200" dirty="0" smtClean="0">
                <a:latin typeface="Times New Roman" panose="02020603050405020304" pitchFamily="18" charset="0"/>
                <a:cs typeface="Times New Roman" panose="02020603050405020304" pitchFamily="18" charset="0"/>
              </a:rPr>
              <a:t>, ”Intelligent </a:t>
            </a:r>
            <a:r>
              <a:rPr lang="sv-SE" sz="1200" dirty="0">
                <a:latin typeface="Times New Roman" panose="02020603050405020304" pitchFamily="18" charset="0"/>
                <a:cs typeface="Times New Roman" panose="02020603050405020304" pitchFamily="18" charset="0"/>
              </a:rPr>
              <a:t>Gate Drivers for </a:t>
            </a:r>
            <a:r>
              <a:rPr lang="sv-SE" sz="1200" dirty="0" err="1">
                <a:latin typeface="Times New Roman" panose="02020603050405020304" pitchFamily="18" charset="0"/>
                <a:cs typeface="Times New Roman" panose="02020603050405020304" pitchFamily="18" charset="0"/>
              </a:rPr>
              <a:t>Future</a:t>
            </a:r>
            <a:r>
              <a:rPr lang="sv-SE" sz="1200" dirty="0">
                <a:latin typeface="Times New Roman" panose="02020603050405020304" pitchFamily="18" charset="0"/>
                <a:cs typeface="Times New Roman" panose="02020603050405020304" pitchFamily="18" charset="0"/>
              </a:rPr>
              <a:t> Power </a:t>
            </a:r>
            <a:r>
              <a:rPr lang="sv-SE" sz="1200" dirty="0" err="1" smtClean="0">
                <a:latin typeface="Times New Roman" panose="02020603050405020304" pitchFamily="18" charset="0"/>
                <a:cs typeface="Times New Roman" panose="02020603050405020304" pitchFamily="18" charset="0"/>
              </a:rPr>
              <a:t>Converters</a:t>
            </a:r>
            <a:r>
              <a:rPr lang="sv-SE" sz="1200" dirty="0" smtClean="0">
                <a:latin typeface="Times New Roman" panose="02020603050405020304" pitchFamily="18" charset="0"/>
                <a:cs typeface="Times New Roman" panose="02020603050405020304" pitchFamily="18" charset="0"/>
              </a:rPr>
              <a:t>”</a:t>
            </a:r>
            <a:endParaRPr lang="sv-SE"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4135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Outline</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Content Placeholder 1"/>
              <p:cNvSpPr>
                <a:spLocks noGrp="1"/>
              </p:cNvSpPr>
              <p:nvPr>
                <p:ph idx="1"/>
              </p:nvPr>
            </p:nvSpPr>
            <p:spPr>
              <a:xfrm>
                <a:off x="594098" y="1842462"/>
                <a:ext cx="10990263" cy="4453808"/>
              </a:xfrm>
            </p:spPr>
            <p:txBody>
              <a:bodyPr/>
              <a:lstStyle/>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The Effects of the </a:t>
                </a:r>
                <a:r>
                  <a:rPr lang="en-US" sz="2400" dirty="0" err="1" smtClean="0">
                    <a:solidFill>
                      <a:srgbClr val="C0C0C0"/>
                    </a:solidFill>
                    <a:latin typeface="Times New Roman" panose="02020603050405020304" pitchFamily="18" charset="0"/>
                    <a:cs typeface="Times New Roman" panose="02020603050405020304" pitchFamily="18" charset="0"/>
                  </a:rPr>
                  <a:t>Busbar</a:t>
                </a:r>
                <a:r>
                  <a:rPr lang="en-US" sz="2400" dirty="0" smtClean="0">
                    <a:solidFill>
                      <a:srgbClr val="C0C0C0"/>
                    </a:solidFill>
                    <a:latin typeface="Times New Roman" panose="02020603050405020304" pitchFamily="18" charset="0"/>
                    <a:cs typeface="Times New Roman" panose="02020603050405020304" pitchFamily="18" charset="0"/>
                  </a:rPr>
                  <a:t> and Battery Parasitic Inductance</a:t>
                </a:r>
              </a:p>
              <a:p>
                <a:pPr>
                  <a:buFont typeface="Wingdings" panose="05000000000000000000" pitchFamily="2" charset="2"/>
                  <a:buChar char="q"/>
                </a:pPr>
                <a:endParaRPr lang="en-US" sz="2400" dirty="0" smtClean="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Conventional Back-to-Back Inverter Setup </a:t>
                </a:r>
              </a:p>
              <a:p>
                <a:pPr>
                  <a:buFont typeface="Wingdings" panose="05000000000000000000" pitchFamily="2" charset="2"/>
                  <a:buChar char="q"/>
                </a:pPr>
                <a:endParaRPr lang="en-US" sz="2400" dirty="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smtClean="0">
                    <a:solidFill>
                      <a:srgbClr val="C0C0C0"/>
                    </a:solidFill>
                    <a:latin typeface="Times New Roman" panose="02020603050405020304" pitchFamily="18" charset="0"/>
                    <a:cs typeface="Times New Roman" panose="02020603050405020304" pitchFamily="18" charset="0"/>
                  </a:rPr>
                  <a:t>Intelligent Gate Driver Measurement Unit: </a:t>
                </a:r>
                <a:r>
                  <a:rPr lang="en-US" sz="2400" dirty="0">
                    <a:solidFill>
                      <a:srgbClr val="C0C0C0"/>
                    </a:solidFill>
                    <a:latin typeface="Times New Roman" panose="02020603050405020304" pitchFamily="18" charset="0"/>
                    <a:cs typeface="Times New Roman" panose="02020603050405020304" pitchFamily="18" charset="0"/>
                  </a:rPr>
                  <a:t>Online </a:t>
                </a:r>
                <a14:m>
                  <m:oMath xmlns:m="http://schemas.openxmlformats.org/officeDocument/2006/math">
                    <m:sSub>
                      <m:sSubPr>
                        <m:ctrlPr>
                          <a:rPr lang="en-US" sz="2400" i="1" dirty="0">
                            <a:solidFill>
                              <a:srgbClr val="C0C0C0"/>
                            </a:solidFill>
                            <a:latin typeface="Cambria Math" panose="02040503050406030204" pitchFamily="18" charset="0"/>
                            <a:cs typeface="Times New Roman" panose="02020603050405020304" pitchFamily="18" charset="0"/>
                          </a:rPr>
                        </m:ctrlPr>
                      </m:sSubPr>
                      <m:e>
                        <m:r>
                          <a:rPr lang="en-US" sz="2400" i="1" dirty="0">
                            <a:solidFill>
                              <a:srgbClr val="C0C0C0"/>
                            </a:solidFill>
                            <a:latin typeface="Cambria Math" panose="02040503050406030204" pitchFamily="18" charset="0"/>
                            <a:cs typeface="Times New Roman" panose="02020603050405020304" pitchFamily="18" charset="0"/>
                          </a:rPr>
                          <m:t>𝑅</m:t>
                        </m:r>
                      </m:e>
                      <m:sub>
                        <m:r>
                          <a:rPr lang="en-US" sz="2400" i="1" dirty="0">
                            <a:solidFill>
                              <a:srgbClr val="C0C0C0"/>
                            </a:solidFill>
                            <a:latin typeface="Cambria Math" panose="02040503050406030204" pitchFamily="18" charset="0"/>
                            <a:cs typeface="Times New Roman" panose="02020603050405020304" pitchFamily="18" charset="0"/>
                          </a:rPr>
                          <m:t>𝑑𝑠</m:t>
                        </m:r>
                      </m:sub>
                    </m:sSub>
                  </m:oMath>
                </a14:m>
                <a:r>
                  <a:rPr lang="en-US" sz="2400" dirty="0">
                    <a:solidFill>
                      <a:srgbClr val="C0C0C0"/>
                    </a:solidFill>
                    <a:latin typeface="Times New Roman" panose="02020603050405020304" pitchFamily="18" charset="0"/>
                    <a:cs typeface="Times New Roman" panose="02020603050405020304" pitchFamily="18" charset="0"/>
                  </a:rPr>
                  <a:t> </a:t>
                </a:r>
                <a:r>
                  <a:rPr lang="en-US" sz="2400" dirty="0" smtClean="0">
                    <a:solidFill>
                      <a:srgbClr val="C0C0C0"/>
                    </a:solidFill>
                    <a:latin typeface="Times New Roman" panose="02020603050405020304" pitchFamily="18" charset="0"/>
                    <a:cs typeface="Times New Roman" panose="02020603050405020304" pitchFamily="18" charset="0"/>
                  </a:rPr>
                  <a:t>Measurement</a:t>
                </a:r>
              </a:p>
              <a:p>
                <a:pPr>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ECCE-Europe Paper Digest</a:t>
                </a:r>
              </a:p>
              <a:p>
                <a:pPr marL="0" indent="0">
                  <a:buNone/>
                </a:pPr>
                <a:endParaRPr lang="en-US" sz="2400" dirty="0" smtClean="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US" dirty="0" smtClean="0">
                  <a:latin typeface="Times New Roman" panose="02020603050405020304" pitchFamily="18" charset="0"/>
                  <a:cs typeface="Times New Roman" panose="02020603050405020304" pitchFamily="18" charset="0"/>
                </a:endParaRPr>
              </a:p>
            </p:txBody>
          </p:sp>
        </mc:Choice>
        <mc:Fallback>
          <p:sp>
            <p:nvSpPr>
              <p:cNvPr id="2" name="Content Placeholder 1"/>
              <p:cNvSpPr>
                <a:spLocks noGrp="1" noRot="1" noChangeAspect="1" noMove="1" noResize="1" noEditPoints="1" noAdjustHandles="1" noChangeArrowheads="1" noChangeShapeType="1" noTextEdit="1"/>
              </p:cNvSpPr>
              <p:nvPr>
                <p:ph idx="1"/>
              </p:nvPr>
            </p:nvSpPr>
            <p:spPr>
              <a:xfrm>
                <a:off x="594098" y="1842462"/>
                <a:ext cx="10990263" cy="4453808"/>
              </a:xfrm>
              <a:blipFill>
                <a:blip r:embed="rId2"/>
                <a:stretch>
                  <a:fillRect l="-721" t="-1915"/>
                </a:stretch>
              </a:blipFill>
            </p:spPr>
            <p:txBody>
              <a:bodyPr/>
              <a:lstStyle/>
              <a:p>
                <a:r>
                  <a:rPr lang="sv-SE">
                    <a:noFill/>
                  </a:rPr>
                  <a:t> </a:t>
                </a:r>
              </a:p>
            </p:txBody>
          </p:sp>
        </mc:Fallback>
      </mc:AlternateContent>
    </p:spTree>
    <p:extLst>
      <p:ext uri="{BB962C8B-B14F-4D97-AF65-F5344CB8AC3E}">
        <p14:creationId xmlns:p14="http://schemas.microsoft.com/office/powerpoint/2010/main" val="3479109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199009" y="1517570"/>
            <a:ext cx="3321431" cy="2303939"/>
          </a:xfrm>
          <a:prstGeom prst="rect">
            <a:avLst/>
          </a:prstGeom>
        </p:spPr>
      </p:pic>
      <p:pic>
        <p:nvPicPr>
          <p:cNvPr id="12" name="Picture 11"/>
          <p:cNvPicPr>
            <a:picLocks noChangeAspect="1"/>
          </p:cNvPicPr>
          <p:nvPr/>
        </p:nvPicPr>
        <p:blipFill>
          <a:blip r:embed="rId3"/>
          <a:stretch>
            <a:fillRect/>
          </a:stretch>
        </p:blipFill>
        <p:spPr>
          <a:xfrm>
            <a:off x="0" y="4069080"/>
            <a:ext cx="4079495" cy="2122440"/>
          </a:xfrm>
          <a:prstGeom prst="rect">
            <a:avLst/>
          </a:prstGeom>
        </p:spPr>
      </p:pic>
      <p:sp>
        <p:nvSpPr>
          <p:cNvPr id="14" name="Title 1"/>
          <p:cNvSpPr>
            <a:spLocks noGrp="1"/>
          </p:cNvSpPr>
          <p:nvPr>
            <p:ph type="title"/>
          </p:nvPr>
        </p:nvSpPr>
        <p:spPr>
          <a:xfrm>
            <a:off x="984260" y="283592"/>
            <a:ext cx="10990263" cy="568412"/>
          </a:xfrm>
        </p:spPr>
        <p:txBody>
          <a:bodyPr/>
          <a:lstStyle/>
          <a:p>
            <a:pPr algn="ctr"/>
            <a:r>
              <a:rPr lang="en-US" sz="2400" dirty="0">
                <a:latin typeface="Times New Roman" panose="02020603050405020304" pitchFamily="18" charset="0"/>
                <a:cs typeface="Times New Roman" panose="02020603050405020304" pitchFamily="18" charset="0"/>
              </a:rPr>
              <a:t>Common-Mode Voltage Reduction in Two-Level Inverters by Introducing Adaptive Carrier-Phase-Shift Method</a:t>
            </a:r>
            <a:endParaRPr lang="sv-SE" sz="2400"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4"/>
          <a:stretch>
            <a:fillRect/>
          </a:stretch>
        </p:blipFill>
        <p:spPr>
          <a:xfrm>
            <a:off x="4471774" y="1785247"/>
            <a:ext cx="3540505" cy="1350590"/>
          </a:xfrm>
          <a:prstGeom prst="rect">
            <a:avLst/>
          </a:prstGeom>
        </p:spPr>
      </p:pic>
      <p:pic>
        <p:nvPicPr>
          <p:cNvPr id="16" name="Picture 15"/>
          <p:cNvPicPr>
            <a:picLocks noChangeAspect="1"/>
          </p:cNvPicPr>
          <p:nvPr/>
        </p:nvPicPr>
        <p:blipFill>
          <a:blip r:embed="rId5"/>
          <a:stretch>
            <a:fillRect/>
          </a:stretch>
        </p:blipFill>
        <p:spPr>
          <a:xfrm>
            <a:off x="4079495" y="4069080"/>
            <a:ext cx="4835696" cy="2055171"/>
          </a:xfrm>
          <a:prstGeom prst="rect">
            <a:avLst/>
          </a:prstGeom>
        </p:spPr>
      </p:pic>
      <p:pic>
        <p:nvPicPr>
          <p:cNvPr id="17" name="Picture 16"/>
          <p:cNvPicPr>
            <a:picLocks noChangeAspect="1"/>
          </p:cNvPicPr>
          <p:nvPr/>
        </p:nvPicPr>
        <p:blipFill>
          <a:blip r:embed="rId6"/>
          <a:stretch>
            <a:fillRect/>
          </a:stretch>
        </p:blipFill>
        <p:spPr>
          <a:xfrm>
            <a:off x="8158990" y="2774310"/>
            <a:ext cx="3644390" cy="2296372"/>
          </a:xfrm>
          <a:prstGeom prst="rect">
            <a:avLst/>
          </a:prstGeom>
        </p:spPr>
      </p:pic>
    </p:spTree>
    <p:extLst>
      <p:ext uri="{BB962C8B-B14F-4D97-AF65-F5344CB8AC3E}">
        <p14:creationId xmlns:p14="http://schemas.microsoft.com/office/powerpoint/2010/main" val="4089387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984260" y="1808245"/>
            <a:ext cx="3228975" cy="4626210"/>
          </a:xfrm>
          <a:prstGeom prst="rect">
            <a:avLst/>
          </a:prstGeom>
        </p:spPr>
      </p:pic>
      <p:sp>
        <p:nvSpPr>
          <p:cNvPr id="11" name="Title 1"/>
          <p:cNvSpPr>
            <a:spLocks noGrp="1"/>
          </p:cNvSpPr>
          <p:nvPr>
            <p:ph type="title"/>
          </p:nvPr>
        </p:nvSpPr>
        <p:spPr>
          <a:xfrm>
            <a:off x="984260" y="283592"/>
            <a:ext cx="10990263" cy="568412"/>
          </a:xfrm>
        </p:spPr>
        <p:txBody>
          <a:bodyPr/>
          <a:lstStyle/>
          <a:p>
            <a:pPr algn="ctr"/>
            <a:r>
              <a:rPr lang="en-US" sz="2400" dirty="0">
                <a:latin typeface="Times New Roman" panose="02020603050405020304" pitchFamily="18" charset="0"/>
                <a:cs typeface="Times New Roman" panose="02020603050405020304" pitchFamily="18" charset="0"/>
              </a:rPr>
              <a:t>Common-Mode Voltage Reduction in Two-Level Inverters by Introducing Adaptive Carrier-Phase-Shift Method</a:t>
            </a:r>
            <a:endParaRPr lang="sv-SE" sz="2400"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4612014" y="3850119"/>
            <a:ext cx="3972877" cy="2746895"/>
          </a:xfrm>
          <a:prstGeom prst="rect">
            <a:avLst/>
          </a:prstGeom>
        </p:spPr>
      </p:pic>
      <p:pic>
        <p:nvPicPr>
          <p:cNvPr id="13" name="Picture 12"/>
          <p:cNvPicPr>
            <a:picLocks noChangeAspect="1"/>
          </p:cNvPicPr>
          <p:nvPr/>
        </p:nvPicPr>
        <p:blipFill>
          <a:blip r:embed="rId4"/>
          <a:stretch>
            <a:fillRect/>
          </a:stretch>
        </p:blipFill>
        <p:spPr>
          <a:xfrm>
            <a:off x="4612014" y="1204102"/>
            <a:ext cx="3734753" cy="2796722"/>
          </a:xfrm>
          <a:prstGeom prst="rect">
            <a:avLst/>
          </a:prstGeom>
        </p:spPr>
      </p:pic>
      <p:pic>
        <p:nvPicPr>
          <p:cNvPr id="14" name="Picture 13"/>
          <p:cNvPicPr>
            <a:picLocks noChangeAspect="1"/>
          </p:cNvPicPr>
          <p:nvPr/>
        </p:nvPicPr>
        <p:blipFill>
          <a:blip r:embed="rId5"/>
          <a:stretch>
            <a:fillRect/>
          </a:stretch>
        </p:blipFill>
        <p:spPr>
          <a:xfrm>
            <a:off x="8263591" y="1831317"/>
            <a:ext cx="3510817" cy="2192579"/>
          </a:xfrm>
          <a:prstGeom prst="rect">
            <a:avLst/>
          </a:prstGeom>
        </p:spPr>
      </p:pic>
      <p:pic>
        <p:nvPicPr>
          <p:cNvPr id="15" name="Picture 14"/>
          <p:cNvPicPr>
            <a:picLocks noChangeAspect="1"/>
          </p:cNvPicPr>
          <p:nvPr/>
        </p:nvPicPr>
        <p:blipFill>
          <a:blip r:embed="rId6"/>
          <a:stretch>
            <a:fillRect/>
          </a:stretch>
        </p:blipFill>
        <p:spPr>
          <a:xfrm>
            <a:off x="8371965" y="4121350"/>
            <a:ext cx="3402443" cy="1891976"/>
          </a:xfrm>
          <a:prstGeom prst="rect">
            <a:avLst/>
          </a:prstGeom>
        </p:spPr>
      </p:pic>
    </p:spTree>
    <p:extLst>
      <p:ext uri="{BB962C8B-B14F-4D97-AF65-F5344CB8AC3E}">
        <p14:creationId xmlns:p14="http://schemas.microsoft.com/office/powerpoint/2010/main" val="353960355"/>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8843</TotalTime>
  <Words>1447</Words>
  <Application>Microsoft Office PowerPoint</Application>
  <PresentationFormat>Widescreen</PresentationFormat>
  <Paragraphs>177</Paragraphs>
  <Slides>21</Slides>
  <Notes>0</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Figtree</vt:lpstr>
      <vt:lpstr>Calibri</vt:lpstr>
      <vt:lpstr>Wingdings</vt:lpstr>
      <vt:lpstr>Arial</vt:lpstr>
      <vt:lpstr>Cambria Math</vt:lpstr>
      <vt:lpstr>Times New Roman</vt:lpstr>
      <vt:lpstr>Office-tema</vt:lpstr>
      <vt:lpstr>PhD Works</vt:lpstr>
      <vt:lpstr>Outline</vt:lpstr>
      <vt:lpstr>Simplified Inverter Model </vt:lpstr>
      <vt:lpstr>The Aim of Using Impedance Model</vt:lpstr>
      <vt:lpstr>Busbar Geometry 62mm Power Module</vt:lpstr>
      <vt:lpstr>DC Link Current (Positive/Negative/Zero Sequences)</vt:lpstr>
      <vt:lpstr>Without Battery Model</vt:lpstr>
      <vt:lpstr>The Effect of the Battery Connection</vt:lpstr>
      <vt:lpstr>High Frequency Resonance</vt:lpstr>
      <vt:lpstr>Low Frequency Resonance</vt:lpstr>
      <vt:lpstr>Parasitic Inductances (Switching Speed Limitation)</vt:lpstr>
      <vt:lpstr>Parasitic Inductances (Switching Speed Limitation)</vt:lpstr>
      <vt:lpstr>Outline</vt:lpstr>
      <vt:lpstr>Back-to-Back Inverter</vt:lpstr>
      <vt:lpstr>Inverter Losses</vt:lpstr>
      <vt:lpstr>Phase-Shift Control </vt:lpstr>
      <vt:lpstr>Outline</vt:lpstr>
      <vt:lpstr>Intelligent Gate Drivers: Online R_ds Measurement</vt:lpstr>
      <vt:lpstr>Outline</vt:lpstr>
      <vt:lpstr>Common-Mode Voltage Reduction in Two-Level Inverters by Introducing Adaptive Carrier-Phase-Shift Method</vt:lpstr>
      <vt:lpstr>Common-Mode Voltage Reduction in Two-Level Inverters by Introducing Adaptive Carrier-Phase-Shift Method</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194</cp:revision>
  <dcterms:created xsi:type="dcterms:W3CDTF">2024-01-10T13:17:29Z</dcterms:created>
  <dcterms:modified xsi:type="dcterms:W3CDTF">2025-03-25T15:00:34Z</dcterms:modified>
</cp:coreProperties>
</file>