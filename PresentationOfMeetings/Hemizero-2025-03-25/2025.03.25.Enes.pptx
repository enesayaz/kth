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1"/>
  </p:notesMasterIdLst>
  <p:sldIdLst>
    <p:sldId id="281" r:id="rId2"/>
    <p:sldId id="285" r:id="rId3"/>
    <p:sldId id="277" r:id="rId4"/>
    <p:sldId id="280" r:id="rId5"/>
    <p:sldId id="278" r:id="rId6"/>
    <p:sldId id="276" r:id="rId7"/>
    <p:sldId id="294" r:id="rId8"/>
    <p:sldId id="301" r:id="rId9"/>
    <p:sldId id="302" r:id="rId10"/>
  </p:sldIdLst>
  <p:sldSz cx="12192000" cy="6858000"/>
  <p:notesSz cx="6858000" cy="9144000"/>
  <p:embeddedFontLst>
    <p:embeddedFont>
      <p:font typeface="Calibri" panose="020F0502020204030204" pitchFamily="34" charset="0"/>
      <p:regular r:id="rId12"/>
      <p:bold r:id="rId13"/>
      <p:italic r:id="rId14"/>
      <p:boldItalic r:id="rId15"/>
    </p:embeddedFont>
    <p:embeddedFont>
      <p:font typeface="Figtree" panose="020B0604020202020204" charset="0"/>
      <p:regular r:id="rId16"/>
      <p:bold r:id="rId17"/>
      <p:italic r:id="rId18"/>
      <p:boldItalic r:id="rId19"/>
    </p:embeddedFont>
    <p:embeddedFont>
      <p:font typeface="Cambria Math" panose="02040503050406030204" pitchFamily="18" charset="0"/>
      <p:regular r:id="rId20"/>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42" autoAdjust="0"/>
    <p:restoredTop sz="96327"/>
  </p:normalViewPr>
  <p:slideViewPr>
    <p:cSldViewPr snapToGrid="0">
      <p:cViewPr>
        <p:scale>
          <a:sx n="100" d="100"/>
          <a:sy n="100" d="100"/>
        </p:scale>
        <p:origin x="108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2025-03-25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2025-03-25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2025-03-25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2025-03-25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2025-03-25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2025-03-25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2025-03-25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2025-03-25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2025-03-25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2025-03-25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2025-03-25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2025-03-25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2025-03-25</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2.png"/><Relationship Id="rId7" Type="http://schemas.openxmlformats.org/officeDocument/2006/relationships/image" Target="../media/image27.pn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3.png"/><Relationship Id="rId9" Type="http://schemas.openxmlformats.org/officeDocument/2006/relationships/image" Target="../media/image29.png"/></Relationships>
</file>

<file path=ppt/slides/_rels/slide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4.png"/><Relationship Id="rId1"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33.png"/></Relationships>
</file>

<file path=ppt/slides/_rels/slide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12.xml"/><Relationship Id="rId4" Type="http://schemas.openxmlformats.org/officeDocument/2006/relationships/image" Target="../media/image33.emf"/></Relationships>
</file>

<file path=ppt/slides/_rels/slide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12.xml"/><Relationship Id="rId5" Type="http://schemas.openxmlformats.org/officeDocument/2006/relationships/image" Target="../media/image37.emf"/><Relationship Id="rId4" Type="http://schemas.openxmlformats.org/officeDocument/2006/relationships/image" Target="../media/image36.emf"/></Relationships>
</file>

<file path=ppt/slides/_rels/slide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Simplified Inverter Model </a:t>
            </a:r>
            <a:endParaRPr lang="sv-SE"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E137606-0038-4161-A922-143AD7681AB4}"/>
              </a:ext>
            </a:extLst>
          </p:cNvPr>
          <p:cNvPicPr>
            <a:picLocks noChangeAspect="1"/>
          </p:cNvPicPr>
          <p:nvPr/>
        </p:nvPicPr>
        <p:blipFill rotWithShape="1">
          <a:blip r:embed="rId2"/>
          <a:srcRect t="9374"/>
          <a:stretch/>
        </p:blipFill>
        <p:spPr>
          <a:xfrm>
            <a:off x="337345" y="1178575"/>
            <a:ext cx="4664961" cy="1982344"/>
          </a:xfrm>
          <a:prstGeom prst="rect">
            <a:avLst/>
          </a:prstGeom>
        </p:spPr>
      </p:pic>
      <p:sp>
        <p:nvSpPr>
          <p:cNvPr id="7" name="TextBox 6"/>
          <p:cNvSpPr txBox="1"/>
          <p:nvPr/>
        </p:nvSpPr>
        <p:spPr>
          <a:xfrm>
            <a:off x="5424855" y="1066602"/>
            <a:ext cx="6022092" cy="369332"/>
          </a:xfrm>
          <a:prstGeom prst="rect">
            <a:avLst/>
          </a:prstGeom>
          <a:noFill/>
        </p:spPr>
        <p:txBody>
          <a:bodyPr wrap="square" rtlCol="0">
            <a:spAutoFit/>
          </a:bodyPr>
          <a:lstStyle/>
          <a:p>
            <a:r>
              <a:rPr lang="sv-SE" dirty="0" err="1" smtClean="0">
                <a:latin typeface="Times New Roman" panose="02020603050405020304" pitchFamily="18" charset="0"/>
                <a:cs typeface="Times New Roman" panose="02020603050405020304" pitchFamily="18" charset="0"/>
              </a:rPr>
              <a:t>We</a:t>
            </a:r>
            <a:r>
              <a:rPr lang="sv-SE" dirty="0" smtClean="0">
                <a:latin typeface="Times New Roman" panose="02020603050405020304" pitchFamily="18" charset="0"/>
                <a:cs typeface="Times New Roman" panose="02020603050405020304" pitchFamily="18" charset="0"/>
              </a:rPr>
              <a:t> do not </a:t>
            </a:r>
            <a:r>
              <a:rPr lang="sv-SE" dirty="0" err="1" smtClean="0">
                <a:latin typeface="Times New Roman" panose="02020603050405020304" pitchFamily="18" charset="0"/>
                <a:cs typeface="Times New Roman" panose="02020603050405020304" pitchFamily="18" charset="0"/>
              </a:rPr>
              <a:t>consider</a:t>
            </a:r>
            <a:r>
              <a:rPr lang="sv-SE" dirty="0" smtClean="0">
                <a:latin typeface="Times New Roman" panose="02020603050405020304" pitchFamily="18" charset="0"/>
                <a:cs typeface="Times New Roman" panose="02020603050405020304" pitchFamily="18" charset="0"/>
              </a:rPr>
              <a:t> output </a:t>
            </a:r>
            <a:r>
              <a:rPr lang="sv-SE" dirty="0" err="1" smtClean="0">
                <a:latin typeface="Times New Roman" panose="02020603050405020304" pitchFamily="18" charset="0"/>
                <a:cs typeface="Times New Roman" panose="02020603050405020304" pitchFamily="18" charset="0"/>
              </a:rPr>
              <a:t>harmonics</a:t>
            </a:r>
            <a:r>
              <a:rPr lang="sv-SE" dirty="0" smtClean="0">
                <a:latin typeface="Times New Roman" panose="02020603050405020304" pitchFamily="18" charset="0"/>
                <a:cs typeface="Times New Roman" panose="02020603050405020304" pitchFamily="18" charset="0"/>
              </a:rPr>
              <a:t> for the </a:t>
            </a:r>
            <a:r>
              <a:rPr lang="sv-SE" dirty="0" err="1" smtClean="0">
                <a:latin typeface="Times New Roman" panose="02020603050405020304" pitchFamily="18" charset="0"/>
                <a:cs typeface="Times New Roman" panose="02020603050405020304" pitchFamily="18" charset="0"/>
              </a:rPr>
              <a:t>phase</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currents</a:t>
            </a:r>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05359" y="3054376"/>
            <a:ext cx="3704011" cy="369332"/>
          </a:xfrm>
          <a:prstGeom prst="rect">
            <a:avLst/>
          </a:prstGeom>
          <a:noFill/>
        </p:spPr>
        <p:txBody>
          <a:bodyPr wrap="square" rtlCol="0">
            <a:spAutoFit/>
          </a:bodyPr>
          <a:lstStyle/>
          <a:p>
            <a:r>
              <a:rPr lang="sv-SE" dirty="0" err="1" smtClean="0">
                <a:latin typeface="Times New Roman" panose="02020603050405020304" pitchFamily="18" charset="0"/>
                <a:cs typeface="Times New Roman" panose="02020603050405020304" pitchFamily="18" charset="0"/>
              </a:rPr>
              <a:t>Combined</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Inverter</a:t>
            </a:r>
            <a:r>
              <a:rPr lang="sv-SE" dirty="0" smtClean="0">
                <a:latin typeface="Times New Roman" panose="02020603050405020304" pitchFamily="18" charset="0"/>
                <a:cs typeface="Times New Roman" panose="02020603050405020304" pitchFamily="18" charset="0"/>
              </a:rPr>
              <a:t> and </a:t>
            </a:r>
            <a:r>
              <a:rPr lang="sv-SE" dirty="0" err="1" smtClean="0">
                <a:latin typeface="Times New Roman" panose="02020603050405020304" pitchFamily="18" charset="0"/>
                <a:cs typeface="Times New Roman" panose="02020603050405020304" pitchFamily="18" charset="0"/>
              </a:rPr>
              <a:t>battery</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model</a:t>
            </a:r>
            <a:endParaRPr lang="sv-SE"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CE53E73-1058-4484-9F31-376B4590F2A9}"/>
              </a:ext>
            </a:extLst>
          </p:cNvPr>
          <p:cNvPicPr>
            <a:picLocks noChangeAspect="1"/>
          </p:cNvPicPr>
          <p:nvPr/>
        </p:nvPicPr>
        <p:blipFill rotWithShape="1">
          <a:blip r:embed="rId3"/>
          <a:srcRect l="5820" t="9591"/>
          <a:stretch/>
        </p:blipFill>
        <p:spPr>
          <a:xfrm>
            <a:off x="605359" y="3774629"/>
            <a:ext cx="3404853" cy="1506036"/>
          </a:xfrm>
          <a:prstGeom prst="rect">
            <a:avLst/>
          </a:prstGeom>
        </p:spPr>
      </p:pic>
      <p:sp>
        <p:nvSpPr>
          <p:cNvPr id="10" name="TextBox 9"/>
          <p:cNvSpPr txBox="1"/>
          <p:nvPr/>
        </p:nvSpPr>
        <p:spPr>
          <a:xfrm>
            <a:off x="554956" y="5378292"/>
            <a:ext cx="3550880" cy="923330"/>
          </a:xfrm>
          <a:prstGeom prst="rect">
            <a:avLst/>
          </a:prstGeom>
          <a:noFill/>
        </p:spPr>
        <p:txBody>
          <a:bodyPr wrap="square" rtlCol="0">
            <a:spAutoFit/>
          </a:bodyPr>
          <a:lstStyle/>
          <a:p>
            <a:pPr algn="just"/>
            <a:r>
              <a:rPr lang="sv-SE" dirty="0" smtClean="0">
                <a:latin typeface="Times New Roman" panose="02020603050405020304" pitchFamily="18" charset="0"/>
                <a:cs typeface="Times New Roman" panose="02020603050405020304" pitchFamily="18" charset="0"/>
              </a:rPr>
              <a:t>The </a:t>
            </a:r>
            <a:r>
              <a:rPr lang="sv-SE" dirty="0" err="1" smtClean="0">
                <a:latin typeface="Times New Roman" panose="02020603050405020304" pitchFamily="18" charset="0"/>
                <a:cs typeface="Times New Roman" panose="02020603050405020304" pitchFamily="18" charset="0"/>
              </a:rPr>
              <a:t>inverter</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can</a:t>
            </a:r>
            <a:r>
              <a:rPr lang="sv-SE" dirty="0" smtClean="0">
                <a:latin typeface="Times New Roman" panose="02020603050405020304" pitchFamily="18" charset="0"/>
                <a:cs typeface="Times New Roman" panose="02020603050405020304" pitchFamily="18" charset="0"/>
              </a:rPr>
              <a:t> be </a:t>
            </a:r>
            <a:r>
              <a:rPr lang="sv-SE" dirty="0" err="1" smtClean="0">
                <a:latin typeface="Times New Roman" panose="02020603050405020304" pitchFamily="18" charset="0"/>
                <a:cs typeface="Times New Roman" panose="02020603050405020304" pitchFamily="18" charset="0"/>
              </a:rPr>
              <a:t>modeled</a:t>
            </a:r>
            <a:r>
              <a:rPr lang="sv-SE" dirty="0" smtClean="0">
                <a:latin typeface="Times New Roman" panose="02020603050405020304" pitchFamily="18" charset="0"/>
                <a:cs typeface="Times New Roman" panose="02020603050405020304" pitchFamily="18" charset="0"/>
              </a:rPr>
              <a:t> as </a:t>
            </a:r>
            <a:r>
              <a:rPr lang="sv-SE" dirty="0" err="1" smtClean="0">
                <a:latin typeface="Times New Roman" panose="02020603050405020304" pitchFamily="18" charset="0"/>
                <a:cs typeface="Times New Roman" panose="02020603050405020304" pitchFamily="18" charset="0"/>
              </a:rPr>
              <a:t>current</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sources</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of</a:t>
            </a:r>
            <a:r>
              <a:rPr lang="sv-SE" dirty="0" smtClean="0">
                <a:latin typeface="Times New Roman" panose="02020603050405020304" pitchFamily="18" charset="0"/>
                <a:cs typeface="Times New Roman" panose="02020603050405020304" pitchFamily="18" charset="0"/>
              </a:rPr>
              <a:t> </a:t>
            </a:r>
            <a:r>
              <a:rPr lang="tr-TR" dirty="0" smtClean="0">
                <a:latin typeface="Times New Roman" panose="02020603050405020304" pitchFamily="18" charset="0"/>
                <a:cs typeface="Times New Roman" panose="02020603050405020304" pitchFamily="18" charset="0"/>
              </a:rPr>
              <a:t>harmonic</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components</a:t>
            </a:r>
            <a:r>
              <a:rPr lang="sv-SE" dirty="0" smtClean="0">
                <a:latin typeface="Times New Roman" panose="02020603050405020304" pitchFamily="18" charset="0"/>
                <a:cs typeface="Times New Roman" panose="02020603050405020304" pitchFamily="18" charset="0"/>
              </a:rPr>
              <a:t>.</a:t>
            </a:r>
            <a:endParaRPr lang="sv-SE" dirty="0">
              <a:latin typeface="Times New Roman" panose="02020603050405020304" pitchFamily="18" charset="0"/>
              <a:cs typeface="Times New Roman" panose="02020603050405020304" pitchFamily="18" charset="0"/>
            </a:endParaRPr>
          </a:p>
        </p:txBody>
      </p:sp>
      <p:pic>
        <p:nvPicPr>
          <p:cNvPr id="12" name="Content Placeholder 3">
            <a:extLst>
              <a:ext uri="{FF2B5EF4-FFF2-40B4-BE49-F238E27FC236}">
                <a16:creationId xmlns:a16="http://schemas.microsoft.com/office/drawing/2014/main" id="{2152BF20-F541-4796-9466-8B9519526A7D}"/>
              </a:ext>
            </a:extLst>
          </p:cNvPr>
          <p:cNvPicPr>
            <a:picLocks noGrp="1" noChangeAspect="1"/>
          </p:cNvPicPr>
          <p:nvPr>
            <p:ph idx="1"/>
          </p:nvPr>
        </p:nvPicPr>
        <p:blipFill>
          <a:blip r:embed="rId4"/>
          <a:stretch>
            <a:fillRect/>
          </a:stretch>
        </p:blipFill>
        <p:spPr>
          <a:xfrm>
            <a:off x="6539927" y="4277579"/>
            <a:ext cx="3636559" cy="2386230"/>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5342264" y="3210031"/>
                <a:ext cx="3322156" cy="369332"/>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sv-SE" b="0" i="1" smtClean="0">
                            <a:latin typeface="Cambria Math" panose="02040503050406030204" pitchFamily="18" charset="0"/>
                          </a:rPr>
                          <m:t>𝑆</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sv-SE" dirty="0" smtClean="0">
                    <a:latin typeface="Times New Roman" panose="02020603050405020304" pitchFamily="18" charset="0"/>
                    <a:cs typeface="Times New Roman" panose="02020603050405020304" pitchFamily="18" charset="0"/>
                    <a:sym typeface="Wingdings" panose="05000000000000000000" pitchFamily="2" charset="2"/>
                  </a:rPr>
                  <a:t></a:t>
                </a:r>
                <a14:m>
                  <m:oMath xmlns:m="http://schemas.openxmlformats.org/officeDocument/2006/math">
                    <m:sSub>
                      <m:sSubPr>
                        <m:ctrlPr>
                          <a:rPr lang="en-US" i="1">
                            <a:latin typeface="Cambria Math" panose="02040503050406030204" pitchFamily="18" charset="0"/>
                          </a:rPr>
                        </m:ctrlPr>
                      </m:sSubPr>
                      <m:e>
                        <m:r>
                          <a:rPr lang="sv-SE" i="1">
                            <a:latin typeface="Cambria Math" panose="02040503050406030204" pitchFamily="18" charset="0"/>
                          </a:rPr>
                          <m:t>𝑆</m:t>
                        </m:r>
                      </m:e>
                      <m:sub>
                        <m:r>
                          <a:rPr lang="en-US" i="1">
                            <a:latin typeface="Cambria Math" panose="02040503050406030204" pitchFamily="18" charset="0"/>
                          </a:rPr>
                          <m:t>𝐴</m:t>
                        </m:r>
                      </m:sub>
                    </m:sSub>
                    <m:r>
                      <a:rPr lang="en-US" i="1">
                        <a:latin typeface="Cambria Math" panose="02040503050406030204" pitchFamily="18" charset="0"/>
                      </a:rPr>
                      <m:t>(</m:t>
                    </m:r>
                    <m:r>
                      <a:rPr lang="en-US" i="1">
                        <a:latin typeface="Cambria Math" panose="02040503050406030204" pitchFamily="18" charset="0"/>
                      </a:rPr>
                      <m:t>𝜔</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𝐼</m:t>
                        </m:r>
                      </m:e>
                      <m:sub>
                        <m:r>
                          <a:rPr lang="en-US" i="1">
                            <a:latin typeface="Cambria Math" panose="02040503050406030204" pitchFamily="18" charset="0"/>
                          </a:rPr>
                          <m:t>𝐴</m:t>
                        </m:r>
                      </m:sub>
                    </m:sSub>
                    <m:r>
                      <a:rPr lang="en-US" i="1">
                        <a:latin typeface="Cambria Math" panose="02040503050406030204" pitchFamily="18" charset="0"/>
                      </a:rPr>
                      <m:t>(</m:t>
                    </m:r>
                    <m:r>
                      <a:rPr lang="en-US" i="1">
                        <a:latin typeface="Cambria Math" panose="02040503050406030204" pitchFamily="18" charset="0"/>
                      </a:rPr>
                      <m:t>𝜔</m:t>
                    </m:r>
                    <m:r>
                      <a:rPr lang="en-US" i="1">
                        <a:latin typeface="Cambria Math" panose="02040503050406030204" pitchFamily="18" charset="0"/>
                      </a:rPr>
                      <m:t>)</m:t>
                    </m:r>
                  </m:oMath>
                </a14:m>
                <a:endParaRPr lang="sv-SE" dirty="0">
                  <a:latin typeface="Times New Roman" panose="02020603050405020304" pitchFamily="18" charset="0"/>
                  <a:cs typeface="Times New Roman" panose="020206030504050203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5342264" y="3210031"/>
                <a:ext cx="3322156" cy="369332"/>
              </a:xfrm>
              <a:prstGeom prst="rect">
                <a:avLst/>
              </a:prstGeom>
              <a:blipFill>
                <a:blip r:embed="rId5"/>
                <a:stretch>
                  <a:fillRect t="-10000" b="-26667"/>
                </a:stretch>
              </a:blipFill>
            </p:spPr>
            <p:txBody>
              <a:bodyPr/>
              <a:lstStyle/>
              <a:p>
                <a:r>
                  <a:rPr lang="sv-SE">
                    <a:noFill/>
                  </a:rPr>
                  <a:t> </a:t>
                </a:r>
              </a:p>
            </p:txBody>
          </p:sp>
        </mc:Fallback>
      </mc:AlternateContent>
      <p:sp>
        <p:nvSpPr>
          <p:cNvPr id="14" name="Rectangle 13"/>
          <p:cNvSpPr/>
          <p:nvPr/>
        </p:nvSpPr>
        <p:spPr>
          <a:xfrm>
            <a:off x="8238678" y="3039941"/>
            <a:ext cx="3401105" cy="830997"/>
          </a:xfrm>
          <a:prstGeom prst="rect">
            <a:avLst/>
          </a:prstGeom>
        </p:spPr>
        <p:txBody>
          <a:bodyPr wrap="square">
            <a:spAutoFit/>
          </a:bodyPr>
          <a:lstStyle/>
          <a:p>
            <a:pPr algn="just"/>
            <a:r>
              <a:rPr lang="sv-SE" sz="1600" dirty="0">
                <a:latin typeface="Times New Roman" panose="02020603050405020304" pitchFamily="18" charset="0"/>
                <a:cs typeface="Times New Roman" panose="02020603050405020304" pitchFamily="18" charset="0"/>
                <a:sym typeface="Wingdings" panose="05000000000000000000" pitchFamily="2" charset="2"/>
              </a:rPr>
              <a:t>Leg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sz="1600" dirty="0">
                <a:latin typeface="Times New Roman" panose="02020603050405020304" pitchFamily="18" charset="0"/>
                <a:cs typeface="Times New Roman" panose="02020603050405020304" pitchFamily="18" charset="0"/>
                <a:sym typeface="Wingdings" panose="05000000000000000000" pitchFamily="2" charset="2"/>
              </a:rPr>
              <a:t> in the  </a:t>
            </a:r>
            <a:r>
              <a:rPr lang="sv-SE" sz="1600" dirty="0" err="1" smtClean="0">
                <a:latin typeface="Times New Roman" panose="02020603050405020304" pitchFamily="18" charset="0"/>
                <a:cs typeface="Times New Roman" panose="02020603050405020304" pitchFamily="18" charset="0"/>
                <a:sym typeface="Wingdings" panose="05000000000000000000" pitchFamily="2" charset="2"/>
              </a:rPr>
              <a:t>frequency</a:t>
            </a:r>
            <a:r>
              <a:rPr lang="sv-SE" sz="1600"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domain</a:t>
            </a:r>
            <a:r>
              <a:rPr lang="sv-SE" sz="1600" dirty="0">
                <a:latin typeface="Times New Roman" panose="02020603050405020304" pitchFamily="18" charset="0"/>
                <a:cs typeface="Times New Roman" panose="02020603050405020304" pitchFamily="18" charset="0"/>
                <a:sym typeface="Wingdings" panose="05000000000000000000" pitchFamily="2" charset="2"/>
              </a:rPr>
              <a:t> is the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convolution</a:t>
            </a:r>
            <a:r>
              <a:rPr lang="sv-SE" sz="1600" dirty="0">
                <a:latin typeface="Times New Roman" panose="02020603050405020304" pitchFamily="18" charset="0"/>
                <a:cs typeface="Times New Roman" panose="02020603050405020304" pitchFamily="18" charset="0"/>
                <a:sym typeface="Wingdings" panose="05000000000000000000" pitchFamily="2" charset="2"/>
              </a:rPr>
              <a:t>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of</a:t>
            </a:r>
            <a:r>
              <a:rPr lang="sv-SE" sz="1600" dirty="0">
                <a:latin typeface="Times New Roman" panose="02020603050405020304" pitchFamily="18" charset="0"/>
                <a:cs typeface="Times New Roman" panose="02020603050405020304" pitchFamily="18" charset="0"/>
                <a:sym typeface="Wingdings" panose="05000000000000000000" pitchFamily="2" charset="2"/>
              </a:rPr>
              <a:t> the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phase</a:t>
            </a:r>
            <a:r>
              <a:rPr lang="sv-SE" sz="1600" dirty="0">
                <a:latin typeface="Times New Roman" panose="02020603050405020304" pitchFamily="18" charset="0"/>
                <a:cs typeface="Times New Roman" panose="02020603050405020304" pitchFamily="18" charset="0"/>
                <a:sym typeface="Wingdings" panose="05000000000000000000" pitchFamily="2" charset="2"/>
              </a:rPr>
              <a:t>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sz="1600" dirty="0">
                <a:latin typeface="Times New Roman" panose="02020603050405020304" pitchFamily="18" charset="0"/>
                <a:cs typeface="Times New Roman" panose="02020603050405020304" pitchFamily="18" charset="0"/>
                <a:sym typeface="Wingdings" panose="05000000000000000000" pitchFamily="2" charset="2"/>
              </a:rPr>
              <a:t> and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switching</a:t>
            </a:r>
            <a:r>
              <a:rPr lang="sv-SE" sz="1600" dirty="0">
                <a:latin typeface="Times New Roman" panose="02020603050405020304" pitchFamily="18" charset="0"/>
                <a:cs typeface="Times New Roman" panose="02020603050405020304" pitchFamily="18" charset="0"/>
                <a:sym typeface="Wingdings" panose="05000000000000000000" pitchFamily="2" charset="2"/>
              </a:rPr>
              <a:t> </a:t>
            </a:r>
            <a:r>
              <a:rPr lang="sv-SE" sz="1600" dirty="0" err="1" smtClean="0">
                <a:latin typeface="Times New Roman" panose="02020603050405020304" pitchFamily="18" charset="0"/>
                <a:cs typeface="Times New Roman" panose="02020603050405020304" pitchFamily="18" charset="0"/>
                <a:sym typeface="Wingdings" panose="05000000000000000000" pitchFamily="2" charset="2"/>
              </a:rPr>
              <a:t>function</a:t>
            </a:r>
            <a:r>
              <a:rPr lang="sv-SE" sz="1600" dirty="0">
                <a:latin typeface="Times New Roman" panose="02020603050405020304" pitchFamily="18" charset="0"/>
                <a:cs typeface="Times New Roman" panose="02020603050405020304" pitchFamily="18" charset="0"/>
                <a:sym typeface="Wingdings" panose="05000000000000000000" pitchFamily="2" charset="2"/>
              </a:rPr>
              <a:t>.</a:t>
            </a:r>
            <a:endParaRPr lang="sv-SE"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extBox 5"/>
              <p:cNvSpPr txBox="1"/>
              <p:nvPr/>
            </p:nvSpPr>
            <p:spPr>
              <a:xfrm>
                <a:off x="8335766" y="2167837"/>
                <a:ext cx="25162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𝑖𝑛𝑣</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𝐴</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𝐴</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𝐵</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𝐵</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𝐶</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𝑐</m:t>
                          </m:r>
                        </m:sub>
                      </m:sSub>
                    </m:oMath>
                  </m:oMathPara>
                </a14:m>
                <a:endParaRPr lang="sv-SE" dirty="0">
                  <a:latin typeface="Times New Roman" panose="02020603050405020304" pitchFamily="18" charset="0"/>
                  <a:cs typeface="Times New Roman" panose="020206030504050203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8335766" y="2167837"/>
                <a:ext cx="2516266" cy="276999"/>
              </a:xfrm>
              <a:prstGeom prst="rect">
                <a:avLst/>
              </a:prstGeom>
              <a:blipFill>
                <a:blip r:embed="rId6"/>
                <a:stretch>
                  <a:fillRect l="-1695" b="-2000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5270320" y="1574462"/>
                <a:ext cx="22363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𝐴</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𝑜</m:t>
                          </m:r>
                        </m:sub>
                      </m:sSub>
                      <m:r>
                        <m:rPr>
                          <m:sty m:val="p"/>
                        </m:rPr>
                        <a:rPr lang="en-US" b="0" i="0" smtClean="0">
                          <a:latin typeface="Cambria Math" panose="02040503050406030204" pitchFamily="18" charset="0"/>
                        </a:rPr>
                        <m:t>cos</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𝑜</m:t>
                          </m:r>
                        </m:sub>
                      </m:s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oMath>
                  </m:oMathPara>
                </a14:m>
                <a:endParaRPr lang="sv-SE" dirty="0">
                  <a:latin typeface="Times New Roman" panose="02020603050405020304" pitchFamily="18" charset="0"/>
                  <a:cs typeface="Times New Roman" panose="02020603050405020304" pitchFamily="18" charset="0"/>
                </a:endParaRPr>
              </a:p>
            </p:txBody>
          </p:sp>
        </mc:Choice>
        <mc:Fallback xmlns="">
          <p:sp>
            <p:nvSpPr>
              <p:cNvPr id="16" name="Rectangle 15"/>
              <p:cNvSpPr>
                <a:spLocks noRot="1" noChangeAspect="1" noMove="1" noResize="1" noEditPoints="1" noAdjustHandles="1" noChangeArrowheads="1" noChangeShapeType="1" noTextEdit="1"/>
              </p:cNvSpPr>
              <p:nvPr/>
            </p:nvSpPr>
            <p:spPr>
              <a:xfrm>
                <a:off x="5270320" y="1574462"/>
                <a:ext cx="2236381" cy="369332"/>
              </a:xfrm>
              <a:prstGeom prst="rect">
                <a:avLst/>
              </a:prstGeom>
              <a:blipFill>
                <a:blip r:embed="rId7"/>
                <a:stretch>
                  <a:fillRect b="-1475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5270320" y="1893111"/>
                <a:ext cx="2797432"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𝐵</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𝑜</m:t>
                          </m:r>
                        </m:sub>
                      </m:sSub>
                      <m:r>
                        <m:rPr>
                          <m:sty m:val="p"/>
                        </m:rPr>
                        <a:rPr lang="en-US">
                          <a:latin typeface="Cambria Math" panose="02040503050406030204" pitchFamily="18" charset="0"/>
                        </a:rPr>
                        <m:t>cos</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𝑜</m:t>
                          </m:r>
                        </m:sub>
                      </m:sSub>
                      <m:r>
                        <a:rPr lang="en-US" i="1">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𝜋</m:t>
                          </m:r>
                        </m:num>
                        <m:den>
                          <m:r>
                            <a:rPr lang="en-US" b="0" i="1" smtClean="0">
                              <a:latin typeface="Cambria Math" panose="02040503050406030204" pitchFamily="18" charset="0"/>
                            </a:rPr>
                            <m:t>3</m:t>
                          </m:r>
                        </m:den>
                      </m:f>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oMath>
                  </m:oMathPara>
                </a14:m>
                <a:endParaRPr lang="sv-SE" dirty="0">
                  <a:latin typeface="Times New Roman" panose="02020603050405020304" pitchFamily="18" charset="0"/>
                  <a:cs typeface="Times New Roman" panose="02020603050405020304" pitchFamily="18" charset="0"/>
                </a:endParaRPr>
              </a:p>
            </p:txBody>
          </p:sp>
        </mc:Choice>
        <mc:Fallback xmlns="">
          <p:sp>
            <p:nvSpPr>
              <p:cNvPr id="17" name="Rectangle 16"/>
              <p:cNvSpPr>
                <a:spLocks noRot="1" noChangeAspect="1" noMove="1" noResize="1" noEditPoints="1" noAdjustHandles="1" noChangeArrowheads="1" noChangeShapeType="1" noTextEdit="1"/>
              </p:cNvSpPr>
              <p:nvPr/>
            </p:nvSpPr>
            <p:spPr>
              <a:xfrm>
                <a:off x="5270320" y="1893111"/>
                <a:ext cx="2797432" cy="610936"/>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251725" y="2427209"/>
                <a:ext cx="2834622"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𝐶</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𝑜</m:t>
                          </m:r>
                        </m:sub>
                      </m:sSub>
                      <m:r>
                        <m:rPr>
                          <m:sty m:val="p"/>
                        </m:rPr>
                        <a:rPr lang="en-US">
                          <a:latin typeface="Cambria Math" panose="02040503050406030204" pitchFamily="18" charset="0"/>
                        </a:rPr>
                        <m:t>cos</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𝑜</m:t>
                          </m:r>
                        </m:sub>
                      </m:sSub>
                      <m:r>
                        <a:rPr lang="en-US" i="1">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𝜋</m:t>
                          </m:r>
                        </m:num>
                        <m:den>
                          <m:r>
                            <a:rPr lang="en-US" b="0" i="1" smtClean="0">
                              <a:latin typeface="Cambria Math" panose="02040503050406030204" pitchFamily="18" charset="0"/>
                            </a:rPr>
                            <m:t>3</m:t>
                          </m:r>
                        </m:den>
                      </m:f>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oMath>
                  </m:oMathPara>
                </a14:m>
                <a:endParaRPr lang="sv-SE" dirty="0">
                  <a:latin typeface="Times New Roman" panose="02020603050405020304" pitchFamily="18" charset="0"/>
                  <a:cs typeface="Times New Roman" panose="02020603050405020304" pitchFamily="18" charset="0"/>
                </a:endParaRPr>
              </a:p>
            </p:txBody>
          </p:sp>
        </mc:Choice>
        <mc:Fallback xmlns="">
          <p:sp>
            <p:nvSpPr>
              <p:cNvPr id="18" name="Rectangle 17"/>
              <p:cNvSpPr>
                <a:spLocks noRot="1" noChangeAspect="1" noMove="1" noResize="1" noEditPoints="1" noAdjustHandles="1" noChangeArrowheads="1" noChangeShapeType="1" noTextEdit="1"/>
              </p:cNvSpPr>
              <p:nvPr/>
            </p:nvSpPr>
            <p:spPr>
              <a:xfrm>
                <a:off x="5251725" y="2427209"/>
                <a:ext cx="2834622" cy="612732"/>
              </a:xfrm>
              <a:prstGeom prst="rect">
                <a:avLst/>
              </a:prstGeom>
              <a:blipFill>
                <a:blip r:embed="rId9"/>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19050526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err="1" smtClean="0">
                <a:latin typeface="Times New Roman" panose="02020603050405020304" pitchFamily="18" charset="0"/>
                <a:cs typeface="Times New Roman" panose="02020603050405020304" pitchFamily="18" charset="0"/>
              </a:rPr>
              <a:t>Busbar</a:t>
            </a:r>
            <a:r>
              <a:rPr lang="en-US" dirty="0" smtClean="0">
                <a:latin typeface="Times New Roman" panose="02020603050405020304" pitchFamily="18" charset="0"/>
                <a:cs typeface="Times New Roman" panose="02020603050405020304" pitchFamily="18" charset="0"/>
              </a:rPr>
              <a:t> Geometry 62mm Power Module</a:t>
            </a:r>
            <a:endParaRPr lang="sv-SE" dirty="0">
              <a:latin typeface="Times New Roman" panose="02020603050405020304" pitchFamily="18" charset="0"/>
              <a:cs typeface="Times New Roman" panose="02020603050405020304" pitchFamily="18" charset="0"/>
            </a:endParaRPr>
          </a:p>
        </p:txBody>
      </p:sp>
      <p:grpSp>
        <p:nvGrpSpPr>
          <p:cNvPr id="4" name="Group 3"/>
          <p:cNvGrpSpPr/>
          <p:nvPr/>
        </p:nvGrpSpPr>
        <p:grpSpPr>
          <a:xfrm>
            <a:off x="1309393" y="5082420"/>
            <a:ext cx="1766315" cy="1305466"/>
            <a:chOff x="4736795" y="2809450"/>
            <a:chExt cx="2526554" cy="1832770"/>
          </a:xfrm>
        </p:grpSpPr>
        <p:sp>
          <p:nvSpPr>
            <p:cNvPr id="17" name="Rectangle 16"/>
            <p:cNvSpPr/>
            <p:nvPr/>
          </p:nvSpPr>
          <p:spPr>
            <a:xfrm>
              <a:off x="4736796" y="2881167"/>
              <a:ext cx="304470" cy="295835"/>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latin typeface="Times New Roman" panose="02020603050405020304" pitchFamily="18" charset="0"/>
                <a:cs typeface="Times New Roman" panose="02020603050405020304" pitchFamily="18" charset="0"/>
              </a:endParaRPr>
            </a:p>
          </p:txBody>
        </p:sp>
        <p:sp>
          <p:nvSpPr>
            <p:cNvPr id="18" name="Rectangle 17"/>
            <p:cNvSpPr/>
            <p:nvPr/>
          </p:nvSpPr>
          <p:spPr>
            <a:xfrm>
              <a:off x="4736796" y="3371238"/>
              <a:ext cx="292286" cy="26296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214583" y="2809450"/>
              <a:ext cx="1679388" cy="432094"/>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Capacitor</a:t>
              </a:r>
              <a:endParaRPr lang="sv-SE" sz="1400"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5204455" y="3309694"/>
              <a:ext cx="2058894" cy="432094"/>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Power Modules</a:t>
              </a:r>
              <a:endParaRPr lang="sv-SE" sz="1400" dirty="0">
                <a:latin typeface="Times New Roman" panose="02020603050405020304" pitchFamily="18" charset="0"/>
                <a:cs typeface="Times New Roman" panose="02020603050405020304" pitchFamily="18" charset="0"/>
              </a:endParaRPr>
            </a:p>
          </p:txBody>
        </p:sp>
        <p:sp>
          <p:nvSpPr>
            <p:cNvPr id="8" name="Oval 7"/>
            <p:cNvSpPr/>
            <p:nvPr/>
          </p:nvSpPr>
          <p:spPr>
            <a:xfrm>
              <a:off x="4736796" y="3897168"/>
              <a:ext cx="214823" cy="191247"/>
            </a:xfrm>
            <a:prstGeom prst="ellipse">
              <a:avLst/>
            </a:prstGeom>
            <a:solidFill>
              <a:srgbClr val="0029ED"/>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5183538" y="3808125"/>
              <a:ext cx="2058894" cy="432094"/>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DC- Nodes</a:t>
              </a:r>
              <a:endParaRPr lang="sv-SE" sz="1400" dirty="0">
                <a:latin typeface="Times New Roman" panose="02020603050405020304" pitchFamily="18" charset="0"/>
                <a:cs typeface="Times New Roman" panose="02020603050405020304" pitchFamily="18" charset="0"/>
              </a:endParaRPr>
            </a:p>
          </p:txBody>
        </p:sp>
        <p:sp>
          <p:nvSpPr>
            <p:cNvPr id="21" name="Oval 20"/>
            <p:cNvSpPr/>
            <p:nvPr/>
          </p:nvSpPr>
          <p:spPr>
            <a:xfrm>
              <a:off x="4736795" y="4279363"/>
              <a:ext cx="214823" cy="191247"/>
            </a:xfrm>
            <a:prstGeom prst="ellipse">
              <a:avLst/>
            </a:prstGeom>
            <a:solidFill>
              <a:srgbClr val="FF0000"/>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5183536" y="4210126"/>
              <a:ext cx="2058894" cy="432094"/>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DC+ Nodes</a:t>
              </a:r>
              <a:endParaRPr lang="sv-SE" sz="1400" dirty="0">
                <a:latin typeface="Times New Roman" panose="02020603050405020304" pitchFamily="18" charset="0"/>
                <a:cs typeface="Times New Roman" panose="02020603050405020304" pitchFamily="18" charset="0"/>
              </a:endParaRPr>
            </a:p>
          </p:txBody>
        </p:sp>
      </p:grpSp>
      <p:grpSp>
        <p:nvGrpSpPr>
          <p:cNvPr id="3" name="Group 2"/>
          <p:cNvGrpSpPr/>
          <p:nvPr/>
        </p:nvGrpSpPr>
        <p:grpSpPr>
          <a:xfrm>
            <a:off x="294878" y="1195753"/>
            <a:ext cx="3580131" cy="3628323"/>
            <a:chOff x="620993" y="1296894"/>
            <a:chExt cx="4022495" cy="4678176"/>
          </a:xfrm>
        </p:grpSpPr>
        <p:pic>
          <p:nvPicPr>
            <p:cNvPr id="5" name="Picture 4"/>
            <p:cNvPicPr>
              <a:picLocks noChangeAspect="1"/>
            </p:cNvPicPr>
            <p:nvPr/>
          </p:nvPicPr>
          <p:blipFill>
            <a:blip r:embed="rId2"/>
            <a:stretch>
              <a:fillRect/>
            </a:stretch>
          </p:blipFill>
          <p:spPr>
            <a:xfrm>
              <a:off x="620993" y="1296894"/>
              <a:ext cx="4022495" cy="4678176"/>
            </a:xfrm>
            <a:prstGeom prst="rect">
              <a:avLst/>
            </a:prstGeom>
          </p:spPr>
        </p:pic>
        <p:sp>
          <p:nvSpPr>
            <p:cNvPr id="6" name="Rectangle 5"/>
            <p:cNvSpPr/>
            <p:nvPr/>
          </p:nvSpPr>
          <p:spPr>
            <a:xfrm>
              <a:off x="1326776" y="175110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9" name="Rectangle 8"/>
            <p:cNvSpPr/>
            <p:nvPr/>
          </p:nvSpPr>
          <p:spPr>
            <a:xfrm>
              <a:off x="2823882" y="1795929"/>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11" name="Rectangle 10"/>
            <p:cNvSpPr/>
            <p:nvPr/>
          </p:nvSpPr>
          <p:spPr>
            <a:xfrm>
              <a:off x="1326776" y="317878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13" name="Rectangle 12"/>
            <p:cNvSpPr/>
            <p:nvPr/>
          </p:nvSpPr>
          <p:spPr>
            <a:xfrm>
              <a:off x="2823882" y="317878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14" name="Rectangle 13"/>
            <p:cNvSpPr/>
            <p:nvPr/>
          </p:nvSpPr>
          <p:spPr>
            <a:xfrm>
              <a:off x="3236819"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15" name="Rectangle 14"/>
            <p:cNvSpPr/>
            <p:nvPr/>
          </p:nvSpPr>
          <p:spPr>
            <a:xfrm>
              <a:off x="2188767"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16" name="Rectangle 15"/>
            <p:cNvSpPr/>
            <p:nvPr/>
          </p:nvSpPr>
          <p:spPr>
            <a:xfrm>
              <a:off x="1140715"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3139471" y="3474737"/>
              <a:ext cx="483622" cy="357148"/>
            </a:xfrm>
            <a:prstGeom prst="rect">
              <a:avLst/>
            </a:prstGeom>
            <a:noFill/>
          </p:spPr>
          <p:txBody>
            <a:bodyPr wrap="square" rtlCol="0">
              <a:spAutoFit/>
            </a:bodyPr>
            <a:lstStyle/>
            <a:p>
              <a:r>
                <a:rPr lang="sv-SE" sz="1200" dirty="0" smtClean="0">
                  <a:latin typeface="Times New Roman" panose="02020603050405020304" pitchFamily="18" charset="0"/>
                  <a:cs typeface="Times New Roman" panose="02020603050405020304" pitchFamily="18" charset="0"/>
                </a:rPr>
                <a:t>C1</a:t>
              </a:r>
              <a:endParaRPr lang="sv-SE" sz="1200" dirty="0">
                <a:latin typeface="Times New Roman" panose="02020603050405020304" pitchFamily="18" charset="0"/>
                <a:cs typeface="Times New Roman" panose="02020603050405020304" pitchFamily="18" charset="0"/>
              </a:endParaRPr>
            </a:p>
          </p:txBody>
        </p:sp>
        <p:sp>
          <p:nvSpPr>
            <p:cNvPr id="24" name="TextBox 23"/>
            <p:cNvSpPr txBox="1"/>
            <p:nvPr/>
          </p:nvSpPr>
          <p:spPr>
            <a:xfrm>
              <a:off x="1647273" y="3474737"/>
              <a:ext cx="483622" cy="357148"/>
            </a:xfrm>
            <a:prstGeom prst="rect">
              <a:avLst/>
            </a:prstGeom>
            <a:noFill/>
          </p:spPr>
          <p:txBody>
            <a:bodyPr wrap="square" rtlCol="0">
              <a:spAutoFit/>
            </a:bodyPr>
            <a:lstStyle/>
            <a:p>
              <a:r>
                <a:rPr lang="sv-SE" sz="1200" dirty="0" smtClean="0">
                  <a:latin typeface="Times New Roman" panose="02020603050405020304" pitchFamily="18" charset="0"/>
                  <a:cs typeface="Times New Roman" panose="02020603050405020304" pitchFamily="18" charset="0"/>
                </a:rPr>
                <a:t>C2</a:t>
              </a:r>
              <a:endParaRPr lang="sv-SE" sz="12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1631813" y="1996363"/>
              <a:ext cx="483622" cy="357148"/>
            </a:xfrm>
            <a:prstGeom prst="rect">
              <a:avLst/>
            </a:prstGeom>
            <a:noFill/>
          </p:spPr>
          <p:txBody>
            <a:bodyPr wrap="square" rtlCol="0">
              <a:spAutoFit/>
            </a:bodyPr>
            <a:lstStyle/>
            <a:p>
              <a:r>
                <a:rPr lang="sv-SE" sz="1200" dirty="0" smtClean="0">
                  <a:latin typeface="Times New Roman" panose="02020603050405020304" pitchFamily="18" charset="0"/>
                  <a:cs typeface="Times New Roman" panose="02020603050405020304" pitchFamily="18" charset="0"/>
                </a:rPr>
                <a:t>C3</a:t>
              </a:r>
              <a:endParaRPr lang="sv-SE" sz="1200"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3115132" y="1996363"/>
              <a:ext cx="507962" cy="357148"/>
            </a:xfrm>
            <a:prstGeom prst="rect">
              <a:avLst/>
            </a:prstGeom>
            <a:noFill/>
          </p:spPr>
          <p:txBody>
            <a:bodyPr wrap="square" rtlCol="0">
              <a:spAutoFit/>
            </a:bodyPr>
            <a:lstStyle/>
            <a:p>
              <a:r>
                <a:rPr lang="sv-SE" sz="1200" dirty="0" smtClean="0">
                  <a:latin typeface="Times New Roman" panose="02020603050405020304" pitchFamily="18" charset="0"/>
                  <a:cs typeface="Times New Roman" panose="02020603050405020304" pitchFamily="18" charset="0"/>
                </a:rPr>
                <a:t>C4</a:t>
              </a:r>
              <a:endParaRPr lang="sv-SE" sz="1200" dirty="0">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graphicFrame>
            <p:nvGraphicFramePr>
              <p:cNvPr id="27" name="Table 26"/>
              <p:cNvGraphicFramePr>
                <a:graphicFrameLocks noGrp="1"/>
              </p:cNvGraphicFramePr>
              <p:nvPr>
                <p:extLst>
                  <p:ext uri="{D42A27DB-BD31-4B8C-83A1-F6EECF244321}">
                    <p14:modId xmlns:p14="http://schemas.microsoft.com/office/powerpoint/2010/main" val="2923514034"/>
                  </p:ext>
                </p:extLst>
              </p:nvPr>
            </p:nvGraphicFramePr>
            <p:xfrm>
              <a:off x="4635943" y="1181114"/>
              <a:ext cx="6880380" cy="1828800"/>
            </p:xfrm>
            <a:graphic>
              <a:graphicData uri="http://schemas.openxmlformats.org/drawingml/2006/table">
                <a:tbl>
                  <a:tblPr firstRow="1" bandRow="1">
                    <a:tableStyleId>{5C22544A-7EE6-4342-B048-85BDC9FD1C3A}</a:tableStyleId>
                  </a:tblPr>
                  <a:tblGrid>
                    <a:gridCol w="1720095">
                      <a:extLst>
                        <a:ext uri="{9D8B030D-6E8A-4147-A177-3AD203B41FA5}">
                          <a16:colId xmlns:a16="http://schemas.microsoft.com/office/drawing/2014/main" val="278631582"/>
                        </a:ext>
                      </a:extLst>
                    </a:gridCol>
                    <a:gridCol w="1720095">
                      <a:extLst>
                        <a:ext uri="{9D8B030D-6E8A-4147-A177-3AD203B41FA5}">
                          <a16:colId xmlns:a16="http://schemas.microsoft.com/office/drawing/2014/main" val="844494951"/>
                        </a:ext>
                      </a:extLst>
                    </a:gridCol>
                    <a:gridCol w="1720095">
                      <a:extLst>
                        <a:ext uri="{9D8B030D-6E8A-4147-A177-3AD203B41FA5}">
                          <a16:colId xmlns:a16="http://schemas.microsoft.com/office/drawing/2014/main" val="3775262176"/>
                        </a:ext>
                      </a:extLst>
                    </a:gridCol>
                    <a:gridCol w="1720095">
                      <a:extLst>
                        <a:ext uri="{9D8B030D-6E8A-4147-A177-3AD203B41FA5}">
                          <a16:colId xmlns:a16="http://schemas.microsoft.com/office/drawing/2014/main" val="3461459550"/>
                        </a:ext>
                      </a:extLst>
                    </a:gridCol>
                  </a:tblGrid>
                  <a:tr h="272369">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276152">
                    <a:tc>
                      <a:txBody>
                        <a:bodyPr/>
                        <a:lstStyle/>
                        <a:p>
                          <a:r>
                            <a:rPr lang="en-US" dirty="0" smtClean="0"/>
                            <a:t>Capacitor-1</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3304193326"/>
                      </a:ext>
                    </a:extLst>
                  </a:tr>
                  <a:tr h="276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904248960"/>
                      </a:ext>
                    </a:extLst>
                  </a:tr>
                  <a:tr h="276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2005996215"/>
                      </a:ext>
                    </a:extLst>
                  </a:tr>
                  <a:tr h="276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tr-TR"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1700131790"/>
                      </a:ext>
                    </a:extLst>
                  </a:tr>
                </a:tbl>
              </a:graphicData>
            </a:graphic>
          </p:graphicFrame>
        </mc:Choice>
        <mc:Fallback xmlns="">
          <p:graphicFrame>
            <p:nvGraphicFramePr>
              <p:cNvPr id="27" name="Table 26"/>
              <p:cNvGraphicFramePr>
                <a:graphicFrameLocks noGrp="1"/>
              </p:cNvGraphicFramePr>
              <p:nvPr>
                <p:extLst>
                  <p:ext uri="{D42A27DB-BD31-4B8C-83A1-F6EECF244321}">
                    <p14:modId xmlns:p14="http://schemas.microsoft.com/office/powerpoint/2010/main" val="2923514034"/>
                  </p:ext>
                </p:extLst>
              </p:nvPr>
            </p:nvGraphicFramePr>
            <p:xfrm>
              <a:off x="4635943" y="1181114"/>
              <a:ext cx="6880380" cy="1828800"/>
            </p:xfrm>
            <a:graphic>
              <a:graphicData uri="http://schemas.openxmlformats.org/drawingml/2006/table">
                <a:tbl>
                  <a:tblPr firstRow="1" bandRow="1">
                    <a:tableStyleId>{5C22544A-7EE6-4342-B048-85BDC9FD1C3A}</a:tableStyleId>
                  </a:tblPr>
                  <a:tblGrid>
                    <a:gridCol w="1720095">
                      <a:extLst>
                        <a:ext uri="{9D8B030D-6E8A-4147-A177-3AD203B41FA5}">
                          <a16:colId xmlns:a16="http://schemas.microsoft.com/office/drawing/2014/main" val="278631582"/>
                        </a:ext>
                      </a:extLst>
                    </a:gridCol>
                    <a:gridCol w="1720095">
                      <a:extLst>
                        <a:ext uri="{9D8B030D-6E8A-4147-A177-3AD203B41FA5}">
                          <a16:colId xmlns:a16="http://schemas.microsoft.com/office/drawing/2014/main" val="844494951"/>
                        </a:ext>
                      </a:extLst>
                    </a:gridCol>
                    <a:gridCol w="1720095">
                      <a:extLst>
                        <a:ext uri="{9D8B030D-6E8A-4147-A177-3AD203B41FA5}">
                          <a16:colId xmlns:a16="http://schemas.microsoft.com/office/drawing/2014/main" val="3775262176"/>
                        </a:ext>
                      </a:extLst>
                    </a:gridCol>
                    <a:gridCol w="1720095">
                      <a:extLst>
                        <a:ext uri="{9D8B030D-6E8A-4147-A177-3AD203B41FA5}">
                          <a16:colId xmlns:a16="http://schemas.microsoft.com/office/drawing/2014/main" val="3461459550"/>
                        </a:ext>
                      </a:extLst>
                    </a:gridCol>
                  </a:tblGrid>
                  <a:tr h="36576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65760">
                    <a:tc>
                      <a:txBody>
                        <a:bodyPr/>
                        <a:lstStyle/>
                        <a:p>
                          <a:r>
                            <a:rPr lang="en-US" dirty="0" smtClean="0"/>
                            <a:t>Capacitor-1</a:t>
                          </a:r>
                          <a:endParaRPr lang="sv-SE" dirty="0"/>
                        </a:p>
                      </a:txBody>
                      <a:tcPr/>
                    </a:tc>
                    <a:tc>
                      <a:txBody>
                        <a:bodyPr/>
                        <a:lstStyle/>
                        <a:p>
                          <a:endParaRPr lang="sv-SE"/>
                        </a:p>
                      </a:txBody>
                      <a:tcPr>
                        <a:blipFill>
                          <a:blip r:embed="rId3"/>
                          <a:stretch>
                            <a:fillRect l="-100709" t="-108333" r="-201773" b="-328333"/>
                          </a:stretch>
                        </a:blipFill>
                      </a:tcPr>
                    </a:tc>
                    <a:tc>
                      <a:txBody>
                        <a:bodyPr/>
                        <a:lstStyle/>
                        <a:p>
                          <a:endParaRPr lang="sv-SE"/>
                        </a:p>
                      </a:txBody>
                      <a:tcPr>
                        <a:blipFill>
                          <a:blip r:embed="rId3"/>
                          <a:stretch>
                            <a:fillRect l="-200000" t="-108333" r="-101060" b="-328333"/>
                          </a:stretch>
                        </a:blipFill>
                      </a:tcPr>
                    </a:tc>
                    <a:tc>
                      <a:txBody>
                        <a:bodyPr/>
                        <a:lstStyle/>
                        <a:p>
                          <a:endParaRPr lang="sv-SE"/>
                        </a:p>
                      </a:txBody>
                      <a:tcPr>
                        <a:blipFill>
                          <a:blip r:embed="rId3"/>
                          <a:stretch>
                            <a:fillRect l="-301064" t="-108333" r="-1418" b="-328333"/>
                          </a:stretch>
                        </a:blipFill>
                      </a:tcPr>
                    </a:tc>
                    <a:extLst>
                      <a:ext uri="{0D108BD9-81ED-4DB2-BD59-A6C34878D82A}">
                        <a16:rowId xmlns:a16="http://schemas.microsoft.com/office/drawing/2014/main" val="3304193326"/>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endParaRPr lang="sv-SE"/>
                        </a:p>
                      </a:txBody>
                      <a:tcPr>
                        <a:blipFill>
                          <a:blip r:embed="rId3"/>
                          <a:stretch>
                            <a:fillRect l="-100709" t="-204918" r="-201773" b="-222951"/>
                          </a:stretch>
                        </a:blipFill>
                      </a:tcPr>
                    </a:tc>
                    <a:tc>
                      <a:txBody>
                        <a:bodyPr/>
                        <a:lstStyle/>
                        <a:p>
                          <a:endParaRPr lang="sv-SE"/>
                        </a:p>
                      </a:txBody>
                      <a:tcPr>
                        <a:blipFill>
                          <a:blip r:embed="rId3"/>
                          <a:stretch>
                            <a:fillRect l="-200000" t="-204918" r="-101060" b="-222951"/>
                          </a:stretch>
                        </a:blipFill>
                      </a:tcPr>
                    </a:tc>
                    <a:tc>
                      <a:txBody>
                        <a:bodyPr/>
                        <a:lstStyle/>
                        <a:p>
                          <a:endParaRPr lang="sv-SE"/>
                        </a:p>
                      </a:txBody>
                      <a:tcPr>
                        <a:blipFill>
                          <a:blip r:embed="rId3"/>
                          <a:stretch>
                            <a:fillRect l="-301064" t="-204918" r="-1418" b="-222951"/>
                          </a:stretch>
                        </a:blipFill>
                      </a:tcPr>
                    </a:tc>
                    <a:extLst>
                      <a:ext uri="{0D108BD9-81ED-4DB2-BD59-A6C34878D82A}">
                        <a16:rowId xmlns:a16="http://schemas.microsoft.com/office/drawing/2014/main" val="904248960"/>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endParaRPr lang="sv-SE"/>
                        </a:p>
                      </a:txBody>
                      <a:tcPr>
                        <a:blipFill>
                          <a:blip r:embed="rId3"/>
                          <a:stretch>
                            <a:fillRect l="-100709" t="-310000" r="-201773" b="-126667"/>
                          </a:stretch>
                        </a:blipFill>
                      </a:tcPr>
                    </a:tc>
                    <a:tc>
                      <a:txBody>
                        <a:bodyPr/>
                        <a:lstStyle/>
                        <a:p>
                          <a:endParaRPr lang="sv-SE"/>
                        </a:p>
                      </a:txBody>
                      <a:tcPr>
                        <a:blipFill>
                          <a:blip r:embed="rId3"/>
                          <a:stretch>
                            <a:fillRect l="-200000" t="-310000" r="-101060" b="-126667"/>
                          </a:stretch>
                        </a:blipFill>
                      </a:tcPr>
                    </a:tc>
                    <a:tc>
                      <a:txBody>
                        <a:bodyPr/>
                        <a:lstStyle/>
                        <a:p>
                          <a:endParaRPr lang="sv-SE"/>
                        </a:p>
                      </a:txBody>
                      <a:tcPr>
                        <a:blipFill>
                          <a:blip r:embed="rId3"/>
                          <a:stretch>
                            <a:fillRect l="-301064" t="-310000" r="-1418" b="-126667"/>
                          </a:stretch>
                        </a:blipFill>
                      </a:tcPr>
                    </a:tc>
                    <a:extLst>
                      <a:ext uri="{0D108BD9-81ED-4DB2-BD59-A6C34878D82A}">
                        <a16:rowId xmlns:a16="http://schemas.microsoft.com/office/drawing/2014/main" val="2005996215"/>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endParaRPr lang="sv-SE"/>
                        </a:p>
                      </a:txBody>
                      <a:tcPr>
                        <a:blipFill>
                          <a:blip r:embed="rId3"/>
                          <a:stretch>
                            <a:fillRect l="-100709" t="-410000" r="-201773" b="-26667"/>
                          </a:stretch>
                        </a:blipFill>
                      </a:tcPr>
                    </a:tc>
                    <a:tc>
                      <a:txBody>
                        <a:bodyPr/>
                        <a:lstStyle/>
                        <a:p>
                          <a:endParaRPr lang="sv-SE"/>
                        </a:p>
                      </a:txBody>
                      <a:tcPr>
                        <a:blipFill>
                          <a:blip r:embed="rId3"/>
                          <a:stretch>
                            <a:fillRect l="-200000" t="-410000" r="-101060" b="-26667"/>
                          </a:stretch>
                        </a:blipFill>
                      </a:tcPr>
                    </a:tc>
                    <a:tc>
                      <a:txBody>
                        <a:bodyPr/>
                        <a:lstStyle/>
                        <a:p>
                          <a:endParaRPr lang="sv-SE"/>
                        </a:p>
                      </a:txBody>
                      <a:tcPr>
                        <a:blipFill>
                          <a:blip r:embed="rId3"/>
                          <a:stretch>
                            <a:fillRect l="-301064" t="-410000" r="-1418" b="-26667"/>
                          </a:stretch>
                        </a:blipFill>
                      </a:tcPr>
                    </a:tc>
                    <a:extLst>
                      <a:ext uri="{0D108BD9-81ED-4DB2-BD59-A6C34878D82A}">
                        <a16:rowId xmlns:a16="http://schemas.microsoft.com/office/drawing/2014/main" val="1700131790"/>
                      </a:ext>
                    </a:extLst>
                  </a:tr>
                </a:tbl>
              </a:graphicData>
            </a:graphic>
          </p:graphicFrame>
        </mc:Fallback>
      </mc:AlternateContent>
      <p:sp>
        <p:nvSpPr>
          <p:cNvPr id="29" name="TextBox 28"/>
          <p:cNvSpPr txBox="1"/>
          <p:nvPr/>
        </p:nvSpPr>
        <p:spPr>
          <a:xfrm>
            <a:off x="6441998" y="768207"/>
            <a:ext cx="4733365"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Step response of capacitors to each leg</a:t>
            </a:r>
            <a:endParaRPr lang="sv-SE" dirty="0">
              <a:latin typeface="Times New Roman" panose="02020603050405020304" pitchFamily="18" charset="0"/>
              <a:cs typeface="Times New Roman" panose="02020603050405020304" pitchFamily="18" charset="0"/>
            </a:endParaRPr>
          </a:p>
        </p:txBody>
      </p:sp>
      <p:sp>
        <p:nvSpPr>
          <p:cNvPr id="30" name="Rectangle 29">
            <a:extLst>
              <a:ext uri="{FF2B5EF4-FFF2-40B4-BE49-F238E27FC236}">
                <a16:creationId xmlns:a16="http://schemas.microsoft.com/office/drawing/2014/main" id="{5FD27746-BC71-497E-87F6-231B78DB66C2}"/>
              </a:ext>
            </a:extLst>
          </p:cNvPr>
          <p:cNvSpPr/>
          <p:nvPr/>
        </p:nvSpPr>
        <p:spPr>
          <a:xfrm>
            <a:off x="4970347" y="3422821"/>
            <a:ext cx="6286336" cy="646331"/>
          </a:xfrm>
          <a:prstGeom prst="rect">
            <a:avLst/>
          </a:prstGeom>
        </p:spPr>
        <p:txBody>
          <a:bodyPr wrap="none">
            <a:spAutoFit/>
          </a:bodyPr>
          <a:lstStyle/>
          <a:p>
            <a:r>
              <a:rPr lang="tr-TR" dirty="0" err="1">
                <a:latin typeface="Times New Roman" panose="02020603050405020304" pitchFamily="18" charset="0"/>
                <a:cs typeface="Times New Roman" panose="02020603050405020304" pitchFamily="18" charset="0"/>
              </a:rPr>
              <a:t>The</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response</a:t>
            </a:r>
            <a:r>
              <a:rPr lang="tr-TR" dirty="0">
                <a:latin typeface="Times New Roman" panose="02020603050405020304" pitchFamily="18" charset="0"/>
                <a:cs typeface="Times New Roman" panose="02020603050405020304" pitchFamily="18" charset="0"/>
              </a:rPr>
              <a:t> of </a:t>
            </a:r>
            <a:r>
              <a:rPr lang="tr-TR" dirty="0" err="1">
                <a:latin typeface="Times New Roman" panose="02020603050405020304" pitchFamily="18" charset="0"/>
                <a:cs typeface="Times New Roman" panose="02020603050405020304" pitchFamily="18" charset="0"/>
              </a:rPr>
              <a:t>capacitor</a:t>
            </a:r>
            <a:r>
              <a:rPr lang="tr-TR" dirty="0">
                <a:latin typeface="Times New Roman" panose="02020603050405020304" pitchFamily="18" charset="0"/>
                <a:cs typeface="Times New Roman" panose="02020603050405020304" pitchFamily="18" charset="0"/>
              </a:rPr>
              <a:t> A </a:t>
            </a:r>
            <a:r>
              <a:rPr lang="tr-TR" dirty="0" err="1">
                <a:latin typeface="Times New Roman" panose="02020603050405020304" pitchFamily="18" charset="0"/>
                <a:cs typeface="Times New Roman" panose="02020603050405020304" pitchFamily="18" charset="0"/>
              </a:rPr>
              <a:t>for</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each</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leg</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should</a:t>
            </a:r>
            <a:r>
              <a:rPr lang="tr-TR" dirty="0">
                <a:latin typeface="Times New Roman" panose="02020603050405020304" pitchFamily="18" charset="0"/>
                <a:cs typeface="Times New Roman" panose="02020603050405020304" pitchFamily="18" charset="0"/>
              </a:rPr>
              <a:t> be </a:t>
            </a:r>
            <a:r>
              <a:rPr lang="tr-TR" dirty="0" err="1">
                <a:latin typeface="Times New Roman" panose="02020603050405020304" pitchFamily="18" charset="0"/>
                <a:cs typeface="Times New Roman" panose="02020603050405020304" pitchFamily="18" charset="0"/>
              </a:rPr>
              <a:t>calculated</a:t>
            </a:r>
            <a:r>
              <a:rPr lang="tr-TR" dirty="0">
                <a:latin typeface="Times New Roman" panose="02020603050405020304" pitchFamily="18" charset="0"/>
                <a:cs typeface="Times New Roman" panose="02020603050405020304" pitchFamily="18" charset="0"/>
              </a:rPr>
              <a:t> as: </a:t>
            </a:r>
          </a:p>
          <a:p>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EA414EB2-1DD8-401E-96DE-5071FE225EAE}"/>
                  </a:ext>
                </a:extLst>
              </p:cNvPr>
              <p:cNvSpPr/>
              <p:nvPr/>
            </p:nvSpPr>
            <p:spPr>
              <a:xfrm>
                <a:off x="4933285" y="3911520"/>
                <a:ext cx="6323398" cy="390748"/>
              </a:xfrm>
              <a:prstGeom prst="rect">
                <a:avLst/>
              </a:prstGeom>
            </p:spPr>
            <p:txBody>
              <a:bodyPr wrap="none">
                <a:spAutoFit/>
              </a:bodyPr>
              <a:lstStyle/>
              <a:p>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𝑐𝑎𝑝𝐴</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𝐴</m:t>
                            </m:r>
                          </m:sub>
                        </m:sSub>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𝐴</m:t>
                            </m:r>
                          </m:sub>
                        </m:sSub>
                        <m:r>
                          <a:rPr lang="en-US" b="0" i="1" smtClean="0">
                            <a:latin typeface="Cambria Math" panose="02040503050406030204" pitchFamily="18" charset="0"/>
                          </a:rPr>
                          <m:t> )</m:t>
                        </m:r>
                        <m:r>
                          <a:rPr lang="tr-TR" b="0" i="1" smtClean="0">
                            <a:latin typeface="Cambria Math" panose="02040503050406030204" pitchFamily="18" charset="0"/>
                          </a:rPr>
                          <m:t>𝐻</m:t>
                        </m:r>
                      </m:e>
                      <m:sub>
                        <m:r>
                          <a:rPr lang="en-US" b="0" i="1" smtClean="0">
                            <a:latin typeface="Cambria Math" panose="02040503050406030204" pitchFamily="18" charset="0"/>
                          </a:rPr>
                          <m:t>1</m:t>
                        </m:r>
                        <m:r>
                          <a:rPr lang="tr-TR" b="0" i="1" smtClean="0">
                            <a:latin typeface="Cambria Math" panose="02040503050406030204" pitchFamily="18" charset="0"/>
                          </a:rPr>
                          <m:t>𝐴</m:t>
                        </m:r>
                      </m:sub>
                    </m:sSub>
                    <m:d>
                      <m:dPr>
                        <m:ctrlPr>
                          <a:rPr lang="tr-TR" b="0" i="1" smtClean="0">
                            <a:latin typeface="Cambria Math" panose="02040503050406030204" pitchFamily="18" charset="0"/>
                          </a:rPr>
                        </m:ctrlPr>
                      </m:dPr>
                      <m:e>
                        <m:r>
                          <a:rPr lang="tr-TR" b="0" i="1" smtClean="0">
                            <a:latin typeface="Cambria Math" panose="02040503050406030204" pitchFamily="18" charset="0"/>
                          </a:rPr>
                          <m:t>𝜔</m:t>
                        </m:r>
                      </m:e>
                    </m:d>
                    <m:r>
                      <a:rPr lang="tr-TR" b="0" i="0" smtClean="0">
                        <a:latin typeface="Cambria Math" panose="02040503050406030204" pitchFamily="18" charset="0"/>
                      </a:rPr>
                      <m:t>+</m:t>
                    </m:r>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𝐵</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𝐵</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𝐵</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r>
                  <a:rPr lang="en-US"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𝐶</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𝐶</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𝐶</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endParaRPr lang="en-US" dirty="0">
                  <a:latin typeface="Times New Roman" panose="02020603050405020304" pitchFamily="18" charset="0"/>
                  <a:cs typeface="Times New Roman" panose="02020603050405020304" pitchFamily="18" charset="0"/>
                </a:endParaRPr>
              </a:p>
            </p:txBody>
          </p:sp>
        </mc:Choice>
        <mc:Fallback xmlns="">
          <p:sp>
            <p:nvSpPr>
              <p:cNvPr id="31" name="Rectangle 30">
                <a:extLst>
                  <a:ext uri="{FF2B5EF4-FFF2-40B4-BE49-F238E27FC236}">
                    <a16:creationId xmlns:a16="http://schemas.microsoft.com/office/drawing/2014/main" id="{EA414EB2-1DD8-401E-96DE-5071FE225EAE}"/>
                  </a:ext>
                </a:extLst>
              </p:cNvPr>
              <p:cNvSpPr>
                <a:spLocks noRot="1" noChangeAspect="1" noMove="1" noResize="1" noEditPoints="1" noAdjustHandles="1" noChangeArrowheads="1" noChangeShapeType="1" noTextEdit="1"/>
              </p:cNvSpPr>
              <p:nvPr/>
            </p:nvSpPr>
            <p:spPr>
              <a:xfrm>
                <a:off x="4933285" y="3911520"/>
                <a:ext cx="6323398" cy="390748"/>
              </a:xfrm>
              <a:prstGeom prst="rect">
                <a:avLst/>
              </a:prstGeom>
              <a:blipFill>
                <a:blip r:embed="rId4"/>
                <a:stretch>
                  <a:fillRect t="-9375" b="-18750"/>
                </a:stretch>
              </a:blipFill>
            </p:spPr>
            <p:txBody>
              <a:bodyPr/>
              <a:lstStyle/>
              <a:p>
                <a:r>
                  <a:rPr lang="sv-SE">
                    <a:noFill/>
                  </a:rPr>
                  <a:t> </a:t>
                </a:r>
              </a:p>
            </p:txBody>
          </p:sp>
        </mc:Fallback>
      </mc:AlternateContent>
      <p:pic>
        <p:nvPicPr>
          <p:cNvPr id="32" name="Picture 31"/>
          <p:cNvPicPr>
            <a:picLocks noChangeAspect="1"/>
          </p:cNvPicPr>
          <p:nvPr/>
        </p:nvPicPr>
        <p:blipFill>
          <a:blip r:embed="rId5"/>
          <a:stretch>
            <a:fillRect/>
          </a:stretch>
        </p:blipFill>
        <p:spPr>
          <a:xfrm>
            <a:off x="6441998" y="4571455"/>
            <a:ext cx="3343034" cy="2042343"/>
          </a:xfrm>
          <a:prstGeom prst="rect">
            <a:avLst/>
          </a:prstGeom>
        </p:spPr>
      </p:pic>
    </p:spTree>
    <p:extLst>
      <p:ext uri="{BB962C8B-B14F-4D97-AF65-F5344CB8AC3E}">
        <p14:creationId xmlns:p14="http://schemas.microsoft.com/office/powerpoint/2010/main" val="19757863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257175" y="832247"/>
            <a:ext cx="4264025" cy="3198019"/>
          </a:xfrm>
          <a:prstGeom prst="rect">
            <a:avLst/>
          </a:prstGeom>
        </p:spPr>
      </p:pic>
      <p:pic>
        <p:nvPicPr>
          <p:cNvPr id="10" name="Picture 9"/>
          <p:cNvPicPr>
            <a:picLocks noChangeAspect="1"/>
          </p:cNvPicPr>
          <p:nvPr/>
        </p:nvPicPr>
        <p:blipFill>
          <a:blip r:embed="rId3"/>
          <a:stretch>
            <a:fillRect/>
          </a:stretch>
        </p:blipFill>
        <p:spPr>
          <a:xfrm>
            <a:off x="8070850" y="990600"/>
            <a:ext cx="3896783" cy="2922587"/>
          </a:xfrm>
          <a:prstGeom prst="rect">
            <a:avLst/>
          </a:prstGeom>
        </p:spPr>
      </p:pic>
      <p:pic>
        <p:nvPicPr>
          <p:cNvPr id="11" name="Picture 10"/>
          <p:cNvPicPr>
            <a:picLocks noChangeAspect="1"/>
          </p:cNvPicPr>
          <p:nvPr/>
        </p:nvPicPr>
        <p:blipFill>
          <a:blip r:embed="rId4"/>
          <a:stretch>
            <a:fillRect/>
          </a:stretch>
        </p:blipFill>
        <p:spPr>
          <a:xfrm>
            <a:off x="4305606" y="3527047"/>
            <a:ext cx="3937000" cy="2952750"/>
          </a:xfrm>
          <a:prstGeom prst="rect">
            <a:avLst/>
          </a:prstGeom>
        </p:spPr>
      </p:pic>
      <p:sp>
        <p:nvSpPr>
          <p:cNvPr id="13"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DC Link Current (Positive/Negative/Zero Sequences)</a:t>
            </a:r>
            <a:endParaRPr lang="sv-SE" dirty="0">
              <a:latin typeface="Times New Roman" panose="02020603050405020304" pitchFamily="18" charset="0"/>
              <a:cs typeface="Times New Roman" panose="02020603050405020304" pitchFamily="18" charset="0"/>
            </a:endParaRPr>
          </a:p>
        </p:txBody>
      </p:sp>
      <p:sp>
        <p:nvSpPr>
          <p:cNvPr id="2" name="TextBox 1"/>
          <p:cNvSpPr txBox="1"/>
          <p:nvPr/>
        </p:nvSpPr>
        <p:spPr>
          <a:xfrm>
            <a:off x="5931273" y="6479797"/>
            <a:ext cx="2862730"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6</a:t>
            </a:r>
            <a:r>
              <a:rPr lang="en-US" baseline="30000" dirty="0" smtClean="0">
                <a:latin typeface="Times New Roman" panose="02020603050405020304" pitchFamily="18" charset="0"/>
                <a:cs typeface="Times New Roman" panose="02020603050405020304" pitchFamily="18" charset="0"/>
              </a:rPr>
              <a:t>th</a:t>
            </a:r>
            <a:r>
              <a:rPr lang="en-US" dirty="0" smtClean="0">
                <a:latin typeface="Times New Roman" panose="02020603050405020304" pitchFamily="18" charset="0"/>
                <a:cs typeface="Times New Roman" panose="02020603050405020304" pitchFamily="18" charset="0"/>
              </a:rPr>
              <a:t> 12</a:t>
            </a:r>
            <a:r>
              <a:rPr lang="en-US" baseline="30000" dirty="0" smtClean="0">
                <a:latin typeface="Times New Roman" panose="02020603050405020304" pitchFamily="18" charset="0"/>
                <a:cs typeface="Times New Roman" panose="02020603050405020304" pitchFamily="18" charset="0"/>
              </a:rPr>
              <a:t>th</a:t>
            </a:r>
            <a:r>
              <a:rPr lang="en-US" dirty="0" smtClean="0">
                <a:latin typeface="Times New Roman" panose="02020603050405020304" pitchFamily="18" charset="0"/>
                <a:cs typeface="Times New Roman" panose="02020603050405020304" pitchFamily="18" charset="0"/>
                <a:sym typeface="Wingdings" panose="05000000000000000000" pitchFamily="2" charset="2"/>
              </a:rPr>
              <a:t>  </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14261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240783" y="2194689"/>
            <a:ext cx="5334000" cy="4000500"/>
          </a:xfrm>
          <a:prstGeom prst="rect">
            <a:avLst/>
          </a:prstGeom>
        </p:spPr>
      </p:pic>
      <p:sp>
        <p:nvSpPr>
          <p:cNvPr id="7" name="TextBox 6"/>
          <p:cNvSpPr txBox="1"/>
          <p:nvPr/>
        </p:nvSpPr>
        <p:spPr>
          <a:xfrm>
            <a:off x="709206" y="2194689"/>
            <a:ext cx="2277374" cy="307777"/>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Low</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346884" y="1900665"/>
            <a:ext cx="2277374" cy="523220"/>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High</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endParaRPr lang="sv-SE" sz="1400" dirty="0" smtClean="0">
              <a:latin typeface="Times New Roman" panose="02020603050405020304" pitchFamily="18" charset="0"/>
              <a:cs typeface="Times New Roman" panose="02020603050405020304" pitchFamily="18" charset="0"/>
            </a:endParaRPr>
          </a:p>
          <a:p>
            <a:pPr algn="ct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cxnSp>
        <p:nvCxnSpPr>
          <p:cNvPr id="4" name="Straight Arrow Connector 3"/>
          <p:cNvCxnSpPr/>
          <p:nvPr/>
        </p:nvCxnSpPr>
        <p:spPr>
          <a:xfrm>
            <a:off x="1888048" y="2517724"/>
            <a:ext cx="887281" cy="5020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6" idx="2"/>
          </p:cNvCxnSpPr>
          <p:nvPr/>
        </p:nvCxnSpPr>
        <p:spPr>
          <a:xfrm>
            <a:off x="4416617" y="3574144"/>
            <a:ext cx="68954" cy="1208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1072216" y="252950"/>
            <a:ext cx="10990263" cy="568412"/>
          </a:xfrm>
        </p:spPr>
        <p:txBody>
          <a:bodyPr/>
          <a:lstStyle/>
          <a:p>
            <a:pPr algn="ctr"/>
            <a:r>
              <a:rPr lang="en-US" dirty="0" smtClean="0">
                <a:latin typeface="Times New Roman" panose="02020603050405020304" pitchFamily="18" charset="0"/>
                <a:cs typeface="Times New Roman" panose="02020603050405020304" pitchFamily="18" charset="0"/>
              </a:rPr>
              <a:t>The Effect of the </a:t>
            </a:r>
            <a:r>
              <a:rPr lang="en-US" dirty="0" err="1" smtClean="0">
                <a:latin typeface="Times New Roman" panose="02020603050405020304" pitchFamily="18" charset="0"/>
                <a:cs typeface="Times New Roman" panose="02020603050405020304" pitchFamily="18" charset="0"/>
              </a:rPr>
              <a:t>Busbar</a:t>
            </a:r>
            <a:r>
              <a:rPr lang="en-US" dirty="0" smtClean="0">
                <a:latin typeface="Times New Roman" panose="02020603050405020304" pitchFamily="18" charset="0"/>
                <a:cs typeface="Times New Roman" panose="02020603050405020304" pitchFamily="18" charset="0"/>
              </a:rPr>
              <a:t> Inductance and Battery </a:t>
            </a:r>
            <a:r>
              <a:rPr lang="en-US" dirty="0" smtClean="0">
                <a:latin typeface="Times New Roman" panose="02020603050405020304" pitchFamily="18" charset="0"/>
                <a:cs typeface="Times New Roman" panose="02020603050405020304" pitchFamily="18" charset="0"/>
              </a:rPr>
              <a:t>Connection</a:t>
            </a:r>
            <a:endParaRPr lang="sv-SE"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254346" y="1365474"/>
            <a:ext cx="4695621"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Capacitor-1 Response to All-phases</a:t>
            </a:r>
            <a:endParaRPr lang="sv-SE" dirty="0">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3"/>
          <a:stretch>
            <a:fillRect/>
          </a:stretch>
        </p:blipFill>
        <p:spPr>
          <a:xfrm>
            <a:off x="3702164" y="2502466"/>
            <a:ext cx="1428905" cy="1071678"/>
          </a:xfrm>
          <a:prstGeom prst="rect">
            <a:avLst/>
          </a:prstGeom>
        </p:spPr>
      </p:pic>
      <p:pic>
        <p:nvPicPr>
          <p:cNvPr id="12" name="Picture 11"/>
          <p:cNvPicPr>
            <a:picLocks noChangeAspect="1"/>
          </p:cNvPicPr>
          <p:nvPr/>
        </p:nvPicPr>
        <p:blipFill>
          <a:blip r:embed="rId4"/>
          <a:stretch>
            <a:fillRect/>
          </a:stretch>
        </p:blipFill>
        <p:spPr>
          <a:xfrm>
            <a:off x="6369164" y="2194689"/>
            <a:ext cx="5334000" cy="4000500"/>
          </a:xfrm>
          <a:prstGeom prst="rect">
            <a:avLst/>
          </a:prstGeom>
        </p:spPr>
      </p:pic>
      <p:pic>
        <p:nvPicPr>
          <p:cNvPr id="14" name="Picture 13"/>
          <p:cNvPicPr>
            <a:picLocks noChangeAspect="1"/>
          </p:cNvPicPr>
          <p:nvPr/>
        </p:nvPicPr>
        <p:blipFill>
          <a:blip r:embed="rId5"/>
          <a:stretch>
            <a:fillRect/>
          </a:stretch>
        </p:blipFill>
        <p:spPr>
          <a:xfrm>
            <a:off x="9848292" y="2502146"/>
            <a:ext cx="1406406" cy="1054805"/>
          </a:xfrm>
          <a:prstGeom prst="rect">
            <a:avLst/>
          </a:prstGeom>
        </p:spPr>
      </p:pic>
      <p:sp>
        <p:nvSpPr>
          <p:cNvPr id="17" name="TextBox 16"/>
          <p:cNvSpPr txBox="1"/>
          <p:nvPr/>
        </p:nvSpPr>
        <p:spPr>
          <a:xfrm>
            <a:off x="6970041" y="2654198"/>
            <a:ext cx="2277374" cy="307777"/>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Low</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9460549" y="1933079"/>
            <a:ext cx="2277374" cy="523220"/>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High</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endParaRPr lang="sv-SE" sz="1400" dirty="0" smtClean="0">
              <a:latin typeface="Times New Roman" panose="02020603050405020304" pitchFamily="18" charset="0"/>
              <a:cs typeface="Times New Roman" panose="02020603050405020304" pitchFamily="18" charset="0"/>
            </a:endParaRPr>
          </a:p>
          <a:p>
            <a:pPr algn="ct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cxnSp>
        <p:nvCxnSpPr>
          <p:cNvPr id="19" name="Straight Arrow Connector 18"/>
          <p:cNvCxnSpPr/>
          <p:nvPr/>
        </p:nvCxnSpPr>
        <p:spPr>
          <a:xfrm>
            <a:off x="8148883" y="2977233"/>
            <a:ext cx="887281" cy="5020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10589302" y="3556951"/>
            <a:ext cx="9934" cy="4951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382418" y="1410937"/>
            <a:ext cx="3583232"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Capacitor Responses to Phase-A</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21011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7450" y="933790"/>
            <a:ext cx="3092450"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14 kHz  </a:t>
            </a:r>
            <a:r>
              <a:rPr lang="en-US" dirty="0">
                <a:latin typeface="Times New Roman" panose="02020603050405020304" pitchFamily="18" charset="0"/>
                <a:cs typeface="Times New Roman" panose="02020603050405020304" pitchFamily="18" charset="0"/>
              </a:rPr>
              <a:t>Switching</a:t>
            </a:r>
            <a:endParaRPr lang="sv-SE" dirty="0">
              <a:latin typeface="Times New Roman" panose="02020603050405020304" pitchFamily="18" charset="0"/>
              <a:cs typeface="Times New Roman" panose="02020603050405020304" pitchFamily="18" charset="0"/>
            </a:endParaRPr>
          </a:p>
          <a:p>
            <a:endParaRPr lang="sv-SE" dirty="0">
              <a:latin typeface="Times New Roman" panose="02020603050405020304" pitchFamily="18" charset="0"/>
              <a:cs typeface="Times New Roman" panose="02020603050405020304" pitchFamily="18" charset="0"/>
            </a:endParaRPr>
          </a:p>
        </p:txBody>
      </p:sp>
      <p:sp>
        <p:nvSpPr>
          <p:cNvPr id="6" name="TextBox 5"/>
          <p:cNvSpPr txBox="1"/>
          <p:nvPr/>
        </p:nvSpPr>
        <p:spPr>
          <a:xfrm>
            <a:off x="8418512" y="903222"/>
            <a:ext cx="287178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24kHz Switching</a:t>
            </a:r>
            <a:endParaRPr lang="sv-SE"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6629400" y="1087888"/>
            <a:ext cx="5334000" cy="4000500"/>
          </a:xfrm>
          <a:prstGeom prst="rect">
            <a:avLst/>
          </a:prstGeom>
        </p:spPr>
      </p:pic>
      <p:pic>
        <p:nvPicPr>
          <p:cNvPr id="8" name="Picture 7"/>
          <p:cNvPicPr>
            <a:picLocks noChangeAspect="1"/>
          </p:cNvPicPr>
          <p:nvPr/>
        </p:nvPicPr>
        <p:blipFill>
          <a:blip r:embed="rId3"/>
          <a:stretch>
            <a:fillRect/>
          </a:stretch>
        </p:blipFill>
        <p:spPr>
          <a:xfrm>
            <a:off x="876300" y="1256956"/>
            <a:ext cx="4883150" cy="3662363"/>
          </a:xfrm>
          <a:prstGeom prst="rect">
            <a:avLst/>
          </a:prstGeom>
        </p:spPr>
      </p:pic>
      <p:sp>
        <p:nvSpPr>
          <p:cNvPr id="10"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High Frequency Resonance</a:t>
            </a:r>
            <a:endParaRPr lang="sv-SE" dirty="0">
              <a:latin typeface="Times New Roman" panose="02020603050405020304" pitchFamily="18" charset="0"/>
              <a:cs typeface="Times New Roman" panose="02020603050405020304" pitchFamily="18" charset="0"/>
            </a:endParaRPr>
          </a:p>
        </p:txBody>
      </p:sp>
      <p:sp>
        <p:nvSpPr>
          <p:cNvPr id="3" name="Rectangle 2"/>
          <p:cNvSpPr/>
          <p:nvPr/>
        </p:nvSpPr>
        <p:spPr>
          <a:xfrm>
            <a:off x="2677833" y="4674721"/>
            <a:ext cx="1667435" cy="3107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585149" y="4674721"/>
            <a:ext cx="2336334"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Harmonic number</a:t>
            </a:r>
            <a:endParaRPr lang="sv-SE" sz="1400" dirty="0">
              <a:latin typeface="Times New Roman" panose="02020603050405020304" pitchFamily="18" charset="0"/>
              <a:cs typeface="Times New Roman" panose="02020603050405020304" pitchFamily="18" charset="0"/>
            </a:endParaRPr>
          </a:p>
        </p:txBody>
      </p:sp>
      <p:sp>
        <p:nvSpPr>
          <p:cNvPr id="9" name="Rectangle 8"/>
          <p:cNvSpPr/>
          <p:nvPr/>
        </p:nvSpPr>
        <p:spPr>
          <a:xfrm>
            <a:off x="8615457" y="4828609"/>
            <a:ext cx="1667435" cy="3107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8522773" y="4828609"/>
            <a:ext cx="2336334"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Harmonic number</a:t>
            </a:r>
            <a:endParaRPr lang="sv-SE" sz="1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90500" y="5402589"/>
            <a:ext cx="11772900" cy="923330"/>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P.S: The high-frequency resonance might be considerable if we have a  dual-3-phase-inverter (6-phase) structure and we desire to interleave them to reduce capacitance requirements. (We should look at phase-response (not magnitude response) at such a scenario)</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9411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9862" y="1319852"/>
            <a:ext cx="5719763" cy="5296847"/>
          </a:xfrm>
          <a:prstGeom prst="rect">
            <a:avLst/>
          </a:prstGeom>
        </p:spPr>
      </p:pic>
      <p:pic>
        <p:nvPicPr>
          <p:cNvPr id="5" name="Picture 4"/>
          <p:cNvPicPr>
            <a:picLocks noChangeAspect="1"/>
          </p:cNvPicPr>
          <p:nvPr/>
        </p:nvPicPr>
        <p:blipFill>
          <a:blip r:embed="rId3"/>
          <a:stretch>
            <a:fillRect/>
          </a:stretch>
        </p:blipFill>
        <p:spPr>
          <a:xfrm>
            <a:off x="5481705" y="1528439"/>
            <a:ext cx="6944751" cy="5042957"/>
          </a:xfrm>
          <a:prstGeom prst="rect">
            <a:avLst/>
          </a:prstGeom>
        </p:spPr>
      </p:pic>
      <p:sp>
        <p:nvSpPr>
          <p:cNvPr id="2" name="TextBox 1"/>
          <p:cNvSpPr txBox="1"/>
          <p:nvPr/>
        </p:nvSpPr>
        <p:spPr>
          <a:xfrm>
            <a:off x="1871009" y="1135186"/>
            <a:ext cx="3092450"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700 Hz Fundamental</a:t>
            </a:r>
            <a:endParaRPr lang="sv-SE" dirty="0">
              <a:latin typeface="Times New Roman" panose="02020603050405020304" pitchFamily="18" charset="0"/>
              <a:cs typeface="Times New Roman" panose="02020603050405020304" pitchFamily="18" charset="0"/>
            </a:endParaRPr>
          </a:p>
        </p:txBody>
      </p:sp>
      <p:sp>
        <p:nvSpPr>
          <p:cNvPr id="6" name="TextBox 5"/>
          <p:cNvSpPr txBox="1"/>
          <p:nvPr/>
        </p:nvSpPr>
        <p:spPr>
          <a:xfrm>
            <a:off x="8202612" y="1159107"/>
            <a:ext cx="287178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200 Hz Fundamental</a:t>
            </a:r>
            <a:endParaRPr lang="sv-SE" dirty="0">
              <a:latin typeface="Times New Roman" panose="02020603050405020304" pitchFamily="18" charset="0"/>
              <a:cs typeface="Times New Roman" panose="02020603050405020304" pitchFamily="18" charset="0"/>
            </a:endParaRPr>
          </a:p>
        </p:txBody>
      </p:sp>
      <p:sp>
        <p:nvSpPr>
          <p:cNvPr id="7"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Low Frequency Resonance</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5630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Parasitic Inductances (Switching Speed Limitation)</a:t>
            </a:r>
            <a:endParaRPr lang="sv-SE" dirty="0">
              <a:latin typeface="Times New Roman" panose="02020603050405020304" pitchFamily="18" charset="0"/>
              <a:cs typeface="Times New Roman" panose="02020603050405020304" pitchFamily="18" charset="0"/>
            </a:endParaRPr>
          </a:p>
        </p:txBody>
      </p:sp>
      <p:graphicFrame>
        <p:nvGraphicFramePr>
          <p:cNvPr id="31" name="Table 30"/>
          <p:cNvGraphicFramePr>
            <a:graphicFrameLocks noGrp="1"/>
          </p:cNvGraphicFramePr>
          <p:nvPr>
            <p:extLst>
              <p:ext uri="{D42A27DB-BD31-4B8C-83A1-F6EECF244321}">
                <p14:modId xmlns:p14="http://schemas.microsoft.com/office/powerpoint/2010/main" val="2500124839"/>
              </p:ext>
            </p:extLst>
          </p:nvPr>
        </p:nvGraphicFramePr>
        <p:xfrm>
          <a:off x="362617" y="1121506"/>
          <a:ext cx="4540241" cy="1474087"/>
        </p:xfrm>
        <a:graphic>
          <a:graphicData uri="http://schemas.openxmlformats.org/drawingml/2006/table">
            <a:tbl>
              <a:tblPr/>
              <a:tblGrid>
                <a:gridCol w="2326637">
                  <a:extLst>
                    <a:ext uri="{9D8B030D-6E8A-4147-A177-3AD203B41FA5}">
                      <a16:colId xmlns:a16="http://schemas.microsoft.com/office/drawing/2014/main" val="2465863165"/>
                    </a:ext>
                  </a:extLst>
                </a:gridCol>
                <a:gridCol w="2213604">
                  <a:extLst>
                    <a:ext uri="{9D8B030D-6E8A-4147-A177-3AD203B41FA5}">
                      <a16:colId xmlns:a16="http://schemas.microsoft.com/office/drawing/2014/main" val="471941430"/>
                    </a:ext>
                  </a:extLst>
                </a:gridCol>
              </a:tblGrid>
              <a:tr h="376807">
                <a:tc>
                  <a:txBody>
                    <a:bodyPr/>
                    <a:lstStyle/>
                    <a:p>
                      <a:r>
                        <a:rPr lang="en-US" b="1" dirty="0" smtClean="0"/>
                        <a:t>Parasitic</a:t>
                      </a:r>
                      <a:r>
                        <a:rPr lang="en-US" b="1" baseline="0" dirty="0" smtClean="0"/>
                        <a:t> Sources</a:t>
                      </a:r>
                      <a:endParaRPr lang="sv-SE" b="1"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smtClean="0"/>
                        <a:t>Inductance </a:t>
                      </a:r>
                      <a:endParaRPr lang="sv-SE" b="1"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615574"/>
                  </a:ext>
                </a:extLst>
              </a:tr>
              <a:tr h="278258">
                <a:tc>
                  <a:txBody>
                    <a:bodyPr/>
                    <a:lstStyle/>
                    <a:p>
                      <a:r>
                        <a:rPr lang="en-US" dirty="0" smtClean="0"/>
                        <a:t>Power module</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50</a:t>
                      </a:r>
                      <a:r>
                        <a:rPr lang="en-US" baseline="0" dirty="0" smtClean="0"/>
                        <a:t> </a:t>
                      </a:r>
                      <a:r>
                        <a:rPr lang="en-US" baseline="0" dirty="0" err="1" smtClean="0"/>
                        <a:t>nH</a:t>
                      </a:r>
                      <a:endParaRPr lang="sv-SE" dirty="0"/>
                    </a:p>
                  </a:txBody>
                  <a:tcPr>
                    <a:lnL w="12700" cmpd="sng">
                      <a:solidFill>
                        <a:schemeClr val="tx1"/>
                      </a:solid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7665588"/>
                  </a:ext>
                </a:extLst>
              </a:tr>
              <a:tr h="278258">
                <a:tc>
                  <a:txBody>
                    <a:bodyPr/>
                    <a:lstStyle/>
                    <a:p>
                      <a:r>
                        <a:rPr lang="en-US" dirty="0" smtClean="0"/>
                        <a:t>Capacitor ESL</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US" dirty="0" smtClean="0"/>
                        <a:t>50nH</a:t>
                      </a:r>
                      <a:endParaRPr lang="sv-SE"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0047769"/>
                  </a:ext>
                </a:extLst>
              </a:tr>
              <a:tr h="278258">
                <a:tc>
                  <a:txBody>
                    <a:bodyPr/>
                    <a:lstStyle/>
                    <a:p>
                      <a:r>
                        <a:rPr lang="en-US" dirty="0" err="1" smtClean="0"/>
                        <a:t>Busbar</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noFill/>
                      <a:prstDash val="solid"/>
                      <a:round/>
                      <a:headEnd type="none" w="med" len="med"/>
                      <a:tailEnd type="none" w="med" len="med"/>
                    </a:lnB>
                  </a:tcPr>
                </a:tc>
                <a:tc>
                  <a:txBody>
                    <a:bodyPr/>
                    <a:lstStyle/>
                    <a:p>
                      <a:r>
                        <a:rPr lang="en-US" dirty="0" smtClean="0"/>
                        <a:t>Overall &lt;20nH</a:t>
                      </a:r>
                      <a:endParaRPr lang="sv-SE"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solidFill>
                        <a:schemeClr val="tx1"/>
                      </a:solidFill>
                      <a:prstDash val="solid"/>
                    </a:lnT>
                    <a:lnB w="12700" cap="flat" cmpd="sng" algn="ctr">
                      <a:noFill/>
                      <a:prstDash val="solid"/>
                      <a:round/>
                      <a:headEnd type="none" w="med" len="med"/>
                      <a:tailEnd type="none" w="med" len="med"/>
                    </a:lnB>
                  </a:tcPr>
                </a:tc>
                <a:extLst>
                  <a:ext uri="{0D108BD9-81ED-4DB2-BD59-A6C34878D82A}">
                    <a16:rowId xmlns:a16="http://schemas.microsoft.com/office/drawing/2014/main" val="2544227180"/>
                  </a:ext>
                </a:extLst>
              </a:tr>
            </a:tbl>
          </a:graphicData>
        </a:graphic>
      </p:graphicFrame>
      <p:pic>
        <p:nvPicPr>
          <p:cNvPr id="32" name="Picture 31"/>
          <p:cNvPicPr>
            <a:picLocks noChangeAspect="1"/>
          </p:cNvPicPr>
          <p:nvPr/>
        </p:nvPicPr>
        <p:blipFill rotWithShape="1">
          <a:blip r:embed="rId2"/>
          <a:srcRect t="7832"/>
          <a:stretch/>
        </p:blipFill>
        <p:spPr>
          <a:xfrm>
            <a:off x="6435615" y="943281"/>
            <a:ext cx="3933336" cy="1808657"/>
          </a:xfrm>
          <a:prstGeom prst="rect">
            <a:avLst/>
          </a:prstGeom>
        </p:spPr>
      </p:pic>
      <p:pic>
        <p:nvPicPr>
          <p:cNvPr id="5" name="Picture 4"/>
          <p:cNvPicPr>
            <a:picLocks noChangeAspect="1"/>
          </p:cNvPicPr>
          <p:nvPr/>
        </p:nvPicPr>
        <p:blipFill>
          <a:blip r:embed="rId3"/>
          <a:stretch>
            <a:fillRect/>
          </a:stretch>
        </p:blipFill>
        <p:spPr>
          <a:xfrm>
            <a:off x="1748253" y="4261378"/>
            <a:ext cx="8508486" cy="2148947"/>
          </a:xfrm>
          <a:prstGeom prst="rect">
            <a:avLst/>
          </a:prstGeom>
        </p:spPr>
      </p:pic>
      <p:graphicFrame>
        <p:nvGraphicFramePr>
          <p:cNvPr id="15" name="Table 14"/>
          <p:cNvGraphicFramePr>
            <a:graphicFrameLocks noGrp="1"/>
          </p:cNvGraphicFramePr>
          <p:nvPr>
            <p:extLst>
              <p:ext uri="{D42A27DB-BD31-4B8C-83A1-F6EECF244321}">
                <p14:modId xmlns:p14="http://schemas.microsoft.com/office/powerpoint/2010/main" val="3030613125"/>
              </p:ext>
            </p:extLst>
          </p:nvPr>
        </p:nvGraphicFramePr>
        <p:xfrm>
          <a:off x="799318" y="3171025"/>
          <a:ext cx="10589615" cy="742567"/>
        </p:xfrm>
        <a:graphic>
          <a:graphicData uri="http://schemas.openxmlformats.org/drawingml/2006/table">
            <a:tbl>
              <a:tblPr/>
              <a:tblGrid>
                <a:gridCol w="3648025">
                  <a:extLst>
                    <a:ext uri="{9D8B030D-6E8A-4147-A177-3AD203B41FA5}">
                      <a16:colId xmlns:a16="http://schemas.microsoft.com/office/drawing/2014/main" val="2465863165"/>
                    </a:ext>
                  </a:extLst>
                </a:gridCol>
                <a:gridCol w="3470795">
                  <a:extLst>
                    <a:ext uri="{9D8B030D-6E8A-4147-A177-3AD203B41FA5}">
                      <a16:colId xmlns:a16="http://schemas.microsoft.com/office/drawing/2014/main" val="471941430"/>
                    </a:ext>
                  </a:extLst>
                </a:gridCol>
                <a:gridCol w="3470795">
                  <a:extLst>
                    <a:ext uri="{9D8B030D-6E8A-4147-A177-3AD203B41FA5}">
                      <a16:colId xmlns:a16="http://schemas.microsoft.com/office/drawing/2014/main" val="3986868260"/>
                    </a:ext>
                  </a:extLst>
                </a:gridCol>
              </a:tblGrid>
              <a:tr h="376807">
                <a:tc>
                  <a:txBody>
                    <a:bodyPr/>
                    <a:lstStyle/>
                    <a:p>
                      <a:pPr algn="ctr"/>
                      <a:r>
                        <a:rPr lang="en-US" b="1" dirty="0" smtClean="0"/>
                        <a:t>Maximum Current (</a:t>
                      </a:r>
                      <a:r>
                        <a:rPr lang="en-US" b="1" dirty="0" err="1" smtClean="0"/>
                        <a:t>MaxA</a:t>
                      </a:r>
                      <a:r>
                        <a:rPr lang="en-US" b="1" dirty="0" smtClean="0"/>
                        <a:t>)</a:t>
                      </a:r>
                      <a:r>
                        <a:rPr lang="en-US" b="1" baseline="0" dirty="0" smtClean="0"/>
                        <a:t> (</a:t>
                      </a:r>
                      <a:r>
                        <a:rPr lang="en-US" b="1" baseline="0" dirty="0" err="1" smtClean="0"/>
                        <a:t>inA</a:t>
                      </a:r>
                      <a:r>
                        <a:rPr lang="en-US" b="1" baseline="0" dirty="0" smtClean="0"/>
                        <a:t>)</a:t>
                      </a:r>
                      <a:endParaRPr lang="sv-SE" b="1"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dv/</a:t>
                      </a:r>
                      <a:r>
                        <a:rPr lang="en-US" b="1" dirty="0" err="1" smtClean="0"/>
                        <a:t>dt</a:t>
                      </a:r>
                      <a:r>
                        <a:rPr lang="en-US" b="1" dirty="0" smtClean="0"/>
                        <a:t>  (in V/</a:t>
                      </a:r>
                      <a:r>
                        <a:rPr lang="en-US" b="1" dirty="0" err="1" smtClean="0"/>
                        <a:t>nS</a:t>
                      </a:r>
                      <a:r>
                        <a:rPr lang="en-US" b="1" dirty="0" smtClean="0"/>
                        <a:t>) @</a:t>
                      </a:r>
                      <a:r>
                        <a:rPr lang="en-US" b="1" baseline="0" dirty="0" smtClean="0"/>
                        <a:t> </a:t>
                      </a:r>
                      <a:r>
                        <a:rPr lang="en-US" b="1" dirty="0" err="1" smtClean="0"/>
                        <a:t>MaxA</a:t>
                      </a:r>
                      <a:endParaRPr lang="sv-SE"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smtClean="0"/>
                        <a:t>Overshoot (in %) @</a:t>
                      </a:r>
                      <a:r>
                        <a:rPr lang="en-US" b="1" baseline="0" dirty="0" smtClean="0"/>
                        <a:t> </a:t>
                      </a:r>
                      <a:r>
                        <a:rPr lang="en-US" b="1" dirty="0" err="1" smtClean="0"/>
                        <a:t>MaxA</a:t>
                      </a:r>
                      <a:endParaRPr lang="sv-SE" b="1" dirty="0" smtClean="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615574"/>
                  </a:ext>
                </a:extLst>
              </a:tr>
              <a:tr h="278258">
                <a:tc>
                  <a:txBody>
                    <a:bodyPr/>
                    <a:lstStyle/>
                    <a:p>
                      <a:pPr algn="ctr"/>
                      <a:r>
                        <a:rPr lang="en-US" dirty="0" smtClean="0"/>
                        <a:t>380 A</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dirty="0" smtClean="0"/>
                        <a:t>35 V/ns</a:t>
                      </a:r>
                      <a:endParaRPr lang="sv-SE"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dirty="0" smtClean="0"/>
                        <a:t>40 %</a:t>
                      </a:r>
                      <a:endParaRPr lang="sv-SE" dirty="0"/>
                    </a:p>
                  </a:txBody>
                  <a:tcPr>
                    <a:lnL w="12700" cmpd="sng">
                      <a:solidFill>
                        <a:schemeClr val="tx1"/>
                      </a:solid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07665588"/>
                  </a:ext>
                </a:extLst>
              </a:tr>
            </a:tbl>
          </a:graphicData>
        </a:graphic>
      </p:graphicFrame>
    </p:spTree>
    <p:extLst>
      <p:ext uri="{BB962C8B-B14F-4D97-AF65-F5344CB8AC3E}">
        <p14:creationId xmlns:p14="http://schemas.microsoft.com/office/powerpoint/2010/main" val="30507929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199009" y="1517570"/>
            <a:ext cx="3321431" cy="2303939"/>
          </a:xfrm>
          <a:prstGeom prst="rect">
            <a:avLst/>
          </a:prstGeom>
        </p:spPr>
      </p:pic>
      <p:pic>
        <p:nvPicPr>
          <p:cNvPr id="12" name="Picture 11"/>
          <p:cNvPicPr>
            <a:picLocks noChangeAspect="1"/>
          </p:cNvPicPr>
          <p:nvPr/>
        </p:nvPicPr>
        <p:blipFill>
          <a:blip r:embed="rId3"/>
          <a:stretch>
            <a:fillRect/>
          </a:stretch>
        </p:blipFill>
        <p:spPr>
          <a:xfrm>
            <a:off x="0" y="4069080"/>
            <a:ext cx="4079495" cy="2122440"/>
          </a:xfrm>
          <a:prstGeom prst="rect">
            <a:avLst/>
          </a:prstGeom>
        </p:spPr>
      </p:pic>
      <p:sp>
        <p:nvSpPr>
          <p:cNvPr id="14" name="Title 1"/>
          <p:cNvSpPr>
            <a:spLocks noGrp="1"/>
          </p:cNvSpPr>
          <p:nvPr>
            <p:ph type="title"/>
          </p:nvPr>
        </p:nvSpPr>
        <p:spPr>
          <a:xfrm>
            <a:off x="984260" y="283591"/>
            <a:ext cx="10990263" cy="887983"/>
          </a:xfrm>
        </p:spPr>
        <p:txBody>
          <a:bodyPr/>
          <a:lstStyle/>
          <a:p>
            <a:pPr algn="ctr"/>
            <a:r>
              <a:rPr lang="en-US" sz="2400" dirty="0" smtClean="0">
                <a:latin typeface="Times New Roman" panose="02020603050405020304" pitchFamily="18" charset="0"/>
                <a:cs typeface="Times New Roman" panose="02020603050405020304" pitchFamily="18" charset="0"/>
              </a:rPr>
              <a:t>Common-Mode </a:t>
            </a:r>
            <a:r>
              <a:rPr lang="en-US" sz="2400" dirty="0">
                <a:latin typeface="Times New Roman" panose="02020603050405020304" pitchFamily="18" charset="0"/>
                <a:cs typeface="Times New Roman" panose="02020603050405020304" pitchFamily="18" charset="0"/>
              </a:rPr>
              <a:t>Voltage Reduction in Two-Level Inverters by Introducing Adaptive Carrier-Phase-Shift </a:t>
            </a:r>
            <a:r>
              <a:rPr lang="en-US" sz="2400" dirty="0" smtClean="0">
                <a:latin typeface="Times New Roman" panose="02020603050405020304" pitchFamily="18" charset="0"/>
                <a:cs typeface="Times New Roman" panose="02020603050405020304" pitchFamily="18" charset="0"/>
              </a:rPr>
              <a:t>Method </a:t>
            </a:r>
            <a:r>
              <a:rPr lang="sv-SE" sz="2400" dirty="0" smtClean="0">
                <a:latin typeface="Times New Roman" panose="02020603050405020304" pitchFamily="18" charset="0"/>
                <a:cs typeface="Times New Roman" panose="02020603050405020304" pitchFamily="18" charset="0"/>
              </a:rPr>
              <a:t>(ECCE-</a:t>
            </a:r>
            <a:r>
              <a:rPr lang="sv-SE" sz="2400" dirty="0" err="1" smtClean="0">
                <a:latin typeface="Times New Roman" panose="02020603050405020304" pitchFamily="18" charset="0"/>
                <a:cs typeface="Times New Roman" panose="02020603050405020304" pitchFamily="18" charset="0"/>
              </a:rPr>
              <a:t>Europe</a:t>
            </a:r>
            <a:r>
              <a:rPr lang="sv-SE" sz="2400" dirty="0" smtClean="0">
                <a:latin typeface="Times New Roman" panose="02020603050405020304" pitchFamily="18" charset="0"/>
                <a:cs typeface="Times New Roman" panose="02020603050405020304" pitchFamily="18" charset="0"/>
              </a:rPr>
              <a:t>)</a:t>
            </a:r>
            <a:endParaRPr lang="sv-SE" sz="2400"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4"/>
          <a:stretch>
            <a:fillRect/>
          </a:stretch>
        </p:blipFill>
        <p:spPr>
          <a:xfrm>
            <a:off x="4471774" y="1785247"/>
            <a:ext cx="3540505" cy="1350590"/>
          </a:xfrm>
          <a:prstGeom prst="rect">
            <a:avLst/>
          </a:prstGeom>
        </p:spPr>
      </p:pic>
      <p:pic>
        <p:nvPicPr>
          <p:cNvPr id="16" name="Picture 15"/>
          <p:cNvPicPr>
            <a:picLocks noChangeAspect="1"/>
          </p:cNvPicPr>
          <p:nvPr/>
        </p:nvPicPr>
        <p:blipFill>
          <a:blip r:embed="rId5"/>
          <a:stretch>
            <a:fillRect/>
          </a:stretch>
        </p:blipFill>
        <p:spPr>
          <a:xfrm>
            <a:off x="4079495" y="4069080"/>
            <a:ext cx="4835696" cy="2055171"/>
          </a:xfrm>
          <a:prstGeom prst="rect">
            <a:avLst/>
          </a:prstGeom>
        </p:spPr>
      </p:pic>
      <p:pic>
        <p:nvPicPr>
          <p:cNvPr id="17" name="Picture 16"/>
          <p:cNvPicPr>
            <a:picLocks noChangeAspect="1"/>
          </p:cNvPicPr>
          <p:nvPr/>
        </p:nvPicPr>
        <p:blipFill>
          <a:blip r:embed="rId6"/>
          <a:stretch>
            <a:fillRect/>
          </a:stretch>
        </p:blipFill>
        <p:spPr>
          <a:xfrm>
            <a:off x="8158990" y="2774310"/>
            <a:ext cx="3644390" cy="2296372"/>
          </a:xfrm>
          <a:prstGeom prst="rect">
            <a:avLst/>
          </a:prstGeom>
        </p:spPr>
      </p:pic>
    </p:spTree>
    <p:extLst>
      <p:ext uri="{BB962C8B-B14F-4D97-AF65-F5344CB8AC3E}">
        <p14:creationId xmlns:p14="http://schemas.microsoft.com/office/powerpoint/2010/main" val="40893873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984260" y="1808245"/>
            <a:ext cx="3228975" cy="4626210"/>
          </a:xfrm>
          <a:prstGeom prst="rect">
            <a:avLst/>
          </a:prstGeom>
        </p:spPr>
      </p:pic>
      <p:pic>
        <p:nvPicPr>
          <p:cNvPr id="12" name="Picture 11"/>
          <p:cNvPicPr>
            <a:picLocks noChangeAspect="1"/>
          </p:cNvPicPr>
          <p:nvPr/>
        </p:nvPicPr>
        <p:blipFill>
          <a:blip r:embed="rId3"/>
          <a:stretch>
            <a:fillRect/>
          </a:stretch>
        </p:blipFill>
        <p:spPr>
          <a:xfrm>
            <a:off x="4612014" y="3850119"/>
            <a:ext cx="3972877" cy="2746895"/>
          </a:xfrm>
          <a:prstGeom prst="rect">
            <a:avLst/>
          </a:prstGeom>
        </p:spPr>
      </p:pic>
      <p:pic>
        <p:nvPicPr>
          <p:cNvPr id="13" name="Picture 12"/>
          <p:cNvPicPr>
            <a:picLocks noChangeAspect="1"/>
          </p:cNvPicPr>
          <p:nvPr/>
        </p:nvPicPr>
        <p:blipFill>
          <a:blip r:embed="rId4"/>
          <a:stretch>
            <a:fillRect/>
          </a:stretch>
        </p:blipFill>
        <p:spPr>
          <a:xfrm>
            <a:off x="4612014" y="1204102"/>
            <a:ext cx="3734753" cy="2796722"/>
          </a:xfrm>
          <a:prstGeom prst="rect">
            <a:avLst/>
          </a:prstGeom>
        </p:spPr>
      </p:pic>
      <p:pic>
        <p:nvPicPr>
          <p:cNvPr id="14" name="Picture 13"/>
          <p:cNvPicPr>
            <a:picLocks noChangeAspect="1"/>
          </p:cNvPicPr>
          <p:nvPr/>
        </p:nvPicPr>
        <p:blipFill>
          <a:blip r:embed="rId5"/>
          <a:stretch>
            <a:fillRect/>
          </a:stretch>
        </p:blipFill>
        <p:spPr>
          <a:xfrm>
            <a:off x="8263591" y="1831317"/>
            <a:ext cx="3510817" cy="2192579"/>
          </a:xfrm>
          <a:prstGeom prst="rect">
            <a:avLst/>
          </a:prstGeom>
        </p:spPr>
      </p:pic>
      <p:pic>
        <p:nvPicPr>
          <p:cNvPr id="15" name="Picture 14"/>
          <p:cNvPicPr>
            <a:picLocks noChangeAspect="1"/>
          </p:cNvPicPr>
          <p:nvPr/>
        </p:nvPicPr>
        <p:blipFill>
          <a:blip r:embed="rId6"/>
          <a:stretch>
            <a:fillRect/>
          </a:stretch>
        </p:blipFill>
        <p:spPr>
          <a:xfrm>
            <a:off x="8371965" y="4121350"/>
            <a:ext cx="3402443" cy="1891976"/>
          </a:xfrm>
          <a:prstGeom prst="rect">
            <a:avLst/>
          </a:prstGeom>
        </p:spPr>
      </p:pic>
      <p:sp>
        <p:nvSpPr>
          <p:cNvPr id="9" name="Title 1"/>
          <p:cNvSpPr>
            <a:spLocks noGrp="1"/>
          </p:cNvSpPr>
          <p:nvPr>
            <p:ph type="title"/>
          </p:nvPr>
        </p:nvSpPr>
        <p:spPr>
          <a:xfrm>
            <a:off x="984260" y="283591"/>
            <a:ext cx="10990263" cy="887983"/>
          </a:xfrm>
        </p:spPr>
        <p:txBody>
          <a:bodyPr/>
          <a:lstStyle/>
          <a:p>
            <a:pPr algn="ctr"/>
            <a:r>
              <a:rPr lang="en-US" sz="2400" dirty="0" smtClean="0">
                <a:latin typeface="Times New Roman" panose="02020603050405020304" pitchFamily="18" charset="0"/>
                <a:cs typeface="Times New Roman" panose="02020603050405020304" pitchFamily="18" charset="0"/>
              </a:rPr>
              <a:t>Common-Mode </a:t>
            </a:r>
            <a:r>
              <a:rPr lang="en-US" sz="2400" dirty="0">
                <a:latin typeface="Times New Roman" panose="02020603050405020304" pitchFamily="18" charset="0"/>
                <a:cs typeface="Times New Roman" panose="02020603050405020304" pitchFamily="18" charset="0"/>
              </a:rPr>
              <a:t>Voltage Reduction in Two-Level Inverters by Introducing Adaptive Carrier-Phase-Shift </a:t>
            </a:r>
            <a:r>
              <a:rPr lang="en-US" sz="2400" dirty="0" smtClean="0">
                <a:latin typeface="Times New Roman" panose="02020603050405020304" pitchFamily="18" charset="0"/>
                <a:cs typeface="Times New Roman" panose="02020603050405020304" pitchFamily="18" charset="0"/>
              </a:rPr>
              <a:t>Method </a:t>
            </a:r>
            <a:r>
              <a:rPr lang="sv-SE" sz="2400" dirty="0" smtClean="0">
                <a:latin typeface="Times New Roman" panose="02020603050405020304" pitchFamily="18" charset="0"/>
                <a:cs typeface="Times New Roman" panose="02020603050405020304" pitchFamily="18" charset="0"/>
              </a:rPr>
              <a:t>(ECCE-</a:t>
            </a:r>
            <a:r>
              <a:rPr lang="sv-SE" sz="2400" dirty="0" err="1" smtClean="0">
                <a:latin typeface="Times New Roman" panose="02020603050405020304" pitchFamily="18" charset="0"/>
                <a:cs typeface="Times New Roman" panose="02020603050405020304" pitchFamily="18" charset="0"/>
              </a:rPr>
              <a:t>Europe</a:t>
            </a:r>
            <a:r>
              <a:rPr lang="sv-SE" sz="2400" dirty="0" smtClean="0">
                <a:latin typeface="Times New Roman" panose="02020603050405020304" pitchFamily="18" charset="0"/>
                <a:cs typeface="Times New Roman" panose="02020603050405020304" pitchFamily="18" charset="0"/>
              </a:rPr>
              <a:t>)</a:t>
            </a:r>
            <a:endParaRPr lang="sv-SE"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9603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8858</TotalTime>
  <Words>615</Words>
  <Application>Microsoft Office PowerPoint</Application>
  <PresentationFormat>Widescreen</PresentationFormat>
  <Paragraphs>78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Calibri</vt:lpstr>
      <vt:lpstr>Wingdings</vt:lpstr>
      <vt:lpstr>Figtree</vt:lpstr>
      <vt:lpstr>Times New Roman</vt:lpstr>
      <vt:lpstr>Arial</vt:lpstr>
      <vt:lpstr>Cambria Math</vt:lpstr>
      <vt:lpstr>Office-tema</vt:lpstr>
      <vt:lpstr>Simplified Inverter Model </vt:lpstr>
      <vt:lpstr>Busbar Geometry 62mm Power Module</vt:lpstr>
      <vt:lpstr>DC Link Current (Positive/Negative/Zero Sequences)</vt:lpstr>
      <vt:lpstr>The Effect of the Busbar Inductance and Battery Connection</vt:lpstr>
      <vt:lpstr>High Frequency Resonance</vt:lpstr>
      <vt:lpstr>Low Frequency Resonance</vt:lpstr>
      <vt:lpstr>Parasitic Inductances (Switching Speed Limitation)</vt:lpstr>
      <vt:lpstr>Common-Mode Voltage Reduction in Two-Level Inverters by Introducing Adaptive Carrier-Phase-Shift Method (ECCE-Europe)</vt:lpstr>
      <vt:lpstr>Common-Mode Voltage Reduction in Two-Level Inverters by Introducing Adaptive Carrier-Phase-Shift Method (ECCE-Europe)</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196</cp:revision>
  <dcterms:created xsi:type="dcterms:W3CDTF">2024-01-10T13:17:29Z</dcterms:created>
  <dcterms:modified xsi:type="dcterms:W3CDTF">2025-03-25T18:52:09Z</dcterms:modified>
</cp:coreProperties>
</file>