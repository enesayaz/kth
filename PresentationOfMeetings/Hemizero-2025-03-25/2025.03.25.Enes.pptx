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4"/>
  </p:notesMasterIdLst>
  <p:sldIdLst>
    <p:sldId id="256" r:id="rId2"/>
    <p:sldId id="289" r:id="rId3"/>
    <p:sldId id="281" r:id="rId4"/>
    <p:sldId id="284" r:id="rId5"/>
    <p:sldId id="285" r:id="rId6"/>
    <p:sldId id="277" r:id="rId7"/>
    <p:sldId id="279" r:id="rId8"/>
    <p:sldId id="280" r:id="rId9"/>
    <p:sldId id="278" r:id="rId10"/>
    <p:sldId id="276" r:id="rId11"/>
    <p:sldId id="294" r:id="rId12"/>
    <p:sldId id="295" r:id="rId13"/>
    <p:sldId id="290" r:id="rId14"/>
    <p:sldId id="296" r:id="rId15"/>
    <p:sldId id="297" r:id="rId16"/>
    <p:sldId id="300" r:id="rId17"/>
    <p:sldId id="299" r:id="rId18"/>
    <p:sldId id="291" r:id="rId19"/>
    <p:sldId id="293" r:id="rId20"/>
    <p:sldId id="292" r:id="rId21"/>
    <p:sldId id="301" r:id="rId22"/>
    <p:sldId id="302" r:id="rId23"/>
  </p:sldIdLst>
  <p:sldSz cx="12192000" cy="6858000"/>
  <p:notesSz cx="6858000" cy="9144000"/>
  <p:embeddedFontLst>
    <p:embeddedFont>
      <p:font typeface="Figtree" panose="020B0604020202020204" charset="0"/>
      <p:regular r:id="rId25"/>
      <p:bold r:id="rId26"/>
      <p:italic r:id="rId27"/>
      <p:boldItalic r:id="rId28"/>
    </p:embeddedFont>
    <p:embeddedFont>
      <p:font typeface="Calibri" panose="020F0502020204030204" pitchFamily="34" charset="0"/>
      <p:regular r:id="rId29"/>
      <p:bold r:id="rId30"/>
      <p:italic r:id="rId31"/>
      <p:boldItalic r:id="rId32"/>
    </p:embeddedFont>
    <p:embeddedFont>
      <p:font typeface="Cambria Math" panose="02040503050406030204" pitchFamily="18" charset="0"/>
      <p:regular r:id="rId3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42" autoAdjust="0"/>
    <p:restoredTop sz="96327"/>
  </p:normalViewPr>
  <p:slideViewPr>
    <p:cSldViewPr snapToGrid="0">
      <p:cViewPr>
        <p:scale>
          <a:sx n="125" d="100"/>
          <a:sy n="125" d="100"/>
        </p:scale>
        <p:origin x="1062" y="8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2025-03-25</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2025-03-25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2025-03-25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2025-03-25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2025-03-25</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2025-03-25</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2025-03-25</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2025-03-25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2025-03-25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2025-03-25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2025-03-25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2025-03-25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2025-03-25</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29.png"/></Relationships>
</file>

<file path=ppt/slides/_rels/slide4.xml.rels><?xml version="1.0" encoding="UTF-8" standalone="yes"?>
<Relationships xmlns="http://schemas.openxmlformats.org/package/2006/relationships"><Relationship Id="rId2" Type="http://schemas.openxmlformats.org/officeDocument/2006/relationships/image" Target="../media/image30.emf"/><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2.xml"/><Relationship Id="rId5" Type="http://schemas.openxmlformats.org/officeDocument/2006/relationships/image" Target="../media/image34.png"/><Relationship Id="rId4" Type="http://schemas.openxmlformats.org/officeDocument/2006/relationships/image" Target="../media/image33.png"/></Relationships>
</file>

<file path=ppt/slides/_rels/slide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image" Target="../media/image35.emf"/><Relationship Id="rId1" Type="http://schemas.openxmlformats.org/officeDocument/2006/relationships/slideLayout" Target="../slideLayouts/slideLayout12.xml"/><Relationship Id="rId4" Type="http://schemas.openxmlformats.org/officeDocument/2006/relationships/image" Target="../media/image37.emf"/></Relationships>
</file>

<file path=ppt/slides/_rels/slide7.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image" Target="../media/image38.emf"/><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12.xml"/><Relationship Id="rId5" Type="http://schemas.openxmlformats.org/officeDocument/2006/relationships/image" Target="../media/image43.emf"/><Relationship Id="rId4" Type="http://schemas.openxmlformats.org/officeDocument/2006/relationships/image" Target="../media/image42.emf"/></Relationships>
</file>

<file path=ppt/slides/_rels/slide9.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44.e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2.xml"/><Relationship Id="rId5" Type="http://schemas.openxmlformats.org/officeDocument/2006/relationships/image" Target="../media/image54.png"/><Relationship Id="rId4" Type="http://schemas.openxmlformats.org/officeDocument/2006/relationships/image" Target="../media/image53.png"/></Relationships>
</file>

<file path=ppt/slides/_rels/slide1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40.png"/><Relationship Id="rId7" Type="http://schemas.openxmlformats.org/officeDocument/2006/relationships/image" Target="../media/image59.png"/><Relationship Id="rId2" Type="http://schemas.openxmlformats.org/officeDocument/2006/relationships/image" Target="../media/image55.png"/><Relationship Id="rId1" Type="http://schemas.openxmlformats.org/officeDocument/2006/relationships/slideLayout" Target="../slideLayouts/slideLayout1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12.xml"/><Relationship Id="rId4" Type="http://schemas.openxmlformats.org/officeDocument/2006/relationships/image" Target="../media/image64.png"/></Relationships>
</file>

<file path=ppt/slides/_rels/slide1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0.png"/><Relationship Id="rId2" Type="http://schemas.openxmlformats.org/officeDocument/2006/relationships/image" Target="../media/image210.png"/><Relationship Id="rId1" Type="http://schemas.openxmlformats.org/officeDocument/2006/relationships/slideLayout" Target="../slideLayouts/slideLayout12.xml"/><Relationship Id="rId6" Type="http://schemas.openxmlformats.org/officeDocument/2006/relationships/image" Target="../media/image69.png"/><Relationship Id="rId5" Type="http://schemas.openxmlformats.org/officeDocument/2006/relationships/image" Target="../media/image240.png"/><Relationship Id="rId4" Type="http://schemas.openxmlformats.org/officeDocument/2006/relationships/image" Target="../media/image230.png"/></Relationships>
</file>

<file path=ppt/slides/_rels/slide2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1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2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1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PhD Works</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Ayaz </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Outline</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594098" y="1842462"/>
                <a:ext cx="10990263" cy="4453808"/>
              </a:xfrm>
            </p:spPr>
            <p:txBody>
              <a:bodyPr/>
              <a:lstStyle/>
              <a:p>
                <a:pPr>
                  <a:buFont typeface="Wingdings" panose="05000000000000000000" pitchFamily="2" charset="2"/>
                  <a:buChar char="q"/>
                </a:pPr>
                <a:r>
                  <a:rPr lang="en-US" sz="2400" dirty="0" smtClean="0">
                    <a:latin typeface="Times New Roman" panose="02020603050405020304" pitchFamily="18" charset="0"/>
                    <a:cs typeface="Times New Roman" panose="02020603050405020304" pitchFamily="18" charset="0"/>
                  </a:rPr>
                  <a:t>The Effects of the </a:t>
                </a:r>
                <a:r>
                  <a:rPr lang="en-US" sz="2400" dirty="0" err="1" smtClean="0">
                    <a:latin typeface="Times New Roman" panose="02020603050405020304" pitchFamily="18" charset="0"/>
                    <a:cs typeface="Times New Roman" panose="02020603050405020304" pitchFamily="18" charset="0"/>
                  </a:rPr>
                  <a:t>Busbar</a:t>
                </a:r>
                <a:r>
                  <a:rPr lang="en-US" sz="2400" dirty="0" smtClean="0">
                    <a:latin typeface="Times New Roman" panose="02020603050405020304" pitchFamily="18" charset="0"/>
                    <a:cs typeface="Times New Roman" panose="02020603050405020304" pitchFamily="18" charset="0"/>
                  </a:rPr>
                  <a:t> and Battery Parasitic Inductances</a:t>
                </a:r>
              </a:p>
              <a:p>
                <a:pPr>
                  <a:buFont typeface="Wingdings" panose="05000000000000000000" pitchFamily="2" charset="2"/>
                  <a:buChar char="q"/>
                </a:pPr>
                <a:endParaRPr lang="en-US" sz="2400" dirty="0" smtClean="0">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Conventional Back-to-Back Inverter Setup </a:t>
                </a:r>
              </a:p>
              <a:p>
                <a:pPr>
                  <a:buFont typeface="Wingdings" panose="05000000000000000000" pitchFamily="2" charset="2"/>
                  <a:buChar char="q"/>
                </a:pPr>
                <a:endParaRPr lang="en-US" sz="2400" dirty="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Intelligent Gate Driver Measurement Unit: </a:t>
                </a:r>
                <a:r>
                  <a:rPr lang="en-US" sz="2400" dirty="0">
                    <a:solidFill>
                      <a:srgbClr val="C0C0C0"/>
                    </a:solidFill>
                    <a:latin typeface="Times New Roman" panose="02020603050405020304" pitchFamily="18" charset="0"/>
                    <a:cs typeface="Times New Roman" panose="02020603050405020304" pitchFamily="18" charset="0"/>
                  </a:rPr>
                  <a:t>Online </a:t>
                </a:r>
                <a14:m>
                  <m:oMath xmlns:m="http://schemas.openxmlformats.org/officeDocument/2006/math">
                    <m:sSub>
                      <m:sSubPr>
                        <m:ctrlPr>
                          <a:rPr lang="en-US" sz="2400" i="1" dirty="0">
                            <a:solidFill>
                              <a:srgbClr val="C0C0C0"/>
                            </a:solidFill>
                            <a:latin typeface="Cambria Math" panose="02040503050406030204" pitchFamily="18" charset="0"/>
                            <a:cs typeface="Times New Roman" panose="02020603050405020304" pitchFamily="18" charset="0"/>
                          </a:rPr>
                        </m:ctrlPr>
                      </m:sSubPr>
                      <m:e>
                        <m:r>
                          <a:rPr lang="en-US" sz="2400" i="1" dirty="0">
                            <a:solidFill>
                              <a:srgbClr val="C0C0C0"/>
                            </a:solidFill>
                            <a:latin typeface="Cambria Math" panose="02040503050406030204" pitchFamily="18" charset="0"/>
                            <a:cs typeface="Times New Roman" panose="02020603050405020304" pitchFamily="18" charset="0"/>
                          </a:rPr>
                          <m:t>𝑅</m:t>
                        </m:r>
                      </m:e>
                      <m:sub>
                        <m:r>
                          <a:rPr lang="en-US" sz="2400" i="1" dirty="0">
                            <a:solidFill>
                              <a:srgbClr val="C0C0C0"/>
                            </a:solidFill>
                            <a:latin typeface="Cambria Math" panose="02040503050406030204" pitchFamily="18" charset="0"/>
                            <a:cs typeface="Times New Roman" panose="02020603050405020304" pitchFamily="18" charset="0"/>
                          </a:rPr>
                          <m:t>𝑑𝑠</m:t>
                        </m:r>
                      </m:sub>
                    </m:sSub>
                  </m:oMath>
                </a14:m>
                <a:r>
                  <a:rPr lang="en-US" sz="2400" dirty="0">
                    <a:solidFill>
                      <a:srgbClr val="C0C0C0"/>
                    </a:solidFill>
                    <a:latin typeface="Times New Roman" panose="02020603050405020304" pitchFamily="18" charset="0"/>
                    <a:cs typeface="Times New Roman" panose="02020603050405020304" pitchFamily="18" charset="0"/>
                  </a:rPr>
                  <a:t> </a:t>
                </a:r>
                <a:r>
                  <a:rPr lang="en-US" sz="2400" dirty="0" smtClean="0">
                    <a:solidFill>
                      <a:srgbClr val="C0C0C0"/>
                    </a:solidFill>
                    <a:latin typeface="Times New Roman" panose="02020603050405020304" pitchFamily="18" charset="0"/>
                    <a:cs typeface="Times New Roman" panose="02020603050405020304" pitchFamily="18" charset="0"/>
                  </a:rPr>
                  <a:t>Measurement</a:t>
                </a:r>
              </a:p>
              <a:p>
                <a:pPr>
                  <a:buFont typeface="Wingdings" panose="05000000000000000000" pitchFamily="2" charset="2"/>
                  <a:buChar char="q"/>
                </a:pPr>
                <a:endParaRPr lang="en-US" sz="2400" dirty="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ECCE-Europe Paper Digest</a:t>
                </a:r>
              </a:p>
              <a:p>
                <a:pPr>
                  <a:buFont typeface="Wingdings" panose="05000000000000000000" pitchFamily="2" charset="2"/>
                  <a:buChar char="q"/>
                </a:pPr>
                <a:endParaRPr lang="en-US" dirty="0" smtClean="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594098" y="1842462"/>
                <a:ext cx="10990263" cy="4453808"/>
              </a:xfrm>
              <a:blipFill>
                <a:blip r:embed="rId2"/>
                <a:stretch>
                  <a:fillRect l="-721" t="-1915"/>
                </a:stretch>
              </a:blipFill>
            </p:spPr>
            <p:txBody>
              <a:bodyPr/>
              <a:lstStyle/>
              <a:p>
                <a:r>
                  <a:rPr lang="sv-SE">
                    <a:noFill/>
                  </a:rPr>
                  <a:t> </a:t>
                </a:r>
              </a:p>
            </p:txBody>
          </p:sp>
        </mc:Fallback>
      </mc:AlternateContent>
    </p:spTree>
    <p:extLst>
      <p:ext uri="{BB962C8B-B14F-4D97-AF65-F5344CB8AC3E}">
        <p14:creationId xmlns:p14="http://schemas.microsoft.com/office/powerpoint/2010/main" val="396552961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Simplified Inverter Model </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E137606-0038-4161-A922-143AD7681AB4}"/>
              </a:ext>
            </a:extLst>
          </p:cNvPr>
          <p:cNvPicPr>
            <a:picLocks noChangeAspect="1"/>
          </p:cNvPicPr>
          <p:nvPr/>
        </p:nvPicPr>
        <p:blipFill rotWithShape="1">
          <a:blip r:embed="rId2"/>
          <a:srcRect t="9374"/>
          <a:stretch/>
        </p:blipFill>
        <p:spPr>
          <a:xfrm>
            <a:off x="337345" y="1178575"/>
            <a:ext cx="4664961" cy="1982344"/>
          </a:xfrm>
          <a:prstGeom prst="rect">
            <a:avLst/>
          </a:prstGeom>
        </p:spPr>
      </p:pic>
      <p:sp>
        <p:nvSpPr>
          <p:cNvPr id="7" name="TextBox 6"/>
          <p:cNvSpPr txBox="1"/>
          <p:nvPr/>
        </p:nvSpPr>
        <p:spPr>
          <a:xfrm>
            <a:off x="5347161" y="1091048"/>
            <a:ext cx="6022092"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We</a:t>
            </a:r>
            <a:r>
              <a:rPr lang="sv-SE" dirty="0" smtClean="0">
                <a:latin typeface="Times New Roman" panose="02020603050405020304" pitchFamily="18" charset="0"/>
                <a:cs typeface="Times New Roman" panose="02020603050405020304" pitchFamily="18" charset="0"/>
              </a:rPr>
              <a:t> d</a:t>
            </a:r>
            <a:r>
              <a:rPr lang="sv-SE" dirty="0" smtClean="0">
                <a:latin typeface="Times New Roman" panose="02020603050405020304" pitchFamily="18" charset="0"/>
                <a:cs typeface="Times New Roman" panose="02020603050405020304" pitchFamily="18" charset="0"/>
              </a:rPr>
              <a:t>o </a:t>
            </a:r>
            <a:r>
              <a:rPr lang="sv-SE" dirty="0" smtClean="0">
                <a:latin typeface="Times New Roman" panose="02020603050405020304" pitchFamily="18" charset="0"/>
                <a:cs typeface="Times New Roman" panose="02020603050405020304" pitchFamily="18" charset="0"/>
              </a:rPr>
              <a:t>not </a:t>
            </a:r>
            <a:r>
              <a:rPr lang="sv-SE" dirty="0" err="1" smtClean="0">
                <a:latin typeface="Times New Roman" panose="02020603050405020304" pitchFamily="18" charset="0"/>
                <a:cs typeface="Times New Roman" panose="02020603050405020304" pitchFamily="18" charset="0"/>
              </a:rPr>
              <a:t>consider</a:t>
            </a:r>
            <a:r>
              <a:rPr lang="sv-SE" dirty="0" smtClean="0">
                <a:latin typeface="Times New Roman" panose="02020603050405020304" pitchFamily="18" charset="0"/>
                <a:cs typeface="Times New Roman" panose="02020603050405020304" pitchFamily="18" charset="0"/>
              </a:rPr>
              <a:t> output </a:t>
            </a:r>
            <a:r>
              <a:rPr lang="sv-SE" dirty="0" err="1" smtClean="0">
                <a:latin typeface="Times New Roman" panose="02020603050405020304" pitchFamily="18" charset="0"/>
                <a:cs typeface="Times New Roman" panose="02020603050405020304" pitchFamily="18" charset="0"/>
              </a:rPr>
              <a:t>harmonics</a:t>
            </a:r>
            <a:r>
              <a:rPr lang="sv-SE" dirty="0" smtClean="0">
                <a:latin typeface="Times New Roman" panose="02020603050405020304" pitchFamily="18" charset="0"/>
                <a:cs typeface="Times New Roman" panose="02020603050405020304" pitchFamily="18" charset="0"/>
              </a:rPr>
              <a:t> for the </a:t>
            </a:r>
            <a:r>
              <a:rPr lang="sv-SE" dirty="0" err="1" smtClean="0">
                <a:latin typeface="Times New Roman" panose="02020603050405020304" pitchFamily="18" charset="0"/>
                <a:cs typeface="Times New Roman" panose="02020603050405020304" pitchFamily="18" charset="0"/>
              </a:rPr>
              <a:t>phase</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currents</a:t>
            </a:r>
            <a:r>
              <a:rPr lang="sv-SE" dirty="0" smtClean="0">
                <a:latin typeface="Times New Roman" panose="02020603050405020304" pitchFamily="18" charset="0"/>
                <a:cs typeface="Times New Roman" panose="02020603050405020304" pitchFamily="18" charset="0"/>
              </a:rPr>
              <a:t> </a:t>
            </a:r>
            <a:endParaRPr lang="sv-SE"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05359" y="3054376"/>
            <a:ext cx="3704011"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Combined</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and </a:t>
            </a:r>
            <a:r>
              <a:rPr lang="sv-SE" dirty="0" err="1" smtClean="0">
                <a:latin typeface="Times New Roman" panose="02020603050405020304" pitchFamily="18" charset="0"/>
                <a:cs typeface="Times New Roman" panose="02020603050405020304" pitchFamily="18" charset="0"/>
              </a:rPr>
              <a:t>battery</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model</a:t>
            </a:r>
            <a:endParaRPr lang="sv-SE"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CE53E73-1058-4484-9F31-376B4590F2A9}"/>
              </a:ext>
            </a:extLst>
          </p:cNvPr>
          <p:cNvPicPr>
            <a:picLocks noChangeAspect="1"/>
          </p:cNvPicPr>
          <p:nvPr/>
        </p:nvPicPr>
        <p:blipFill rotWithShape="1">
          <a:blip r:embed="rId3"/>
          <a:srcRect l="5820" t="9591"/>
          <a:stretch/>
        </p:blipFill>
        <p:spPr>
          <a:xfrm>
            <a:off x="605359" y="3774629"/>
            <a:ext cx="3404853" cy="1506036"/>
          </a:xfrm>
          <a:prstGeom prst="rect">
            <a:avLst/>
          </a:prstGeom>
        </p:spPr>
      </p:pic>
      <p:sp>
        <p:nvSpPr>
          <p:cNvPr id="10" name="TextBox 9"/>
          <p:cNvSpPr txBox="1"/>
          <p:nvPr/>
        </p:nvSpPr>
        <p:spPr>
          <a:xfrm>
            <a:off x="460954" y="5420127"/>
            <a:ext cx="4229739"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The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can</a:t>
            </a:r>
            <a:r>
              <a:rPr lang="sv-SE" dirty="0" smtClean="0">
                <a:latin typeface="Times New Roman" panose="02020603050405020304" pitchFamily="18" charset="0"/>
                <a:cs typeface="Times New Roman" panose="02020603050405020304" pitchFamily="18" charset="0"/>
              </a:rPr>
              <a:t> be </a:t>
            </a:r>
            <a:r>
              <a:rPr lang="sv-SE" dirty="0" err="1" smtClean="0">
                <a:latin typeface="Times New Roman" panose="02020603050405020304" pitchFamily="18" charset="0"/>
                <a:cs typeface="Times New Roman" panose="02020603050405020304" pitchFamily="18" charset="0"/>
              </a:rPr>
              <a:t>modeled</a:t>
            </a:r>
            <a:r>
              <a:rPr lang="sv-SE" dirty="0" smtClean="0">
                <a:latin typeface="Times New Roman" panose="02020603050405020304" pitchFamily="18" charset="0"/>
                <a:cs typeface="Times New Roman" panose="02020603050405020304" pitchFamily="18" charset="0"/>
              </a:rPr>
              <a:t> as </a:t>
            </a:r>
            <a:r>
              <a:rPr lang="sv-SE" dirty="0" err="1" smtClean="0">
                <a:latin typeface="Times New Roman" panose="02020603050405020304" pitchFamily="18" charset="0"/>
                <a:cs typeface="Times New Roman" panose="02020603050405020304" pitchFamily="18" charset="0"/>
              </a:rPr>
              <a:t>current</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sources</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of</a:t>
            </a:r>
            <a:r>
              <a:rPr lang="sv-SE" dirty="0" smtClean="0">
                <a:latin typeface="Times New Roman" panose="02020603050405020304" pitchFamily="18" charset="0"/>
                <a:cs typeface="Times New Roman" panose="02020603050405020304" pitchFamily="18" charset="0"/>
              </a:rPr>
              <a:t> </a:t>
            </a:r>
            <a:r>
              <a:rPr lang="tr-TR" dirty="0" smtClean="0">
                <a:latin typeface="Times New Roman" panose="02020603050405020304" pitchFamily="18" charset="0"/>
                <a:cs typeface="Times New Roman" panose="02020603050405020304" pitchFamily="18" charset="0"/>
              </a:rPr>
              <a:t>harmonic</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components</a:t>
            </a:r>
            <a:r>
              <a:rPr lang="sv-SE" dirty="0" smtClean="0">
                <a:latin typeface="Times New Roman" panose="02020603050405020304" pitchFamily="18" charset="0"/>
                <a:cs typeface="Times New Roman" panose="02020603050405020304" pitchFamily="18" charset="0"/>
              </a:rPr>
              <a:t>.</a:t>
            </a:r>
            <a:endParaRPr lang="sv-SE" dirty="0">
              <a:latin typeface="Times New Roman" panose="02020603050405020304" pitchFamily="18" charset="0"/>
              <a:cs typeface="Times New Roman" panose="02020603050405020304" pitchFamily="18" charset="0"/>
            </a:endParaRPr>
          </a:p>
        </p:txBody>
      </p:sp>
      <p:pic>
        <p:nvPicPr>
          <p:cNvPr id="12" name="Content Placeholder 3">
            <a:extLst>
              <a:ext uri="{FF2B5EF4-FFF2-40B4-BE49-F238E27FC236}">
                <a16:creationId xmlns:a16="http://schemas.microsoft.com/office/drawing/2014/main" id="{2152BF20-F541-4796-9466-8B9519526A7D}"/>
              </a:ext>
            </a:extLst>
          </p:cNvPr>
          <p:cNvPicPr>
            <a:picLocks noGrp="1" noChangeAspect="1"/>
          </p:cNvPicPr>
          <p:nvPr>
            <p:ph idx="1"/>
          </p:nvPr>
        </p:nvPicPr>
        <p:blipFill>
          <a:blip r:embed="rId4"/>
          <a:stretch>
            <a:fillRect/>
          </a:stretch>
        </p:blipFill>
        <p:spPr>
          <a:xfrm>
            <a:off x="6539927" y="4277579"/>
            <a:ext cx="3636559" cy="2386230"/>
          </a:xfrm>
          <a:prstGeom prst="rect">
            <a:avLst/>
          </a:prstGeom>
        </p:spPr>
      </p:pic>
      <mc:AlternateContent xmlns:mc="http://schemas.openxmlformats.org/markup-compatibility/2006">
        <mc:Choice xmlns:a14="http://schemas.microsoft.com/office/drawing/2010/main" Requires="a14">
          <p:sp>
            <p:nvSpPr>
              <p:cNvPr id="13" name="TextBox 12"/>
              <p:cNvSpPr txBox="1"/>
              <p:nvPr/>
            </p:nvSpPr>
            <p:spPr>
              <a:xfrm>
                <a:off x="5342264" y="3210031"/>
                <a:ext cx="3322156"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14:m>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𝑆</m:t>
                        </m:r>
                      </m:e>
                      <m:sub>
                        <m:r>
                          <a:rPr lang="en-US" i="1">
                            <a:latin typeface="Cambria Math" panose="02040503050406030204" pitchFamily="18" charset="0"/>
                          </a:rPr>
                          <m:t>𝐴</m:t>
                        </m:r>
                      </m:sub>
                    </m:sSub>
                    <m:r>
                      <a:rPr lang="en-US" i="1">
                        <a:latin typeface="Cambria Math" panose="02040503050406030204" pitchFamily="18" charset="0"/>
                      </a:rPr>
                      <m:t>(</m:t>
                    </m:r>
                    <m:r>
                      <a:rPr lang="en-US" i="1">
                        <a:latin typeface="Cambria Math" panose="02040503050406030204" pitchFamily="18" charset="0"/>
                      </a:rPr>
                      <m:t>𝜔</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 </m:t>
                        </m:r>
                        <m:r>
                          <a:rPr lang="en-US" i="1">
                            <a:latin typeface="Cambria Math" panose="02040503050406030204" pitchFamily="18" charset="0"/>
                          </a:rPr>
                          <m:t>𝐼</m:t>
                        </m:r>
                      </m:e>
                      <m:sub>
                        <m:r>
                          <a:rPr lang="en-US" i="1">
                            <a:latin typeface="Cambria Math" panose="02040503050406030204" pitchFamily="18" charset="0"/>
                          </a:rPr>
                          <m:t>𝐴</m:t>
                        </m:r>
                      </m:sub>
                    </m:sSub>
                    <m:r>
                      <a:rPr lang="en-US" i="1">
                        <a:latin typeface="Cambria Math" panose="02040503050406030204" pitchFamily="18" charset="0"/>
                      </a:rPr>
                      <m:t>(</m:t>
                    </m:r>
                    <m:r>
                      <a:rPr lang="en-US" i="1">
                        <a:latin typeface="Cambria Math" panose="02040503050406030204" pitchFamily="18" charset="0"/>
                      </a:rPr>
                      <m:t>𝜔</m:t>
                    </m:r>
                    <m:r>
                      <a:rPr lang="en-US" i="1">
                        <a:latin typeface="Cambria Math" panose="02040503050406030204" pitchFamily="18" charset="0"/>
                      </a:rPr>
                      <m:t>)</m:t>
                    </m:r>
                  </m:oMath>
                </a14:m>
                <a:endParaRPr lang="sv-SE" dirty="0">
                  <a:latin typeface="Times New Roman" panose="02020603050405020304" pitchFamily="18" charset="0"/>
                  <a:cs typeface="Times New Roman" panose="02020603050405020304" pitchFamily="18" charset="0"/>
                </a:endParaRPr>
              </a:p>
            </p:txBody>
          </p:sp>
        </mc:Choice>
        <mc:Fallback>
          <p:sp>
            <p:nvSpPr>
              <p:cNvPr id="13" name="TextBox 12"/>
              <p:cNvSpPr txBox="1">
                <a:spLocks noRot="1" noChangeAspect="1" noMove="1" noResize="1" noEditPoints="1" noAdjustHandles="1" noChangeArrowheads="1" noChangeShapeType="1" noTextEdit="1"/>
              </p:cNvSpPr>
              <p:nvPr/>
            </p:nvSpPr>
            <p:spPr>
              <a:xfrm>
                <a:off x="5342264" y="3210031"/>
                <a:ext cx="3322156" cy="369332"/>
              </a:xfrm>
              <a:prstGeom prst="rect">
                <a:avLst/>
              </a:prstGeom>
              <a:blipFill>
                <a:blip r:embed="rId5"/>
                <a:stretch>
                  <a:fillRect t="-10000" b="-26667"/>
                </a:stretch>
              </a:blipFill>
            </p:spPr>
            <p:txBody>
              <a:bodyPr/>
              <a:lstStyle/>
              <a:p>
                <a:r>
                  <a:rPr lang="sv-SE">
                    <a:noFill/>
                  </a:rPr>
                  <a:t> </a:t>
                </a:r>
              </a:p>
            </p:txBody>
          </p:sp>
        </mc:Fallback>
      </mc:AlternateContent>
      <p:sp>
        <p:nvSpPr>
          <p:cNvPr id="14" name="Rectangle 13"/>
          <p:cNvSpPr/>
          <p:nvPr/>
        </p:nvSpPr>
        <p:spPr>
          <a:xfrm>
            <a:off x="8358207" y="2907160"/>
            <a:ext cx="3401105" cy="1200329"/>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frequency</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a:latin typeface="Times New Roman" panose="02020603050405020304" pitchFamily="18" charset="0"/>
                <a:cs typeface="Times New Roman" panose="02020603050405020304" pitchFamily="18" charset="0"/>
                <a:sym typeface="Wingdings" panose="05000000000000000000" pitchFamily="2" charset="2"/>
              </a:rPr>
              <a:t>convolution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function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6" name="TextBox 5"/>
              <p:cNvSpPr txBox="1"/>
              <p:nvPr/>
            </p:nvSpPr>
            <p:spPr>
              <a:xfrm>
                <a:off x="8335766" y="2167837"/>
                <a:ext cx="2516266"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𝑖𝑛𝑣</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𝐴</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𝐵</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𝐵</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𝐶</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𝑐</m:t>
                          </m:r>
                        </m:sub>
                      </m:sSub>
                    </m:oMath>
                  </m:oMathPara>
                </a14:m>
                <a:endParaRPr lang="sv-SE" dirty="0"/>
              </a:p>
            </p:txBody>
          </p:sp>
        </mc:Choice>
        <mc:Fallback>
          <p:sp>
            <p:nvSpPr>
              <p:cNvPr id="6" name="TextBox 5"/>
              <p:cNvSpPr txBox="1">
                <a:spLocks noRot="1" noChangeAspect="1" noMove="1" noResize="1" noEditPoints="1" noAdjustHandles="1" noChangeArrowheads="1" noChangeShapeType="1" noTextEdit="1"/>
              </p:cNvSpPr>
              <p:nvPr/>
            </p:nvSpPr>
            <p:spPr>
              <a:xfrm>
                <a:off x="8335766" y="2167837"/>
                <a:ext cx="2516266" cy="276999"/>
              </a:xfrm>
              <a:prstGeom prst="rect">
                <a:avLst/>
              </a:prstGeom>
              <a:blipFill>
                <a:blip r:embed="rId6"/>
                <a:stretch>
                  <a:fillRect l="-1695" b="-20000"/>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6" name="Rectangle 15"/>
              <p:cNvSpPr/>
              <p:nvPr/>
            </p:nvSpPr>
            <p:spPr>
              <a:xfrm>
                <a:off x="5251725" y="1549387"/>
                <a:ext cx="2236381"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𝐴</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𝑜</m:t>
                          </m:r>
                        </m:sub>
                      </m:sSub>
                      <m:r>
                        <m:rPr>
                          <m:sty m:val="p"/>
                        </m:rPr>
                        <a:rPr lang="en-US" b="0" i="0" smtClean="0">
                          <a:latin typeface="Cambria Math" panose="02040503050406030204" pitchFamily="18" charset="0"/>
                        </a:rPr>
                        <m:t>cos</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𝑜</m:t>
                          </m:r>
                        </m:sub>
                      </m:s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𝜙</m:t>
                      </m:r>
                      <m:r>
                        <a:rPr lang="en-US" b="0" i="1" smtClean="0">
                          <a:latin typeface="Cambria Math" panose="02040503050406030204" pitchFamily="18" charset="0"/>
                        </a:rPr>
                        <m:t>)</m:t>
                      </m:r>
                    </m:oMath>
                  </m:oMathPara>
                </a14:m>
                <a:endParaRPr lang="sv-SE" dirty="0"/>
              </a:p>
            </p:txBody>
          </p:sp>
        </mc:Choice>
        <mc:Fallback>
          <p:sp>
            <p:nvSpPr>
              <p:cNvPr id="16" name="Rectangle 15"/>
              <p:cNvSpPr>
                <a:spLocks noRot="1" noChangeAspect="1" noMove="1" noResize="1" noEditPoints="1" noAdjustHandles="1" noChangeArrowheads="1" noChangeShapeType="1" noTextEdit="1"/>
              </p:cNvSpPr>
              <p:nvPr/>
            </p:nvSpPr>
            <p:spPr>
              <a:xfrm>
                <a:off x="5251725" y="1549387"/>
                <a:ext cx="2236381" cy="369332"/>
              </a:xfrm>
              <a:prstGeom prst="rect">
                <a:avLst/>
              </a:prstGeom>
              <a:blipFill>
                <a:blip r:embed="rId7"/>
                <a:stretch>
                  <a:fillRect b="-14754"/>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7" name="Rectangle 16"/>
              <p:cNvSpPr/>
              <p:nvPr/>
            </p:nvSpPr>
            <p:spPr>
              <a:xfrm>
                <a:off x="5270320" y="1893111"/>
                <a:ext cx="2797432" cy="6109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𝑖</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𝑜</m:t>
                          </m:r>
                        </m:sub>
                      </m:sSub>
                      <m:r>
                        <m:rPr>
                          <m:sty m:val="p"/>
                        </m:rPr>
                        <a:rPr lang="en-US">
                          <a:latin typeface="Cambria Math" panose="02040503050406030204" pitchFamily="18" charset="0"/>
                        </a:rPr>
                        <m:t>cos</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𝜋</m:t>
                          </m:r>
                        </m:num>
                        <m:den>
                          <m:r>
                            <a:rPr lang="en-US" b="0" i="1" smtClean="0">
                              <a:latin typeface="Cambria Math" panose="02040503050406030204" pitchFamily="18" charset="0"/>
                            </a:rPr>
                            <m:t>3</m:t>
                          </m:r>
                        </m:den>
                      </m:f>
                      <m:r>
                        <a:rPr lang="en-US" i="1">
                          <a:latin typeface="Cambria Math" panose="02040503050406030204" pitchFamily="18" charset="0"/>
                        </a:rPr>
                        <m:t>+</m:t>
                      </m:r>
                      <m:r>
                        <a:rPr lang="en-US" i="1">
                          <a:latin typeface="Cambria Math" panose="02040503050406030204" pitchFamily="18" charset="0"/>
                        </a:rPr>
                        <m:t>𝜙</m:t>
                      </m:r>
                      <m:r>
                        <a:rPr lang="en-US" i="1">
                          <a:latin typeface="Cambria Math" panose="02040503050406030204" pitchFamily="18" charset="0"/>
                        </a:rPr>
                        <m:t>)</m:t>
                      </m:r>
                    </m:oMath>
                  </m:oMathPara>
                </a14:m>
                <a:endParaRPr lang="sv-SE" dirty="0"/>
              </a:p>
            </p:txBody>
          </p:sp>
        </mc:Choice>
        <mc:Fallback>
          <p:sp>
            <p:nvSpPr>
              <p:cNvPr id="17" name="Rectangle 16"/>
              <p:cNvSpPr>
                <a:spLocks noRot="1" noChangeAspect="1" noMove="1" noResize="1" noEditPoints="1" noAdjustHandles="1" noChangeArrowheads="1" noChangeShapeType="1" noTextEdit="1"/>
              </p:cNvSpPr>
              <p:nvPr/>
            </p:nvSpPr>
            <p:spPr>
              <a:xfrm>
                <a:off x="5270320" y="1893111"/>
                <a:ext cx="2797432" cy="610936"/>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8" name="Rectangle 17"/>
              <p:cNvSpPr/>
              <p:nvPr/>
            </p:nvSpPr>
            <p:spPr>
              <a:xfrm>
                <a:off x="5251725" y="2427209"/>
                <a:ext cx="2834622" cy="6127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𝑖</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𝑜</m:t>
                          </m:r>
                        </m:sub>
                      </m:sSub>
                      <m:r>
                        <m:rPr>
                          <m:sty m:val="p"/>
                        </m:rPr>
                        <a:rPr lang="en-US">
                          <a:latin typeface="Cambria Math" panose="02040503050406030204" pitchFamily="18" charset="0"/>
                        </a:rPr>
                        <m:t>cos</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𝜋</m:t>
                          </m:r>
                        </m:num>
                        <m:den>
                          <m:r>
                            <a:rPr lang="en-US" b="0" i="1" smtClean="0">
                              <a:latin typeface="Cambria Math" panose="02040503050406030204" pitchFamily="18" charset="0"/>
                            </a:rPr>
                            <m:t>3</m:t>
                          </m:r>
                        </m:den>
                      </m:f>
                      <m:r>
                        <a:rPr lang="en-US" i="1">
                          <a:latin typeface="Cambria Math" panose="02040503050406030204" pitchFamily="18" charset="0"/>
                        </a:rPr>
                        <m:t>+</m:t>
                      </m:r>
                      <m:r>
                        <a:rPr lang="en-US" i="1">
                          <a:latin typeface="Cambria Math" panose="02040503050406030204" pitchFamily="18" charset="0"/>
                        </a:rPr>
                        <m:t>𝜙</m:t>
                      </m:r>
                      <m:r>
                        <a:rPr lang="en-US" i="1">
                          <a:latin typeface="Cambria Math" panose="02040503050406030204" pitchFamily="18" charset="0"/>
                        </a:rPr>
                        <m:t>)</m:t>
                      </m:r>
                    </m:oMath>
                  </m:oMathPara>
                </a14:m>
                <a:endParaRPr lang="sv-SE" dirty="0"/>
              </a:p>
            </p:txBody>
          </p:sp>
        </mc:Choice>
        <mc:Fallback>
          <p:sp>
            <p:nvSpPr>
              <p:cNvPr id="18" name="Rectangle 17"/>
              <p:cNvSpPr>
                <a:spLocks noRot="1" noChangeAspect="1" noMove="1" noResize="1" noEditPoints="1" noAdjustHandles="1" noChangeArrowheads="1" noChangeShapeType="1" noTextEdit="1"/>
              </p:cNvSpPr>
              <p:nvPr/>
            </p:nvSpPr>
            <p:spPr>
              <a:xfrm>
                <a:off x="5251725" y="2427209"/>
                <a:ext cx="2834622" cy="612732"/>
              </a:xfrm>
              <a:prstGeom prst="rect">
                <a:avLst/>
              </a:prstGeom>
              <a:blipFill>
                <a:blip r:embed="rId9"/>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190505261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Aim of Using Impedance Model</a:t>
            </a:r>
            <a:endParaRPr lang="sv-SE" dirty="0">
              <a:latin typeface="Times New Roman" panose="02020603050405020304" pitchFamily="18" charset="0"/>
              <a:cs typeface="Times New Roman" panose="02020603050405020304" pitchFamily="18" charset="0"/>
            </a:endParaRPr>
          </a:p>
        </p:txBody>
      </p:sp>
      <p:sp>
        <p:nvSpPr>
          <p:cNvPr id="20" name="TextBox 19"/>
          <p:cNvSpPr txBox="1"/>
          <p:nvPr/>
        </p:nvSpPr>
        <p:spPr>
          <a:xfrm>
            <a:off x="449076" y="2452324"/>
            <a:ext cx="5354918" cy="1754326"/>
          </a:xfrm>
          <a:prstGeom prst="rect">
            <a:avLst/>
          </a:prstGeom>
          <a:noFill/>
        </p:spPr>
        <p:txBody>
          <a:bodyPr wrap="square" rtlCol="0">
            <a:spAutoFit/>
          </a:bodyPr>
          <a:lstStyle/>
          <a:p>
            <a:pPr marL="342900" indent="-342900" algn="just">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A simplified model does not provide the effective capacitance values for each phase. </a:t>
            </a:r>
            <a:endParaRPr lang="en-US" dirty="0" smtClean="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endParaRPr lang="en-US" dirty="0">
              <a:latin typeface="Times New Roman" panose="02020603050405020304" pitchFamily="18" charset="0"/>
              <a:cs typeface="Times New Roman" panose="02020603050405020304" pitchFamily="18" charset="0"/>
            </a:endParaRPr>
          </a:p>
          <a:p>
            <a:pPr marL="342900" indent="-342900" algn="just">
              <a:buFont typeface="Arial" panose="020B0604020202020204" pitchFamily="34" charset="0"/>
              <a:buChar char="•"/>
            </a:pPr>
            <a:r>
              <a:rPr lang="en-US" dirty="0" smtClean="0">
                <a:latin typeface="Times New Roman" panose="02020603050405020304" pitchFamily="18" charset="0"/>
                <a:cs typeface="Times New Roman" panose="02020603050405020304" pitchFamily="18" charset="0"/>
              </a:rPr>
              <a:t>Additionally</a:t>
            </a:r>
            <a:r>
              <a:rPr lang="en-US" dirty="0">
                <a:latin typeface="Times New Roman" panose="02020603050405020304" pitchFamily="18" charset="0"/>
                <a:cs typeface="Times New Roman" panose="02020603050405020304" pitchFamily="18" charset="0"/>
              </a:rPr>
              <a:t>, </a:t>
            </a:r>
            <a:r>
              <a:rPr lang="en-US" dirty="0" smtClean="0">
                <a:latin typeface="Times New Roman" panose="02020603050405020304" pitchFamily="18" charset="0"/>
                <a:cs typeface="Times New Roman" panose="02020603050405020304" pitchFamily="18" charset="0"/>
              </a:rPr>
              <a:t>a resonant structure is created because of the capacitors and stray inductances, which create high impedance for some frequencies. </a:t>
            </a:r>
          </a:p>
        </p:txBody>
      </p:sp>
      <p:pic>
        <p:nvPicPr>
          <p:cNvPr id="22" name="Picture 21"/>
          <p:cNvPicPr>
            <a:picLocks noChangeAspect="1"/>
          </p:cNvPicPr>
          <p:nvPr/>
        </p:nvPicPr>
        <p:blipFill>
          <a:blip r:embed="rId2"/>
          <a:stretch>
            <a:fillRect/>
          </a:stretch>
        </p:blipFill>
        <p:spPr>
          <a:xfrm>
            <a:off x="5947429" y="1807149"/>
            <a:ext cx="5682783" cy="4023955"/>
          </a:xfrm>
          <a:prstGeom prst="rect">
            <a:avLst/>
          </a:prstGeom>
        </p:spPr>
      </p:pic>
      <p:cxnSp>
        <p:nvCxnSpPr>
          <p:cNvPr id="24" name="Straight Arrow Connector 23"/>
          <p:cNvCxnSpPr/>
          <p:nvPr/>
        </p:nvCxnSpPr>
        <p:spPr>
          <a:xfrm flipV="1">
            <a:off x="9418918" y="1141471"/>
            <a:ext cx="561788" cy="16734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9705788" y="1141471"/>
            <a:ext cx="400424" cy="19304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887013" y="699816"/>
            <a:ext cx="2743199"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High impedance points</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030788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err="1" smtClean="0">
                <a:latin typeface="Times New Roman" panose="02020603050405020304" pitchFamily="18" charset="0"/>
                <a:cs typeface="Times New Roman" panose="02020603050405020304" pitchFamily="18" charset="0"/>
              </a:rPr>
              <a:t>Busbar</a:t>
            </a:r>
            <a:r>
              <a:rPr lang="en-US" dirty="0" smtClean="0">
                <a:latin typeface="Times New Roman" panose="02020603050405020304" pitchFamily="18" charset="0"/>
                <a:cs typeface="Times New Roman" panose="02020603050405020304" pitchFamily="18" charset="0"/>
              </a:rPr>
              <a:t> Geometry 62mm Power Module</a:t>
            </a:r>
            <a:endParaRPr lang="sv-SE" dirty="0">
              <a:latin typeface="Times New Roman" panose="02020603050405020304" pitchFamily="18" charset="0"/>
              <a:cs typeface="Times New Roman" panose="02020603050405020304" pitchFamily="18" charset="0"/>
            </a:endParaRPr>
          </a:p>
        </p:txBody>
      </p:sp>
      <p:grpSp>
        <p:nvGrpSpPr>
          <p:cNvPr id="4" name="Group 3"/>
          <p:cNvGrpSpPr/>
          <p:nvPr/>
        </p:nvGrpSpPr>
        <p:grpSpPr>
          <a:xfrm>
            <a:off x="1309393" y="5082420"/>
            <a:ext cx="1766315" cy="1305466"/>
            <a:chOff x="4736795" y="2809450"/>
            <a:chExt cx="2526554" cy="1832770"/>
          </a:xfrm>
        </p:grpSpPr>
        <p:sp>
          <p:nvSpPr>
            <p:cNvPr id="17" name="Rectangle 16"/>
            <p:cNvSpPr/>
            <p:nvPr/>
          </p:nvSpPr>
          <p:spPr>
            <a:xfrm>
              <a:off x="4736796" y="2881167"/>
              <a:ext cx="304470" cy="295835"/>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400" dirty="0"/>
            </a:p>
          </p:txBody>
        </p:sp>
        <p:sp>
          <p:nvSpPr>
            <p:cNvPr id="18" name="Rectangle 17"/>
            <p:cNvSpPr/>
            <p:nvPr/>
          </p:nvSpPr>
          <p:spPr>
            <a:xfrm>
              <a:off x="4736796" y="3371238"/>
              <a:ext cx="292286" cy="26296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400" dirty="0"/>
            </a:p>
          </p:txBody>
        </p:sp>
        <p:sp>
          <p:nvSpPr>
            <p:cNvPr id="7" name="TextBox 6"/>
            <p:cNvSpPr txBox="1"/>
            <p:nvPr/>
          </p:nvSpPr>
          <p:spPr>
            <a:xfrm>
              <a:off x="5214583" y="2809450"/>
              <a:ext cx="1679388" cy="432094"/>
            </a:xfrm>
            <a:prstGeom prst="rect">
              <a:avLst/>
            </a:prstGeom>
            <a:noFill/>
          </p:spPr>
          <p:txBody>
            <a:bodyPr wrap="square" rtlCol="0">
              <a:spAutoFit/>
            </a:bodyPr>
            <a:lstStyle/>
            <a:p>
              <a:r>
                <a:rPr lang="en-US" sz="1400" dirty="0" smtClean="0"/>
                <a:t>Capacitor</a:t>
              </a:r>
              <a:endParaRPr lang="sv-SE" sz="1400" dirty="0"/>
            </a:p>
          </p:txBody>
        </p:sp>
        <p:sp>
          <p:nvSpPr>
            <p:cNvPr id="19" name="TextBox 18"/>
            <p:cNvSpPr txBox="1"/>
            <p:nvPr/>
          </p:nvSpPr>
          <p:spPr>
            <a:xfrm>
              <a:off x="5204455" y="3309694"/>
              <a:ext cx="2058894" cy="432094"/>
            </a:xfrm>
            <a:prstGeom prst="rect">
              <a:avLst/>
            </a:prstGeom>
            <a:noFill/>
          </p:spPr>
          <p:txBody>
            <a:bodyPr wrap="square" rtlCol="0">
              <a:spAutoFit/>
            </a:bodyPr>
            <a:lstStyle/>
            <a:p>
              <a:r>
                <a:rPr lang="en-US" sz="1400" dirty="0" smtClean="0"/>
                <a:t>Power Modules</a:t>
              </a:r>
              <a:endParaRPr lang="sv-SE" sz="1400" dirty="0"/>
            </a:p>
          </p:txBody>
        </p:sp>
        <p:sp>
          <p:nvSpPr>
            <p:cNvPr id="8" name="Oval 7"/>
            <p:cNvSpPr/>
            <p:nvPr/>
          </p:nvSpPr>
          <p:spPr>
            <a:xfrm>
              <a:off x="4736796" y="3897168"/>
              <a:ext cx="214823" cy="191247"/>
            </a:xfrm>
            <a:prstGeom prst="ellipse">
              <a:avLst/>
            </a:prstGeom>
            <a:solidFill>
              <a:srgbClr val="0029ED"/>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400" dirty="0"/>
            </a:p>
          </p:txBody>
        </p:sp>
        <p:sp>
          <p:nvSpPr>
            <p:cNvPr id="20" name="TextBox 19"/>
            <p:cNvSpPr txBox="1"/>
            <p:nvPr/>
          </p:nvSpPr>
          <p:spPr>
            <a:xfrm>
              <a:off x="5183538" y="3808125"/>
              <a:ext cx="2058894" cy="432094"/>
            </a:xfrm>
            <a:prstGeom prst="rect">
              <a:avLst/>
            </a:prstGeom>
            <a:noFill/>
          </p:spPr>
          <p:txBody>
            <a:bodyPr wrap="square" rtlCol="0">
              <a:spAutoFit/>
            </a:bodyPr>
            <a:lstStyle/>
            <a:p>
              <a:r>
                <a:rPr lang="en-US" sz="1400" dirty="0" smtClean="0"/>
                <a:t>DC- Nodes</a:t>
              </a:r>
              <a:endParaRPr lang="sv-SE" sz="1400" dirty="0"/>
            </a:p>
          </p:txBody>
        </p:sp>
        <p:sp>
          <p:nvSpPr>
            <p:cNvPr id="21" name="Oval 20"/>
            <p:cNvSpPr/>
            <p:nvPr/>
          </p:nvSpPr>
          <p:spPr>
            <a:xfrm>
              <a:off x="4736795" y="4279363"/>
              <a:ext cx="214823" cy="191247"/>
            </a:xfrm>
            <a:prstGeom prst="ellipse">
              <a:avLst/>
            </a:prstGeom>
            <a:solidFill>
              <a:srgbClr val="FF0000"/>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400" dirty="0"/>
            </a:p>
          </p:txBody>
        </p:sp>
        <p:sp>
          <p:nvSpPr>
            <p:cNvPr id="23" name="TextBox 22"/>
            <p:cNvSpPr txBox="1"/>
            <p:nvPr/>
          </p:nvSpPr>
          <p:spPr>
            <a:xfrm>
              <a:off x="5183536" y="4210126"/>
              <a:ext cx="2058894" cy="432094"/>
            </a:xfrm>
            <a:prstGeom prst="rect">
              <a:avLst/>
            </a:prstGeom>
            <a:noFill/>
          </p:spPr>
          <p:txBody>
            <a:bodyPr wrap="square" rtlCol="0">
              <a:spAutoFit/>
            </a:bodyPr>
            <a:lstStyle/>
            <a:p>
              <a:r>
                <a:rPr lang="en-US" sz="1400" dirty="0" smtClean="0"/>
                <a:t>DC+ Nodes</a:t>
              </a:r>
              <a:endParaRPr lang="sv-SE" sz="1400" dirty="0"/>
            </a:p>
          </p:txBody>
        </p:sp>
      </p:grpSp>
      <p:grpSp>
        <p:nvGrpSpPr>
          <p:cNvPr id="3" name="Group 2"/>
          <p:cNvGrpSpPr/>
          <p:nvPr/>
        </p:nvGrpSpPr>
        <p:grpSpPr>
          <a:xfrm>
            <a:off x="294878" y="1195753"/>
            <a:ext cx="3580131" cy="3628323"/>
            <a:chOff x="620993" y="1296894"/>
            <a:chExt cx="4022495" cy="4678176"/>
          </a:xfrm>
        </p:grpSpPr>
        <p:pic>
          <p:nvPicPr>
            <p:cNvPr id="5" name="Picture 4"/>
            <p:cNvPicPr>
              <a:picLocks noChangeAspect="1"/>
            </p:cNvPicPr>
            <p:nvPr/>
          </p:nvPicPr>
          <p:blipFill>
            <a:blip r:embed="rId2"/>
            <a:stretch>
              <a:fillRect/>
            </a:stretch>
          </p:blipFill>
          <p:spPr>
            <a:xfrm>
              <a:off x="620993" y="1296894"/>
              <a:ext cx="4022495" cy="4678176"/>
            </a:xfrm>
            <a:prstGeom prst="rect">
              <a:avLst/>
            </a:prstGeom>
          </p:spPr>
        </p:pic>
        <p:sp>
          <p:nvSpPr>
            <p:cNvPr id="6" name="Rectangle 5"/>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9" name="Rectangle 8"/>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11" name="Rectangle 10"/>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13" name="Rectangle 12"/>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14" name="Rectangle 13"/>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15" name="Rectangle 14"/>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16" name="Rectangle 15"/>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sz="1200" dirty="0"/>
            </a:p>
          </p:txBody>
        </p:sp>
        <p:sp>
          <p:nvSpPr>
            <p:cNvPr id="22" name="TextBox 21"/>
            <p:cNvSpPr txBox="1"/>
            <p:nvPr/>
          </p:nvSpPr>
          <p:spPr>
            <a:xfrm>
              <a:off x="3139471" y="3474737"/>
              <a:ext cx="483622" cy="357148"/>
            </a:xfrm>
            <a:prstGeom prst="rect">
              <a:avLst/>
            </a:prstGeom>
            <a:noFill/>
          </p:spPr>
          <p:txBody>
            <a:bodyPr wrap="square" rtlCol="0">
              <a:spAutoFit/>
            </a:bodyPr>
            <a:lstStyle/>
            <a:p>
              <a:r>
                <a:rPr lang="sv-SE" sz="1200" dirty="0" smtClean="0"/>
                <a:t>C1</a:t>
              </a:r>
              <a:endParaRPr lang="sv-SE" sz="1200" dirty="0"/>
            </a:p>
          </p:txBody>
        </p:sp>
        <p:sp>
          <p:nvSpPr>
            <p:cNvPr id="24" name="TextBox 23"/>
            <p:cNvSpPr txBox="1"/>
            <p:nvPr/>
          </p:nvSpPr>
          <p:spPr>
            <a:xfrm>
              <a:off x="1647273" y="3474737"/>
              <a:ext cx="483622" cy="357148"/>
            </a:xfrm>
            <a:prstGeom prst="rect">
              <a:avLst/>
            </a:prstGeom>
            <a:noFill/>
          </p:spPr>
          <p:txBody>
            <a:bodyPr wrap="square" rtlCol="0">
              <a:spAutoFit/>
            </a:bodyPr>
            <a:lstStyle/>
            <a:p>
              <a:r>
                <a:rPr lang="sv-SE" sz="1200" dirty="0" smtClean="0"/>
                <a:t>C2</a:t>
              </a:r>
              <a:endParaRPr lang="sv-SE" sz="1200" dirty="0"/>
            </a:p>
          </p:txBody>
        </p:sp>
        <p:sp>
          <p:nvSpPr>
            <p:cNvPr id="25" name="TextBox 24"/>
            <p:cNvSpPr txBox="1"/>
            <p:nvPr/>
          </p:nvSpPr>
          <p:spPr>
            <a:xfrm>
              <a:off x="1631813" y="1996363"/>
              <a:ext cx="483622" cy="357148"/>
            </a:xfrm>
            <a:prstGeom prst="rect">
              <a:avLst/>
            </a:prstGeom>
            <a:noFill/>
          </p:spPr>
          <p:txBody>
            <a:bodyPr wrap="square" rtlCol="0">
              <a:spAutoFit/>
            </a:bodyPr>
            <a:lstStyle/>
            <a:p>
              <a:r>
                <a:rPr lang="sv-SE" sz="1200" dirty="0" smtClean="0"/>
                <a:t>C3</a:t>
              </a:r>
              <a:endParaRPr lang="sv-SE" sz="1200" dirty="0"/>
            </a:p>
          </p:txBody>
        </p:sp>
        <p:sp>
          <p:nvSpPr>
            <p:cNvPr id="26" name="TextBox 25"/>
            <p:cNvSpPr txBox="1"/>
            <p:nvPr/>
          </p:nvSpPr>
          <p:spPr>
            <a:xfrm>
              <a:off x="3115132" y="1996363"/>
              <a:ext cx="507962" cy="357148"/>
            </a:xfrm>
            <a:prstGeom prst="rect">
              <a:avLst/>
            </a:prstGeom>
            <a:noFill/>
          </p:spPr>
          <p:txBody>
            <a:bodyPr wrap="square" rtlCol="0">
              <a:spAutoFit/>
            </a:bodyPr>
            <a:lstStyle/>
            <a:p>
              <a:r>
                <a:rPr lang="sv-SE" sz="1200" dirty="0" smtClean="0"/>
                <a:t>C4</a:t>
              </a:r>
              <a:endParaRPr lang="sv-SE" sz="1200" dirty="0"/>
            </a:p>
          </p:txBody>
        </p:sp>
      </p:grpSp>
      <mc:AlternateContent xmlns:mc="http://schemas.openxmlformats.org/markup-compatibility/2006">
        <mc:Choice xmlns:a14="http://schemas.microsoft.com/office/drawing/2010/main" Requires="a14">
          <p:graphicFrame>
            <p:nvGraphicFramePr>
              <p:cNvPr id="27" name="Table 26"/>
              <p:cNvGraphicFramePr>
                <a:graphicFrameLocks noGrp="1"/>
              </p:cNvGraphicFramePr>
              <p:nvPr>
                <p:extLst>
                  <p:ext uri="{D42A27DB-BD31-4B8C-83A1-F6EECF244321}">
                    <p14:modId xmlns:p14="http://schemas.microsoft.com/office/powerpoint/2010/main" val="692361710"/>
                  </p:ext>
                </p:extLst>
              </p:nvPr>
            </p:nvGraphicFramePr>
            <p:xfrm>
              <a:off x="4635943" y="1181114"/>
              <a:ext cx="6880380" cy="1828800"/>
            </p:xfrm>
            <a:graphic>
              <a:graphicData uri="http://schemas.openxmlformats.org/drawingml/2006/table">
                <a:tbl>
                  <a:tblPr firstRow="1" bandRow="1">
                    <a:tableStyleId>{5C22544A-7EE6-4342-B048-85BDC9FD1C3A}</a:tableStyleId>
                  </a:tblPr>
                  <a:tblGrid>
                    <a:gridCol w="1720095">
                      <a:extLst>
                        <a:ext uri="{9D8B030D-6E8A-4147-A177-3AD203B41FA5}">
                          <a16:colId xmlns:a16="http://schemas.microsoft.com/office/drawing/2014/main" val="278631582"/>
                        </a:ext>
                      </a:extLst>
                    </a:gridCol>
                    <a:gridCol w="1720095">
                      <a:extLst>
                        <a:ext uri="{9D8B030D-6E8A-4147-A177-3AD203B41FA5}">
                          <a16:colId xmlns:a16="http://schemas.microsoft.com/office/drawing/2014/main" val="844494951"/>
                        </a:ext>
                      </a:extLst>
                    </a:gridCol>
                    <a:gridCol w="1720095">
                      <a:extLst>
                        <a:ext uri="{9D8B030D-6E8A-4147-A177-3AD203B41FA5}">
                          <a16:colId xmlns:a16="http://schemas.microsoft.com/office/drawing/2014/main" val="3775262176"/>
                        </a:ext>
                      </a:extLst>
                    </a:gridCol>
                    <a:gridCol w="1720095">
                      <a:extLst>
                        <a:ext uri="{9D8B030D-6E8A-4147-A177-3AD203B41FA5}">
                          <a16:colId xmlns:a16="http://schemas.microsoft.com/office/drawing/2014/main" val="3461459550"/>
                        </a:ext>
                      </a:extLst>
                    </a:gridCol>
                  </a:tblGrid>
                  <a:tr h="272369">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276152">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27615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27615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27615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p:graphicFrame>
            <p:nvGraphicFramePr>
              <p:cNvPr id="27" name="Table 26"/>
              <p:cNvGraphicFramePr>
                <a:graphicFrameLocks noGrp="1"/>
              </p:cNvGraphicFramePr>
              <p:nvPr>
                <p:extLst>
                  <p:ext uri="{D42A27DB-BD31-4B8C-83A1-F6EECF244321}">
                    <p14:modId xmlns:p14="http://schemas.microsoft.com/office/powerpoint/2010/main" val="692361710"/>
                  </p:ext>
                </p:extLst>
              </p:nvPr>
            </p:nvGraphicFramePr>
            <p:xfrm>
              <a:off x="4635943" y="1181114"/>
              <a:ext cx="6880380" cy="1828800"/>
            </p:xfrm>
            <a:graphic>
              <a:graphicData uri="http://schemas.openxmlformats.org/drawingml/2006/table">
                <a:tbl>
                  <a:tblPr firstRow="1" bandRow="1">
                    <a:tableStyleId>{5C22544A-7EE6-4342-B048-85BDC9FD1C3A}</a:tableStyleId>
                  </a:tblPr>
                  <a:tblGrid>
                    <a:gridCol w="1720095">
                      <a:extLst>
                        <a:ext uri="{9D8B030D-6E8A-4147-A177-3AD203B41FA5}">
                          <a16:colId xmlns:a16="http://schemas.microsoft.com/office/drawing/2014/main" val="278631582"/>
                        </a:ext>
                      </a:extLst>
                    </a:gridCol>
                    <a:gridCol w="1720095">
                      <a:extLst>
                        <a:ext uri="{9D8B030D-6E8A-4147-A177-3AD203B41FA5}">
                          <a16:colId xmlns:a16="http://schemas.microsoft.com/office/drawing/2014/main" val="844494951"/>
                        </a:ext>
                      </a:extLst>
                    </a:gridCol>
                    <a:gridCol w="1720095">
                      <a:extLst>
                        <a:ext uri="{9D8B030D-6E8A-4147-A177-3AD203B41FA5}">
                          <a16:colId xmlns:a16="http://schemas.microsoft.com/office/drawing/2014/main" val="3775262176"/>
                        </a:ext>
                      </a:extLst>
                    </a:gridCol>
                    <a:gridCol w="1720095">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65760">
                    <a:tc>
                      <a:txBody>
                        <a:bodyPr/>
                        <a:lstStyle/>
                        <a:p>
                          <a:r>
                            <a:rPr lang="en-US" dirty="0" smtClean="0"/>
                            <a:t>Capacitor-1</a:t>
                          </a:r>
                          <a:endParaRPr lang="sv-SE" dirty="0"/>
                        </a:p>
                      </a:txBody>
                      <a:tcPr/>
                    </a:tc>
                    <a:tc>
                      <a:txBody>
                        <a:bodyPr/>
                        <a:lstStyle/>
                        <a:p>
                          <a:endParaRPr lang="sv-SE"/>
                        </a:p>
                      </a:txBody>
                      <a:tcPr>
                        <a:blipFill>
                          <a:blip r:embed="rId3"/>
                          <a:stretch>
                            <a:fillRect l="-100709" t="-108333" r="-201773" b="-328333"/>
                          </a:stretch>
                        </a:blipFill>
                      </a:tcPr>
                    </a:tc>
                    <a:tc>
                      <a:txBody>
                        <a:bodyPr/>
                        <a:lstStyle/>
                        <a:p>
                          <a:endParaRPr lang="sv-SE"/>
                        </a:p>
                      </a:txBody>
                      <a:tcPr>
                        <a:blipFill>
                          <a:blip r:embed="rId3"/>
                          <a:stretch>
                            <a:fillRect l="-200000" t="-108333" r="-101060" b="-328333"/>
                          </a:stretch>
                        </a:blipFill>
                      </a:tcPr>
                    </a:tc>
                    <a:tc>
                      <a:txBody>
                        <a:bodyPr/>
                        <a:lstStyle/>
                        <a:p>
                          <a:endParaRPr lang="sv-SE"/>
                        </a:p>
                      </a:txBody>
                      <a:tcPr>
                        <a:blipFill>
                          <a:blip r:embed="rId3"/>
                          <a:stretch>
                            <a:fillRect l="-301064" t="-108333" r="-1418" b="-328333"/>
                          </a:stretch>
                        </a:blipFill>
                      </a:tcPr>
                    </a:tc>
                    <a:extLst>
                      <a:ext uri="{0D108BD9-81ED-4DB2-BD59-A6C34878D82A}">
                        <a16:rowId xmlns:a16="http://schemas.microsoft.com/office/drawing/2014/main" val="3304193326"/>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3"/>
                          <a:stretch>
                            <a:fillRect l="-100709" t="-204918" r="-201773" b="-222951"/>
                          </a:stretch>
                        </a:blipFill>
                      </a:tcPr>
                    </a:tc>
                    <a:tc>
                      <a:txBody>
                        <a:bodyPr/>
                        <a:lstStyle/>
                        <a:p>
                          <a:endParaRPr lang="sv-SE"/>
                        </a:p>
                      </a:txBody>
                      <a:tcPr>
                        <a:blipFill>
                          <a:blip r:embed="rId3"/>
                          <a:stretch>
                            <a:fillRect l="-200000" t="-204918" r="-101060" b="-222951"/>
                          </a:stretch>
                        </a:blipFill>
                      </a:tcPr>
                    </a:tc>
                    <a:tc>
                      <a:txBody>
                        <a:bodyPr/>
                        <a:lstStyle/>
                        <a:p>
                          <a:endParaRPr lang="sv-SE"/>
                        </a:p>
                      </a:txBody>
                      <a:tcPr>
                        <a:blipFill>
                          <a:blip r:embed="rId3"/>
                          <a:stretch>
                            <a:fillRect l="-301064" t="-204918" r="-1418" b="-222951"/>
                          </a:stretch>
                        </a:blipFill>
                      </a:tcPr>
                    </a:tc>
                    <a:extLst>
                      <a:ext uri="{0D108BD9-81ED-4DB2-BD59-A6C34878D82A}">
                        <a16:rowId xmlns:a16="http://schemas.microsoft.com/office/drawing/2014/main" val="904248960"/>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3"/>
                          <a:stretch>
                            <a:fillRect l="-100709" t="-310000" r="-201773" b="-126667"/>
                          </a:stretch>
                        </a:blipFill>
                      </a:tcPr>
                    </a:tc>
                    <a:tc>
                      <a:txBody>
                        <a:bodyPr/>
                        <a:lstStyle/>
                        <a:p>
                          <a:endParaRPr lang="sv-SE"/>
                        </a:p>
                      </a:txBody>
                      <a:tcPr>
                        <a:blipFill>
                          <a:blip r:embed="rId3"/>
                          <a:stretch>
                            <a:fillRect l="-200000" t="-310000" r="-101060" b="-126667"/>
                          </a:stretch>
                        </a:blipFill>
                      </a:tcPr>
                    </a:tc>
                    <a:tc>
                      <a:txBody>
                        <a:bodyPr/>
                        <a:lstStyle/>
                        <a:p>
                          <a:endParaRPr lang="sv-SE"/>
                        </a:p>
                      </a:txBody>
                      <a:tcPr>
                        <a:blipFill>
                          <a:blip r:embed="rId3"/>
                          <a:stretch>
                            <a:fillRect l="-301064" t="-310000" r="-1418" b="-126667"/>
                          </a:stretch>
                        </a:blipFill>
                      </a:tcPr>
                    </a:tc>
                    <a:extLst>
                      <a:ext uri="{0D108BD9-81ED-4DB2-BD59-A6C34878D82A}">
                        <a16:rowId xmlns:a16="http://schemas.microsoft.com/office/drawing/2014/main" val="2005996215"/>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3"/>
                          <a:stretch>
                            <a:fillRect l="-100709" t="-410000" r="-201773" b="-26667"/>
                          </a:stretch>
                        </a:blipFill>
                      </a:tcPr>
                    </a:tc>
                    <a:tc>
                      <a:txBody>
                        <a:bodyPr/>
                        <a:lstStyle/>
                        <a:p>
                          <a:endParaRPr lang="sv-SE"/>
                        </a:p>
                      </a:txBody>
                      <a:tcPr>
                        <a:blipFill>
                          <a:blip r:embed="rId3"/>
                          <a:stretch>
                            <a:fillRect l="-200000" t="-410000" r="-101060" b="-26667"/>
                          </a:stretch>
                        </a:blipFill>
                      </a:tcPr>
                    </a:tc>
                    <a:tc>
                      <a:txBody>
                        <a:bodyPr/>
                        <a:lstStyle/>
                        <a:p>
                          <a:endParaRPr lang="sv-SE"/>
                        </a:p>
                      </a:txBody>
                      <a:tcPr>
                        <a:blipFill>
                          <a:blip r:embed="rId3"/>
                          <a:stretch>
                            <a:fillRect l="-301064" t="-410000" r="-1418" b="-26667"/>
                          </a:stretch>
                        </a:blipFill>
                      </a:tcPr>
                    </a:tc>
                    <a:extLst>
                      <a:ext uri="{0D108BD9-81ED-4DB2-BD59-A6C34878D82A}">
                        <a16:rowId xmlns:a16="http://schemas.microsoft.com/office/drawing/2014/main" val="1700131790"/>
                      </a:ext>
                    </a:extLst>
                  </a:tr>
                </a:tbl>
              </a:graphicData>
            </a:graphic>
          </p:graphicFrame>
        </mc:Fallback>
      </mc:AlternateContent>
      <p:sp>
        <p:nvSpPr>
          <p:cNvPr id="29" name="TextBox 28"/>
          <p:cNvSpPr txBox="1"/>
          <p:nvPr/>
        </p:nvSpPr>
        <p:spPr>
          <a:xfrm>
            <a:off x="6441998" y="768207"/>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p:sp>
        <p:nvSpPr>
          <p:cNvPr id="30" name="Rectangle 29">
            <a:extLst>
              <a:ext uri="{FF2B5EF4-FFF2-40B4-BE49-F238E27FC236}">
                <a16:creationId xmlns:a16="http://schemas.microsoft.com/office/drawing/2014/main" id="{5FD27746-BC71-497E-87F6-231B78DB66C2}"/>
              </a:ext>
            </a:extLst>
          </p:cNvPr>
          <p:cNvSpPr/>
          <p:nvPr/>
        </p:nvSpPr>
        <p:spPr>
          <a:xfrm>
            <a:off x="4970347" y="3422821"/>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1" name="Rectangle 30">
                <a:extLst>
                  <a:ext uri="{FF2B5EF4-FFF2-40B4-BE49-F238E27FC236}">
                    <a16:creationId xmlns:a16="http://schemas.microsoft.com/office/drawing/2014/main" id="{EA414EB2-1DD8-401E-96DE-5071FE225EAE}"/>
                  </a:ext>
                </a:extLst>
              </p:cNvPr>
              <p:cNvSpPr/>
              <p:nvPr/>
            </p:nvSpPr>
            <p:spPr>
              <a:xfrm>
                <a:off x="4933285" y="3911520"/>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p:sp>
            <p:nvSpPr>
              <p:cNvPr id="31" name="Rectangle 30">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4933285" y="3911520"/>
                <a:ext cx="6323398" cy="390748"/>
              </a:xfrm>
              <a:prstGeom prst="rect">
                <a:avLst/>
              </a:prstGeom>
              <a:blipFill>
                <a:blip r:embed="rId4"/>
                <a:stretch>
                  <a:fillRect t="-9375" b="-18750"/>
                </a:stretch>
              </a:blipFill>
            </p:spPr>
            <p:txBody>
              <a:bodyPr/>
              <a:lstStyle/>
              <a:p>
                <a:r>
                  <a:rPr lang="sv-SE">
                    <a:noFill/>
                  </a:rPr>
                  <a:t> </a:t>
                </a:r>
              </a:p>
            </p:txBody>
          </p:sp>
        </mc:Fallback>
      </mc:AlternateContent>
      <p:pic>
        <p:nvPicPr>
          <p:cNvPr id="32" name="Picture 31"/>
          <p:cNvPicPr>
            <a:picLocks noChangeAspect="1"/>
          </p:cNvPicPr>
          <p:nvPr/>
        </p:nvPicPr>
        <p:blipFill>
          <a:blip r:embed="rId5"/>
          <a:stretch>
            <a:fillRect/>
          </a:stretch>
        </p:blipFill>
        <p:spPr>
          <a:xfrm>
            <a:off x="6441998" y="4571455"/>
            <a:ext cx="3343034" cy="2042343"/>
          </a:xfrm>
          <a:prstGeom prst="rect">
            <a:avLst/>
          </a:prstGeom>
        </p:spPr>
      </p:pic>
    </p:spTree>
    <p:extLst>
      <p:ext uri="{BB962C8B-B14F-4D97-AF65-F5344CB8AC3E}">
        <p14:creationId xmlns:p14="http://schemas.microsoft.com/office/powerpoint/2010/main" val="19757863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257175" y="832247"/>
            <a:ext cx="4264025" cy="3198019"/>
          </a:xfrm>
          <a:prstGeom prst="rect">
            <a:avLst/>
          </a:prstGeom>
        </p:spPr>
      </p:pic>
      <p:pic>
        <p:nvPicPr>
          <p:cNvPr id="10" name="Picture 9"/>
          <p:cNvPicPr>
            <a:picLocks noChangeAspect="1"/>
          </p:cNvPicPr>
          <p:nvPr/>
        </p:nvPicPr>
        <p:blipFill>
          <a:blip r:embed="rId3"/>
          <a:stretch>
            <a:fillRect/>
          </a:stretch>
        </p:blipFill>
        <p:spPr>
          <a:xfrm>
            <a:off x="8070850" y="990600"/>
            <a:ext cx="3896783" cy="2922587"/>
          </a:xfrm>
          <a:prstGeom prst="rect">
            <a:avLst/>
          </a:prstGeom>
        </p:spPr>
      </p:pic>
      <p:pic>
        <p:nvPicPr>
          <p:cNvPr id="11" name="Picture 10"/>
          <p:cNvPicPr>
            <a:picLocks noChangeAspect="1"/>
          </p:cNvPicPr>
          <p:nvPr/>
        </p:nvPicPr>
        <p:blipFill>
          <a:blip r:embed="rId4"/>
          <a:stretch>
            <a:fillRect/>
          </a:stretch>
        </p:blipFill>
        <p:spPr>
          <a:xfrm>
            <a:off x="4305606" y="3527047"/>
            <a:ext cx="3937000" cy="2952750"/>
          </a:xfrm>
          <a:prstGeom prst="rect">
            <a:avLst/>
          </a:prstGeom>
        </p:spPr>
      </p:pic>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DC Link Current (Positive/Negative/Zero Sequences)</a:t>
            </a:r>
            <a:endParaRPr lang="sv-SE" dirty="0">
              <a:latin typeface="Times New Roman" panose="02020603050405020304" pitchFamily="18" charset="0"/>
              <a:cs typeface="Times New Roman" panose="02020603050405020304" pitchFamily="18" charset="0"/>
            </a:endParaRPr>
          </a:p>
        </p:txBody>
      </p:sp>
      <p:sp>
        <p:nvSpPr>
          <p:cNvPr id="2" name="TextBox 1"/>
          <p:cNvSpPr txBox="1"/>
          <p:nvPr/>
        </p:nvSpPr>
        <p:spPr>
          <a:xfrm>
            <a:off x="5931273" y="6479797"/>
            <a:ext cx="2862730" cy="369332"/>
          </a:xfrm>
          <a:prstGeom prst="rect">
            <a:avLst/>
          </a:prstGeom>
          <a:noFill/>
        </p:spPr>
        <p:txBody>
          <a:bodyPr wrap="square" rtlCol="0">
            <a:spAutoFit/>
          </a:bodyPr>
          <a:lstStyle/>
          <a:p>
            <a:r>
              <a:rPr lang="en-US" dirty="0" smtClean="0"/>
              <a:t>6</a:t>
            </a:r>
            <a:r>
              <a:rPr lang="en-US" baseline="30000" dirty="0" smtClean="0"/>
              <a:t>th</a:t>
            </a:r>
            <a:r>
              <a:rPr lang="en-US" dirty="0" smtClean="0"/>
              <a:t> 12</a:t>
            </a:r>
            <a:r>
              <a:rPr lang="en-US" baseline="30000" dirty="0" smtClean="0"/>
              <a:t>th</a:t>
            </a:r>
            <a:r>
              <a:rPr lang="en-US" dirty="0" smtClean="0">
                <a:sym typeface="Wingdings" panose="05000000000000000000" pitchFamily="2" charset="2"/>
              </a:rPr>
              <a:t>  </a:t>
            </a:r>
            <a:endParaRPr lang="sv-SE" dirty="0"/>
          </a:p>
        </p:txBody>
      </p:sp>
    </p:spTree>
    <p:extLst>
      <p:ext uri="{BB962C8B-B14F-4D97-AF65-F5344CB8AC3E}">
        <p14:creationId xmlns:p14="http://schemas.microsoft.com/office/powerpoint/2010/main" val="229142613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240" y="300762"/>
            <a:ext cx="10990263" cy="568412"/>
          </a:xfrm>
        </p:spPr>
        <p:txBody>
          <a:bodyPr/>
          <a:lstStyle/>
          <a:p>
            <a:r>
              <a:rPr lang="en-US" dirty="0" smtClean="0"/>
              <a:t>Without Battery Model</a:t>
            </a:r>
            <a:endParaRPr lang="sv-SE" dirty="0"/>
          </a:p>
        </p:txBody>
      </p:sp>
      <p:pic>
        <p:nvPicPr>
          <p:cNvPr id="5" name="Picture 4"/>
          <p:cNvPicPr>
            <a:picLocks noChangeAspect="1"/>
          </p:cNvPicPr>
          <p:nvPr/>
        </p:nvPicPr>
        <p:blipFill>
          <a:blip r:embed="rId2"/>
          <a:stretch>
            <a:fillRect/>
          </a:stretch>
        </p:blipFill>
        <p:spPr>
          <a:xfrm>
            <a:off x="685800" y="1799292"/>
            <a:ext cx="5334000" cy="4000500"/>
          </a:xfrm>
          <a:prstGeom prst="rect">
            <a:avLst/>
          </a:prstGeom>
        </p:spPr>
      </p:pic>
      <p:sp>
        <p:nvSpPr>
          <p:cNvPr id="6" name="TextBox 5"/>
          <p:cNvSpPr txBox="1"/>
          <p:nvPr/>
        </p:nvSpPr>
        <p:spPr>
          <a:xfrm>
            <a:off x="1722825" y="1614626"/>
            <a:ext cx="3583232" cy="369332"/>
          </a:xfrm>
          <a:prstGeom prst="rect">
            <a:avLst/>
          </a:prstGeom>
          <a:noFill/>
        </p:spPr>
        <p:txBody>
          <a:bodyPr wrap="square" rtlCol="0">
            <a:spAutoFit/>
          </a:bodyPr>
          <a:lstStyle/>
          <a:p>
            <a:r>
              <a:rPr lang="en-US" dirty="0" smtClean="0"/>
              <a:t>Capacitor Responses to Phase-A</a:t>
            </a:r>
            <a:endParaRPr lang="sv-SE" dirty="0"/>
          </a:p>
        </p:txBody>
      </p:sp>
      <p:pic>
        <p:nvPicPr>
          <p:cNvPr id="7" name="Picture 6"/>
          <p:cNvPicPr>
            <a:picLocks noChangeAspect="1"/>
          </p:cNvPicPr>
          <p:nvPr/>
        </p:nvPicPr>
        <p:blipFill>
          <a:blip r:embed="rId3"/>
          <a:stretch>
            <a:fillRect/>
          </a:stretch>
        </p:blipFill>
        <p:spPr>
          <a:xfrm>
            <a:off x="6453094" y="1799292"/>
            <a:ext cx="5334000" cy="4000500"/>
          </a:xfrm>
          <a:prstGeom prst="rect">
            <a:avLst/>
          </a:prstGeom>
        </p:spPr>
      </p:pic>
      <p:sp>
        <p:nvSpPr>
          <p:cNvPr id="8" name="TextBox 7"/>
          <p:cNvSpPr txBox="1"/>
          <p:nvPr/>
        </p:nvSpPr>
        <p:spPr>
          <a:xfrm>
            <a:off x="7203692" y="1543836"/>
            <a:ext cx="4695621" cy="369332"/>
          </a:xfrm>
          <a:prstGeom prst="rect">
            <a:avLst/>
          </a:prstGeom>
          <a:noFill/>
        </p:spPr>
        <p:txBody>
          <a:bodyPr wrap="square" rtlCol="0">
            <a:spAutoFit/>
          </a:bodyPr>
          <a:lstStyle/>
          <a:p>
            <a:r>
              <a:rPr lang="en-US" dirty="0" smtClean="0"/>
              <a:t>Capacitor-1 Response to all phases</a:t>
            </a:r>
            <a:endParaRPr lang="sv-SE" dirty="0"/>
          </a:p>
        </p:txBody>
      </p:sp>
    </p:spTree>
    <p:extLst>
      <p:ext uri="{BB962C8B-B14F-4D97-AF65-F5344CB8AC3E}">
        <p14:creationId xmlns:p14="http://schemas.microsoft.com/office/powerpoint/2010/main" val="322285444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2"/>
          <a:stretch>
            <a:fillRect/>
          </a:stretch>
        </p:blipFill>
        <p:spPr>
          <a:xfrm>
            <a:off x="240783" y="2194689"/>
            <a:ext cx="5334000" cy="4000500"/>
          </a:xfrm>
          <a:prstGeom prst="rect">
            <a:avLst/>
          </a:prstGeom>
        </p:spPr>
      </p:pic>
      <p:sp>
        <p:nvSpPr>
          <p:cNvPr id="7" name="TextBox 6"/>
          <p:cNvSpPr txBox="1"/>
          <p:nvPr/>
        </p:nvSpPr>
        <p:spPr>
          <a:xfrm>
            <a:off x="709206" y="2194689"/>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3346884" y="1900665"/>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1888048" y="2517724"/>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6" idx="2"/>
          </p:cNvCxnSpPr>
          <p:nvPr/>
        </p:nvCxnSpPr>
        <p:spPr>
          <a:xfrm>
            <a:off x="4416617" y="3574144"/>
            <a:ext cx="68954" cy="1208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a:t>
            </a:r>
            <a:r>
              <a:rPr lang="en-US" dirty="0" smtClean="0">
                <a:latin typeface="Times New Roman" panose="02020603050405020304" pitchFamily="18" charset="0"/>
                <a:cs typeface="Times New Roman" panose="02020603050405020304" pitchFamily="18" charset="0"/>
              </a:rPr>
              <a:t>Connection</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1254346" y="1365474"/>
            <a:ext cx="4695621" cy="369332"/>
          </a:xfrm>
          <a:prstGeom prst="rect">
            <a:avLst/>
          </a:prstGeom>
          <a:noFill/>
        </p:spPr>
        <p:txBody>
          <a:bodyPr wrap="square" rtlCol="0">
            <a:spAutoFit/>
          </a:bodyPr>
          <a:lstStyle/>
          <a:p>
            <a:r>
              <a:rPr lang="en-US" dirty="0" smtClean="0"/>
              <a:t>Capacitor-1 Response to all phases</a:t>
            </a:r>
            <a:endParaRPr lang="sv-SE" dirty="0"/>
          </a:p>
        </p:txBody>
      </p:sp>
      <p:pic>
        <p:nvPicPr>
          <p:cNvPr id="16" name="Picture 15"/>
          <p:cNvPicPr>
            <a:picLocks noChangeAspect="1"/>
          </p:cNvPicPr>
          <p:nvPr/>
        </p:nvPicPr>
        <p:blipFill>
          <a:blip r:embed="rId3"/>
          <a:stretch>
            <a:fillRect/>
          </a:stretch>
        </p:blipFill>
        <p:spPr>
          <a:xfrm>
            <a:off x="3702164" y="2502466"/>
            <a:ext cx="1428905" cy="1071678"/>
          </a:xfrm>
          <a:prstGeom prst="rect">
            <a:avLst/>
          </a:prstGeom>
        </p:spPr>
      </p:pic>
      <p:pic>
        <p:nvPicPr>
          <p:cNvPr id="12" name="Picture 11"/>
          <p:cNvPicPr>
            <a:picLocks noChangeAspect="1"/>
          </p:cNvPicPr>
          <p:nvPr/>
        </p:nvPicPr>
        <p:blipFill>
          <a:blip r:embed="rId4"/>
          <a:stretch>
            <a:fillRect/>
          </a:stretch>
        </p:blipFill>
        <p:spPr>
          <a:xfrm>
            <a:off x="6369164" y="2194689"/>
            <a:ext cx="5334000" cy="4000500"/>
          </a:xfrm>
          <a:prstGeom prst="rect">
            <a:avLst/>
          </a:prstGeom>
        </p:spPr>
      </p:pic>
      <p:pic>
        <p:nvPicPr>
          <p:cNvPr id="14" name="Picture 13"/>
          <p:cNvPicPr>
            <a:picLocks noChangeAspect="1"/>
          </p:cNvPicPr>
          <p:nvPr/>
        </p:nvPicPr>
        <p:blipFill>
          <a:blip r:embed="rId5"/>
          <a:stretch>
            <a:fillRect/>
          </a:stretch>
        </p:blipFill>
        <p:spPr>
          <a:xfrm>
            <a:off x="9848292" y="2502146"/>
            <a:ext cx="1406406" cy="1054805"/>
          </a:xfrm>
          <a:prstGeom prst="rect">
            <a:avLst/>
          </a:prstGeom>
        </p:spPr>
      </p:pic>
      <p:sp>
        <p:nvSpPr>
          <p:cNvPr id="17" name="TextBox 16"/>
          <p:cNvSpPr txBox="1"/>
          <p:nvPr/>
        </p:nvSpPr>
        <p:spPr>
          <a:xfrm>
            <a:off x="6970041" y="2654198"/>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18" name="TextBox 17"/>
          <p:cNvSpPr txBox="1"/>
          <p:nvPr/>
        </p:nvSpPr>
        <p:spPr>
          <a:xfrm>
            <a:off x="9460549" y="1933079"/>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19" name="Straight Arrow Connector 18"/>
          <p:cNvCxnSpPr/>
          <p:nvPr/>
        </p:nvCxnSpPr>
        <p:spPr>
          <a:xfrm>
            <a:off x="8148883" y="2977233"/>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H="1">
            <a:off x="10589302" y="3556951"/>
            <a:ext cx="9934" cy="4951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7388395" y="1490998"/>
            <a:ext cx="3583232" cy="369332"/>
          </a:xfrm>
          <a:prstGeom prst="rect">
            <a:avLst/>
          </a:prstGeom>
          <a:noFill/>
        </p:spPr>
        <p:txBody>
          <a:bodyPr wrap="square" rtlCol="0">
            <a:spAutoFit/>
          </a:bodyPr>
          <a:lstStyle/>
          <a:p>
            <a:r>
              <a:rPr lang="en-US" dirty="0" smtClean="0"/>
              <a:t>Capacitor Responses to Phase-A</a:t>
            </a:r>
            <a:endParaRPr lang="sv-SE" dirty="0"/>
          </a:p>
        </p:txBody>
      </p:sp>
    </p:spTree>
    <p:extLst>
      <p:ext uri="{BB962C8B-B14F-4D97-AF65-F5344CB8AC3E}">
        <p14:creationId xmlns:p14="http://schemas.microsoft.com/office/powerpoint/2010/main" val="11821011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457450" y="933790"/>
            <a:ext cx="3092450" cy="646331"/>
          </a:xfrm>
          <a:prstGeom prst="rect">
            <a:avLst/>
          </a:prstGeom>
          <a:noFill/>
        </p:spPr>
        <p:txBody>
          <a:bodyPr wrap="square" rtlCol="0">
            <a:spAutoFit/>
          </a:bodyPr>
          <a:lstStyle/>
          <a:p>
            <a:r>
              <a:rPr lang="en-US" dirty="0" smtClean="0"/>
              <a:t>14 kHz  </a:t>
            </a:r>
            <a:r>
              <a:rPr lang="en-US" dirty="0"/>
              <a:t>Switching</a:t>
            </a:r>
            <a:endParaRPr lang="sv-SE" dirty="0"/>
          </a:p>
          <a:p>
            <a:endParaRPr lang="sv-SE" dirty="0"/>
          </a:p>
        </p:txBody>
      </p:sp>
      <p:sp>
        <p:nvSpPr>
          <p:cNvPr id="6" name="TextBox 5"/>
          <p:cNvSpPr txBox="1"/>
          <p:nvPr/>
        </p:nvSpPr>
        <p:spPr>
          <a:xfrm>
            <a:off x="8418512" y="903222"/>
            <a:ext cx="2871787" cy="369332"/>
          </a:xfrm>
          <a:prstGeom prst="rect">
            <a:avLst/>
          </a:prstGeom>
          <a:noFill/>
        </p:spPr>
        <p:txBody>
          <a:bodyPr wrap="square" rtlCol="0">
            <a:spAutoFit/>
          </a:bodyPr>
          <a:lstStyle/>
          <a:p>
            <a:r>
              <a:rPr lang="en-US" dirty="0" smtClean="0"/>
              <a:t>24kHz Switching</a:t>
            </a:r>
            <a:endParaRPr lang="sv-SE" dirty="0"/>
          </a:p>
        </p:txBody>
      </p:sp>
      <p:pic>
        <p:nvPicPr>
          <p:cNvPr id="7" name="Picture 6"/>
          <p:cNvPicPr>
            <a:picLocks noChangeAspect="1"/>
          </p:cNvPicPr>
          <p:nvPr/>
        </p:nvPicPr>
        <p:blipFill>
          <a:blip r:embed="rId2"/>
          <a:stretch>
            <a:fillRect/>
          </a:stretch>
        </p:blipFill>
        <p:spPr>
          <a:xfrm>
            <a:off x="6629400" y="1087888"/>
            <a:ext cx="5334000" cy="4000500"/>
          </a:xfrm>
          <a:prstGeom prst="rect">
            <a:avLst/>
          </a:prstGeom>
        </p:spPr>
      </p:pic>
      <p:pic>
        <p:nvPicPr>
          <p:cNvPr id="8" name="Picture 7"/>
          <p:cNvPicPr>
            <a:picLocks noChangeAspect="1"/>
          </p:cNvPicPr>
          <p:nvPr/>
        </p:nvPicPr>
        <p:blipFill>
          <a:blip r:embed="rId3"/>
          <a:stretch>
            <a:fillRect/>
          </a:stretch>
        </p:blipFill>
        <p:spPr>
          <a:xfrm>
            <a:off x="876300" y="1256956"/>
            <a:ext cx="4883150" cy="3662363"/>
          </a:xfrm>
          <a:prstGeom prst="rect">
            <a:avLst/>
          </a:prstGeom>
        </p:spPr>
      </p:pic>
      <p:sp>
        <p:nvSpPr>
          <p:cNvPr id="10"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High Frequency Resonance</a:t>
            </a:r>
            <a:endParaRPr lang="sv-SE" dirty="0">
              <a:latin typeface="Times New Roman" panose="02020603050405020304" pitchFamily="18" charset="0"/>
              <a:cs typeface="Times New Roman" panose="02020603050405020304" pitchFamily="18" charset="0"/>
            </a:endParaRPr>
          </a:p>
        </p:txBody>
      </p:sp>
      <p:sp>
        <p:nvSpPr>
          <p:cNvPr id="3" name="Rectangle 2"/>
          <p:cNvSpPr/>
          <p:nvPr/>
        </p:nvSpPr>
        <p:spPr>
          <a:xfrm>
            <a:off x="2677833" y="4674721"/>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 name="TextBox 3"/>
          <p:cNvSpPr txBox="1"/>
          <p:nvPr/>
        </p:nvSpPr>
        <p:spPr>
          <a:xfrm>
            <a:off x="2585149" y="4674721"/>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9" name="Rectangle 8"/>
          <p:cNvSpPr/>
          <p:nvPr/>
        </p:nvSpPr>
        <p:spPr>
          <a:xfrm>
            <a:off x="8615457" y="4828609"/>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TextBox 10"/>
          <p:cNvSpPr txBox="1"/>
          <p:nvPr/>
        </p:nvSpPr>
        <p:spPr>
          <a:xfrm>
            <a:off x="8522773" y="4828609"/>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190500" y="5402589"/>
            <a:ext cx="11772900" cy="923330"/>
          </a:xfrm>
          <a:prstGeom prst="rect">
            <a:avLst/>
          </a:prstGeom>
          <a:noFill/>
        </p:spPr>
        <p:txBody>
          <a:bodyPr wrap="square" rtlCol="0">
            <a:spAutoFit/>
          </a:bodyPr>
          <a:lstStyle/>
          <a:p>
            <a:r>
              <a:rPr lang="en-US" dirty="0" smtClean="0"/>
              <a:t>P.S: The high-frequency resonance might be considerable if we have a  dual-3-phase-inverter (6-phase) structure and we desire to interleave them to reduce capacitance requirements. (We should look at phase response at </a:t>
            </a:r>
            <a:r>
              <a:rPr lang="en-US" dirty="0" smtClean="0"/>
              <a:t>such a scenario)</a:t>
            </a:r>
            <a:endParaRPr lang="sv-SE" dirty="0"/>
          </a:p>
        </p:txBody>
      </p:sp>
    </p:spTree>
    <p:extLst>
      <p:ext uri="{BB962C8B-B14F-4D97-AF65-F5344CB8AC3E}">
        <p14:creationId xmlns:p14="http://schemas.microsoft.com/office/powerpoint/2010/main" val="21994117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69862" y="1319852"/>
            <a:ext cx="5719763" cy="5296847"/>
          </a:xfrm>
          <a:prstGeom prst="rect">
            <a:avLst/>
          </a:prstGeom>
        </p:spPr>
      </p:pic>
      <p:pic>
        <p:nvPicPr>
          <p:cNvPr id="5" name="Picture 4"/>
          <p:cNvPicPr>
            <a:picLocks noChangeAspect="1"/>
          </p:cNvPicPr>
          <p:nvPr/>
        </p:nvPicPr>
        <p:blipFill>
          <a:blip r:embed="rId3"/>
          <a:stretch>
            <a:fillRect/>
          </a:stretch>
        </p:blipFill>
        <p:spPr>
          <a:xfrm>
            <a:off x="5481705" y="1528439"/>
            <a:ext cx="6944751" cy="5042957"/>
          </a:xfrm>
          <a:prstGeom prst="rect">
            <a:avLst/>
          </a:prstGeom>
        </p:spPr>
      </p:pic>
      <p:sp>
        <p:nvSpPr>
          <p:cNvPr id="2" name="TextBox 1"/>
          <p:cNvSpPr txBox="1"/>
          <p:nvPr/>
        </p:nvSpPr>
        <p:spPr>
          <a:xfrm>
            <a:off x="1835150" y="1159107"/>
            <a:ext cx="3092450" cy="369332"/>
          </a:xfrm>
          <a:prstGeom prst="rect">
            <a:avLst/>
          </a:prstGeom>
          <a:noFill/>
        </p:spPr>
        <p:txBody>
          <a:bodyPr wrap="square" rtlCol="0">
            <a:spAutoFit/>
          </a:bodyPr>
          <a:lstStyle/>
          <a:p>
            <a:r>
              <a:rPr lang="en-US" dirty="0" smtClean="0"/>
              <a:t>700 Hz Fundamental</a:t>
            </a:r>
            <a:endParaRPr lang="sv-SE" dirty="0"/>
          </a:p>
        </p:txBody>
      </p:sp>
      <p:sp>
        <p:nvSpPr>
          <p:cNvPr id="6" name="TextBox 5"/>
          <p:cNvSpPr txBox="1"/>
          <p:nvPr/>
        </p:nvSpPr>
        <p:spPr>
          <a:xfrm>
            <a:off x="8202612" y="1159107"/>
            <a:ext cx="2871787" cy="369332"/>
          </a:xfrm>
          <a:prstGeom prst="rect">
            <a:avLst/>
          </a:prstGeom>
          <a:noFill/>
        </p:spPr>
        <p:txBody>
          <a:bodyPr wrap="square" rtlCol="0">
            <a:spAutoFit/>
          </a:bodyPr>
          <a:lstStyle/>
          <a:p>
            <a:r>
              <a:rPr lang="en-US" dirty="0" smtClean="0"/>
              <a:t>200 Hz Fundamental</a:t>
            </a:r>
            <a:endParaRPr lang="sv-SE" dirty="0"/>
          </a:p>
        </p:txBody>
      </p:sp>
      <p:sp>
        <p:nvSpPr>
          <p:cNvPr id="7"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Low Frequency Resonance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56307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Parasitic Inductances (Switching Speed Limitation)</a:t>
            </a:r>
            <a:endParaRPr lang="sv-SE" dirty="0">
              <a:latin typeface="Times New Roman" panose="02020603050405020304" pitchFamily="18" charset="0"/>
              <a:cs typeface="Times New Roman" panose="02020603050405020304" pitchFamily="18" charset="0"/>
            </a:endParaRPr>
          </a:p>
        </p:txBody>
      </p:sp>
      <p:graphicFrame>
        <p:nvGraphicFramePr>
          <p:cNvPr id="31" name="Table 30"/>
          <p:cNvGraphicFramePr>
            <a:graphicFrameLocks noGrp="1"/>
          </p:cNvGraphicFramePr>
          <p:nvPr>
            <p:extLst/>
          </p:nvPr>
        </p:nvGraphicFramePr>
        <p:xfrm>
          <a:off x="3355984" y="1207770"/>
          <a:ext cx="4540241" cy="1474087"/>
        </p:xfrm>
        <a:graphic>
          <a:graphicData uri="http://schemas.openxmlformats.org/drawingml/2006/table">
            <a:tbl>
              <a:tblPr/>
              <a:tblGrid>
                <a:gridCol w="2326637">
                  <a:extLst>
                    <a:ext uri="{9D8B030D-6E8A-4147-A177-3AD203B41FA5}">
                      <a16:colId xmlns:a16="http://schemas.microsoft.com/office/drawing/2014/main" val="2465863165"/>
                    </a:ext>
                  </a:extLst>
                </a:gridCol>
                <a:gridCol w="2213604">
                  <a:extLst>
                    <a:ext uri="{9D8B030D-6E8A-4147-A177-3AD203B41FA5}">
                      <a16:colId xmlns:a16="http://schemas.microsoft.com/office/drawing/2014/main" val="471941430"/>
                    </a:ext>
                  </a:extLst>
                </a:gridCol>
              </a:tblGrid>
              <a:tr h="376807">
                <a:tc>
                  <a:txBody>
                    <a:bodyPr/>
                    <a:lstStyle/>
                    <a:p>
                      <a:r>
                        <a:rPr lang="en-US" b="1" dirty="0" smtClean="0"/>
                        <a:t>Parasitic</a:t>
                      </a:r>
                      <a:r>
                        <a:rPr lang="en-US" b="1" baseline="0" dirty="0" smtClean="0"/>
                        <a:t> Sources</a:t>
                      </a:r>
                      <a:endParaRPr lang="sv-SE" b="1"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b="1" dirty="0" smtClean="0"/>
                        <a:t>Inductance </a:t>
                      </a:r>
                      <a:endParaRPr lang="sv-SE" b="1"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2615574"/>
                  </a:ext>
                </a:extLst>
              </a:tr>
              <a:tr h="278258">
                <a:tc>
                  <a:txBody>
                    <a:bodyPr/>
                    <a:lstStyle/>
                    <a:p>
                      <a:r>
                        <a:rPr lang="en-US" dirty="0" smtClean="0"/>
                        <a:t>Power module</a:t>
                      </a:r>
                      <a:endParaRPr lang="sv-SE"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smtClean="0"/>
                        <a:t>50</a:t>
                      </a:r>
                      <a:r>
                        <a:rPr lang="en-US" baseline="0" dirty="0" smtClean="0"/>
                        <a:t> </a:t>
                      </a:r>
                      <a:r>
                        <a:rPr lang="en-US" baseline="0" dirty="0" err="1" smtClean="0"/>
                        <a:t>nH</a:t>
                      </a:r>
                      <a:endParaRPr lang="sv-SE" dirty="0"/>
                    </a:p>
                  </a:txBody>
                  <a:tcPr>
                    <a:lnL w="12700" cmpd="sng">
                      <a:solidFill>
                        <a:schemeClr val="tx1"/>
                      </a:solidFill>
                      <a:prstDash val="soli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07665588"/>
                  </a:ext>
                </a:extLst>
              </a:tr>
              <a:tr h="278258">
                <a:tc>
                  <a:txBody>
                    <a:bodyPr/>
                    <a:lstStyle/>
                    <a:p>
                      <a:r>
                        <a:rPr lang="en-US" dirty="0" smtClean="0"/>
                        <a:t>Capacitor ESL</a:t>
                      </a:r>
                      <a:endParaRPr lang="sv-SE"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tc>
                  <a:txBody>
                    <a:bodyPr/>
                    <a:lstStyle/>
                    <a:p>
                      <a:r>
                        <a:rPr lang="en-US" dirty="0" smtClean="0"/>
                        <a:t>50nH</a:t>
                      </a:r>
                      <a:endParaRPr lang="sv-SE"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mpd="sng">
                      <a:solidFill>
                        <a:schemeClr val="tx1"/>
                      </a:solidFill>
                      <a:prstDash val="soli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0047769"/>
                  </a:ext>
                </a:extLst>
              </a:tr>
              <a:tr h="278258">
                <a:tc>
                  <a:txBody>
                    <a:bodyPr/>
                    <a:lstStyle/>
                    <a:p>
                      <a:r>
                        <a:rPr lang="en-US" dirty="0" err="1" smtClean="0"/>
                        <a:t>Busbar</a:t>
                      </a:r>
                      <a:endParaRPr lang="sv-SE"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solidFill>
                        <a:schemeClr val="tx1"/>
                      </a:solidFill>
                      <a:prstDash val="solid"/>
                    </a:lnT>
                    <a:lnB w="12700" cap="flat" cmpd="sng" algn="ctr">
                      <a:noFill/>
                      <a:prstDash val="solid"/>
                      <a:round/>
                      <a:headEnd type="none" w="med" len="med"/>
                      <a:tailEnd type="none" w="med" len="med"/>
                    </a:lnB>
                  </a:tcPr>
                </a:tc>
                <a:tc>
                  <a:txBody>
                    <a:bodyPr/>
                    <a:lstStyle/>
                    <a:p>
                      <a:r>
                        <a:rPr lang="en-US" dirty="0" smtClean="0"/>
                        <a:t>Overall &lt;20nH</a:t>
                      </a:r>
                      <a:endParaRPr lang="sv-SE" dirty="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mpd="sng">
                      <a:solidFill>
                        <a:schemeClr val="tx1"/>
                      </a:solidFill>
                      <a:prstDash val="solid"/>
                    </a:lnT>
                    <a:lnB w="12700" cap="flat" cmpd="sng" algn="ctr">
                      <a:noFill/>
                      <a:prstDash val="solid"/>
                      <a:round/>
                      <a:headEnd type="none" w="med" len="med"/>
                      <a:tailEnd type="none" w="med" len="med"/>
                    </a:lnB>
                  </a:tcPr>
                </a:tc>
                <a:extLst>
                  <a:ext uri="{0D108BD9-81ED-4DB2-BD59-A6C34878D82A}">
                    <a16:rowId xmlns:a16="http://schemas.microsoft.com/office/drawing/2014/main" val="2544227180"/>
                  </a:ext>
                </a:extLst>
              </a:tr>
            </a:tbl>
          </a:graphicData>
        </a:graphic>
      </p:graphicFrame>
      <p:pic>
        <p:nvPicPr>
          <p:cNvPr id="32" name="Picture 31"/>
          <p:cNvPicPr>
            <a:picLocks noChangeAspect="1"/>
          </p:cNvPicPr>
          <p:nvPr/>
        </p:nvPicPr>
        <p:blipFill rotWithShape="1">
          <a:blip r:embed="rId2"/>
          <a:srcRect t="7832"/>
          <a:stretch/>
        </p:blipFill>
        <p:spPr>
          <a:xfrm>
            <a:off x="1645956" y="2681857"/>
            <a:ext cx="7578584" cy="3484844"/>
          </a:xfrm>
          <a:prstGeom prst="rect">
            <a:avLst/>
          </a:prstGeom>
        </p:spPr>
      </p:pic>
    </p:spTree>
    <p:extLst>
      <p:ext uri="{BB962C8B-B14F-4D97-AF65-F5344CB8AC3E}">
        <p14:creationId xmlns:p14="http://schemas.microsoft.com/office/powerpoint/2010/main" val="305079296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Parasitic Inductances (Switching Speed Limitation)</a:t>
            </a:r>
            <a:endParaRPr lang="sv-SE" dirty="0">
              <a:latin typeface="Times New Roman" panose="02020603050405020304" pitchFamily="18" charset="0"/>
              <a:cs typeface="Times New Roman" panose="02020603050405020304" pitchFamily="18" charset="0"/>
            </a:endParaRPr>
          </a:p>
        </p:txBody>
      </p:sp>
      <p:graphicFrame>
        <p:nvGraphicFramePr>
          <p:cNvPr id="5" name="Table 4"/>
          <p:cNvGraphicFramePr>
            <a:graphicFrameLocks noGrp="1"/>
          </p:cNvGraphicFramePr>
          <p:nvPr>
            <p:extLst/>
          </p:nvPr>
        </p:nvGraphicFramePr>
        <p:xfrm>
          <a:off x="549440" y="1247446"/>
          <a:ext cx="10589615" cy="742567"/>
        </p:xfrm>
        <a:graphic>
          <a:graphicData uri="http://schemas.openxmlformats.org/drawingml/2006/table">
            <a:tbl>
              <a:tblPr/>
              <a:tblGrid>
                <a:gridCol w="3648025">
                  <a:extLst>
                    <a:ext uri="{9D8B030D-6E8A-4147-A177-3AD203B41FA5}">
                      <a16:colId xmlns:a16="http://schemas.microsoft.com/office/drawing/2014/main" val="2465863165"/>
                    </a:ext>
                  </a:extLst>
                </a:gridCol>
                <a:gridCol w="3470795">
                  <a:extLst>
                    <a:ext uri="{9D8B030D-6E8A-4147-A177-3AD203B41FA5}">
                      <a16:colId xmlns:a16="http://schemas.microsoft.com/office/drawing/2014/main" val="471941430"/>
                    </a:ext>
                  </a:extLst>
                </a:gridCol>
                <a:gridCol w="3470795">
                  <a:extLst>
                    <a:ext uri="{9D8B030D-6E8A-4147-A177-3AD203B41FA5}">
                      <a16:colId xmlns:a16="http://schemas.microsoft.com/office/drawing/2014/main" val="3986868260"/>
                    </a:ext>
                  </a:extLst>
                </a:gridCol>
              </a:tblGrid>
              <a:tr h="376807">
                <a:tc>
                  <a:txBody>
                    <a:bodyPr/>
                    <a:lstStyle/>
                    <a:p>
                      <a:pPr algn="ctr"/>
                      <a:r>
                        <a:rPr lang="en-US" b="1" dirty="0" smtClean="0"/>
                        <a:t>Maximum Current (</a:t>
                      </a:r>
                      <a:r>
                        <a:rPr lang="en-US" b="1" dirty="0" err="1" smtClean="0"/>
                        <a:t>MaxA</a:t>
                      </a:r>
                      <a:r>
                        <a:rPr lang="en-US" b="1" dirty="0" smtClean="0"/>
                        <a:t>)</a:t>
                      </a:r>
                      <a:r>
                        <a:rPr lang="en-US" b="1" baseline="0" dirty="0" smtClean="0"/>
                        <a:t> (</a:t>
                      </a:r>
                      <a:r>
                        <a:rPr lang="en-US" b="1" baseline="0" dirty="0" err="1" smtClean="0"/>
                        <a:t>inA</a:t>
                      </a:r>
                      <a:r>
                        <a:rPr lang="en-US" b="1" baseline="0" dirty="0" smtClean="0"/>
                        <a:t>)</a:t>
                      </a:r>
                      <a:endParaRPr lang="sv-SE" b="1"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b="1" dirty="0" smtClean="0"/>
                        <a:t>dv/</a:t>
                      </a:r>
                      <a:r>
                        <a:rPr lang="en-US" b="1" dirty="0" err="1" smtClean="0"/>
                        <a:t>dt</a:t>
                      </a:r>
                      <a:r>
                        <a:rPr lang="en-US" b="1" dirty="0" smtClean="0"/>
                        <a:t>  (in V/</a:t>
                      </a:r>
                      <a:r>
                        <a:rPr lang="en-US" b="1" dirty="0" err="1" smtClean="0"/>
                        <a:t>nS</a:t>
                      </a:r>
                      <a:r>
                        <a:rPr lang="en-US" b="1" dirty="0" smtClean="0"/>
                        <a:t>) @</a:t>
                      </a:r>
                      <a:r>
                        <a:rPr lang="en-US" b="1" baseline="0" dirty="0" smtClean="0"/>
                        <a:t> </a:t>
                      </a:r>
                      <a:r>
                        <a:rPr lang="en-US" b="1" dirty="0" err="1" smtClean="0"/>
                        <a:t>MaxA</a:t>
                      </a:r>
                      <a:endParaRPr lang="sv-SE"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smtClean="0"/>
                        <a:t>Overshoot (in %) @</a:t>
                      </a:r>
                      <a:r>
                        <a:rPr lang="en-US" b="1" baseline="0" dirty="0" smtClean="0"/>
                        <a:t> </a:t>
                      </a:r>
                      <a:r>
                        <a:rPr lang="en-US" b="1" dirty="0" err="1" smtClean="0"/>
                        <a:t>MaxA</a:t>
                      </a:r>
                      <a:endParaRPr lang="sv-SE" b="1" dirty="0" smtClean="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2615574"/>
                  </a:ext>
                </a:extLst>
              </a:tr>
              <a:tr h="278258">
                <a:tc>
                  <a:txBody>
                    <a:bodyPr/>
                    <a:lstStyle/>
                    <a:p>
                      <a:pPr algn="ctr"/>
                      <a:r>
                        <a:rPr lang="en-US" dirty="0" smtClean="0"/>
                        <a:t>380 A</a:t>
                      </a:r>
                      <a:endParaRPr lang="sv-SE" dirty="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r>
                        <a:rPr lang="en-US" dirty="0" smtClean="0"/>
                        <a:t>35 V/ns</a:t>
                      </a:r>
                      <a:endParaRPr lang="sv-SE" dirty="0"/>
                    </a:p>
                  </a:txBody>
                  <a:tcPr>
                    <a:lnL w="12700" cmpd="sng">
                      <a:solidFill>
                        <a:schemeClr val="tx1"/>
                      </a:solidFill>
                      <a:prstDash val="soli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r>
                        <a:rPr lang="en-US" dirty="0" smtClean="0"/>
                        <a:t>40 %</a:t>
                      </a:r>
                      <a:endParaRPr lang="sv-SE" dirty="0"/>
                    </a:p>
                  </a:txBody>
                  <a:tcPr>
                    <a:lnL w="12700" cmpd="sng">
                      <a:solidFill>
                        <a:schemeClr val="tx1"/>
                      </a:solidFill>
                      <a:prstDash val="soli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407665588"/>
                  </a:ext>
                </a:extLst>
              </a:tr>
            </a:tbl>
          </a:graphicData>
        </a:graphic>
      </p:graphicFrame>
      <p:pic>
        <p:nvPicPr>
          <p:cNvPr id="6" name="Picture 5"/>
          <p:cNvPicPr>
            <a:picLocks noChangeAspect="1"/>
          </p:cNvPicPr>
          <p:nvPr/>
        </p:nvPicPr>
        <p:blipFill>
          <a:blip r:embed="rId2"/>
          <a:stretch>
            <a:fillRect/>
          </a:stretch>
        </p:blipFill>
        <p:spPr>
          <a:xfrm>
            <a:off x="1597214" y="2361735"/>
            <a:ext cx="8599260" cy="2171873"/>
          </a:xfrm>
          <a:prstGeom prst="rect">
            <a:avLst/>
          </a:prstGeom>
        </p:spPr>
      </p:pic>
      <p:sp>
        <p:nvSpPr>
          <p:cNvPr id="9" name="Rectangle 8"/>
          <p:cNvSpPr/>
          <p:nvPr/>
        </p:nvSpPr>
        <p:spPr>
          <a:xfrm>
            <a:off x="2585601" y="4882506"/>
            <a:ext cx="1957587" cy="369332"/>
          </a:xfrm>
          <a:prstGeom prst="rect">
            <a:avLst/>
          </a:prstGeom>
        </p:spPr>
        <p:txBody>
          <a:bodyPr wrap="none">
            <a:spAutoFit/>
          </a:bodyPr>
          <a:lstStyle/>
          <a:p>
            <a:r>
              <a:rPr lang="en-US" dirty="0" smtClean="0"/>
              <a:t>Phase-A Current</a:t>
            </a:r>
            <a:endParaRPr lang="sv-SE" dirty="0"/>
          </a:p>
        </p:txBody>
      </p:sp>
      <p:sp>
        <p:nvSpPr>
          <p:cNvPr id="14" name="Rectangle 13"/>
          <p:cNvSpPr/>
          <p:nvPr/>
        </p:nvSpPr>
        <p:spPr>
          <a:xfrm>
            <a:off x="5498737" y="4882506"/>
            <a:ext cx="1885453" cy="369332"/>
          </a:xfrm>
          <a:prstGeom prst="rect">
            <a:avLst/>
          </a:prstGeom>
        </p:spPr>
        <p:txBody>
          <a:bodyPr wrap="none">
            <a:spAutoFit/>
          </a:bodyPr>
          <a:lstStyle/>
          <a:p>
            <a:r>
              <a:rPr lang="en-US" dirty="0" smtClean="0"/>
              <a:t>Phase-B Current</a:t>
            </a:r>
            <a:endParaRPr lang="sv-SE" dirty="0"/>
          </a:p>
        </p:txBody>
      </p:sp>
      <p:sp>
        <p:nvSpPr>
          <p:cNvPr id="15" name="Rectangle 14"/>
          <p:cNvSpPr/>
          <p:nvPr/>
        </p:nvSpPr>
        <p:spPr>
          <a:xfrm>
            <a:off x="8226697" y="4882506"/>
            <a:ext cx="1911101" cy="369332"/>
          </a:xfrm>
          <a:prstGeom prst="rect">
            <a:avLst/>
          </a:prstGeom>
        </p:spPr>
        <p:txBody>
          <a:bodyPr wrap="none">
            <a:spAutoFit/>
          </a:bodyPr>
          <a:lstStyle/>
          <a:p>
            <a:r>
              <a:rPr lang="en-US" dirty="0" smtClean="0"/>
              <a:t>Phase-C Current</a:t>
            </a:r>
            <a:endParaRPr lang="sv-SE" dirty="0"/>
          </a:p>
        </p:txBody>
      </p:sp>
      <p:cxnSp>
        <p:nvCxnSpPr>
          <p:cNvPr id="20" name="Straight Arrow Connector 19"/>
          <p:cNvCxnSpPr/>
          <p:nvPr/>
        </p:nvCxnSpPr>
        <p:spPr>
          <a:xfrm flipH="1">
            <a:off x="6354704" y="4407180"/>
            <a:ext cx="1" cy="540209"/>
          </a:xfrm>
          <a:prstGeom prst="straightConnector1">
            <a:avLst/>
          </a:prstGeom>
          <a:ln w="12700">
            <a:solidFill>
              <a:schemeClr val="tx1"/>
            </a:solidFill>
            <a:tailEnd type="triangle"/>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9182248" y="4407180"/>
            <a:ext cx="1" cy="540209"/>
          </a:xfrm>
          <a:prstGeom prst="straightConnector1">
            <a:avLst/>
          </a:prstGeom>
          <a:ln w="12700">
            <a:solidFill>
              <a:schemeClr val="tx1"/>
            </a:solidFill>
            <a:tailEnd type="triangle"/>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a:off x="3590679" y="4407181"/>
            <a:ext cx="1" cy="540209"/>
          </a:xfrm>
          <a:prstGeom prst="straightConnector1">
            <a:avLst/>
          </a:prstGeom>
          <a:ln w="12700">
            <a:solidFill>
              <a:schemeClr val="tx1"/>
            </a:solidFill>
            <a:tailEnd type="triangle"/>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flipH="1">
            <a:off x="4972691" y="4112819"/>
            <a:ext cx="2" cy="1510741"/>
          </a:xfrm>
          <a:prstGeom prst="straightConnector1">
            <a:avLst/>
          </a:prstGeom>
          <a:ln w="12700">
            <a:solidFill>
              <a:schemeClr val="tx1"/>
            </a:solidFill>
            <a:tailEnd type="triangle"/>
          </a:ln>
          <a:effectLst>
            <a:glow rad="25400">
              <a:schemeClr val="bg1"/>
            </a:glow>
          </a:effectLst>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3779095" y="5623560"/>
            <a:ext cx="2387192" cy="923330"/>
          </a:xfrm>
          <a:prstGeom prst="rect">
            <a:avLst/>
          </a:prstGeom>
        </p:spPr>
        <p:txBody>
          <a:bodyPr wrap="none">
            <a:spAutoFit/>
          </a:bodyPr>
          <a:lstStyle/>
          <a:p>
            <a:pPr algn="ctr"/>
            <a:r>
              <a:rPr lang="en-US" dirty="0" smtClean="0"/>
              <a:t>Drain-source Voltage</a:t>
            </a:r>
          </a:p>
          <a:p>
            <a:pPr algn="ctr"/>
            <a:r>
              <a:rPr lang="en-US" dirty="0" smtClean="0"/>
              <a:t>Leg-A </a:t>
            </a:r>
          </a:p>
          <a:p>
            <a:pPr algn="ctr"/>
            <a:r>
              <a:rPr lang="en-US" dirty="0" smtClean="0"/>
              <a:t>Bottom Switch</a:t>
            </a:r>
          </a:p>
        </p:txBody>
      </p:sp>
    </p:spTree>
    <p:extLst>
      <p:ext uri="{BB962C8B-B14F-4D97-AF65-F5344CB8AC3E}">
        <p14:creationId xmlns:p14="http://schemas.microsoft.com/office/powerpoint/2010/main" val="232186581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Outline</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594098" y="1842462"/>
                <a:ext cx="10990263" cy="4453808"/>
              </a:xfrm>
            </p:spPr>
            <p:txBody>
              <a:bodyPr/>
              <a:lstStyle/>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The Effects of the </a:t>
                </a:r>
                <a:r>
                  <a:rPr lang="en-US" sz="2400" dirty="0" err="1" smtClean="0">
                    <a:solidFill>
                      <a:srgbClr val="C0C0C0"/>
                    </a:solidFill>
                    <a:latin typeface="Times New Roman" panose="02020603050405020304" pitchFamily="18" charset="0"/>
                    <a:cs typeface="Times New Roman" panose="02020603050405020304" pitchFamily="18" charset="0"/>
                  </a:rPr>
                  <a:t>Busbar</a:t>
                </a:r>
                <a:r>
                  <a:rPr lang="en-US" sz="2400" dirty="0" smtClean="0">
                    <a:solidFill>
                      <a:srgbClr val="C0C0C0"/>
                    </a:solidFill>
                    <a:latin typeface="Times New Roman" panose="02020603050405020304" pitchFamily="18" charset="0"/>
                    <a:cs typeface="Times New Roman" panose="02020603050405020304" pitchFamily="18" charset="0"/>
                  </a:rPr>
                  <a:t> and Battery Parasitic Inductance</a:t>
                </a:r>
              </a:p>
              <a:p>
                <a:pPr>
                  <a:buFont typeface="Wingdings" panose="05000000000000000000" pitchFamily="2" charset="2"/>
                  <a:buChar char="q"/>
                </a:pPr>
                <a:endParaRPr lang="en-US" sz="2400" dirty="0" smtClean="0">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latin typeface="Times New Roman" panose="02020603050405020304" pitchFamily="18" charset="0"/>
                    <a:cs typeface="Times New Roman" panose="02020603050405020304" pitchFamily="18" charset="0"/>
                  </a:rPr>
                  <a:t>Conventional Back-to-Back Inverter Setup </a:t>
                </a:r>
              </a:p>
              <a:p>
                <a:pPr>
                  <a:buFont typeface="Wingdings" panose="05000000000000000000" pitchFamily="2" charset="2"/>
                  <a:buChar char="q"/>
                </a:pPr>
                <a:endParaRPr lang="en-US" sz="2400" dirty="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Intelligent Gate Driver Measurement Unit: </a:t>
                </a:r>
                <a:r>
                  <a:rPr lang="en-US" sz="2400" dirty="0">
                    <a:solidFill>
                      <a:srgbClr val="C0C0C0"/>
                    </a:solidFill>
                    <a:latin typeface="Times New Roman" panose="02020603050405020304" pitchFamily="18" charset="0"/>
                    <a:cs typeface="Times New Roman" panose="02020603050405020304" pitchFamily="18" charset="0"/>
                  </a:rPr>
                  <a:t>Online </a:t>
                </a:r>
                <a14:m>
                  <m:oMath xmlns:m="http://schemas.openxmlformats.org/officeDocument/2006/math">
                    <m:sSub>
                      <m:sSubPr>
                        <m:ctrlPr>
                          <a:rPr lang="en-US" sz="2400" i="1" dirty="0">
                            <a:solidFill>
                              <a:srgbClr val="C0C0C0"/>
                            </a:solidFill>
                            <a:latin typeface="Cambria Math" panose="02040503050406030204" pitchFamily="18" charset="0"/>
                            <a:cs typeface="Times New Roman" panose="02020603050405020304" pitchFamily="18" charset="0"/>
                          </a:rPr>
                        </m:ctrlPr>
                      </m:sSubPr>
                      <m:e>
                        <m:r>
                          <a:rPr lang="en-US" sz="2400" i="1" dirty="0">
                            <a:solidFill>
                              <a:srgbClr val="C0C0C0"/>
                            </a:solidFill>
                            <a:latin typeface="Cambria Math" panose="02040503050406030204" pitchFamily="18" charset="0"/>
                            <a:cs typeface="Times New Roman" panose="02020603050405020304" pitchFamily="18" charset="0"/>
                          </a:rPr>
                          <m:t>𝑅</m:t>
                        </m:r>
                      </m:e>
                      <m:sub>
                        <m:r>
                          <a:rPr lang="en-US" sz="2400" i="1" dirty="0">
                            <a:solidFill>
                              <a:srgbClr val="C0C0C0"/>
                            </a:solidFill>
                            <a:latin typeface="Cambria Math" panose="02040503050406030204" pitchFamily="18" charset="0"/>
                            <a:cs typeface="Times New Roman" panose="02020603050405020304" pitchFamily="18" charset="0"/>
                          </a:rPr>
                          <m:t>𝑑𝑠</m:t>
                        </m:r>
                      </m:sub>
                    </m:sSub>
                  </m:oMath>
                </a14:m>
                <a:r>
                  <a:rPr lang="en-US" sz="2400" dirty="0">
                    <a:solidFill>
                      <a:srgbClr val="C0C0C0"/>
                    </a:solidFill>
                    <a:latin typeface="Times New Roman" panose="02020603050405020304" pitchFamily="18" charset="0"/>
                    <a:cs typeface="Times New Roman" panose="02020603050405020304" pitchFamily="18" charset="0"/>
                  </a:rPr>
                  <a:t> </a:t>
                </a:r>
                <a:r>
                  <a:rPr lang="en-US" sz="2400" dirty="0" smtClean="0">
                    <a:solidFill>
                      <a:srgbClr val="C0C0C0"/>
                    </a:solidFill>
                    <a:latin typeface="Times New Roman" panose="02020603050405020304" pitchFamily="18" charset="0"/>
                    <a:cs typeface="Times New Roman" panose="02020603050405020304" pitchFamily="18" charset="0"/>
                  </a:rPr>
                  <a:t>Measurement</a:t>
                </a:r>
              </a:p>
              <a:p>
                <a:pPr>
                  <a:buFont typeface="Wingdings" panose="05000000000000000000" pitchFamily="2" charset="2"/>
                  <a:buChar char="q"/>
                </a:pPr>
                <a:endParaRPr lang="en-US" sz="2400" dirty="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a:solidFill>
                      <a:srgbClr val="C0C0C0"/>
                    </a:solidFill>
                    <a:latin typeface="Times New Roman" panose="02020603050405020304" pitchFamily="18" charset="0"/>
                    <a:cs typeface="Times New Roman" panose="02020603050405020304" pitchFamily="18" charset="0"/>
                  </a:rPr>
                  <a:t>ECCE-Europe Paper Digest</a:t>
                </a:r>
              </a:p>
              <a:p>
                <a:pPr marL="0" indent="0">
                  <a:buNone/>
                </a:pPr>
                <a:endParaRPr lang="en-US" sz="2400" dirty="0" smtClean="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endParaRPr lang="en-US" dirty="0" smtClean="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594098" y="1842462"/>
                <a:ext cx="10990263" cy="4453808"/>
              </a:xfrm>
              <a:blipFill>
                <a:blip r:embed="rId2"/>
                <a:stretch>
                  <a:fillRect l="-721" t="-1915"/>
                </a:stretch>
              </a:blipFill>
            </p:spPr>
            <p:txBody>
              <a:bodyPr/>
              <a:lstStyle/>
              <a:p>
                <a:r>
                  <a:rPr lang="sv-SE">
                    <a:noFill/>
                  </a:rPr>
                  <a:t> </a:t>
                </a:r>
              </a:p>
            </p:txBody>
          </p:sp>
        </mc:Fallback>
      </mc:AlternateContent>
    </p:spTree>
    <p:extLst>
      <p:ext uri="{BB962C8B-B14F-4D97-AF65-F5344CB8AC3E}">
        <p14:creationId xmlns:p14="http://schemas.microsoft.com/office/powerpoint/2010/main" val="264118528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Back-to-Back </a:t>
            </a:r>
            <a:r>
              <a:rPr lang="en-US" dirty="0" smtClean="0">
                <a:latin typeface="Times New Roman" panose="02020603050405020304" pitchFamily="18" charset="0"/>
                <a:cs typeface="Times New Roman" panose="02020603050405020304" pitchFamily="18" charset="0"/>
              </a:rPr>
              <a:t>Inverter</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2684278" y="1107783"/>
            <a:ext cx="6907114" cy="2749193"/>
          </a:xfrm>
          <a:prstGeom prst="rect">
            <a:avLst/>
          </a:prstGeom>
        </p:spPr>
      </p:pic>
      <p:pic>
        <p:nvPicPr>
          <p:cNvPr id="1026" name="Picture 2" descr="2. Introduction to the Grid Connected Inverter — Lab assignment"/>
          <p:cNvPicPr>
            <a:picLocks noChangeAspect="1" noChangeArrowheads="1"/>
          </p:cNvPicPr>
          <p:nvPr/>
        </p:nvPicPr>
        <p:blipFill rotWithShape="1">
          <a:blip r:embed="rId3">
            <a:extLst>
              <a:ext uri="{28A0092B-C50C-407E-A947-70E740481C1C}">
                <a14:useLocalDpi xmlns:a14="http://schemas.microsoft.com/office/drawing/2010/main" val="0"/>
              </a:ext>
            </a:extLst>
          </a:blip>
          <a:srcRect l="11557" t="20458" r="11099"/>
          <a:stretch/>
        </p:blipFill>
        <p:spPr bwMode="auto">
          <a:xfrm>
            <a:off x="4960052" y="4055869"/>
            <a:ext cx="2342777" cy="1204642"/>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209970" y="3762570"/>
            <a:ext cx="672860" cy="3536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dirty="0" err="1" smtClean="0">
                <a:solidFill>
                  <a:schemeClr val="tx1"/>
                </a:solidFill>
              </a:rPr>
              <a:t>I</a:t>
            </a:r>
            <a:r>
              <a:rPr lang="sv-SE" sz="1200" dirty="0" err="1" smtClean="0">
                <a:solidFill>
                  <a:schemeClr val="tx1"/>
                </a:solidFill>
              </a:rPr>
              <a:t>ph</a:t>
            </a:r>
            <a:endParaRPr lang="sv-SE" dirty="0">
              <a:solidFill>
                <a:schemeClr val="tx1"/>
              </a:solidFill>
            </a:endParaRPr>
          </a:p>
        </p:txBody>
      </p:sp>
      <p:sp>
        <p:nvSpPr>
          <p:cNvPr id="8" name="Rectangle 7"/>
          <p:cNvSpPr/>
          <p:nvPr/>
        </p:nvSpPr>
        <p:spPr>
          <a:xfrm>
            <a:off x="4264715" y="4341439"/>
            <a:ext cx="533803" cy="3536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solidFill>
                <a:schemeClr val="tx1"/>
              </a:solidFill>
            </a:endParaRPr>
          </a:p>
        </p:txBody>
      </p:sp>
      <p:sp>
        <p:nvSpPr>
          <p:cNvPr id="9" name="Rectangle 8"/>
          <p:cNvSpPr/>
          <p:nvPr/>
        </p:nvSpPr>
        <p:spPr>
          <a:xfrm>
            <a:off x="4409098" y="4454898"/>
            <a:ext cx="590226" cy="338554"/>
          </a:xfrm>
          <a:prstGeom prst="rect">
            <a:avLst/>
          </a:prstGeom>
        </p:spPr>
        <p:txBody>
          <a:bodyPr wrap="none">
            <a:spAutoFit/>
          </a:bodyPr>
          <a:lstStyle/>
          <a:p>
            <a:pPr algn="ctr"/>
            <a:r>
              <a:rPr lang="sv-SE" sz="1600" dirty="0" smtClean="0"/>
              <a:t>V</a:t>
            </a:r>
            <a:r>
              <a:rPr lang="sv-SE" sz="1200" dirty="0" smtClean="0"/>
              <a:t>ph</a:t>
            </a:r>
            <a:r>
              <a:rPr lang="sv-SE" sz="1600" dirty="0"/>
              <a:t>1</a:t>
            </a:r>
            <a:endParaRPr lang="sv-SE" dirty="0"/>
          </a:p>
        </p:txBody>
      </p:sp>
      <p:sp>
        <p:nvSpPr>
          <p:cNvPr id="12" name="Rectangle 11"/>
          <p:cNvSpPr/>
          <p:nvPr/>
        </p:nvSpPr>
        <p:spPr>
          <a:xfrm>
            <a:off x="7233100" y="4418385"/>
            <a:ext cx="620683" cy="338554"/>
          </a:xfrm>
          <a:prstGeom prst="rect">
            <a:avLst/>
          </a:prstGeom>
        </p:spPr>
        <p:txBody>
          <a:bodyPr wrap="none">
            <a:spAutoFit/>
          </a:bodyPr>
          <a:lstStyle/>
          <a:p>
            <a:pPr algn="ctr"/>
            <a:r>
              <a:rPr lang="sv-SE" sz="1600" dirty="0" smtClean="0"/>
              <a:t>V</a:t>
            </a:r>
            <a:r>
              <a:rPr lang="sv-SE" sz="1200" dirty="0" smtClean="0"/>
              <a:t>ph</a:t>
            </a:r>
            <a:r>
              <a:rPr lang="sv-SE" sz="1600" dirty="0" smtClean="0"/>
              <a:t>2</a:t>
            </a:r>
            <a:endParaRPr lang="sv-SE" dirty="0"/>
          </a:p>
        </p:txBody>
      </p:sp>
      <p:sp>
        <p:nvSpPr>
          <p:cNvPr id="11" name="Rectangle 10"/>
          <p:cNvSpPr/>
          <p:nvPr/>
        </p:nvSpPr>
        <p:spPr>
          <a:xfrm>
            <a:off x="747667" y="5192481"/>
            <a:ext cx="10204200" cy="923330"/>
          </a:xfrm>
          <a:prstGeom prst="rect">
            <a:avLst/>
          </a:prstGeom>
        </p:spPr>
        <p:txBody>
          <a:bodyPr wrap="square">
            <a:spAutoFit/>
          </a:bodyPr>
          <a:lstStyle/>
          <a:p>
            <a:r>
              <a:rPr lang="en-US" dirty="0">
                <a:solidFill>
                  <a:srgbClr val="404040"/>
                </a:solidFill>
                <a:latin typeface="Inter"/>
              </a:rPr>
              <a:t>When two AC voltage sources are connected through an inductance, the power flow between them depends on the phase difference between the voltages of the two sources and the reactance of the connecting inductance.</a:t>
            </a:r>
            <a:endParaRPr lang="sv-SE" dirty="0"/>
          </a:p>
        </p:txBody>
      </p:sp>
      <mc:AlternateContent xmlns:mc="http://schemas.openxmlformats.org/markup-compatibility/2006">
        <mc:Choice xmlns:a14="http://schemas.microsoft.com/office/drawing/2010/main" Requires="a14">
          <p:sp>
            <p:nvSpPr>
              <p:cNvPr id="13" name="TextBox 12"/>
              <p:cNvSpPr txBox="1"/>
              <p:nvPr/>
            </p:nvSpPr>
            <p:spPr>
              <a:xfrm>
                <a:off x="8072925" y="4273587"/>
                <a:ext cx="2023566" cy="59311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sv-SE" b="0" i="1" smtClean="0">
                          <a:latin typeface="Cambria Math" panose="02040503050406030204" pitchFamily="18" charset="0"/>
                        </a:rPr>
                        <m:t>𝑃</m:t>
                      </m:r>
                      <m:r>
                        <a:rPr lang="sv-SE" b="0" i="1" smtClean="0">
                          <a:latin typeface="Cambria Math" panose="02040503050406030204" pitchFamily="18" charset="0"/>
                        </a:rPr>
                        <m:t>=</m:t>
                      </m:r>
                      <m:f>
                        <m:fPr>
                          <m:ctrlPr>
                            <a:rPr lang="sv-SE" b="0" i="1" smtClean="0">
                              <a:latin typeface="Cambria Math" panose="02040503050406030204" pitchFamily="18" charset="0"/>
                            </a:rPr>
                          </m:ctrlPr>
                        </m:fPr>
                        <m:num>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1</m:t>
                              </m:r>
                            </m:sub>
                          </m:sSub>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2</m:t>
                              </m:r>
                            </m:sub>
                          </m:sSub>
                          <m:func>
                            <m:funcPr>
                              <m:ctrlPr>
                                <a:rPr lang="sv-SE" b="0" i="1" smtClean="0">
                                  <a:latin typeface="Cambria Math" panose="02040503050406030204" pitchFamily="18" charset="0"/>
                                </a:rPr>
                              </m:ctrlPr>
                            </m:funcPr>
                            <m:fName>
                              <m:r>
                                <m:rPr>
                                  <m:sty m:val="p"/>
                                </m:rPr>
                                <a:rPr lang="sv-SE" b="0" i="0" smtClean="0">
                                  <a:latin typeface="Cambria Math" panose="02040503050406030204" pitchFamily="18" charset="0"/>
                                </a:rPr>
                                <m:t>sin</m:t>
                              </m:r>
                            </m:fName>
                            <m:e>
                              <m:d>
                                <m:dPr>
                                  <m:ctrlPr>
                                    <a:rPr lang="sv-SE" b="0" i="1" smtClean="0">
                                      <a:latin typeface="Cambria Math" panose="02040503050406030204" pitchFamily="18" charset="0"/>
                                    </a:rPr>
                                  </m:ctrlPr>
                                </m:dPr>
                                <m:e>
                                  <m:r>
                                    <a:rPr lang="sv-SE" b="0" i="1" smtClean="0">
                                      <a:latin typeface="Cambria Math" panose="02040503050406030204" pitchFamily="18" charset="0"/>
                                    </a:rPr>
                                    <m:t>𝛿</m:t>
                                  </m:r>
                                </m:e>
                              </m:d>
                            </m:e>
                          </m:func>
                        </m:num>
                        <m:den>
                          <m:r>
                            <a:rPr lang="sv-SE" b="0" i="1" smtClean="0">
                              <a:latin typeface="Cambria Math" panose="02040503050406030204" pitchFamily="18" charset="0"/>
                            </a:rPr>
                            <m:t>𝑗</m:t>
                          </m:r>
                          <m:r>
                            <a:rPr lang="sv-SE" b="0" i="1" smtClean="0">
                              <a:latin typeface="Cambria Math" panose="02040503050406030204" pitchFamily="18" charset="0"/>
                            </a:rPr>
                            <m:t>𝜔</m:t>
                          </m:r>
                          <m:r>
                            <a:rPr lang="sv-SE" b="0" i="1" smtClean="0">
                              <a:latin typeface="Cambria Math" panose="02040503050406030204" pitchFamily="18" charset="0"/>
                            </a:rPr>
                            <m:t>𝐿</m:t>
                          </m:r>
                        </m:den>
                      </m:f>
                    </m:oMath>
                  </m:oMathPara>
                </a14:m>
                <a:endParaRPr lang="sv-SE" dirty="0"/>
              </a:p>
            </p:txBody>
          </p:sp>
        </mc:Choice>
        <mc:Fallback>
          <p:sp>
            <p:nvSpPr>
              <p:cNvPr id="13" name="TextBox 12"/>
              <p:cNvSpPr txBox="1">
                <a:spLocks noRot="1" noChangeAspect="1" noMove="1" noResize="1" noEditPoints="1" noAdjustHandles="1" noChangeArrowheads="1" noChangeShapeType="1" noTextEdit="1"/>
              </p:cNvSpPr>
              <p:nvPr/>
            </p:nvSpPr>
            <p:spPr>
              <a:xfrm>
                <a:off x="8072925" y="4273587"/>
                <a:ext cx="2023566" cy="593111"/>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1832698" y="4325097"/>
                <a:ext cx="2300438" cy="505779"/>
              </a:xfrm>
              <a:prstGeom prst="rect">
                <a:avLst/>
              </a:prstGeom>
              <a:noFill/>
            </p:spPr>
            <p:txBody>
              <a:bodyPr wrap="none" lIns="0" tIns="0" rIns="0" bIns="0" rtlCol="0">
                <a:spAutoFit/>
              </a:bodyPr>
              <a:lstStyle/>
              <a:p>
                <a:r>
                  <a:rPr lang="sv-SE" b="0" dirty="0" smtClean="0"/>
                  <a:t>Q</a:t>
                </a:r>
                <a14:m>
                  <m:oMath xmlns:m="http://schemas.openxmlformats.org/officeDocument/2006/math">
                    <m:r>
                      <a:rPr lang="sv-SE" b="0" i="1" smtClean="0">
                        <a:latin typeface="Cambria Math" panose="02040503050406030204" pitchFamily="18" charset="0"/>
                      </a:rPr>
                      <m:t>=</m:t>
                    </m:r>
                    <m:f>
                      <m:fPr>
                        <m:ctrlPr>
                          <a:rPr lang="sv-SE" b="0" i="1" smtClean="0">
                            <a:latin typeface="Cambria Math" panose="02040503050406030204" pitchFamily="18" charset="0"/>
                          </a:rPr>
                        </m:ctrlPr>
                      </m:fPr>
                      <m:num>
                        <m:sSubSup>
                          <m:sSubSupPr>
                            <m:ctrlPr>
                              <a:rPr lang="sv-SE" b="0" i="1" smtClean="0">
                                <a:latin typeface="Cambria Math" panose="02040503050406030204" pitchFamily="18" charset="0"/>
                              </a:rPr>
                            </m:ctrlPr>
                          </m:sSubSup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1</m:t>
                            </m:r>
                          </m:sub>
                          <m:sup>
                            <m:r>
                              <a:rPr lang="sv-SE" b="0" i="1" smtClean="0">
                                <a:latin typeface="Cambria Math" panose="02040503050406030204" pitchFamily="18" charset="0"/>
                              </a:rPr>
                              <m:t>2</m:t>
                            </m:r>
                          </m:sup>
                        </m:sSubSup>
                        <m:r>
                          <a:rPr lang="sv-SE" b="0" i="1" smtClean="0">
                            <a:latin typeface="Cambria Math" panose="02040503050406030204" pitchFamily="18" charset="0"/>
                          </a:rPr>
                          <m:t> − </m:t>
                        </m:r>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1</m:t>
                            </m:r>
                          </m:sub>
                        </m:sSub>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2</m:t>
                            </m:r>
                          </m:sub>
                        </m:sSub>
                        <m:func>
                          <m:funcPr>
                            <m:ctrlPr>
                              <a:rPr lang="sv-SE" b="0" i="1" smtClean="0">
                                <a:latin typeface="Cambria Math" panose="02040503050406030204" pitchFamily="18" charset="0"/>
                              </a:rPr>
                            </m:ctrlPr>
                          </m:funcPr>
                          <m:fName>
                            <m:r>
                              <m:rPr>
                                <m:sty m:val="p"/>
                              </m:rPr>
                              <a:rPr lang="sv-SE" b="0" i="0" smtClean="0">
                                <a:latin typeface="Cambria Math" panose="02040503050406030204" pitchFamily="18" charset="0"/>
                              </a:rPr>
                              <m:t>cos</m:t>
                            </m:r>
                          </m:fName>
                          <m:e>
                            <m:d>
                              <m:dPr>
                                <m:ctrlPr>
                                  <a:rPr lang="sv-SE" b="0" i="1" smtClean="0">
                                    <a:latin typeface="Cambria Math" panose="02040503050406030204" pitchFamily="18" charset="0"/>
                                  </a:rPr>
                                </m:ctrlPr>
                              </m:dPr>
                              <m:e>
                                <m:r>
                                  <a:rPr lang="sv-SE" b="0" i="1" smtClean="0">
                                    <a:latin typeface="Cambria Math" panose="02040503050406030204" pitchFamily="18" charset="0"/>
                                  </a:rPr>
                                  <m:t>𝛿</m:t>
                                </m:r>
                              </m:e>
                            </m:d>
                          </m:e>
                        </m:func>
                      </m:num>
                      <m:den>
                        <m:r>
                          <a:rPr lang="sv-SE" b="0" i="1" smtClean="0">
                            <a:latin typeface="Cambria Math" panose="02040503050406030204" pitchFamily="18" charset="0"/>
                          </a:rPr>
                          <m:t>𝑗</m:t>
                        </m:r>
                        <m:r>
                          <a:rPr lang="sv-SE" b="0" i="1" smtClean="0">
                            <a:latin typeface="Cambria Math" panose="02040503050406030204" pitchFamily="18" charset="0"/>
                          </a:rPr>
                          <m:t>𝜔</m:t>
                        </m:r>
                        <m:r>
                          <a:rPr lang="sv-SE" b="0" i="1" smtClean="0">
                            <a:latin typeface="Cambria Math" panose="02040503050406030204" pitchFamily="18" charset="0"/>
                          </a:rPr>
                          <m:t>𝐿</m:t>
                        </m:r>
                      </m:den>
                    </m:f>
                  </m:oMath>
                </a14:m>
                <a:endParaRPr lang="sv-SE" dirty="0"/>
              </a:p>
            </p:txBody>
          </p:sp>
        </mc:Choice>
        <mc:Fallback>
          <p:sp>
            <p:nvSpPr>
              <p:cNvPr id="15" name="TextBox 14"/>
              <p:cNvSpPr txBox="1">
                <a:spLocks noRot="1" noChangeAspect="1" noMove="1" noResize="1" noEditPoints="1" noAdjustHandles="1" noChangeArrowheads="1" noChangeShapeType="1" noTextEdit="1"/>
              </p:cNvSpPr>
              <p:nvPr/>
            </p:nvSpPr>
            <p:spPr>
              <a:xfrm>
                <a:off x="1832698" y="4325097"/>
                <a:ext cx="2300438" cy="505779"/>
              </a:xfrm>
              <a:prstGeom prst="rect">
                <a:avLst/>
              </a:prstGeom>
              <a:blipFill>
                <a:blip r:embed="rId5"/>
                <a:stretch>
                  <a:fillRect l="-6366" b="-9639"/>
                </a:stretch>
              </a:blipFill>
            </p:spPr>
            <p:txBody>
              <a:bodyPr/>
              <a:lstStyle/>
              <a:p>
                <a:r>
                  <a:rPr lang="sv-SE">
                    <a:noFill/>
                  </a:rPr>
                  <a:t> </a:t>
                </a:r>
              </a:p>
            </p:txBody>
          </p:sp>
        </mc:Fallback>
      </mc:AlternateContent>
      <p:sp>
        <p:nvSpPr>
          <p:cNvPr id="2" name="Rectangle 1"/>
          <p:cNvSpPr/>
          <p:nvPr/>
        </p:nvSpPr>
        <p:spPr>
          <a:xfrm>
            <a:off x="350563" y="6366687"/>
            <a:ext cx="11261678" cy="369332"/>
          </a:xfrm>
          <a:prstGeom prst="rect">
            <a:avLst/>
          </a:prstGeom>
        </p:spPr>
        <p:txBody>
          <a:bodyPr wrap="square">
            <a:spAutoFit/>
          </a:bodyPr>
          <a:lstStyle/>
          <a:p>
            <a:r>
              <a:rPr lang="sv-SE" sz="1400" dirty="0"/>
              <a:t>Y. </a:t>
            </a:r>
            <a:r>
              <a:rPr lang="sv-SE" sz="1400" dirty="0" err="1" smtClean="0"/>
              <a:t>Luo</a:t>
            </a:r>
            <a:r>
              <a:rPr lang="sv-SE" sz="1400" dirty="0" smtClean="0"/>
              <a:t>, </a:t>
            </a:r>
            <a:r>
              <a:rPr lang="sv-SE" sz="1400" dirty="0"/>
              <a:t>"A </a:t>
            </a:r>
            <a:r>
              <a:rPr lang="sv-SE" sz="1400" dirty="0" err="1"/>
              <a:t>Variable</a:t>
            </a:r>
            <a:r>
              <a:rPr lang="sv-SE" sz="1400" dirty="0"/>
              <a:t> Power </a:t>
            </a:r>
            <a:r>
              <a:rPr lang="sv-SE" sz="1400" dirty="0" err="1"/>
              <a:t>Factor</a:t>
            </a:r>
            <a:r>
              <a:rPr lang="sv-SE" sz="1400" dirty="0"/>
              <a:t> </a:t>
            </a:r>
            <a:r>
              <a:rPr lang="sv-SE" sz="1400" dirty="0" err="1"/>
              <a:t>High</a:t>
            </a:r>
            <a:r>
              <a:rPr lang="sv-SE" sz="1400" dirty="0"/>
              <a:t> Power </a:t>
            </a:r>
            <a:r>
              <a:rPr lang="sv-SE" sz="1400" dirty="0" err="1"/>
              <a:t>Testbed</a:t>
            </a:r>
            <a:r>
              <a:rPr lang="sv-SE" sz="1400" dirty="0"/>
              <a:t> for </a:t>
            </a:r>
            <a:r>
              <a:rPr lang="sv-SE" sz="1400" dirty="0" err="1"/>
              <a:t>Traction</a:t>
            </a:r>
            <a:r>
              <a:rPr lang="sv-SE" sz="1400" dirty="0"/>
              <a:t> </a:t>
            </a:r>
            <a:r>
              <a:rPr lang="sv-SE" sz="1400" dirty="0" err="1"/>
              <a:t>Inverter</a:t>
            </a:r>
            <a:r>
              <a:rPr lang="sv-SE" sz="1400" dirty="0"/>
              <a:t> </a:t>
            </a:r>
            <a:r>
              <a:rPr lang="sv-SE" sz="1400" dirty="0" err="1"/>
              <a:t>Using</a:t>
            </a:r>
            <a:r>
              <a:rPr lang="sv-SE" sz="1400" dirty="0"/>
              <a:t> Back-to-Back Connection</a:t>
            </a:r>
            <a:r>
              <a:rPr lang="sv-SE" dirty="0" smtClean="0"/>
              <a:t>,"</a:t>
            </a:r>
            <a:endParaRPr lang="sv-SE" dirty="0"/>
          </a:p>
        </p:txBody>
      </p:sp>
    </p:spTree>
    <p:extLst>
      <p:ext uri="{BB962C8B-B14F-4D97-AF65-F5344CB8AC3E}">
        <p14:creationId xmlns:p14="http://schemas.microsoft.com/office/powerpoint/2010/main" val="171702871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Control: Back-to-Back Inverter</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 name="TextBox 1"/>
              <p:cNvSpPr txBox="1"/>
              <p:nvPr/>
            </p:nvSpPr>
            <p:spPr>
              <a:xfrm>
                <a:off x="3898907" y="2762122"/>
                <a:ext cx="3494290" cy="671081"/>
              </a:xfrm>
              <a:prstGeom prst="rect">
                <a:avLst/>
              </a:prstGeom>
              <a:noFill/>
            </p:spPr>
            <p:txBody>
              <a:bodyPr wrap="none" lIns="0" tIns="0" rIns="0" bIns="0" rtlCol="0">
                <a:spAutoFit/>
              </a:bodyPr>
              <a:lstStyle/>
              <a:p>
                <a14:m>
                  <m:oMath xmlns:m="http://schemas.openxmlformats.org/officeDocument/2006/math">
                    <m:r>
                      <a:rPr lang="sv-SE" b="0" i="1" smtClean="0">
                        <a:latin typeface="Cambria Math" panose="02040503050406030204" pitchFamily="18" charset="0"/>
                      </a:rPr>
                      <m:t>𝑆</m:t>
                    </m:r>
                    <m:r>
                      <a:rPr lang="sv-SE" b="0" i="1" smtClean="0">
                        <a:latin typeface="Cambria Math" panose="02040503050406030204" pitchFamily="18" charset="0"/>
                      </a:rPr>
                      <m:t>=</m:t>
                    </m:r>
                    <m:f>
                      <m:fPr>
                        <m:ctrlPr>
                          <a:rPr lang="sv-SE" i="1">
                            <a:latin typeface="Cambria Math" panose="02040503050406030204" pitchFamily="18" charset="0"/>
                          </a:rPr>
                        </m:ctrlPr>
                      </m:fPr>
                      <m:num>
                        <m:r>
                          <a:rPr lang="sv-SE" i="1">
                            <a:latin typeface="Cambria Math" panose="02040503050406030204" pitchFamily="18" charset="0"/>
                          </a:rPr>
                          <m:t>3</m:t>
                        </m:r>
                      </m:num>
                      <m:den>
                        <m:r>
                          <a:rPr lang="sv-SE" i="1">
                            <a:latin typeface="Cambria Math" panose="02040503050406030204" pitchFamily="18" charset="0"/>
                          </a:rPr>
                          <m:t>2</m:t>
                        </m:r>
                      </m:den>
                    </m:f>
                    <m:sSub>
                      <m:sSubPr>
                        <m:ctrlPr>
                          <a:rPr lang="sv-SE" i="1">
                            <a:latin typeface="Cambria Math" panose="02040503050406030204" pitchFamily="18" charset="0"/>
                          </a:rPr>
                        </m:ctrlPr>
                      </m:sSubPr>
                      <m:e>
                        <m:r>
                          <a:rPr lang="sv-SE" i="1">
                            <a:latin typeface="Cambria Math" panose="02040503050406030204" pitchFamily="18" charset="0"/>
                          </a:rPr>
                          <m:t>𝑀</m:t>
                        </m:r>
                      </m:e>
                      <m:sub>
                        <m:r>
                          <a:rPr lang="sv-SE" i="1">
                            <a:latin typeface="Cambria Math" panose="02040503050406030204" pitchFamily="18" charset="0"/>
                          </a:rPr>
                          <m:t>1</m:t>
                        </m:r>
                      </m:sub>
                    </m:sSub>
                    <m:d>
                      <m:dPr>
                        <m:ctrlPr>
                          <a:rPr lang="sv-SE" i="1">
                            <a:latin typeface="Cambria Math" panose="02040503050406030204" pitchFamily="18" charset="0"/>
                          </a:rPr>
                        </m:ctrlPr>
                      </m:dPr>
                      <m:e>
                        <m:f>
                          <m:fPr>
                            <m:ctrlPr>
                              <a:rPr lang="sv-SE" i="1">
                                <a:latin typeface="Cambria Math" panose="02040503050406030204" pitchFamily="18" charset="0"/>
                              </a:rPr>
                            </m:ctrlPr>
                          </m:fPr>
                          <m:num>
                            <m:sSubSup>
                              <m:sSubSupPr>
                                <m:ctrlPr>
                                  <a:rPr lang="sv-SE" i="1">
                                    <a:latin typeface="Cambria Math" panose="02040503050406030204" pitchFamily="18" charset="0"/>
                                  </a:rPr>
                                </m:ctrlPr>
                              </m:sSubSupPr>
                              <m:e>
                                <m:r>
                                  <a:rPr lang="sv-SE" i="1">
                                    <a:latin typeface="Cambria Math" panose="02040503050406030204" pitchFamily="18" charset="0"/>
                                  </a:rPr>
                                  <m:t>𝑈</m:t>
                                </m:r>
                              </m:e>
                              <m:sub>
                                <m:r>
                                  <a:rPr lang="sv-SE" i="1">
                                    <a:latin typeface="Cambria Math" panose="02040503050406030204" pitchFamily="18" charset="0"/>
                                  </a:rPr>
                                  <m:t>𝑑𝑐</m:t>
                                </m:r>
                              </m:sub>
                              <m:sup>
                                <m:r>
                                  <a:rPr lang="sv-SE" i="1">
                                    <a:latin typeface="Cambria Math" panose="02040503050406030204" pitchFamily="18" charset="0"/>
                                  </a:rPr>
                                  <m:t>2</m:t>
                                </m:r>
                              </m:sup>
                            </m:sSubSup>
                          </m:num>
                          <m:den>
                            <m:r>
                              <a:rPr lang="sv-SE" i="1">
                                <a:latin typeface="Cambria Math" panose="02040503050406030204" pitchFamily="18" charset="0"/>
                              </a:rPr>
                              <m:t>2</m:t>
                            </m:r>
                          </m:den>
                        </m:f>
                      </m:e>
                    </m:d>
                    <m:f>
                      <m:fPr>
                        <m:ctrlPr>
                          <a:rPr lang="sv-SE" b="0" i="1" smtClean="0">
                            <a:latin typeface="Cambria Math" panose="02040503050406030204" pitchFamily="18" charset="0"/>
                          </a:rPr>
                        </m:ctrlPr>
                      </m:fPr>
                      <m:num>
                        <m:rad>
                          <m:radPr>
                            <m:degHide m:val="on"/>
                            <m:ctrlPr>
                              <a:rPr lang="sv-SE" b="0" i="1" smtClean="0">
                                <a:latin typeface="Cambria Math" panose="02040503050406030204" pitchFamily="18" charset="0"/>
                              </a:rPr>
                            </m:ctrlPr>
                          </m:radPr>
                          <m:deg/>
                          <m:e>
                            <m:sSubSup>
                              <m:sSubSupPr>
                                <m:ctrlPr>
                                  <a:rPr lang="sv-SE" b="0" i="1" smtClean="0">
                                    <a:latin typeface="Cambria Math" panose="02040503050406030204" pitchFamily="18" charset="0"/>
                                  </a:rPr>
                                </m:ctrlPr>
                              </m:sSubSupPr>
                              <m:e>
                                <m:r>
                                  <a:rPr lang="sv-SE" b="0" i="1" smtClean="0">
                                    <a:latin typeface="Cambria Math" panose="02040503050406030204" pitchFamily="18" charset="0"/>
                                  </a:rPr>
                                  <m:t>𝑀</m:t>
                                </m:r>
                              </m:e>
                              <m:sub>
                                <m:r>
                                  <a:rPr lang="sv-SE" b="0" i="1" smtClean="0">
                                    <a:latin typeface="Cambria Math" panose="02040503050406030204" pitchFamily="18" charset="0"/>
                                  </a:rPr>
                                  <m:t>1</m:t>
                                </m:r>
                              </m:sub>
                              <m:sup>
                                <m:r>
                                  <a:rPr lang="sv-SE" b="0" i="1" smtClean="0">
                                    <a:latin typeface="Cambria Math" panose="02040503050406030204" pitchFamily="18" charset="0"/>
                                  </a:rPr>
                                  <m:t>2</m:t>
                                </m:r>
                              </m:sup>
                            </m:sSubSup>
                            <m:r>
                              <a:rPr lang="sv-SE" b="0" i="1" smtClean="0">
                                <a:latin typeface="Cambria Math" panose="02040503050406030204" pitchFamily="18" charset="0"/>
                              </a:rPr>
                              <m:t>+</m:t>
                            </m:r>
                            <m:sSubSup>
                              <m:sSubSupPr>
                                <m:ctrlPr>
                                  <a:rPr lang="sv-SE" b="0" i="1" smtClean="0">
                                    <a:latin typeface="Cambria Math" panose="02040503050406030204" pitchFamily="18" charset="0"/>
                                  </a:rPr>
                                </m:ctrlPr>
                              </m:sSubSupPr>
                              <m:e>
                                <m:r>
                                  <a:rPr lang="sv-SE" b="0" i="1" smtClean="0">
                                    <a:latin typeface="Cambria Math" panose="02040503050406030204" pitchFamily="18" charset="0"/>
                                  </a:rPr>
                                  <m:t>𝑀</m:t>
                                </m:r>
                              </m:e>
                              <m:sub>
                                <m:r>
                                  <a:rPr lang="sv-SE" b="0" i="1" smtClean="0">
                                    <a:latin typeface="Cambria Math" panose="02040503050406030204" pitchFamily="18" charset="0"/>
                                  </a:rPr>
                                  <m:t>2</m:t>
                                </m:r>
                              </m:sub>
                              <m:sup>
                                <m:r>
                                  <a:rPr lang="sv-SE" b="0" i="1" smtClean="0">
                                    <a:latin typeface="Cambria Math" panose="02040503050406030204" pitchFamily="18" charset="0"/>
                                  </a:rPr>
                                  <m:t>2</m:t>
                                </m:r>
                              </m:sup>
                            </m:sSubSup>
                            <m:r>
                              <a:rPr lang="sv-SE" b="0" i="1" smtClean="0">
                                <a:latin typeface="Cambria Math" panose="02040503050406030204" pitchFamily="18" charset="0"/>
                              </a:rPr>
                              <m:t>−2</m:t>
                            </m:r>
                            <m:sSub>
                              <m:sSubPr>
                                <m:ctrlPr>
                                  <a:rPr lang="sv-SE" b="0" i="1" smtClean="0">
                                    <a:latin typeface="Cambria Math" panose="02040503050406030204" pitchFamily="18" charset="0"/>
                                  </a:rPr>
                                </m:ctrlPr>
                              </m:sSubPr>
                              <m:e>
                                <m:r>
                                  <a:rPr lang="sv-SE" b="0" i="1" smtClean="0">
                                    <a:latin typeface="Cambria Math" panose="02040503050406030204" pitchFamily="18" charset="0"/>
                                  </a:rPr>
                                  <m:t>𝑀</m:t>
                                </m:r>
                              </m:e>
                              <m:sub>
                                <m:r>
                                  <a:rPr lang="sv-SE" b="0" i="1" smtClean="0">
                                    <a:latin typeface="Cambria Math" panose="02040503050406030204" pitchFamily="18" charset="0"/>
                                  </a:rPr>
                                  <m:t>1</m:t>
                                </m:r>
                              </m:sub>
                            </m:sSub>
                            <m:sSub>
                              <m:sSubPr>
                                <m:ctrlPr>
                                  <a:rPr lang="sv-SE" b="0" i="1" smtClean="0">
                                    <a:latin typeface="Cambria Math" panose="02040503050406030204" pitchFamily="18" charset="0"/>
                                  </a:rPr>
                                </m:ctrlPr>
                              </m:sSubPr>
                              <m:e>
                                <m:r>
                                  <a:rPr lang="sv-SE" b="0" i="1" smtClean="0">
                                    <a:latin typeface="Cambria Math" panose="02040503050406030204" pitchFamily="18" charset="0"/>
                                  </a:rPr>
                                  <m:t>𝑀</m:t>
                                </m:r>
                              </m:e>
                              <m:sub>
                                <m:r>
                                  <a:rPr lang="sv-SE" b="0" i="1" smtClean="0">
                                    <a:latin typeface="Cambria Math" panose="02040503050406030204" pitchFamily="18" charset="0"/>
                                  </a:rPr>
                                  <m:t>2</m:t>
                                </m:r>
                              </m:sub>
                            </m:sSub>
                            <m:func>
                              <m:funcPr>
                                <m:ctrlPr>
                                  <a:rPr lang="sv-SE" b="0" i="1" smtClean="0">
                                    <a:latin typeface="Cambria Math" panose="02040503050406030204" pitchFamily="18" charset="0"/>
                                  </a:rPr>
                                </m:ctrlPr>
                              </m:funcPr>
                              <m:fName>
                                <m:r>
                                  <m:rPr>
                                    <m:sty m:val="p"/>
                                  </m:rPr>
                                  <a:rPr lang="sv-SE" b="0" i="0" smtClean="0">
                                    <a:latin typeface="Cambria Math" panose="02040503050406030204" pitchFamily="18" charset="0"/>
                                  </a:rPr>
                                  <m:t>cos</m:t>
                                </m:r>
                              </m:fName>
                              <m:e>
                                <m:d>
                                  <m:dPr>
                                    <m:ctrlPr>
                                      <a:rPr lang="sv-SE" b="0" i="1" smtClean="0">
                                        <a:latin typeface="Cambria Math" panose="02040503050406030204" pitchFamily="18" charset="0"/>
                                      </a:rPr>
                                    </m:ctrlPr>
                                  </m:dPr>
                                  <m:e>
                                    <m:r>
                                      <a:rPr lang="sv-SE" b="0" i="1" smtClean="0">
                                        <a:latin typeface="Cambria Math" panose="02040503050406030204" pitchFamily="18" charset="0"/>
                                      </a:rPr>
                                      <m:t>𝛿</m:t>
                                    </m:r>
                                  </m:e>
                                </m:d>
                              </m:e>
                            </m:func>
                          </m:e>
                        </m:rad>
                        <m:r>
                          <m:rPr>
                            <m:lit/>
                          </m:rPr>
                          <a:rPr lang="sv-SE" b="0" i="1" smtClean="0">
                            <a:latin typeface="Cambria Math" panose="02040503050406030204" pitchFamily="18" charset="0"/>
                          </a:rPr>
                          <m:t> </m:t>
                        </m:r>
                      </m:num>
                      <m:den>
                        <m:r>
                          <a:rPr lang="sv-SE" b="0" i="1" smtClean="0">
                            <a:latin typeface="Cambria Math" panose="02040503050406030204" pitchFamily="18" charset="0"/>
                          </a:rPr>
                          <m:t>𝑗</m:t>
                        </m:r>
                        <m:r>
                          <a:rPr lang="sv-SE" b="0" i="1" smtClean="0">
                            <a:latin typeface="Cambria Math" panose="02040503050406030204" pitchFamily="18" charset="0"/>
                          </a:rPr>
                          <m:t>𝜔</m:t>
                        </m:r>
                        <m:r>
                          <a:rPr lang="sv-SE" b="0" i="1" smtClean="0">
                            <a:latin typeface="Cambria Math" panose="02040503050406030204" pitchFamily="18" charset="0"/>
                          </a:rPr>
                          <m:t>𝐿</m:t>
                        </m:r>
                      </m:den>
                    </m:f>
                  </m:oMath>
                </a14:m>
                <a:r>
                  <a:rPr lang="sv-SE" dirty="0" smtClean="0"/>
                  <a:t> </a:t>
                </a:r>
                <a:endParaRPr lang="sv-SE" dirty="0"/>
              </a:p>
            </p:txBody>
          </p:sp>
        </mc:Choice>
        <mc:Fallback>
          <p:sp>
            <p:nvSpPr>
              <p:cNvPr id="2" name="TextBox 1"/>
              <p:cNvSpPr txBox="1">
                <a:spLocks noRot="1" noChangeAspect="1" noMove="1" noResize="1" noEditPoints="1" noAdjustHandles="1" noChangeArrowheads="1" noChangeShapeType="1" noTextEdit="1"/>
              </p:cNvSpPr>
              <p:nvPr/>
            </p:nvSpPr>
            <p:spPr>
              <a:xfrm>
                <a:off x="3898907" y="2762122"/>
                <a:ext cx="3494290" cy="671081"/>
              </a:xfrm>
              <a:prstGeom prst="rect">
                <a:avLst/>
              </a:prstGeom>
              <a:blipFill>
                <a:blip r:embed="rId2"/>
                <a:stretch>
                  <a:fillRect l="-175"/>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898907" y="3655624"/>
                <a:ext cx="3576812" cy="89716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sv-SE" b="0" i="1" smtClean="0">
                          <a:latin typeface="Cambria Math" panose="02040503050406030204" pitchFamily="18" charset="0"/>
                        </a:rPr>
                        <m:t>𝑝</m:t>
                      </m:r>
                      <m:r>
                        <a:rPr lang="sv-SE" b="0" i="1" smtClean="0">
                          <a:latin typeface="Cambria Math" panose="02040503050406030204" pitchFamily="18" charset="0"/>
                        </a:rPr>
                        <m:t>.</m:t>
                      </m:r>
                      <m:r>
                        <a:rPr lang="sv-SE" b="0" i="1" smtClean="0">
                          <a:latin typeface="Cambria Math" panose="02040503050406030204" pitchFamily="18" charset="0"/>
                        </a:rPr>
                        <m:t>𝑓</m:t>
                      </m:r>
                      <m:r>
                        <a:rPr lang="sv-SE" b="0" i="1" smtClean="0">
                          <a:latin typeface="Cambria Math" panose="02040503050406030204" pitchFamily="18" charset="0"/>
                        </a:rPr>
                        <m:t>.=−</m:t>
                      </m:r>
                      <m:r>
                        <m:rPr>
                          <m:sty m:val="p"/>
                        </m:rPr>
                        <a:rPr lang="sv-SE" b="0" i="0" smtClean="0">
                          <a:latin typeface="Cambria Math" panose="02040503050406030204" pitchFamily="18" charset="0"/>
                        </a:rPr>
                        <m:t>sin</m:t>
                      </m:r>
                      <m:r>
                        <a:rPr lang="sv-SE" b="0" i="1" smtClean="0">
                          <a:latin typeface="Cambria Math" panose="02040503050406030204" pitchFamily="18" charset="0"/>
                        </a:rPr>
                        <m:t>⁡[</m:t>
                      </m:r>
                      <m:r>
                        <m:rPr>
                          <m:sty m:val="p"/>
                        </m:rPr>
                        <a:rPr lang="sv-SE" b="0" i="0" smtClean="0">
                          <a:latin typeface="Cambria Math" panose="02040503050406030204" pitchFamily="18" charset="0"/>
                        </a:rPr>
                        <m:t>arctan</m:t>
                      </m:r>
                      <m:r>
                        <a:rPr lang="sv-SE" b="0" i="1" smtClean="0">
                          <a:latin typeface="Cambria Math" panose="02040503050406030204" pitchFamily="18" charset="0"/>
                        </a:rPr>
                        <m:t>⁡(</m:t>
                      </m:r>
                      <m:f>
                        <m:fPr>
                          <m:ctrlPr>
                            <a:rPr lang="sv-SE" b="0" i="1" smtClean="0">
                              <a:latin typeface="Cambria Math" panose="02040503050406030204" pitchFamily="18" charset="0"/>
                            </a:rPr>
                          </m:ctrlPr>
                        </m:fPr>
                        <m:num>
                          <m:func>
                            <m:funcPr>
                              <m:ctrlPr>
                                <a:rPr lang="sv-SE" b="0" i="1" smtClean="0">
                                  <a:latin typeface="Cambria Math" panose="02040503050406030204" pitchFamily="18" charset="0"/>
                                </a:rPr>
                              </m:ctrlPr>
                            </m:funcPr>
                            <m:fName>
                              <m:r>
                                <m:rPr>
                                  <m:sty m:val="p"/>
                                </m:rPr>
                                <a:rPr lang="sv-SE" b="0" i="0" smtClean="0">
                                  <a:latin typeface="Cambria Math" panose="02040503050406030204" pitchFamily="18" charset="0"/>
                                </a:rPr>
                                <m:t>sin</m:t>
                              </m:r>
                            </m:fName>
                            <m:e>
                              <m:d>
                                <m:dPr>
                                  <m:ctrlPr>
                                    <a:rPr lang="sv-SE" b="0" i="1" smtClean="0">
                                      <a:latin typeface="Cambria Math" panose="02040503050406030204" pitchFamily="18" charset="0"/>
                                    </a:rPr>
                                  </m:ctrlPr>
                                </m:dPr>
                                <m:e>
                                  <m:r>
                                    <a:rPr lang="sv-SE" b="0" i="1" smtClean="0">
                                      <a:latin typeface="Cambria Math" panose="02040503050406030204" pitchFamily="18" charset="0"/>
                                    </a:rPr>
                                    <m:t>𝛿</m:t>
                                  </m:r>
                                </m:e>
                              </m:d>
                            </m:e>
                          </m:func>
                        </m:num>
                        <m:den>
                          <m:f>
                            <m:fPr>
                              <m:ctrlPr>
                                <a:rPr lang="sv-SE" b="0" i="1" smtClean="0">
                                  <a:latin typeface="Cambria Math" panose="02040503050406030204" pitchFamily="18" charset="0"/>
                                </a:rPr>
                              </m:ctrlPr>
                            </m:fPr>
                            <m:num>
                              <m:sSub>
                                <m:sSubPr>
                                  <m:ctrlPr>
                                    <a:rPr lang="sv-SE" b="0" i="1" smtClean="0">
                                      <a:latin typeface="Cambria Math" panose="02040503050406030204" pitchFamily="18" charset="0"/>
                                    </a:rPr>
                                  </m:ctrlPr>
                                </m:sSubPr>
                                <m:e>
                                  <m:r>
                                    <a:rPr lang="sv-SE" b="0" i="1" smtClean="0">
                                      <a:latin typeface="Cambria Math" panose="02040503050406030204" pitchFamily="18" charset="0"/>
                                    </a:rPr>
                                    <m:t>𝑀</m:t>
                                  </m:r>
                                </m:e>
                                <m:sub>
                                  <m:r>
                                    <a:rPr lang="sv-SE" b="0" i="1" smtClean="0">
                                      <a:latin typeface="Cambria Math" panose="02040503050406030204" pitchFamily="18" charset="0"/>
                                    </a:rPr>
                                    <m:t>1</m:t>
                                  </m:r>
                                </m:sub>
                              </m:sSub>
                            </m:num>
                            <m:den>
                              <m:sSub>
                                <m:sSubPr>
                                  <m:ctrlPr>
                                    <a:rPr lang="sv-SE" b="0" i="1" smtClean="0">
                                      <a:latin typeface="Cambria Math" panose="02040503050406030204" pitchFamily="18" charset="0"/>
                                    </a:rPr>
                                  </m:ctrlPr>
                                </m:sSubPr>
                                <m:e>
                                  <m:r>
                                    <a:rPr lang="sv-SE" b="0" i="1" smtClean="0">
                                      <a:latin typeface="Cambria Math" panose="02040503050406030204" pitchFamily="18" charset="0"/>
                                    </a:rPr>
                                    <m:t>𝑀</m:t>
                                  </m:r>
                                </m:e>
                                <m:sub>
                                  <m:r>
                                    <a:rPr lang="sv-SE" b="0" i="1" smtClean="0">
                                      <a:latin typeface="Cambria Math" panose="02040503050406030204" pitchFamily="18" charset="0"/>
                                    </a:rPr>
                                    <m:t>2</m:t>
                                  </m:r>
                                </m:sub>
                              </m:sSub>
                            </m:den>
                          </m:f>
                          <m:r>
                            <a:rPr lang="sv-SE" b="0" i="1" smtClean="0">
                              <a:latin typeface="Cambria Math" panose="02040503050406030204" pitchFamily="18" charset="0"/>
                            </a:rPr>
                            <m:t>−</m:t>
                          </m:r>
                          <m:r>
                            <m:rPr>
                              <m:sty m:val="p"/>
                            </m:rPr>
                            <a:rPr lang="sv-SE" b="0" i="0" smtClean="0">
                              <a:latin typeface="Cambria Math" panose="02040503050406030204" pitchFamily="18" charset="0"/>
                            </a:rPr>
                            <m:t>cos</m:t>
                          </m:r>
                          <m:r>
                            <a:rPr lang="sv-SE" b="0" i="1" smtClean="0">
                              <a:latin typeface="Cambria Math" panose="02040503050406030204" pitchFamily="18" charset="0"/>
                            </a:rPr>
                            <m:t>⁡(</m:t>
                          </m:r>
                          <m:r>
                            <a:rPr lang="sv-SE" b="0" i="1" smtClean="0">
                              <a:latin typeface="Cambria Math" panose="02040503050406030204" pitchFamily="18" charset="0"/>
                            </a:rPr>
                            <m:t>𝛿</m:t>
                          </m:r>
                          <m:r>
                            <a:rPr lang="sv-SE" b="0" i="1" smtClean="0">
                              <a:latin typeface="Cambria Math" panose="02040503050406030204" pitchFamily="18" charset="0"/>
                            </a:rPr>
                            <m:t>)</m:t>
                          </m:r>
                        </m:den>
                      </m:f>
                      <m:r>
                        <a:rPr lang="sv-SE" b="0" i="1" smtClean="0">
                          <a:latin typeface="Cambria Math" panose="02040503050406030204" pitchFamily="18" charset="0"/>
                        </a:rPr>
                        <m:t>)]</m:t>
                      </m:r>
                    </m:oMath>
                  </m:oMathPara>
                </a14:m>
                <a:endParaRPr lang="sv-SE" dirty="0"/>
              </a:p>
            </p:txBody>
          </p:sp>
        </mc:Choice>
        <mc:Fallback xmlns="">
          <p:sp>
            <p:nvSpPr>
              <p:cNvPr id="3" name="Rectangle 2"/>
              <p:cNvSpPr>
                <a:spLocks noRot="1" noChangeAspect="1" noMove="1" noResize="1" noEditPoints="1" noAdjustHandles="1" noChangeArrowheads="1" noChangeShapeType="1" noTextEdit="1"/>
              </p:cNvSpPr>
              <p:nvPr/>
            </p:nvSpPr>
            <p:spPr>
              <a:xfrm>
                <a:off x="3898907" y="3655624"/>
                <a:ext cx="3576812" cy="897169"/>
              </a:xfrm>
              <a:prstGeom prst="rect">
                <a:avLst/>
              </a:prstGeom>
              <a:blipFill>
                <a:blip r:embed="rId3"/>
                <a:stretch>
                  <a:fillRect/>
                </a:stretch>
              </a:blipFill>
            </p:spPr>
            <p:txBody>
              <a:bodyPr/>
              <a:lstStyle/>
              <a:p>
                <a:r>
                  <a:rPr lang="sv-SE">
                    <a:noFill/>
                  </a:rPr>
                  <a:t> </a:t>
                </a:r>
              </a:p>
            </p:txBody>
          </p:sp>
        </mc:Fallback>
      </mc:AlternateContent>
      <p:sp>
        <p:nvSpPr>
          <p:cNvPr id="13" name="Rectangle 12"/>
          <p:cNvSpPr/>
          <p:nvPr/>
        </p:nvSpPr>
        <p:spPr>
          <a:xfrm>
            <a:off x="1074709" y="4716588"/>
            <a:ext cx="10204200" cy="369332"/>
          </a:xfrm>
          <a:prstGeom prst="rect">
            <a:avLst/>
          </a:prstGeom>
        </p:spPr>
        <p:txBody>
          <a:bodyPr wrap="square">
            <a:spAutoFit/>
          </a:bodyPr>
          <a:lstStyle/>
          <a:p>
            <a:r>
              <a:rPr lang="en-US" dirty="0" smtClean="0">
                <a:solidFill>
                  <a:srgbClr val="404040"/>
                </a:solidFill>
                <a:latin typeface="Inter"/>
              </a:rPr>
              <a:t>Also, maximum </a:t>
            </a:r>
            <a:r>
              <a:rPr lang="en-US" dirty="0" smtClean="0">
                <a:solidFill>
                  <a:srgbClr val="404040"/>
                </a:solidFill>
                <a:latin typeface="Inter"/>
              </a:rPr>
              <a:t>current is limited by</a:t>
            </a:r>
            <a:endParaRPr lang="sv-SE" dirty="0"/>
          </a:p>
        </p:txBody>
      </p:sp>
      <mc:AlternateContent xmlns:mc="http://schemas.openxmlformats.org/markup-compatibility/2006">
        <mc:Choice xmlns:a14="http://schemas.microsoft.com/office/drawing/2010/main" Requires="a14">
          <p:sp>
            <p:nvSpPr>
              <p:cNvPr id="10" name="Rectangle 9"/>
              <p:cNvSpPr/>
              <p:nvPr/>
            </p:nvSpPr>
            <p:spPr>
              <a:xfrm>
                <a:off x="3793625" y="5215172"/>
                <a:ext cx="4543039" cy="74712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d>
                            <m:dPr>
                              <m:ctrlPr>
                                <a:rPr lang="sv-SE" i="1" smtClean="0">
                                  <a:latin typeface="Cambria Math" panose="02040503050406030204" pitchFamily="18" charset="0"/>
                                </a:rPr>
                              </m:ctrlPr>
                            </m:dPr>
                            <m:e>
                              <m:f>
                                <m:fPr>
                                  <m:ctrlPr>
                                    <a:rPr lang="sv-SE" i="1">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𝑑𝑐</m:t>
                                      </m:r>
                                    </m:sub>
                                  </m:sSub>
                                </m:num>
                                <m:den>
                                  <m:r>
                                    <a:rPr lang="sv-SE" i="1">
                                      <a:latin typeface="Cambria Math" panose="02040503050406030204" pitchFamily="18" charset="0"/>
                                    </a:rPr>
                                    <m:t>2</m:t>
                                  </m:r>
                                </m:den>
                              </m:f>
                            </m:e>
                          </m:d>
                        </m:e>
                        <m:sup>
                          <m:r>
                            <a:rPr lang="en-US" b="0" i="1" smtClean="0">
                              <a:latin typeface="Cambria Math" panose="02040503050406030204" pitchFamily="18" charset="0"/>
                            </a:rPr>
                            <m:t>2</m:t>
                          </m:r>
                        </m:sup>
                      </m:sSup>
                      <m:f>
                        <m:fPr>
                          <m:ctrlPr>
                            <a:rPr lang="sv-SE" i="1">
                              <a:latin typeface="Cambria Math" panose="02040503050406030204" pitchFamily="18" charset="0"/>
                            </a:rPr>
                          </m:ctrlPr>
                        </m:fPr>
                        <m:num>
                          <m:rad>
                            <m:radPr>
                              <m:degHide m:val="on"/>
                              <m:ctrlPr>
                                <a:rPr lang="sv-SE" i="1">
                                  <a:latin typeface="Cambria Math" panose="02040503050406030204" pitchFamily="18" charset="0"/>
                                </a:rPr>
                              </m:ctrlPr>
                            </m:radPr>
                            <m:deg/>
                            <m:e>
                              <m:sSubSup>
                                <m:sSubSupPr>
                                  <m:ctrlPr>
                                    <a:rPr lang="sv-SE" i="1">
                                      <a:latin typeface="Cambria Math" panose="02040503050406030204" pitchFamily="18" charset="0"/>
                                    </a:rPr>
                                  </m:ctrlPr>
                                </m:sSubSupPr>
                                <m:e>
                                  <m:r>
                                    <a:rPr lang="sv-SE" i="1">
                                      <a:latin typeface="Cambria Math" panose="02040503050406030204" pitchFamily="18" charset="0"/>
                                    </a:rPr>
                                    <m:t>𝑀</m:t>
                                  </m:r>
                                </m:e>
                                <m:sub>
                                  <m:r>
                                    <a:rPr lang="sv-SE" i="1">
                                      <a:latin typeface="Cambria Math" panose="02040503050406030204" pitchFamily="18" charset="0"/>
                                    </a:rPr>
                                    <m:t>1</m:t>
                                  </m:r>
                                </m:sub>
                                <m:sup>
                                  <m:r>
                                    <a:rPr lang="sv-SE" i="1">
                                      <a:latin typeface="Cambria Math" panose="02040503050406030204" pitchFamily="18" charset="0"/>
                                    </a:rPr>
                                    <m:t>2</m:t>
                                  </m:r>
                                </m:sup>
                              </m:sSubSup>
                              <m:r>
                                <a:rPr lang="sv-SE" i="1">
                                  <a:latin typeface="Cambria Math" panose="02040503050406030204" pitchFamily="18" charset="0"/>
                                </a:rPr>
                                <m:t>+</m:t>
                              </m:r>
                              <m:sSubSup>
                                <m:sSubSupPr>
                                  <m:ctrlPr>
                                    <a:rPr lang="sv-SE" i="1">
                                      <a:latin typeface="Cambria Math" panose="02040503050406030204" pitchFamily="18" charset="0"/>
                                    </a:rPr>
                                  </m:ctrlPr>
                                </m:sSubSupPr>
                                <m:e>
                                  <m:r>
                                    <a:rPr lang="sv-SE" i="1">
                                      <a:latin typeface="Cambria Math" panose="02040503050406030204" pitchFamily="18" charset="0"/>
                                    </a:rPr>
                                    <m:t>𝑀</m:t>
                                  </m:r>
                                </m:e>
                                <m:sub>
                                  <m:r>
                                    <a:rPr lang="sv-SE" i="1">
                                      <a:latin typeface="Cambria Math" panose="02040503050406030204" pitchFamily="18" charset="0"/>
                                    </a:rPr>
                                    <m:t>2</m:t>
                                  </m:r>
                                </m:sub>
                                <m:sup>
                                  <m:r>
                                    <a:rPr lang="sv-SE" i="1">
                                      <a:latin typeface="Cambria Math" panose="02040503050406030204" pitchFamily="18" charset="0"/>
                                    </a:rPr>
                                    <m:t>2</m:t>
                                  </m:r>
                                </m:sup>
                              </m:sSubSup>
                              <m:r>
                                <a:rPr lang="sv-SE" i="1">
                                  <a:latin typeface="Cambria Math" panose="02040503050406030204" pitchFamily="18" charset="0"/>
                                </a:rPr>
                                <m:t>−2</m:t>
                              </m:r>
                              <m:sSub>
                                <m:sSubPr>
                                  <m:ctrlPr>
                                    <a:rPr lang="sv-SE" i="1">
                                      <a:latin typeface="Cambria Math" panose="02040503050406030204" pitchFamily="18" charset="0"/>
                                    </a:rPr>
                                  </m:ctrlPr>
                                </m:sSubPr>
                                <m:e>
                                  <m:r>
                                    <a:rPr lang="sv-SE" i="1">
                                      <a:latin typeface="Cambria Math" panose="02040503050406030204" pitchFamily="18" charset="0"/>
                                    </a:rPr>
                                    <m:t>𝑀</m:t>
                                  </m:r>
                                </m:e>
                                <m:sub>
                                  <m:r>
                                    <a:rPr lang="sv-SE" i="1">
                                      <a:latin typeface="Cambria Math" panose="02040503050406030204" pitchFamily="18" charset="0"/>
                                    </a:rPr>
                                    <m:t>1</m:t>
                                  </m:r>
                                </m:sub>
                              </m:sSub>
                              <m:sSub>
                                <m:sSubPr>
                                  <m:ctrlPr>
                                    <a:rPr lang="sv-SE" i="1">
                                      <a:latin typeface="Cambria Math" panose="02040503050406030204" pitchFamily="18" charset="0"/>
                                    </a:rPr>
                                  </m:ctrlPr>
                                </m:sSubPr>
                                <m:e>
                                  <m:r>
                                    <a:rPr lang="sv-SE" i="1">
                                      <a:latin typeface="Cambria Math" panose="02040503050406030204" pitchFamily="18" charset="0"/>
                                    </a:rPr>
                                    <m:t>𝑀</m:t>
                                  </m:r>
                                </m:e>
                                <m:sub>
                                  <m:r>
                                    <a:rPr lang="sv-SE" i="1">
                                      <a:latin typeface="Cambria Math" panose="02040503050406030204" pitchFamily="18" charset="0"/>
                                    </a:rPr>
                                    <m:t>2</m:t>
                                  </m:r>
                                </m:sub>
                              </m:sSub>
                              <m:func>
                                <m:funcPr>
                                  <m:ctrlPr>
                                    <a:rPr lang="sv-SE" i="1">
                                      <a:latin typeface="Cambria Math" panose="02040503050406030204" pitchFamily="18" charset="0"/>
                                    </a:rPr>
                                  </m:ctrlPr>
                                </m:funcPr>
                                <m:fName>
                                  <m:r>
                                    <m:rPr>
                                      <m:sty m:val="p"/>
                                    </m:rPr>
                                    <a:rPr lang="sv-SE">
                                      <a:latin typeface="Cambria Math" panose="02040503050406030204" pitchFamily="18" charset="0"/>
                                    </a:rPr>
                                    <m:t>cos</m:t>
                                  </m:r>
                                </m:fName>
                                <m:e>
                                  <m:d>
                                    <m:dPr>
                                      <m:ctrlPr>
                                        <a:rPr lang="sv-SE" i="1">
                                          <a:latin typeface="Cambria Math" panose="02040503050406030204" pitchFamily="18" charset="0"/>
                                        </a:rPr>
                                      </m:ctrlPr>
                                    </m:dPr>
                                    <m:e>
                                      <m:r>
                                        <a:rPr lang="sv-SE" i="1">
                                          <a:latin typeface="Cambria Math" panose="02040503050406030204" pitchFamily="18" charset="0"/>
                                        </a:rPr>
                                        <m:t>𝛿</m:t>
                                      </m:r>
                                    </m:e>
                                  </m:d>
                                </m:e>
                              </m:func>
                            </m:e>
                          </m:rad>
                          <m:r>
                            <m:rPr>
                              <m:lit/>
                            </m:rPr>
                            <a:rPr lang="sv-SE" i="1">
                              <a:latin typeface="Cambria Math" panose="02040503050406030204" pitchFamily="18" charset="0"/>
                            </a:rPr>
                            <m:t> </m:t>
                          </m:r>
                        </m:num>
                        <m:den>
                          <m:r>
                            <a:rPr lang="sv-SE" i="1">
                              <a:latin typeface="Cambria Math" panose="02040503050406030204" pitchFamily="18" charset="0"/>
                            </a:rPr>
                            <m:t>𝑗</m:t>
                          </m:r>
                          <m:r>
                            <a:rPr lang="sv-SE" i="1">
                              <a:latin typeface="Cambria Math" panose="02040503050406030204" pitchFamily="18" charset="0"/>
                            </a:rPr>
                            <m:t>𝜔</m:t>
                          </m:r>
                          <m:r>
                            <a:rPr lang="sv-SE" i="1">
                              <a:latin typeface="Cambria Math" panose="02040503050406030204" pitchFamily="18" charset="0"/>
                            </a:rPr>
                            <m:t>𝐿</m:t>
                          </m:r>
                        </m:den>
                      </m:f>
                      <m:r>
                        <a:rPr lang="sv-SE" b="0" i="1" smtClean="0">
                          <a:latin typeface="Cambria Math" panose="02040503050406030204" pitchFamily="18" charset="0"/>
                        </a:rPr>
                        <m:t>&lt;</m:t>
                      </m:r>
                      <m:sSub>
                        <m:sSubPr>
                          <m:ctrlPr>
                            <a:rPr lang="sv-SE" b="0" i="1" smtClean="0">
                              <a:latin typeface="Cambria Math" panose="02040503050406030204" pitchFamily="18" charset="0"/>
                            </a:rPr>
                          </m:ctrlPr>
                        </m:sSubPr>
                        <m:e>
                          <m:r>
                            <a:rPr lang="sv-SE" b="0" i="1" smtClean="0">
                              <a:latin typeface="Cambria Math" panose="02040503050406030204" pitchFamily="18" charset="0"/>
                            </a:rPr>
                            <m:t>𝐼</m:t>
                          </m:r>
                        </m:e>
                        <m:sub>
                          <m:r>
                            <a:rPr lang="sv-SE" b="0" i="1" smtClean="0">
                              <a:latin typeface="Cambria Math" panose="02040503050406030204" pitchFamily="18" charset="0"/>
                            </a:rPr>
                            <m:t>𝑚𝑎𝑥</m:t>
                          </m:r>
                        </m:sub>
                      </m:sSub>
                    </m:oMath>
                  </m:oMathPara>
                </a14:m>
                <a:endParaRPr lang="sv-SE" dirty="0"/>
              </a:p>
            </p:txBody>
          </p:sp>
        </mc:Choice>
        <mc:Fallback>
          <p:sp>
            <p:nvSpPr>
              <p:cNvPr id="10" name="Rectangle 9"/>
              <p:cNvSpPr>
                <a:spLocks noRot="1" noChangeAspect="1" noMove="1" noResize="1" noEditPoints="1" noAdjustHandles="1" noChangeArrowheads="1" noChangeShapeType="1" noTextEdit="1"/>
              </p:cNvSpPr>
              <p:nvPr/>
            </p:nvSpPr>
            <p:spPr>
              <a:xfrm>
                <a:off x="3793625" y="5215172"/>
                <a:ext cx="4543039" cy="747128"/>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1709672" y="1938294"/>
                <a:ext cx="2023566" cy="59311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sv-SE" b="0" i="1" smtClean="0">
                          <a:latin typeface="Cambria Math" panose="02040503050406030204" pitchFamily="18" charset="0"/>
                        </a:rPr>
                        <m:t>𝑃</m:t>
                      </m:r>
                      <m:r>
                        <a:rPr lang="sv-SE" b="0" i="1" smtClean="0">
                          <a:latin typeface="Cambria Math" panose="02040503050406030204" pitchFamily="18" charset="0"/>
                        </a:rPr>
                        <m:t>=</m:t>
                      </m:r>
                      <m:f>
                        <m:fPr>
                          <m:ctrlPr>
                            <a:rPr lang="sv-SE" b="0" i="1" smtClean="0">
                              <a:latin typeface="Cambria Math" panose="02040503050406030204" pitchFamily="18" charset="0"/>
                            </a:rPr>
                          </m:ctrlPr>
                        </m:fPr>
                        <m:num>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1</m:t>
                              </m:r>
                            </m:sub>
                          </m:sSub>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2</m:t>
                              </m:r>
                            </m:sub>
                          </m:sSub>
                          <m:func>
                            <m:funcPr>
                              <m:ctrlPr>
                                <a:rPr lang="sv-SE" b="0" i="1" smtClean="0">
                                  <a:latin typeface="Cambria Math" panose="02040503050406030204" pitchFamily="18" charset="0"/>
                                </a:rPr>
                              </m:ctrlPr>
                            </m:funcPr>
                            <m:fName>
                              <m:r>
                                <m:rPr>
                                  <m:sty m:val="p"/>
                                </m:rPr>
                                <a:rPr lang="sv-SE" b="0" i="0" smtClean="0">
                                  <a:latin typeface="Cambria Math" panose="02040503050406030204" pitchFamily="18" charset="0"/>
                                </a:rPr>
                                <m:t>sin</m:t>
                              </m:r>
                            </m:fName>
                            <m:e>
                              <m:d>
                                <m:dPr>
                                  <m:ctrlPr>
                                    <a:rPr lang="sv-SE" b="0" i="1" smtClean="0">
                                      <a:latin typeface="Cambria Math" panose="02040503050406030204" pitchFamily="18" charset="0"/>
                                    </a:rPr>
                                  </m:ctrlPr>
                                </m:dPr>
                                <m:e>
                                  <m:r>
                                    <a:rPr lang="sv-SE" b="0" i="1" smtClean="0">
                                      <a:latin typeface="Cambria Math" panose="02040503050406030204" pitchFamily="18" charset="0"/>
                                    </a:rPr>
                                    <m:t>𝛿</m:t>
                                  </m:r>
                                </m:e>
                              </m:d>
                            </m:e>
                          </m:func>
                        </m:num>
                        <m:den>
                          <m:r>
                            <a:rPr lang="sv-SE" b="0" i="1" smtClean="0">
                              <a:latin typeface="Cambria Math" panose="02040503050406030204" pitchFamily="18" charset="0"/>
                            </a:rPr>
                            <m:t>𝑗</m:t>
                          </m:r>
                          <m:r>
                            <a:rPr lang="sv-SE" b="0" i="1" smtClean="0">
                              <a:latin typeface="Cambria Math" panose="02040503050406030204" pitchFamily="18" charset="0"/>
                            </a:rPr>
                            <m:t>𝜔</m:t>
                          </m:r>
                          <m:r>
                            <a:rPr lang="sv-SE" b="0" i="1" smtClean="0">
                              <a:latin typeface="Cambria Math" panose="02040503050406030204" pitchFamily="18" charset="0"/>
                            </a:rPr>
                            <m:t>𝐿</m:t>
                          </m:r>
                        </m:den>
                      </m:f>
                    </m:oMath>
                  </m:oMathPara>
                </a14:m>
                <a:endParaRPr lang="sv-SE" dirty="0"/>
              </a:p>
            </p:txBody>
          </p:sp>
        </mc:Choice>
        <mc:Fallback>
          <p:sp>
            <p:nvSpPr>
              <p:cNvPr id="9" name="TextBox 8"/>
              <p:cNvSpPr txBox="1">
                <a:spLocks noRot="1" noChangeAspect="1" noMove="1" noResize="1" noEditPoints="1" noAdjustHandles="1" noChangeArrowheads="1" noChangeShapeType="1" noTextEdit="1"/>
              </p:cNvSpPr>
              <p:nvPr/>
            </p:nvSpPr>
            <p:spPr>
              <a:xfrm>
                <a:off x="1709672" y="1938294"/>
                <a:ext cx="2023566" cy="593111"/>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4070383" y="1981961"/>
                <a:ext cx="2300438" cy="505779"/>
              </a:xfrm>
              <a:prstGeom prst="rect">
                <a:avLst/>
              </a:prstGeom>
              <a:noFill/>
            </p:spPr>
            <p:txBody>
              <a:bodyPr wrap="none" lIns="0" tIns="0" rIns="0" bIns="0" rtlCol="0">
                <a:spAutoFit/>
              </a:bodyPr>
              <a:lstStyle/>
              <a:p>
                <a:r>
                  <a:rPr lang="sv-SE" b="0" dirty="0" smtClean="0"/>
                  <a:t>Q</a:t>
                </a:r>
                <a14:m>
                  <m:oMath xmlns:m="http://schemas.openxmlformats.org/officeDocument/2006/math">
                    <m:r>
                      <a:rPr lang="sv-SE" b="0" i="1" smtClean="0">
                        <a:latin typeface="Cambria Math" panose="02040503050406030204" pitchFamily="18" charset="0"/>
                      </a:rPr>
                      <m:t>=</m:t>
                    </m:r>
                    <m:f>
                      <m:fPr>
                        <m:ctrlPr>
                          <a:rPr lang="sv-SE" b="0" i="1" smtClean="0">
                            <a:latin typeface="Cambria Math" panose="02040503050406030204" pitchFamily="18" charset="0"/>
                          </a:rPr>
                        </m:ctrlPr>
                      </m:fPr>
                      <m:num>
                        <m:sSubSup>
                          <m:sSubSupPr>
                            <m:ctrlPr>
                              <a:rPr lang="sv-SE" b="0" i="1" smtClean="0">
                                <a:latin typeface="Cambria Math" panose="02040503050406030204" pitchFamily="18" charset="0"/>
                              </a:rPr>
                            </m:ctrlPr>
                          </m:sSubSup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1</m:t>
                            </m:r>
                          </m:sub>
                          <m:sup>
                            <m:r>
                              <a:rPr lang="sv-SE" b="0" i="1" smtClean="0">
                                <a:latin typeface="Cambria Math" panose="02040503050406030204" pitchFamily="18" charset="0"/>
                              </a:rPr>
                              <m:t>2</m:t>
                            </m:r>
                          </m:sup>
                        </m:sSubSup>
                        <m:r>
                          <a:rPr lang="sv-SE" b="0" i="1" smtClean="0">
                            <a:latin typeface="Cambria Math" panose="02040503050406030204" pitchFamily="18" charset="0"/>
                          </a:rPr>
                          <m:t> − </m:t>
                        </m:r>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1</m:t>
                            </m:r>
                          </m:sub>
                        </m:sSub>
                        <m:sSub>
                          <m:sSubPr>
                            <m:ctrlPr>
                              <a:rPr lang="sv-SE" b="0" i="1" smtClean="0">
                                <a:latin typeface="Cambria Math" panose="02040503050406030204" pitchFamily="18" charset="0"/>
                              </a:rPr>
                            </m:ctrlPr>
                          </m:sSubPr>
                          <m:e>
                            <m:r>
                              <a:rPr lang="sv-SE" b="0" i="1" smtClean="0">
                                <a:latin typeface="Cambria Math" panose="02040503050406030204" pitchFamily="18" charset="0"/>
                              </a:rPr>
                              <m:t>𝑉</m:t>
                            </m:r>
                          </m:e>
                          <m:sub>
                            <m:r>
                              <a:rPr lang="sv-SE" b="0" i="1" smtClean="0">
                                <a:latin typeface="Cambria Math" panose="02040503050406030204" pitchFamily="18" charset="0"/>
                              </a:rPr>
                              <m:t>𝑝h</m:t>
                            </m:r>
                            <m:r>
                              <a:rPr lang="sv-SE" b="0" i="1" smtClean="0">
                                <a:latin typeface="Cambria Math" panose="02040503050406030204" pitchFamily="18" charset="0"/>
                              </a:rPr>
                              <m:t>2</m:t>
                            </m:r>
                          </m:sub>
                        </m:sSub>
                        <m:func>
                          <m:funcPr>
                            <m:ctrlPr>
                              <a:rPr lang="sv-SE" b="0" i="1" smtClean="0">
                                <a:latin typeface="Cambria Math" panose="02040503050406030204" pitchFamily="18" charset="0"/>
                              </a:rPr>
                            </m:ctrlPr>
                          </m:funcPr>
                          <m:fName>
                            <m:r>
                              <m:rPr>
                                <m:sty m:val="p"/>
                              </m:rPr>
                              <a:rPr lang="sv-SE" b="0" i="0" smtClean="0">
                                <a:latin typeface="Cambria Math" panose="02040503050406030204" pitchFamily="18" charset="0"/>
                              </a:rPr>
                              <m:t>cos</m:t>
                            </m:r>
                          </m:fName>
                          <m:e>
                            <m:d>
                              <m:dPr>
                                <m:ctrlPr>
                                  <a:rPr lang="sv-SE" b="0" i="1" smtClean="0">
                                    <a:latin typeface="Cambria Math" panose="02040503050406030204" pitchFamily="18" charset="0"/>
                                  </a:rPr>
                                </m:ctrlPr>
                              </m:dPr>
                              <m:e>
                                <m:r>
                                  <a:rPr lang="sv-SE" b="0" i="1" smtClean="0">
                                    <a:latin typeface="Cambria Math" panose="02040503050406030204" pitchFamily="18" charset="0"/>
                                  </a:rPr>
                                  <m:t>𝛿</m:t>
                                </m:r>
                              </m:e>
                            </m:d>
                          </m:e>
                        </m:func>
                      </m:num>
                      <m:den>
                        <m:r>
                          <a:rPr lang="sv-SE" b="0" i="1" smtClean="0">
                            <a:latin typeface="Cambria Math" panose="02040503050406030204" pitchFamily="18" charset="0"/>
                          </a:rPr>
                          <m:t>𝑗</m:t>
                        </m:r>
                        <m:r>
                          <a:rPr lang="sv-SE" b="0" i="1" smtClean="0">
                            <a:latin typeface="Cambria Math" panose="02040503050406030204" pitchFamily="18" charset="0"/>
                          </a:rPr>
                          <m:t>𝜔</m:t>
                        </m:r>
                        <m:r>
                          <a:rPr lang="sv-SE" b="0" i="1" smtClean="0">
                            <a:latin typeface="Cambria Math" panose="02040503050406030204" pitchFamily="18" charset="0"/>
                          </a:rPr>
                          <m:t>𝐿</m:t>
                        </m:r>
                      </m:den>
                    </m:f>
                  </m:oMath>
                </a14:m>
                <a:endParaRPr lang="sv-SE" dirty="0"/>
              </a:p>
            </p:txBody>
          </p:sp>
        </mc:Choice>
        <mc:Fallback>
          <p:sp>
            <p:nvSpPr>
              <p:cNvPr id="11" name="TextBox 10"/>
              <p:cNvSpPr txBox="1">
                <a:spLocks noRot="1" noChangeAspect="1" noMove="1" noResize="1" noEditPoints="1" noAdjustHandles="1" noChangeArrowheads="1" noChangeShapeType="1" noTextEdit="1"/>
              </p:cNvSpPr>
              <p:nvPr/>
            </p:nvSpPr>
            <p:spPr>
              <a:xfrm>
                <a:off x="4070383" y="1981961"/>
                <a:ext cx="2300438" cy="505779"/>
              </a:xfrm>
              <a:prstGeom prst="rect">
                <a:avLst/>
              </a:prstGeom>
              <a:blipFill>
                <a:blip r:embed="rId6"/>
                <a:stretch>
                  <a:fillRect l="-6366" b="-9639"/>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6" name="TextBox 5"/>
              <p:cNvSpPr txBox="1"/>
              <p:nvPr/>
            </p:nvSpPr>
            <p:spPr>
              <a:xfrm>
                <a:off x="984260" y="1061248"/>
                <a:ext cx="9576164" cy="646331"/>
              </a:xfrm>
              <a:prstGeom prst="rect">
                <a:avLst/>
              </a:prstGeom>
              <a:noFill/>
            </p:spPr>
            <p:txBody>
              <a:bodyPr wrap="square" rtlCol="0">
                <a:spAutoFit/>
              </a:bodyPr>
              <a:lstStyle/>
              <a:p>
                <a:r>
                  <a:rPr lang="en-US" dirty="0" smtClean="0"/>
                  <a:t>Independent control of the power and power factor might </a:t>
                </a:r>
                <a:r>
                  <a:rPr lang="en-US" dirty="0" smtClean="0"/>
                  <a:t>not be fully </a:t>
                </a:r>
                <a:r>
                  <a:rPr lang="en-US" dirty="0" smtClean="0"/>
                  <a:t>achieved by controlling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 </m:t>
                        </m:r>
                        <m:r>
                          <a:rPr lang="en-US" i="1">
                            <a:latin typeface="Cambria Math" panose="02040503050406030204" pitchFamily="18" charset="0"/>
                          </a:rPr>
                          <m:t>𝑀</m:t>
                        </m:r>
                      </m:e>
                      <m:sub>
                        <m:r>
                          <a:rPr lang="en-US" i="1">
                            <a:latin typeface="Cambria Math" panose="02040503050406030204" pitchFamily="18" charset="0"/>
                          </a:rPr>
                          <m:t>1</m:t>
                        </m:r>
                      </m:sub>
                    </m:sSub>
                  </m:oMath>
                </a14:m>
                <a:r>
                  <a:rPr lang="sv-SE" dirty="0" smtClean="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 </m:t>
                        </m:r>
                        <m:r>
                          <a:rPr lang="en-US" i="1">
                            <a:latin typeface="Cambria Math" panose="02040503050406030204" pitchFamily="18" charset="0"/>
                          </a:rPr>
                          <m:t>𝑀</m:t>
                        </m:r>
                      </m:e>
                      <m:sub>
                        <m:r>
                          <a:rPr lang="en-US" b="0" i="1" smtClean="0">
                            <a:latin typeface="Cambria Math" panose="02040503050406030204" pitchFamily="18" charset="0"/>
                          </a:rPr>
                          <m:t>2</m:t>
                        </m:r>
                      </m:sub>
                    </m:sSub>
                  </m:oMath>
                </a14:m>
                <a:r>
                  <a:rPr lang="sv-SE" dirty="0" smtClean="0"/>
                  <a:t>, and </a:t>
                </a:r>
                <a14:m>
                  <m:oMath xmlns:m="http://schemas.openxmlformats.org/officeDocument/2006/math">
                    <m:r>
                      <a:rPr lang="sv-SE" i="1">
                        <a:latin typeface="Cambria Math" panose="02040503050406030204" pitchFamily="18" charset="0"/>
                      </a:rPr>
                      <m:t>𝛿</m:t>
                    </m:r>
                  </m:oMath>
                </a14:m>
                <a:r>
                  <a:rPr lang="sv-SE" dirty="0" smtClean="0"/>
                  <a:t>. </a:t>
                </a:r>
                <a:endParaRPr lang="sv-SE" dirty="0"/>
              </a:p>
            </p:txBody>
          </p:sp>
        </mc:Choice>
        <mc:Fallback>
          <p:sp>
            <p:nvSpPr>
              <p:cNvPr id="6" name="TextBox 5"/>
              <p:cNvSpPr txBox="1">
                <a:spLocks noRot="1" noChangeAspect="1" noMove="1" noResize="1" noEditPoints="1" noAdjustHandles="1" noChangeArrowheads="1" noChangeShapeType="1" noTextEdit="1"/>
              </p:cNvSpPr>
              <p:nvPr/>
            </p:nvSpPr>
            <p:spPr>
              <a:xfrm>
                <a:off x="984260" y="1061248"/>
                <a:ext cx="9576164" cy="646331"/>
              </a:xfrm>
              <a:prstGeom prst="rect">
                <a:avLst/>
              </a:prstGeom>
              <a:blipFill>
                <a:blip r:embed="rId7"/>
                <a:stretch>
                  <a:fillRect l="-509" t="-4717" b="-14151"/>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7" name="Rectangle 6"/>
              <p:cNvSpPr/>
              <p:nvPr/>
            </p:nvSpPr>
            <p:spPr>
              <a:xfrm>
                <a:off x="6801310" y="1938294"/>
                <a:ext cx="1875963" cy="501099"/>
              </a:xfrm>
              <a:prstGeom prst="rect">
                <a:avLst/>
              </a:prstGeom>
            </p:spPr>
            <p:txBody>
              <a:bodyPr wrap="none">
                <a:spAutoFit/>
              </a:bodyPr>
              <a:lstStyle/>
              <a:p>
                <a14:m>
                  <m:oMath xmlns:m="http://schemas.openxmlformats.org/officeDocument/2006/math">
                    <m:sSub>
                      <m:sSubPr>
                        <m:ctrlPr>
                          <a:rPr lang="sv-SE" i="1" smtClean="0">
                            <a:latin typeface="Cambria Math" panose="02040503050406030204" pitchFamily="18" charset="0"/>
                          </a:rPr>
                        </m:ctrlPr>
                      </m:sSubPr>
                      <m:e>
                        <m:r>
                          <a:rPr lang="sv-SE" i="1">
                            <a:latin typeface="Cambria Math" panose="02040503050406030204" pitchFamily="18" charset="0"/>
                          </a:rPr>
                          <m:t>𝑉</m:t>
                        </m:r>
                      </m:e>
                      <m:sub>
                        <m:r>
                          <a:rPr lang="sv-SE" i="1">
                            <a:latin typeface="Cambria Math" panose="02040503050406030204" pitchFamily="18" charset="0"/>
                          </a:rPr>
                          <m:t>𝑝h</m:t>
                        </m:r>
                        <m:r>
                          <a:rPr lang="sv-SE" i="1">
                            <a:latin typeface="Cambria Math" panose="02040503050406030204" pitchFamily="18" charset="0"/>
                          </a:rPr>
                          <m:t>1</m:t>
                        </m:r>
                      </m:sub>
                    </m:sSub>
                    <m:r>
                      <a:rPr lang="en-US" b="0" i="0" smtClean="0">
                        <a:latin typeface="Cambria Math" panose="02040503050406030204" pitchFamily="18" charset="0"/>
                      </a:rPr>
                      <m:t>=</m:t>
                    </m:r>
                    <m:f>
                      <m:fPr>
                        <m:ctrlPr>
                          <a:rPr lang="en-US" i="1">
                            <a:latin typeface="Cambria Math" panose="02040503050406030204" pitchFamily="18" charset="0"/>
                          </a:rPr>
                        </m:ctrlPr>
                      </m:fPr>
                      <m:num>
                        <m:r>
                          <a:rPr lang="en-US">
                            <a:latin typeface="Cambria Math" panose="02040503050406030204" pitchFamily="18" charset="0"/>
                          </a:rPr>
                          <m:t>1</m:t>
                        </m:r>
                      </m:num>
                      <m:den>
                        <m:rad>
                          <m:radPr>
                            <m:degHide m:val="on"/>
                            <m:ctrlPr>
                              <a:rPr lang="en-US" i="1">
                                <a:latin typeface="Cambria Math" panose="02040503050406030204" pitchFamily="18" charset="0"/>
                              </a:rPr>
                            </m:ctrlPr>
                          </m:radPr>
                          <m:deg/>
                          <m:e>
                            <m:r>
                              <a:rPr lang="en-US" i="1">
                                <a:latin typeface="Cambria Math" panose="02040503050406030204" pitchFamily="18" charset="0"/>
                              </a:rPr>
                              <m:t>2</m:t>
                            </m:r>
                          </m:e>
                        </m:rad>
                      </m:den>
                    </m:f>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𝑑𝑐</m:t>
                        </m:r>
                      </m:sub>
                    </m:sSub>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𝑀</m:t>
                            </m:r>
                          </m:e>
                          <m:sub>
                            <m:r>
                              <a:rPr lang="en-US" b="0" i="1" smtClean="0">
                                <a:latin typeface="Cambria Math" panose="02040503050406030204" pitchFamily="18" charset="0"/>
                              </a:rPr>
                              <m:t>1</m:t>
                            </m:r>
                          </m:sub>
                        </m:sSub>
                      </m:num>
                      <m:den>
                        <m:r>
                          <a:rPr lang="en-US" b="0" i="1" smtClean="0">
                            <a:latin typeface="Cambria Math" panose="02040503050406030204" pitchFamily="18" charset="0"/>
                          </a:rPr>
                          <m:t>2</m:t>
                        </m:r>
                      </m:den>
                    </m:f>
                  </m:oMath>
                </a14:m>
                <a:r>
                  <a:rPr lang="sv-SE" dirty="0" smtClean="0"/>
                  <a:t> </a:t>
                </a:r>
                <a:endParaRPr lang="sv-SE" dirty="0"/>
              </a:p>
            </p:txBody>
          </p:sp>
        </mc:Choice>
        <mc:Fallback>
          <p:sp>
            <p:nvSpPr>
              <p:cNvPr id="7" name="Rectangle 6"/>
              <p:cNvSpPr>
                <a:spLocks noRot="1" noChangeAspect="1" noMove="1" noResize="1" noEditPoints="1" noAdjustHandles="1" noChangeArrowheads="1" noChangeShapeType="1" noTextEdit="1"/>
              </p:cNvSpPr>
              <p:nvPr/>
            </p:nvSpPr>
            <p:spPr>
              <a:xfrm>
                <a:off x="6801310" y="1938294"/>
                <a:ext cx="1875963" cy="501099"/>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4" name="Rectangle 13"/>
              <p:cNvSpPr/>
              <p:nvPr/>
            </p:nvSpPr>
            <p:spPr>
              <a:xfrm>
                <a:off x="8884111" y="1938293"/>
                <a:ext cx="1929887" cy="501099"/>
              </a:xfrm>
              <a:prstGeom prst="rect">
                <a:avLst/>
              </a:prstGeom>
            </p:spPr>
            <p:txBody>
              <a:bodyPr wrap="none">
                <a:spAutoFit/>
              </a:bodyPr>
              <a:lstStyle/>
              <a:p>
                <a14:m>
                  <m:oMath xmlns:m="http://schemas.openxmlformats.org/officeDocument/2006/math">
                    <m:sSub>
                      <m:sSubPr>
                        <m:ctrlPr>
                          <a:rPr lang="sv-SE" i="1" smtClean="0">
                            <a:latin typeface="Cambria Math" panose="02040503050406030204" pitchFamily="18" charset="0"/>
                          </a:rPr>
                        </m:ctrlPr>
                      </m:sSubPr>
                      <m:e>
                        <m:r>
                          <a:rPr lang="sv-SE" i="1">
                            <a:latin typeface="Cambria Math" panose="02040503050406030204" pitchFamily="18" charset="0"/>
                          </a:rPr>
                          <m:t>𝑉</m:t>
                        </m:r>
                      </m:e>
                      <m:sub>
                        <m:r>
                          <a:rPr lang="sv-SE" i="1">
                            <a:latin typeface="Cambria Math" panose="02040503050406030204" pitchFamily="18" charset="0"/>
                          </a:rPr>
                          <m:t>𝑝h</m:t>
                        </m:r>
                        <m:r>
                          <a:rPr lang="en-US" b="0" i="1" smtClean="0">
                            <a:latin typeface="Cambria Math" panose="02040503050406030204" pitchFamily="18" charset="0"/>
                          </a:rPr>
                          <m:t>2</m:t>
                        </m:r>
                      </m:sub>
                    </m:sSub>
                    <m:r>
                      <a:rPr lang="en-US" b="0" i="0" smtClean="0">
                        <a:latin typeface="Cambria Math" panose="02040503050406030204" pitchFamily="18" charset="0"/>
                      </a:rPr>
                      <m:t>=</m:t>
                    </m:r>
                    <m:f>
                      <m:fPr>
                        <m:ctrlPr>
                          <a:rPr lang="en-US" i="1">
                            <a:latin typeface="Cambria Math" panose="02040503050406030204" pitchFamily="18" charset="0"/>
                          </a:rPr>
                        </m:ctrlPr>
                      </m:fPr>
                      <m:num>
                        <m:r>
                          <a:rPr lang="en-US">
                            <a:latin typeface="Cambria Math" panose="02040503050406030204" pitchFamily="18" charset="0"/>
                          </a:rPr>
                          <m:t>1</m:t>
                        </m:r>
                      </m:num>
                      <m:den>
                        <m:rad>
                          <m:radPr>
                            <m:degHide m:val="on"/>
                            <m:ctrlPr>
                              <a:rPr lang="en-US" i="1">
                                <a:latin typeface="Cambria Math" panose="02040503050406030204" pitchFamily="18" charset="0"/>
                              </a:rPr>
                            </m:ctrlPr>
                          </m:radPr>
                          <m:deg/>
                          <m:e>
                            <m:r>
                              <a:rPr lang="en-US" i="1">
                                <a:latin typeface="Cambria Math" panose="02040503050406030204" pitchFamily="18" charset="0"/>
                              </a:rPr>
                              <m:t>2</m:t>
                            </m:r>
                          </m:e>
                        </m:rad>
                      </m:den>
                    </m:f>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𝑑𝑐</m:t>
                        </m:r>
                      </m:sub>
                    </m:sSub>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𝑀</m:t>
                            </m:r>
                          </m:e>
                          <m:sub>
                            <m:r>
                              <a:rPr lang="en-US" b="0" i="1" smtClean="0">
                                <a:latin typeface="Cambria Math" panose="02040503050406030204" pitchFamily="18" charset="0"/>
                              </a:rPr>
                              <m:t>2</m:t>
                            </m:r>
                          </m:sub>
                        </m:sSub>
                      </m:num>
                      <m:den>
                        <m:r>
                          <a:rPr lang="en-US" b="0" i="1" smtClean="0">
                            <a:latin typeface="Cambria Math" panose="02040503050406030204" pitchFamily="18" charset="0"/>
                          </a:rPr>
                          <m:t>2</m:t>
                        </m:r>
                      </m:den>
                    </m:f>
                  </m:oMath>
                </a14:m>
                <a:r>
                  <a:rPr lang="sv-SE" dirty="0" smtClean="0"/>
                  <a:t> </a:t>
                </a:r>
                <a:endParaRPr lang="sv-SE" dirty="0"/>
              </a:p>
            </p:txBody>
          </p:sp>
        </mc:Choice>
        <mc:Fallback>
          <p:sp>
            <p:nvSpPr>
              <p:cNvPr id="14" name="Rectangle 13"/>
              <p:cNvSpPr>
                <a:spLocks noRot="1" noChangeAspect="1" noMove="1" noResize="1" noEditPoints="1" noAdjustHandles="1" noChangeArrowheads="1" noChangeShapeType="1" noTextEdit="1"/>
              </p:cNvSpPr>
              <p:nvPr/>
            </p:nvSpPr>
            <p:spPr>
              <a:xfrm>
                <a:off x="8884111" y="1938293"/>
                <a:ext cx="1929887" cy="501099"/>
              </a:xfrm>
              <a:prstGeom prst="rect">
                <a:avLst/>
              </a:prstGeom>
              <a:blipFill>
                <a:blip r:embed="rId9"/>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327176844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795" y="417824"/>
            <a:ext cx="10990263" cy="568412"/>
          </a:xfrm>
        </p:spPr>
        <p:txBody>
          <a:bodyPr/>
          <a:lstStyle/>
          <a:p>
            <a:r>
              <a:rPr lang="en-US" dirty="0" smtClean="0"/>
              <a:t>Inverter Losses</a:t>
            </a:r>
            <a:endParaRPr lang="sv-SE" dirty="0"/>
          </a:p>
        </p:txBody>
      </p:sp>
      <p:sp>
        <p:nvSpPr>
          <p:cNvPr id="7" name="TextBox 6"/>
          <p:cNvSpPr txBox="1"/>
          <p:nvPr/>
        </p:nvSpPr>
        <p:spPr>
          <a:xfrm>
            <a:off x="594680" y="2952610"/>
            <a:ext cx="10828600" cy="1200329"/>
          </a:xfrm>
          <a:prstGeom prst="rect">
            <a:avLst/>
          </a:prstGeom>
          <a:noFill/>
        </p:spPr>
        <p:txBody>
          <a:bodyPr wrap="square" rtlCol="0">
            <a:spAutoFit/>
          </a:bodyPr>
          <a:lstStyle/>
          <a:p>
            <a:pPr marL="285750" indent="-285750" algn="just">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In a two-level inverter, we can assume the losses do not depend on the power factor. </a:t>
            </a: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We can control the modulation index and the current, then we can estimate the power loss for the desired operating points. </a:t>
            </a:r>
            <a:endParaRPr lang="en-US"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
            </a:pPr>
            <a:r>
              <a:rPr lang="en-US" dirty="0" smtClean="0">
                <a:latin typeface="Times New Roman" panose="02020603050405020304" pitchFamily="18" charset="0"/>
                <a:cs typeface="Times New Roman" panose="02020603050405020304" pitchFamily="18" charset="0"/>
              </a:rPr>
              <a:t>The efficiency can be estimated then using the power loss and taking the power at</a:t>
            </a:r>
            <a:endParaRPr lang="sv-SE" dirty="0">
              <a:latin typeface="Times New Roman" panose="02020603050405020304" pitchFamily="18" charset="0"/>
              <a:cs typeface="Times New Roman" panose="02020603050405020304" pitchFamily="18" charset="0"/>
            </a:endParaRPr>
          </a:p>
        </p:txBody>
      </p:sp>
      <p:grpSp>
        <p:nvGrpSpPr>
          <p:cNvPr id="44" name="Group 43"/>
          <p:cNvGrpSpPr/>
          <p:nvPr/>
        </p:nvGrpSpPr>
        <p:grpSpPr>
          <a:xfrm>
            <a:off x="4558212" y="4535681"/>
            <a:ext cx="2454667" cy="2173553"/>
            <a:chOff x="1579131" y="466531"/>
            <a:chExt cx="6264990" cy="5669020"/>
          </a:xfrm>
        </p:grpSpPr>
        <p:sp>
          <p:nvSpPr>
            <p:cNvPr id="8" name="Frihandsfigur: Form 10">
              <a:extLst>
                <a:ext uri="{FF2B5EF4-FFF2-40B4-BE49-F238E27FC236}">
                  <a16:creationId xmlns:a16="http://schemas.microsoft.com/office/drawing/2014/main" id="{F95688FF-9EF5-49FE-AEEF-3405B59A2059}"/>
                </a:ext>
              </a:extLst>
            </p:cNvPr>
            <p:cNvSpPr/>
            <p:nvPr/>
          </p:nvSpPr>
          <p:spPr>
            <a:xfrm>
              <a:off x="2229581" y="2264691"/>
              <a:ext cx="4633083" cy="2930290"/>
            </a:xfrm>
            <a:custGeom>
              <a:avLst/>
              <a:gdLst>
                <a:gd name="connsiteX0" fmla="*/ 0 w 4387850"/>
                <a:gd name="connsiteY0" fmla="*/ 3054350 h 3054350"/>
                <a:gd name="connsiteX1" fmla="*/ 1301750 w 4387850"/>
                <a:gd name="connsiteY1" fmla="*/ 19050 h 3054350"/>
                <a:gd name="connsiteX2" fmla="*/ 3028950 w 4387850"/>
                <a:gd name="connsiteY2" fmla="*/ 0 h 3054350"/>
                <a:gd name="connsiteX3" fmla="*/ 4387850 w 4387850"/>
                <a:gd name="connsiteY3" fmla="*/ 933450 h 3054350"/>
              </a:gdLst>
              <a:ahLst/>
              <a:cxnLst>
                <a:cxn ang="0">
                  <a:pos x="connsiteX0" y="connsiteY0"/>
                </a:cxn>
                <a:cxn ang="0">
                  <a:pos x="connsiteX1" y="connsiteY1"/>
                </a:cxn>
                <a:cxn ang="0">
                  <a:pos x="connsiteX2" y="connsiteY2"/>
                </a:cxn>
                <a:cxn ang="0">
                  <a:pos x="connsiteX3" y="connsiteY3"/>
                </a:cxn>
              </a:cxnLst>
              <a:rect l="l" t="t" r="r" b="b"/>
              <a:pathLst>
                <a:path w="4387850" h="3054350">
                  <a:moveTo>
                    <a:pt x="0" y="3054350"/>
                  </a:moveTo>
                  <a:lnTo>
                    <a:pt x="1301750" y="19050"/>
                  </a:lnTo>
                  <a:lnTo>
                    <a:pt x="3028950" y="0"/>
                  </a:lnTo>
                  <a:lnTo>
                    <a:pt x="4387850" y="933450"/>
                  </a:lnTo>
                </a:path>
              </a:pathLst>
            </a:custGeom>
            <a:noFill/>
            <a:ln w="190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00"/>
            </a:p>
          </p:txBody>
        </p:sp>
        <p:cxnSp>
          <p:nvCxnSpPr>
            <p:cNvPr id="9" name="Straight Connector 8">
              <a:extLst>
                <a:ext uri="{FF2B5EF4-FFF2-40B4-BE49-F238E27FC236}">
                  <a16:creationId xmlns:a16="http://schemas.microsoft.com/office/drawing/2014/main" id="{D69C8319-7602-477A-BEFE-B8862F6F2634}"/>
                </a:ext>
              </a:extLst>
            </p:cNvPr>
            <p:cNvCxnSpPr>
              <a:cxnSpLocks/>
            </p:cNvCxnSpPr>
            <p:nvPr/>
          </p:nvCxnSpPr>
          <p:spPr>
            <a:xfrm flipV="1">
              <a:off x="2229583" y="781538"/>
              <a:ext cx="0" cy="4400062"/>
            </a:xfrm>
            <a:prstGeom prst="line">
              <a:avLst/>
            </a:prstGeom>
            <a:ln>
              <a:headEnd type="none" w="med" len="med"/>
              <a:tailEnd type="arrow" w="med" len="med"/>
            </a:ln>
          </p:spPr>
          <p:style>
            <a:lnRef idx="3">
              <a:schemeClr val="dk1"/>
            </a:lnRef>
            <a:fillRef idx="0">
              <a:schemeClr val="dk1"/>
            </a:fillRef>
            <a:effectRef idx="2">
              <a:schemeClr val="dk1"/>
            </a:effectRef>
            <a:fontRef idx="minor">
              <a:schemeClr val="tx1"/>
            </a:fontRef>
          </p:style>
        </p:cxnSp>
        <p:cxnSp>
          <p:nvCxnSpPr>
            <p:cNvPr id="10" name="Rak koppling 27">
              <a:extLst>
                <a:ext uri="{FF2B5EF4-FFF2-40B4-BE49-F238E27FC236}">
                  <a16:creationId xmlns:a16="http://schemas.microsoft.com/office/drawing/2014/main" id="{ED68C74F-DE92-49DC-B4D2-DE6CF466B324}"/>
                </a:ext>
              </a:extLst>
            </p:cNvPr>
            <p:cNvCxnSpPr>
              <a:cxnSpLocks/>
            </p:cNvCxnSpPr>
            <p:nvPr/>
          </p:nvCxnSpPr>
          <p:spPr>
            <a:xfrm>
              <a:off x="3607221" y="2264690"/>
              <a:ext cx="0" cy="2917917"/>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1" name="Rak koppling 27">
              <a:extLst>
                <a:ext uri="{FF2B5EF4-FFF2-40B4-BE49-F238E27FC236}">
                  <a16:creationId xmlns:a16="http://schemas.microsoft.com/office/drawing/2014/main" id="{5E91D034-25A0-4741-846A-A82849369CAD}"/>
                </a:ext>
              </a:extLst>
            </p:cNvPr>
            <p:cNvCxnSpPr>
              <a:cxnSpLocks/>
              <a:stCxn id="8" idx="2"/>
            </p:cNvCxnSpPr>
            <p:nvPr/>
          </p:nvCxnSpPr>
          <p:spPr>
            <a:xfrm>
              <a:off x="5427816" y="2264691"/>
              <a:ext cx="0" cy="2896498"/>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12" name="Rak koppling 14">
              <a:extLst>
                <a:ext uri="{FF2B5EF4-FFF2-40B4-BE49-F238E27FC236}">
                  <a16:creationId xmlns:a16="http://schemas.microsoft.com/office/drawing/2014/main" id="{9114E305-1F62-45B8-95E8-00EEA3F90B71}"/>
                </a:ext>
              </a:extLst>
            </p:cNvPr>
            <p:cNvCxnSpPr>
              <a:cxnSpLocks/>
            </p:cNvCxnSpPr>
            <p:nvPr/>
          </p:nvCxnSpPr>
          <p:spPr>
            <a:xfrm>
              <a:off x="2229583" y="1486273"/>
              <a:ext cx="1109800" cy="0"/>
            </a:xfrm>
            <a:prstGeom prst="line">
              <a:avLst/>
            </a:prstGeom>
            <a:ln w="28575">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13" name="Frihandsfigur: Form 15">
              <a:extLst>
                <a:ext uri="{FF2B5EF4-FFF2-40B4-BE49-F238E27FC236}">
                  <a16:creationId xmlns:a16="http://schemas.microsoft.com/office/drawing/2014/main" id="{17A6718E-55A8-408B-92D9-0811AB48855B}"/>
                </a:ext>
              </a:extLst>
            </p:cNvPr>
            <p:cNvSpPr/>
            <p:nvPr/>
          </p:nvSpPr>
          <p:spPr>
            <a:xfrm>
              <a:off x="3339382" y="1499655"/>
              <a:ext cx="3550627" cy="2315690"/>
            </a:xfrm>
            <a:custGeom>
              <a:avLst/>
              <a:gdLst>
                <a:gd name="connsiteX0" fmla="*/ 23177 w 2690177"/>
                <a:gd name="connsiteY0" fmla="*/ 0 h 1371600"/>
                <a:gd name="connsiteX1" fmla="*/ 206057 w 2690177"/>
                <a:gd name="connsiteY1" fmla="*/ 601980 h 1371600"/>
                <a:gd name="connsiteX2" fmla="*/ 1524317 w 2690177"/>
                <a:gd name="connsiteY2" fmla="*/ 1165860 h 1371600"/>
                <a:gd name="connsiteX3" fmla="*/ 2690177 w 2690177"/>
                <a:gd name="connsiteY3" fmla="*/ 1371600 h 1371600"/>
                <a:gd name="connsiteX0" fmla="*/ 0 w 2667000"/>
                <a:gd name="connsiteY0" fmla="*/ 0 h 1371600"/>
                <a:gd name="connsiteX1" fmla="*/ 182880 w 2667000"/>
                <a:gd name="connsiteY1" fmla="*/ 601980 h 1371600"/>
                <a:gd name="connsiteX2" fmla="*/ 1501140 w 2667000"/>
                <a:gd name="connsiteY2" fmla="*/ 1165860 h 1371600"/>
                <a:gd name="connsiteX3" fmla="*/ 2667000 w 2667000"/>
                <a:gd name="connsiteY3" fmla="*/ 1371600 h 1371600"/>
                <a:gd name="connsiteX0" fmla="*/ 0 w 2667000"/>
                <a:gd name="connsiteY0" fmla="*/ 0 h 1371600"/>
                <a:gd name="connsiteX1" fmla="*/ 182880 w 2667000"/>
                <a:gd name="connsiteY1" fmla="*/ 601980 h 1371600"/>
                <a:gd name="connsiteX2" fmla="*/ 1501140 w 2667000"/>
                <a:gd name="connsiteY2" fmla="*/ 1165860 h 1371600"/>
                <a:gd name="connsiteX3" fmla="*/ 2667000 w 2667000"/>
                <a:gd name="connsiteY3" fmla="*/ 1371600 h 1371600"/>
                <a:gd name="connsiteX0" fmla="*/ 0 w 2667000"/>
                <a:gd name="connsiteY0" fmla="*/ 0 h 1371600"/>
                <a:gd name="connsiteX1" fmla="*/ 182880 w 2667000"/>
                <a:gd name="connsiteY1" fmla="*/ 601980 h 1371600"/>
                <a:gd name="connsiteX2" fmla="*/ 1501140 w 2667000"/>
                <a:gd name="connsiteY2" fmla="*/ 1165860 h 1371600"/>
                <a:gd name="connsiteX3" fmla="*/ 2667000 w 2667000"/>
                <a:gd name="connsiteY3" fmla="*/ 1371600 h 1371600"/>
                <a:gd name="connsiteX0" fmla="*/ 0 w 2667000"/>
                <a:gd name="connsiteY0" fmla="*/ 0 h 1371600"/>
                <a:gd name="connsiteX1" fmla="*/ 182880 w 2667000"/>
                <a:gd name="connsiteY1" fmla="*/ 601980 h 1371600"/>
                <a:gd name="connsiteX2" fmla="*/ 1501140 w 2667000"/>
                <a:gd name="connsiteY2" fmla="*/ 1165860 h 1371600"/>
                <a:gd name="connsiteX3" fmla="*/ 2667000 w 2667000"/>
                <a:gd name="connsiteY3" fmla="*/ 1371600 h 1371600"/>
                <a:gd name="connsiteX0" fmla="*/ 0 w 2667000"/>
                <a:gd name="connsiteY0" fmla="*/ 0 h 1371600"/>
                <a:gd name="connsiteX1" fmla="*/ 268605 w 2667000"/>
                <a:gd name="connsiteY1" fmla="*/ 599599 h 1371600"/>
                <a:gd name="connsiteX2" fmla="*/ 1501140 w 2667000"/>
                <a:gd name="connsiteY2" fmla="*/ 1165860 h 1371600"/>
                <a:gd name="connsiteX3" fmla="*/ 2667000 w 2667000"/>
                <a:gd name="connsiteY3" fmla="*/ 1371600 h 1371600"/>
                <a:gd name="connsiteX0" fmla="*/ 0 w 2667000"/>
                <a:gd name="connsiteY0" fmla="*/ 0 h 1371600"/>
                <a:gd name="connsiteX1" fmla="*/ 268605 w 2667000"/>
                <a:gd name="connsiteY1" fmla="*/ 599599 h 1371600"/>
                <a:gd name="connsiteX2" fmla="*/ 1501140 w 2667000"/>
                <a:gd name="connsiteY2" fmla="*/ 1165860 h 1371600"/>
                <a:gd name="connsiteX3" fmla="*/ 2667000 w 2667000"/>
                <a:gd name="connsiteY3" fmla="*/ 1371600 h 1371600"/>
                <a:gd name="connsiteX0" fmla="*/ 0 w 2667000"/>
                <a:gd name="connsiteY0" fmla="*/ 0 h 1371600"/>
                <a:gd name="connsiteX1" fmla="*/ 268605 w 2667000"/>
                <a:gd name="connsiteY1" fmla="*/ 599599 h 1371600"/>
                <a:gd name="connsiteX2" fmla="*/ 1501140 w 2667000"/>
                <a:gd name="connsiteY2" fmla="*/ 1165860 h 1371600"/>
                <a:gd name="connsiteX3" fmla="*/ 2667000 w 2667000"/>
                <a:gd name="connsiteY3" fmla="*/ 1371600 h 1371600"/>
                <a:gd name="connsiteX0" fmla="*/ 0 w 2667000"/>
                <a:gd name="connsiteY0" fmla="*/ 0 h 1371600"/>
                <a:gd name="connsiteX1" fmla="*/ 268605 w 2667000"/>
                <a:gd name="connsiteY1" fmla="*/ 599599 h 1371600"/>
                <a:gd name="connsiteX2" fmla="*/ 1501140 w 2667000"/>
                <a:gd name="connsiteY2" fmla="*/ 1165860 h 1371600"/>
                <a:gd name="connsiteX3" fmla="*/ 2667000 w 2667000"/>
                <a:gd name="connsiteY3" fmla="*/ 1371600 h 1371600"/>
                <a:gd name="connsiteX0" fmla="*/ 0 w 2667000"/>
                <a:gd name="connsiteY0" fmla="*/ 0 h 1371600"/>
                <a:gd name="connsiteX1" fmla="*/ 401955 w 2667000"/>
                <a:gd name="connsiteY1" fmla="*/ 688499 h 1371600"/>
                <a:gd name="connsiteX2" fmla="*/ 1501140 w 2667000"/>
                <a:gd name="connsiteY2" fmla="*/ 1165860 h 1371600"/>
                <a:gd name="connsiteX3" fmla="*/ 2667000 w 2667000"/>
                <a:gd name="connsiteY3" fmla="*/ 1371600 h 1371600"/>
                <a:gd name="connsiteX0" fmla="*/ 0 w 2667000"/>
                <a:gd name="connsiteY0" fmla="*/ 0 h 1371600"/>
                <a:gd name="connsiteX1" fmla="*/ 435126 w 2667000"/>
                <a:gd name="connsiteY1" fmla="*/ 669449 h 1371600"/>
                <a:gd name="connsiteX2" fmla="*/ 1501140 w 2667000"/>
                <a:gd name="connsiteY2" fmla="*/ 1165860 h 1371600"/>
                <a:gd name="connsiteX3" fmla="*/ 2667000 w 2667000"/>
                <a:gd name="connsiteY3" fmla="*/ 1371600 h 1371600"/>
                <a:gd name="connsiteX0" fmla="*/ 0 w 2667000"/>
                <a:gd name="connsiteY0" fmla="*/ 0 h 1371600"/>
                <a:gd name="connsiteX1" fmla="*/ 435126 w 2667000"/>
                <a:gd name="connsiteY1" fmla="*/ 669449 h 1371600"/>
                <a:gd name="connsiteX2" fmla="*/ 1501140 w 2667000"/>
                <a:gd name="connsiteY2" fmla="*/ 1134110 h 1371600"/>
                <a:gd name="connsiteX3" fmla="*/ 2667000 w 2667000"/>
                <a:gd name="connsiteY3" fmla="*/ 1371600 h 1371600"/>
                <a:gd name="connsiteX0" fmla="*/ 0 w 2680269"/>
                <a:gd name="connsiteY0" fmla="*/ 0 h 1346200"/>
                <a:gd name="connsiteX1" fmla="*/ 435126 w 2680269"/>
                <a:gd name="connsiteY1" fmla="*/ 669449 h 1346200"/>
                <a:gd name="connsiteX2" fmla="*/ 1501140 w 2680269"/>
                <a:gd name="connsiteY2" fmla="*/ 1134110 h 1346200"/>
                <a:gd name="connsiteX3" fmla="*/ 2680269 w 2680269"/>
                <a:gd name="connsiteY3" fmla="*/ 1346200 h 1346200"/>
                <a:gd name="connsiteX0" fmla="*/ 0 w 2680269"/>
                <a:gd name="connsiteY0" fmla="*/ 0 h 1346200"/>
                <a:gd name="connsiteX1" fmla="*/ 435126 w 2680269"/>
                <a:gd name="connsiteY1" fmla="*/ 669449 h 1346200"/>
                <a:gd name="connsiteX2" fmla="*/ 1501140 w 2680269"/>
                <a:gd name="connsiteY2" fmla="*/ 1134110 h 1346200"/>
                <a:gd name="connsiteX3" fmla="*/ 2680269 w 2680269"/>
                <a:gd name="connsiteY3" fmla="*/ 1346200 h 1346200"/>
              </a:gdLst>
              <a:ahLst/>
              <a:cxnLst>
                <a:cxn ang="0">
                  <a:pos x="connsiteX0" y="connsiteY0"/>
                </a:cxn>
                <a:cxn ang="0">
                  <a:pos x="connsiteX1" y="connsiteY1"/>
                </a:cxn>
                <a:cxn ang="0">
                  <a:pos x="connsiteX2" y="connsiteY2"/>
                </a:cxn>
                <a:cxn ang="0">
                  <a:pos x="connsiteX3" y="connsiteY3"/>
                </a:cxn>
              </a:cxnLst>
              <a:rect l="l" t="t" r="r" b="b"/>
              <a:pathLst>
                <a:path w="2680269" h="1346200">
                  <a:moveTo>
                    <a:pt x="0" y="0"/>
                  </a:moveTo>
                  <a:cubicBezTo>
                    <a:pt x="85408" y="291941"/>
                    <a:pt x="184936" y="480431"/>
                    <a:pt x="435126" y="669449"/>
                  </a:cubicBezTo>
                  <a:cubicBezTo>
                    <a:pt x="685316" y="858467"/>
                    <a:pt x="1087120" y="1005840"/>
                    <a:pt x="1501140" y="1134110"/>
                  </a:cubicBezTo>
                  <a:cubicBezTo>
                    <a:pt x="1934210" y="1250474"/>
                    <a:pt x="2252980" y="1322546"/>
                    <a:pt x="2680269" y="1346200"/>
                  </a:cubicBezTo>
                </a:path>
              </a:pathLst>
            </a:custGeom>
            <a:noFill/>
            <a:ln w="28575">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00"/>
            </a:p>
          </p:txBody>
        </p:sp>
        <p:sp>
          <p:nvSpPr>
            <p:cNvPr id="14" name="Ellips 34">
              <a:extLst>
                <a:ext uri="{FF2B5EF4-FFF2-40B4-BE49-F238E27FC236}">
                  <a16:creationId xmlns:a16="http://schemas.microsoft.com/office/drawing/2014/main" id="{68F6B4D0-9109-4501-958A-725AF79D5F34}"/>
                </a:ext>
              </a:extLst>
            </p:cNvPr>
            <p:cNvSpPr/>
            <p:nvPr/>
          </p:nvSpPr>
          <p:spPr>
            <a:xfrm>
              <a:off x="2358853" y="1456931"/>
              <a:ext cx="101592" cy="9890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Bef>
                  <a:spcPts val="1200"/>
                </a:spcBef>
              </a:pPr>
              <a:endParaRPr lang="en-GB" sz="1600" err="1"/>
            </a:p>
          </p:txBody>
        </p:sp>
        <p:sp>
          <p:nvSpPr>
            <p:cNvPr id="15" name="Ellips 33">
              <a:extLst>
                <a:ext uri="{FF2B5EF4-FFF2-40B4-BE49-F238E27FC236}">
                  <a16:creationId xmlns:a16="http://schemas.microsoft.com/office/drawing/2014/main" id="{FD9E4E18-5EB1-4E7C-9A2B-B962CBE29CB9}"/>
                </a:ext>
              </a:extLst>
            </p:cNvPr>
            <p:cNvSpPr/>
            <p:nvPr/>
          </p:nvSpPr>
          <p:spPr>
            <a:xfrm>
              <a:off x="3596606" y="4445341"/>
              <a:ext cx="101592" cy="9890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Bef>
                  <a:spcPts val="1200"/>
                </a:spcBef>
              </a:pPr>
              <a:endParaRPr lang="en-GB" sz="1600" err="1"/>
            </a:p>
          </p:txBody>
        </p:sp>
        <p:sp>
          <p:nvSpPr>
            <p:cNvPr id="16" name="Ellips 20">
              <a:extLst>
                <a:ext uri="{FF2B5EF4-FFF2-40B4-BE49-F238E27FC236}">
                  <a16:creationId xmlns:a16="http://schemas.microsoft.com/office/drawing/2014/main" id="{F7758134-56B0-41CF-B7EB-9809A17FABAE}"/>
                </a:ext>
              </a:extLst>
            </p:cNvPr>
            <p:cNvSpPr/>
            <p:nvPr/>
          </p:nvSpPr>
          <p:spPr>
            <a:xfrm>
              <a:off x="3574177" y="2263684"/>
              <a:ext cx="101592" cy="9890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Bef>
                  <a:spcPts val="1200"/>
                </a:spcBef>
              </a:pPr>
              <a:endParaRPr lang="en-GB" sz="1600" err="1"/>
            </a:p>
          </p:txBody>
        </p:sp>
        <p:sp>
          <p:nvSpPr>
            <p:cNvPr id="17" name="Ellips 21">
              <a:extLst>
                <a:ext uri="{FF2B5EF4-FFF2-40B4-BE49-F238E27FC236}">
                  <a16:creationId xmlns:a16="http://schemas.microsoft.com/office/drawing/2014/main" id="{D76009EC-4A77-46EA-8FB7-21B5D2A9BC41}"/>
                </a:ext>
              </a:extLst>
            </p:cNvPr>
            <p:cNvSpPr/>
            <p:nvPr/>
          </p:nvSpPr>
          <p:spPr>
            <a:xfrm>
              <a:off x="3556425" y="3633767"/>
              <a:ext cx="101592" cy="9890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Bef>
                  <a:spcPts val="1200"/>
                </a:spcBef>
              </a:pPr>
              <a:endParaRPr lang="en-GB" sz="1600" err="1"/>
            </a:p>
          </p:txBody>
        </p:sp>
        <p:sp>
          <p:nvSpPr>
            <p:cNvPr id="18" name="textruta 25">
              <a:extLst>
                <a:ext uri="{FF2B5EF4-FFF2-40B4-BE49-F238E27FC236}">
                  <a16:creationId xmlns:a16="http://schemas.microsoft.com/office/drawing/2014/main" id="{4820FDC1-A94B-4571-8C94-67E257355A17}"/>
                </a:ext>
              </a:extLst>
            </p:cNvPr>
            <p:cNvSpPr txBox="1"/>
            <p:nvPr/>
          </p:nvSpPr>
          <p:spPr>
            <a:xfrm>
              <a:off x="3615118" y="3591085"/>
              <a:ext cx="1317136" cy="602052"/>
            </a:xfrm>
            <a:prstGeom prst="rect">
              <a:avLst/>
            </a:prstGeom>
            <a:noFill/>
          </p:spPr>
          <p:txBody>
            <a:bodyPr wrap="square" rtlCol="0">
              <a:spAutoFit/>
            </a:bodyPr>
            <a:lstStyle/>
            <a:p>
              <a:pPr>
                <a:lnSpc>
                  <a:spcPct val="90000"/>
                </a:lnSpc>
                <a:spcBef>
                  <a:spcPts val="1200"/>
                </a:spcBef>
              </a:pPr>
              <a:r>
                <a:rPr lang="en-GB" sz="500" dirty="0">
                  <a:solidFill>
                    <a:schemeClr val="accent1"/>
                  </a:solidFill>
                </a:rPr>
                <a:t>50% of power</a:t>
              </a:r>
            </a:p>
          </p:txBody>
        </p:sp>
        <p:cxnSp>
          <p:nvCxnSpPr>
            <p:cNvPr id="19" name="Straight Connector 18">
              <a:extLst>
                <a:ext uri="{FF2B5EF4-FFF2-40B4-BE49-F238E27FC236}">
                  <a16:creationId xmlns:a16="http://schemas.microsoft.com/office/drawing/2014/main" id="{A59AFAE5-8D97-40E8-8647-B091F5A1C786}"/>
                </a:ext>
              </a:extLst>
            </p:cNvPr>
            <p:cNvCxnSpPr>
              <a:cxnSpLocks/>
            </p:cNvCxnSpPr>
            <p:nvPr/>
          </p:nvCxnSpPr>
          <p:spPr>
            <a:xfrm flipV="1">
              <a:off x="6879412" y="466531"/>
              <a:ext cx="0" cy="4715069"/>
            </a:xfrm>
            <a:prstGeom prst="line">
              <a:avLst/>
            </a:prstGeom>
            <a:ln w="15875" cap="flat" cmpd="sng" algn="ctr">
              <a:solidFill>
                <a:srgbClr val="0070C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Straight Connector 19">
              <a:extLst>
                <a:ext uri="{FF2B5EF4-FFF2-40B4-BE49-F238E27FC236}">
                  <a16:creationId xmlns:a16="http://schemas.microsoft.com/office/drawing/2014/main" id="{E17970C9-0287-4EE9-B410-6350F077910E}"/>
                </a:ext>
              </a:extLst>
            </p:cNvPr>
            <p:cNvCxnSpPr>
              <a:cxnSpLocks/>
            </p:cNvCxnSpPr>
            <p:nvPr/>
          </p:nvCxnSpPr>
          <p:spPr>
            <a:xfrm>
              <a:off x="2229583" y="5181600"/>
              <a:ext cx="4649829"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21" name="textruta 24">
              <a:extLst>
                <a:ext uri="{FF2B5EF4-FFF2-40B4-BE49-F238E27FC236}">
                  <a16:creationId xmlns:a16="http://schemas.microsoft.com/office/drawing/2014/main" id="{9FF17B5D-4686-4A65-A133-67B17E21A08D}"/>
                </a:ext>
              </a:extLst>
            </p:cNvPr>
            <p:cNvSpPr txBox="1"/>
            <p:nvPr/>
          </p:nvSpPr>
          <p:spPr>
            <a:xfrm>
              <a:off x="3559547" y="2056747"/>
              <a:ext cx="1368985" cy="602052"/>
            </a:xfrm>
            <a:prstGeom prst="rect">
              <a:avLst/>
            </a:prstGeom>
            <a:noFill/>
          </p:spPr>
          <p:txBody>
            <a:bodyPr wrap="square" rtlCol="0">
              <a:spAutoFit/>
            </a:bodyPr>
            <a:lstStyle/>
            <a:p>
              <a:pPr>
                <a:lnSpc>
                  <a:spcPct val="90000"/>
                </a:lnSpc>
                <a:spcBef>
                  <a:spcPts val="1200"/>
                </a:spcBef>
              </a:pPr>
              <a:r>
                <a:rPr lang="en-GB" sz="500" dirty="0">
                  <a:solidFill>
                    <a:schemeClr val="accent1"/>
                  </a:solidFill>
                </a:rPr>
                <a:t>100% of power</a:t>
              </a:r>
            </a:p>
          </p:txBody>
        </p:sp>
        <p:sp>
          <p:nvSpPr>
            <p:cNvPr id="22" name="textruta 23">
              <a:extLst>
                <a:ext uri="{FF2B5EF4-FFF2-40B4-BE49-F238E27FC236}">
                  <a16:creationId xmlns:a16="http://schemas.microsoft.com/office/drawing/2014/main" id="{E7C69A9B-3E5A-437E-A102-834ED849E34B}"/>
                </a:ext>
              </a:extLst>
            </p:cNvPr>
            <p:cNvSpPr txBox="1"/>
            <p:nvPr/>
          </p:nvSpPr>
          <p:spPr>
            <a:xfrm>
              <a:off x="3731591" y="4384230"/>
              <a:ext cx="1196941" cy="602052"/>
            </a:xfrm>
            <a:prstGeom prst="rect">
              <a:avLst/>
            </a:prstGeom>
            <a:noFill/>
          </p:spPr>
          <p:txBody>
            <a:bodyPr wrap="square" rtlCol="0">
              <a:spAutoFit/>
            </a:bodyPr>
            <a:lstStyle/>
            <a:p>
              <a:pPr>
                <a:lnSpc>
                  <a:spcPct val="90000"/>
                </a:lnSpc>
                <a:spcBef>
                  <a:spcPts val="1200"/>
                </a:spcBef>
              </a:pPr>
              <a:r>
                <a:rPr lang="en-GB" sz="500" dirty="0">
                  <a:solidFill>
                    <a:schemeClr val="accent1"/>
                  </a:solidFill>
                </a:rPr>
                <a:t>25% of power</a:t>
              </a:r>
            </a:p>
          </p:txBody>
        </p:sp>
        <p:cxnSp>
          <p:nvCxnSpPr>
            <p:cNvPr id="23" name="Straight Connector 22">
              <a:extLst>
                <a:ext uri="{FF2B5EF4-FFF2-40B4-BE49-F238E27FC236}">
                  <a16:creationId xmlns:a16="http://schemas.microsoft.com/office/drawing/2014/main" id="{1214A003-6BCE-450C-BC7E-A85BBB258775}"/>
                </a:ext>
              </a:extLst>
            </p:cNvPr>
            <p:cNvCxnSpPr>
              <a:cxnSpLocks/>
            </p:cNvCxnSpPr>
            <p:nvPr/>
          </p:nvCxnSpPr>
          <p:spPr>
            <a:xfrm flipV="1">
              <a:off x="5427816" y="2242804"/>
              <a:ext cx="1451596" cy="4811"/>
            </a:xfrm>
            <a:prstGeom prst="line">
              <a:avLst/>
            </a:prstGeom>
            <a:ln w="9525" cap="flat" cmpd="sng" algn="ctr">
              <a:solidFill>
                <a:srgbClr val="0070C0"/>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4" name="TextBox 23">
              <a:extLst>
                <a:ext uri="{FF2B5EF4-FFF2-40B4-BE49-F238E27FC236}">
                  <a16:creationId xmlns:a16="http://schemas.microsoft.com/office/drawing/2014/main" id="{AA28F72E-65C6-4B48-9D2E-0F7E5238F750}"/>
                </a:ext>
              </a:extLst>
            </p:cNvPr>
            <p:cNvSpPr txBox="1"/>
            <p:nvPr/>
          </p:nvSpPr>
          <p:spPr>
            <a:xfrm>
              <a:off x="3362302" y="5215501"/>
              <a:ext cx="1121838" cy="529808"/>
            </a:xfrm>
            <a:prstGeom prst="rect">
              <a:avLst/>
            </a:prstGeom>
            <a:noFill/>
          </p:spPr>
          <p:txBody>
            <a:bodyPr wrap="none" rtlCol="0">
              <a:spAutoFit/>
            </a:bodyPr>
            <a:lstStyle/>
            <a:p>
              <a:pPr>
                <a:lnSpc>
                  <a:spcPct val="90000"/>
                </a:lnSpc>
                <a:spcBef>
                  <a:spcPts val="1200"/>
                </a:spcBef>
              </a:pPr>
              <a:r>
                <a:rPr lang="sv-SE" sz="800" dirty="0">
                  <a:solidFill>
                    <a:schemeClr val="accent1"/>
                  </a:solidFill>
                </a:rPr>
                <a:t>2000</a:t>
              </a:r>
            </a:p>
          </p:txBody>
        </p:sp>
        <p:sp>
          <p:nvSpPr>
            <p:cNvPr id="25" name="TextBox 24">
              <a:extLst>
                <a:ext uri="{FF2B5EF4-FFF2-40B4-BE49-F238E27FC236}">
                  <a16:creationId xmlns:a16="http://schemas.microsoft.com/office/drawing/2014/main" id="{B998C7C4-9364-4106-8DFF-0B2B7D439622}"/>
                </a:ext>
              </a:extLst>
            </p:cNvPr>
            <p:cNvSpPr txBox="1"/>
            <p:nvPr/>
          </p:nvSpPr>
          <p:spPr>
            <a:xfrm>
              <a:off x="5098241" y="5228728"/>
              <a:ext cx="1121838" cy="529808"/>
            </a:xfrm>
            <a:prstGeom prst="rect">
              <a:avLst/>
            </a:prstGeom>
            <a:noFill/>
          </p:spPr>
          <p:txBody>
            <a:bodyPr wrap="none" rtlCol="0">
              <a:spAutoFit/>
            </a:bodyPr>
            <a:lstStyle/>
            <a:p>
              <a:pPr>
                <a:lnSpc>
                  <a:spcPct val="90000"/>
                </a:lnSpc>
                <a:spcBef>
                  <a:spcPts val="1200"/>
                </a:spcBef>
              </a:pPr>
              <a:r>
                <a:rPr lang="sv-SE" sz="800" dirty="0">
                  <a:solidFill>
                    <a:schemeClr val="accent1"/>
                  </a:solidFill>
                </a:rPr>
                <a:t>4500</a:t>
              </a:r>
            </a:p>
          </p:txBody>
        </p:sp>
        <p:sp>
          <p:nvSpPr>
            <p:cNvPr id="26" name="TextBox 25">
              <a:extLst>
                <a:ext uri="{FF2B5EF4-FFF2-40B4-BE49-F238E27FC236}">
                  <a16:creationId xmlns:a16="http://schemas.microsoft.com/office/drawing/2014/main" id="{34FB8E8A-710C-4C9D-9685-2971DDA008EE}"/>
                </a:ext>
              </a:extLst>
            </p:cNvPr>
            <p:cNvSpPr txBox="1"/>
            <p:nvPr/>
          </p:nvSpPr>
          <p:spPr>
            <a:xfrm>
              <a:off x="1579131" y="1384042"/>
              <a:ext cx="1105473" cy="529808"/>
            </a:xfrm>
            <a:prstGeom prst="rect">
              <a:avLst/>
            </a:prstGeom>
            <a:noFill/>
          </p:spPr>
          <p:txBody>
            <a:bodyPr wrap="none" rtlCol="0">
              <a:spAutoFit/>
            </a:bodyPr>
            <a:lstStyle/>
            <a:p>
              <a:pPr>
                <a:lnSpc>
                  <a:spcPct val="90000"/>
                </a:lnSpc>
                <a:spcBef>
                  <a:spcPts val="1200"/>
                </a:spcBef>
              </a:pPr>
              <a:r>
                <a:rPr lang="sv-SE" sz="800" dirty="0">
                  <a:solidFill>
                    <a:schemeClr val="accent1"/>
                  </a:solidFill>
                </a:rPr>
                <a:t>2500</a:t>
              </a:r>
            </a:p>
          </p:txBody>
        </p:sp>
        <p:sp>
          <p:nvSpPr>
            <p:cNvPr id="27" name="TextBox 26">
              <a:extLst>
                <a:ext uri="{FF2B5EF4-FFF2-40B4-BE49-F238E27FC236}">
                  <a16:creationId xmlns:a16="http://schemas.microsoft.com/office/drawing/2014/main" id="{861070D9-D996-41AE-B78B-F6DF1BFF2159}"/>
                </a:ext>
              </a:extLst>
            </p:cNvPr>
            <p:cNvSpPr txBox="1"/>
            <p:nvPr/>
          </p:nvSpPr>
          <p:spPr>
            <a:xfrm rot="16200000">
              <a:off x="1003174" y="2653138"/>
              <a:ext cx="2020221" cy="518452"/>
            </a:xfrm>
            <a:prstGeom prst="rect">
              <a:avLst/>
            </a:prstGeom>
            <a:noFill/>
          </p:spPr>
          <p:txBody>
            <a:bodyPr wrap="none" rtlCol="0">
              <a:spAutoFit/>
            </a:bodyPr>
            <a:lstStyle/>
            <a:p>
              <a:pPr>
                <a:lnSpc>
                  <a:spcPct val="90000"/>
                </a:lnSpc>
                <a:spcBef>
                  <a:spcPts val="1200"/>
                </a:spcBef>
              </a:pPr>
              <a:r>
                <a:rPr lang="sv-SE" sz="800" dirty="0" err="1">
                  <a:solidFill>
                    <a:schemeClr val="accent1"/>
                  </a:solidFill>
                </a:rPr>
                <a:t>Torque</a:t>
              </a:r>
              <a:r>
                <a:rPr lang="sv-SE" sz="800" dirty="0">
                  <a:solidFill>
                    <a:schemeClr val="accent1"/>
                  </a:solidFill>
                </a:rPr>
                <a:t> [Nm]</a:t>
              </a:r>
            </a:p>
          </p:txBody>
        </p:sp>
        <p:sp>
          <p:nvSpPr>
            <p:cNvPr id="28" name="TextBox 27">
              <a:extLst>
                <a:ext uri="{FF2B5EF4-FFF2-40B4-BE49-F238E27FC236}">
                  <a16:creationId xmlns:a16="http://schemas.microsoft.com/office/drawing/2014/main" id="{7DD1E063-126C-4B74-ACDE-399D3E43EC9A}"/>
                </a:ext>
              </a:extLst>
            </p:cNvPr>
            <p:cNvSpPr txBox="1"/>
            <p:nvPr/>
          </p:nvSpPr>
          <p:spPr>
            <a:xfrm rot="16200000">
              <a:off x="6260739" y="3007259"/>
              <a:ext cx="1865527" cy="518452"/>
            </a:xfrm>
            <a:prstGeom prst="rect">
              <a:avLst/>
            </a:prstGeom>
            <a:noFill/>
            <a:ln>
              <a:noFill/>
            </a:ln>
          </p:spPr>
          <p:txBody>
            <a:bodyPr wrap="none" rtlCol="0">
              <a:spAutoFit/>
            </a:bodyPr>
            <a:lstStyle/>
            <a:p>
              <a:pPr>
                <a:lnSpc>
                  <a:spcPct val="90000"/>
                </a:lnSpc>
                <a:spcBef>
                  <a:spcPts val="1200"/>
                </a:spcBef>
              </a:pPr>
              <a:r>
                <a:rPr lang="sv-SE" sz="800" dirty="0">
                  <a:solidFill>
                    <a:schemeClr val="accent1">
                      <a:lumMod val="75000"/>
                      <a:lumOff val="25000"/>
                    </a:schemeClr>
                  </a:solidFill>
                </a:rPr>
                <a:t>Power [kW]</a:t>
              </a:r>
            </a:p>
          </p:txBody>
        </p:sp>
        <p:sp>
          <p:nvSpPr>
            <p:cNvPr id="29" name="TextBox 28">
              <a:extLst>
                <a:ext uri="{FF2B5EF4-FFF2-40B4-BE49-F238E27FC236}">
                  <a16:creationId xmlns:a16="http://schemas.microsoft.com/office/drawing/2014/main" id="{C946DA04-A823-4488-9B8D-F8F2AD2E0864}"/>
                </a:ext>
              </a:extLst>
            </p:cNvPr>
            <p:cNvSpPr txBox="1"/>
            <p:nvPr/>
          </p:nvSpPr>
          <p:spPr>
            <a:xfrm>
              <a:off x="6890029" y="2117901"/>
              <a:ext cx="954092" cy="529808"/>
            </a:xfrm>
            <a:prstGeom prst="rect">
              <a:avLst/>
            </a:prstGeom>
            <a:noFill/>
          </p:spPr>
          <p:txBody>
            <a:bodyPr wrap="none" rtlCol="0">
              <a:spAutoFit/>
            </a:bodyPr>
            <a:lstStyle/>
            <a:p>
              <a:pPr>
                <a:lnSpc>
                  <a:spcPct val="90000"/>
                </a:lnSpc>
                <a:spcBef>
                  <a:spcPts val="1200"/>
                </a:spcBef>
              </a:pPr>
              <a:r>
                <a:rPr lang="sv-SE" sz="800" dirty="0">
                  <a:solidFill>
                    <a:schemeClr val="accent1"/>
                  </a:solidFill>
                </a:rPr>
                <a:t>600</a:t>
              </a:r>
            </a:p>
          </p:txBody>
        </p:sp>
        <p:sp>
          <p:nvSpPr>
            <p:cNvPr id="30" name="TextBox 29">
              <a:extLst>
                <a:ext uri="{FF2B5EF4-FFF2-40B4-BE49-F238E27FC236}">
                  <a16:creationId xmlns:a16="http://schemas.microsoft.com/office/drawing/2014/main" id="{B7B96961-C5A2-449B-B047-032BC9230B8C}"/>
                </a:ext>
              </a:extLst>
            </p:cNvPr>
            <p:cNvSpPr txBox="1"/>
            <p:nvPr/>
          </p:nvSpPr>
          <p:spPr>
            <a:xfrm>
              <a:off x="3389997" y="5533499"/>
              <a:ext cx="2263311" cy="602052"/>
            </a:xfrm>
            <a:prstGeom prst="rect">
              <a:avLst/>
            </a:prstGeom>
            <a:noFill/>
          </p:spPr>
          <p:txBody>
            <a:bodyPr wrap="none" rtlCol="0">
              <a:spAutoFit/>
            </a:bodyPr>
            <a:lstStyle/>
            <a:p>
              <a:pPr>
                <a:lnSpc>
                  <a:spcPct val="90000"/>
                </a:lnSpc>
                <a:spcBef>
                  <a:spcPts val="1200"/>
                </a:spcBef>
              </a:pPr>
              <a:r>
                <a:rPr lang="sv-SE" sz="1000" dirty="0">
                  <a:solidFill>
                    <a:schemeClr val="accent1"/>
                  </a:solidFill>
                </a:rPr>
                <a:t>speed [rpm]</a:t>
              </a:r>
            </a:p>
          </p:txBody>
        </p:sp>
        <p:sp>
          <p:nvSpPr>
            <p:cNvPr id="31" name="TextBox 30">
              <a:extLst>
                <a:ext uri="{FF2B5EF4-FFF2-40B4-BE49-F238E27FC236}">
                  <a16:creationId xmlns:a16="http://schemas.microsoft.com/office/drawing/2014/main" id="{F42F694C-2652-4498-8284-0EBB53E8A4CB}"/>
                </a:ext>
              </a:extLst>
            </p:cNvPr>
            <p:cNvSpPr txBox="1"/>
            <p:nvPr/>
          </p:nvSpPr>
          <p:spPr>
            <a:xfrm>
              <a:off x="6565101" y="5222426"/>
              <a:ext cx="1121838" cy="529808"/>
            </a:xfrm>
            <a:prstGeom prst="rect">
              <a:avLst/>
            </a:prstGeom>
            <a:noFill/>
          </p:spPr>
          <p:txBody>
            <a:bodyPr wrap="none" rtlCol="0">
              <a:spAutoFit/>
            </a:bodyPr>
            <a:lstStyle/>
            <a:p>
              <a:pPr>
                <a:lnSpc>
                  <a:spcPct val="90000"/>
                </a:lnSpc>
                <a:spcBef>
                  <a:spcPts val="1200"/>
                </a:spcBef>
              </a:pPr>
              <a:r>
                <a:rPr lang="sv-SE" sz="800" dirty="0">
                  <a:solidFill>
                    <a:schemeClr val="accent1"/>
                  </a:solidFill>
                </a:rPr>
                <a:t>6000</a:t>
              </a:r>
            </a:p>
          </p:txBody>
        </p:sp>
        <p:sp>
          <p:nvSpPr>
            <p:cNvPr id="32" name="Ellips 32">
              <a:extLst>
                <a:ext uri="{FF2B5EF4-FFF2-40B4-BE49-F238E27FC236}">
                  <a16:creationId xmlns:a16="http://schemas.microsoft.com/office/drawing/2014/main" id="{36D60676-47A5-4BEA-9B8F-EA6782096899}"/>
                </a:ext>
              </a:extLst>
            </p:cNvPr>
            <p:cNvSpPr/>
            <p:nvPr/>
          </p:nvSpPr>
          <p:spPr>
            <a:xfrm>
              <a:off x="5376519" y="3462959"/>
              <a:ext cx="101592" cy="9890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Bef>
                  <a:spcPts val="1200"/>
                </a:spcBef>
              </a:pPr>
              <a:endParaRPr lang="en-GB" sz="1600" err="1"/>
            </a:p>
          </p:txBody>
        </p:sp>
        <p:sp>
          <p:nvSpPr>
            <p:cNvPr id="33" name="textruta 44">
              <a:extLst>
                <a:ext uri="{FF2B5EF4-FFF2-40B4-BE49-F238E27FC236}">
                  <a16:creationId xmlns:a16="http://schemas.microsoft.com/office/drawing/2014/main" id="{0987F06F-8059-4FFB-98F6-309396899C94}"/>
                </a:ext>
              </a:extLst>
            </p:cNvPr>
            <p:cNvSpPr txBox="1"/>
            <p:nvPr/>
          </p:nvSpPr>
          <p:spPr>
            <a:xfrm>
              <a:off x="5460958" y="3361935"/>
              <a:ext cx="1718907" cy="421438"/>
            </a:xfrm>
            <a:prstGeom prst="rect">
              <a:avLst/>
            </a:prstGeom>
            <a:noFill/>
          </p:spPr>
          <p:txBody>
            <a:bodyPr wrap="square" rtlCol="0">
              <a:spAutoFit/>
            </a:bodyPr>
            <a:lstStyle/>
            <a:p>
              <a:pPr>
                <a:lnSpc>
                  <a:spcPct val="90000"/>
                </a:lnSpc>
                <a:spcBef>
                  <a:spcPts val="1200"/>
                </a:spcBef>
              </a:pPr>
              <a:r>
                <a:rPr lang="en-GB" sz="500" dirty="0">
                  <a:solidFill>
                    <a:schemeClr val="accent1"/>
                  </a:solidFill>
                </a:rPr>
                <a:t>100% of power</a:t>
              </a:r>
            </a:p>
          </p:txBody>
        </p:sp>
        <p:sp>
          <p:nvSpPr>
            <p:cNvPr id="34" name="textruta 9">
              <a:extLst>
                <a:ext uri="{FF2B5EF4-FFF2-40B4-BE49-F238E27FC236}">
                  <a16:creationId xmlns:a16="http://schemas.microsoft.com/office/drawing/2014/main" id="{298F7C81-319F-4A1E-86B1-14BEFE595E2F}"/>
                </a:ext>
              </a:extLst>
            </p:cNvPr>
            <p:cNvSpPr txBox="1"/>
            <p:nvPr/>
          </p:nvSpPr>
          <p:spPr>
            <a:xfrm>
              <a:off x="2338844" y="1603002"/>
              <a:ext cx="565924" cy="370239"/>
            </a:xfrm>
            <a:prstGeom prst="rect">
              <a:avLst/>
            </a:prstGeom>
            <a:noFill/>
          </p:spPr>
          <p:txBody>
            <a:bodyPr wrap="square" lIns="36000" tIns="36000" rIns="36000" bIns="36000" rtlCol="0">
              <a:spAutoFit/>
            </a:bodyPr>
            <a:lstStyle/>
            <a:p>
              <a:pPr>
                <a:lnSpc>
                  <a:spcPct val="90000"/>
                </a:lnSpc>
                <a:spcBef>
                  <a:spcPts val="1200"/>
                </a:spcBef>
              </a:pPr>
              <a:r>
                <a:rPr lang="en-GB" sz="500" dirty="0">
                  <a:solidFill>
                    <a:schemeClr val="accent1"/>
                  </a:solidFill>
                </a:rPr>
                <a:t>Dp1</a:t>
              </a:r>
            </a:p>
          </p:txBody>
        </p:sp>
        <p:sp>
          <p:nvSpPr>
            <p:cNvPr id="35" name="textruta 9">
              <a:extLst>
                <a:ext uri="{FF2B5EF4-FFF2-40B4-BE49-F238E27FC236}">
                  <a16:creationId xmlns:a16="http://schemas.microsoft.com/office/drawing/2014/main" id="{7A1B2665-5556-4E7E-9E36-AD7C7A44A463}"/>
                </a:ext>
              </a:extLst>
            </p:cNvPr>
            <p:cNvSpPr txBox="1"/>
            <p:nvPr/>
          </p:nvSpPr>
          <p:spPr>
            <a:xfrm>
              <a:off x="3066761" y="2242804"/>
              <a:ext cx="500981" cy="370239"/>
            </a:xfrm>
            <a:prstGeom prst="rect">
              <a:avLst/>
            </a:prstGeom>
            <a:noFill/>
          </p:spPr>
          <p:txBody>
            <a:bodyPr wrap="square" lIns="36000" tIns="36000" rIns="36000" bIns="36000" rtlCol="0">
              <a:spAutoFit/>
            </a:bodyPr>
            <a:lstStyle/>
            <a:p>
              <a:pPr>
                <a:lnSpc>
                  <a:spcPct val="90000"/>
                </a:lnSpc>
                <a:spcBef>
                  <a:spcPts val="1200"/>
                </a:spcBef>
              </a:pPr>
              <a:r>
                <a:rPr lang="en-GB" sz="500" dirty="0">
                  <a:solidFill>
                    <a:schemeClr val="accent1"/>
                  </a:solidFill>
                </a:rPr>
                <a:t>Dp2</a:t>
              </a:r>
            </a:p>
          </p:txBody>
        </p:sp>
        <p:sp>
          <p:nvSpPr>
            <p:cNvPr id="36" name="textruta 9">
              <a:extLst>
                <a:ext uri="{FF2B5EF4-FFF2-40B4-BE49-F238E27FC236}">
                  <a16:creationId xmlns:a16="http://schemas.microsoft.com/office/drawing/2014/main" id="{5059F606-FA45-4218-BC0D-D1C6E90A5425}"/>
                </a:ext>
              </a:extLst>
            </p:cNvPr>
            <p:cNvSpPr txBox="1"/>
            <p:nvPr/>
          </p:nvSpPr>
          <p:spPr>
            <a:xfrm>
              <a:off x="3023835" y="3591085"/>
              <a:ext cx="496977" cy="370239"/>
            </a:xfrm>
            <a:prstGeom prst="rect">
              <a:avLst/>
            </a:prstGeom>
            <a:noFill/>
          </p:spPr>
          <p:txBody>
            <a:bodyPr wrap="square" lIns="36000" tIns="36000" rIns="36000" bIns="36000" rtlCol="0">
              <a:spAutoFit/>
            </a:bodyPr>
            <a:lstStyle/>
            <a:p>
              <a:pPr>
                <a:lnSpc>
                  <a:spcPct val="90000"/>
                </a:lnSpc>
                <a:spcBef>
                  <a:spcPts val="1200"/>
                </a:spcBef>
              </a:pPr>
              <a:r>
                <a:rPr lang="en-GB" sz="500" dirty="0">
                  <a:solidFill>
                    <a:schemeClr val="accent1"/>
                  </a:solidFill>
                </a:rPr>
                <a:t>Dp3</a:t>
              </a:r>
            </a:p>
          </p:txBody>
        </p:sp>
        <p:sp>
          <p:nvSpPr>
            <p:cNvPr id="37" name="textruta 9">
              <a:extLst>
                <a:ext uri="{FF2B5EF4-FFF2-40B4-BE49-F238E27FC236}">
                  <a16:creationId xmlns:a16="http://schemas.microsoft.com/office/drawing/2014/main" id="{6E0009A9-A9D3-4593-84A9-B431BB55BB4B}"/>
                </a:ext>
              </a:extLst>
            </p:cNvPr>
            <p:cNvSpPr txBox="1"/>
            <p:nvPr/>
          </p:nvSpPr>
          <p:spPr>
            <a:xfrm>
              <a:off x="2868649" y="4399055"/>
              <a:ext cx="647599" cy="370239"/>
            </a:xfrm>
            <a:prstGeom prst="rect">
              <a:avLst/>
            </a:prstGeom>
            <a:noFill/>
          </p:spPr>
          <p:txBody>
            <a:bodyPr wrap="square" lIns="36000" tIns="36000" rIns="36000" bIns="36000" rtlCol="0">
              <a:spAutoFit/>
            </a:bodyPr>
            <a:lstStyle/>
            <a:p>
              <a:pPr>
                <a:lnSpc>
                  <a:spcPct val="90000"/>
                </a:lnSpc>
                <a:spcBef>
                  <a:spcPts val="1200"/>
                </a:spcBef>
              </a:pPr>
              <a:r>
                <a:rPr lang="en-GB" sz="500" dirty="0">
                  <a:solidFill>
                    <a:schemeClr val="accent1"/>
                  </a:solidFill>
                </a:rPr>
                <a:t>Dp4</a:t>
              </a:r>
            </a:p>
          </p:txBody>
        </p:sp>
        <p:sp>
          <p:nvSpPr>
            <p:cNvPr id="38" name="textruta 9">
              <a:extLst>
                <a:ext uri="{FF2B5EF4-FFF2-40B4-BE49-F238E27FC236}">
                  <a16:creationId xmlns:a16="http://schemas.microsoft.com/office/drawing/2014/main" id="{358F15F1-D2CA-40E8-BD85-18F400F5756F}"/>
                </a:ext>
              </a:extLst>
            </p:cNvPr>
            <p:cNvSpPr txBox="1"/>
            <p:nvPr/>
          </p:nvSpPr>
          <p:spPr>
            <a:xfrm>
              <a:off x="4817108" y="3450553"/>
              <a:ext cx="574755" cy="370239"/>
            </a:xfrm>
            <a:prstGeom prst="rect">
              <a:avLst/>
            </a:prstGeom>
            <a:noFill/>
          </p:spPr>
          <p:txBody>
            <a:bodyPr wrap="square" lIns="36000" tIns="36000" rIns="36000" bIns="36000" rtlCol="0">
              <a:spAutoFit/>
            </a:bodyPr>
            <a:lstStyle/>
            <a:p>
              <a:pPr>
                <a:lnSpc>
                  <a:spcPct val="90000"/>
                </a:lnSpc>
                <a:spcBef>
                  <a:spcPts val="1200"/>
                </a:spcBef>
              </a:pPr>
              <a:r>
                <a:rPr lang="en-GB" sz="500" dirty="0">
                  <a:solidFill>
                    <a:schemeClr val="accent1"/>
                  </a:solidFill>
                </a:rPr>
                <a:t>Dp5</a:t>
              </a:r>
            </a:p>
          </p:txBody>
        </p:sp>
        <p:sp>
          <p:nvSpPr>
            <p:cNvPr id="39" name="textruta 9">
              <a:extLst>
                <a:ext uri="{FF2B5EF4-FFF2-40B4-BE49-F238E27FC236}">
                  <a16:creationId xmlns:a16="http://schemas.microsoft.com/office/drawing/2014/main" id="{71DEA210-55E3-49B7-B09D-487AAD658FBB}"/>
                </a:ext>
              </a:extLst>
            </p:cNvPr>
            <p:cNvSpPr txBox="1"/>
            <p:nvPr/>
          </p:nvSpPr>
          <p:spPr>
            <a:xfrm>
              <a:off x="4726132" y="4213013"/>
              <a:ext cx="658464" cy="370239"/>
            </a:xfrm>
            <a:prstGeom prst="rect">
              <a:avLst/>
            </a:prstGeom>
            <a:noFill/>
          </p:spPr>
          <p:txBody>
            <a:bodyPr wrap="square" lIns="36000" tIns="36000" rIns="36000" bIns="36000" rtlCol="0">
              <a:spAutoFit/>
            </a:bodyPr>
            <a:lstStyle/>
            <a:p>
              <a:pPr>
                <a:lnSpc>
                  <a:spcPct val="90000"/>
                </a:lnSpc>
                <a:spcBef>
                  <a:spcPts val="1200"/>
                </a:spcBef>
              </a:pPr>
              <a:r>
                <a:rPr lang="en-GB" sz="500" dirty="0">
                  <a:solidFill>
                    <a:schemeClr val="accent1"/>
                  </a:solidFill>
                </a:rPr>
                <a:t>Dp6</a:t>
              </a:r>
            </a:p>
          </p:txBody>
        </p:sp>
        <p:sp>
          <p:nvSpPr>
            <p:cNvPr id="40" name="Ellips 21">
              <a:extLst>
                <a:ext uri="{FF2B5EF4-FFF2-40B4-BE49-F238E27FC236}">
                  <a16:creationId xmlns:a16="http://schemas.microsoft.com/office/drawing/2014/main" id="{D52DE2CC-2CBC-4D6C-814F-CE9E9E9FBB9F}"/>
                </a:ext>
              </a:extLst>
            </p:cNvPr>
            <p:cNvSpPr/>
            <p:nvPr/>
          </p:nvSpPr>
          <p:spPr>
            <a:xfrm>
              <a:off x="5369482" y="4295851"/>
              <a:ext cx="101592" cy="98901"/>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Bef>
                  <a:spcPts val="1200"/>
                </a:spcBef>
              </a:pPr>
              <a:endParaRPr lang="en-GB" sz="1600" err="1"/>
            </a:p>
          </p:txBody>
        </p:sp>
        <p:sp>
          <p:nvSpPr>
            <p:cNvPr id="41" name="textruta 44">
              <a:extLst>
                <a:ext uri="{FF2B5EF4-FFF2-40B4-BE49-F238E27FC236}">
                  <a16:creationId xmlns:a16="http://schemas.microsoft.com/office/drawing/2014/main" id="{12C0AAA3-3364-4260-8214-EC6E13E4FA38}"/>
                </a:ext>
              </a:extLst>
            </p:cNvPr>
            <p:cNvSpPr txBox="1"/>
            <p:nvPr/>
          </p:nvSpPr>
          <p:spPr>
            <a:xfrm>
              <a:off x="5514295" y="4264074"/>
              <a:ext cx="1718907" cy="421438"/>
            </a:xfrm>
            <a:prstGeom prst="rect">
              <a:avLst/>
            </a:prstGeom>
            <a:noFill/>
          </p:spPr>
          <p:txBody>
            <a:bodyPr wrap="square" rtlCol="0">
              <a:spAutoFit/>
            </a:bodyPr>
            <a:lstStyle/>
            <a:p>
              <a:pPr>
                <a:lnSpc>
                  <a:spcPct val="90000"/>
                </a:lnSpc>
                <a:spcBef>
                  <a:spcPts val="1200"/>
                </a:spcBef>
              </a:pPr>
              <a:r>
                <a:rPr lang="en-GB" sz="500" dirty="0">
                  <a:solidFill>
                    <a:schemeClr val="accent1"/>
                  </a:solidFill>
                </a:rPr>
                <a:t>50% of power</a:t>
              </a:r>
            </a:p>
          </p:txBody>
        </p:sp>
        <p:sp>
          <p:nvSpPr>
            <p:cNvPr id="42" name="TextBox 41">
              <a:extLst>
                <a:ext uri="{FF2B5EF4-FFF2-40B4-BE49-F238E27FC236}">
                  <a16:creationId xmlns:a16="http://schemas.microsoft.com/office/drawing/2014/main" id="{7852862A-D063-437D-981B-0B7758A47758}"/>
                </a:ext>
              </a:extLst>
            </p:cNvPr>
            <p:cNvSpPr txBox="1"/>
            <p:nvPr/>
          </p:nvSpPr>
          <p:spPr>
            <a:xfrm>
              <a:off x="1758273" y="5109249"/>
              <a:ext cx="639065" cy="529808"/>
            </a:xfrm>
            <a:prstGeom prst="rect">
              <a:avLst/>
            </a:prstGeom>
            <a:noFill/>
          </p:spPr>
          <p:txBody>
            <a:bodyPr wrap="none" rtlCol="0">
              <a:spAutoFit/>
            </a:bodyPr>
            <a:lstStyle/>
            <a:p>
              <a:pPr>
                <a:lnSpc>
                  <a:spcPct val="90000"/>
                </a:lnSpc>
                <a:spcBef>
                  <a:spcPts val="1200"/>
                </a:spcBef>
              </a:pPr>
              <a:r>
                <a:rPr lang="sv-SE" sz="800" dirty="0">
                  <a:solidFill>
                    <a:schemeClr val="accent1"/>
                  </a:solidFill>
                </a:rPr>
                <a:t>0</a:t>
              </a:r>
            </a:p>
          </p:txBody>
        </p:sp>
      </p:grpSp>
      <p:pic>
        <p:nvPicPr>
          <p:cNvPr id="51" name="Picture 50"/>
          <p:cNvPicPr>
            <a:picLocks noChangeAspect="1"/>
          </p:cNvPicPr>
          <p:nvPr/>
        </p:nvPicPr>
        <p:blipFill>
          <a:blip r:embed="rId2"/>
          <a:stretch>
            <a:fillRect/>
          </a:stretch>
        </p:blipFill>
        <p:spPr>
          <a:xfrm>
            <a:off x="1159194" y="1104112"/>
            <a:ext cx="3467556" cy="781421"/>
          </a:xfrm>
          <a:prstGeom prst="rect">
            <a:avLst/>
          </a:prstGeom>
        </p:spPr>
      </p:pic>
      <p:pic>
        <p:nvPicPr>
          <p:cNvPr id="52" name="Picture 51"/>
          <p:cNvPicPr>
            <a:picLocks noChangeAspect="1"/>
          </p:cNvPicPr>
          <p:nvPr/>
        </p:nvPicPr>
        <p:blipFill>
          <a:blip r:embed="rId3"/>
          <a:stretch>
            <a:fillRect/>
          </a:stretch>
        </p:blipFill>
        <p:spPr>
          <a:xfrm>
            <a:off x="594680" y="1992317"/>
            <a:ext cx="5168393" cy="661631"/>
          </a:xfrm>
          <a:prstGeom prst="rect">
            <a:avLst/>
          </a:prstGeom>
        </p:spPr>
      </p:pic>
      <p:pic>
        <p:nvPicPr>
          <p:cNvPr id="53" name="Picture 52"/>
          <p:cNvPicPr>
            <a:picLocks noChangeAspect="1"/>
          </p:cNvPicPr>
          <p:nvPr/>
        </p:nvPicPr>
        <p:blipFill rotWithShape="1">
          <a:blip r:embed="rId4"/>
          <a:srcRect t="9022"/>
          <a:stretch/>
        </p:blipFill>
        <p:spPr>
          <a:xfrm>
            <a:off x="5870531" y="1260077"/>
            <a:ext cx="5552749" cy="1037118"/>
          </a:xfrm>
          <a:prstGeom prst="rect">
            <a:avLst/>
          </a:prstGeom>
        </p:spPr>
      </p:pic>
    </p:spTree>
    <p:extLst>
      <p:ext uri="{BB962C8B-B14F-4D97-AF65-F5344CB8AC3E}">
        <p14:creationId xmlns:p14="http://schemas.microsoft.com/office/powerpoint/2010/main" val="41230891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Phase-Shift Control </a:t>
            </a:r>
            <a:endParaRPr lang="sv-SE" dirty="0">
              <a:latin typeface="Times New Roman" panose="02020603050405020304" pitchFamily="18" charset="0"/>
              <a:cs typeface="Times New Roman" panose="02020603050405020304" pitchFamily="18" charset="0"/>
            </a:endParaRPr>
          </a:p>
        </p:txBody>
      </p:sp>
      <p:pic>
        <p:nvPicPr>
          <p:cNvPr id="14" name="Picture 13"/>
          <p:cNvPicPr>
            <a:picLocks noChangeAspect="1"/>
          </p:cNvPicPr>
          <p:nvPr/>
        </p:nvPicPr>
        <p:blipFill>
          <a:blip r:embed="rId2"/>
          <a:stretch>
            <a:fillRect/>
          </a:stretch>
        </p:blipFill>
        <p:spPr>
          <a:xfrm>
            <a:off x="747667" y="1767520"/>
            <a:ext cx="9945752" cy="2171699"/>
          </a:xfrm>
          <a:prstGeom prst="rect">
            <a:avLst/>
          </a:prstGeom>
        </p:spPr>
      </p:pic>
      <p:pic>
        <p:nvPicPr>
          <p:cNvPr id="2" name="Picture 1"/>
          <p:cNvPicPr>
            <a:picLocks noChangeAspect="1"/>
          </p:cNvPicPr>
          <p:nvPr/>
        </p:nvPicPr>
        <p:blipFill>
          <a:blip r:embed="rId3"/>
          <a:stretch>
            <a:fillRect/>
          </a:stretch>
        </p:blipFill>
        <p:spPr>
          <a:xfrm>
            <a:off x="3399491" y="4095016"/>
            <a:ext cx="4642103" cy="2353742"/>
          </a:xfrm>
          <a:prstGeom prst="rect">
            <a:avLst/>
          </a:prstGeom>
        </p:spPr>
      </p:pic>
      <p:sp>
        <p:nvSpPr>
          <p:cNvPr id="3" name="TextBox 2"/>
          <p:cNvSpPr txBox="1"/>
          <p:nvPr/>
        </p:nvSpPr>
        <p:spPr>
          <a:xfrm>
            <a:off x="856372" y="1163781"/>
            <a:ext cx="5428850" cy="369332"/>
          </a:xfrm>
          <a:prstGeom prst="rect">
            <a:avLst/>
          </a:prstGeom>
          <a:noFill/>
        </p:spPr>
        <p:txBody>
          <a:bodyPr wrap="square" rtlCol="0">
            <a:spAutoFit/>
          </a:bodyPr>
          <a:lstStyle/>
          <a:p>
            <a:r>
              <a:rPr lang="en-US" dirty="0" smtClean="0"/>
              <a:t>Controlling the current and apparent power</a:t>
            </a:r>
            <a:endParaRPr lang="sv-SE" dirty="0"/>
          </a:p>
        </p:txBody>
      </p:sp>
    </p:spTree>
    <p:extLst>
      <p:ext uri="{BB962C8B-B14F-4D97-AF65-F5344CB8AC3E}">
        <p14:creationId xmlns:p14="http://schemas.microsoft.com/office/powerpoint/2010/main" val="12490644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Outline</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594098" y="1842462"/>
                <a:ext cx="10990263" cy="4453808"/>
              </a:xfrm>
            </p:spPr>
            <p:txBody>
              <a:bodyPr/>
              <a:lstStyle/>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The Effects of the </a:t>
                </a:r>
                <a:r>
                  <a:rPr lang="en-US" sz="2400" dirty="0" err="1" smtClean="0">
                    <a:solidFill>
                      <a:srgbClr val="C0C0C0"/>
                    </a:solidFill>
                    <a:latin typeface="Times New Roman" panose="02020603050405020304" pitchFamily="18" charset="0"/>
                    <a:cs typeface="Times New Roman" panose="02020603050405020304" pitchFamily="18" charset="0"/>
                  </a:rPr>
                  <a:t>Busbar</a:t>
                </a:r>
                <a:r>
                  <a:rPr lang="en-US" sz="2400" dirty="0" smtClean="0">
                    <a:solidFill>
                      <a:srgbClr val="C0C0C0"/>
                    </a:solidFill>
                    <a:latin typeface="Times New Roman" panose="02020603050405020304" pitchFamily="18" charset="0"/>
                    <a:cs typeface="Times New Roman" panose="02020603050405020304" pitchFamily="18" charset="0"/>
                  </a:rPr>
                  <a:t> and Battery Parasitic Inductance</a:t>
                </a:r>
              </a:p>
              <a:p>
                <a:pPr>
                  <a:buFont typeface="Wingdings" panose="05000000000000000000" pitchFamily="2" charset="2"/>
                  <a:buChar char="q"/>
                </a:pPr>
                <a:endParaRPr lang="en-US" sz="2400" dirty="0" smtClean="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Conventional Back-to-Back Inverter Setup </a:t>
                </a:r>
              </a:p>
              <a:p>
                <a:pPr>
                  <a:buFont typeface="Wingdings" panose="05000000000000000000" pitchFamily="2" charset="2"/>
                  <a:buChar char="q"/>
                </a:pPr>
                <a:endParaRPr lang="en-US" sz="2400" dirty="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chemeClr val="tx1"/>
                    </a:solidFill>
                    <a:latin typeface="Times New Roman" panose="02020603050405020304" pitchFamily="18" charset="0"/>
                    <a:cs typeface="Times New Roman" panose="02020603050405020304" pitchFamily="18" charset="0"/>
                  </a:rPr>
                  <a:t>Intelligent Gate Driver Measurement Unit: </a:t>
                </a:r>
                <a:r>
                  <a:rPr lang="en-US" sz="2400" dirty="0">
                    <a:solidFill>
                      <a:schemeClr val="tx1"/>
                    </a:solidFill>
                    <a:latin typeface="Times New Roman" panose="02020603050405020304" pitchFamily="18" charset="0"/>
                    <a:cs typeface="Times New Roman" panose="02020603050405020304" pitchFamily="18" charset="0"/>
                  </a:rPr>
                  <a:t>Online </a:t>
                </a:r>
                <a14:m>
                  <m:oMath xmlns:m="http://schemas.openxmlformats.org/officeDocument/2006/math">
                    <m:sSub>
                      <m:sSubPr>
                        <m:ctrlPr>
                          <a:rPr lang="en-US" sz="2400" i="1" dirty="0">
                            <a:solidFill>
                              <a:schemeClr val="tx1"/>
                            </a:solidFill>
                            <a:latin typeface="Cambria Math" panose="02040503050406030204" pitchFamily="18" charset="0"/>
                            <a:cs typeface="Times New Roman" panose="02020603050405020304" pitchFamily="18" charset="0"/>
                          </a:rPr>
                        </m:ctrlPr>
                      </m:sSubPr>
                      <m:e>
                        <m:r>
                          <a:rPr lang="en-US" sz="2400" i="1" dirty="0">
                            <a:solidFill>
                              <a:schemeClr val="tx1"/>
                            </a:solidFill>
                            <a:latin typeface="Cambria Math" panose="02040503050406030204" pitchFamily="18" charset="0"/>
                            <a:cs typeface="Times New Roman" panose="02020603050405020304" pitchFamily="18" charset="0"/>
                          </a:rPr>
                          <m:t>𝑅</m:t>
                        </m:r>
                      </m:e>
                      <m:sub>
                        <m:r>
                          <a:rPr lang="en-US" sz="2400" i="1" dirty="0">
                            <a:solidFill>
                              <a:schemeClr val="tx1"/>
                            </a:solidFill>
                            <a:latin typeface="Cambria Math" panose="02040503050406030204" pitchFamily="18" charset="0"/>
                            <a:cs typeface="Times New Roman" panose="02020603050405020304" pitchFamily="18" charset="0"/>
                          </a:rPr>
                          <m:t>𝑑𝑠</m:t>
                        </m:r>
                      </m:sub>
                    </m:sSub>
                  </m:oMath>
                </a14:m>
                <a:r>
                  <a:rPr lang="en-US" sz="2400" dirty="0">
                    <a:solidFill>
                      <a:schemeClr val="tx1"/>
                    </a:solidFill>
                    <a:latin typeface="Times New Roman" panose="02020603050405020304" pitchFamily="18" charset="0"/>
                    <a:cs typeface="Times New Roman" panose="02020603050405020304" pitchFamily="18" charset="0"/>
                  </a:rPr>
                  <a:t> </a:t>
                </a:r>
                <a:r>
                  <a:rPr lang="en-US" sz="2400" dirty="0" smtClean="0">
                    <a:solidFill>
                      <a:schemeClr val="tx1"/>
                    </a:solidFill>
                    <a:latin typeface="Times New Roman" panose="02020603050405020304" pitchFamily="18" charset="0"/>
                    <a:cs typeface="Times New Roman" panose="02020603050405020304" pitchFamily="18" charset="0"/>
                  </a:rPr>
                  <a:t>Measurement</a:t>
                </a:r>
              </a:p>
              <a:p>
                <a:pPr>
                  <a:buFont typeface="Wingdings" panose="05000000000000000000" pitchFamily="2" charset="2"/>
                  <a:buChar char="q"/>
                </a:pPr>
                <a:endParaRPr lang="en-US" sz="2400" dirty="0">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a:solidFill>
                      <a:srgbClr val="C0C0C0"/>
                    </a:solidFill>
                    <a:latin typeface="Times New Roman" panose="02020603050405020304" pitchFamily="18" charset="0"/>
                    <a:cs typeface="Times New Roman" panose="02020603050405020304" pitchFamily="18" charset="0"/>
                  </a:rPr>
                  <a:t>ECCE-Europe Paper Digest</a:t>
                </a:r>
              </a:p>
              <a:p>
                <a:pPr marL="0" indent="0">
                  <a:buNone/>
                </a:pPr>
                <a:endParaRPr lang="en-US" sz="2400" dirty="0" smtClean="0">
                  <a:solidFill>
                    <a:schemeClr val="tx1"/>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endParaRPr lang="en-US" dirty="0" smtClean="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594098" y="1842462"/>
                <a:ext cx="10990263" cy="4453808"/>
              </a:xfrm>
              <a:blipFill>
                <a:blip r:embed="rId2"/>
                <a:stretch>
                  <a:fillRect l="-721" t="-1915"/>
                </a:stretch>
              </a:blipFill>
            </p:spPr>
            <p:txBody>
              <a:bodyPr/>
              <a:lstStyle/>
              <a:p>
                <a:r>
                  <a:rPr lang="sv-SE">
                    <a:noFill/>
                  </a:rPr>
                  <a:t> </a:t>
                </a:r>
              </a:p>
            </p:txBody>
          </p:sp>
        </mc:Fallback>
      </mc:AlternateContent>
    </p:spTree>
    <p:extLst>
      <p:ext uri="{BB962C8B-B14F-4D97-AF65-F5344CB8AC3E}">
        <p14:creationId xmlns:p14="http://schemas.microsoft.com/office/powerpoint/2010/main" val="208130650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a:xfrm>
                <a:off x="1014143" y="276122"/>
                <a:ext cx="10990263" cy="568412"/>
              </a:xfrm>
            </p:spPr>
            <p:txBody>
              <a:bodyPr/>
              <a:lstStyle/>
              <a:p>
                <a:r>
                  <a:rPr lang="en-US" dirty="0" smtClean="0">
                    <a:latin typeface="Times New Roman" panose="02020603050405020304" pitchFamily="18" charset="0"/>
                    <a:cs typeface="Times New Roman" panose="02020603050405020304" pitchFamily="18" charset="0"/>
                  </a:rPr>
                  <a:t>Intelligent Gate Drivers: Online </a:t>
                </a:r>
                <a14:m>
                  <m:oMath xmlns:m="http://schemas.openxmlformats.org/officeDocument/2006/math">
                    <m:sSub>
                      <m:sSubPr>
                        <m:ctrlPr>
                          <a:rPr lang="en-US" i="1" dirty="0" smtClean="0">
                            <a:latin typeface="Cambria Math" panose="02040503050406030204" pitchFamily="18" charset="0"/>
                            <a:cs typeface="Times New Roman" panose="02020603050405020304" pitchFamily="18" charset="0"/>
                          </a:rPr>
                        </m:ctrlPr>
                      </m:sSubPr>
                      <m:e>
                        <m:r>
                          <a:rPr lang="en-US" i="1" dirty="0" smtClean="0">
                            <a:latin typeface="Cambria Math" panose="02040503050406030204" pitchFamily="18" charset="0"/>
                            <a:cs typeface="Times New Roman" panose="02020603050405020304" pitchFamily="18" charset="0"/>
                          </a:rPr>
                          <m:t>𝑅</m:t>
                        </m:r>
                      </m:e>
                      <m:sub>
                        <m:r>
                          <a:rPr lang="en-US" i="1" dirty="0" smtClean="0">
                            <a:latin typeface="Cambria Math" panose="02040503050406030204" pitchFamily="18" charset="0"/>
                            <a:cs typeface="Times New Roman" panose="02020603050405020304" pitchFamily="18" charset="0"/>
                          </a:rPr>
                          <m:t>𝑑𝑠</m:t>
                        </m:r>
                      </m:sub>
                    </m:sSub>
                  </m:oMath>
                </a14:m>
                <a:r>
                  <a:rPr lang="en-US" dirty="0" smtClean="0">
                    <a:latin typeface="Times New Roman" panose="02020603050405020304" pitchFamily="18" charset="0"/>
                    <a:cs typeface="Times New Roman" panose="02020603050405020304" pitchFamily="18" charset="0"/>
                  </a:rPr>
                  <a:t> Measurement</a:t>
                </a:r>
                <a:endParaRPr lang="sv-SE" dirty="0">
                  <a:latin typeface="Times New Roman" panose="02020603050405020304" pitchFamily="18" charset="0"/>
                  <a:cs typeface="Times New Roman" panose="02020603050405020304" pitchFamily="18" charset="0"/>
                </a:endParaRPr>
              </a:p>
            </p:txBody>
          </p:sp>
        </mc:Choice>
        <mc:Fallback xmlns="">
          <p:sp>
            <p:nvSpPr>
              <p:cNvPr id="2" name="Title 1"/>
              <p:cNvSpPr>
                <a:spLocks noGrp="1" noRot="1" noChangeAspect="1" noMove="1" noResize="1" noEditPoints="1" noAdjustHandles="1" noChangeArrowheads="1" noChangeShapeType="1" noTextEdit="1"/>
              </p:cNvSpPr>
              <p:nvPr>
                <p:ph type="title"/>
              </p:nvPr>
            </p:nvSpPr>
            <p:spPr>
              <a:xfrm>
                <a:off x="1014143" y="276122"/>
                <a:ext cx="10990263" cy="568412"/>
              </a:xfrm>
              <a:blipFill>
                <a:blip r:embed="rId2"/>
                <a:stretch>
                  <a:fillRect l="-1664" t="-15957" b="-53191"/>
                </a:stretch>
              </a:blipFill>
            </p:spPr>
            <p:txBody>
              <a:bodyPr/>
              <a:lstStyle/>
              <a:p>
                <a:r>
                  <a:rPr lang="sv-SE">
                    <a:noFill/>
                  </a:rPr>
                  <a:t> </a:t>
                </a:r>
              </a:p>
            </p:txBody>
          </p:sp>
        </mc:Fallback>
      </mc:AlternateContent>
      <p:pic>
        <p:nvPicPr>
          <p:cNvPr id="6" name="Picture 5"/>
          <p:cNvPicPr>
            <a:picLocks noChangeAspect="1"/>
          </p:cNvPicPr>
          <p:nvPr/>
        </p:nvPicPr>
        <p:blipFill>
          <a:blip r:embed="rId3"/>
          <a:stretch>
            <a:fillRect/>
          </a:stretch>
        </p:blipFill>
        <p:spPr>
          <a:xfrm>
            <a:off x="7789856" y="1823028"/>
            <a:ext cx="4478877" cy="2364897"/>
          </a:xfrm>
          <a:prstGeom prst="rect">
            <a:avLst/>
          </a:prstGeom>
        </p:spPr>
      </p:pic>
      <mc:AlternateContent xmlns:mc="http://schemas.openxmlformats.org/markup-compatibility/2006" xmlns:a14="http://schemas.microsoft.com/office/drawing/2010/main">
        <mc:Choice Requires="a14">
          <p:sp>
            <p:nvSpPr>
              <p:cNvPr id="8" name="Rectangle 7"/>
              <p:cNvSpPr/>
              <p:nvPr/>
            </p:nvSpPr>
            <p:spPr>
              <a:xfrm>
                <a:off x="289560" y="1157377"/>
                <a:ext cx="7848600" cy="1239442"/>
              </a:xfrm>
              <a:prstGeom prst="rect">
                <a:avLst/>
              </a:prstGeom>
            </p:spPr>
            <p:txBody>
              <a:bodyPr wrap="square">
                <a:spAutoFit/>
              </a:bodyPr>
              <a:lstStyle/>
              <a:p>
                <a:r>
                  <a:rPr lang="en-US" b="1" dirty="0" smtClean="0">
                    <a:solidFill>
                      <a:srgbClr val="404040"/>
                    </a:solidFill>
                    <a:latin typeface="Times New Roman" panose="02020603050405020304" pitchFamily="18" charset="0"/>
                    <a:cs typeface="Times New Roman" panose="02020603050405020304" pitchFamily="18" charset="0"/>
                  </a:rPr>
                  <a:t>Indicator of Device Health:</a:t>
                </a:r>
                <a:endParaRPr lang="en-US" dirty="0">
                  <a:solidFill>
                    <a:srgbClr val="404040"/>
                  </a:solidFill>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14:m>
                  <m:oMath xmlns:m="http://schemas.openxmlformats.org/officeDocument/2006/math">
                    <m:sSub>
                      <m:sSubPr>
                        <m:ctrlPr>
                          <a:rPr lang="en-US" b="0" i="1" dirty="0" smtClean="0">
                            <a:solidFill>
                              <a:srgbClr val="404040"/>
                            </a:solidFill>
                            <a:latin typeface="Cambria Math" panose="02040503050406030204" pitchFamily="18" charset="0"/>
                            <a:cs typeface="Times New Roman" panose="02020603050405020304" pitchFamily="18" charset="0"/>
                          </a:rPr>
                        </m:ctrlPr>
                      </m:sSubPr>
                      <m:e>
                        <m:r>
                          <a:rPr lang="en-US" i="1" dirty="0" smtClean="0">
                            <a:solidFill>
                              <a:srgbClr val="404040"/>
                            </a:solidFill>
                            <a:latin typeface="Cambria Math" panose="02040503050406030204" pitchFamily="18" charset="0"/>
                            <a:cs typeface="Times New Roman" panose="02020603050405020304" pitchFamily="18" charset="0"/>
                          </a:rPr>
                          <m:t>𝑅</m:t>
                        </m:r>
                      </m:e>
                      <m:sub>
                        <m:r>
                          <a:rPr lang="en-US" i="1" dirty="0" smtClean="0">
                            <a:solidFill>
                              <a:srgbClr val="404040"/>
                            </a:solidFill>
                            <a:latin typeface="Cambria Math" panose="02040503050406030204" pitchFamily="18" charset="0"/>
                            <a:cs typeface="Times New Roman" panose="02020603050405020304" pitchFamily="18" charset="0"/>
                          </a:rPr>
                          <m:t>𝑑𝑠</m:t>
                        </m:r>
                        <m:d>
                          <m:dPr>
                            <m:ctrlPr>
                              <a:rPr lang="en-US" i="1" dirty="0" smtClean="0">
                                <a:solidFill>
                                  <a:srgbClr val="404040"/>
                                </a:solidFill>
                                <a:latin typeface="Cambria Math" panose="02040503050406030204" pitchFamily="18" charset="0"/>
                                <a:cs typeface="Times New Roman" panose="02020603050405020304" pitchFamily="18" charset="0"/>
                              </a:rPr>
                            </m:ctrlPr>
                          </m:dPr>
                          <m:e>
                            <m:r>
                              <a:rPr lang="en-US" i="1" dirty="0" smtClean="0">
                                <a:solidFill>
                                  <a:srgbClr val="404040"/>
                                </a:solidFill>
                                <a:latin typeface="Cambria Math" panose="02040503050406030204" pitchFamily="18" charset="0"/>
                                <a:cs typeface="Times New Roman" panose="02020603050405020304" pitchFamily="18" charset="0"/>
                              </a:rPr>
                              <m:t>𝑜𝑛</m:t>
                            </m:r>
                          </m:e>
                        </m:d>
                      </m:sub>
                    </m:sSub>
                  </m:oMath>
                </a14:m>
                <a:r>
                  <a:rPr lang="en-US" dirty="0" smtClean="0">
                    <a:solidFill>
                      <a:srgbClr val="404040"/>
                    </a:solidFill>
                    <a:latin typeface="Times New Roman" panose="02020603050405020304" pitchFamily="18" charset="0"/>
                    <a:cs typeface="Times New Roman" panose="02020603050405020304" pitchFamily="18" charset="0"/>
                  </a:rPr>
                  <a:t>​ </a:t>
                </a:r>
                <a:r>
                  <a:rPr lang="en-US" dirty="0">
                    <a:solidFill>
                      <a:srgbClr val="404040"/>
                    </a:solidFill>
                    <a:latin typeface="Times New Roman" panose="02020603050405020304" pitchFamily="18" charset="0"/>
                    <a:cs typeface="Times New Roman" panose="02020603050405020304" pitchFamily="18" charset="0"/>
                  </a:rPr>
                  <a:t> increases with gate-oxide degradation, bond-wire faults, and thermal aging, serving as an early warning for failure.</a:t>
                </a:r>
              </a:p>
              <a:p>
                <a:pPr marL="742950" lvl="1" indent="-285750">
                  <a:buFont typeface="Arial" panose="020B0604020202020204" pitchFamily="34" charset="0"/>
                  <a:buChar char="•"/>
                </a:pPr>
                <a:r>
                  <a:rPr lang="en-US" dirty="0">
                    <a:solidFill>
                      <a:srgbClr val="404040"/>
                    </a:solidFill>
                    <a:latin typeface="Times New Roman" panose="02020603050405020304" pitchFamily="18" charset="0"/>
                    <a:cs typeface="Times New Roman" panose="02020603050405020304" pitchFamily="18" charset="0"/>
                  </a:rPr>
                  <a:t>Example: A 15–125% rise in </a:t>
                </a:r>
                <a14:m>
                  <m:oMath xmlns:m="http://schemas.openxmlformats.org/officeDocument/2006/math">
                    <m:sSub>
                      <m:sSubPr>
                        <m:ctrlPr>
                          <a:rPr lang="en-US" i="1" dirty="0">
                            <a:solidFill>
                              <a:srgbClr val="404040"/>
                            </a:solidFill>
                            <a:latin typeface="Cambria Math" panose="02040503050406030204" pitchFamily="18" charset="0"/>
                            <a:cs typeface="Times New Roman" panose="02020603050405020304" pitchFamily="18" charset="0"/>
                          </a:rPr>
                        </m:ctrlPr>
                      </m:sSubPr>
                      <m:e>
                        <m:r>
                          <a:rPr lang="en-US" i="1" dirty="0">
                            <a:solidFill>
                              <a:srgbClr val="404040"/>
                            </a:solidFill>
                            <a:latin typeface="Cambria Math" panose="02040503050406030204" pitchFamily="18" charset="0"/>
                            <a:cs typeface="Times New Roman" panose="02020603050405020304" pitchFamily="18" charset="0"/>
                          </a:rPr>
                          <m:t>𝑅</m:t>
                        </m:r>
                      </m:e>
                      <m:sub>
                        <m:r>
                          <a:rPr lang="en-US" i="1" dirty="0">
                            <a:solidFill>
                              <a:srgbClr val="404040"/>
                            </a:solidFill>
                            <a:latin typeface="Cambria Math" panose="02040503050406030204" pitchFamily="18" charset="0"/>
                            <a:cs typeface="Times New Roman" panose="02020603050405020304" pitchFamily="18" charset="0"/>
                          </a:rPr>
                          <m:t>𝑑𝑠</m:t>
                        </m:r>
                        <m:d>
                          <m:dPr>
                            <m:ctrlPr>
                              <a:rPr lang="en-US" i="1" dirty="0">
                                <a:solidFill>
                                  <a:srgbClr val="404040"/>
                                </a:solidFill>
                                <a:latin typeface="Cambria Math" panose="02040503050406030204" pitchFamily="18" charset="0"/>
                                <a:cs typeface="Times New Roman" panose="02020603050405020304" pitchFamily="18" charset="0"/>
                              </a:rPr>
                            </m:ctrlPr>
                          </m:dPr>
                          <m:e>
                            <m:r>
                              <a:rPr lang="en-US" i="1" dirty="0">
                                <a:solidFill>
                                  <a:srgbClr val="404040"/>
                                </a:solidFill>
                                <a:latin typeface="Cambria Math" panose="02040503050406030204" pitchFamily="18" charset="0"/>
                                <a:cs typeface="Times New Roman" panose="02020603050405020304" pitchFamily="18" charset="0"/>
                              </a:rPr>
                              <m:t>𝑜𝑛</m:t>
                            </m:r>
                          </m:e>
                        </m:d>
                      </m:sub>
                    </m:sSub>
                  </m:oMath>
                </a14:m>
                <a:r>
                  <a:rPr lang="en-US" dirty="0">
                    <a:solidFill>
                      <a:srgbClr val="404040"/>
                    </a:solidFill>
                    <a:latin typeface="Times New Roman" panose="02020603050405020304" pitchFamily="18" charset="0"/>
                    <a:cs typeface="Times New Roman" panose="02020603050405020304" pitchFamily="18" charset="0"/>
                  </a:rPr>
                  <a:t>​ precedes </a:t>
                </a:r>
                <a:r>
                  <a:rPr lang="en-US" dirty="0" err="1">
                    <a:solidFill>
                      <a:srgbClr val="404040"/>
                    </a:solidFill>
                    <a:latin typeface="Times New Roman" panose="02020603050405020304" pitchFamily="18" charset="0"/>
                    <a:cs typeface="Times New Roman" panose="02020603050405020304" pitchFamily="18" charset="0"/>
                  </a:rPr>
                  <a:t>SiC</a:t>
                </a:r>
                <a:r>
                  <a:rPr lang="en-US" dirty="0">
                    <a:solidFill>
                      <a:srgbClr val="404040"/>
                    </a:solidFill>
                    <a:latin typeface="Times New Roman" panose="02020603050405020304" pitchFamily="18" charset="0"/>
                    <a:cs typeface="Times New Roman" panose="02020603050405020304" pitchFamily="18" charset="0"/>
                  </a:rPr>
                  <a:t> MOSFET </a:t>
                </a:r>
                <a:r>
                  <a:rPr lang="en-US" dirty="0" smtClean="0">
                    <a:solidFill>
                      <a:srgbClr val="404040"/>
                    </a:solidFill>
                    <a:latin typeface="Times New Roman" panose="02020603050405020304" pitchFamily="18" charset="0"/>
                    <a:cs typeface="Times New Roman" panose="02020603050405020304" pitchFamily="18" charset="0"/>
                  </a:rPr>
                  <a:t>failure.</a:t>
                </a:r>
                <a:endParaRPr lang="en-US" b="0" i="0" dirty="0">
                  <a:solidFill>
                    <a:srgbClr val="404040"/>
                  </a:solidFill>
                  <a:effectLst/>
                  <a:latin typeface="Times New Roman" panose="02020603050405020304" pitchFamily="18" charset="0"/>
                  <a:cs typeface="Times New Roman" panose="02020603050405020304" pitchFamily="18" charset="0"/>
                </a:endParaRPr>
              </a:p>
            </p:txBody>
          </p:sp>
        </mc:Choice>
        <mc:Fallback xmlns="">
          <p:sp>
            <p:nvSpPr>
              <p:cNvPr id="8" name="Rectangle 7"/>
              <p:cNvSpPr>
                <a:spLocks noRot="1" noChangeAspect="1" noMove="1" noResize="1" noEditPoints="1" noAdjustHandles="1" noChangeArrowheads="1" noChangeShapeType="1" noTextEdit="1"/>
              </p:cNvSpPr>
              <p:nvPr/>
            </p:nvSpPr>
            <p:spPr>
              <a:xfrm>
                <a:off x="289560" y="1157377"/>
                <a:ext cx="7848600" cy="1239442"/>
              </a:xfrm>
              <a:prstGeom prst="rect">
                <a:avLst/>
              </a:prstGeom>
              <a:blipFill>
                <a:blip r:embed="rId4"/>
                <a:stretch>
                  <a:fillRect l="-699" t="-2956" b="-5419"/>
                </a:stretch>
              </a:blipFill>
            </p:spPr>
            <p:txBody>
              <a:bodyPr/>
              <a:lstStyle/>
              <a:p>
                <a:r>
                  <a:rPr lang="sv-SE">
                    <a:noFill/>
                  </a:rPr>
                  <a:t> </a:t>
                </a:r>
              </a:p>
            </p:txBody>
          </p:sp>
        </mc:Fallback>
      </mc:AlternateContent>
      <p:sp>
        <p:nvSpPr>
          <p:cNvPr id="10" name="Rectangle 9"/>
          <p:cNvSpPr/>
          <p:nvPr/>
        </p:nvSpPr>
        <p:spPr>
          <a:xfrm>
            <a:off x="413274" y="2429980"/>
            <a:ext cx="7450566" cy="923330"/>
          </a:xfrm>
          <a:prstGeom prst="rect">
            <a:avLst/>
          </a:prstGeom>
        </p:spPr>
        <p:txBody>
          <a:bodyPr wrap="square">
            <a:spAutoFit/>
          </a:bodyPr>
          <a:lstStyle/>
          <a:p>
            <a:r>
              <a:rPr lang="en-US" b="1" dirty="0">
                <a:solidFill>
                  <a:srgbClr val="404040"/>
                </a:solidFill>
                <a:latin typeface="Times New Roman" panose="02020603050405020304" pitchFamily="18" charset="0"/>
                <a:cs typeface="Times New Roman" panose="02020603050405020304" pitchFamily="18" charset="0"/>
              </a:rPr>
              <a:t>Fault </a:t>
            </a:r>
            <a:r>
              <a:rPr lang="en-US" b="1" dirty="0" smtClean="0">
                <a:solidFill>
                  <a:srgbClr val="404040"/>
                </a:solidFill>
                <a:latin typeface="Times New Roman" panose="02020603050405020304" pitchFamily="18" charset="0"/>
                <a:cs typeface="Times New Roman" panose="02020603050405020304" pitchFamily="18" charset="0"/>
              </a:rPr>
              <a:t>Prevention:</a:t>
            </a:r>
            <a:endParaRPr lang="en-US" dirty="0" smtClean="0">
              <a:solidFill>
                <a:srgbClr val="404040"/>
              </a:solidFill>
              <a:latin typeface="Times New Roman" panose="02020603050405020304" pitchFamily="18" charset="0"/>
              <a:cs typeface="Times New Roman" panose="02020603050405020304" pitchFamily="18" charset="0"/>
            </a:endParaRPr>
          </a:p>
          <a:p>
            <a:pPr lvl="1"/>
            <a:r>
              <a:rPr lang="en-US" dirty="0" smtClean="0">
                <a:solidFill>
                  <a:srgbClr val="404040"/>
                </a:solidFill>
                <a:latin typeface="Times New Roman" panose="02020603050405020304" pitchFamily="18" charset="0"/>
                <a:cs typeface="Times New Roman" panose="02020603050405020304" pitchFamily="18" charset="0"/>
              </a:rPr>
              <a:t>Detects </a:t>
            </a:r>
            <a:r>
              <a:rPr lang="en-US" dirty="0">
                <a:solidFill>
                  <a:srgbClr val="404040"/>
                </a:solidFill>
                <a:latin typeface="Times New Roman" panose="02020603050405020304" pitchFamily="18" charset="0"/>
                <a:cs typeface="Times New Roman" panose="02020603050405020304" pitchFamily="18" charset="0"/>
              </a:rPr>
              <a:t>chip- and package-level defects (e.g., solder cracks, oxide traps) before catastrophic failure.</a:t>
            </a:r>
            <a:endParaRPr lang="en-US" b="0" i="0" dirty="0">
              <a:solidFill>
                <a:srgbClr val="404040"/>
              </a:solidFill>
              <a:effectLst/>
              <a:latin typeface="Times New Roman" panose="02020603050405020304" pitchFamily="18" charset="0"/>
              <a:cs typeface="Times New Roman" panose="02020603050405020304" pitchFamily="18" charset="0"/>
            </a:endParaRPr>
          </a:p>
        </p:txBody>
      </p:sp>
      <p:sp>
        <p:nvSpPr>
          <p:cNvPr id="11" name="Rectangle 10"/>
          <p:cNvSpPr/>
          <p:nvPr/>
        </p:nvSpPr>
        <p:spPr>
          <a:xfrm>
            <a:off x="8577074" y="4161610"/>
            <a:ext cx="2632452" cy="584775"/>
          </a:xfrm>
          <a:prstGeom prst="rect">
            <a:avLst/>
          </a:prstGeom>
        </p:spPr>
        <p:txBody>
          <a:bodyPr wrap="none">
            <a:spAutoFit/>
          </a:bodyPr>
          <a:lstStyle/>
          <a:p>
            <a:r>
              <a:rPr lang="en-US" sz="1600" dirty="0" smtClean="0">
                <a:latin typeface="Times New Roman" panose="02020603050405020304" pitchFamily="18" charset="0"/>
                <a:cs typeface="Times New Roman" panose="02020603050405020304" pitchFamily="18" charset="0"/>
              </a:rPr>
              <a:t>Fig: Intelligent </a:t>
            </a:r>
            <a:r>
              <a:rPr lang="en-US" sz="1600" dirty="0">
                <a:latin typeface="Times New Roman" panose="02020603050405020304" pitchFamily="18" charset="0"/>
                <a:cs typeface="Times New Roman" panose="02020603050405020304" pitchFamily="18" charset="0"/>
              </a:rPr>
              <a:t>Gate </a:t>
            </a:r>
            <a:r>
              <a:rPr lang="en-US" sz="1600" dirty="0" smtClean="0">
                <a:latin typeface="Times New Roman" panose="02020603050405020304" pitchFamily="18" charset="0"/>
                <a:cs typeface="Times New Roman" panose="02020603050405020304" pitchFamily="18" charset="0"/>
              </a:rPr>
              <a:t>Drivers: </a:t>
            </a:r>
          </a:p>
          <a:p>
            <a:r>
              <a:rPr lang="en-US" sz="1600" dirty="0" err="1" smtClean="0">
                <a:latin typeface="Times New Roman" panose="02020603050405020304" pitchFamily="18" charset="0"/>
                <a:cs typeface="Times New Roman" panose="02020603050405020304" pitchFamily="18" charset="0"/>
              </a:rPr>
              <a:t>Sensing,control</a:t>
            </a:r>
            <a:r>
              <a:rPr lang="en-US" sz="1600" dirty="0" smtClean="0">
                <a:latin typeface="Times New Roman" panose="02020603050405020304" pitchFamily="18" charset="0"/>
                <a:cs typeface="Times New Roman" panose="02020603050405020304" pitchFamily="18" charset="0"/>
              </a:rPr>
              <a:t>, gate drivers</a:t>
            </a:r>
            <a:endParaRPr lang="sv-SE" sz="1600" dirty="0"/>
          </a:p>
        </p:txBody>
      </p:sp>
      <mc:AlternateContent xmlns:mc="http://schemas.openxmlformats.org/markup-compatibility/2006" xmlns:a14="http://schemas.microsoft.com/office/drawing/2010/main">
        <mc:Choice Requires="a14">
          <p:sp>
            <p:nvSpPr>
              <p:cNvPr id="12" name="Rectangle 11"/>
              <p:cNvSpPr/>
              <p:nvPr/>
            </p:nvSpPr>
            <p:spPr>
              <a:xfrm>
                <a:off x="413274" y="3614945"/>
                <a:ext cx="7724886" cy="665888"/>
              </a:xfrm>
              <a:prstGeom prst="rect">
                <a:avLst/>
              </a:prstGeom>
            </p:spPr>
            <p:txBody>
              <a:bodyPr wrap="square">
                <a:spAutoFit/>
              </a:bodyPr>
              <a:lstStyle/>
              <a:p>
                <a:r>
                  <a:rPr lang="en-US" dirty="0" smtClean="0">
                    <a:solidFill>
                      <a:srgbClr val="404040"/>
                    </a:solidFill>
                    <a:latin typeface="Times New Roman" panose="02020603050405020304" pitchFamily="18" charset="0"/>
                    <a:cs typeface="Times New Roman" panose="02020603050405020304" pitchFamily="18" charset="0"/>
                  </a:rPr>
                  <a:t>High-frequency </a:t>
                </a:r>
                <a:r>
                  <a:rPr lang="en-US" dirty="0">
                    <a:solidFill>
                      <a:srgbClr val="404040"/>
                    </a:solidFill>
                    <a:latin typeface="Times New Roman" panose="02020603050405020304" pitchFamily="18" charset="0"/>
                    <a:cs typeface="Times New Roman" panose="02020603050405020304" pitchFamily="18" charset="0"/>
                  </a:rPr>
                  <a:t>current </a:t>
                </a:r>
                <a:r>
                  <a:rPr lang="en-US" dirty="0" smtClean="0">
                    <a:solidFill>
                      <a:srgbClr val="404040"/>
                    </a:solidFill>
                    <a:latin typeface="Times New Roman" panose="02020603050405020304" pitchFamily="18" charset="0"/>
                    <a:cs typeface="Times New Roman" panose="02020603050405020304" pitchFamily="18" charset="0"/>
                  </a:rPr>
                  <a:t>injection could be utilized to </a:t>
                </a:r>
                <a:r>
                  <a:rPr lang="en-US" dirty="0">
                    <a:solidFill>
                      <a:srgbClr val="404040"/>
                    </a:solidFill>
                    <a:latin typeface="Times New Roman" panose="02020603050405020304" pitchFamily="18" charset="0"/>
                    <a:cs typeface="Times New Roman" panose="02020603050405020304" pitchFamily="18" charset="0"/>
                  </a:rPr>
                  <a:t>isolate </a:t>
                </a:r>
                <a14:m>
                  <m:oMath xmlns:m="http://schemas.openxmlformats.org/officeDocument/2006/math">
                    <m:sSub>
                      <m:sSubPr>
                        <m:ctrlPr>
                          <a:rPr lang="en-US" i="1" dirty="0">
                            <a:solidFill>
                              <a:srgbClr val="404040"/>
                            </a:solidFill>
                            <a:latin typeface="Cambria Math" panose="02040503050406030204" pitchFamily="18" charset="0"/>
                            <a:cs typeface="Times New Roman" panose="02020603050405020304" pitchFamily="18" charset="0"/>
                          </a:rPr>
                        </m:ctrlPr>
                      </m:sSubPr>
                      <m:e>
                        <m:r>
                          <a:rPr lang="en-US" i="1" dirty="0">
                            <a:solidFill>
                              <a:srgbClr val="404040"/>
                            </a:solidFill>
                            <a:latin typeface="Cambria Math" panose="02040503050406030204" pitchFamily="18" charset="0"/>
                            <a:cs typeface="Times New Roman" panose="02020603050405020304" pitchFamily="18" charset="0"/>
                          </a:rPr>
                          <m:t>𝑅</m:t>
                        </m:r>
                      </m:e>
                      <m:sub>
                        <m:r>
                          <a:rPr lang="en-US" i="1" dirty="0">
                            <a:solidFill>
                              <a:srgbClr val="404040"/>
                            </a:solidFill>
                            <a:latin typeface="Cambria Math" panose="02040503050406030204" pitchFamily="18" charset="0"/>
                            <a:cs typeface="Times New Roman" panose="02020603050405020304" pitchFamily="18" charset="0"/>
                          </a:rPr>
                          <m:t>𝑑𝑠</m:t>
                        </m:r>
                        <m:d>
                          <m:dPr>
                            <m:ctrlPr>
                              <a:rPr lang="en-US" i="1" dirty="0">
                                <a:solidFill>
                                  <a:srgbClr val="404040"/>
                                </a:solidFill>
                                <a:latin typeface="Cambria Math" panose="02040503050406030204" pitchFamily="18" charset="0"/>
                                <a:cs typeface="Times New Roman" panose="02020603050405020304" pitchFamily="18" charset="0"/>
                              </a:rPr>
                            </m:ctrlPr>
                          </m:dPr>
                          <m:e>
                            <m:r>
                              <a:rPr lang="en-US" i="1" dirty="0">
                                <a:solidFill>
                                  <a:srgbClr val="404040"/>
                                </a:solidFill>
                                <a:latin typeface="Cambria Math" panose="02040503050406030204" pitchFamily="18" charset="0"/>
                                <a:cs typeface="Times New Roman" panose="02020603050405020304" pitchFamily="18" charset="0"/>
                              </a:rPr>
                              <m:t>𝑜𝑛</m:t>
                            </m:r>
                          </m:e>
                        </m:d>
                      </m:sub>
                    </m:sSub>
                  </m:oMath>
                </a14:m>
                <a:r>
                  <a:rPr lang="en-US" dirty="0" smtClean="0">
                    <a:solidFill>
                      <a:srgbClr val="404040"/>
                    </a:solidFill>
                    <a:latin typeface="Times New Roman" panose="02020603050405020304" pitchFamily="18" charset="0"/>
                    <a:cs typeface="Times New Roman" panose="02020603050405020304" pitchFamily="18" charset="0"/>
                  </a:rPr>
                  <a:t>​​</a:t>
                </a:r>
                <a:r>
                  <a:rPr lang="en-US" dirty="0">
                    <a:solidFill>
                      <a:srgbClr val="404040"/>
                    </a:solidFill>
                    <a:latin typeface="Times New Roman" panose="02020603050405020304" pitchFamily="18" charset="0"/>
                    <a:cs typeface="Times New Roman" panose="02020603050405020304" pitchFamily="18" charset="0"/>
                  </a:rPr>
                  <a:t> from load current, avoiding synchronization and phase-shift </a:t>
                </a:r>
                <a:r>
                  <a:rPr lang="en-US" dirty="0" smtClean="0">
                    <a:solidFill>
                      <a:srgbClr val="404040"/>
                    </a:solidFill>
                    <a:latin typeface="Times New Roman" panose="02020603050405020304" pitchFamily="18" charset="0"/>
                    <a:cs typeface="Times New Roman" panose="02020603050405020304" pitchFamily="18" charset="0"/>
                  </a:rPr>
                  <a:t>errors of the measurement.</a:t>
                </a:r>
                <a:endParaRPr lang="sv-SE" dirty="0">
                  <a:latin typeface="Times New Roman" panose="02020603050405020304" pitchFamily="18" charset="0"/>
                  <a:cs typeface="Times New Roman" panose="02020603050405020304" pitchFamily="18" charset="0"/>
                </a:endParaRPr>
              </a:p>
            </p:txBody>
          </p:sp>
        </mc:Choice>
        <mc:Fallback xmlns="">
          <p:sp>
            <p:nvSpPr>
              <p:cNvPr id="12" name="Rectangle 11"/>
              <p:cNvSpPr>
                <a:spLocks noRot="1" noChangeAspect="1" noMove="1" noResize="1" noEditPoints="1" noAdjustHandles="1" noChangeArrowheads="1" noChangeShapeType="1" noTextEdit="1"/>
              </p:cNvSpPr>
              <p:nvPr/>
            </p:nvSpPr>
            <p:spPr>
              <a:xfrm>
                <a:off x="413274" y="3614945"/>
                <a:ext cx="7724886" cy="665888"/>
              </a:xfrm>
              <a:prstGeom prst="rect">
                <a:avLst/>
              </a:prstGeom>
              <a:blipFill>
                <a:blip r:embed="rId5"/>
                <a:stretch>
                  <a:fillRect l="-710" t="-4587" b="-13761"/>
                </a:stretch>
              </a:blipFill>
            </p:spPr>
            <p:txBody>
              <a:bodyPr/>
              <a:lstStyle/>
              <a:p>
                <a:r>
                  <a:rPr lang="sv-SE">
                    <a:noFill/>
                  </a:rPr>
                  <a:t> </a:t>
                </a:r>
              </a:p>
            </p:txBody>
          </p:sp>
        </mc:Fallback>
      </mc:AlternateContent>
      <p:pic>
        <p:nvPicPr>
          <p:cNvPr id="13" name="Picture 12"/>
          <p:cNvPicPr>
            <a:picLocks noChangeAspect="1"/>
          </p:cNvPicPr>
          <p:nvPr/>
        </p:nvPicPr>
        <p:blipFill>
          <a:blip r:embed="rId6"/>
          <a:stretch>
            <a:fillRect/>
          </a:stretch>
        </p:blipFill>
        <p:spPr>
          <a:xfrm>
            <a:off x="775455" y="4540512"/>
            <a:ext cx="3363102" cy="1206609"/>
          </a:xfrm>
          <a:prstGeom prst="rect">
            <a:avLst/>
          </a:prstGeom>
        </p:spPr>
      </p:pic>
      <p:pic>
        <p:nvPicPr>
          <p:cNvPr id="14" name="Picture 13"/>
          <p:cNvPicPr>
            <a:picLocks noChangeAspect="1"/>
          </p:cNvPicPr>
          <p:nvPr/>
        </p:nvPicPr>
        <p:blipFill>
          <a:blip r:embed="rId7"/>
          <a:stretch>
            <a:fillRect/>
          </a:stretch>
        </p:blipFill>
        <p:spPr>
          <a:xfrm>
            <a:off x="4213860" y="4518707"/>
            <a:ext cx="3262899" cy="1250218"/>
          </a:xfrm>
          <a:prstGeom prst="rect">
            <a:avLst/>
          </a:prstGeom>
        </p:spPr>
      </p:pic>
      <p:sp>
        <p:nvSpPr>
          <p:cNvPr id="15" name="Rectangle 14"/>
          <p:cNvSpPr/>
          <p:nvPr/>
        </p:nvSpPr>
        <p:spPr>
          <a:xfrm>
            <a:off x="151385" y="6219411"/>
            <a:ext cx="9972786" cy="276999"/>
          </a:xfrm>
          <a:prstGeom prst="rect">
            <a:avLst/>
          </a:prstGeom>
        </p:spPr>
        <p:txBody>
          <a:bodyPr wrap="square">
            <a:spAutoFit/>
          </a:bodyPr>
          <a:lstStyle/>
          <a:p>
            <a:r>
              <a:rPr lang="sv-SE" sz="1200" dirty="0"/>
              <a:t>F. </a:t>
            </a:r>
            <a:r>
              <a:rPr lang="sv-SE" sz="1200" dirty="0" err="1"/>
              <a:t>Karakaya</a:t>
            </a:r>
            <a:r>
              <a:rPr lang="sv-SE" sz="1200" dirty="0"/>
              <a:t>, </a:t>
            </a:r>
            <a:r>
              <a:rPr lang="sv-SE" sz="1200" dirty="0" smtClean="0"/>
              <a:t>"</a:t>
            </a:r>
            <a:r>
              <a:rPr lang="sv-SE" sz="1200" dirty="0"/>
              <a:t>An Approach for Online </a:t>
            </a:r>
            <a:r>
              <a:rPr lang="sv-SE" sz="1200" dirty="0" err="1"/>
              <a:t>Estimation</a:t>
            </a:r>
            <a:r>
              <a:rPr lang="sv-SE" sz="1200" dirty="0"/>
              <a:t> </a:t>
            </a:r>
            <a:r>
              <a:rPr lang="sv-SE" sz="1200" dirty="0" err="1"/>
              <a:t>of</a:t>
            </a:r>
            <a:r>
              <a:rPr lang="sv-SE" sz="1200" dirty="0"/>
              <a:t> On-State </a:t>
            </a:r>
            <a:r>
              <a:rPr lang="sv-SE" sz="1200" dirty="0" err="1"/>
              <a:t>Resistance</a:t>
            </a:r>
            <a:r>
              <a:rPr lang="sv-SE" sz="1200" dirty="0"/>
              <a:t> in </a:t>
            </a:r>
            <a:r>
              <a:rPr lang="sv-SE" sz="1200" dirty="0" err="1"/>
              <a:t>SiC</a:t>
            </a:r>
            <a:r>
              <a:rPr lang="sv-SE" sz="1200" dirty="0"/>
              <a:t> </a:t>
            </a:r>
            <a:r>
              <a:rPr lang="sv-SE" sz="1200" dirty="0" err="1"/>
              <a:t>MOSFETs</a:t>
            </a:r>
            <a:r>
              <a:rPr lang="sv-SE" sz="1200" dirty="0"/>
              <a:t> </a:t>
            </a:r>
            <a:r>
              <a:rPr lang="sv-SE" sz="1200" dirty="0" err="1"/>
              <a:t>Without</a:t>
            </a:r>
            <a:r>
              <a:rPr lang="sv-SE" sz="1200" dirty="0"/>
              <a:t> </a:t>
            </a:r>
            <a:r>
              <a:rPr lang="sv-SE" sz="1200" dirty="0" err="1"/>
              <a:t>Current</a:t>
            </a:r>
            <a:r>
              <a:rPr lang="sv-SE" sz="1200" dirty="0"/>
              <a:t> </a:t>
            </a:r>
            <a:r>
              <a:rPr lang="sv-SE" sz="1200" dirty="0" err="1"/>
              <a:t>Measurement</a:t>
            </a:r>
            <a:r>
              <a:rPr lang="sv-SE" sz="1200" dirty="0" smtClean="0"/>
              <a:t>,</a:t>
            </a:r>
            <a:endParaRPr lang="sv-SE" sz="1200" dirty="0"/>
          </a:p>
        </p:txBody>
      </p:sp>
      <p:sp>
        <p:nvSpPr>
          <p:cNvPr id="17" name="Rectangle 16"/>
          <p:cNvSpPr/>
          <p:nvPr/>
        </p:nvSpPr>
        <p:spPr>
          <a:xfrm>
            <a:off x="151385" y="6434837"/>
            <a:ext cx="4464684" cy="276999"/>
          </a:xfrm>
          <a:prstGeom prst="rect">
            <a:avLst/>
          </a:prstGeom>
        </p:spPr>
        <p:txBody>
          <a:bodyPr wrap="none">
            <a:spAutoFit/>
          </a:bodyPr>
          <a:lstStyle/>
          <a:p>
            <a:r>
              <a:rPr lang="sv-SE" sz="1200" dirty="0">
                <a:latin typeface="Times New Roman" panose="02020603050405020304" pitchFamily="18" charset="0"/>
                <a:cs typeface="Times New Roman" panose="02020603050405020304" pitchFamily="18" charset="0"/>
              </a:rPr>
              <a:t>Jochen </a:t>
            </a:r>
            <a:r>
              <a:rPr lang="sv-SE" sz="1200" dirty="0" err="1" smtClean="0">
                <a:latin typeface="Times New Roman" panose="02020603050405020304" pitchFamily="18" charset="0"/>
                <a:cs typeface="Times New Roman" panose="02020603050405020304" pitchFamily="18" charset="0"/>
              </a:rPr>
              <a:t>Henn</a:t>
            </a:r>
            <a:r>
              <a:rPr lang="sv-SE" sz="1200" dirty="0" smtClean="0">
                <a:latin typeface="Times New Roman" panose="02020603050405020304" pitchFamily="18" charset="0"/>
                <a:cs typeface="Times New Roman" panose="02020603050405020304" pitchFamily="18" charset="0"/>
              </a:rPr>
              <a:t>, ”Intelligent </a:t>
            </a:r>
            <a:r>
              <a:rPr lang="sv-SE" sz="1200" dirty="0">
                <a:latin typeface="Times New Roman" panose="02020603050405020304" pitchFamily="18" charset="0"/>
                <a:cs typeface="Times New Roman" panose="02020603050405020304" pitchFamily="18" charset="0"/>
              </a:rPr>
              <a:t>Gate Drivers for </a:t>
            </a:r>
            <a:r>
              <a:rPr lang="sv-SE" sz="1200" dirty="0" err="1">
                <a:latin typeface="Times New Roman" panose="02020603050405020304" pitchFamily="18" charset="0"/>
                <a:cs typeface="Times New Roman" panose="02020603050405020304" pitchFamily="18" charset="0"/>
              </a:rPr>
              <a:t>Future</a:t>
            </a:r>
            <a:r>
              <a:rPr lang="sv-SE" sz="1200" dirty="0">
                <a:latin typeface="Times New Roman" panose="02020603050405020304" pitchFamily="18" charset="0"/>
                <a:cs typeface="Times New Roman" panose="02020603050405020304" pitchFamily="18" charset="0"/>
              </a:rPr>
              <a:t> Power </a:t>
            </a:r>
            <a:r>
              <a:rPr lang="sv-SE" sz="1200" dirty="0" err="1" smtClean="0">
                <a:latin typeface="Times New Roman" panose="02020603050405020304" pitchFamily="18" charset="0"/>
                <a:cs typeface="Times New Roman" panose="02020603050405020304" pitchFamily="18" charset="0"/>
              </a:rPr>
              <a:t>Converters</a:t>
            </a:r>
            <a:r>
              <a:rPr lang="sv-SE"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0041352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Outline</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 name="Content Placeholder 1"/>
              <p:cNvSpPr>
                <a:spLocks noGrp="1"/>
              </p:cNvSpPr>
              <p:nvPr>
                <p:ph idx="1"/>
              </p:nvPr>
            </p:nvSpPr>
            <p:spPr>
              <a:xfrm>
                <a:off x="594098" y="1842462"/>
                <a:ext cx="10990263" cy="4453808"/>
              </a:xfrm>
            </p:spPr>
            <p:txBody>
              <a:bodyPr/>
              <a:lstStyle/>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The Effects of the </a:t>
                </a:r>
                <a:r>
                  <a:rPr lang="en-US" sz="2400" dirty="0" err="1" smtClean="0">
                    <a:solidFill>
                      <a:srgbClr val="C0C0C0"/>
                    </a:solidFill>
                    <a:latin typeface="Times New Roman" panose="02020603050405020304" pitchFamily="18" charset="0"/>
                    <a:cs typeface="Times New Roman" panose="02020603050405020304" pitchFamily="18" charset="0"/>
                  </a:rPr>
                  <a:t>Busbar</a:t>
                </a:r>
                <a:r>
                  <a:rPr lang="en-US" sz="2400" dirty="0" smtClean="0">
                    <a:solidFill>
                      <a:srgbClr val="C0C0C0"/>
                    </a:solidFill>
                    <a:latin typeface="Times New Roman" panose="02020603050405020304" pitchFamily="18" charset="0"/>
                    <a:cs typeface="Times New Roman" panose="02020603050405020304" pitchFamily="18" charset="0"/>
                  </a:rPr>
                  <a:t> and Battery Parasitic Inductance</a:t>
                </a:r>
              </a:p>
              <a:p>
                <a:pPr>
                  <a:buFont typeface="Wingdings" panose="05000000000000000000" pitchFamily="2" charset="2"/>
                  <a:buChar char="q"/>
                </a:pPr>
                <a:endParaRPr lang="en-US" sz="2400" dirty="0" smtClean="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Conventional Back-to-Back Inverter Setup </a:t>
                </a:r>
              </a:p>
              <a:p>
                <a:pPr>
                  <a:buFont typeface="Wingdings" panose="05000000000000000000" pitchFamily="2" charset="2"/>
                  <a:buChar char="q"/>
                </a:pPr>
                <a:endParaRPr lang="en-US" sz="2400" dirty="0">
                  <a:solidFill>
                    <a:srgbClr val="C0C0C0"/>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smtClean="0">
                    <a:solidFill>
                      <a:srgbClr val="C0C0C0"/>
                    </a:solidFill>
                    <a:latin typeface="Times New Roman" panose="02020603050405020304" pitchFamily="18" charset="0"/>
                    <a:cs typeface="Times New Roman" panose="02020603050405020304" pitchFamily="18" charset="0"/>
                  </a:rPr>
                  <a:t>Intelligent Gate Driver Measurement Unit: </a:t>
                </a:r>
                <a:r>
                  <a:rPr lang="en-US" sz="2400" dirty="0">
                    <a:solidFill>
                      <a:srgbClr val="C0C0C0"/>
                    </a:solidFill>
                    <a:latin typeface="Times New Roman" panose="02020603050405020304" pitchFamily="18" charset="0"/>
                    <a:cs typeface="Times New Roman" panose="02020603050405020304" pitchFamily="18" charset="0"/>
                  </a:rPr>
                  <a:t>Online </a:t>
                </a:r>
                <a14:m>
                  <m:oMath xmlns:m="http://schemas.openxmlformats.org/officeDocument/2006/math">
                    <m:sSub>
                      <m:sSubPr>
                        <m:ctrlPr>
                          <a:rPr lang="en-US" sz="2400" i="1" dirty="0">
                            <a:solidFill>
                              <a:srgbClr val="C0C0C0"/>
                            </a:solidFill>
                            <a:latin typeface="Cambria Math" panose="02040503050406030204" pitchFamily="18" charset="0"/>
                            <a:cs typeface="Times New Roman" panose="02020603050405020304" pitchFamily="18" charset="0"/>
                          </a:rPr>
                        </m:ctrlPr>
                      </m:sSubPr>
                      <m:e>
                        <m:r>
                          <a:rPr lang="en-US" sz="2400" i="1" dirty="0">
                            <a:solidFill>
                              <a:srgbClr val="C0C0C0"/>
                            </a:solidFill>
                            <a:latin typeface="Cambria Math" panose="02040503050406030204" pitchFamily="18" charset="0"/>
                            <a:cs typeface="Times New Roman" panose="02020603050405020304" pitchFamily="18" charset="0"/>
                          </a:rPr>
                          <m:t>𝑅</m:t>
                        </m:r>
                      </m:e>
                      <m:sub>
                        <m:r>
                          <a:rPr lang="en-US" sz="2400" i="1" dirty="0">
                            <a:solidFill>
                              <a:srgbClr val="C0C0C0"/>
                            </a:solidFill>
                            <a:latin typeface="Cambria Math" panose="02040503050406030204" pitchFamily="18" charset="0"/>
                            <a:cs typeface="Times New Roman" panose="02020603050405020304" pitchFamily="18" charset="0"/>
                          </a:rPr>
                          <m:t>𝑑𝑠</m:t>
                        </m:r>
                      </m:sub>
                    </m:sSub>
                  </m:oMath>
                </a14:m>
                <a:r>
                  <a:rPr lang="en-US" sz="2400" dirty="0">
                    <a:solidFill>
                      <a:srgbClr val="C0C0C0"/>
                    </a:solidFill>
                    <a:latin typeface="Times New Roman" panose="02020603050405020304" pitchFamily="18" charset="0"/>
                    <a:cs typeface="Times New Roman" panose="02020603050405020304" pitchFamily="18" charset="0"/>
                  </a:rPr>
                  <a:t> </a:t>
                </a:r>
                <a:r>
                  <a:rPr lang="en-US" sz="2400" dirty="0" smtClean="0">
                    <a:solidFill>
                      <a:srgbClr val="C0C0C0"/>
                    </a:solidFill>
                    <a:latin typeface="Times New Roman" panose="02020603050405020304" pitchFamily="18" charset="0"/>
                    <a:cs typeface="Times New Roman" panose="02020603050405020304" pitchFamily="18" charset="0"/>
                  </a:rPr>
                  <a:t>Measurement</a:t>
                </a:r>
              </a:p>
              <a:p>
                <a:pPr>
                  <a:buFont typeface="Wingdings" panose="05000000000000000000" pitchFamily="2" charset="2"/>
                  <a:buChar char="q"/>
                </a:pPr>
                <a:endParaRPr lang="en-US" sz="2400" dirty="0">
                  <a:latin typeface="Times New Roman" panose="02020603050405020304" pitchFamily="18" charset="0"/>
                  <a:cs typeface="Times New Roman" panose="02020603050405020304" pitchFamily="18" charset="0"/>
                </a:endParaRPr>
              </a:p>
              <a:p>
                <a:pPr>
                  <a:buFont typeface="Wingdings" panose="05000000000000000000" pitchFamily="2" charset="2"/>
                  <a:buChar char="q"/>
                </a:pPr>
                <a:r>
                  <a:rPr lang="en-US" sz="2400" dirty="0">
                    <a:latin typeface="Times New Roman" panose="02020603050405020304" pitchFamily="18" charset="0"/>
                    <a:cs typeface="Times New Roman" panose="02020603050405020304" pitchFamily="18" charset="0"/>
                  </a:rPr>
                  <a:t>ECCE-Europe Paper Digest</a:t>
                </a:r>
              </a:p>
              <a:p>
                <a:pPr marL="0" indent="0">
                  <a:buNone/>
                </a:pPr>
                <a:endParaRPr lang="en-US" sz="2400" dirty="0" smtClean="0">
                  <a:solidFill>
                    <a:schemeClr val="tx1"/>
                  </a:solidFill>
                  <a:latin typeface="Times New Roman" panose="02020603050405020304" pitchFamily="18" charset="0"/>
                  <a:cs typeface="Times New Roman" panose="02020603050405020304" pitchFamily="18" charset="0"/>
                </a:endParaRPr>
              </a:p>
              <a:p>
                <a:pPr>
                  <a:buFont typeface="Wingdings" panose="05000000000000000000" pitchFamily="2" charset="2"/>
                  <a:buChar char="q"/>
                </a:pPr>
                <a:endParaRPr lang="en-US" dirty="0" smtClean="0"/>
              </a:p>
            </p:txBody>
          </p:sp>
        </mc:Choice>
        <mc:Fallback>
          <p:sp>
            <p:nvSpPr>
              <p:cNvPr id="2" name="Content Placeholder 1"/>
              <p:cNvSpPr>
                <a:spLocks noGrp="1" noRot="1" noChangeAspect="1" noMove="1" noResize="1" noEditPoints="1" noAdjustHandles="1" noChangeArrowheads="1" noChangeShapeType="1" noTextEdit="1"/>
              </p:cNvSpPr>
              <p:nvPr>
                <p:ph idx="1"/>
              </p:nvPr>
            </p:nvSpPr>
            <p:spPr>
              <a:xfrm>
                <a:off x="594098" y="1842462"/>
                <a:ext cx="10990263" cy="4453808"/>
              </a:xfrm>
              <a:blipFill>
                <a:blip r:embed="rId2"/>
                <a:stretch>
                  <a:fillRect l="-721" t="-1915"/>
                </a:stretch>
              </a:blipFill>
            </p:spPr>
            <p:txBody>
              <a:bodyPr/>
              <a:lstStyle/>
              <a:p>
                <a:r>
                  <a:rPr lang="sv-SE">
                    <a:noFill/>
                  </a:rPr>
                  <a:t> </a:t>
                </a:r>
              </a:p>
            </p:txBody>
          </p:sp>
        </mc:Fallback>
      </mc:AlternateContent>
    </p:spTree>
    <p:extLst>
      <p:ext uri="{BB962C8B-B14F-4D97-AF65-F5344CB8AC3E}">
        <p14:creationId xmlns:p14="http://schemas.microsoft.com/office/powerpoint/2010/main" val="34791090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p:cNvPicPr>
            <a:picLocks noChangeAspect="1"/>
          </p:cNvPicPr>
          <p:nvPr/>
        </p:nvPicPr>
        <p:blipFill>
          <a:blip r:embed="rId2"/>
          <a:stretch>
            <a:fillRect/>
          </a:stretch>
        </p:blipFill>
        <p:spPr>
          <a:xfrm>
            <a:off x="199009" y="1517570"/>
            <a:ext cx="3321431" cy="2303939"/>
          </a:xfrm>
          <a:prstGeom prst="rect">
            <a:avLst/>
          </a:prstGeom>
        </p:spPr>
      </p:pic>
      <p:pic>
        <p:nvPicPr>
          <p:cNvPr id="12" name="Picture 11"/>
          <p:cNvPicPr>
            <a:picLocks noChangeAspect="1"/>
          </p:cNvPicPr>
          <p:nvPr/>
        </p:nvPicPr>
        <p:blipFill>
          <a:blip r:embed="rId3"/>
          <a:stretch>
            <a:fillRect/>
          </a:stretch>
        </p:blipFill>
        <p:spPr>
          <a:xfrm>
            <a:off x="0" y="4069080"/>
            <a:ext cx="4079495" cy="2122440"/>
          </a:xfrm>
          <a:prstGeom prst="rect">
            <a:avLst/>
          </a:prstGeom>
        </p:spPr>
      </p:pic>
      <p:sp>
        <p:nvSpPr>
          <p:cNvPr id="14" name="Title 1"/>
          <p:cNvSpPr>
            <a:spLocks noGrp="1"/>
          </p:cNvSpPr>
          <p:nvPr>
            <p:ph type="title"/>
          </p:nvPr>
        </p:nvSpPr>
        <p:spPr>
          <a:xfrm>
            <a:off x="984260" y="283592"/>
            <a:ext cx="10990263" cy="568412"/>
          </a:xfrm>
        </p:spPr>
        <p:txBody>
          <a:bodyPr/>
          <a:lstStyle/>
          <a:p>
            <a:pPr algn="ctr"/>
            <a:r>
              <a:rPr lang="en-US" sz="2400" dirty="0"/>
              <a:t>Common-Mode Voltage Reduction in Two-Level Inverters by Introducing Adaptive Carrier-Phase-Shift Method</a:t>
            </a:r>
            <a:endParaRPr lang="sv-SE" sz="2400" dirty="0"/>
          </a:p>
        </p:txBody>
      </p:sp>
      <p:pic>
        <p:nvPicPr>
          <p:cNvPr id="15" name="Picture 14"/>
          <p:cNvPicPr>
            <a:picLocks noChangeAspect="1"/>
          </p:cNvPicPr>
          <p:nvPr/>
        </p:nvPicPr>
        <p:blipFill>
          <a:blip r:embed="rId4"/>
          <a:stretch>
            <a:fillRect/>
          </a:stretch>
        </p:blipFill>
        <p:spPr>
          <a:xfrm>
            <a:off x="4268574" y="1785247"/>
            <a:ext cx="3540505" cy="1350590"/>
          </a:xfrm>
          <a:prstGeom prst="rect">
            <a:avLst/>
          </a:prstGeom>
        </p:spPr>
      </p:pic>
      <p:pic>
        <p:nvPicPr>
          <p:cNvPr id="16" name="Picture 15"/>
          <p:cNvPicPr>
            <a:picLocks noChangeAspect="1"/>
          </p:cNvPicPr>
          <p:nvPr/>
        </p:nvPicPr>
        <p:blipFill>
          <a:blip r:embed="rId5"/>
          <a:stretch>
            <a:fillRect/>
          </a:stretch>
        </p:blipFill>
        <p:spPr>
          <a:xfrm>
            <a:off x="4079495" y="4069080"/>
            <a:ext cx="4835696" cy="2055171"/>
          </a:xfrm>
          <a:prstGeom prst="rect">
            <a:avLst/>
          </a:prstGeom>
        </p:spPr>
      </p:pic>
      <p:pic>
        <p:nvPicPr>
          <p:cNvPr id="17" name="Picture 16"/>
          <p:cNvPicPr>
            <a:picLocks noChangeAspect="1"/>
          </p:cNvPicPr>
          <p:nvPr/>
        </p:nvPicPr>
        <p:blipFill>
          <a:blip r:embed="rId6"/>
          <a:stretch>
            <a:fillRect/>
          </a:stretch>
        </p:blipFill>
        <p:spPr>
          <a:xfrm>
            <a:off x="8158990" y="2774310"/>
            <a:ext cx="3644390" cy="2296372"/>
          </a:xfrm>
          <a:prstGeom prst="rect">
            <a:avLst/>
          </a:prstGeom>
        </p:spPr>
      </p:pic>
    </p:spTree>
    <p:extLst>
      <p:ext uri="{BB962C8B-B14F-4D97-AF65-F5344CB8AC3E}">
        <p14:creationId xmlns:p14="http://schemas.microsoft.com/office/powerpoint/2010/main" val="40893873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a:stretch>
            <a:fillRect/>
          </a:stretch>
        </p:blipFill>
        <p:spPr>
          <a:xfrm>
            <a:off x="984260" y="1808245"/>
            <a:ext cx="3228975" cy="4626210"/>
          </a:xfrm>
          <a:prstGeom prst="rect">
            <a:avLst/>
          </a:prstGeom>
        </p:spPr>
      </p:pic>
      <p:sp>
        <p:nvSpPr>
          <p:cNvPr id="11" name="Title 1"/>
          <p:cNvSpPr>
            <a:spLocks noGrp="1"/>
          </p:cNvSpPr>
          <p:nvPr>
            <p:ph type="title"/>
          </p:nvPr>
        </p:nvSpPr>
        <p:spPr>
          <a:xfrm>
            <a:off x="984260" y="283592"/>
            <a:ext cx="10990263" cy="568412"/>
          </a:xfrm>
        </p:spPr>
        <p:txBody>
          <a:bodyPr/>
          <a:lstStyle/>
          <a:p>
            <a:pPr algn="ctr"/>
            <a:r>
              <a:rPr lang="en-US" sz="2400" dirty="0"/>
              <a:t>Common-Mode Voltage Reduction in Two-Level Inverters by Introducing Adaptive Carrier-Phase-Shift Method</a:t>
            </a:r>
            <a:endParaRPr lang="sv-SE" sz="2400" dirty="0"/>
          </a:p>
        </p:txBody>
      </p:sp>
      <p:pic>
        <p:nvPicPr>
          <p:cNvPr id="12" name="Picture 11"/>
          <p:cNvPicPr>
            <a:picLocks noChangeAspect="1"/>
          </p:cNvPicPr>
          <p:nvPr/>
        </p:nvPicPr>
        <p:blipFill>
          <a:blip r:embed="rId3"/>
          <a:stretch>
            <a:fillRect/>
          </a:stretch>
        </p:blipFill>
        <p:spPr>
          <a:xfrm>
            <a:off x="4612014" y="3850119"/>
            <a:ext cx="3972877" cy="2746895"/>
          </a:xfrm>
          <a:prstGeom prst="rect">
            <a:avLst/>
          </a:prstGeom>
        </p:spPr>
      </p:pic>
      <p:pic>
        <p:nvPicPr>
          <p:cNvPr id="13" name="Picture 12"/>
          <p:cNvPicPr>
            <a:picLocks noChangeAspect="1"/>
          </p:cNvPicPr>
          <p:nvPr/>
        </p:nvPicPr>
        <p:blipFill>
          <a:blip r:embed="rId4"/>
          <a:stretch>
            <a:fillRect/>
          </a:stretch>
        </p:blipFill>
        <p:spPr>
          <a:xfrm>
            <a:off x="4612014" y="1204102"/>
            <a:ext cx="3734753" cy="2796722"/>
          </a:xfrm>
          <a:prstGeom prst="rect">
            <a:avLst/>
          </a:prstGeom>
        </p:spPr>
      </p:pic>
      <p:pic>
        <p:nvPicPr>
          <p:cNvPr id="14" name="Picture 13"/>
          <p:cNvPicPr>
            <a:picLocks noChangeAspect="1"/>
          </p:cNvPicPr>
          <p:nvPr/>
        </p:nvPicPr>
        <p:blipFill>
          <a:blip r:embed="rId5"/>
          <a:stretch>
            <a:fillRect/>
          </a:stretch>
        </p:blipFill>
        <p:spPr>
          <a:xfrm>
            <a:off x="8263591" y="1831317"/>
            <a:ext cx="3510817" cy="2192579"/>
          </a:xfrm>
          <a:prstGeom prst="rect">
            <a:avLst/>
          </a:prstGeom>
        </p:spPr>
      </p:pic>
      <p:pic>
        <p:nvPicPr>
          <p:cNvPr id="15" name="Picture 14"/>
          <p:cNvPicPr>
            <a:picLocks noChangeAspect="1"/>
          </p:cNvPicPr>
          <p:nvPr/>
        </p:nvPicPr>
        <p:blipFill>
          <a:blip r:embed="rId6"/>
          <a:stretch>
            <a:fillRect/>
          </a:stretch>
        </p:blipFill>
        <p:spPr>
          <a:xfrm>
            <a:off x="8371965" y="4121350"/>
            <a:ext cx="3402443" cy="1891976"/>
          </a:xfrm>
          <a:prstGeom prst="rect">
            <a:avLst/>
          </a:prstGeom>
        </p:spPr>
      </p:pic>
    </p:spTree>
    <p:extLst>
      <p:ext uri="{BB962C8B-B14F-4D97-AF65-F5344CB8AC3E}">
        <p14:creationId xmlns:p14="http://schemas.microsoft.com/office/powerpoint/2010/main" val="353960355"/>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8815</TotalTime>
  <Words>1542</Words>
  <Application>Microsoft Office PowerPoint</Application>
  <PresentationFormat>Widescreen</PresentationFormat>
  <Paragraphs>182</Paragraphs>
  <Slides>22</Slides>
  <Notes>0</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Figtree</vt:lpstr>
      <vt:lpstr>Calibri</vt:lpstr>
      <vt:lpstr>Wingdings</vt:lpstr>
      <vt:lpstr>Inter</vt:lpstr>
      <vt:lpstr>Arial</vt:lpstr>
      <vt:lpstr>Cambria Math</vt:lpstr>
      <vt:lpstr>Times New Roman</vt:lpstr>
      <vt:lpstr>Office-tema</vt:lpstr>
      <vt:lpstr>PhD Works</vt:lpstr>
      <vt:lpstr>Outline</vt:lpstr>
      <vt:lpstr>Simplified Inverter Model </vt:lpstr>
      <vt:lpstr>The Aim of Using Impedance Model</vt:lpstr>
      <vt:lpstr>Busbar Geometry 62mm Power Module</vt:lpstr>
      <vt:lpstr>DC Link Current (Positive/Negative/Zero Sequences)</vt:lpstr>
      <vt:lpstr>Without Battery Model</vt:lpstr>
      <vt:lpstr>The Effect of the Battery Connection</vt:lpstr>
      <vt:lpstr>High Frequency Resonance</vt:lpstr>
      <vt:lpstr>Low Frequency Resonance</vt:lpstr>
      <vt:lpstr>Parasitic Inductances (Switching Speed Limitation)</vt:lpstr>
      <vt:lpstr>Parasitic Inductances (Switching Speed Limitation)</vt:lpstr>
      <vt:lpstr>Outline</vt:lpstr>
      <vt:lpstr>Back-to-Back Inverter</vt:lpstr>
      <vt:lpstr>Control: Back-to-Back Inverter</vt:lpstr>
      <vt:lpstr>Inverter Losses</vt:lpstr>
      <vt:lpstr>Phase-Shift Control </vt:lpstr>
      <vt:lpstr>Outline</vt:lpstr>
      <vt:lpstr>Intelligent Gate Drivers: Online R_ds Measurement</vt:lpstr>
      <vt:lpstr>Outline</vt:lpstr>
      <vt:lpstr>Common-Mode Voltage Reduction in Two-Level Inverters by Introducing Adaptive Carrier-Phase-Shift Method</vt:lpstr>
      <vt:lpstr>Common-Mode Voltage Reduction in Two-Level Inverters by Introducing Adaptive Carrier-Phase-Shift Method</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188</cp:revision>
  <dcterms:created xsi:type="dcterms:W3CDTF">2024-01-10T13:17:29Z</dcterms:created>
  <dcterms:modified xsi:type="dcterms:W3CDTF">2025-03-25T14:27:42Z</dcterms:modified>
</cp:coreProperties>
</file>