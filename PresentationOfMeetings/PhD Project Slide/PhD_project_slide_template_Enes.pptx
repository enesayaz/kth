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3"/>
  </p:notesMasterIdLst>
  <p:sldIdLst>
    <p:sldId id="399" r:id="rId2"/>
  </p:sldIdLst>
  <p:sldSz cx="12192000" cy="6858000"/>
  <p:notesSz cx="6858000" cy="9144000"/>
  <p:embeddedFontLst>
    <p:embeddedFont>
      <p:font typeface="Figtree" panose="020B0604020202020204" charset="0"/>
      <p:regular r:id="rId4"/>
      <p:bold r:id="rId5"/>
      <p:italic r:id="rId6"/>
      <p:boldItalic r:id="rId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0A5445-0C1A-4A2F-9E3F-B6152FC0F083}" v="4" dt="2026-04-27T14:28:27.4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484" autoAdjust="0"/>
  </p:normalViewPr>
  <p:slideViewPr>
    <p:cSldViewPr snapToGrid="0">
      <p:cViewPr varScale="1">
        <p:scale>
          <a:sx n="101" d="100"/>
          <a:sy n="101" d="100"/>
        </p:scale>
        <p:origin x="84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font" Target="fonts/font4.fnt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ka Jahn" userId="29771a94-fff3-44ec-8bad-bac199154b6c" providerId="ADAL" clId="{1A7C4A82-BF71-4449-9CE6-82D31565B647}"/>
    <pc:docChg chg="undo custSel addSld delSld modSld">
      <pc:chgData name="Ilka Jahn" userId="29771a94-fff3-44ec-8bad-bac199154b6c" providerId="ADAL" clId="{1A7C4A82-BF71-4449-9CE6-82D31565B647}" dt="2026-04-27T14:28:58.542" v="1410" actId="6549"/>
      <pc:docMkLst>
        <pc:docMk/>
      </pc:docMkLst>
      <pc:sldChg chg="addSp delSp modSp mod">
        <pc:chgData name="Ilka Jahn" userId="29771a94-fff3-44ec-8bad-bac199154b6c" providerId="ADAL" clId="{1A7C4A82-BF71-4449-9CE6-82D31565B647}" dt="2026-04-27T14:28:58.542" v="1410" actId="6549"/>
        <pc:sldMkLst>
          <pc:docMk/>
          <pc:sldMk cId="3488650327" sldId="399"/>
        </pc:sldMkLst>
        <pc:spChg chg="mod">
          <ac:chgData name="Ilka Jahn" userId="29771a94-fff3-44ec-8bad-bac199154b6c" providerId="ADAL" clId="{1A7C4A82-BF71-4449-9CE6-82D31565B647}" dt="2026-04-27T14:28:58.542" v="1410" actId="6549"/>
          <ac:spMkLst>
            <pc:docMk/>
            <pc:sldMk cId="3488650327" sldId="399"/>
            <ac:spMk id="2" creationId="{00000000-0000-0000-0000-000000000000}"/>
          </ac:spMkLst>
        </pc:spChg>
        <pc:spChg chg="add mod">
          <ac:chgData name="Ilka Jahn" userId="29771a94-fff3-44ec-8bad-bac199154b6c" providerId="ADAL" clId="{1A7C4A82-BF71-4449-9CE6-82D31565B647}" dt="2026-04-27T14:28:38.200" v="1377" actId="14100"/>
          <ac:spMkLst>
            <pc:docMk/>
            <pc:sldMk cId="3488650327" sldId="399"/>
            <ac:spMk id="7" creationId="{A1597CCB-864B-0093-6D13-640110CA41C1}"/>
          </ac:spMkLst>
        </pc:spChg>
        <pc:picChg chg="add mod">
          <ac:chgData name="Ilka Jahn" userId="29771a94-fff3-44ec-8bad-bac199154b6c" providerId="ADAL" clId="{1A7C4A82-BF71-4449-9CE6-82D31565B647}" dt="2026-04-27T14:28:27.421" v="1344" actId="1076"/>
          <ac:picMkLst>
            <pc:docMk/>
            <pc:sldMk cId="3488650327" sldId="399"/>
            <ac:picMk id="1026" creationId="{A5E65F9F-9238-CD2C-4710-82A5DE3252C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2026-10-20</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CC966FA6-0959-4367-A5DE-3D0B3CCAB9EA}" type="datetime1">
              <a:rPr lang="en-US" smtClean="0"/>
              <a:t>10/20/2026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5AA699D7-2D72-4EF8-BFD6-CFA47BC26B10}" type="datetime1">
              <a:rPr lang="en-US" smtClean="0"/>
              <a:t>10/20/2026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59C57A92-A5B5-406C-A916-B9499C622432}" type="datetime1">
              <a:rPr lang="en-US" smtClean="0"/>
              <a:t>10/20/2026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1B0DE268-95E9-4B8C-A20F-53B794146675}"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5035EEE-6B18-446F-9951-DB37C6C7EBEA}"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4F0D366-4595-44C1-917A-02E0579DBBF9}"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1D67056-86A9-441F-8FE1-FCE2787F58F7}"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en-US"/>
              <a:t>EES UETP - HVDC course 2025</a:t>
            </a:r>
            <a:endParaRPr lang="sv-SE"/>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D29E9076-27FF-469A-9108-351A6295A4EB}"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D358646-E2AD-4030-B3D2-93C1EC4AAA4D}"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82A49E02-D379-4135-851F-4F5395779AD3}"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451FD635-D995-497D-BB92-BED270999E1E}" type="datetime1">
              <a:rPr lang="en-US" smtClean="0"/>
              <a:t>10/20/2026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en-US"/>
              <a:t>EES UETP - HVDC course 2025</a:t>
            </a:r>
            <a:endParaRPr lang="sv-SE"/>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581BEC10-662A-40EC-A664-E13BF87A2ACE}"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728613F4-7FF9-46BB-BCFA-B13260A1E0E0}"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70CDBF50-D018-4BE3-BBFD-3C7C569B3F20}"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6F658359-4B7E-4703-8F74-22D8883DC160}"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749C592-F4B1-4738-A0E3-F06BD605270F}"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D9BFEBBF-3AC0-4A05-861D-FCF0B7A99410}" type="datetime1">
              <a:rPr lang="en-US" smtClean="0"/>
              <a:t>10/20/2026</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en-US"/>
              <a:t>EES UETP - HVDC course 2025</a:t>
            </a:r>
            <a:endParaRPr lang="sv-SE"/>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BBA67222-A12E-4CF8-931F-DA167591FBD7}" type="datetime1">
              <a:rPr lang="en-US" smtClean="0"/>
              <a:t>10/20/2026</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en-US"/>
              <a:t>EES UETP - HVDC course 2025</a:t>
            </a:r>
            <a:endParaRPr lang="sv-SE"/>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12224A0-91DB-4DC0-B39F-AECABED02142}"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01E837C-B793-49CC-B5DA-9EBFE4ADC3BB}"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549A268D-1881-4746-AC5E-32DE28CB4AD1}"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CE1D39F-0716-487E-8FFA-60F228C6FBFD}"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D0077EDB-80AF-4AF7-B33E-1CC77AFA0C10}"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30781C7B-B9B0-440A-BFF2-8B7F93139CBD}"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FEDA95-5AD1-4EEA-9AA8-5CCBD54C0EFA}"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CC4E23CE-131B-42FC-B110-B8CD74D67A5C}"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4DB3B853-813B-4721-86DC-D9C1B568A0C8}" type="datetime1">
              <a:rPr lang="en-US" smtClean="0"/>
              <a:t>10/20/2026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D9406A46-2EC7-4538-9AE4-2A1A1DB8D797}"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7D5000A-88FA-4F96-9988-9CEFFAD1CC25}"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290177B1-3FBF-4BD2-BE3D-EA87BE4D0239}"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BFBF1D45-36AA-4ECA-A371-BB9B1DEA54C8}"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99F29C76-60BE-4CAC-9F50-66FFE9728D2D}"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61BC0E4F-C1BC-4095-9086-517282F213D8}"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D09DE8C-4E5D-4475-8CB4-883E995E8AE0}" type="datetime1">
              <a:rPr lang="en-US" smtClean="0"/>
              <a:t>10/20/2026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en-US"/>
              <a:t>EES UETP - HVDC course 2025</a:t>
            </a:r>
            <a:endParaRPr lang="sv-SE"/>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5C84D5EA-31D1-4963-8413-98501BA531D1}" type="datetime1">
              <a:rPr lang="en-US" smtClean="0"/>
              <a:t>10/20/2026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04F6302F-0934-48F3-8F5A-6545DEEB296C}" type="datetime1">
              <a:rPr lang="en-US" smtClean="0"/>
              <a:t>10/20/2026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0DA479CF-C439-4CB7-A317-BE14A813FA95}" type="datetime1">
              <a:rPr lang="en-US" smtClean="0"/>
              <a:t>10/20/2026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4660DBA6-76EA-4A33-B12D-70B7891DC132}" type="datetime1">
              <a:rPr lang="en-US" smtClean="0"/>
              <a:t>10/20/2026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061195FE-CBC6-4DDB-8112-7E2D7EF2E46D}" type="datetime1">
              <a:rPr lang="en-US" smtClean="0"/>
              <a:t>10/20/2026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F8503A37-38B2-4E72-B338-6AD0A8C82251}" type="datetime1">
              <a:rPr lang="en-US" smtClean="0"/>
              <a:t>10/20/2026</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en-US"/>
              <a:t>EES UETP - HVDC course 2025</a:t>
            </a:r>
            <a:endParaRPr lang="sv-SE"/>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D9987A98-C946-42F7-8256-69D0A72C8974}"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EES UETP - HVDC course 2025</a:t>
            </a:r>
            <a:endParaRPr lang="sv-SE" dirty="0"/>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cxnSp>
        <p:nvCxnSpPr>
          <p:cNvPr id="8" name="Straight Connector 7"/>
          <p:cNvCxnSpPr/>
          <p:nvPr userDrawn="1"/>
        </p:nvCxnSpPr>
        <p:spPr>
          <a:xfrm flipV="1">
            <a:off x="1006764" y="917968"/>
            <a:ext cx="10583574" cy="1267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600075" y="6326151"/>
            <a:ext cx="1099026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248EAC1D-B110-4EC8-8D1F-6FBBDF5257B7}" type="datetime1">
              <a:rPr lang="en-US" smtClean="0"/>
              <a:t>10/20/2026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en-US"/>
              <a:t>EES UETP - HVDC course 2025</a:t>
            </a:r>
            <a:endParaRPr lang="sv-SE"/>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CB519618-699C-436D-8856-0972ABB80431}" type="datetime1">
              <a:rPr lang="en-US" smtClean="0"/>
              <a:t>10/20/2026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54B679-1F61-4901-B91A-CB4A6EABAE1D}" type="datetime1">
              <a:rPr lang="en-US" smtClean="0"/>
              <a:t>10/20/2026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en-US"/>
              <a:t>EES UETP - HVDC course 2025</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BAABDD9B-D20F-42BA-A370-A0BAEF68A3D4}" type="datetime1">
              <a:rPr lang="en-US" smtClean="0"/>
              <a:t>10/20/2026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ED6DDDF8-2CF1-4886-9B88-712001D3C63A}" type="datetime1">
              <a:rPr lang="en-US" smtClean="0"/>
              <a:t>10/20/2026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E11B6135-1370-4A4B-8FFB-471E334772FE}" type="datetime1">
              <a:rPr lang="en-US" smtClean="0"/>
              <a:t>10/20/2026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en-US"/>
              <a:t>EES UETP - HVDC course 2025</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76527E23-77F7-435E-BB99-F5F4AA7BC818}" type="datetime1">
              <a:rPr lang="en-US" smtClean="0"/>
              <a:t>10/20/2026</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en-US"/>
              <a:t>EES UETP - HVDC course 2025</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hdr="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41.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roject card"/>
          <p:cNvSpPr/>
          <p:nvPr/>
        </p:nvSpPr>
        <p:spPr>
          <a:xfrm>
            <a:off x="584442" y="1021738"/>
            <a:ext cx="6766560" cy="2057400"/>
          </a:xfrm>
          <a:prstGeom prst="roundRect">
            <a:avLst>
              <a:gd name="adj" fmla="val 6000"/>
            </a:avLst>
          </a:prstGeom>
          <a:solidFill>
            <a:schemeClr val="accent4"/>
          </a:solidFill>
          <a:ln>
            <a:noFill/>
          </a:ln>
        </p:spPr>
        <p:txBody>
          <a:bodyPr wrap="square" lIns="182880" tIns="137160" rIns="182880" bIns="109728" rtlCol="0" anchor="t">
            <a:noAutofit/>
          </a:bodyPr>
          <a:lstStyle/>
          <a:p>
            <a:pPr marL="0" indent="0" algn="l">
              <a:lnSpc>
                <a:spcPct val="100000"/>
              </a:lnSpc>
              <a:spcBef>
                <a:spcPts val="0"/>
              </a:spcBef>
              <a:spcAft>
                <a:spcPts val="200"/>
              </a:spcAft>
              <a:buNone/>
            </a:pPr>
            <a:r>
              <a:rPr lang="en-US" sz="1100" b="1" dirty="0">
                <a:solidFill>
                  <a:schemeClr val="tx2"/>
                </a:solidFill>
                <a:latin typeface="+mn-lt"/>
              </a:rPr>
              <a:t>THE PROJECT</a:t>
            </a:r>
          </a:p>
          <a:p>
            <a:pPr algn="just">
              <a:spcBef>
                <a:spcPts val="400"/>
              </a:spcBef>
            </a:pPr>
            <a:r>
              <a:rPr lang="en-US" sz="1300" b="1" dirty="0">
                <a:solidFill>
                  <a:schemeClr val="accent1"/>
                </a:solidFill>
                <a:latin typeface="+mn-lt"/>
              </a:rPr>
              <a:t>Background  </a:t>
            </a:r>
            <a:r>
              <a:rPr lang="sv-SE" sz="1300" dirty="0"/>
              <a:t>Higher DC-</a:t>
            </a:r>
            <a:r>
              <a:rPr lang="sv-SE" sz="1300" dirty="0" err="1"/>
              <a:t>link</a:t>
            </a:r>
            <a:r>
              <a:rPr lang="sv-SE" sz="1300" dirty="0"/>
              <a:t> </a:t>
            </a:r>
            <a:r>
              <a:rPr lang="sv-SE" sz="1300" dirty="0" err="1"/>
              <a:t>voltages</a:t>
            </a:r>
            <a:r>
              <a:rPr lang="sv-SE" sz="1300" dirty="0"/>
              <a:t> offer </a:t>
            </a:r>
            <a:r>
              <a:rPr lang="sv-SE" sz="1300" dirty="0" err="1"/>
              <a:t>opportunities</a:t>
            </a:r>
            <a:r>
              <a:rPr lang="sv-SE" sz="1300" dirty="0"/>
              <a:t> to </a:t>
            </a:r>
            <a:r>
              <a:rPr lang="sv-SE" sz="1300" dirty="0" err="1"/>
              <a:t>improve</a:t>
            </a:r>
            <a:r>
              <a:rPr lang="sv-SE" sz="1300" dirty="0"/>
              <a:t> </a:t>
            </a:r>
            <a:r>
              <a:rPr lang="sv-SE" sz="1300" dirty="0" err="1"/>
              <a:t>traction</a:t>
            </a:r>
            <a:r>
              <a:rPr lang="sv-SE" sz="1300" dirty="0"/>
              <a:t>-drive </a:t>
            </a:r>
            <a:r>
              <a:rPr lang="sv-SE" sz="1300" dirty="0" err="1"/>
              <a:t>performance</a:t>
            </a:r>
            <a:r>
              <a:rPr lang="sv-SE" sz="1300" dirty="0"/>
              <a:t> and </a:t>
            </a:r>
            <a:r>
              <a:rPr lang="sv-SE" sz="1300" dirty="0" err="1"/>
              <a:t>enable</a:t>
            </a:r>
            <a:r>
              <a:rPr lang="sv-SE" sz="1300" dirty="0"/>
              <a:t> </a:t>
            </a:r>
            <a:r>
              <a:rPr lang="sv-SE" sz="1300" dirty="0" err="1"/>
              <a:t>high-power</a:t>
            </a:r>
            <a:r>
              <a:rPr lang="sv-SE" sz="1300" dirty="0"/>
              <a:t> </a:t>
            </a:r>
            <a:r>
              <a:rPr lang="sv-SE" sz="1300" dirty="0" err="1"/>
              <a:t>charging</a:t>
            </a:r>
            <a:r>
              <a:rPr lang="sv-SE" sz="1300" dirty="0"/>
              <a:t> for </a:t>
            </a:r>
            <a:r>
              <a:rPr lang="sv-SE" sz="1300" dirty="0" err="1"/>
              <a:t>electric</a:t>
            </a:r>
            <a:r>
              <a:rPr lang="sv-SE" sz="1300" dirty="0"/>
              <a:t> </a:t>
            </a:r>
            <a:r>
              <a:rPr lang="sv-SE" sz="1300" dirty="0" err="1"/>
              <a:t>vehicles</a:t>
            </a:r>
            <a:r>
              <a:rPr lang="sv-SE" sz="1300" dirty="0"/>
              <a:t>.</a:t>
            </a:r>
          </a:p>
          <a:p>
            <a:pPr algn="just">
              <a:spcBef>
                <a:spcPts val="600"/>
              </a:spcBef>
            </a:pPr>
            <a:r>
              <a:rPr lang="en-US" sz="1300" b="1" dirty="0">
                <a:solidFill>
                  <a:schemeClr val="accent1"/>
                </a:solidFill>
                <a:latin typeface="+mn-lt"/>
              </a:rPr>
              <a:t>Challenge  </a:t>
            </a:r>
            <a:r>
              <a:rPr lang="sv-SE" sz="1300" dirty="0" err="1"/>
              <a:t>Increasing</a:t>
            </a:r>
            <a:r>
              <a:rPr lang="sv-SE" sz="1300" dirty="0"/>
              <a:t> </a:t>
            </a:r>
            <a:r>
              <a:rPr lang="sv-SE" sz="1300" dirty="0" err="1"/>
              <a:t>voltage</a:t>
            </a:r>
            <a:r>
              <a:rPr lang="sv-SE" sz="1300" dirty="0"/>
              <a:t> </a:t>
            </a:r>
            <a:r>
              <a:rPr lang="sv-SE" sz="1300" dirty="0" err="1"/>
              <a:t>introduces</a:t>
            </a:r>
            <a:r>
              <a:rPr lang="sv-SE" sz="1300" dirty="0"/>
              <a:t> </a:t>
            </a:r>
            <a:r>
              <a:rPr lang="sv-SE" sz="1300" dirty="0" err="1"/>
              <a:t>tradeoffs</a:t>
            </a:r>
            <a:r>
              <a:rPr lang="sv-SE" sz="1300" dirty="0"/>
              <a:t> </a:t>
            </a:r>
            <a:r>
              <a:rPr lang="sv-SE" sz="1300" dirty="0" err="1"/>
              <a:t>across</a:t>
            </a:r>
            <a:r>
              <a:rPr lang="sv-SE" sz="1300" dirty="0"/>
              <a:t> </a:t>
            </a:r>
            <a:r>
              <a:rPr lang="sv-SE" sz="1300" dirty="0" err="1"/>
              <a:t>charging</a:t>
            </a:r>
            <a:r>
              <a:rPr lang="sv-SE" sz="1300" dirty="0"/>
              <a:t>, </a:t>
            </a:r>
            <a:r>
              <a:rPr lang="sv-SE" sz="1300" dirty="0" err="1"/>
              <a:t>inverter</a:t>
            </a:r>
            <a:r>
              <a:rPr lang="sv-SE" sz="1300" dirty="0"/>
              <a:t> </a:t>
            </a:r>
            <a:r>
              <a:rPr lang="sv-SE" sz="1300" dirty="0" err="1"/>
              <a:t>power</a:t>
            </a:r>
            <a:r>
              <a:rPr lang="sv-SE" sz="1300" dirty="0"/>
              <a:t> </a:t>
            </a:r>
            <a:r>
              <a:rPr lang="sv-SE" sz="1300" dirty="0" err="1"/>
              <a:t>density</a:t>
            </a:r>
            <a:r>
              <a:rPr lang="sv-SE" sz="1300" dirty="0"/>
              <a:t> and </a:t>
            </a:r>
            <a:r>
              <a:rPr lang="sv-SE" sz="1300" dirty="0" err="1"/>
              <a:t>efficiency</a:t>
            </a:r>
            <a:r>
              <a:rPr lang="sv-SE" sz="1300" dirty="0"/>
              <a:t>, common-mode stress, and motor </a:t>
            </a:r>
            <a:r>
              <a:rPr lang="sv-SE" sz="1300" dirty="0" err="1"/>
              <a:t>harmonic</a:t>
            </a:r>
            <a:r>
              <a:rPr lang="sv-SE" sz="1300" dirty="0"/>
              <a:t> </a:t>
            </a:r>
            <a:r>
              <a:rPr lang="sv-SE" sz="1300" dirty="0" err="1"/>
              <a:t>losses</a:t>
            </a:r>
            <a:r>
              <a:rPr lang="sv-SE" sz="1300" dirty="0"/>
              <a:t>.</a:t>
            </a:r>
          </a:p>
          <a:p>
            <a:pPr algn="just">
              <a:spcBef>
                <a:spcPts val="600"/>
              </a:spcBef>
            </a:pPr>
            <a:r>
              <a:rPr lang="en-US" sz="1300" b="1" dirty="0">
                <a:solidFill>
                  <a:schemeClr val="accent1"/>
                </a:solidFill>
                <a:latin typeface="+mn-lt"/>
              </a:rPr>
              <a:t>Goal  </a:t>
            </a:r>
            <a:r>
              <a:rPr lang="sv-SE" sz="1300" dirty="0" err="1"/>
              <a:t>Compare</a:t>
            </a:r>
            <a:r>
              <a:rPr lang="sv-SE" sz="1300" dirty="0"/>
              <a:t> and </a:t>
            </a:r>
            <a:r>
              <a:rPr lang="sv-SE" sz="1300" dirty="0" err="1"/>
              <a:t>evaluate</a:t>
            </a:r>
            <a:r>
              <a:rPr lang="sv-SE" sz="1300" dirty="0"/>
              <a:t> </a:t>
            </a:r>
            <a:r>
              <a:rPr lang="sv-SE" sz="1300" dirty="0" err="1"/>
              <a:t>two-level</a:t>
            </a:r>
            <a:r>
              <a:rPr lang="sv-SE" sz="1300" dirty="0"/>
              <a:t>, </a:t>
            </a:r>
            <a:r>
              <a:rPr lang="sv-SE" sz="1300" dirty="0" err="1"/>
              <a:t>multilevel</a:t>
            </a:r>
            <a:r>
              <a:rPr lang="sv-SE" sz="1300" dirty="0"/>
              <a:t>, and </a:t>
            </a:r>
            <a:r>
              <a:rPr lang="sv-SE" sz="1300" dirty="0" err="1"/>
              <a:t>stacked</a:t>
            </a:r>
            <a:r>
              <a:rPr lang="sv-SE" sz="1300" dirty="0"/>
              <a:t> </a:t>
            </a:r>
            <a:r>
              <a:rPr lang="sv-SE" sz="1300" dirty="0" err="1"/>
              <a:t>polyphase</a:t>
            </a:r>
            <a:r>
              <a:rPr lang="sv-SE" sz="1300" dirty="0"/>
              <a:t> bridge </a:t>
            </a:r>
            <a:r>
              <a:rPr lang="sv-SE" sz="1300" dirty="0" err="1"/>
              <a:t>inverter</a:t>
            </a:r>
            <a:r>
              <a:rPr lang="sv-SE" sz="1300" dirty="0"/>
              <a:t> </a:t>
            </a:r>
            <a:r>
              <a:rPr lang="sv-SE" sz="1300" dirty="0" err="1"/>
              <a:t>topologies</a:t>
            </a:r>
            <a:r>
              <a:rPr lang="sv-SE" sz="1300" dirty="0"/>
              <a:t>, and </a:t>
            </a:r>
            <a:r>
              <a:rPr lang="sv-SE" sz="1300" dirty="0" err="1"/>
              <a:t>jointly</a:t>
            </a:r>
            <a:r>
              <a:rPr lang="sv-SE" sz="1300" dirty="0"/>
              <a:t> </a:t>
            </a:r>
            <a:r>
              <a:rPr lang="sv-SE" sz="1300" dirty="0" err="1"/>
              <a:t>optimize</a:t>
            </a:r>
            <a:r>
              <a:rPr lang="sv-SE" sz="1300" dirty="0"/>
              <a:t> the </a:t>
            </a:r>
            <a:r>
              <a:rPr lang="sv-SE" sz="1300" dirty="0" err="1"/>
              <a:t>inverter</a:t>
            </a:r>
            <a:r>
              <a:rPr lang="sv-SE" sz="1300" dirty="0"/>
              <a:t> and motor for overall </a:t>
            </a:r>
            <a:r>
              <a:rPr lang="sv-SE" sz="1300" dirty="0" err="1"/>
              <a:t>traction</a:t>
            </a:r>
            <a:r>
              <a:rPr lang="sv-SE" sz="1300" dirty="0"/>
              <a:t>-drive </a:t>
            </a:r>
            <a:r>
              <a:rPr lang="sv-SE" sz="1300" dirty="0" err="1"/>
              <a:t>performance</a:t>
            </a:r>
            <a:r>
              <a:rPr lang="sv-SE" sz="1300" dirty="0"/>
              <a:t>.</a:t>
            </a:r>
          </a:p>
          <a:p>
            <a:pPr marL="0" indent="0" algn="l">
              <a:lnSpc>
                <a:spcPct val="100000"/>
              </a:lnSpc>
              <a:spcBef>
                <a:spcPts val="600"/>
              </a:spcBef>
              <a:spcAft>
                <a:spcPts val="0"/>
              </a:spcAft>
              <a:buNone/>
            </a:pPr>
            <a:endParaRPr lang="en-US" sz="1400" b="0" dirty="0">
              <a:solidFill>
                <a:schemeClr val="tx1"/>
              </a:solidFill>
              <a:latin typeface="+mn-lt"/>
            </a:endParaRPr>
          </a:p>
        </p:txBody>
      </p:sp>
      <p:sp>
        <p:nvSpPr>
          <p:cNvPr id="102" name="Done so far"/>
          <p:cNvSpPr/>
          <p:nvPr/>
        </p:nvSpPr>
        <p:spPr>
          <a:xfrm>
            <a:off x="599846" y="3328416"/>
            <a:ext cx="3282696" cy="2130552"/>
          </a:xfrm>
          <a:prstGeom prst="roundRect">
            <a:avLst>
              <a:gd name="adj" fmla="val 6000"/>
            </a:avLst>
          </a:prstGeom>
          <a:solidFill>
            <a:schemeClr val="bg1"/>
          </a:solidFill>
          <a:ln w="12700">
            <a:solidFill>
              <a:schemeClr val="accent2"/>
            </a:solidFill>
          </a:ln>
        </p:spPr>
        <p:txBody>
          <a:bodyPr wrap="square" lIns="182880" tIns="137160" rIns="164592" bIns="109728" rtlCol="0" anchor="t">
            <a:noAutofit/>
          </a:bodyPr>
          <a:lstStyle/>
          <a:p>
            <a:pPr marL="0" indent="0" algn="l">
              <a:lnSpc>
                <a:spcPct val="100000"/>
              </a:lnSpc>
              <a:spcBef>
                <a:spcPts val="0"/>
              </a:spcBef>
              <a:spcAft>
                <a:spcPts val="200"/>
              </a:spcAft>
              <a:buNone/>
            </a:pPr>
            <a:r>
              <a:rPr lang="en-US" sz="1100" b="1" dirty="0">
                <a:solidFill>
                  <a:schemeClr val="tx2"/>
                </a:solidFill>
                <a:latin typeface="+mn-lt"/>
              </a:rPr>
              <a:t>DONE SO FAR</a:t>
            </a:r>
          </a:p>
          <a:p>
            <a:pPr marL="171450" indent="-171450" algn="just">
              <a:lnSpc>
                <a:spcPct val="100000"/>
              </a:lnSpc>
              <a:spcBef>
                <a:spcPts val="500"/>
              </a:spcBef>
              <a:spcAft>
                <a:spcPts val="0"/>
              </a:spcAft>
              <a:buClr>
                <a:schemeClr val="accent1"/>
              </a:buClr>
              <a:buFont typeface="Arial"/>
              <a:buChar char="•"/>
            </a:pPr>
            <a:r>
              <a:rPr lang="en-US" sz="1200" b="0" dirty="0">
                <a:solidFill>
                  <a:schemeClr val="tx1"/>
                </a:solidFill>
                <a:latin typeface="+mn-lt"/>
              </a:rPr>
              <a:t>Reviewed inverter topologies for high-voltage traction drives.</a:t>
            </a:r>
          </a:p>
          <a:p>
            <a:pPr marL="171450" indent="-171450" algn="just">
              <a:lnSpc>
                <a:spcPct val="100000"/>
              </a:lnSpc>
              <a:spcBef>
                <a:spcPts val="500"/>
              </a:spcBef>
              <a:spcAft>
                <a:spcPts val="0"/>
              </a:spcAft>
              <a:buClr>
                <a:schemeClr val="accent1"/>
              </a:buClr>
              <a:buFont typeface="Arial"/>
              <a:buChar char="•"/>
            </a:pPr>
            <a:r>
              <a:rPr lang="en-US" sz="1200" b="0" dirty="0">
                <a:solidFill>
                  <a:schemeClr val="tx1"/>
                </a:solidFill>
                <a:latin typeface="+mn-lt"/>
              </a:rPr>
              <a:t>Compared two-level and three-level inverters with </a:t>
            </a:r>
            <a:r>
              <a:rPr lang="en-US" sz="1200" b="0" dirty="0" err="1">
                <a:solidFill>
                  <a:schemeClr val="tx1"/>
                </a:solidFill>
                <a:latin typeface="+mn-lt"/>
              </a:rPr>
              <a:t>SiC</a:t>
            </a:r>
            <a:r>
              <a:rPr lang="en-US" sz="1200" b="0" dirty="0">
                <a:solidFill>
                  <a:schemeClr val="tx1"/>
                </a:solidFill>
                <a:latin typeface="+mn-lt"/>
              </a:rPr>
              <a:t> MOSFETs.</a:t>
            </a:r>
          </a:p>
          <a:p>
            <a:pPr marL="171450" indent="-171450" algn="just">
              <a:lnSpc>
                <a:spcPct val="100000"/>
              </a:lnSpc>
              <a:spcBef>
                <a:spcPts val="500"/>
              </a:spcBef>
              <a:spcAft>
                <a:spcPts val="0"/>
              </a:spcAft>
              <a:buClr>
                <a:schemeClr val="accent1"/>
              </a:buClr>
              <a:buFont typeface="Arial"/>
              <a:buChar char="•"/>
            </a:pPr>
            <a:r>
              <a:rPr lang="en-US" sz="1200" b="0" dirty="0">
                <a:solidFill>
                  <a:schemeClr val="tx1"/>
                </a:solidFill>
                <a:latin typeface="+mn-lt"/>
              </a:rPr>
              <a:t>Jointly optimized a two-level inverter and motor regarding harmonic losses.</a:t>
            </a:r>
          </a:p>
          <a:p>
            <a:pPr marL="171450" indent="-171450" algn="just">
              <a:lnSpc>
                <a:spcPct val="100000"/>
              </a:lnSpc>
              <a:spcBef>
                <a:spcPts val="500"/>
              </a:spcBef>
              <a:spcAft>
                <a:spcPts val="0"/>
              </a:spcAft>
              <a:buClr>
                <a:schemeClr val="accent1"/>
              </a:buClr>
              <a:buFont typeface="Arial"/>
              <a:buChar char="•"/>
            </a:pPr>
            <a:r>
              <a:rPr lang="en-US" sz="1200" b="0" dirty="0">
                <a:solidFill>
                  <a:schemeClr val="tx1"/>
                </a:solidFill>
                <a:latin typeface="+mn-lt"/>
              </a:rPr>
              <a:t>Built an 2-level inverter prototype and experimentally validated the design.</a:t>
            </a:r>
          </a:p>
        </p:txBody>
      </p:sp>
      <p:sp>
        <p:nvSpPr>
          <p:cNvPr id="103" name="Ongoing and next"/>
          <p:cNvSpPr/>
          <p:nvPr/>
        </p:nvSpPr>
        <p:spPr>
          <a:xfrm>
            <a:off x="4083710" y="3328416"/>
            <a:ext cx="3282696" cy="2130552"/>
          </a:xfrm>
          <a:prstGeom prst="roundRect">
            <a:avLst>
              <a:gd name="adj" fmla="val 6000"/>
            </a:avLst>
          </a:prstGeom>
          <a:solidFill>
            <a:schemeClr val="bg1"/>
          </a:solidFill>
          <a:ln w="12700">
            <a:solidFill>
              <a:schemeClr val="accent2"/>
            </a:solidFill>
          </a:ln>
        </p:spPr>
        <p:txBody>
          <a:bodyPr wrap="square" lIns="182880" tIns="137160" rIns="164592" bIns="109728" rtlCol="0" anchor="t">
            <a:noAutofit/>
          </a:bodyPr>
          <a:lstStyle/>
          <a:p>
            <a:pPr marL="0" indent="0" algn="l">
              <a:lnSpc>
                <a:spcPct val="100000"/>
              </a:lnSpc>
              <a:spcBef>
                <a:spcPts val="0"/>
              </a:spcBef>
              <a:spcAft>
                <a:spcPts val="200"/>
              </a:spcAft>
              <a:buNone/>
            </a:pPr>
            <a:r>
              <a:rPr lang="en-US" sz="1100" b="1" dirty="0">
                <a:solidFill>
                  <a:schemeClr val="tx2"/>
                </a:solidFill>
                <a:latin typeface="+mn-lt"/>
              </a:rPr>
              <a:t>ONGOING  →  NEXT</a:t>
            </a:r>
          </a:p>
          <a:p>
            <a:pPr marL="171450" indent="-171450" algn="just">
              <a:lnSpc>
                <a:spcPct val="100000"/>
              </a:lnSpc>
              <a:spcBef>
                <a:spcPts val="500"/>
              </a:spcBef>
              <a:spcAft>
                <a:spcPts val="0"/>
              </a:spcAft>
              <a:buClr>
                <a:schemeClr val="accent1"/>
              </a:buClr>
              <a:buFont typeface="Arial"/>
              <a:buChar char="•"/>
            </a:pPr>
            <a:r>
              <a:rPr lang="en-US" sz="1200" b="1" dirty="0">
                <a:solidFill>
                  <a:schemeClr val="tx1"/>
                </a:solidFill>
                <a:latin typeface="+mn-lt"/>
              </a:rPr>
              <a:t>Now: </a:t>
            </a:r>
            <a:r>
              <a:rPr lang="en-US" sz="1200" b="0" dirty="0">
                <a:solidFill>
                  <a:schemeClr val="tx1"/>
                </a:solidFill>
                <a:latin typeface="+mn-lt"/>
              </a:rPr>
              <a:t>Low-voltage </a:t>
            </a:r>
            <a:r>
              <a:rPr lang="en-US" sz="1200" b="0" dirty="0" err="1">
                <a:solidFill>
                  <a:schemeClr val="tx1"/>
                </a:solidFill>
                <a:latin typeface="+mn-lt"/>
              </a:rPr>
              <a:t>GaN</a:t>
            </a:r>
            <a:r>
              <a:rPr lang="en-US" sz="1200" b="0" dirty="0">
                <a:solidFill>
                  <a:schemeClr val="tx1"/>
                </a:solidFill>
                <a:latin typeface="+mn-lt"/>
              </a:rPr>
              <a:t> building-block design for stacked polyphase bridge inverters.</a:t>
            </a:r>
          </a:p>
          <a:p>
            <a:pPr marL="171450" indent="-171450" algn="just">
              <a:lnSpc>
                <a:spcPct val="100000"/>
              </a:lnSpc>
              <a:spcBef>
                <a:spcPts val="500"/>
              </a:spcBef>
              <a:spcAft>
                <a:spcPts val="0"/>
              </a:spcAft>
              <a:buClr>
                <a:schemeClr val="accent1"/>
              </a:buClr>
              <a:buFont typeface="Arial"/>
              <a:buChar char="•"/>
            </a:pPr>
            <a:r>
              <a:rPr lang="en-US" sz="1200" b="1" dirty="0">
                <a:solidFill>
                  <a:schemeClr val="tx1"/>
                </a:solidFill>
                <a:latin typeface="+mn-lt"/>
              </a:rPr>
              <a:t>Next: </a:t>
            </a:r>
            <a:r>
              <a:rPr lang="en-US" sz="1200" b="0" dirty="0">
                <a:solidFill>
                  <a:schemeClr val="tx1"/>
                </a:solidFill>
                <a:latin typeface="+mn-lt"/>
              </a:rPr>
              <a:t>Integrated motor–inverter optimization and experimental validation.</a:t>
            </a:r>
          </a:p>
        </p:txBody>
      </p:sp>
      <p:sp>
        <p:nvSpPr>
          <p:cNvPr id="104" name="Methods label"/>
          <p:cNvSpPr txBox="1"/>
          <p:nvPr/>
        </p:nvSpPr>
        <p:spPr>
          <a:xfrm>
            <a:off x="599846" y="5695325"/>
            <a:ext cx="1600200" cy="502920"/>
          </a:xfrm>
          <a:prstGeom prst="rect">
            <a:avLst/>
          </a:prstGeom>
          <a:noFill/>
          <a:ln>
            <a:noFill/>
          </a:ln>
        </p:spPr>
        <p:txBody>
          <a:bodyPr wrap="square" lIns="0" tIns="0" rIns="0" bIns="0" rtlCol="0" anchor="ctr">
            <a:noAutofit/>
          </a:bodyPr>
          <a:lstStyle/>
          <a:p>
            <a:pPr marL="0" indent="0" algn="l">
              <a:lnSpc>
                <a:spcPct val="100000"/>
              </a:lnSpc>
              <a:spcBef>
                <a:spcPts val="0"/>
              </a:spcBef>
              <a:spcAft>
                <a:spcPts val="0"/>
              </a:spcAft>
              <a:buNone/>
            </a:pPr>
            <a:r>
              <a:rPr lang="en-US" sz="1100" b="1" dirty="0">
                <a:solidFill>
                  <a:schemeClr val="tx2"/>
                </a:solidFill>
                <a:latin typeface="+mn-lt"/>
              </a:rPr>
              <a:t>METHODS &amp; TOOLS</a:t>
            </a:r>
          </a:p>
        </p:txBody>
      </p:sp>
      <p:sp>
        <p:nvSpPr>
          <p:cNvPr id="105" name="Chip FEM simulation"/>
          <p:cNvSpPr/>
          <p:nvPr/>
        </p:nvSpPr>
        <p:spPr>
          <a:xfrm>
            <a:off x="2032026" y="5763905"/>
            <a:ext cx="1292504" cy="365760"/>
          </a:xfrm>
          <a:prstGeom prst="roundRect">
            <a:avLst>
              <a:gd name="adj" fmla="val 50000"/>
            </a:avLst>
          </a:prstGeom>
          <a:solidFill>
            <a:schemeClr val="accent1"/>
          </a:solidFill>
          <a:ln>
            <a:noFill/>
          </a:ln>
        </p:spPr>
        <p:txBody>
          <a:bodyPr wrap="square" lIns="45720" tIns="0" rIns="45720" bIns="0" rtlCol="0" anchor="ctr">
            <a:noAutofit/>
          </a:bodyPr>
          <a:lstStyle/>
          <a:p>
            <a:pPr marL="0" indent="0" algn="ctr">
              <a:lnSpc>
                <a:spcPct val="100000"/>
              </a:lnSpc>
              <a:spcBef>
                <a:spcPts val="0"/>
              </a:spcBef>
              <a:spcAft>
                <a:spcPts val="0"/>
              </a:spcAft>
              <a:buNone/>
            </a:pPr>
            <a:r>
              <a:rPr lang="en-US" sz="1200" b="1" dirty="0">
                <a:solidFill>
                  <a:schemeClr val="bg1"/>
                </a:solidFill>
                <a:latin typeface="+mn-lt"/>
              </a:rPr>
              <a:t>FEM simulation</a:t>
            </a:r>
          </a:p>
        </p:txBody>
      </p:sp>
      <p:sp>
        <p:nvSpPr>
          <p:cNvPr id="106" name="Chip MATLAB/Simulink"/>
          <p:cNvSpPr/>
          <p:nvPr/>
        </p:nvSpPr>
        <p:spPr>
          <a:xfrm>
            <a:off x="4564943" y="5781786"/>
            <a:ext cx="1063904" cy="365760"/>
          </a:xfrm>
          <a:prstGeom prst="roundRect">
            <a:avLst>
              <a:gd name="adj" fmla="val 50000"/>
            </a:avLst>
          </a:prstGeom>
          <a:solidFill>
            <a:schemeClr val="accent1"/>
          </a:solidFill>
          <a:ln>
            <a:noFill/>
          </a:ln>
        </p:spPr>
        <p:txBody>
          <a:bodyPr wrap="square" lIns="45720" tIns="0" rIns="45720" bIns="0" rtlCol="0" anchor="ctr">
            <a:noAutofit/>
          </a:bodyPr>
          <a:lstStyle/>
          <a:p>
            <a:pPr marL="0" indent="0" algn="ctr">
              <a:lnSpc>
                <a:spcPct val="100000"/>
              </a:lnSpc>
              <a:spcBef>
                <a:spcPts val="0"/>
              </a:spcBef>
              <a:spcAft>
                <a:spcPts val="0"/>
              </a:spcAft>
              <a:buNone/>
            </a:pPr>
            <a:r>
              <a:rPr lang="en-US" sz="1200" b="1" dirty="0">
                <a:solidFill>
                  <a:schemeClr val="bg1"/>
                </a:solidFill>
                <a:latin typeface="+mn-lt"/>
              </a:rPr>
              <a:t>MATLAB</a:t>
            </a:r>
          </a:p>
        </p:txBody>
      </p:sp>
      <p:sp>
        <p:nvSpPr>
          <p:cNvPr id="107" name="Chip Particle physics"/>
          <p:cNvSpPr/>
          <p:nvPr/>
        </p:nvSpPr>
        <p:spPr>
          <a:xfrm>
            <a:off x="3386196" y="5768070"/>
            <a:ext cx="1117624" cy="365760"/>
          </a:xfrm>
          <a:prstGeom prst="roundRect">
            <a:avLst>
              <a:gd name="adj" fmla="val 50000"/>
            </a:avLst>
          </a:prstGeom>
          <a:solidFill>
            <a:schemeClr val="accent1"/>
          </a:solidFill>
          <a:ln>
            <a:noFill/>
          </a:ln>
        </p:spPr>
        <p:txBody>
          <a:bodyPr wrap="square" lIns="45720" tIns="0" rIns="45720" bIns="0" rtlCol="0" anchor="ctr">
            <a:noAutofit/>
          </a:bodyPr>
          <a:lstStyle/>
          <a:p>
            <a:pPr marL="0" indent="0" algn="ctr">
              <a:lnSpc>
                <a:spcPct val="100000"/>
              </a:lnSpc>
              <a:spcBef>
                <a:spcPts val="0"/>
              </a:spcBef>
              <a:spcAft>
                <a:spcPts val="0"/>
              </a:spcAft>
              <a:buNone/>
            </a:pPr>
            <a:r>
              <a:rPr lang="en-US" sz="1200" b="1" dirty="0">
                <a:solidFill>
                  <a:schemeClr val="bg1"/>
                </a:solidFill>
                <a:latin typeface="+mn-lt"/>
              </a:rPr>
              <a:t>PCB Design</a:t>
            </a:r>
          </a:p>
        </p:txBody>
      </p:sp>
      <p:sp>
        <p:nvSpPr>
          <p:cNvPr id="109" name="Facts"/>
          <p:cNvSpPr txBox="1"/>
          <p:nvPr/>
        </p:nvSpPr>
        <p:spPr>
          <a:xfrm>
            <a:off x="8635979" y="947928"/>
            <a:ext cx="3251221" cy="1115568"/>
          </a:xfrm>
          <a:prstGeom prst="rect">
            <a:avLst/>
          </a:prstGeom>
          <a:noFill/>
          <a:ln>
            <a:noFill/>
          </a:ln>
        </p:spPr>
        <p:txBody>
          <a:bodyPr wrap="square" lIns="0" tIns="0" rIns="0" bIns="0" rtlCol="0" anchor="ctr">
            <a:noAutofit/>
          </a:bodyPr>
          <a:lstStyle/>
          <a:p>
            <a:pPr marL="0" indent="0" algn="l">
              <a:lnSpc>
                <a:spcPct val="100000"/>
              </a:lnSpc>
              <a:spcBef>
                <a:spcPts val="300"/>
              </a:spcBef>
              <a:spcAft>
                <a:spcPts val="0"/>
              </a:spcAft>
              <a:buNone/>
            </a:pPr>
            <a:r>
              <a:rPr lang="en-US" sz="1200" b="1" dirty="0">
                <a:solidFill>
                  <a:schemeClr val="accent1"/>
                </a:solidFill>
                <a:latin typeface="+mn-lt"/>
              </a:rPr>
              <a:t>Supervisors:  </a:t>
            </a:r>
            <a:r>
              <a:rPr lang="en-US" sz="1200" b="0" dirty="0">
                <a:solidFill>
                  <a:schemeClr val="tx1"/>
                </a:solidFill>
                <a:latin typeface="+mn-lt"/>
              </a:rPr>
              <a:t>Staffan Norrga, Hans-Peter Nee</a:t>
            </a:r>
          </a:p>
          <a:p>
            <a:pPr marL="0" indent="0" algn="l">
              <a:lnSpc>
                <a:spcPct val="100000"/>
              </a:lnSpc>
              <a:spcBef>
                <a:spcPts val="300"/>
              </a:spcBef>
              <a:spcAft>
                <a:spcPts val="0"/>
              </a:spcAft>
              <a:buNone/>
            </a:pPr>
            <a:r>
              <a:rPr lang="en-US" sz="1200" b="1" dirty="0">
                <a:solidFill>
                  <a:schemeClr val="accent1"/>
                </a:solidFill>
                <a:latin typeface="+mn-lt"/>
              </a:rPr>
              <a:t>Period:  </a:t>
            </a:r>
            <a:r>
              <a:rPr lang="en-US" sz="1200" b="0" dirty="0">
                <a:solidFill>
                  <a:schemeClr val="tx1"/>
                </a:solidFill>
                <a:latin typeface="+mn-lt"/>
              </a:rPr>
              <a:t>2023 – 2028</a:t>
            </a:r>
          </a:p>
          <a:p>
            <a:pPr marL="0" indent="0" algn="l">
              <a:lnSpc>
                <a:spcPct val="100000"/>
              </a:lnSpc>
              <a:spcBef>
                <a:spcPts val="300"/>
              </a:spcBef>
              <a:spcAft>
                <a:spcPts val="0"/>
              </a:spcAft>
              <a:buNone/>
            </a:pPr>
            <a:r>
              <a:rPr lang="en-US" sz="1200" b="1" dirty="0">
                <a:solidFill>
                  <a:schemeClr val="accent1"/>
                </a:solidFill>
                <a:latin typeface="+mn-lt"/>
              </a:rPr>
              <a:t>Funding:  </a:t>
            </a:r>
            <a:r>
              <a:rPr lang="en-US" sz="1200" b="0" dirty="0" err="1">
                <a:solidFill>
                  <a:schemeClr val="tx1"/>
                </a:solidFill>
                <a:latin typeface="+mn-lt"/>
              </a:rPr>
              <a:t>Hemizero</a:t>
            </a:r>
            <a:r>
              <a:rPr lang="en-US" sz="1200" b="0" dirty="0">
                <a:solidFill>
                  <a:schemeClr val="tx1"/>
                </a:solidFill>
                <a:latin typeface="+mn-lt"/>
              </a:rPr>
              <a:t> (</a:t>
            </a:r>
            <a:r>
              <a:rPr lang="en-US" sz="1200" b="0" dirty="0" err="1">
                <a:solidFill>
                  <a:schemeClr val="tx1"/>
                </a:solidFill>
                <a:latin typeface="+mn-lt"/>
              </a:rPr>
              <a:t>Vinnova</a:t>
            </a:r>
            <a:r>
              <a:rPr lang="en-US" sz="1200" b="0" dirty="0">
                <a:solidFill>
                  <a:schemeClr val="tx1"/>
                </a:solidFill>
                <a:latin typeface="+mn-lt"/>
              </a:rPr>
              <a:t>), </a:t>
            </a:r>
            <a:r>
              <a:rPr lang="en-US" sz="1200" b="0" dirty="0" err="1">
                <a:solidFill>
                  <a:schemeClr val="tx1"/>
                </a:solidFill>
                <a:latin typeface="+mn-lt"/>
              </a:rPr>
              <a:t>Powerized</a:t>
            </a:r>
            <a:r>
              <a:rPr lang="en-US" sz="1200" b="0" dirty="0">
                <a:solidFill>
                  <a:schemeClr val="tx1"/>
                </a:solidFill>
                <a:latin typeface="+mn-lt"/>
              </a:rPr>
              <a:t> (EU),  Moore4Power (</a:t>
            </a:r>
            <a:r>
              <a:rPr lang="en-US" sz="1200" dirty="0"/>
              <a:t>EU</a:t>
            </a:r>
            <a:r>
              <a:rPr lang="en-US" sz="1200" b="0" dirty="0">
                <a:solidFill>
                  <a:schemeClr val="tx1"/>
                </a:solidFill>
                <a:latin typeface="+mn-lt"/>
              </a:rPr>
              <a:t>)</a:t>
            </a:r>
          </a:p>
          <a:p>
            <a:pPr marL="0" indent="0" algn="l">
              <a:lnSpc>
                <a:spcPct val="100000"/>
              </a:lnSpc>
              <a:spcBef>
                <a:spcPts val="300"/>
              </a:spcBef>
              <a:spcAft>
                <a:spcPts val="0"/>
              </a:spcAft>
              <a:buNone/>
            </a:pPr>
            <a:r>
              <a:rPr lang="en-US" sz="1200" b="1" dirty="0">
                <a:solidFill>
                  <a:schemeClr val="accent1"/>
                </a:solidFill>
                <a:latin typeface="+mn-lt"/>
              </a:rPr>
              <a:t>Partners: </a:t>
            </a:r>
            <a:r>
              <a:rPr lang="en-US" sz="1200" b="0" dirty="0">
                <a:solidFill>
                  <a:schemeClr val="tx1"/>
                </a:solidFill>
                <a:latin typeface="+mn-lt"/>
              </a:rPr>
              <a:t>Scania, </a:t>
            </a:r>
            <a:r>
              <a:rPr lang="en-US" sz="1200" b="0" dirty="0" err="1">
                <a:solidFill>
                  <a:schemeClr val="tx1"/>
                </a:solidFill>
                <a:latin typeface="+mn-lt"/>
              </a:rPr>
              <a:t>Inmotion</a:t>
            </a:r>
            <a:r>
              <a:rPr lang="en-US" sz="1200" b="0" dirty="0">
                <a:solidFill>
                  <a:schemeClr val="tx1"/>
                </a:solidFill>
                <a:latin typeface="+mn-lt"/>
              </a:rPr>
              <a:t>, Infineon, and etc.</a:t>
            </a:r>
          </a:p>
        </p:txBody>
      </p:sp>
      <p:sp>
        <p:nvSpPr>
          <p:cNvPr id="111" name="Figure caption"/>
          <p:cNvSpPr txBox="1"/>
          <p:nvPr/>
        </p:nvSpPr>
        <p:spPr>
          <a:xfrm>
            <a:off x="7622864" y="4025493"/>
            <a:ext cx="2174986"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000" b="0" i="1" dirty="0">
                <a:solidFill>
                  <a:srgbClr val="595959"/>
                </a:solidFill>
                <a:latin typeface="+mn-lt"/>
              </a:rPr>
              <a:t>2-Level High-Voltage VSI Prototype</a:t>
            </a:r>
          </a:p>
        </p:txBody>
      </p:sp>
      <p:sp>
        <p:nvSpPr>
          <p:cNvPr id="112" name="Publications"/>
          <p:cNvSpPr/>
          <p:nvPr/>
        </p:nvSpPr>
        <p:spPr>
          <a:xfrm>
            <a:off x="7427529" y="4227608"/>
            <a:ext cx="4500887" cy="2015913"/>
          </a:xfrm>
          <a:prstGeom prst="roundRect">
            <a:avLst>
              <a:gd name="adj" fmla="val 8000"/>
            </a:avLst>
          </a:prstGeom>
          <a:solidFill>
            <a:schemeClr val="bg1"/>
          </a:solidFill>
          <a:ln w="12700">
            <a:solidFill>
              <a:schemeClr val="accent2"/>
            </a:solidFill>
          </a:ln>
        </p:spPr>
        <p:txBody>
          <a:bodyPr wrap="square" lIns="164592" tIns="91440" rIns="137160" bIns="73152" rtlCol="0" anchor="t">
            <a:noAutofit/>
          </a:bodyPr>
          <a:lstStyle/>
          <a:p>
            <a:pPr marL="0" indent="0" algn="l">
              <a:lnSpc>
                <a:spcPct val="100000"/>
              </a:lnSpc>
              <a:spcBef>
                <a:spcPts val="0"/>
              </a:spcBef>
              <a:spcAft>
                <a:spcPts val="100"/>
              </a:spcAft>
              <a:buNone/>
            </a:pPr>
            <a:r>
              <a:rPr lang="en-US" sz="1100" b="1" dirty="0">
                <a:solidFill>
                  <a:schemeClr val="tx2"/>
                </a:solidFill>
                <a:latin typeface="+mn-lt"/>
              </a:rPr>
              <a:t>PUBLICATIONS</a:t>
            </a:r>
          </a:p>
          <a:p>
            <a:pPr marL="171450" indent="-171450" algn="just">
              <a:lnSpc>
                <a:spcPct val="100000"/>
              </a:lnSpc>
              <a:spcBef>
                <a:spcPts val="300"/>
              </a:spcBef>
              <a:spcAft>
                <a:spcPts val="0"/>
              </a:spcAft>
              <a:buClr>
                <a:schemeClr val="accent1"/>
              </a:buClr>
              <a:buFont typeface="Arial"/>
              <a:buChar char="•"/>
            </a:pPr>
            <a:r>
              <a:rPr lang="en-US" sz="800" b="0" dirty="0">
                <a:solidFill>
                  <a:schemeClr val="tx1"/>
                </a:solidFill>
                <a:latin typeface="+mn-lt"/>
              </a:rPr>
              <a:t>E. Ayaz et al., “DC-Link Voltage Scaling to 1.2 kV for Heavy-Duty EVs: System-Level Assessment with Experimental Validation of </a:t>
            </a:r>
            <a:r>
              <a:rPr lang="en-US" sz="800" b="0" dirty="0" err="1">
                <a:solidFill>
                  <a:schemeClr val="tx1"/>
                </a:solidFill>
                <a:latin typeface="+mn-lt"/>
              </a:rPr>
              <a:t>SiC</a:t>
            </a:r>
            <a:r>
              <a:rPr lang="en-US" sz="800" b="0" dirty="0">
                <a:solidFill>
                  <a:schemeClr val="tx1"/>
                </a:solidFill>
                <a:latin typeface="+mn-lt"/>
              </a:rPr>
              <a:t> Traction Inverter,” IEEE Access, 2026.</a:t>
            </a:r>
          </a:p>
          <a:p>
            <a:pPr marL="171450" indent="-171450" algn="just">
              <a:lnSpc>
                <a:spcPct val="100000"/>
              </a:lnSpc>
              <a:spcBef>
                <a:spcPts val="300"/>
              </a:spcBef>
              <a:spcAft>
                <a:spcPts val="0"/>
              </a:spcAft>
              <a:buClr>
                <a:schemeClr val="accent1"/>
              </a:buClr>
              <a:buFont typeface="Arial"/>
              <a:buChar char="•"/>
            </a:pPr>
            <a:r>
              <a:rPr lang="en-US" sz="800" b="0" dirty="0">
                <a:solidFill>
                  <a:schemeClr val="tx1"/>
                </a:solidFill>
                <a:latin typeface="+mn-lt"/>
              </a:rPr>
              <a:t>E. Ayaz et al., “Real-Time DC-Link Capacitor Stress Reduction in Two-Level Three-Phase Inverters Using Adaptive Multi-Carrier PWM Method,” IPEC–ECCE Asia, 2026.</a:t>
            </a:r>
          </a:p>
          <a:p>
            <a:pPr marL="171450" indent="-171450" algn="just">
              <a:lnSpc>
                <a:spcPct val="100000"/>
              </a:lnSpc>
              <a:spcBef>
                <a:spcPts val="300"/>
              </a:spcBef>
              <a:spcAft>
                <a:spcPts val="0"/>
              </a:spcAft>
              <a:buClr>
                <a:schemeClr val="accent1"/>
              </a:buClr>
              <a:buFont typeface="Arial"/>
              <a:buChar char="•"/>
            </a:pPr>
            <a:r>
              <a:rPr lang="en-US" sz="800" b="0" dirty="0">
                <a:solidFill>
                  <a:schemeClr val="tx1"/>
                </a:solidFill>
                <a:latin typeface="+mn-lt"/>
              </a:rPr>
              <a:t>E. Ayaz et al., “Primary-Side Control of Bipolar Field Excitation System for Pole-Changing Electrically Excited Synchronous Machines,” IEEE Transactions on Industrial Electronics, 2026.</a:t>
            </a:r>
          </a:p>
          <a:p>
            <a:pPr marL="171450" indent="-171450" algn="just">
              <a:lnSpc>
                <a:spcPct val="100000"/>
              </a:lnSpc>
              <a:spcBef>
                <a:spcPts val="300"/>
              </a:spcBef>
              <a:spcAft>
                <a:spcPts val="0"/>
              </a:spcAft>
              <a:buClr>
                <a:schemeClr val="accent1"/>
              </a:buClr>
              <a:buFont typeface="Arial"/>
              <a:buChar char="•"/>
            </a:pPr>
            <a:r>
              <a:rPr lang="en-US" sz="800" b="0" dirty="0">
                <a:solidFill>
                  <a:schemeClr val="tx1"/>
                </a:solidFill>
                <a:latin typeface="+mn-lt"/>
              </a:rPr>
              <a:t>E. Ayaz et al., “Common-Mode Voltage Reduction in Two-Level Inverters by Introducing Adaptive Carrier-Phase-Shift Method,” ECCE Europe, 2025.</a:t>
            </a:r>
          </a:p>
          <a:p>
            <a:pPr marL="171450" indent="-171450" algn="just">
              <a:lnSpc>
                <a:spcPct val="100000"/>
              </a:lnSpc>
              <a:spcBef>
                <a:spcPts val="300"/>
              </a:spcBef>
              <a:spcAft>
                <a:spcPts val="0"/>
              </a:spcAft>
              <a:buClr>
                <a:schemeClr val="accent1"/>
              </a:buClr>
              <a:buFont typeface="Arial"/>
              <a:buChar char="•"/>
            </a:pPr>
            <a:r>
              <a:rPr lang="en-US" sz="800" b="0" dirty="0">
                <a:solidFill>
                  <a:schemeClr val="tx1"/>
                </a:solidFill>
                <a:latin typeface="+mn-lt"/>
              </a:rPr>
              <a:t>E. Ayaz et al., “Evaluation of Possible Traction Inverter Topologies for Heavy-Duty Electric Vehicles,” SPEC, 2024.</a:t>
            </a:r>
          </a:p>
        </p:txBody>
      </p:sp>
      <p:sp>
        <p:nvSpPr>
          <p:cNvPr id="2" name="Title 1"/>
          <p:cNvSpPr>
            <a:spLocks noGrp="1"/>
          </p:cNvSpPr>
          <p:nvPr>
            <p:ph type="title"/>
          </p:nvPr>
        </p:nvSpPr>
        <p:spPr>
          <a:xfrm>
            <a:off x="1006764" y="87879"/>
            <a:ext cx="10583574" cy="830090"/>
          </a:xfrm>
        </p:spPr>
        <p:txBody>
          <a:bodyPr/>
          <a:lstStyle/>
          <a:p>
            <a:r>
              <a:rPr lang="en-US" dirty="0"/>
              <a:t>Enes Ayaz</a:t>
            </a:r>
            <a:br>
              <a:rPr lang="en-US" dirty="0"/>
            </a:br>
            <a:r>
              <a:rPr lang="en-US" dirty="0"/>
              <a:t>PhD topic: High-Voltage Traction Inverters</a:t>
            </a:r>
          </a:p>
        </p:txBody>
      </p:sp>
      <p:sp>
        <p:nvSpPr>
          <p:cNvPr id="3" name="Date Placeholder 2">
            <a:extLst>
              <a:ext uri="{FF2B5EF4-FFF2-40B4-BE49-F238E27FC236}">
                <a16:creationId xmlns:a16="http://schemas.microsoft.com/office/drawing/2014/main" id="{0D57817B-D71E-ECD3-4BD6-4EA2DA8089B7}"/>
              </a:ext>
            </a:extLst>
          </p:cNvPr>
          <p:cNvSpPr>
            <a:spLocks noGrp="1"/>
          </p:cNvSpPr>
          <p:nvPr>
            <p:ph type="dt" sz="half" idx="10"/>
          </p:nvPr>
        </p:nvSpPr>
        <p:spPr/>
        <p:txBody>
          <a:bodyPr/>
          <a:lstStyle/>
          <a:p>
            <a:fld id="{9BCF853F-DDB2-452B-AE50-1D59764A0BEE}" type="datetime1">
              <a:rPr lang="en-US" smtClean="0"/>
              <a:t>10/20/2026</a:t>
            </a:fld>
            <a:endParaRPr lang="sv-SE" dirty="0"/>
          </a:p>
        </p:txBody>
      </p:sp>
      <p:sp>
        <p:nvSpPr>
          <p:cNvPr id="4" name="Footer Placeholder 3">
            <a:extLst>
              <a:ext uri="{FF2B5EF4-FFF2-40B4-BE49-F238E27FC236}">
                <a16:creationId xmlns:a16="http://schemas.microsoft.com/office/drawing/2014/main" id="{433DB28B-05F7-3C18-5759-47411601F741}"/>
              </a:ext>
            </a:extLst>
          </p:cNvPr>
          <p:cNvSpPr>
            <a:spLocks noGrp="1"/>
          </p:cNvSpPr>
          <p:nvPr>
            <p:ph type="ftr" sz="quarter" idx="11"/>
          </p:nvPr>
        </p:nvSpPr>
        <p:spPr/>
        <p:txBody>
          <a:bodyPr/>
          <a:lstStyle/>
          <a:p>
            <a:r>
              <a:rPr lang="sv-SE" dirty="0"/>
              <a:t>PhD </a:t>
            </a:r>
            <a:r>
              <a:rPr lang="sv-SE" dirty="0" err="1"/>
              <a:t>project</a:t>
            </a:r>
            <a:r>
              <a:rPr lang="sv-SE" dirty="0"/>
              <a:t> –Enes Ayaz</a:t>
            </a:r>
          </a:p>
        </p:txBody>
      </p:sp>
      <p:sp>
        <p:nvSpPr>
          <p:cNvPr id="5" name="Slide Number Placeholder 4">
            <a:extLst>
              <a:ext uri="{FF2B5EF4-FFF2-40B4-BE49-F238E27FC236}">
                <a16:creationId xmlns:a16="http://schemas.microsoft.com/office/drawing/2014/main" id="{9DE698A9-CBED-2E96-8C2E-40B410DBEE84}"/>
              </a:ext>
            </a:extLst>
          </p:cNvPr>
          <p:cNvSpPr>
            <a:spLocks noGrp="1"/>
          </p:cNvSpPr>
          <p:nvPr>
            <p:ph type="sldNum" sz="quarter" idx="12"/>
          </p:nvPr>
        </p:nvSpPr>
        <p:spPr/>
        <p:txBody>
          <a:bodyPr/>
          <a:lstStyle/>
          <a:p>
            <a:fld id="{B716C8F4-20CD-364A-8A8E-DE130115B178}" type="slidenum">
              <a:rPr lang="sv-SE" smtClean="0"/>
              <a:t>1</a:t>
            </a:fld>
            <a:endParaRPr lang="sv-SE"/>
          </a:p>
        </p:txBody>
      </p:sp>
      <p:pic>
        <p:nvPicPr>
          <p:cNvPr id="7" name="Picture 6">
            <a:extLst>
              <a:ext uri="{FF2B5EF4-FFF2-40B4-BE49-F238E27FC236}">
                <a16:creationId xmlns:a16="http://schemas.microsoft.com/office/drawing/2014/main" id="{1C706416-80F3-3EB9-3774-44390A3A997E}"/>
              </a:ext>
            </a:extLst>
          </p:cNvPr>
          <p:cNvPicPr>
            <a:picLocks noChangeAspect="1"/>
          </p:cNvPicPr>
          <p:nvPr/>
        </p:nvPicPr>
        <p:blipFill>
          <a:blip r:embed="rId2">
            <a:extLst>
              <a:ext uri="{28A0092B-C50C-407E-A947-70E740481C1C}">
                <a14:useLocalDpi xmlns:a14="http://schemas.microsoft.com/office/drawing/2010/main" val="0"/>
              </a:ext>
            </a:extLst>
          </a:blip>
          <a:srcRect b="45513"/>
          <a:stretch>
            <a:fillRect/>
          </a:stretch>
        </p:blipFill>
        <p:spPr>
          <a:xfrm>
            <a:off x="7622864" y="2252202"/>
            <a:ext cx="1900668" cy="1653774"/>
          </a:xfrm>
          <a:prstGeom prst="rect">
            <a:avLst/>
          </a:prstGeom>
        </p:spPr>
      </p:pic>
      <p:pic>
        <p:nvPicPr>
          <p:cNvPr id="9" name="Picture 8">
            <a:extLst>
              <a:ext uri="{FF2B5EF4-FFF2-40B4-BE49-F238E27FC236}">
                <a16:creationId xmlns:a16="http://schemas.microsoft.com/office/drawing/2014/main" id="{AE13103E-030F-6C9F-0CCC-AD317436CBA1}"/>
              </a:ext>
            </a:extLst>
          </p:cNvPr>
          <p:cNvPicPr>
            <a:picLocks noChangeAspect="1"/>
          </p:cNvPicPr>
          <p:nvPr/>
        </p:nvPicPr>
        <p:blipFill>
          <a:blip r:embed="rId3"/>
          <a:srcRect l="13465" r="22017" b="15910"/>
          <a:stretch>
            <a:fillRect/>
          </a:stretch>
        </p:blipFill>
        <p:spPr>
          <a:xfrm>
            <a:off x="7479231" y="1085088"/>
            <a:ext cx="1004233" cy="978408"/>
          </a:xfrm>
          <a:prstGeom prst="rect">
            <a:avLst/>
          </a:prstGeom>
        </p:spPr>
      </p:pic>
      <p:sp>
        <p:nvSpPr>
          <p:cNvPr id="11" name="Chip Particle physics">
            <a:extLst>
              <a:ext uri="{FF2B5EF4-FFF2-40B4-BE49-F238E27FC236}">
                <a16:creationId xmlns:a16="http://schemas.microsoft.com/office/drawing/2014/main" id="{1621FE04-A3F4-D502-8549-FEB6A44A7F2D}"/>
              </a:ext>
            </a:extLst>
          </p:cNvPr>
          <p:cNvSpPr/>
          <p:nvPr/>
        </p:nvSpPr>
        <p:spPr>
          <a:xfrm>
            <a:off x="6619172" y="5771120"/>
            <a:ext cx="558812" cy="365760"/>
          </a:xfrm>
          <a:prstGeom prst="roundRect">
            <a:avLst>
              <a:gd name="adj" fmla="val 50000"/>
            </a:avLst>
          </a:prstGeom>
          <a:solidFill>
            <a:schemeClr val="accent1"/>
          </a:solidFill>
          <a:ln>
            <a:noFill/>
          </a:ln>
        </p:spPr>
        <p:txBody>
          <a:bodyPr wrap="square" lIns="45720" tIns="0" rIns="45720" bIns="0" rtlCol="0" anchor="ctr">
            <a:noAutofit/>
          </a:bodyPr>
          <a:lstStyle/>
          <a:p>
            <a:pPr marL="0" indent="0" algn="ctr">
              <a:lnSpc>
                <a:spcPct val="100000"/>
              </a:lnSpc>
              <a:spcBef>
                <a:spcPts val="0"/>
              </a:spcBef>
              <a:spcAft>
                <a:spcPts val="0"/>
              </a:spcAft>
              <a:buNone/>
            </a:pPr>
            <a:r>
              <a:rPr lang="en-US" sz="1200" b="1" dirty="0">
                <a:solidFill>
                  <a:schemeClr val="bg1"/>
                </a:solidFill>
                <a:latin typeface="+mn-lt"/>
              </a:rPr>
              <a:t>AI</a:t>
            </a:r>
          </a:p>
        </p:txBody>
      </p:sp>
      <p:sp>
        <p:nvSpPr>
          <p:cNvPr id="13" name="Chip Particle physics">
            <a:extLst>
              <a:ext uri="{FF2B5EF4-FFF2-40B4-BE49-F238E27FC236}">
                <a16:creationId xmlns:a16="http://schemas.microsoft.com/office/drawing/2014/main" id="{0591EF3E-3F36-AC47-CBE5-7DBFA551C83F}"/>
              </a:ext>
            </a:extLst>
          </p:cNvPr>
          <p:cNvSpPr/>
          <p:nvPr/>
        </p:nvSpPr>
        <p:spPr>
          <a:xfrm>
            <a:off x="5719288" y="5763990"/>
            <a:ext cx="808900" cy="365760"/>
          </a:xfrm>
          <a:prstGeom prst="roundRect">
            <a:avLst>
              <a:gd name="adj" fmla="val 50000"/>
            </a:avLst>
          </a:prstGeom>
          <a:solidFill>
            <a:schemeClr val="accent1"/>
          </a:solidFill>
          <a:ln>
            <a:noFill/>
          </a:ln>
        </p:spPr>
        <p:txBody>
          <a:bodyPr wrap="square" lIns="45720" tIns="0" rIns="45720" bIns="0" rtlCol="0" anchor="ctr">
            <a:noAutofit/>
          </a:bodyPr>
          <a:lstStyle/>
          <a:p>
            <a:pPr marL="0" indent="0" algn="ctr">
              <a:lnSpc>
                <a:spcPct val="100000"/>
              </a:lnSpc>
              <a:spcBef>
                <a:spcPts val="0"/>
              </a:spcBef>
              <a:spcAft>
                <a:spcPts val="0"/>
              </a:spcAft>
              <a:buNone/>
            </a:pPr>
            <a:r>
              <a:rPr lang="en-US" sz="1200" b="1" dirty="0">
                <a:solidFill>
                  <a:schemeClr val="bg1"/>
                </a:solidFill>
              </a:rPr>
              <a:t>Python</a:t>
            </a:r>
            <a:endParaRPr lang="en-US" sz="1200" b="1" dirty="0">
              <a:solidFill>
                <a:schemeClr val="bg1"/>
              </a:solidFill>
              <a:latin typeface="+mn-lt"/>
            </a:endParaRPr>
          </a:p>
        </p:txBody>
      </p:sp>
      <p:pic>
        <p:nvPicPr>
          <p:cNvPr id="15" name="Picture 14">
            <a:extLst>
              <a:ext uri="{FF2B5EF4-FFF2-40B4-BE49-F238E27FC236}">
                <a16:creationId xmlns:a16="http://schemas.microsoft.com/office/drawing/2014/main" id="{C93BFF4D-90EC-6A72-293C-ADF1E39C2F92}"/>
              </a:ext>
            </a:extLst>
          </p:cNvPr>
          <p:cNvPicPr>
            <a:picLocks noChangeAspect="1"/>
          </p:cNvPicPr>
          <p:nvPr/>
        </p:nvPicPr>
        <p:blipFill>
          <a:blip r:embed="rId4"/>
          <a:stretch>
            <a:fillRect/>
          </a:stretch>
        </p:blipFill>
        <p:spPr>
          <a:xfrm>
            <a:off x="9797850" y="2093455"/>
            <a:ext cx="2159884" cy="1884673"/>
          </a:xfrm>
          <a:prstGeom prst="rect">
            <a:avLst/>
          </a:prstGeom>
        </p:spPr>
      </p:pic>
      <p:sp>
        <p:nvSpPr>
          <p:cNvPr id="17" name="Figure caption">
            <a:extLst>
              <a:ext uri="{FF2B5EF4-FFF2-40B4-BE49-F238E27FC236}">
                <a16:creationId xmlns:a16="http://schemas.microsoft.com/office/drawing/2014/main" id="{E670AE9E-0915-5FA5-1FA5-435180D1F3EB}"/>
              </a:ext>
            </a:extLst>
          </p:cNvPr>
          <p:cNvSpPr txBox="1"/>
          <p:nvPr/>
        </p:nvSpPr>
        <p:spPr>
          <a:xfrm>
            <a:off x="9918527" y="4025493"/>
            <a:ext cx="1918531" cy="25603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000" b="0" i="1" dirty="0">
                <a:solidFill>
                  <a:srgbClr val="595959"/>
                </a:solidFill>
                <a:latin typeface="+mn-lt"/>
              </a:rPr>
              <a:t>Stacked Poly-Phase Inverter</a:t>
            </a:r>
          </a:p>
        </p:txBody>
      </p:sp>
    </p:spTree>
    <p:extLst>
      <p:ext uri="{BB962C8B-B14F-4D97-AF65-F5344CB8AC3E}">
        <p14:creationId xmlns:p14="http://schemas.microsoft.com/office/powerpoint/2010/main" val="3488650327"/>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 template updgraded</Template>
  <TotalTime>730</TotalTime>
  <Words>344</Words>
  <Application>Microsoft Office PowerPoint</Application>
  <PresentationFormat>Widescreen</PresentationFormat>
  <Paragraphs>34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Figtree</vt:lpstr>
      <vt:lpstr>Arial</vt:lpstr>
      <vt:lpstr>Office-tema</vt:lpstr>
      <vt:lpstr>Enes Ayaz PhD topic: High-Voltage Traction Inverters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Ilka Jahn</dc:creator>
  <cp:lastModifiedBy>Enes Ayaz</cp:lastModifiedBy>
  <cp:revision>80</cp:revision>
  <dcterms:created xsi:type="dcterms:W3CDTF">2024-08-14T08:09:18Z</dcterms:created>
  <dcterms:modified xsi:type="dcterms:W3CDTF">2026-10-20T16:31:55Z</dcterms:modified>
</cp:coreProperties>
</file>