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7"/>
  </p:notesMasterIdLst>
  <p:sldIdLst>
    <p:sldId id="272" r:id="rId5"/>
    <p:sldId id="273" r:id="rId6"/>
  </p:sldIdLst>
  <p:sldSz cx="12192000" cy="6858000"/>
  <p:notesSz cx="6858000" cy="9144000"/>
  <p:embeddedFontLst>
    <p:embeddedFont>
      <p:font typeface="Figtree" panose="020B0604020202020204" charset="0"/>
      <p:regular r:id="rId8"/>
      <p:bold r:id="rId9"/>
      <p:italic r:id="rId10"/>
      <p:boldItalic r:id="rId11"/>
    </p:embeddedFont>
    <p:embeddedFont>
      <p:font typeface="Calibri" panose="020F0502020204030204" pitchFamily="34" charset="0"/>
      <p:regular r:id="rId12"/>
      <p:bold r:id="rId13"/>
      <p:italic r:id="rId14"/>
      <p:boldItalic r:id="rId15"/>
    </p:embeddedFont>
    <p:embeddedFont>
      <p:font typeface="Cambria Math" panose="02040503050406030204" pitchFamily="18" charset="0"/>
      <p:regular r:id="rId16"/>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492678-4A8E-F663-92EB-D51D9808D16C}" v="172" dt="2025-09-25T12:21:37.9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327"/>
  </p:normalViewPr>
  <p:slideViewPr>
    <p:cSldViewPr snapToGrid="0">
      <p:cViewPr>
        <p:scale>
          <a:sx n="100" d="100"/>
          <a:sy n="100" d="100"/>
        </p:scale>
        <p:origin x="2544" y="142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font" Target="fonts/font9.fntdata"/><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font" Target="fonts/font4.fntdata"/><Relationship Id="rId5" Type="http://schemas.openxmlformats.org/officeDocument/2006/relationships/slide" Target="slides/slide1.xml"/><Relationship Id="rId15" Type="http://schemas.openxmlformats.org/officeDocument/2006/relationships/font" Target="fonts/font8.fntdata"/><Relationship Id="rId10" Type="http://schemas.openxmlformats.org/officeDocument/2006/relationships/font" Target="fonts/font3.fntdata"/><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font" Target="fonts/font2.fntdata"/><Relationship Id="rId14" Type="http://schemas.openxmlformats.org/officeDocument/2006/relationships/font" Target="fonts/font7.fntdata"/><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2025-10-20</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2025-10-20</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2025-10-20</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xmlns=""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2025-10-20</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2025-10-20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2025-10-20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2025-10-20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2025-10-20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2025-10-20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2025-10-20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2025-10-20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2025-10-20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2025-10-20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2025-10-20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2025-10-20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2025-10-20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2025-10-20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2025-10-20</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2025-10-20</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2025-10-20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Click to 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2025-10-20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Click to 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2025-10-20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Click to 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2025-10-20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Click to 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2025-10-20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Click to 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2025-10-20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Click to 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2025-10-20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Click to 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2025-10-20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Click to 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2025-10-20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2025-10-20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2025-10-20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2025-10-20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2025-10-20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2025-10-20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2025-10-20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2025-10-20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2025-10-20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2025-10-20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2025-10-20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2025-10-20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2025-10-20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2025-10-20</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2025-10-20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2025-10-20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2025-10-20</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2025-10-20</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2025-10-20</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2025-10-20</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2025-10-20</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2025-10-20</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xmlns=""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1.xml"/><Relationship Id="rId4" Type="http://schemas.openxmlformats.org/officeDocument/2006/relationships/image" Target="../media/image23.png"/></Relationships>
</file>

<file path=ppt/slides/_rels/slide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1.xml"/><Relationship Id="rId5" Type="http://schemas.openxmlformats.org/officeDocument/2006/relationships/image" Target="../media/image27.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12ED6-312C-15E2-4D7E-147A4B1B461D}"/>
              </a:ext>
            </a:extLst>
          </p:cNvPr>
          <p:cNvSpPr>
            <a:spLocks noGrp="1"/>
          </p:cNvSpPr>
          <p:nvPr>
            <p:ph type="title"/>
          </p:nvPr>
        </p:nvSpPr>
        <p:spPr/>
        <p:txBody>
          <a:bodyPr/>
          <a:lstStyle/>
          <a:p>
            <a:r>
              <a:rPr lang="en-US" dirty="0" smtClean="0"/>
              <a:t>Experimental Waveforms - B2B Inverter: Single Phase</a:t>
            </a:r>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375" y="904679"/>
            <a:ext cx="3906191" cy="3162337"/>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3725" y="814795"/>
            <a:ext cx="4000803" cy="3238931"/>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26814" y="3711227"/>
            <a:ext cx="3729664" cy="3019425"/>
          </a:xfrm>
          <a:prstGeom prst="rect">
            <a:avLst/>
          </a:prstGeom>
        </p:spPr>
      </p:pic>
      <p:sp>
        <p:nvSpPr>
          <p:cNvPr id="11" name="Rectangle 10"/>
          <p:cNvSpPr/>
          <p:nvPr/>
        </p:nvSpPr>
        <p:spPr>
          <a:xfrm>
            <a:off x="1351543" y="4168259"/>
            <a:ext cx="1125308" cy="369332"/>
          </a:xfrm>
          <a:prstGeom prst="rect">
            <a:avLst/>
          </a:prstGeom>
        </p:spPr>
        <p:txBody>
          <a:bodyPr wrap="none">
            <a:spAutoFit/>
          </a:bodyPr>
          <a:lstStyle/>
          <a:p>
            <a:r>
              <a:rPr lang="sv-SE" dirty="0">
                <a:latin typeface="Times New Roman" panose="02020603050405020304" pitchFamily="18" charset="0"/>
                <a:cs typeface="Times New Roman" panose="02020603050405020304" pitchFamily="18" charset="0"/>
              </a:rPr>
              <a:t>800 </a:t>
            </a:r>
            <a:r>
              <a:rPr lang="sv-SE" dirty="0" smtClean="0">
                <a:latin typeface="Times New Roman" panose="02020603050405020304" pitchFamily="18" charset="0"/>
                <a:cs typeface="Times New Roman" panose="02020603050405020304" pitchFamily="18" charset="0"/>
              </a:rPr>
              <a:t>V DC</a:t>
            </a:r>
            <a:endParaRPr lang="sv-SE" dirty="0">
              <a:latin typeface="Times New Roman" panose="02020603050405020304" pitchFamily="18" charset="0"/>
              <a:cs typeface="Times New Roman" panose="02020603050405020304" pitchFamily="18" charset="0"/>
            </a:endParaRPr>
          </a:p>
        </p:txBody>
      </p:sp>
      <p:sp>
        <p:nvSpPr>
          <p:cNvPr id="12" name="Rectangle 11"/>
          <p:cNvSpPr/>
          <p:nvPr/>
        </p:nvSpPr>
        <p:spPr>
          <a:xfrm>
            <a:off x="5078020" y="3341895"/>
            <a:ext cx="1240724" cy="369332"/>
          </a:xfrm>
          <a:prstGeom prst="rect">
            <a:avLst/>
          </a:prstGeom>
        </p:spPr>
        <p:txBody>
          <a:bodyPr wrap="none">
            <a:spAutoFit/>
          </a:bodyPr>
          <a:lstStyle/>
          <a:p>
            <a:r>
              <a:rPr lang="sv-SE" dirty="0" smtClean="0">
                <a:latin typeface="Times New Roman" panose="02020603050405020304" pitchFamily="18" charset="0"/>
                <a:cs typeface="Times New Roman" panose="02020603050405020304" pitchFamily="18" charset="0"/>
              </a:rPr>
              <a:t>1070 V DC</a:t>
            </a:r>
            <a:endParaRPr lang="sv-SE" dirty="0">
              <a:latin typeface="Times New Roman" panose="02020603050405020304" pitchFamily="18" charset="0"/>
              <a:cs typeface="Times New Roman" panose="02020603050405020304" pitchFamily="18" charset="0"/>
            </a:endParaRPr>
          </a:p>
        </p:txBody>
      </p:sp>
      <p:sp>
        <p:nvSpPr>
          <p:cNvPr id="13" name="Rectangle 12"/>
          <p:cNvSpPr/>
          <p:nvPr/>
        </p:nvSpPr>
        <p:spPr>
          <a:xfrm>
            <a:off x="8468920" y="4088377"/>
            <a:ext cx="1240724" cy="369332"/>
          </a:xfrm>
          <a:prstGeom prst="rect">
            <a:avLst/>
          </a:prstGeom>
        </p:spPr>
        <p:txBody>
          <a:bodyPr wrap="none">
            <a:spAutoFit/>
          </a:bodyPr>
          <a:lstStyle/>
          <a:p>
            <a:r>
              <a:rPr lang="sv-SE" dirty="0" smtClean="0">
                <a:latin typeface="Times New Roman" panose="02020603050405020304" pitchFamily="18" charset="0"/>
                <a:cs typeface="Times New Roman" panose="02020603050405020304" pitchFamily="18" charset="0"/>
              </a:rPr>
              <a:t>1000 V DC</a:t>
            </a:r>
            <a:endParaRPr lang="sv-SE" dirty="0">
              <a:latin typeface="Times New Roman" panose="02020603050405020304" pitchFamily="18" charset="0"/>
              <a:cs typeface="Times New Roman" panose="02020603050405020304" pitchFamily="18" charset="0"/>
            </a:endParaRPr>
          </a:p>
        </p:txBody>
      </p:sp>
      <p:sp>
        <p:nvSpPr>
          <p:cNvPr id="14" name="Rectangle 13"/>
          <p:cNvSpPr/>
          <p:nvPr/>
        </p:nvSpPr>
        <p:spPr>
          <a:xfrm>
            <a:off x="5078020" y="1102634"/>
            <a:ext cx="1018227" cy="369332"/>
          </a:xfrm>
          <a:prstGeom prst="rect">
            <a:avLst/>
          </a:prstGeom>
        </p:spPr>
        <p:txBody>
          <a:bodyPr wrap="none">
            <a:spAutoFit/>
          </a:bodyPr>
          <a:lstStyle/>
          <a:p>
            <a:r>
              <a:rPr lang="sv-SE" dirty="0" err="1" smtClean="0">
                <a:latin typeface="Times New Roman" panose="02020603050405020304" pitchFamily="18" charset="0"/>
                <a:cs typeface="Times New Roman" panose="02020603050405020304" pitchFamily="18" charset="0"/>
              </a:rPr>
              <a:t>Vll</a:t>
            </a:r>
            <a:r>
              <a:rPr lang="sv-SE" dirty="0" smtClean="0">
                <a:latin typeface="Times New Roman" panose="02020603050405020304" pitchFamily="18" charset="0"/>
                <a:cs typeface="Times New Roman" panose="02020603050405020304" pitchFamily="18" charset="0"/>
              </a:rPr>
              <a:t> – </a:t>
            </a:r>
            <a:r>
              <a:rPr lang="sv-SE" dirty="0" err="1" smtClean="0">
                <a:latin typeface="Times New Roman" panose="02020603050405020304" pitchFamily="18" charset="0"/>
                <a:cs typeface="Times New Roman" panose="02020603050405020304" pitchFamily="18" charset="0"/>
              </a:rPr>
              <a:t>Iph</a:t>
            </a:r>
            <a:endParaRPr lang="sv-S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26935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12ED6-312C-15E2-4D7E-147A4B1B461D}"/>
              </a:ext>
            </a:extLst>
          </p:cNvPr>
          <p:cNvSpPr>
            <a:spLocks noGrp="1"/>
          </p:cNvSpPr>
          <p:nvPr>
            <p:ph type="title"/>
          </p:nvPr>
        </p:nvSpPr>
        <p:spPr/>
        <p:txBody>
          <a:bodyPr/>
          <a:lstStyle/>
          <a:p>
            <a:r>
              <a:rPr lang="en-US" dirty="0" smtClean="0"/>
              <a:t>Experimental Waveforms - B2B Inverter: Single Phase</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220" y="1585212"/>
            <a:ext cx="4959479" cy="4015047"/>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2675" y="1466850"/>
            <a:ext cx="5105682" cy="4133409"/>
          </a:xfrm>
          <a:prstGeom prst="rect">
            <a:avLst/>
          </a:prstGeom>
        </p:spPr>
      </p:pic>
      <mc:AlternateContent xmlns:mc="http://schemas.openxmlformats.org/markup-compatibility/2006">
        <mc:Choice xmlns:a14="http://schemas.microsoft.com/office/drawing/2010/main" Requires="a14">
          <p:sp>
            <p:nvSpPr>
              <p:cNvPr id="6" name="TextBox 5"/>
              <p:cNvSpPr txBox="1"/>
              <p:nvPr/>
            </p:nvSpPr>
            <p:spPr>
              <a:xfrm>
                <a:off x="7143749" y="5779809"/>
                <a:ext cx="2333626"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𝑑𝑣</m:t>
                      </m:r>
                      <m:r>
                        <a:rPr lang="en-US" i="1" dirty="0" smtClean="0">
                          <a:latin typeface="Cambria Math" panose="02040503050406030204" pitchFamily="18" charset="0"/>
                        </a:rPr>
                        <m:t>/</m:t>
                      </m:r>
                      <m:r>
                        <a:rPr lang="en-US" i="1" dirty="0" err="1" smtClean="0">
                          <a:latin typeface="Cambria Math" panose="02040503050406030204" pitchFamily="18" charset="0"/>
                        </a:rPr>
                        <m:t>𝑑𝑡</m:t>
                      </m:r>
                      <m:r>
                        <a:rPr lang="en-US" i="1" dirty="0" smtClean="0">
                          <a:latin typeface="Cambria Math" panose="02040503050406030204" pitchFamily="18" charset="0"/>
                        </a:rPr>
                        <m:t> ~ </m:t>
                      </m:r>
                      <m:r>
                        <a:rPr lang="en-US" b="0" i="1" dirty="0" smtClean="0">
                          <a:latin typeface="Cambria Math" panose="02040503050406030204" pitchFamily="18" charset="0"/>
                        </a:rPr>
                        <m:t>6</m:t>
                      </m:r>
                      <m:r>
                        <a:rPr lang="en-US" i="1" dirty="0" smtClean="0">
                          <a:latin typeface="Cambria Math" panose="02040503050406030204" pitchFamily="18" charset="0"/>
                        </a:rPr>
                        <m:t>𝑘𝑉</m:t>
                      </m:r>
                      <m:r>
                        <a:rPr lang="en-US" i="1" dirty="0" smtClean="0">
                          <a:latin typeface="Cambria Math" panose="02040503050406030204" pitchFamily="18" charset="0"/>
                        </a:rPr>
                        <m:t>/</m:t>
                      </m:r>
                      <m:r>
                        <a:rPr lang="en-US" b="0" i="1" dirty="0" smtClean="0">
                          <a:latin typeface="Cambria Math" panose="02040503050406030204" pitchFamily="18" charset="0"/>
                        </a:rPr>
                        <m:t>𝜇</m:t>
                      </m:r>
                      <m:r>
                        <a:rPr lang="en-US" i="1" dirty="0" err="1" smtClean="0">
                          <a:latin typeface="Cambria Math" panose="02040503050406030204" pitchFamily="18" charset="0"/>
                        </a:rPr>
                        <m:t>𝑆</m:t>
                      </m:r>
                      <m:r>
                        <a:rPr lang="en-US" i="1" dirty="0" smtClean="0">
                          <a:latin typeface="Cambria Math" panose="02040503050406030204" pitchFamily="18" charset="0"/>
                        </a:rPr>
                        <m:t> </m:t>
                      </m:r>
                    </m:oMath>
                  </m:oMathPara>
                </a14:m>
                <a:endParaRPr lang="sv-SE" dirty="0"/>
              </a:p>
            </p:txBody>
          </p:sp>
        </mc:Choice>
        <mc:Fallback>
          <p:sp>
            <p:nvSpPr>
              <p:cNvPr id="6" name="TextBox 5"/>
              <p:cNvSpPr txBox="1">
                <a:spLocks noRot="1" noChangeAspect="1" noMove="1" noResize="1" noEditPoints="1" noAdjustHandles="1" noChangeArrowheads="1" noChangeShapeType="1" noTextEdit="1"/>
              </p:cNvSpPr>
              <p:nvPr/>
            </p:nvSpPr>
            <p:spPr>
              <a:xfrm>
                <a:off x="7143749" y="5779809"/>
                <a:ext cx="2333626" cy="369332"/>
              </a:xfrm>
              <a:prstGeom prst="rect">
                <a:avLst/>
              </a:prstGeom>
              <a:blipFill>
                <a:blip r:embed="rId4"/>
                <a:stretch>
                  <a:fillRect b="-14754"/>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14" name="TextBox 13"/>
              <p:cNvSpPr txBox="1"/>
              <p:nvPr/>
            </p:nvSpPr>
            <p:spPr>
              <a:xfrm>
                <a:off x="7143749" y="6170016"/>
                <a:ext cx="2333626"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𝑑𝑣</m:t>
                      </m:r>
                      <m:r>
                        <a:rPr lang="en-US" i="1" dirty="0" smtClean="0">
                          <a:latin typeface="Cambria Math" panose="02040503050406030204" pitchFamily="18" charset="0"/>
                        </a:rPr>
                        <m:t>/</m:t>
                      </m:r>
                      <m:r>
                        <a:rPr lang="en-US" i="1" dirty="0" err="1" smtClean="0">
                          <a:latin typeface="Cambria Math" panose="02040503050406030204" pitchFamily="18" charset="0"/>
                        </a:rPr>
                        <m:t>𝑑𝑡</m:t>
                      </m:r>
                      <m:r>
                        <a:rPr lang="en-US" i="1" dirty="0" smtClean="0">
                          <a:latin typeface="Cambria Math" panose="02040503050406030204" pitchFamily="18" charset="0"/>
                        </a:rPr>
                        <m:t> ~ </m:t>
                      </m:r>
                      <m:r>
                        <a:rPr lang="en-US" b="0" i="1" dirty="0" smtClean="0">
                          <a:latin typeface="Cambria Math" panose="02040503050406030204" pitchFamily="18" charset="0"/>
                        </a:rPr>
                        <m:t>7.6</m:t>
                      </m:r>
                      <m:r>
                        <a:rPr lang="en-US" i="1" dirty="0" smtClean="0">
                          <a:latin typeface="Cambria Math" panose="02040503050406030204" pitchFamily="18" charset="0"/>
                        </a:rPr>
                        <m:t>𝑘𝑉</m:t>
                      </m:r>
                      <m:r>
                        <a:rPr lang="en-US" i="1" dirty="0" smtClean="0">
                          <a:latin typeface="Cambria Math" panose="02040503050406030204" pitchFamily="18" charset="0"/>
                        </a:rPr>
                        <m:t>/</m:t>
                      </m:r>
                      <m:r>
                        <a:rPr lang="en-US" b="0" i="1" dirty="0" smtClean="0">
                          <a:latin typeface="Cambria Math" panose="02040503050406030204" pitchFamily="18" charset="0"/>
                        </a:rPr>
                        <m:t>𝜇</m:t>
                      </m:r>
                      <m:r>
                        <a:rPr lang="en-US" i="1" dirty="0" err="1" smtClean="0">
                          <a:latin typeface="Cambria Math" panose="02040503050406030204" pitchFamily="18" charset="0"/>
                        </a:rPr>
                        <m:t>𝑆</m:t>
                      </m:r>
                      <m:r>
                        <a:rPr lang="en-US" i="1" dirty="0" smtClean="0">
                          <a:latin typeface="Cambria Math" panose="02040503050406030204" pitchFamily="18" charset="0"/>
                        </a:rPr>
                        <m:t> </m:t>
                      </m:r>
                    </m:oMath>
                  </m:oMathPara>
                </a14:m>
                <a:endParaRPr lang="sv-SE" dirty="0"/>
              </a:p>
            </p:txBody>
          </p:sp>
        </mc:Choice>
        <mc:Fallback>
          <p:sp>
            <p:nvSpPr>
              <p:cNvPr id="14" name="TextBox 13"/>
              <p:cNvSpPr txBox="1">
                <a:spLocks noRot="1" noChangeAspect="1" noMove="1" noResize="1" noEditPoints="1" noAdjustHandles="1" noChangeArrowheads="1" noChangeShapeType="1" noTextEdit="1"/>
              </p:cNvSpPr>
              <p:nvPr/>
            </p:nvSpPr>
            <p:spPr>
              <a:xfrm>
                <a:off x="7143749" y="6170016"/>
                <a:ext cx="2333626" cy="369332"/>
              </a:xfrm>
              <a:prstGeom prst="rect">
                <a:avLst/>
              </a:prstGeom>
              <a:blipFill>
                <a:blip r:embed="rId5"/>
                <a:stretch>
                  <a:fillRect b="-14754"/>
                </a:stretch>
              </a:blipFill>
            </p:spPr>
            <p:txBody>
              <a:bodyPr/>
              <a:lstStyle/>
              <a:p>
                <a:r>
                  <a:rPr lang="sv-SE">
                    <a:noFill/>
                  </a:rPr>
                  <a:t> </a:t>
                </a:r>
              </a:p>
            </p:txBody>
          </p:sp>
        </mc:Fallback>
      </mc:AlternateContent>
      <p:sp>
        <p:nvSpPr>
          <p:cNvPr id="15" name="Rectangle 14"/>
          <p:cNvSpPr/>
          <p:nvPr/>
        </p:nvSpPr>
        <p:spPr>
          <a:xfrm>
            <a:off x="2256418" y="5800684"/>
            <a:ext cx="1095172" cy="369332"/>
          </a:xfrm>
          <a:prstGeom prst="rect">
            <a:avLst/>
          </a:prstGeom>
        </p:spPr>
        <p:txBody>
          <a:bodyPr wrap="none">
            <a:spAutoFit/>
          </a:bodyPr>
          <a:lstStyle/>
          <a:p>
            <a:r>
              <a:rPr lang="sv-SE" dirty="0" err="1" smtClean="0">
                <a:latin typeface="Times New Roman" panose="02020603050405020304" pitchFamily="18" charset="0"/>
                <a:cs typeface="Times New Roman" panose="02020603050405020304" pitchFamily="18" charset="0"/>
              </a:rPr>
              <a:t>Vds</a:t>
            </a:r>
            <a:r>
              <a:rPr lang="sv-SE" dirty="0" smtClean="0">
                <a:latin typeface="Times New Roman" panose="02020603050405020304" pitchFamily="18" charset="0"/>
                <a:cs typeface="Times New Roman" panose="02020603050405020304" pitchFamily="18" charset="0"/>
              </a:rPr>
              <a:t> – </a:t>
            </a:r>
            <a:r>
              <a:rPr lang="sv-SE" dirty="0" err="1" smtClean="0">
                <a:latin typeface="Times New Roman" panose="02020603050405020304" pitchFamily="18" charset="0"/>
                <a:cs typeface="Times New Roman" panose="02020603050405020304" pitchFamily="18" charset="0"/>
              </a:rPr>
              <a:t>Iph</a:t>
            </a:r>
            <a:endParaRPr lang="sv-S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0146745"/>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PPT figtree 240110.pptx" id="{726D191D-1F41-4900-984B-7C96B01E2C19}" vid="{8D379FE5-4B72-4EDF-9880-68D6B465F573}"/>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B20BB3486EFA5541A2E04CA99A49BE09" ma:contentTypeVersion="11" ma:contentTypeDescription="Skapa ett nytt dokument." ma:contentTypeScope="" ma:versionID="7b8f50895d0b097d5901a8e3ae86e8e8">
  <xsd:schema xmlns:xsd="http://www.w3.org/2001/XMLSchema" xmlns:xs="http://www.w3.org/2001/XMLSchema" xmlns:p="http://schemas.microsoft.com/office/2006/metadata/properties" xmlns:ns2="00d6ba7f-1ce2-4dc9-96eb-61ac436a9560" xmlns:ns3="45de8d17-5c55-401f-a5f7-109864601df2" targetNamespace="http://schemas.microsoft.com/office/2006/metadata/properties" ma:root="true" ma:fieldsID="539360f445bb192641a404c28e8bed2e" ns2:_="" ns3:_="">
    <xsd:import namespace="00d6ba7f-1ce2-4dc9-96eb-61ac436a9560"/>
    <xsd:import namespace="45de8d17-5c55-401f-a5f7-109864601df2"/>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SearchProperties" minOccurs="0"/>
                <xsd:element ref="ns2:_Flow_SignoffStatu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d6ba7f-1ce2-4dc9-96eb-61ac436a95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Bildmarkeringar" ma:readOnly="false" ma:fieldId="{5cf76f15-5ced-4ddc-b409-7134ff3c332f}" ma:taxonomyMulti="true" ma:sspId="93a65192-9734-4a36-9c54-dd0325533d75"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_Flow_SignoffStatus" ma:index="17" nillable="true" ma:displayName="Godkännandestatus" ma:internalName="Godk_x00e4_nnandestatus">
      <xsd:simpleType>
        <xsd:restriction base="dms:Text"/>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5de8d17-5c55-401f-a5f7-109864601df2"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086e6fb9-802f-4bde-b45c-a536e0468bac}" ma:internalName="TaxCatchAll" ma:showField="CatchAllData" ma:web="45de8d17-5c55-401f-a5f7-109864601df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ehållstyp"/>
        <xsd:element ref="dc:title" minOccurs="0" maxOccurs="1" ma:index="4" ma:displayName="Rubri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0d6ba7f-1ce2-4dc9-96eb-61ac436a9560">
      <Terms xmlns="http://schemas.microsoft.com/office/infopath/2007/PartnerControls"/>
    </lcf76f155ced4ddcb4097134ff3c332f>
    <_Flow_SignoffStatus xmlns="00d6ba7f-1ce2-4dc9-96eb-61ac436a9560" xsi:nil="true"/>
    <TaxCatchAll xmlns="45de8d17-5c55-401f-a5f7-109864601df2" xsi:nil="true"/>
  </documentManagement>
</p:properties>
</file>

<file path=customXml/itemProps1.xml><?xml version="1.0" encoding="utf-8"?>
<ds:datastoreItem xmlns:ds="http://schemas.openxmlformats.org/officeDocument/2006/customXml" ds:itemID="{0855E8CF-26DF-4595-BEB9-70D0EC1935AB}">
  <ds:schemaRefs>
    <ds:schemaRef ds:uri="http://schemas.microsoft.com/sharepoint/v3/contenttype/forms"/>
  </ds:schemaRefs>
</ds:datastoreItem>
</file>

<file path=customXml/itemProps2.xml><?xml version="1.0" encoding="utf-8"?>
<ds:datastoreItem xmlns:ds="http://schemas.openxmlformats.org/officeDocument/2006/customXml" ds:itemID="{EB8D9694-BA04-424E-B8AA-65782A31A6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0d6ba7f-1ce2-4dc9-96eb-61ac436a9560"/>
    <ds:schemaRef ds:uri="45de8d17-5c55-401f-a5f7-109864601d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C3910EE-3003-43A5-84D6-7F3C9E61144E}">
  <ds:schemaRefs>
    <ds:schemaRef ds:uri="http://purl.org/dc/dcmitype/"/>
    <ds:schemaRef ds:uri="http://schemas.openxmlformats.org/package/2006/metadata/core-properties"/>
    <ds:schemaRef ds:uri="http://schemas.microsoft.com/office/2006/documentManagement/types"/>
    <ds:schemaRef ds:uri="http://purl.org/dc/elements/1.1/"/>
    <ds:schemaRef ds:uri="http://www.w3.org/XML/1998/namespace"/>
    <ds:schemaRef ds:uri="http://purl.org/dc/terms/"/>
    <ds:schemaRef ds:uri="00d6ba7f-1ce2-4dc9-96eb-61ac436a9560"/>
    <ds:schemaRef ds:uri="http://schemas.microsoft.com/office/2006/metadata/properties"/>
    <ds:schemaRef ds:uri="http://schemas.microsoft.com/office/infopath/2007/PartnerControls"/>
    <ds:schemaRef ds:uri="45de8d17-5c55-401f-a5f7-109864601df2"/>
  </ds:schemaRefs>
</ds:datastoreItem>
</file>

<file path=docProps/app.xml><?xml version="1.0" encoding="utf-8"?>
<Properties xmlns="http://schemas.openxmlformats.org/officeDocument/2006/extended-properties" xmlns:vt="http://schemas.openxmlformats.org/officeDocument/2006/docPropsVTypes">
  <Template>KTH</Template>
  <TotalTime>4741</TotalTime>
  <Words>47</Words>
  <Application>Microsoft Office PowerPoint</Application>
  <PresentationFormat>Widescreen</PresentationFormat>
  <Paragraphs>9</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Figtree</vt:lpstr>
      <vt:lpstr>Arial</vt:lpstr>
      <vt:lpstr>Calibri</vt:lpstr>
      <vt:lpstr>Times New Roman</vt:lpstr>
      <vt:lpstr>Cambria Math</vt:lpstr>
      <vt:lpstr>Office-tema</vt:lpstr>
      <vt:lpstr>Experimental Waveforms - B2B Inverter: Single Phase</vt:lpstr>
      <vt:lpstr>Experimental Waveforms - B2B Inverter: Single Phase</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WP4: Progress Update</dc:title>
  <dc:creator>Lukas Böcker</dc:creator>
  <cp:lastModifiedBy>Enes Ayaz</cp:lastModifiedBy>
  <cp:revision>39</cp:revision>
  <dcterms:created xsi:type="dcterms:W3CDTF">2025-09-25T11:52:04Z</dcterms:created>
  <dcterms:modified xsi:type="dcterms:W3CDTF">2025-10-20T08:55:50Z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0x010100B20BB3486EFA5541A2E04CA99A49BE09</vt:lpwstr>
  </property>
  <property fmtid="{D5CDD505-2E9C-101B-9397-08002B2CF9AE}" pid="3" name="_dlc_DocIdItemGuid">
    <vt:lpwstr>727452b2-8c07-49fa-9c22-9c1873a3a1f2</vt:lpwstr>
  </property>
  <property fmtid="{D5CDD505-2E9C-101B-9397-08002B2CF9AE}" pid="4" name="MediaServiceImageTags">
    <vt:lpwstr/>
  </property>
</Properties>
</file>