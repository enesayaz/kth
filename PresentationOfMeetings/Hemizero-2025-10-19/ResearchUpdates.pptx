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318" r:id="rId2"/>
    <p:sldId id="319" r:id="rId3"/>
    <p:sldId id="304" r:id="rId4"/>
    <p:sldId id="305" r:id="rId5"/>
    <p:sldId id="306" r:id="rId6"/>
    <p:sldId id="307" r:id="rId7"/>
    <p:sldId id="311" r:id="rId8"/>
    <p:sldId id="321" r:id="rId9"/>
    <p:sldId id="323" r:id="rId10"/>
    <p:sldId id="324" r:id="rId11"/>
    <p:sldId id="325" r:id="rId12"/>
    <p:sldId id="326" r:id="rId13"/>
    <p:sldId id="327"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Cambria Math" panose="02040503050406030204" pitchFamily="18" charset="0"/>
      <p:regular r:id="rId20"/>
    </p:embeddedFont>
    <p:embeddedFont>
      <p:font typeface="Georgia" panose="02040502050405020303" pitchFamily="18" charset="0"/>
      <p:regular r:id="rId21"/>
      <p:bold r:id="rId22"/>
      <p:italic r:id="rId23"/>
      <p:boldItalic r:id="rId24"/>
    </p:embeddedFont>
    <p:embeddedFont>
      <p:font typeface="Figtree" panose="020B0604020202020204" charset="0"/>
      <p:regular r:id="rId25"/>
      <p:bold r:id="rId26"/>
      <p:italic r:id="rId27"/>
      <p:boldItalic r:id="rId28"/>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13" autoAdjust="0"/>
    <p:restoredTop sz="96327"/>
  </p:normalViewPr>
  <p:slideViewPr>
    <p:cSldViewPr snapToGrid="0">
      <p:cViewPr varScale="1">
        <p:scale>
          <a:sx n="155" d="100"/>
          <a:sy n="155" d="100"/>
        </p:scale>
        <p:origin x="162"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2025-10-20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2025-10-20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2025-10-20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2025-10-20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2025-10-20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2025-10-20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2025-10-20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2025-10-20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2025-10-20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2025-10-20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2025-10-20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2025-10-20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2025-10-20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emf"/><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emf"/></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PhD Works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Ayaz </a:t>
            </a:r>
            <a:endParaRPr lang="sv-SE" dirty="0"/>
          </a:p>
        </p:txBody>
      </p:sp>
    </p:spTree>
    <p:extLst>
      <p:ext uri="{BB962C8B-B14F-4D97-AF65-F5344CB8AC3E}">
        <p14:creationId xmlns:p14="http://schemas.microsoft.com/office/powerpoint/2010/main" val="288115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ECCE-Asia (IPEC-2026) </a:t>
            </a:r>
            <a:r>
              <a:rPr lang="en-US" sz="2400" dirty="0">
                <a:latin typeface="Times New Roman" panose="02020603050405020304" pitchFamily="18" charset="0"/>
                <a:cs typeface="Times New Roman" panose="02020603050405020304" pitchFamily="18" charset="0"/>
              </a:rPr>
              <a:t>Paper Digest</a:t>
            </a:r>
          </a:p>
          <a:p>
            <a:pPr marL="0" indent="0">
              <a:buNone/>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Initial Experimental Results of The Patent</a:t>
            </a: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3019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Overview of Three-Phase Two-Level </a:t>
            </a:r>
            <a:r>
              <a:rPr lang="en-US" dirty="0" smtClean="0"/>
              <a:t>VSIs</a:t>
            </a:r>
            <a:endParaRPr lang="sv-SE" dirty="0"/>
          </a:p>
        </p:txBody>
      </p:sp>
      <p:sp>
        <p:nvSpPr>
          <p:cNvPr id="3" name="Content Placeholder 2"/>
          <p:cNvSpPr>
            <a:spLocks noGrp="1"/>
          </p:cNvSpPr>
          <p:nvPr>
            <p:ph idx="1"/>
          </p:nvPr>
        </p:nvSpPr>
        <p:spPr>
          <a:xfrm>
            <a:off x="618611" y="1037966"/>
            <a:ext cx="10990263" cy="4744995"/>
          </a:xfrm>
        </p:spPr>
        <p:txBody>
          <a:bodyPr/>
          <a:lstStyle/>
          <a:p>
            <a:pPr marL="0" indent="0">
              <a:buNone/>
            </a:pPr>
            <a:r>
              <a:rPr lang="en-US" dirty="0" smtClean="0"/>
              <a:t>Still </a:t>
            </a:r>
            <a:r>
              <a:rPr lang="en-US" b="1" dirty="0" smtClean="0"/>
              <a:t>dominant</a:t>
            </a:r>
            <a:r>
              <a:rPr lang="en-US" dirty="0" smtClean="0"/>
              <a:t> </a:t>
            </a:r>
            <a:r>
              <a:rPr lang="en-US" dirty="0"/>
              <a:t>in </a:t>
            </a:r>
            <a:r>
              <a:rPr lang="en-US" dirty="0" smtClean="0"/>
              <a:t>industrial </a:t>
            </a:r>
            <a:r>
              <a:rPr lang="en-US" dirty="0"/>
              <a:t>motor </a:t>
            </a:r>
            <a:r>
              <a:rPr lang="en-US" dirty="0" smtClean="0"/>
              <a:t>drives, traction systems, </a:t>
            </a:r>
            <a:r>
              <a:rPr lang="en-US" dirty="0"/>
              <a:t>and </a:t>
            </a:r>
            <a:r>
              <a:rPr lang="en-US" dirty="0" smtClean="0"/>
              <a:t>renewable </a:t>
            </a:r>
            <a:r>
              <a:rPr lang="en-US" dirty="0"/>
              <a:t>energy </a:t>
            </a:r>
            <a:r>
              <a:rPr lang="en-US" dirty="0" smtClean="0"/>
              <a:t>applications owing </a:t>
            </a:r>
            <a:r>
              <a:rPr lang="en-US" dirty="0"/>
              <a:t>to:   </a:t>
            </a:r>
            <a:endParaRPr lang="en-US" dirty="0" smtClean="0"/>
          </a:p>
          <a:p>
            <a:pPr lvl="1"/>
            <a:r>
              <a:rPr lang="en-US" sz="2000" dirty="0" smtClean="0"/>
              <a:t>Structural </a:t>
            </a:r>
            <a:r>
              <a:rPr lang="en-US" sz="2000" dirty="0"/>
              <a:t>simplicity   </a:t>
            </a:r>
            <a:endParaRPr lang="en-US" sz="2000" dirty="0" smtClean="0"/>
          </a:p>
          <a:p>
            <a:pPr lvl="1"/>
            <a:r>
              <a:rPr lang="en-US" sz="2000" dirty="0" smtClean="0"/>
              <a:t>Minimal </a:t>
            </a:r>
            <a:r>
              <a:rPr lang="en-US" sz="2000" dirty="0"/>
              <a:t>component requirements </a:t>
            </a:r>
            <a:endParaRPr lang="en-US" sz="2000" dirty="0" smtClean="0"/>
          </a:p>
          <a:p>
            <a:pPr lvl="1"/>
            <a:r>
              <a:rPr lang="en-US" sz="2000" dirty="0" smtClean="0"/>
              <a:t>Simple to control</a:t>
            </a:r>
          </a:p>
          <a:p>
            <a:pPr lvl="1"/>
            <a:r>
              <a:rPr lang="en-US" sz="2000" dirty="0" smtClean="0"/>
              <a:t>Minimal cost</a:t>
            </a:r>
          </a:p>
          <a:p>
            <a:pPr marL="0" indent="0">
              <a:buNone/>
            </a:pPr>
            <a:r>
              <a:rPr lang="en-US" b="1" dirty="0" smtClean="0"/>
              <a:t>Reliability</a:t>
            </a:r>
            <a:r>
              <a:rPr lang="en-US" dirty="0" smtClean="0"/>
              <a:t> </a:t>
            </a:r>
            <a:r>
              <a:rPr lang="en-US" dirty="0"/>
              <a:t>remains a critical </a:t>
            </a:r>
            <a:r>
              <a:rPr lang="en-US" dirty="0" smtClean="0"/>
              <a:t>concern </a:t>
            </a:r>
            <a:r>
              <a:rPr lang="en-US" dirty="0"/>
              <a:t>for sustainable power conversion </a:t>
            </a:r>
            <a:r>
              <a:rPr lang="en-US" dirty="0" smtClean="0"/>
              <a:t>systems. </a:t>
            </a:r>
          </a:p>
          <a:p>
            <a:pPr marL="0" indent="0">
              <a:buNone/>
            </a:pPr>
            <a:r>
              <a:rPr lang="en-US" dirty="0" smtClean="0"/>
              <a:t>Extending the </a:t>
            </a:r>
            <a:r>
              <a:rPr lang="en-US" b="1" dirty="0" smtClean="0"/>
              <a:t>lifespan</a:t>
            </a:r>
            <a:r>
              <a:rPr lang="en-US" dirty="0" smtClean="0"/>
              <a:t> of the system is crucial at this point. </a:t>
            </a:r>
            <a:endParaRPr lang="sv-SE"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315" y="4051503"/>
            <a:ext cx="3894663" cy="2442315"/>
          </a:xfrm>
          <a:prstGeom prst="rect">
            <a:avLst/>
          </a:prstGeom>
        </p:spPr>
      </p:pic>
    </p:spTree>
    <p:extLst>
      <p:ext uri="{BB962C8B-B14F-4D97-AF65-F5344CB8AC3E}">
        <p14:creationId xmlns:p14="http://schemas.microsoft.com/office/powerpoint/2010/main" val="24615308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DC-Link Capacitor: </a:t>
            </a:r>
            <a:r>
              <a:rPr lang="en-US" dirty="0" smtClean="0"/>
              <a:t>Reliability </a:t>
            </a:r>
            <a:r>
              <a:rPr lang="en-US" dirty="0"/>
              <a:t>Bottleneck</a:t>
            </a:r>
            <a:endParaRPr lang="sv-SE" dirty="0"/>
          </a:p>
        </p:txBody>
      </p:sp>
      <p:sp>
        <p:nvSpPr>
          <p:cNvPr id="3" name="Content Placeholder 2"/>
          <p:cNvSpPr>
            <a:spLocks noGrp="1"/>
          </p:cNvSpPr>
          <p:nvPr>
            <p:ph idx="1"/>
          </p:nvPr>
        </p:nvSpPr>
        <p:spPr>
          <a:xfrm>
            <a:off x="600075" y="1044145"/>
            <a:ext cx="7036401" cy="2940909"/>
          </a:xfrm>
        </p:spPr>
        <p:txBody>
          <a:bodyPr/>
          <a:lstStyle/>
          <a:p>
            <a:pPr marL="0" indent="0">
              <a:buNone/>
            </a:pPr>
            <a:r>
              <a:rPr lang="en-US" dirty="0" smtClean="0"/>
              <a:t>Functions</a:t>
            </a:r>
            <a:r>
              <a:rPr lang="en-US" dirty="0"/>
              <a:t>:    </a:t>
            </a:r>
            <a:endParaRPr lang="en-US" dirty="0" smtClean="0"/>
          </a:p>
          <a:p>
            <a:pPr lvl="1"/>
            <a:r>
              <a:rPr lang="en-US" sz="2000" dirty="0" smtClean="0"/>
              <a:t>Stabilizes </a:t>
            </a:r>
            <a:r>
              <a:rPr lang="en-US" sz="2000" dirty="0"/>
              <a:t>DC bus voltage    </a:t>
            </a:r>
            <a:endParaRPr lang="en-US" sz="2000" dirty="0" smtClean="0"/>
          </a:p>
          <a:p>
            <a:pPr lvl="1"/>
            <a:r>
              <a:rPr lang="en-US" sz="2000" dirty="0" smtClean="0"/>
              <a:t>Suppresses switching-induced fluctuations </a:t>
            </a:r>
            <a:r>
              <a:rPr lang="en-US" sz="2000" dirty="0"/>
              <a:t>and </a:t>
            </a:r>
            <a:r>
              <a:rPr lang="en-US" sz="2000" dirty="0" smtClean="0"/>
              <a:t>parasitic oscillations</a:t>
            </a:r>
          </a:p>
          <a:p>
            <a:pPr marL="0" indent="0">
              <a:buNone/>
            </a:pPr>
            <a:r>
              <a:rPr lang="en-US" dirty="0"/>
              <a:t>Accounts for </a:t>
            </a:r>
            <a:r>
              <a:rPr lang="en-US" b="1" dirty="0"/>
              <a:t>~20% </a:t>
            </a:r>
            <a:r>
              <a:rPr lang="en-US" dirty="0"/>
              <a:t>of all VSI</a:t>
            </a:r>
            <a:r>
              <a:rPr lang="en-US" b="1" dirty="0"/>
              <a:t> failures</a:t>
            </a:r>
            <a:r>
              <a:rPr lang="en-US" dirty="0"/>
              <a:t>.  </a:t>
            </a:r>
            <a:endParaRPr lang="en-US" dirty="0" smtClean="0"/>
          </a:p>
          <a:p>
            <a:pPr marL="0" indent="0">
              <a:buNone/>
            </a:pPr>
            <a:r>
              <a:rPr lang="en-US" dirty="0" smtClean="0"/>
              <a:t>Degradation </a:t>
            </a:r>
            <a:r>
              <a:rPr lang="en-US" dirty="0"/>
              <a:t>impacts system </a:t>
            </a:r>
            <a:r>
              <a:rPr lang="en-US" b="1" dirty="0" smtClean="0"/>
              <a:t>longevity</a:t>
            </a:r>
            <a:r>
              <a:rPr lang="en-US" dirty="0" smtClean="0"/>
              <a:t>.</a:t>
            </a:r>
            <a:endParaRPr lang="en-US" dirty="0"/>
          </a:p>
          <a:p>
            <a:pPr marL="0" indent="0">
              <a:buNone/>
            </a:pPr>
            <a:r>
              <a:rPr lang="en-US" dirty="0" smtClean="0"/>
              <a:t>DC-link </a:t>
            </a:r>
            <a:r>
              <a:rPr lang="en-US" dirty="0"/>
              <a:t>current </a:t>
            </a:r>
            <a:r>
              <a:rPr lang="en-US" dirty="0" smtClean="0"/>
              <a:t>harmonics </a:t>
            </a:r>
            <a:r>
              <a:rPr lang="en-US" dirty="0"/>
              <a:t>influence </a:t>
            </a:r>
            <a:r>
              <a:rPr lang="en-US" b="1" dirty="0"/>
              <a:t>thermal stress</a:t>
            </a:r>
            <a:r>
              <a:rPr lang="en-US" dirty="0"/>
              <a:t>, affecting capacitor lifespan. </a:t>
            </a:r>
            <a:endParaRPr lang="sv-SE" dirty="0"/>
          </a:p>
        </p:txBody>
      </p:sp>
      <p:pic>
        <p:nvPicPr>
          <p:cNvPr id="4" name="Picture 3"/>
          <p:cNvPicPr>
            <a:picLocks noChangeAspect="1"/>
          </p:cNvPicPr>
          <p:nvPr/>
        </p:nvPicPr>
        <p:blipFill rotWithShape="1">
          <a:blip r:embed="rId2"/>
          <a:srcRect t="11493"/>
          <a:stretch/>
        </p:blipFill>
        <p:spPr>
          <a:xfrm>
            <a:off x="1017616" y="4085967"/>
            <a:ext cx="3372387" cy="690176"/>
          </a:xfrm>
          <a:prstGeom prst="rect">
            <a:avLst/>
          </a:prstGeom>
        </p:spPr>
      </p:pic>
      <p:pic>
        <p:nvPicPr>
          <p:cNvPr id="5" name="Picture 4"/>
          <p:cNvPicPr>
            <a:picLocks noChangeAspect="1"/>
          </p:cNvPicPr>
          <p:nvPr/>
        </p:nvPicPr>
        <p:blipFill>
          <a:blip r:embed="rId3"/>
          <a:stretch>
            <a:fillRect/>
          </a:stretch>
        </p:blipFill>
        <p:spPr>
          <a:xfrm>
            <a:off x="400247" y="4830107"/>
            <a:ext cx="4318301" cy="571444"/>
          </a:xfrm>
          <a:prstGeom prst="rect">
            <a:avLst/>
          </a:prstGeom>
        </p:spPr>
      </p:pic>
      <p:pic>
        <p:nvPicPr>
          <p:cNvPr id="6" name="Picture 5"/>
          <p:cNvPicPr>
            <a:picLocks noChangeAspect="1"/>
          </p:cNvPicPr>
          <p:nvPr/>
        </p:nvPicPr>
        <p:blipFill>
          <a:blip r:embed="rId4"/>
          <a:stretch>
            <a:fillRect/>
          </a:stretch>
        </p:blipFill>
        <p:spPr>
          <a:xfrm>
            <a:off x="763294" y="5621196"/>
            <a:ext cx="3626709" cy="745623"/>
          </a:xfrm>
          <a:prstGeom prst="rect">
            <a:avLst/>
          </a:prstGeom>
        </p:spPr>
      </p:pic>
      <p:sp>
        <p:nvSpPr>
          <p:cNvPr id="7" name="Rectangle 6"/>
          <p:cNvSpPr/>
          <p:nvPr/>
        </p:nvSpPr>
        <p:spPr>
          <a:xfrm>
            <a:off x="5301435" y="4034647"/>
            <a:ext cx="6180323" cy="2585323"/>
          </a:xfrm>
          <a:prstGeom prst="rect">
            <a:avLst/>
          </a:prstGeom>
        </p:spPr>
        <p:txBody>
          <a:bodyPr wrap="square">
            <a:spAutoFit/>
          </a:bodyPr>
          <a:lstStyle/>
          <a:p>
            <a:pPr marL="285750" indent="-285750">
              <a:buFont typeface="Arial" panose="020B0604020202020204" pitchFamily="34" charset="0"/>
              <a:buChar char="•"/>
            </a:pPr>
            <a:r>
              <a:rPr lang="en-US" dirty="0"/>
              <a:t>Capacitor lifetime improves with lower </a:t>
            </a:r>
            <a:r>
              <a:rPr lang="en-US" b="1" dirty="0"/>
              <a:t>hot-spot temperatures</a:t>
            </a:r>
            <a:r>
              <a:rPr lang="en-US" b="1"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Hot-spot temperature depends on power losses, which decrease when the </a:t>
            </a:r>
            <a:r>
              <a:rPr lang="en-US" b="1" dirty="0"/>
              <a:t>RMS value </a:t>
            </a:r>
            <a:r>
              <a:rPr lang="en-US" dirty="0"/>
              <a:t>of the </a:t>
            </a:r>
            <a:r>
              <a:rPr lang="en-US" b="1" dirty="0"/>
              <a:t>capacitor current </a:t>
            </a:r>
            <a:r>
              <a:rPr lang="en-US" dirty="0"/>
              <a:t>is reduced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Therefore, </a:t>
            </a:r>
            <a:r>
              <a:rPr lang="en-US" b="1" dirty="0"/>
              <a:t>minimizing</a:t>
            </a:r>
            <a:r>
              <a:rPr lang="en-US" dirty="0"/>
              <a:t> the capacitor's </a:t>
            </a:r>
            <a:r>
              <a:rPr lang="en-US" b="1" dirty="0"/>
              <a:t>ripple</a:t>
            </a:r>
            <a:r>
              <a:rPr lang="en-US" dirty="0"/>
              <a:t> current helps </a:t>
            </a:r>
            <a:r>
              <a:rPr lang="en-US" b="1" dirty="0"/>
              <a:t>extend</a:t>
            </a:r>
            <a:r>
              <a:rPr lang="en-US" dirty="0"/>
              <a:t> its </a:t>
            </a:r>
            <a:r>
              <a:rPr lang="en-US" b="1" dirty="0"/>
              <a:t>lifespan</a:t>
            </a:r>
            <a:r>
              <a:rPr lang="en-US" dirty="0"/>
              <a:t>.</a:t>
            </a:r>
          </a:p>
        </p:txBody>
      </p:sp>
      <p:pic>
        <p:nvPicPr>
          <p:cNvPr id="10" name="Picture 9"/>
          <p:cNvPicPr>
            <a:picLocks noChangeAspect="1"/>
          </p:cNvPicPr>
          <p:nvPr/>
        </p:nvPicPr>
        <p:blipFill>
          <a:blip r:embed="rId5"/>
          <a:stretch>
            <a:fillRect/>
          </a:stretch>
        </p:blipFill>
        <p:spPr>
          <a:xfrm>
            <a:off x="7027120" y="1410479"/>
            <a:ext cx="4254599" cy="1916448"/>
          </a:xfrm>
          <a:prstGeom prst="rect">
            <a:avLst/>
          </a:prstGeom>
        </p:spPr>
      </p:pic>
    </p:spTree>
    <p:extLst>
      <p:ext uri="{BB962C8B-B14F-4D97-AF65-F5344CB8AC3E}">
        <p14:creationId xmlns:p14="http://schemas.microsoft.com/office/powerpoint/2010/main" val="30220696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Reducing </a:t>
            </a:r>
            <a:r>
              <a:rPr lang="en-US" dirty="0"/>
              <a:t>Current Ripple &amp; Stress</a:t>
            </a:r>
            <a:endParaRPr lang="sv-SE" dirty="0"/>
          </a:p>
        </p:txBody>
      </p:sp>
      <p:sp>
        <p:nvSpPr>
          <p:cNvPr id="3" name="Content Placeholder 2"/>
          <p:cNvSpPr>
            <a:spLocks noGrp="1"/>
          </p:cNvSpPr>
          <p:nvPr>
            <p:ph idx="1"/>
          </p:nvPr>
        </p:nvSpPr>
        <p:spPr>
          <a:xfrm>
            <a:off x="600076" y="1044146"/>
            <a:ext cx="10879352" cy="3274540"/>
          </a:xfrm>
        </p:spPr>
        <p:txBody>
          <a:bodyPr/>
          <a:lstStyle/>
          <a:p>
            <a:pPr marL="0" indent="0">
              <a:buNone/>
            </a:pPr>
            <a:r>
              <a:rPr lang="en-US" dirty="0" smtClean="0"/>
              <a:t>Advanced </a:t>
            </a:r>
            <a:r>
              <a:rPr lang="en-US" dirty="0"/>
              <a:t>modulation </a:t>
            </a:r>
            <a:r>
              <a:rPr lang="en-US" dirty="0" smtClean="0"/>
              <a:t>techniques </a:t>
            </a:r>
            <a:r>
              <a:rPr lang="en-US" dirty="0"/>
              <a:t>aim to:   </a:t>
            </a:r>
          </a:p>
          <a:p>
            <a:pPr lvl="1"/>
            <a:r>
              <a:rPr lang="en-US" sz="2000" dirty="0" smtClean="0"/>
              <a:t>Minimize </a:t>
            </a:r>
            <a:r>
              <a:rPr lang="en-US" sz="2000" dirty="0"/>
              <a:t>inverter-induced current ripple  </a:t>
            </a:r>
            <a:endParaRPr lang="en-US" sz="2000" dirty="0" smtClean="0"/>
          </a:p>
          <a:p>
            <a:pPr lvl="1"/>
            <a:r>
              <a:rPr lang="en-US" sz="2000" dirty="0" smtClean="0"/>
              <a:t>Reduce </a:t>
            </a:r>
            <a:r>
              <a:rPr lang="en-US" sz="2000" dirty="0"/>
              <a:t>DC-link current stress   </a:t>
            </a:r>
            <a:endParaRPr lang="en-US" sz="2000" dirty="0" smtClean="0"/>
          </a:p>
          <a:p>
            <a:pPr lvl="1"/>
            <a:r>
              <a:rPr lang="en-US" sz="2000" dirty="0" smtClean="0"/>
              <a:t>Maintain </a:t>
            </a:r>
            <a:r>
              <a:rPr lang="en-US" sz="2000" dirty="0"/>
              <a:t>system performance &amp; durability  </a:t>
            </a:r>
            <a:endParaRPr lang="en-US" sz="2000" dirty="0" smtClean="0"/>
          </a:p>
          <a:p>
            <a:pPr marL="0" indent="0">
              <a:buNone/>
            </a:pPr>
            <a:r>
              <a:rPr lang="en-US" b="1" dirty="0" smtClean="0"/>
              <a:t>Interleaving</a:t>
            </a:r>
            <a:r>
              <a:rPr lang="en-US" dirty="0" smtClean="0"/>
              <a:t> techniques </a:t>
            </a:r>
            <a:r>
              <a:rPr lang="en-US" dirty="0"/>
              <a:t>modify </a:t>
            </a:r>
            <a:r>
              <a:rPr lang="en-US" dirty="0" smtClean="0"/>
              <a:t>carrier </a:t>
            </a:r>
            <a:r>
              <a:rPr lang="en-US" dirty="0"/>
              <a:t>phase-shift </a:t>
            </a:r>
            <a:r>
              <a:rPr lang="en-US" dirty="0" smtClean="0"/>
              <a:t>relationships </a:t>
            </a:r>
            <a:r>
              <a:rPr lang="en-US" dirty="0"/>
              <a:t>to reduce stress</a:t>
            </a:r>
            <a:r>
              <a:rPr lang="en-US" dirty="0" smtClean="0"/>
              <a:t>.</a:t>
            </a:r>
          </a:p>
          <a:p>
            <a:pPr marL="0" indent="0">
              <a:buNone/>
            </a:pPr>
            <a:r>
              <a:rPr lang="en-US" dirty="0"/>
              <a:t>Primarily applied in </a:t>
            </a:r>
            <a:r>
              <a:rPr lang="en-US" b="1" dirty="0"/>
              <a:t>multi-converter systems</a:t>
            </a:r>
            <a:r>
              <a:rPr lang="en-US" dirty="0"/>
              <a:t>, such as: </a:t>
            </a:r>
          </a:p>
          <a:p>
            <a:pPr lvl="1"/>
            <a:r>
              <a:rPr lang="en-US" sz="2000" dirty="0"/>
              <a:t>Dual-inverter architectures </a:t>
            </a:r>
            <a:r>
              <a:rPr lang="en-US" sz="2000" dirty="0" smtClean="0"/>
              <a:t>(e.g. Segmented motor drives)   </a:t>
            </a:r>
            <a:endParaRPr lang="en-US" sz="2000" dirty="0"/>
          </a:p>
          <a:p>
            <a:pPr lvl="1"/>
            <a:r>
              <a:rPr lang="en-US" sz="2000" dirty="0"/>
              <a:t>Systems with integrated front-end converters  for DC-link regulation  </a:t>
            </a:r>
          </a:p>
          <a:p>
            <a:pPr marL="0" indent="0">
              <a:buNone/>
            </a:pPr>
            <a:r>
              <a:rPr lang="en-US" dirty="0" smtClean="0"/>
              <a:t> </a:t>
            </a:r>
            <a:endParaRPr lang="sv-SE" dirty="0"/>
          </a:p>
        </p:txBody>
      </p:sp>
      <p:pic>
        <p:nvPicPr>
          <p:cNvPr id="4" name="Picture 3">
            <a:extLst>
              <a:ext uri="{FF2B5EF4-FFF2-40B4-BE49-F238E27FC236}">
                <a16:creationId xmlns:a16="http://schemas.microsoft.com/office/drawing/2014/main" id="{3DFFF436-23DF-49E5-9C44-CB917E970CFB}"/>
              </a:ext>
            </a:extLst>
          </p:cNvPr>
          <p:cNvPicPr>
            <a:picLocks noChangeAspect="1"/>
          </p:cNvPicPr>
          <p:nvPr/>
        </p:nvPicPr>
        <p:blipFill>
          <a:blip r:embed="rId2"/>
          <a:stretch>
            <a:fillRect/>
          </a:stretch>
        </p:blipFill>
        <p:spPr>
          <a:xfrm>
            <a:off x="1695451" y="4230390"/>
            <a:ext cx="3720304" cy="2215889"/>
          </a:xfrm>
          <a:prstGeom prst="rect">
            <a:avLst/>
          </a:prstGeom>
        </p:spPr>
      </p:pic>
      <p:pic>
        <p:nvPicPr>
          <p:cNvPr id="5" name="Picture 4"/>
          <p:cNvPicPr>
            <a:picLocks noChangeAspect="1"/>
          </p:cNvPicPr>
          <p:nvPr/>
        </p:nvPicPr>
        <p:blipFill>
          <a:blip r:embed="rId3"/>
          <a:stretch>
            <a:fillRect/>
          </a:stretch>
        </p:blipFill>
        <p:spPr>
          <a:xfrm>
            <a:off x="6164134" y="4230390"/>
            <a:ext cx="3052078" cy="2337504"/>
          </a:xfrm>
          <a:prstGeom prst="rect">
            <a:avLst/>
          </a:prstGeom>
        </p:spPr>
      </p:pic>
    </p:spTree>
    <p:extLst>
      <p:ext uri="{BB962C8B-B14F-4D97-AF65-F5344CB8AC3E}">
        <p14:creationId xmlns:p14="http://schemas.microsoft.com/office/powerpoint/2010/main" val="35951659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Interleaving </a:t>
            </a:r>
            <a:r>
              <a:rPr lang="en-US" dirty="0"/>
              <a:t>for Single 2L-VSI</a:t>
            </a:r>
            <a:endParaRPr lang="sv-SE" dirty="0"/>
          </a:p>
        </p:txBody>
      </p:sp>
      <p:sp>
        <p:nvSpPr>
          <p:cNvPr id="3" name="Content Placeholder 2"/>
          <p:cNvSpPr>
            <a:spLocks noGrp="1"/>
          </p:cNvSpPr>
          <p:nvPr>
            <p:ph idx="1"/>
          </p:nvPr>
        </p:nvSpPr>
        <p:spPr>
          <a:xfrm>
            <a:off x="417195" y="1035642"/>
            <a:ext cx="10990263" cy="1124466"/>
          </a:xfrm>
        </p:spPr>
        <p:txBody>
          <a:bodyPr/>
          <a:lstStyle/>
          <a:p>
            <a:pPr marL="0" indent="0">
              <a:buNone/>
            </a:pPr>
            <a:r>
              <a:rPr lang="en-US" sz="1800" dirty="0" smtClean="0"/>
              <a:t>Existing </a:t>
            </a:r>
            <a:r>
              <a:rPr lang="en-US" sz="1800" dirty="0"/>
              <a:t>Interleaving Approaches &amp; Limitations</a:t>
            </a:r>
          </a:p>
          <a:p>
            <a:pPr lvl="1"/>
            <a:r>
              <a:rPr lang="en-US" dirty="0"/>
              <a:t>Require additional </a:t>
            </a:r>
            <a:r>
              <a:rPr lang="en-US" dirty="0" smtClean="0"/>
              <a:t>switches (</a:t>
            </a:r>
            <a:r>
              <a:rPr lang="en-US" dirty="0"/>
              <a:t>pre-converters, parallel inverters)    </a:t>
            </a:r>
          </a:p>
          <a:p>
            <a:pPr lvl="1"/>
            <a:r>
              <a:rPr lang="en-US" dirty="0"/>
              <a:t>Not applicable </a:t>
            </a:r>
            <a:r>
              <a:rPr lang="en-US" dirty="0" smtClean="0"/>
              <a:t>for several applications that aim to achieve a cost-effective </a:t>
            </a:r>
            <a:r>
              <a:rPr lang="en-US" dirty="0"/>
              <a:t>solution</a:t>
            </a:r>
            <a:r>
              <a:rPr lang="en-US" dirty="0" smtClean="0"/>
              <a:t>. </a:t>
            </a:r>
            <a:endParaRPr lang="sv-SE" dirty="0"/>
          </a:p>
          <a:p>
            <a:pPr marL="457200" lvl="1" indent="0">
              <a:buNone/>
            </a:pPr>
            <a:endParaRPr lang="sv-SE" sz="2400" dirty="0"/>
          </a:p>
        </p:txBody>
      </p:sp>
      <p:sp>
        <p:nvSpPr>
          <p:cNvPr id="4" name="Rectangle 3"/>
          <p:cNvSpPr/>
          <p:nvPr/>
        </p:nvSpPr>
        <p:spPr>
          <a:xfrm>
            <a:off x="441253" y="3095971"/>
            <a:ext cx="5013277" cy="2339102"/>
          </a:xfrm>
          <a:prstGeom prst="rect">
            <a:avLst/>
          </a:prstGeom>
        </p:spPr>
        <p:txBody>
          <a:bodyPr wrap="square">
            <a:spAutoFit/>
          </a:bodyPr>
          <a:lstStyle/>
          <a:p>
            <a:r>
              <a:rPr lang="en-US" dirty="0" smtClean="0"/>
              <a:t>We propose a novel interleaving between the phase legs of a single two-level VSI. </a:t>
            </a:r>
          </a:p>
          <a:p>
            <a:r>
              <a:rPr lang="en-US" dirty="0" smtClean="0"/>
              <a:t>Challenges:   </a:t>
            </a:r>
          </a:p>
          <a:p>
            <a:pPr marL="800100" lvl="1" indent="-342900">
              <a:buFont typeface="Arial" panose="020B0604020202020204" pitchFamily="34" charset="0"/>
              <a:buChar char="•"/>
            </a:pPr>
            <a:r>
              <a:rPr lang="en-US" b="1" dirty="0" smtClean="0"/>
              <a:t>Time-varying</a:t>
            </a:r>
            <a:r>
              <a:rPr lang="en-US" dirty="0" smtClean="0"/>
              <a:t> leg currents complicate implementation.</a:t>
            </a:r>
          </a:p>
          <a:p>
            <a:pPr marL="800100" lvl="1" indent="-342900">
              <a:buFont typeface="Arial" panose="020B0604020202020204" pitchFamily="34" charset="0"/>
              <a:buChar char="•"/>
            </a:pPr>
            <a:r>
              <a:rPr lang="en-US" dirty="0" smtClean="0"/>
              <a:t>Unlike parallel systems, it requires </a:t>
            </a:r>
            <a:r>
              <a:rPr lang="en-US" b="1" dirty="0" smtClean="0"/>
              <a:t>dynamic</a:t>
            </a:r>
            <a:r>
              <a:rPr lang="en-US" dirty="0" smtClean="0"/>
              <a:t> phase adjustment.  </a:t>
            </a:r>
          </a:p>
          <a:p>
            <a:pPr>
              <a:buFontTx/>
              <a:buChar char="-"/>
            </a:pPr>
            <a:endParaRPr lang="en-US" sz="2000" dirty="0" smtClean="0"/>
          </a:p>
        </p:txBody>
      </p:sp>
      <p:pic>
        <p:nvPicPr>
          <p:cNvPr id="11" name="Picture 10"/>
          <p:cNvPicPr>
            <a:picLocks noChangeAspect="1"/>
          </p:cNvPicPr>
          <p:nvPr/>
        </p:nvPicPr>
        <p:blipFill>
          <a:blip r:embed="rId2"/>
          <a:stretch>
            <a:fillRect/>
          </a:stretch>
        </p:blipFill>
        <p:spPr>
          <a:xfrm>
            <a:off x="6604026" y="2854018"/>
            <a:ext cx="4591195" cy="2194361"/>
          </a:xfrm>
          <a:prstGeom prst="rect">
            <a:avLst/>
          </a:prstGeom>
        </p:spPr>
      </p:pic>
    </p:spTree>
    <p:extLst>
      <p:ext uri="{BB962C8B-B14F-4D97-AF65-F5344CB8AC3E}">
        <p14:creationId xmlns:p14="http://schemas.microsoft.com/office/powerpoint/2010/main" val="2555852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sp>
        <p:nvSpPr>
          <p:cNvPr id="15" name="Rectangle 14"/>
          <p:cNvSpPr/>
          <p:nvPr/>
        </p:nvSpPr>
        <p:spPr>
          <a:xfrm>
            <a:off x="419100" y="953867"/>
            <a:ext cx="8983980" cy="707886"/>
          </a:xfrm>
          <a:prstGeom prst="rect">
            <a:avLst/>
          </a:prstGeom>
        </p:spPr>
        <p:txBody>
          <a:bodyPr wrap="square">
            <a:spAutoFit/>
          </a:bodyPr>
          <a:lstStyle/>
          <a:p>
            <a:pPr marL="800100" lvl="1" indent="-342900">
              <a:buFont typeface="Arial" panose="020B0604020202020204" pitchFamily="34" charset="0"/>
              <a:buChar char="•"/>
            </a:pPr>
            <a:r>
              <a:rPr lang="en-US" sz="2000" b="1" dirty="0"/>
              <a:t>Adaptively</a:t>
            </a:r>
            <a:r>
              <a:rPr lang="en-US" sz="2000" dirty="0"/>
              <a:t> adjusts carrier phase shifts in real-time.    </a:t>
            </a:r>
          </a:p>
          <a:p>
            <a:pPr marL="800100" lvl="1" indent="-342900">
              <a:buFont typeface="Arial" panose="020B0604020202020204" pitchFamily="34" charset="0"/>
              <a:buChar char="•"/>
            </a:pPr>
            <a:r>
              <a:rPr lang="en-US" sz="2000" dirty="0"/>
              <a:t>Optimizes current stress reduction while maintaining performance</a:t>
            </a:r>
            <a:endParaRPr lang="sv-SE" sz="2000" dirty="0"/>
          </a:p>
        </p:txBody>
      </p:sp>
      <mc:AlternateContent xmlns:mc="http://schemas.openxmlformats.org/markup-compatibility/2006" xmlns:a14="http://schemas.microsoft.com/office/drawing/2010/main">
        <mc:Choice Requires="a14">
          <p:sp>
            <p:nvSpPr>
              <p:cNvPr id="32" name="TextBox 31"/>
              <p:cNvSpPr txBox="1"/>
              <p:nvPr/>
            </p:nvSpPr>
            <p:spPr>
              <a:xfrm>
                <a:off x="2802887" y="5135641"/>
                <a:ext cx="62484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sv-SE" dirty="0" smtClean="0"/>
                  <a:t> </a:t>
                </a:r>
                <a:endParaRPr lang="sv-SE" dirty="0"/>
              </a:p>
            </p:txBody>
          </p:sp>
        </mc:Choice>
        <mc:Fallback xmlns="">
          <p:sp>
            <p:nvSpPr>
              <p:cNvPr id="32" name="TextBox 31"/>
              <p:cNvSpPr txBox="1">
                <a:spLocks noRot="1" noChangeAspect="1" noMove="1" noResize="1" noEditPoints="1" noAdjustHandles="1" noChangeArrowheads="1" noChangeShapeType="1" noTextEdit="1"/>
              </p:cNvSpPr>
              <p:nvPr/>
            </p:nvSpPr>
            <p:spPr>
              <a:xfrm>
                <a:off x="2802887" y="5135641"/>
                <a:ext cx="62484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816376" y="51300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sv-SE" b="0" i="1" dirty="0" smtClean="0">
                            <a:latin typeface="Cambria Math" panose="02040503050406030204" pitchFamily="18" charset="0"/>
                          </a:rPr>
                          <m:t>𝑁𝑠𝑤</m:t>
                        </m:r>
                      </m:sub>
                    </m:sSub>
                  </m:oMath>
                </a14:m>
                <a:r>
                  <a:rPr lang="sv-SE" dirty="0" smtClean="0"/>
                  <a:t> </a:t>
                </a:r>
                <a:endParaRPr lang="sv-SE" dirty="0"/>
              </a:p>
            </p:txBody>
          </p:sp>
        </mc:Choice>
        <mc:Fallback xmlns="">
          <p:sp>
            <p:nvSpPr>
              <p:cNvPr id="33" name="TextBox 32"/>
              <p:cNvSpPr txBox="1">
                <a:spLocks noRot="1" noChangeAspect="1" noMove="1" noResize="1" noEditPoints="1" noAdjustHandles="1" noChangeArrowheads="1" noChangeShapeType="1" noTextEdit="1"/>
              </p:cNvSpPr>
              <p:nvPr/>
            </p:nvSpPr>
            <p:spPr>
              <a:xfrm>
                <a:off x="3816376" y="5130045"/>
                <a:ext cx="693420" cy="369332"/>
              </a:xfrm>
              <a:prstGeom prst="rect">
                <a:avLst/>
              </a:prstGeom>
              <a:blipFill>
                <a:blip r:embed="rId3"/>
                <a:stretch>
                  <a:fillRect r="-13158" b="-1667"/>
                </a:stretch>
              </a:blipFill>
            </p:spPr>
            <p:txBody>
              <a:bodyPr/>
              <a:lstStyle/>
              <a:p>
                <a:r>
                  <a:rPr lang="sv-SE">
                    <a:noFill/>
                  </a:rPr>
                  <a:t> </a:t>
                </a:r>
              </a:p>
            </p:txBody>
          </p:sp>
        </mc:Fallback>
      </mc:AlternateContent>
      <p:sp>
        <p:nvSpPr>
          <p:cNvPr id="37" name="TextBox 36"/>
          <p:cNvSpPr txBox="1"/>
          <p:nvPr/>
        </p:nvSpPr>
        <p:spPr>
          <a:xfrm>
            <a:off x="419100" y="5148913"/>
            <a:ext cx="2831462" cy="369332"/>
          </a:xfrm>
          <a:prstGeom prst="rect">
            <a:avLst/>
          </a:prstGeom>
          <a:noFill/>
        </p:spPr>
        <p:txBody>
          <a:bodyPr wrap="square" rtlCol="0">
            <a:spAutoFit/>
          </a:bodyPr>
          <a:lstStyle/>
          <a:p>
            <a:r>
              <a:rPr lang="en-US" b="1" dirty="0" smtClean="0"/>
              <a:t>Operating condition</a:t>
            </a:r>
            <a:endParaRPr lang="sv-SE" b="1" dirty="0"/>
          </a:p>
        </p:txBody>
      </p:sp>
      <p:sp>
        <p:nvSpPr>
          <p:cNvPr id="38" name="TextBox 37"/>
          <p:cNvSpPr txBox="1"/>
          <p:nvPr/>
        </p:nvSpPr>
        <p:spPr>
          <a:xfrm>
            <a:off x="470961" y="5518245"/>
            <a:ext cx="2331926" cy="369332"/>
          </a:xfrm>
          <a:prstGeom prst="rect">
            <a:avLst/>
          </a:prstGeom>
          <a:noFill/>
        </p:spPr>
        <p:txBody>
          <a:bodyPr wrap="square" rtlCol="0">
            <a:spAutoFit/>
          </a:bodyPr>
          <a:lstStyle/>
          <a:p>
            <a:r>
              <a:rPr lang="en-US" b="1" dirty="0" smtClean="0"/>
              <a:t>Fundamental Phase</a:t>
            </a:r>
            <a:endParaRPr lang="sv-SE" b="1" dirty="0"/>
          </a:p>
        </p:txBody>
      </p:sp>
      <mc:AlternateContent xmlns:mc="http://schemas.openxmlformats.org/markup-compatibility/2006" xmlns:a14="http://schemas.microsoft.com/office/drawing/2010/main">
        <mc:Choice Requires="a14">
          <p:sp>
            <p:nvSpPr>
              <p:cNvPr id="39" name="TextBox 38"/>
              <p:cNvSpPr txBox="1"/>
              <p:nvPr/>
            </p:nvSpPr>
            <p:spPr>
              <a:xfrm>
                <a:off x="2842921" y="5523841"/>
                <a:ext cx="624840"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0</m:t>
                    </m:r>
                  </m:oMath>
                </a14:m>
                <a:r>
                  <a:rPr lang="sv-SE" dirty="0" smtClean="0"/>
                  <a:t> </a:t>
                </a:r>
                <a:endParaRPr lang="sv-SE" dirty="0"/>
              </a:p>
            </p:txBody>
          </p:sp>
        </mc:Choice>
        <mc:Fallback xmlns="">
          <p:sp>
            <p:nvSpPr>
              <p:cNvPr id="39" name="TextBox 38"/>
              <p:cNvSpPr txBox="1">
                <a:spLocks noRot="1" noChangeAspect="1" noMove="1" noResize="1" noEditPoints="1" noAdjustHandles="1" noChangeArrowheads="1" noChangeShapeType="1" noTextEdit="1"/>
              </p:cNvSpPr>
              <p:nvPr/>
            </p:nvSpPr>
            <p:spPr>
              <a:xfrm>
                <a:off x="2842921" y="5523841"/>
                <a:ext cx="62484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856410" y="55182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𝜋</m:t>
                    </m:r>
                  </m:oMath>
                </a14:m>
                <a:r>
                  <a:rPr lang="sv-SE" dirty="0" smtClean="0"/>
                  <a:t> </a:t>
                </a:r>
                <a:endParaRPr lang="sv-SE" dirty="0"/>
              </a:p>
            </p:txBody>
          </p:sp>
        </mc:Choice>
        <mc:Fallback xmlns="">
          <p:sp>
            <p:nvSpPr>
              <p:cNvPr id="40" name="TextBox 39"/>
              <p:cNvSpPr txBox="1">
                <a:spLocks noRot="1" noChangeAspect="1" noMove="1" noResize="1" noEditPoints="1" noAdjustHandles="1" noChangeArrowheads="1" noChangeShapeType="1" noTextEdit="1"/>
              </p:cNvSpPr>
              <p:nvPr/>
            </p:nvSpPr>
            <p:spPr>
              <a:xfrm>
                <a:off x="3856410" y="5518245"/>
                <a:ext cx="69342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7564455" y="5365522"/>
                <a:ext cx="4434840" cy="557845"/>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𝑁</m:t>
                        </m:r>
                      </m:e>
                      <m:sub>
                        <m:r>
                          <a:rPr lang="sv-SE" b="0" i="1" smtClean="0">
                            <a:latin typeface="Cambria Math" panose="02040503050406030204" pitchFamily="18" charset="0"/>
                          </a:rPr>
                          <m:t>𝑠𝑤</m:t>
                        </m:r>
                      </m:sub>
                    </m:sSub>
                  </m:oMath>
                </a14:m>
                <a:r>
                  <a:rPr lang="en-US" dirty="0" smtClean="0"/>
                  <a:t> is the frequency ratio: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𝑓𝑢𝑛𝑑</m:t>
                            </m:r>
                          </m:sub>
                        </m:sSub>
                      </m:den>
                    </m:f>
                  </m:oMath>
                </a14:m>
                <a:endParaRPr lang="sv-SE" dirty="0"/>
              </a:p>
            </p:txBody>
          </p:sp>
        </mc:Choice>
        <mc:Fallback xmlns="">
          <p:sp>
            <p:nvSpPr>
              <p:cNvPr id="42" name="TextBox 41"/>
              <p:cNvSpPr txBox="1">
                <a:spLocks noRot="1" noChangeAspect="1" noMove="1" noResize="1" noEditPoints="1" noAdjustHandles="1" noChangeArrowheads="1" noChangeShapeType="1" noTextEdit="1"/>
              </p:cNvSpPr>
              <p:nvPr/>
            </p:nvSpPr>
            <p:spPr>
              <a:xfrm>
                <a:off x="7564455" y="5365522"/>
                <a:ext cx="4434840" cy="557845"/>
              </a:xfrm>
              <a:prstGeom prst="rect">
                <a:avLst/>
              </a:prstGeom>
              <a:blipFill>
                <a:blip r:embed="rId6"/>
                <a:stretch>
                  <a:fillRect b="-3261"/>
                </a:stretch>
              </a:blipFill>
            </p:spPr>
            <p:txBody>
              <a:bodyPr/>
              <a:lstStyle/>
              <a:p>
                <a:r>
                  <a:rPr lang="sv-SE">
                    <a:noFill/>
                  </a:rPr>
                  <a:t> </a:t>
                </a:r>
              </a:p>
            </p:txBody>
          </p:sp>
        </mc:Fallback>
      </mc:AlternateContent>
      <p:sp>
        <p:nvSpPr>
          <p:cNvPr id="51" name="TextBox 50"/>
          <p:cNvSpPr txBox="1"/>
          <p:nvPr/>
        </p:nvSpPr>
        <p:spPr>
          <a:xfrm>
            <a:off x="430927" y="5960058"/>
            <a:ext cx="2331926" cy="369332"/>
          </a:xfrm>
          <a:prstGeom prst="rect">
            <a:avLst/>
          </a:prstGeom>
          <a:noFill/>
        </p:spPr>
        <p:txBody>
          <a:bodyPr wrap="square" rtlCol="0">
            <a:spAutoFit/>
          </a:bodyPr>
          <a:lstStyle/>
          <a:p>
            <a:r>
              <a:rPr lang="en-US" b="1" dirty="0" smtClean="0"/>
              <a:t>Carrier phase shift</a:t>
            </a:r>
            <a:endParaRPr lang="sv-SE" b="1" dirty="0"/>
          </a:p>
        </p:txBody>
      </p:sp>
      <mc:AlternateContent xmlns:mc="http://schemas.openxmlformats.org/markup-compatibility/2006" xmlns:a14="http://schemas.microsoft.com/office/drawing/2010/main">
        <mc:Choice Requires="a14">
          <p:sp>
            <p:nvSpPr>
              <p:cNvPr id="52" name="TextBox 51"/>
              <p:cNvSpPr txBox="1"/>
              <p:nvPr/>
            </p:nvSpPr>
            <p:spPr>
              <a:xfrm>
                <a:off x="2802887" y="5965654"/>
                <a:ext cx="62484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𝑂𝐶</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𝑂𝐶</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oMath>
                </a14:m>
                <a:r>
                  <a:rPr lang="sv-SE" dirty="0" smtClean="0"/>
                  <a:t> </a:t>
                </a:r>
                <a:endParaRPr lang="sv-SE" dirty="0"/>
              </a:p>
            </p:txBody>
          </p:sp>
        </mc:Choice>
        <mc:Fallback xmlns="">
          <p:sp>
            <p:nvSpPr>
              <p:cNvPr id="52" name="TextBox 51"/>
              <p:cNvSpPr txBox="1">
                <a:spLocks noRot="1" noChangeAspect="1" noMove="1" noResize="1" noEditPoints="1" noAdjustHandles="1" noChangeArrowheads="1" noChangeShapeType="1" noTextEdit="1"/>
              </p:cNvSpPr>
              <p:nvPr/>
            </p:nvSpPr>
            <p:spPr>
              <a:xfrm>
                <a:off x="2802887" y="5965654"/>
                <a:ext cx="624840" cy="369332"/>
              </a:xfrm>
              <a:prstGeom prst="rect">
                <a:avLst/>
              </a:prstGeom>
              <a:blipFill>
                <a:blip r:embed="rId7"/>
                <a:stretch>
                  <a:fillRect l="-3922" r="-214706" b="-1833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5025057" y="5955715"/>
                <a:ext cx="2297680" cy="424155"/>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oMath>
                </a14:m>
                <a:r>
                  <a:rPr lang="sv-SE" dirty="0"/>
                  <a:t> </a:t>
                </a:r>
              </a:p>
            </p:txBody>
          </p:sp>
        </mc:Choice>
        <mc:Fallback xmlns="">
          <p:sp>
            <p:nvSpPr>
              <p:cNvPr id="55" name="Rectangle 54"/>
              <p:cNvSpPr>
                <a:spLocks noRot="1" noChangeAspect="1" noMove="1" noResize="1" noEditPoints="1" noAdjustHandles="1" noChangeArrowheads="1" noChangeShapeType="1" noTextEdit="1"/>
              </p:cNvSpPr>
              <p:nvPr/>
            </p:nvSpPr>
            <p:spPr>
              <a:xfrm>
                <a:off x="5025057" y="5955715"/>
                <a:ext cx="2297680" cy="424155"/>
              </a:xfrm>
              <a:prstGeom prst="rect">
                <a:avLst/>
              </a:prstGeom>
              <a:blipFill>
                <a:blip r:embed="rId8"/>
                <a:stretch>
                  <a:fillRect l="-796" b="-4286"/>
                </a:stretch>
              </a:blipFill>
            </p:spPr>
            <p:txBody>
              <a:bodyPr/>
              <a:lstStyle/>
              <a:p>
                <a:r>
                  <a:rPr lang="sv-SE">
                    <a:noFill/>
                  </a:rPr>
                  <a:t> </a:t>
                </a:r>
              </a:p>
            </p:txBody>
          </p:sp>
        </mc:Fallback>
      </mc:AlternateContent>
      <p:sp>
        <p:nvSpPr>
          <p:cNvPr id="57" name="TextBox 56"/>
          <p:cNvSpPr txBox="1"/>
          <p:nvPr/>
        </p:nvSpPr>
        <p:spPr>
          <a:xfrm>
            <a:off x="3427727" y="5174837"/>
            <a:ext cx="304829" cy="369332"/>
          </a:xfrm>
          <a:prstGeom prst="rect">
            <a:avLst/>
          </a:prstGeom>
          <a:noFill/>
        </p:spPr>
        <p:txBody>
          <a:bodyPr wrap="square" rtlCol="0">
            <a:spAutoFit/>
          </a:bodyPr>
          <a:lstStyle/>
          <a:p>
            <a:r>
              <a:rPr lang="en-US" dirty="0" smtClean="0"/>
              <a:t>…</a:t>
            </a:r>
            <a:endParaRPr lang="sv-SE" dirty="0"/>
          </a:p>
        </p:txBody>
      </p:sp>
      <p:sp>
        <p:nvSpPr>
          <p:cNvPr id="58" name="TextBox 57"/>
          <p:cNvSpPr txBox="1"/>
          <p:nvPr/>
        </p:nvSpPr>
        <p:spPr>
          <a:xfrm>
            <a:off x="3453454" y="5534005"/>
            <a:ext cx="304829" cy="369332"/>
          </a:xfrm>
          <a:prstGeom prst="rect">
            <a:avLst/>
          </a:prstGeom>
          <a:noFill/>
        </p:spPr>
        <p:txBody>
          <a:bodyPr wrap="square" rtlCol="0">
            <a:spAutoFit/>
          </a:bodyPr>
          <a:lstStyle/>
          <a:p>
            <a:r>
              <a:rPr lang="en-US" dirty="0" smtClean="0"/>
              <a:t>…</a:t>
            </a:r>
            <a:endParaRPr lang="sv-SE" dirty="0"/>
          </a:p>
        </p:txBody>
      </p:sp>
      <p:sp>
        <p:nvSpPr>
          <p:cNvPr id="59" name="TextBox 58"/>
          <p:cNvSpPr txBox="1"/>
          <p:nvPr/>
        </p:nvSpPr>
        <p:spPr>
          <a:xfrm>
            <a:off x="4720228" y="5983126"/>
            <a:ext cx="304829" cy="369332"/>
          </a:xfrm>
          <a:prstGeom prst="rect">
            <a:avLst/>
          </a:prstGeom>
          <a:noFill/>
        </p:spPr>
        <p:txBody>
          <a:bodyPr wrap="square" rtlCol="0">
            <a:spAutoFit/>
          </a:bodyPr>
          <a:lstStyle/>
          <a:p>
            <a:r>
              <a:rPr lang="en-US" dirty="0" smtClean="0"/>
              <a:t>…</a:t>
            </a:r>
            <a:endParaRPr lang="sv-SE" dirty="0"/>
          </a:p>
        </p:txBody>
      </p:sp>
      <p:pic>
        <p:nvPicPr>
          <p:cNvPr id="5" name="Picture 4"/>
          <p:cNvPicPr>
            <a:picLocks noChangeAspect="1"/>
          </p:cNvPicPr>
          <p:nvPr/>
        </p:nvPicPr>
        <p:blipFill rotWithShape="1">
          <a:blip r:embed="rId9"/>
          <a:srcRect t="9540"/>
          <a:stretch/>
        </p:blipFill>
        <p:spPr>
          <a:xfrm>
            <a:off x="7187132" y="2098898"/>
            <a:ext cx="2981551" cy="536238"/>
          </a:xfrm>
          <a:prstGeom prst="rect">
            <a:avLst/>
          </a:prstGeom>
        </p:spPr>
      </p:pic>
      <p:pic>
        <p:nvPicPr>
          <p:cNvPr id="6" name="Picture 5"/>
          <p:cNvPicPr>
            <a:picLocks noChangeAspect="1"/>
          </p:cNvPicPr>
          <p:nvPr/>
        </p:nvPicPr>
        <p:blipFill>
          <a:blip r:embed="rId10"/>
          <a:stretch>
            <a:fillRect/>
          </a:stretch>
        </p:blipFill>
        <p:spPr>
          <a:xfrm>
            <a:off x="6380035" y="2687701"/>
            <a:ext cx="4342747" cy="630399"/>
          </a:xfrm>
          <a:prstGeom prst="rect">
            <a:avLst/>
          </a:prstGeom>
        </p:spPr>
      </p:pic>
      <p:pic>
        <p:nvPicPr>
          <p:cNvPr id="7" name="Picture 6"/>
          <p:cNvPicPr>
            <a:picLocks noChangeAspect="1"/>
          </p:cNvPicPr>
          <p:nvPr/>
        </p:nvPicPr>
        <p:blipFill rotWithShape="1">
          <a:blip r:embed="rId11"/>
          <a:srcRect t="7926"/>
          <a:stretch/>
        </p:blipFill>
        <p:spPr>
          <a:xfrm>
            <a:off x="6031557" y="3390581"/>
            <a:ext cx="4987872" cy="651884"/>
          </a:xfrm>
          <a:prstGeom prst="rect">
            <a:avLst/>
          </a:prstGeom>
        </p:spPr>
      </p:pic>
      <p:pic>
        <p:nvPicPr>
          <p:cNvPr id="8" name="Picture 7"/>
          <p:cNvPicPr>
            <a:picLocks noChangeAspect="1"/>
          </p:cNvPicPr>
          <p:nvPr/>
        </p:nvPicPr>
        <p:blipFill rotWithShape="1">
          <a:blip r:embed="rId12"/>
          <a:srcRect b="1893"/>
          <a:stretch/>
        </p:blipFill>
        <p:spPr>
          <a:xfrm>
            <a:off x="5812820" y="4054381"/>
            <a:ext cx="5730174" cy="817840"/>
          </a:xfrm>
          <a:prstGeom prst="rect">
            <a:avLst/>
          </a:prstGeom>
        </p:spPr>
      </p:pic>
      <p:pic>
        <p:nvPicPr>
          <p:cNvPr id="34" name="Picture 33"/>
          <p:cNvPicPr>
            <a:picLocks noChangeAspect="1"/>
          </p:cNvPicPr>
          <p:nvPr/>
        </p:nvPicPr>
        <p:blipFill>
          <a:blip r:embed="rId13"/>
          <a:stretch>
            <a:fillRect/>
          </a:stretch>
        </p:blipFill>
        <p:spPr>
          <a:xfrm>
            <a:off x="224428" y="1911168"/>
            <a:ext cx="2377163" cy="1782872"/>
          </a:xfrm>
          <a:prstGeom prst="rect">
            <a:avLst/>
          </a:prstGeom>
        </p:spPr>
      </p:pic>
      <p:pic>
        <p:nvPicPr>
          <p:cNvPr id="35" name="Picture 34"/>
          <p:cNvPicPr>
            <a:picLocks noChangeAspect="1"/>
          </p:cNvPicPr>
          <p:nvPr/>
        </p:nvPicPr>
        <p:blipFill>
          <a:blip r:embed="rId14"/>
          <a:stretch>
            <a:fillRect/>
          </a:stretch>
        </p:blipFill>
        <p:spPr>
          <a:xfrm>
            <a:off x="2494964" y="1883756"/>
            <a:ext cx="2303768" cy="1727826"/>
          </a:xfrm>
          <a:prstGeom prst="rect">
            <a:avLst/>
          </a:prstGeom>
        </p:spPr>
      </p:pic>
      <p:pic>
        <p:nvPicPr>
          <p:cNvPr id="9" name="Picture 8"/>
          <p:cNvPicPr>
            <a:picLocks noChangeAspect="1"/>
          </p:cNvPicPr>
          <p:nvPr/>
        </p:nvPicPr>
        <p:blipFill>
          <a:blip r:embed="rId15"/>
          <a:stretch>
            <a:fillRect/>
          </a:stretch>
        </p:blipFill>
        <p:spPr>
          <a:xfrm>
            <a:off x="349844" y="3777098"/>
            <a:ext cx="4636456" cy="1044476"/>
          </a:xfrm>
          <a:prstGeom prst="rect">
            <a:avLst/>
          </a:prstGeom>
        </p:spPr>
      </p:pic>
    </p:spTree>
    <p:extLst>
      <p:ext uri="{BB962C8B-B14F-4D97-AF65-F5344CB8AC3E}">
        <p14:creationId xmlns:p14="http://schemas.microsoft.com/office/powerpoint/2010/main" val="3877807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pic>
        <p:nvPicPr>
          <p:cNvPr id="7" name="Picture 6"/>
          <p:cNvPicPr>
            <a:picLocks noChangeAspect="1"/>
          </p:cNvPicPr>
          <p:nvPr/>
        </p:nvPicPr>
        <p:blipFill>
          <a:blip r:embed="rId2"/>
          <a:stretch>
            <a:fillRect/>
          </a:stretch>
        </p:blipFill>
        <p:spPr>
          <a:xfrm>
            <a:off x="1067753" y="1065358"/>
            <a:ext cx="3862388" cy="5266396"/>
          </a:xfrm>
          <a:prstGeom prst="rect">
            <a:avLst/>
          </a:prstGeom>
        </p:spPr>
      </p:pic>
      <p:pic>
        <p:nvPicPr>
          <p:cNvPr id="8" name="Picture 7"/>
          <p:cNvPicPr>
            <a:picLocks noChangeAspect="1"/>
          </p:cNvPicPr>
          <p:nvPr/>
        </p:nvPicPr>
        <p:blipFill>
          <a:blip r:embed="rId3"/>
          <a:stretch>
            <a:fillRect/>
          </a:stretch>
        </p:blipFill>
        <p:spPr>
          <a:xfrm>
            <a:off x="6126085" y="1025507"/>
            <a:ext cx="5110501" cy="5238441"/>
          </a:xfrm>
          <a:prstGeom prst="rect">
            <a:avLst/>
          </a:prstGeom>
        </p:spPr>
      </p:pic>
    </p:spTree>
    <p:extLst>
      <p:ext uri="{BB962C8B-B14F-4D97-AF65-F5344CB8AC3E}">
        <p14:creationId xmlns:p14="http://schemas.microsoft.com/office/powerpoint/2010/main" val="35228511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pic>
        <p:nvPicPr>
          <p:cNvPr id="5" name="Picture 4"/>
          <p:cNvPicPr>
            <a:picLocks noChangeAspect="1"/>
          </p:cNvPicPr>
          <p:nvPr/>
        </p:nvPicPr>
        <p:blipFill>
          <a:blip r:embed="rId2"/>
          <a:stretch>
            <a:fillRect/>
          </a:stretch>
        </p:blipFill>
        <p:spPr>
          <a:xfrm>
            <a:off x="2063620" y="1228769"/>
            <a:ext cx="7735700" cy="4200480"/>
          </a:xfrm>
          <a:prstGeom prst="rect">
            <a:avLst/>
          </a:prstGeom>
        </p:spPr>
      </p:pic>
    </p:spTree>
    <p:extLst>
      <p:ext uri="{BB962C8B-B14F-4D97-AF65-F5344CB8AC3E}">
        <p14:creationId xmlns:p14="http://schemas.microsoft.com/office/powerpoint/2010/main" val="3297567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ECCE-Asia (IPEC-2026) </a:t>
            </a:r>
            <a:r>
              <a:rPr lang="en-US" sz="2400" dirty="0">
                <a:solidFill>
                  <a:srgbClr val="C0C0C0"/>
                </a:solidFill>
                <a:latin typeface="Times New Roman" panose="02020603050405020304" pitchFamily="18" charset="0"/>
                <a:cs typeface="Times New Roman" panose="02020603050405020304" pitchFamily="18" charset="0"/>
              </a:rPr>
              <a:t>Paper Digest</a:t>
            </a:r>
          </a:p>
          <a:p>
            <a:pPr marL="0" indent="0">
              <a:buNone/>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Initial Experimental Results of The Patent</a:t>
            </a: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6297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Variable Phase-Pole </a:t>
            </a:r>
            <a:r>
              <a:rPr lang="en-US" dirty="0" smtClean="0"/>
              <a:t>Machine</a:t>
            </a:r>
            <a:endParaRPr lang="en-US" dirty="0"/>
          </a:p>
        </p:txBody>
      </p:sp>
      <p:sp>
        <p:nvSpPr>
          <p:cNvPr id="6" name="Rectangle 5"/>
          <p:cNvSpPr/>
          <p:nvPr/>
        </p:nvSpPr>
        <p:spPr>
          <a:xfrm>
            <a:off x="454268" y="4169715"/>
            <a:ext cx="5304693" cy="2308324"/>
          </a:xfrm>
          <a:prstGeom prst="rect">
            <a:avLst/>
          </a:prstGeom>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To achieve a variable pole (synchronous) machine, the rotor windings should be re-configurable, which means a controllable bi-directional current on the rotor side. </a:t>
            </a:r>
          </a:p>
          <a:p>
            <a:pPr marL="285750" indent="-285750" algn="just">
              <a:buFont typeface="Arial" panose="020B0604020202020204" pitchFamily="34" charset="0"/>
              <a:buChar char="•"/>
            </a:pPr>
            <a:r>
              <a:rPr lang="en-GB" dirty="0">
                <a:latin typeface="Times New Roman" panose="02020603050405020304" pitchFamily="18" charset="0"/>
                <a:ea typeface="Georgia" panose="02040502050405020303" pitchFamily="18" charset="0"/>
                <a:cs typeface="Times New Roman" panose="02020603050405020304" pitchFamily="18" charset="0"/>
              </a:rPr>
              <a:t>A 4-pole rotor structure can be transformed into a 2-pole structure by employing identical field windings and strategically altering the current direction in only two windings.</a:t>
            </a:r>
            <a:endParaRPr lang="sv-SE" dirty="0">
              <a:latin typeface="Times New Roman" panose="02020603050405020304" pitchFamily="18" charset="0"/>
              <a:cs typeface="Times New Roman" panose="02020603050405020304" pitchFamily="18" charset="0"/>
            </a:endParaRPr>
          </a:p>
        </p:txBody>
      </p:sp>
      <p:sp>
        <p:nvSpPr>
          <p:cNvPr id="7" name="Rectangle 6"/>
          <p:cNvSpPr/>
          <p:nvPr/>
        </p:nvSpPr>
        <p:spPr>
          <a:xfrm>
            <a:off x="6385589" y="3892716"/>
            <a:ext cx="5017477" cy="2862322"/>
          </a:xfrm>
          <a:prstGeom prst="rect">
            <a:avLst/>
          </a:prstGeom>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Hypothetically, if such a solution were to exist, it might involve utilizing rotating semiconductor components that necessitate active gate signals for control.</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However, this approach introduces complexities, including the need for a wireless converter system to receive commands from the stationary side. This </a:t>
            </a:r>
            <a:r>
              <a:rPr lang="en-US" dirty="0">
                <a:latin typeface="Times New Roman" panose="02020603050405020304" pitchFamily="18" charset="0"/>
                <a:cs typeface="Times New Roman" panose="02020603050405020304" pitchFamily="18" charset="0"/>
              </a:rPr>
              <a:t>This would add layers of intricacy to the system, posing challenges to reliability and overall system robustness</a:t>
            </a:r>
            <a:r>
              <a:rPr lang="en-GB" dirty="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54268" y="1148617"/>
            <a:ext cx="5317394" cy="2892730"/>
          </a:xfrm>
          <a:prstGeom prst="rect">
            <a:avLst/>
          </a:prstGeom>
        </p:spPr>
      </p:pic>
      <p:pic>
        <p:nvPicPr>
          <p:cNvPr id="9" name="Picture 8"/>
          <p:cNvPicPr>
            <a:picLocks noChangeAspect="1"/>
          </p:cNvPicPr>
          <p:nvPr/>
        </p:nvPicPr>
        <p:blipFill>
          <a:blip r:embed="rId3"/>
          <a:stretch>
            <a:fillRect/>
          </a:stretch>
        </p:blipFill>
        <p:spPr>
          <a:xfrm>
            <a:off x="6385589" y="1148617"/>
            <a:ext cx="4652963" cy="2543802"/>
          </a:xfrm>
          <a:prstGeom prst="rect">
            <a:avLst/>
          </a:prstGeom>
        </p:spPr>
      </p:pic>
    </p:spTree>
    <p:extLst>
      <p:ext uri="{BB962C8B-B14F-4D97-AF65-F5344CB8AC3E}">
        <p14:creationId xmlns:p14="http://schemas.microsoft.com/office/powerpoint/2010/main" val="41238646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Self-Driven Field </a:t>
            </a:r>
            <a:r>
              <a:rPr lang="en-US" dirty="0"/>
              <a:t>Excitation</a:t>
            </a:r>
          </a:p>
        </p:txBody>
      </p:sp>
      <p:sp>
        <p:nvSpPr>
          <p:cNvPr id="10" name="Rectangle 9"/>
          <p:cNvSpPr/>
          <p:nvPr/>
        </p:nvSpPr>
        <p:spPr>
          <a:xfrm>
            <a:off x="5545015" y="1782469"/>
            <a:ext cx="6096000" cy="4247317"/>
          </a:xfrm>
          <a:prstGeom prst="rect">
            <a:avLst/>
          </a:prstGeom>
        </p:spPr>
        <p:txBody>
          <a:bodyPr>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dual-input, dual-output WPT system employs two resonant coil sets, each feeding a diode rectifier to supply unidirectional current. </a:t>
            </a:r>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anti-parallel connection of the rectifier outputs enables bipolar excitation of the field winding. </a:t>
            </a:r>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avoid reverse biasing of the rectifiers, bidirectional power switches—implemented using a MOSFET in anti-series with a diode—are placed between the rectifier ground and one terminal of the field winding. </a:t>
            </a:r>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switches are </a:t>
            </a:r>
            <a:r>
              <a:rPr lang="en-US" dirty="0" smtClean="0">
                <a:latin typeface="Times New Roman" panose="02020603050405020304" pitchFamily="18" charset="0"/>
                <a:cs typeface="Times New Roman" panose="02020603050405020304" pitchFamily="18" charset="0"/>
              </a:rPr>
              <a:t>self-driven </a:t>
            </a:r>
            <a:r>
              <a:rPr lang="en-US" dirty="0">
                <a:latin typeface="Times New Roman" panose="02020603050405020304" pitchFamily="18" charset="0"/>
                <a:cs typeface="Times New Roman" panose="02020603050405020304" pitchFamily="18" charset="0"/>
              </a:rPr>
              <a:t>using passive feedback network from their respective rectifier outputs, eliminating the need for external control signals. </a:t>
            </a:r>
            <a:endParaRPr lang="en-US"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Field-current </a:t>
            </a:r>
            <a:r>
              <a:rPr lang="en-US" dirty="0">
                <a:latin typeface="Times New Roman" panose="02020603050405020304" pitchFamily="18" charset="0"/>
                <a:cs typeface="Times New Roman" panose="02020603050405020304" pitchFamily="18" charset="0"/>
              </a:rPr>
              <a:t>reversal is achieved by altering excitation between the two coil sets: one set drives the positive direction, while the other drives the negative</a:t>
            </a:r>
            <a:endParaRPr lang="sv-SE"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625351" y="1188834"/>
            <a:ext cx="4584823" cy="2693183"/>
          </a:xfrm>
          <a:prstGeom prst="rect">
            <a:avLst/>
          </a:prstGeom>
        </p:spPr>
      </p:pic>
      <p:pic>
        <p:nvPicPr>
          <p:cNvPr id="13" name="Picture 12"/>
          <p:cNvPicPr>
            <a:picLocks noChangeAspect="1"/>
          </p:cNvPicPr>
          <p:nvPr/>
        </p:nvPicPr>
        <p:blipFill>
          <a:blip r:embed="rId3"/>
          <a:stretch>
            <a:fillRect/>
          </a:stretch>
        </p:blipFill>
        <p:spPr>
          <a:xfrm>
            <a:off x="511051" y="4334889"/>
            <a:ext cx="4861049" cy="1507758"/>
          </a:xfrm>
          <a:prstGeom prst="rect">
            <a:avLst/>
          </a:prstGeom>
        </p:spPr>
      </p:pic>
    </p:spTree>
    <p:extLst>
      <p:ext uri="{BB962C8B-B14F-4D97-AF65-F5344CB8AC3E}">
        <p14:creationId xmlns:p14="http://schemas.microsoft.com/office/powerpoint/2010/main" val="26207304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Experimental Validation</a:t>
            </a:r>
            <a:br>
              <a:rPr lang="en-US" dirty="0" smtClean="0"/>
            </a:br>
            <a:endParaRPr lang="en-US" dirty="0"/>
          </a:p>
        </p:txBody>
      </p:sp>
      <p:pic>
        <p:nvPicPr>
          <p:cNvPr id="7" name="Picture 6"/>
          <p:cNvPicPr>
            <a:picLocks noChangeAspect="1"/>
          </p:cNvPicPr>
          <p:nvPr/>
        </p:nvPicPr>
        <p:blipFill>
          <a:blip r:embed="rId2"/>
          <a:stretch>
            <a:fillRect/>
          </a:stretch>
        </p:blipFill>
        <p:spPr>
          <a:xfrm>
            <a:off x="366712" y="1171575"/>
            <a:ext cx="4557029" cy="2743200"/>
          </a:xfrm>
          <a:prstGeom prst="rect">
            <a:avLst/>
          </a:prstGeom>
        </p:spPr>
      </p:pic>
      <p:pic>
        <p:nvPicPr>
          <p:cNvPr id="8" name="Picture 7"/>
          <p:cNvPicPr>
            <a:picLocks noChangeAspect="1"/>
          </p:cNvPicPr>
          <p:nvPr/>
        </p:nvPicPr>
        <p:blipFill rotWithShape="1">
          <a:blip r:embed="rId3"/>
          <a:srcRect t="970"/>
          <a:stretch/>
        </p:blipFill>
        <p:spPr>
          <a:xfrm>
            <a:off x="6143625" y="1213111"/>
            <a:ext cx="4143375" cy="2701664"/>
          </a:xfrm>
          <a:prstGeom prst="rect">
            <a:avLst/>
          </a:prstGeom>
        </p:spPr>
      </p:pic>
      <p:pic>
        <p:nvPicPr>
          <p:cNvPr id="9" name="Picture 8"/>
          <p:cNvPicPr>
            <a:picLocks noChangeAspect="1"/>
          </p:cNvPicPr>
          <p:nvPr/>
        </p:nvPicPr>
        <p:blipFill rotWithShape="1">
          <a:blip r:embed="rId4"/>
          <a:srcRect t="1701"/>
          <a:stretch/>
        </p:blipFill>
        <p:spPr>
          <a:xfrm>
            <a:off x="666750" y="4066717"/>
            <a:ext cx="4190316" cy="2481560"/>
          </a:xfrm>
          <a:prstGeom prst="rect">
            <a:avLst/>
          </a:prstGeom>
        </p:spPr>
      </p:pic>
      <p:pic>
        <p:nvPicPr>
          <p:cNvPr id="12" name="Picture 11"/>
          <p:cNvPicPr>
            <a:picLocks noChangeAspect="1"/>
          </p:cNvPicPr>
          <p:nvPr/>
        </p:nvPicPr>
        <p:blipFill>
          <a:blip r:embed="rId5"/>
          <a:stretch>
            <a:fillRect/>
          </a:stretch>
        </p:blipFill>
        <p:spPr>
          <a:xfrm>
            <a:off x="5867400" y="4285567"/>
            <a:ext cx="5248275" cy="2043861"/>
          </a:xfrm>
          <a:prstGeom prst="rect">
            <a:avLst/>
          </a:prstGeom>
        </p:spPr>
      </p:pic>
    </p:spTree>
    <p:extLst>
      <p:ext uri="{BB962C8B-B14F-4D97-AF65-F5344CB8AC3E}">
        <p14:creationId xmlns:p14="http://schemas.microsoft.com/office/powerpoint/2010/main" val="41914837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23500</TotalTime>
  <Words>672</Words>
  <Application>Microsoft Office PowerPoint</Application>
  <PresentationFormat>Widescreen</PresentationFormat>
  <Paragraphs>78</Paragraphs>
  <Slides>13</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Wingdings</vt:lpstr>
      <vt:lpstr>Times New Roman</vt:lpstr>
      <vt:lpstr>Cambria Math</vt:lpstr>
      <vt:lpstr>Georgia</vt:lpstr>
      <vt:lpstr>Figtree</vt:lpstr>
      <vt:lpstr>Arial</vt:lpstr>
      <vt:lpstr>Office-tema</vt:lpstr>
      <vt:lpstr>PhD Works</vt:lpstr>
      <vt:lpstr>Outline</vt:lpstr>
      <vt:lpstr>Overview of Three-Phase Two-Level VSIs</vt:lpstr>
      <vt:lpstr>DC-Link Capacitor: Reliability Bottleneck</vt:lpstr>
      <vt:lpstr>Reducing Current Ripple &amp; Stress</vt:lpstr>
      <vt:lpstr>Interleaving for Single 2L-VSI</vt:lpstr>
      <vt:lpstr>Dynamic Variable Carrier Phase-Shift Modulation</vt:lpstr>
      <vt:lpstr>Dynamic Variable Carrier Phase-Shift Modulation</vt:lpstr>
      <vt:lpstr>Dynamic Variable Carrier Phase-Shift Modulation</vt:lpstr>
      <vt:lpstr>Outline</vt:lpstr>
      <vt:lpstr>Variable Phase-Pole Machine</vt:lpstr>
      <vt:lpstr>Self-Driven Field Excitation</vt:lpstr>
      <vt:lpstr>Experimental Validation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265</cp:revision>
  <dcterms:created xsi:type="dcterms:W3CDTF">2024-01-10T13:17:29Z</dcterms:created>
  <dcterms:modified xsi:type="dcterms:W3CDTF">2025-10-20T14:22:26Z</dcterms:modified>
</cp:coreProperties>
</file>