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9" r:id="rId2"/>
    <p:sldId id="297" r:id="rId3"/>
    <p:sldId id="301" r:id="rId4"/>
    <p:sldId id="300" r:id="rId5"/>
    <p:sldId id="298" r:id="rId6"/>
    <p:sldId id="302" r:id="rId7"/>
    <p:sldId id="303" r:id="rId8"/>
    <p:sldId id="304" r:id="rId9"/>
    <p:sldId id="305" r:id="rId10"/>
    <p:sldId id="306" r:id="rId11"/>
    <p:sldId id="313" r:id="rId12"/>
    <p:sldId id="317" r:id="rId13"/>
    <p:sldId id="321" r:id="rId14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660"/>
  </p:normalViewPr>
  <p:slideViewPr>
    <p:cSldViewPr>
      <p:cViewPr>
        <p:scale>
          <a:sx n="150" d="100"/>
          <a:sy n="150" d="100"/>
        </p:scale>
        <p:origin x="4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2024-06-18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2024-06-18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2024-06-18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2024-06-18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1770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2024-06-18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  <p:sldLayoutId id="2147483657" r:id="rId9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emf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emf"/><Relationship Id="rId4" Type="http://schemas.openxmlformats.org/officeDocument/2006/relationships/image" Target="../media/image3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96" y="1347614"/>
            <a:ext cx="8396560" cy="566641"/>
          </a:xfrm>
        </p:spPr>
        <p:txBody>
          <a:bodyPr/>
          <a:lstStyle/>
          <a:p>
            <a:r>
              <a:rPr lang="en-US" dirty="0" smtClean="0"/>
              <a:t>2-Level Voltage Source Traction Inverter</a:t>
            </a:r>
            <a:endParaRPr lang="sv-SE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sv-SE" dirty="0" smtClean="0"/>
              <a:t>Enes Ayaz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2024-06-18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449" y="187883"/>
            <a:ext cx="7763861" cy="6477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z="800" smtClean="0"/>
              <a:pPr/>
              <a:t>2024-06-18</a:t>
            </a:fld>
            <a:endParaRPr lang="sv-SE" sz="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z="80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z="800" smtClean="0"/>
              <a:pPr/>
              <a:t>2</a:t>
            </a:fld>
            <a:endParaRPr lang="sv-SE" sz="80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1560" y="987574"/>
            <a:ext cx="7056784" cy="3528392"/>
          </a:xfrm>
        </p:spPr>
        <p:txBody>
          <a:bodyPr>
            <a:normAutofit fontScale="77500" lnSpcReduction="20000"/>
          </a:bodyPr>
          <a:lstStyle/>
          <a:p>
            <a:pPr marL="800100" lvl="1" indent="-457200">
              <a:buAutoNum type="arabicPeriod"/>
            </a:pPr>
            <a:r>
              <a:rPr lang="en-US" sz="1850" b="1" dirty="0" smtClean="0"/>
              <a:t>Power Ratings of 2-Level Inverter</a:t>
            </a:r>
          </a:p>
          <a:p>
            <a:pPr marL="800100" lvl="1" indent="-457200">
              <a:buAutoNum type="arabicPeriod"/>
            </a:pPr>
            <a:endParaRPr lang="en-US" sz="1850" b="1" dirty="0" smtClean="0"/>
          </a:p>
          <a:p>
            <a:pPr marL="800100" lvl="1" indent="-457200">
              <a:buFont typeface="Arial" panose="020B0604020202020204" pitchFamily="34" charset="0"/>
              <a:buAutoNum type="arabicPeriod"/>
            </a:pPr>
            <a:r>
              <a:rPr lang="en-US" sz="1850" b="1" dirty="0"/>
              <a:t>Power </a:t>
            </a:r>
            <a:r>
              <a:rPr lang="en-US" sz="1850" b="1" dirty="0" smtClean="0"/>
              <a:t>Modules (Infineon 2kV) Parameters </a:t>
            </a:r>
          </a:p>
          <a:p>
            <a:pPr marL="685800" lvl="2" indent="0">
              <a:buNone/>
            </a:pPr>
            <a:endParaRPr lang="en-US" sz="185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Inverter Loss Estimation with Datasheet Values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1" dirty="0"/>
              <a:t>Updating Loss for Different Switching Speed </a:t>
            </a:r>
            <a:endParaRPr lang="en-US" sz="1800" b="1" dirty="0" smtClean="0"/>
          </a:p>
          <a:p>
            <a:pPr lvl="2">
              <a:buFont typeface="Arial" panose="020B0604020202020204" pitchFamily="34" charset="0"/>
              <a:buChar char="•"/>
            </a:pPr>
            <a:endParaRPr lang="en-US" sz="1700" b="1" dirty="0" smtClean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Harmonic Losses on the Motor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Impedance Modelling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Voltage-Current Measurements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700" b="1" dirty="0" smtClean="0"/>
              <a:t>Proposed Improved Impedance Modelling 	</a:t>
            </a:r>
            <a:endParaRPr lang="en-US" sz="1700" b="1" dirty="0"/>
          </a:p>
          <a:p>
            <a:pPr marL="685800" lvl="2" indent="0">
              <a:buNone/>
            </a:pPr>
            <a:endParaRPr lang="en-US" sz="1700" b="1" dirty="0"/>
          </a:p>
          <a:p>
            <a:pPr marL="800100" lvl="1" indent="-457200">
              <a:buAutoNum type="arabicPeriod"/>
            </a:pPr>
            <a:r>
              <a:rPr lang="en-US" sz="1850" b="1" dirty="0" smtClean="0"/>
              <a:t>Die area and Switching Frequency Selection (Total Losses)</a:t>
            </a:r>
            <a:endParaRPr lang="en-US" sz="1850" b="1" dirty="0"/>
          </a:p>
          <a:p>
            <a:pPr marL="685800" lvl="2" indent="0">
              <a:buNone/>
            </a:pPr>
            <a:r>
              <a:rPr lang="en-US" sz="1700" b="1" dirty="0" smtClean="0"/>
              <a:t>							</a:t>
            </a:r>
            <a:endParaRPr lang="en-US" sz="1850" b="1" dirty="0" smtClean="0"/>
          </a:p>
          <a:p>
            <a:pPr marL="800100" lvl="1" indent="-457200">
              <a:buFont typeface="+mj-lt"/>
              <a:buAutoNum type="arabicPeriod"/>
            </a:pPr>
            <a:r>
              <a:rPr lang="en-US" sz="1850" b="1" dirty="0" smtClean="0"/>
              <a:t>Capacitance Requirement</a:t>
            </a:r>
          </a:p>
          <a:p>
            <a:pPr marL="800100" lvl="1" indent="-457200">
              <a:buFont typeface="+mj-lt"/>
              <a:buAutoNum type="arabicPeriod"/>
            </a:pPr>
            <a:endParaRPr lang="en-US" sz="1850" b="1" dirty="0" smtClean="0"/>
          </a:p>
          <a:p>
            <a:pPr marL="800100" lvl="1" indent="-457200">
              <a:buFont typeface="+mj-lt"/>
              <a:buAutoNum type="arabicPeriod"/>
            </a:pPr>
            <a:r>
              <a:rPr lang="en-US" sz="1850" b="1" dirty="0" smtClean="0"/>
              <a:t>Coming Works </a:t>
            </a:r>
          </a:p>
          <a:p>
            <a:pPr marL="342900" lvl="1" indent="0">
              <a:buNone/>
            </a:pP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132804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2-Level Inverter Power Ratings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6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600" dirty="0"/>
                  <a:t>  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=240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=625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729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=320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600" i="1" dirty="0"/>
                  <a:t> or 274 </a:t>
                </a:r>
                <a:r>
                  <a:rPr lang="sv-SE" sz="1600" i="1" dirty="0" smtClean="0"/>
                  <a:t>A</a:t>
                </a:r>
                <a:endParaRPr lang="sv-SE" sz="1600" dirty="0" smtClean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𝑝𝑓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 0.9</m:t>
                    </m:r>
                  </m:oMath>
                </a14:m>
                <a:endParaRPr lang="sv-SE" sz="16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𝑝𝑓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sv-SE" sz="1600" b="1" i="1" dirty="0"/>
                  <a:t> </a:t>
                </a:r>
                <a:r>
                  <a:rPr lang="sv-SE" sz="1600" i="1" dirty="0" smtClean="0"/>
                  <a:t>or </a:t>
                </a:r>
                <a:r>
                  <a:rPr lang="sv-SE" sz="1600" b="1" i="1" dirty="0" smtClean="0"/>
                  <a:t>304 A</a:t>
                </a:r>
                <a:endParaRPr lang="en-US" sz="1600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7584" y="1059582"/>
                <a:ext cx="3738884" cy="3340356"/>
              </a:xfrm>
              <a:blipFill>
                <a:blip r:embed="rId2"/>
                <a:stretch>
                  <a:fillRect l="-31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13" dirty="0"/>
                  <a:t>Efficiency (99.5%) </a:t>
                </a:r>
              </a:p>
              <a:p>
                <a:pPr algn="ctr"/>
                <a:r>
                  <a:rPr lang="en-US" sz="1013" dirty="0">
                    <a:sym typeface="Wingdings" panose="05000000000000000000" pitchFamily="2" charset="2"/>
                  </a:rPr>
                  <a:t>Semiconductor Losses (6 switches): </a:t>
                </a:r>
                <a:r>
                  <a:rPr lang="en-US" sz="1013" b="1" dirty="0">
                    <a:sym typeface="Wingdings" panose="05000000000000000000" pitchFamily="2" charset="2"/>
                  </a:rPr>
                  <a:t>1500 </a:t>
                </a:r>
                <a14:m>
                  <m:oMath xmlns:m="http://schemas.openxmlformats.org/officeDocument/2006/math">
                    <m:r>
                      <a:rPr lang="en-US" sz="1013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endParaRPr lang="sv-SE" sz="1013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283718"/>
                <a:ext cx="4187952" cy="404085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043267"/>
            <a:ext cx="2520280" cy="1188534"/>
          </a:xfrm>
          <a:prstGeom prst="rect">
            <a:avLst/>
          </a:prstGeom>
        </p:spPr>
      </p:pic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 txBox="1">
            <a:spLocks/>
          </p:cNvSpPr>
          <p:nvPr/>
        </p:nvSpPr>
        <p:spPr>
          <a:xfrm>
            <a:off x="5508104" y="2787774"/>
            <a:ext cx="3312368" cy="35409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&gt;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A phase leg of a conventional two-level inverter</a:t>
            </a:r>
            <a:br>
              <a:rPr lang="en-US" sz="1000" dirty="0" smtClean="0"/>
            </a:br>
            <a:r>
              <a:rPr lang="en-US" sz="1000" dirty="0" smtClean="0"/>
              <a:t>consists of two transistors that </a:t>
            </a:r>
            <a:r>
              <a:rPr lang="en-US" sz="1000" b="1" dirty="0" smtClean="0"/>
              <a:t>block and switch</a:t>
            </a:r>
            <a:br>
              <a:rPr lang="en-US" sz="1000" b="1" dirty="0" smtClean="0"/>
            </a:br>
            <a:r>
              <a:rPr lang="en-US" sz="1000" b="1" dirty="0" smtClean="0"/>
              <a:t>the full dc-link voltage.</a:t>
            </a:r>
            <a:r>
              <a:rPr lang="en-US" sz="1000" dirty="0" smtClean="0"/>
              <a:t>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are </a:t>
            </a:r>
            <a:r>
              <a:rPr lang="en-US" sz="1000" b="1" dirty="0" smtClean="0"/>
              <a:t>less complex </a:t>
            </a:r>
            <a:r>
              <a:rPr lang="en-US" sz="1000" dirty="0" smtClean="0"/>
              <a:t>than the</a:t>
            </a:r>
            <a:br>
              <a:rPr lang="en-US" sz="1000" dirty="0" smtClean="0"/>
            </a:br>
            <a:r>
              <a:rPr lang="en-US" sz="1000" dirty="0" smtClean="0"/>
              <a:t>other topologies and have the least control effort.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On the other hand, the connected machine suffers from </a:t>
            </a:r>
            <a:r>
              <a:rPr lang="en-US" sz="1000" b="1" dirty="0" smtClean="0"/>
              <a:t>higher harmonic losses </a:t>
            </a:r>
            <a:r>
              <a:rPr lang="en-US" sz="1000" dirty="0" smtClean="0"/>
              <a:t>and t</a:t>
            </a:r>
            <a:r>
              <a:rPr lang="en-US" sz="1000" b="1" dirty="0" smtClean="0"/>
              <a:t>he steep voltage slopes </a:t>
            </a:r>
            <a:r>
              <a:rPr lang="en-US" sz="1000" dirty="0" smtClean="0"/>
              <a:t>can damage it by causin</a:t>
            </a:r>
            <a:r>
              <a:rPr lang="en-US" sz="1000" b="1" dirty="0" smtClean="0"/>
              <a:t>g bearing currents</a:t>
            </a:r>
            <a:r>
              <a:rPr lang="en-US" sz="1000" dirty="0" smtClean="0"/>
              <a:t> or </a:t>
            </a:r>
            <a:r>
              <a:rPr lang="en-US" sz="1000" b="1" dirty="0" smtClean="0"/>
              <a:t>overstressing the winding insulation.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000" dirty="0" smtClean="0"/>
              <a:t>Two-level inverters have a </a:t>
            </a:r>
            <a:r>
              <a:rPr lang="en-US" sz="1000" b="1" dirty="0" smtClean="0"/>
              <a:t>bad efficiency</a:t>
            </a:r>
            <a:r>
              <a:rPr lang="en-US" sz="1000" dirty="0" smtClean="0"/>
              <a:t> for </a:t>
            </a:r>
            <a:r>
              <a:rPr lang="en-US" sz="1000" b="1" dirty="0" smtClean="0"/>
              <a:t>higher switching frequency</a:t>
            </a:r>
            <a:r>
              <a:rPr lang="en-US" sz="1000" dirty="0" smtClean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2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 of Infineon 2kV Bare die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2024-06-18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AutoNum type="alphaUcPeriod"/>
                </a:pPr>
                <a:r>
                  <a:rPr lang="en-US" b="1" dirty="0" smtClean="0"/>
                  <a:t>Basic Parameters of Bare die: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lvl="0"/>
                <a:r>
                  <a:rPr lang="en-US" dirty="0"/>
                  <a:t>Current rating @25°C (in Amperes)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On-state resistance @25°C (in Ohms)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26 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mΩ</m:t>
                    </m:r>
                  </m:oMath>
                </a14:m>
                <a:endParaRPr lang="sv-SE" dirty="0" smtClean="0">
                  <a:solidFill>
                    <a:schemeClr val="accent4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Internal gate resistance (in Ohms) ~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7,2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sv-SE" dirty="0" smtClean="0">
                  <a:solidFill>
                    <a:srgbClr val="FF0000"/>
                  </a:solidFill>
                </a:endParaRP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de-DE" dirty="0"/>
                  <a:t>Die Size (mm x mm) </a:t>
                </a:r>
                <a:r>
                  <a:rPr lang="de-DE" dirty="0">
                    <a:solidFill>
                      <a:srgbClr val="FF0000"/>
                    </a:solidFill>
                  </a:rPr>
                  <a:t>5,71 x 5,24 </a:t>
                </a:r>
                <a:r>
                  <a:rPr lang="de-DE" dirty="0" smtClean="0">
                    <a:solidFill>
                      <a:srgbClr val="FF0000"/>
                    </a:solidFill>
                  </a:rPr>
                  <a:t>mm</a:t>
                </a:r>
              </a:p>
              <a:p>
                <a:pPr lvl="0"/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r>
                  <a:rPr lang="en-US" dirty="0"/>
                  <a:t>Thermal resistance (Junction to Case) (in °C/W</a:t>
                </a:r>
                <a:r>
                  <a:rPr lang="en-US" dirty="0" smtClean="0"/>
                  <a:t>)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0.0880 K/W per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Mosfet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(8 or 10 </a:t>
                </a:r>
                <a:r>
                  <a:rPr lang="sv-SE" dirty="0" err="1" smtClean="0">
                    <a:solidFill>
                      <a:schemeClr val="accent6"/>
                    </a:solidFill>
                  </a:rPr>
                  <a:t>dies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 )</a:t>
                </a:r>
                <a:endParaRPr lang="en-US" dirty="0" smtClean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r>
                  <a:rPr lang="sv-SE" dirty="0" smtClean="0">
                    <a:solidFill>
                      <a:schemeClr val="accent6"/>
                    </a:solidFill>
                  </a:rPr>
                  <a:t>						    Case </a:t>
                </a:r>
                <a:r>
                  <a:rPr lang="sv-SE" dirty="0">
                    <a:solidFill>
                      <a:schemeClr val="accent6"/>
                    </a:solidFill>
                  </a:rPr>
                  <a:t>to heat </a:t>
                </a:r>
                <a:r>
                  <a:rPr lang="sv-SE" dirty="0" smtClean="0">
                    <a:solidFill>
                      <a:schemeClr val="accent6"/>
                    </a:solidFill>
                  </a:rPr>
                  <a:t>sink: 0.0330 K/W</a:t>
                </a:r>
              </a:p>
              <a:p>
                <a:pPr marL="0" lvl="0" indent="0">
                  <a:buNone/>
                </a:pPr>
                <a:endParaRPr lang="sv-SE" dirty="0" smtClean="0">
                  <a:solidFill>
                    <a:schemeClr val="accent6"/>
                  </a:solidFill>
                </a:endParaRPr>
              </a:p>
              <a:p>
                <a:r>
                  <a:rPr lang="en-US" dirty="0" smtClean="0"/>
                  <a:t>Zero Current Loss (Output Capacitance Loss) ~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.25 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𝑚𝐽</m:t>
                    </m:r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endParaRPr lang="sv-SE" dirty="0">
                  <a:solidFill>
                    <a:srgbClr val="FF0000"/>
                  </a:solidFill>
                </a:endParaRPr>
              </a:p>
              <a:p>
                <a:pPr lvl="0"/>
                <a:endParaRPr lang="en-US" dirty="0">
                  <a:solidFill>
                    <a:schemeClr val="accent6"/>
                  </a:solidFill>
                </a:endParaRPr>
              </a:p>
              <a:p>
                <a:pPr marL="0" lvl="0" indent="0">
                  <a:buNone/>
                </a:pPr>
                <a:endParaRPr lang="en-US" dirty="0">
                  <a:solidFill>
                    <a:schemeClr val="accent6"/>
                  </a:solidFill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sv-SE" dirty="0"/>
              </a:p>
              <a:p>
                <a:pPr marL="0" lvl="0" indent="0">
                  <a:buNone/>
                </a:pPr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67544" y="1131590"/>
                <a:ext cx="8208912" cy="3554355"/>
              </a:xfrm>
              <a:blipFill>
                <a:blip r:embed="rId2"/>
                <a:stretch>
                  <a:fillRect l="-1263" t="-34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4391980" y="1707654"/>
            <a:ext cx="623630" cy="2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6056" y="1419622"/>
            <a:ext cx="4176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onsidering </a:t>
            </a:r>
            <a:r>
              <a:rPr lang="en-US" dirty="0"/>
              <a:t>this </a:t>
            </a:r>
            <a:r>
              <a:rPr lang="en-US" dirty="0" smtClean="0"/>
              <a:t>current rating of a single die, </a:t>
            </a:r>
            <a:r>
              <a:rPr lang="en-US" dirty="0"/>
              <a:t>it seems we </a:t>
            </a:r>
            <a:r>
              <a:rPr lang="en-US" dirty="0" smtClean="0"/>
              <a:t>have around 8-16 </a:t>
            </a:r>
            <a:r>
              <a:rPr lang="en-US" dirty="0"/>
              <a:t>dies in parallel.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6169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2024-06-18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Datasheet-Driven Loss Estimation</a:t>
            </a:r>
            <a:endParaRPr lang="sv-SE" b="0" dirty="0"/>
          </a:p>
        </p:txBody>
      </p:sp>
      <p:sp>
        <p:nvSpPr>
          <p:cNvPr id="7" name="Content Placeholder 3"/>
          <p:cNvSpPr txBox="1">
            <a:spLocks noGrp="1"/>
          </p:cNvSpPr>
          <p:nvPr>
            <p:ph idx="4294967295"/>
          </p:nvPr>
        </p:nvSpPr>
        <p:spPr>
          <a:xfrm>
            <a:off x="1043608" y="897732"/>
            <a:ext cx="3301365" cy="58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sv-SE" sz="1400" dirty="0" err="1" smtClean="0"/>
              <a:t>Voltage</a:t>
            </a:r>
            <a:r>
              <a:rPr lang="sv-SE" sz="1400" dirty="0" smtClean="0"/>
              <a:t> rating: 2kV </a:t>
            </a:r>
          </a:p>
          <a:p>
            <a:pPr marL="0" indent="0">
              <a:buNone/>
            </a:pPr>
            <a:r>
              <a:rPr lang="sv-SE" sz="1400" dirty="0" err="1" smtClean="0"/>
              <a:t>Current</a:t>
            </a:r>
            <a:r>
              <a:rPr lang="sv-SE" sz="1400" dirty="0" smtClean="0"/>
              <a:t> rating: 400A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1004428"/>
            <a:ext cx="35282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FF3MR20KM1H 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using 8 or 10 dies in parallel 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530585"/>
            <a:ext cx="3495385" cy="2434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=2.6</m:t>
                      </m:r>
                      <m:r>
                        <m:rPr>
                          <m:sty m:val="p"/>
                        </m:rPr>
                        <a:rPr lang="en-US" dirty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sv-S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4255073"/>
                <a:ext cx="4013655" cy="482633"/>
              </a:xfrm>
              <a:prstGeom prst="rect">
                <a:avLst/>
              </a:prstGeom>
              <a:blipFill>
                <a:blip r:embed="rId3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5837403" y="3412931"/>
            <a:ext cx="249936" cy="896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621626"/>
            <a:ext cx="4041535" cy="2648120"/>
          </a:xfrm>
          <a:prstGeom prst="rect">
            <a:avLst/>
          </a:prstGeom>
        </p:spPr>
      </p:pic>
      <p:cxnSp>
        <p:nvCxnSpPr>
          <p:cNvPr id="14" name="Straight Arrow Connector 13"/>
          <p:cNvCxnSpPr>
            <a:endCxn id="15" idx="2"/>
          </p:cNvCxnSpPr>
          <p:nvPr/>
        </p:nvCxnSpPr>
        <p:spPr>
          <a:xfrm flipV="1">
            <a:off x="1835696" y="2320704"/>
            <a:ext cx="2927232" cy="8697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51920" y="1951372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endCxn id="17" idx="2"/>
          </p:cNvCxnSpPr>
          <p:nvPr/>
        </p:nvCxnSpPr>
        <p:spPr>
          <a:xfrm flipV="1">
            <a:off x="1835696" y="3221245"/>
            <a:ext cx="2927232" cy="430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51920" y="2851913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75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Datasheet-driven Loss </a:t>
            </a:r>
            <a:r>
              <a:rPr lang="en-US" dirty="0" smtClean="0"/>
              <a:t>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03" y="2440338"/>
            <a:ext cx="2053851" cy="13868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74" y="1536867"/>
            <a:ext cx="2049748" cy="14136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5536" y="1065833"/>
            <a:ext cx="748883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500" dirty="0" err="1">
                <a:latin typeface="Calibri" panose="020F0502020204030204" pitchFamily="34" charset="0"/>
              </a:rPr>
              <a:t>Switching</a:t>
            </a:r>
            <a:r>
              <a:rPr lang="sv-SE" sz="1500" dirty="0">
                <a:latin typeface="Calibri" panose="020F0502020204030204" pitchFamily="34" charset="0"/>
              </a:rPr>
              <a:t> </a:t>
            </a:r>
            <a:r>
              <a:rPr lang="sv-SE" sz="1500" dirty="0" err="1">
                <a:latin typeface="Calibri" panose="020F0502020204030204" pitchFamily="34" charset="0"/>
              </a:rPr>
              <a:t>frequency</a:t>
            </a:r>
            <a:r>
              <a:rPr lang="sv-SE" sz="1500" dirty="0">
                <a:latin typeface="Calibri" panose="020F0502020204030204" pitchFamily="34" charset="0"/>
              </a:rPr>
              <a:t> = </a:t>
            </a:r>
            <a:r>
              <a:rPr lang="sv-SE" sz="1500" b="1" dirty="0">
                <a:latin typeface="Calibri" panose="020F0502020204030204" pitchFamily="34" charset="0"/>
              </a:rPr>
              <a:t>5kHz</a:t>
            </a:r>
            <a:r>
              <a:rPr lang="sv-SE" sz="1500" dirty="0">
                <a:latin typeface="Calibri" panose="020F0502020204030204" pitchFamily="34" charset="0"/>
              </a:rPr>
              <a:t>, </a:t>
            </a:r>
            <a:r>
              <a:rPr lang="sv-SE" sz="1500" dirty="0" err="1">
                <a:latin typeface="Calibri" panose="020F0502020204030204" pitchFamily="34" charset="0"/>
              </a:rPr>
              <a:t>ma</a:t>
            </a:r>
            <a:r>
              <a:rPr lang="sv-SE" sz="1500" dirty="0">
                <a:latin typeface="Calibri" panose="020F0502020204030204" pitchFamily="34" charset="0"/>
              </a:rPr>
              <a:t>=1.15, </a:t>
            </a:r>
            <a:r>
              <a:rPr lang="sv-SE" sz="1500" dirty="0" err="1">
                <a:latin typeface="Calibri" panose="020F0502020204030204" pitchFamily="34" charset="0"/>
              </a:rPr>
              <a:t>pf</a:t>
            </a:r>
            <a:r>
              <a:rPr lang="sv-SE" sz="1500" dirty="0">
                <a:latin typeface="Calibri" panose="020F0502020204030204" pitchFamily="34" charset="0"/>
              </a:rPr>
              <a:t>=0.9 2-level 3-phase, P=300kW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sv-SE" sz="1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sv-SE" sz="10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sz="1000" dirty="0" smtClean="0"/>
                            <a:t> (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1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000" dirty="0" smtClean="0"/>
                            <a:t>)</a:t>
                          </a:r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sv-SE" sz="1000" b="0" i="1" dirty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sz="1000" i="1" dirty="0" smtClean="0">
                                    <a:latin typeface="Cambria Math" panose="02040503050406030204" pitchFamily="18" charset="0"/>
                                  </a:rPr>
                                  <m:t>150 </m:t>
                                </m:r>
                                <m:sSup>
                                  <m:sSupPr>
                                    <m:ctrlP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sv-SE" sz="10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sv-SE" sz="10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142145"/>
                  </p:ext>
                </p:extLst>
              </p:nvPr>
            </p:nvGraphicFramePr>
            <p:xfrm>
              <a:off x="4092694" y="2806630"/>
              <a:ext cx="5011796" cy="8343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52949">
                      <a:extLst>
                        <a:ext uri="{9D8B030D-6E8A-4147-A177-3AD203B41FA5}">
                          <a16:colId xmlns:a16="http://schemas.microsoft.com/office/drawing/2014/main" val="701188241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487507754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267292927"/>
                        </a:ext>
                      </a:extLst>
                    </a:gridCol>
                    <a:gridCol w="1252949">
                      <a:extLst>
                        <a:ext uri="{9D8B030D-6E8A-4147-A177-3AD203B41FA5}">
                          <a16:colId xmlns:a16="http://schemas.microsoft.com/office/drawing/2014/main" val="482194914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485" t="-4348" r="-3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100485" t="-4348" r="-201456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201463" t="-4348" r="-102439" b="-2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00000" t="-4348" r="-1942" b="-2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322254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Loss</a:t>
                          </a:r>
                          <a:r>
                            <a:rPr lang="sv-SE" sz="1000" baseline="0" dirty="0" smtClean="0"/>
                            <a:t> (W)</a:t>
                          </a:r>
                          <a:endParaRPr lang="sv-SE" sz="1000" dirty="0" smtClean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1366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1590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1770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24150159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err="1" smtClean="0"/>
                            <a:t>Efficiency</a:t>
                          </a:r>
                          <a:r>
                            <a:rPr lang="sv-SE" sz="1000" dirty="0" smtClean="0"/>
                            <a:t> (%)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99.55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99.47 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sv-SE" sz="1000" dirty="0" smtClean="0"/>
                            <a:t>99.41 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819712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/>
          <p:cNvSpPr txBox="1"/>
          <p:nvPr/>
        </p:nvSpPr>
        <p:spPr>
          <a:xfrm>
            <a:off x="35496" y="4329670"/>
            <a:ext cx="93281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Assume only conduction loss is changed with temperature.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We do not use a thermal model here; we just find the losses for different junction temperatures.</a:t>
            </a:r>
            <a:endParaRPr lang="sv-SE" sz="15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45" y="2870494"/>
            <a:ext cx="2048820" cy="153661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1214473" y="2077314"/>
            <a:ext cx="1485319" cy="47299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1836736"/>
            <a:ext cx="21300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current is sinusoidal. </a:t>
            </a:r>
            <a:endParaRPr lang="sv-SE" sz="15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411760" y="1349618"/>
            <a:ext cx="2996916" cy="588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0912" y="1635713"/>
            <a:ext cx="3529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The maximum switching frequency is 5kHz since we have </a:t>
            </a:r>
            <a:r>
              <a:rPr lang="en-US" sz="1500" b="1" dirty="0" smtClean="0"/>
              <a:t>slow switching </a:t>
            </a:r>
            <a:r>
              <a:rPr lang="en-US" sz="1500" b="1" dirty="0"/>
              <a:t>speed (dv/</a:t>
            </a:r>
            <a:r>
              <a:rPr lang="en-US" sz="1500" b="1" dirty="0" err="1"/>
              <a:t>dt</a:t>
            </a:r>
            <a:r>
              <a:rPr lang="en-US" sz="1500" b="1" dirty="0"/>
              <a:t>) </a:t>
            </a:r>
            <a:r>
              <a:rPr lang="en-US" sz="1500" b="1" dirty="0" smtClean="0"/>
              <a:t>test data </a:t>
            </a:r>
            <a:r>
              <a:rPr lang="en-US" sz="1500" dirty="0" smtClean="0"/>
              <a:t>in </a:t>
            </a:r>
            <a:r>
              <a:rPr lang="en-US" sz="1500" dirty="0"/>
              <a:t>the datasheet.</a:t>
            </a:r>
            <a:endParaRPr lang="sv-SE" sz="1500" dirty="0"/>
          </a:p>
        </p:txBody>
      </p:sp>
    </p:spTree>
    <p:extLst>
      <p:ext uri="{BB962C8B-B14F-4D97-AF65-F5344CB8AC3E}">
        <p14:creationId xmlns:p14="http://schemas.microsoft.com/office/powerpoint/2010/main" val="5761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Fast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059582"/>
            <a:ext cx="2962471" cy="1941089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H="1">
            <a:off x="1962317" y="2651614"/>
            <a:ext cx="1145815" cy="547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0472" y="3142342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capacitance loss</a:t>
            </a:r>
            <a:endParaRPr lang="sv-SE" dirty="0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315140" y="2030126"/>
            <a:ext cx="1482015" cy="850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36096" y="2925257"/>
            <a:ext cx="33576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Overlapping loss</a:t>
            </a:r>
            <a:endParaRPr lang="sv-SE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377" y="3565490"/>
            <a:ext cx="2179539" cy="436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20109" y="4056218"/>
            <a:ext cx="2150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Linearly increasing by the number of dies in parallel</a:t>
            </a:r>
            <a:endParaRPr lang="sv-SE" sz="1200" dirty="0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26" y="3318101"/>
            <a:ext cx="2761751" cy="62307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74126" y="3941179"/>
            <a:ext cx="2722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Depends on dv/</a:t>
            </a:r>
            <a:r>
              <a:rPr lang="en-US" sz="1400" dirty="0" err="1" smtClean="0"/>
              <a:t>dt</a:t>
            </a:r>
            <a:r>
              <a:rPr lang="en-US" sz="1400" dirty="0" smtClean="0"/>
              <a:t> and di/</a:t>
            </a:r>
            <a:r>
              <a:rPr lang="en-US" sz="1400" dirty="0" err="1" smtClean="0"/>
              <a:t>dt</a:t>
            </a:r>
            <a:endParaRPr lang="sv-SE" sz="14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5"/>
          <a:srcRect t="5062"/>
          <a:stretch/>
        </p:blipFill>
        <p:spPr>
          <a:xfrm>
            <a:off x="5647827" y="4255547"/>
            <a:ext cx="1341121" cy="44886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948" y="4244313"/>
            <a:ext cx="1169744" cy="4189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258465" y="2846935"/>
            <a:ext cx="1072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10mJ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3910883" y="1678065"/>
            <a:ext cx="1886272" cy="5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68144" y="149339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58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3798757" y="2541935"/>
            <a:ext cx="2652892" cy="85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40489" y="2357269"/>
            <a:ext cx="1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</a:t>
            </a:r>
            <a:r>
              <a:rPr lang="en-US" dirty="0" err="1" smtClean="0">
                <a:solidFill>
                  <a:srgbClr val="FF0000"/>
                </a:solidFill>
              </a:rPr>
              <a:t>mJ</a:t>
            </a:r>
            <a:r>
              <a:rPr lang="en-US" dirty="0" smtClean="0">
                <a:solidFill>
                  <a:srgbClr val="FF0000"/>
                </a:solidFill>
              </a:rPr>
              <a:t> at 304 A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8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960655"/>
            <a:ext cx="3240360" cy="24302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42653"/>
            <a:ext cx="3736529" cy="2448272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067944" y="2166789"/>
            <a:ext cx="1088007" cy="9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3352590"/>
            <a:ext cx="1872208" cy="1399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94240" y="3867894"/>
            <a:ext cx="334225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 smtClean="0"/>
              <a:t>Scaled by </a:t>
            </a:r>
            <a:r>
              <a:rPr lang="en-US" sz="1200" dirty="0"/>
              <a:t>considering </a:t>
            </a:r>
            <a:r>
              <a:rPr lang="en-US" sz="1200" dirty="0" smtClean="0"/>
              <a:t> 1.7 kV </a:t>
            </a:r>
            <a:r>
              <a:rPr lang="sv-SE" sz="1200" dirty="0" smtClean="0"/>
              <a:t> </a:t>
            </a:r>
            <a:r>
              <a:rPr lang="en-US" sz="1200" dirty="0" smtClean="0"/>
              <a:t>Wolf-Speed power modules which have test data with higher dv/</a:t>
            </a:r>
            <a:r>
              <a:rPr lang="en-US" sz="1200" dirty="0" err="1" smtClean="0"/>
              <a:t>dt</a:t>
            </a:r>
            <a:endParaRPr lang="sv-SE" sz="1200" dirty="0" err="1"/>
          </a:p>
        </p:txBody>
      </p:sp>
    </p:spTree>
    <p:extLst>
      <p:ext uri="{BB962C8B-B14F-4D97-AF65-F5344CB8AC3E}">
        <p14:creationId xmlns:p14="http://schemas.microsoft.com/office/powerpoint/2010/main" val="394176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Updating Switching Losses for </a:t>
            </a:r>
            <a:r>
              <a:rPr lang="en-US" dirty="0"/>
              <a:t>Fast dv/</a:t>
            </a:r>
            <a:r>
              <a:rPr lang="en-US" dirty="0" err="1"/>
              <a:t>dt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897732"/>
            <a:ext cx="3936438" cy="29523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18416"/>
            <a:ext cx="3744416" cy="2808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Number of Dies area selected as minimized the losses regarding the switching frequency.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Junction temperature is taken at </a:t>
                </a:r>
                <a14:m>
                  <m:oMath xmlns:m="http://schemas.openxmlformats.org/officeDocument/2006/math">
                    <m:r>
                      <a:rPr lang="sv-SE" sz="1600" i="1" dirty="0">
                        <a:latin typeface="Cambria Math" panose="02040503050406030204" pitchFamily="18" charset="0"/>
                      </a:rPr>
                      <m:t>75 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sv-SE" sz="1600" dirty="0" smtClean="0"/>
                  <a:t>.</a:t>
                </a:r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251539"/>
                <a:ext cx="8424936" cy="492443"/>
              </a:xfrm>
              <a:prstGeom prst="rect">
                <a:avLst/>
              </a:prstGeom>
              <a:blipFill>
                <a:blip r:embed="rId4"/>
                <a:stretch>
                  <a:fillRect l="-1375" t="-12346" b="-2469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9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Cases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smtClean="0"/>
                  <a:t>If junction temperature is taken at </a:t>
                </a:r>
                <a14:m>
                  <m:oMath xmlns:m="http://schemas.openxmlformats.org/officeDocument/2006/math">
                    <m:r>
                      <a:rPr lang="sv-SE" sz="16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sv-SE" sz="16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16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sz="1600" dirty="0" err="1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251538"/>
                <a:ext cx="3456384" cy="492443"/>
              </a:xfrm>
              <a:prstGeom prst="rect">
                <a:avLst/>
              </a:prstGeom>
              <a:blipFill>
                <a:blip r:embed="rId2"/>
                <a:stretch>
                  <a:fillRect l="-3351" t="-12346" r="-529" b="-37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61453"/>
            <a:ext cx="4035152" cy="3026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1045647"/>
            <a:ext cx="4056227" cy="3042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60032" y="4235732"/>
            <a:ext cx="34563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we lower dv/</a:t>
            </a:r>
            <a:r>
              <a:rPr lang="en-US" sz="1600" dirty="0" err="1" smtClean="0"/>
              <a:t>dt</a:t>
            </a:r>
            <a:r>
              <a:rPr lang="en-US" sz="1600" dirty="0" smtClean="0"/>
              <a:t> 2.5 times </a:t>
            </a:r>
            <a:endParaRPr lang="sv-SE" sz="1600" dirty="0" err="1"/>
          </a:p>
        </p:txBody>
      </p:sp>
    </p:spTree>
    <p:extLst>
      <p:ext uri="{BB962C8B-B14F-4D97-AF65-F5344CB8AC3E}">
        <p14:creationId xmlns:p14="http://schemas.microsoft.com/office/powerpoint/2010/main" val="167849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Harmonic Losses </a:t>
            </a:r>
            <a:r>
              <a:rPr lang="en-US" dirty="0" smtClean="0"/>
              <a:t>on the Motor Side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87354"/>
            <a:ext cx="3599470" cy="2699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31640" y="918022"/>
                <a:ext cx="2497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10</m:t>
                      </m:r>
                      <m:r>
                        <a:rPr lang="sv-SE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918022"/>
                <a:ext cx="249787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300192" y="918022"/>
                <a:ext cx="15816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918022"/>
                <a:ext cx="15816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1287354"/>
            <a:ext cx="3558922" cy="266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9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Losses Calculation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910184"/>
            <a:ext cx="4949957" cy="371246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283968" y="897732"/>
            <a:ext cx="2664296" cy="13139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63867" y="448519"/>
            <a:ext cx="187220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 smtClean="0"/>
              <a:t>Optimum switching frequency</a:t>
            </a:r>
            <a:endParaRPr lang="sv-SE" sz="2000" dirty="0" err="1"/>
          </a:p>
        </p:txBody>
      </p:sp>
    </p:spTree>
    <p:extLst>
      <p:ext uri="{BB962C8B-B14F-4D97-AF65-F5344CB8AC3E}">
        <p14:creationId xmlns:p14="http://schemas.microsoft.com/office/powerpoint/2010/main" val="7445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904" y="1347614"/>
            <a:ext cx="2140980" cy="566641"/>
          </a:xfrm>
        </p:spPr>
        <p:txBody>
          <a:bodyPr/>
          <a:lstStyle/>
          <a:p>
            <a:r>
              <a:rPr lang="en-US" dirty="0" smtClean="0"/>
              <a:t>Thanks !!!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2024-06-18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336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6393</TotalTime>
  <Words>753</Words>
  <Application>Microsoft Office PowerPoint</Application>
  <PresentationFormat>On-screen Show (16:9)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Office-tema</vt:lpstr>
      <vt:lpstr>2-Level Voltage Source Traction Inverter</vt:lpstr>
      <vt:lpstr>Agenda</vt:lpstr>
      <vt:lpstr>2-Level Inverter Power Ratings</vt:lpstr>
      <vt:lpstr>Parameters of Infineon 2kV Bare die</vt:lpstr>
      <vt:lpstr>Datasheet-Driven Loss Estimation</vt:lpstr>
      <vt:lpstr>Datasheet-driven Loss Calculation</vt:lpstr>
      <vt:lpstr>Updating Switching Losses for Fast dv/dt</vt:lpstr>
      <vt:lpstr>Updating Switching Loss for Fast dv/dt</vt:lpstr>
      <vt:lpstr>Updating Switching Losses for Fast dv/dt</vt:lpstr>
      <vt:lpstr>Other Cases</vt:lpstr>
      <vt:lpstr>Harmonic Losses on the Motor Side</vt:lpstr>
      <vt:lpstr>Total Losses Calculation</vt:lpstr>
      <vt:lpstr>Thanks !!!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183</cp:revision>
  <dcterms:created xsi:type="dcterms:W3CDTF">2019-12-10T08:55:59Z</dcterms:created>
  <dcterms:modified xsi:type="dcterms:W3CDTF">2024-06-18T13:17:32Z</dcterms:modified>
</cp:coreProperties>
</file>