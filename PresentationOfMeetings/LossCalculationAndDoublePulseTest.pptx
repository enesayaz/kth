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9" r:id="rId2"/>
    <p:sldId id="276" r:id="rId3"/>
    <p:sldId id="278" r:id="rId4"/>
    <p:sldId id="281" r:id="rId5"/>
    <p:sldId id="277" r:id="rId6"/>
    <p:sldId id="282" r:id="rId7"/>
    <p:sldId id="283" r:id="rId8"/>
    <p:sldId id="285" r:id="rId9"/>
    <p:sldId id="284" r:id="rId10"/>
    <p:sldId id="288" r:id="rId11"/>
    <p:sldId id="287" r:id="rId12"/>
    <p:sldId id="286" r:id="rId13"/>
    <p:sldId id="289" r:id="rId14"/>
    <p:sldId id="290" r:id="rId15"/>
    <p:sldId id="295" r:id="rId16"/>
    <p:sldId id="291" r:id="rId17"/>
    <p:sldId id="292" r:id="rId18"/>
    <p:sldId id="293" r:id="rId19"/>
    <p:sldId id="294" r:id="rId20"/>
    <p:sldId id="296" r:id="rId21"/>
  </p:sldIdLst>
  <p:sldSz cx="9144000" cy="5143500" type="screen16x9"/>
  <p:notesSz cx="6858000" cy="9144000"/>
  <p:defaultTextStyle>
    <a:defPPr>
      <a:defRPr lang="sv-S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971" autoAdjust="0"/>
    <p:restoredTop sz="94660"/>
  </p:normalViewPr>
  <p:slideViewPr>
    <p:cSldViewPr>
      <p:cViewPr>
        <p:scale>
          <a:sx n="125" d="100"/>
          <a:sy n="125" d="100"/>
        </p:scale>
        <p:origin x="1290" y="5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92" d="100"/>
          <a:sy n="92" d="100"/>
        </p:scale>
        <p:origin x="279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8641E886-6D8F-4DA2-898A-00B1EAE1AC5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EDFE6A-05C8-4F6B-BA8A-F497180174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C3AE95-3DFC-4DDB-A7BB-B9BF94A03429}" type="datetimeFigureOut">
              <a:rPr lang="sv-SE" smtClean="0"/>
              <a:t>2023-09-18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AAE70C2B-4AA1-47BF-94B9-F7DF59FCFC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ED3EF666-D1D2-478D-9969-E1DE1FE2D0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96AD15-F18B-494F-8904-C45D7BCBE60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675942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8539D3-FAF3-FC43-8825-CC8C9D4686B2}" type="datetimeFigureOut">
              <a:rPr lang="sv-SE" smtClean="0"/>
              <a:t>2023-09-18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3B8005-7BF2-4B40-A831-B1EE96BFE5D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8434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B926A-213D-3B48-BB0C-19ADA28B3F4D}" type="datetime1">
              <a:rPr lang="sv-SE" smtClean="0"/>
              <a:t>2023-09-18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sp>
        <p:nvSpPr>
          <p:cNvPr id="24" name="Rubrik 1">
            <a:extLst>
              <a:ext uri="{FF2B5EF4-FFF2-40B4-BE49-F238E27FC236}">
                <a16:creationId xmlns:a16="http://schemas.microsoft.com/office/drawing/2014/main" id="{2973C368-F8A4-41B1-9D52-4D79988138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 smtClean="0"/>
              <a:t>Click to edit Master title style</a:t>
            </a:r>
            <a:endParaRPr lang="sv-SE" dirty="0"/>
          </a:p>
        </p:txBody>
      </p:sp>
      <p:sp>
        <p:nvSpPr>
          <p:cNvPr id="25" name="Underrubrik 2">
            <a:extLst>
              <a:ext uri="{FF2B5EF4-FFF2-40B4-BE49-F238E27FC236}">
                <a16:creationId xmlns:a16="http://schemas.microsoft.com/office/drawing/2014/main" id="{040AB90C-B2A7-4284-98E0-80DAE0A2CD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sv-SE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83F7B48-BB86-D74E-A1EB-2C3CDBAC7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912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18E66E3-BED5-4C6D-B465-40B84B88D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 smtClean="0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FF22D944-0354-4DCD-8334-3FC7C9FFC9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F508-B04A-E34A-80DD-59A12C5D1039}" type="datetime1">
              <a:rPr lang="sv-SE" smtClean="0"/>
              <a:t>2023-09-18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pic>
        <p:nvPicPr>
          <p:cNvPr id="9" name="Bildobjekt 19">
            <a:extLst>
              <a:ext uri="{FF2B5EF4-FFF2-40B4-BE49-F238E27FC236}">
                <a16:creationId xmlns:a16="http://schemas.microsoft.com/office/drawing/2014/main" id="{D08EEA80-13E5-4697-A9DA-21277742FA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26476" y="333641"/>
            <a:ext cx="1287722" cy="2057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E50A1F01-262A-6542-96F8-9345B6213D9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4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47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EB0B6BB-AC5F-485A-85BA-F56E433C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9A48BD2-8B5B-44E1-8F6C-9B0D41A6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3F4D8-4BE6-D743-AE27-D14757A6F270}" type="datetime1">
              <a:rPr lang="sv-SE" smtClean="0"/>
              <a:t>2023-09-18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1B72178-9B2F-45A7-A31E-7710591B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3155F99B-B767-4EF4-BDED-E7E361EB3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FA474A84-82A6-4747-B64B-83217A0CB5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31888" y="1194198"/>
            <a:ext cx="7765653" cy="3540919"/>
          </a:xfrm>
        </p:spPr>
        <p:txBody>
          <a:bodyPr>
            <a:normAutofit/>
          </a:bodyPr>
          <a:lstStyle>
            <a:lvl1pPr>
              <a:defRPr sz="1500"/>
            </a:lvl1pPr>
            <a:lvl2pPr marL="514350" indent="-171450">
              <a:buFont typeface="Arial" panose="020B0604020202020204" pitchFamily="34" charset="0"/>
              <a:buChar char="‒"/>
              <a:defRPr sz="1350"/>
            </a:lvl2pPr>
            <a:lvl3pPr marL="857250" indent="-171450">
              <a:buFont typeface="Arial" panose="020B0604020202020204" pitchFamily="34" charset="0"/>
              <a:buChar char="˃"/>
              <a:defRPr sz="1200"/>
            </a:lvl3pPr>
            <a:lvl4pPr>
              <a:defRPr sz="1050"/>
            </a:lvl4pPr>
            <a:lvl5pPr marL="1543050" indent="-171450">
              <a:buFont typeface="Arial" panose="020B0604020202020204" pitchFamily="34" charset="0"/>
              <a:buChar char="‒"/>
              <a:defRPr sz="1050"/>
            </a:lvl5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727327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63559-229D-724F-BBD5-623E582CF5C1}" type="datetime1">
              <a:rPr lang="sv-SE" smtClean="0"/>
              <a:t>2023-09-18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innehåll 6">
            <a:extLst>
              <a:ext uri="{FF2B5EF4-FFF2-40B4-BE49-F238E27FC236}">
                <a16:creationId xmlns:a16="http://schemas.microsoft.com/office/drawing/2014/main" id="{C23E0C61-4086-4E9E-9765-C96613FBE58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193800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 dirty="0"/>
          </a:p>
        </p:txBody>
      </p:sp>
      <p:sp>
        <p:nvSpPr>
          <p:cNvPr id="12" name="Platshållare för innehåll 6">
            <a:extLst>
              <a:ext uri="{FF2B5EF4-FFF2-40B4-BE49-F238E27FC236}">
                <a16:creationId xmlns:a16="http://schemas.microsoft.com/office/drawing/2014/main" id="{F4B1B781-8A23-4309-9884-DD6E3CE0EF2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1888" y="1194594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 dirty="0"/>
          </a:p>
        </p:txBody>
      </p:sp>
      <p:sp>
        <p:nvSpPr>
          <p:cNvPr id="6" name="Rubrik 5">
            <a:extLst>
              <a:ext uri="{FF2B5EF4-FFF2-40B4-BE49-F238E27FC236}">
                <a16:creationId xmlns:a16="http://schemas.microsoft.com/office/drawing/2014/main" id="{41903042-6CE8-4286-847C-7E810AF5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158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underrubriker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945529D-785A-43B8-8CB0-BF49CF7D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F60D0-FE42-A248-8A54-F26FEA948759}" type="datetime1">
              <a:rPr lang="sv-SE" smtClean="0"/>
              <a:t>2023-09-18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8" name="Platshållare för innehåll 6">
            <a:extLst>
              <a:ext uri="{FF2B5EF4-FFF2-40B4-BE49-F238E27FC236}">
                <a16:creationId xmlns:a16="http://schemas.microsoft.com/office/drawing/2014/main" id="{6304BE55-467D-4CE2-9B8D-EC038C989AF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664494"/>
            <a:ext cx="3794297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 dirty="0"/>
          </a:p>
        </p:txBody>
      </p:sp>
      <p:sp>
        <p:nvSpPr>
          <p:cNvPr id="12" name="Platshållare för text 10">
            <a:extLst>
              <a:ext uri="{FF2B5EF4-FFF2-40B4-BE49-F238E27FC236}">
                <a16:creationId xmlns:a16="http://schemas.microsoft.com/office/drawing/2014/main" id="{4D066E04-C797-4C85-AD05-F6EFD42AE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03244" y="1194197"/>
            <a:ext cx="3794297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3" name="Platshållare för innehåll 6">
            <a:extLst>
              <a:ext uri="{FF2B5EF4-FFF2-40B4-BE49-F238E27FC236}">
                <a16:creationId xmlns:a16="http://schemas.microsoft.com/office/drawing/2014/main" id="{20A69851-5F12-40D3-A417-2DCD7530A5F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6220" y="1664494"/>
            <a:ext cx="3792153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 dirty="0"/>
          </a:p>
        </p:txBody>
      </p:sp>
      <p:sp>
        <p:nvSpPr>
          <p:cNvPr id="14" name="Platshållare för text 10">
            <a:extLst>
              <a:ext uri="{FF2B5EF4-FFF2-40B4-BE49-F238E27FC236}">
                <a16:creationId xmlns:a16="http://schemas.microsoft.com/office/drawing/2014/main" id="{9472B11D-1B06-4AB9-A788-CEFECBDC8E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6220" y="1194197"/>
            <a:ext cx="3792153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 smtClean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045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A7D9E-CD1D-F144-88A8-27D2C4D672B1}" type="datetime1">
              <a:rPr lang="sv-SE" smtClean="0"/>
              <a:t>2023-09-18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198"/>
            <a:ext cx="8651081" cy="3540919"/>
          </a:xfrm>
        </p:spPr>
        <p:txBody>
          <a:bodyPr/>
          <a:lstStyle/>
          <a:p>
            <a:r>
              <a:rPr lang="en-US" smtClean="0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339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1585DF-A6DF-A54D-9960-BE991B45200F}" type="datetime1">
              <a:rPr lang="sv-SE" smtClean="0"/>
              <a:t>2023-09-18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594"/>
            <a:ext cx="4237209" cy="3540919"/>
          </a:xfrm>
        </p:spPr>
        <p:txBody>
          <a:bodyPr/>
          <a:lstStyle/>
          <a:p>
            <a:r>
              <a:rPr lang="en-US" smtClean="0"/>
              <a:t>Click icon to add picture</a:t>
            </a:r>
            <a:endParaRPr lang="sv-SE"/>
          </a:p>
        </p:txBody>
      </p:sp>
      <p:sp>
        <p:nvSpPr>
          <p:cNvPr id="9" name="Platshållare för bild 6">
            <a:extLst>
              <a:ext uri="{FF2B5EF4-FFF2-40B4-BE49-F238E27FC236}">
                <a16:creationId xmlns:a16="http://schemas.microsoft.com/office/drawing/2014/main" id="{3747F699-0360-4395-8415-6E5114D6C6C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60332" y="1194198"/>
            <a:ext cx="4237210" cy="3540919"/>
          </a:xfrm>
        </p:spPr>
        <p:txBody>
          <a:bodyPr/>
          <a:lstStyle/>
          <a:p>
            <a:r>
              <a:rPr lang="en-US" smtClean="0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87958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F4B5727-3AF8-4023-B42B-839E8695A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92B391E-9C84-4E0D-898B-8454343B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91D87-1285-6843-BFFA-E098C31F828A}" type="datetime1">
              <a:rPr lang="sv-SE" smtClean="0"/>
              <a:t>2023-09-18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32D627AA-4087-4599-9513-63987ED8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DE0A226-9A3A-4E94-A386-D753C79EA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96585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EB551155-ADB6-4713-AD48-92A8C535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680" y="250032"/>
            <a:ext cx="7763861" cy="6477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CEFDED03-B73B-4057-9667-7B69EF4D7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1887" y="1194197"/>
            <a:ext cx="7765653" cy="34385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80C11F1C-711C-4AD7-A25F-D2B3F451BB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152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E8303-AD2F-DB4D-B8E2-7368B5FD02EE}" type="datetime1">
              <a:rPr lang="sv-SE" smtClean="0"/>
              <a:t>2023-09-18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C9465249-3F3D-4589-A44C-3AA1952E4C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902599"/>
            <a:ext cx="3086100" cy="2325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F9DBF7EF-8E59-4075-A8F0-EF49E121C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508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2A9A3-8636-4A04-BD48-3153280FB086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3C4B2EE-2B48-4379-BBD1-4FA250447FE8}"/>
              </a:ext>
            </a:extLst>
          </p:cNvPr>
          <p:cNvPicPr>
            <a:picLocks noChangeArrowheads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6551" y="250120"/>
            <a:ext cx="644150" cy="65239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" name="Rektangel 53">
            <a:extLst>
              <a:ext uri="{FF2B5EF4-FFF2-40B4-BE49-F238E27FC236}">
                <a16:creationId xmlns:a16="http://schemas.microsoft.com/office/drawing/2014/main" id="{D263F704-88D1-4479-BA22-2920B7F38621}"/>
              </a:ext>
            </a:extLst>
          </p:cNvPr>
          <p:cNvSpPr/>
          <p:nvPr userDrawn="1"/>
        </p:nvSpPr>
        <p:spPr>
          <a:xfrm>
            <a:off x="250750" y="4889099"/>
            <a:ext cx="8646791" cy="1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013"/>
          </a:p>
        </p:txBody>
      </p:sp>
    </p:spTree>
    <p:extLst>
      <p:ext uri="{BB962C8B-B14F-4D97-AF65-F5344CB8AC3E}">
        <p14:creationId xmlns:p14="http://schemas.microsoft.com/office/powerpoint/2010/main" val="27658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3" r:id="rId3"/>
    <p:sldLayoutId id="2147483654" r:id="rId4"/>
    <p:sldLayoutId id="2147483655" r:id="rId5"/>
    <p:sldLayoutId id="2147483651" r:id="rId6"/>
    <p:sldLayoutId id="2147483652" r:id="rId7"/>
    <p:sldLayoutId id="2147483650" r:id="rId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&gt;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713" userDrawn="1">
          <p15:clr>
            <a:srgbClr val="F26B43"/>
          </p15:clr>
        </p15:guide>
        <p15:guide id="4" pos="5454" userDrawn="1">
          <p15:clr>
            <a:srgbClr val="F26B43"/>
          </p15:clr>
        </p15:guide>
        <p15:guide id="6" pos="358" userDrawn="1">
          <p15:clr>
            <a:srgbClr val="F26B43"/>
          </p15:clr>
        </p15:guide>
        <p15:guide id="7" orient="horz" pos="158" userDrawn="1">
          <p15:clr>
            <a:srgbClr val="F26B43"/>
          </p15:clr>
        </p15:guide>
        <p15:guide id="8" orient="horz" pos="3084" userDrawn="1">
          <p15:clr>
            <a:srgbClr val="F26B43"/>
          </p15:clr>
        </p15:guide>
        <p15:guide id="9" pos="5605" userDrawn="1">
          <p15:clr>
            <a:srgbClr val="F26B43"/>
          </p15:clr>
        </p15:guide>
        <p15:guide id="10" pos="155" userDrawn="1">
          <p15:clr>
            <a:srgbClr val="F26B43"/>
          </p15:clr>
        </p15:guide>
        <p15:guide id="11" pos="560" userDrawn="1">
          <p15:clr>
            <a:srgbClr val="F26B43"/>
          </p15:clr>
        </p15:guide>
        <p15:guide id="12" orient="horz" pos="566" userDrawn="1">
          <p15:clr>
            <a:srgbClr val="F26B43"/>
          </p15:clr>
        </p15:guide>
        <p15:guide id="13" orient="horz" pos="752" userDrawn="1">
          <p15:clr>
            <a:srgbClr val="F26B43"/>
          </p15:clr>
        </p15:guide>
        <p15:guide id="14" orient="horz" pos="298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7" Type="http://schemas.openxmlformats.org/officeDocument/2006/relationships/image" Target="../media/image22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emf"/><Relationship Id="rId5" Type="http://schemas.openxmlformats.org/officeDocument/2006/relationships/image" Target="../media/image26.emf"/><Relationship Id="rId4" Type="http://schemas.openxmlformats.org/officeDocument/2006/relationships/image" Target="../media/image25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ea.lth.se/kel/2021/Lectures/PE20_GuestLecture%20OnDoublePulseTesting_Philip.pdf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046A919-5EDA-8448-9EC7-04EDDB67C5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1560" y="1131590"/>
            <a:ext cx="8396560" cy="566641"/>
          </a:xfrm>
        </p:spPr>
        <p:txBody>
          <a:bodyPr/>
          <a:lstStyle/>
          <a:p>
            <a:pPr algn="ctr"/>
            <a:r>
              <a:rPr lang="en-US" dirty="0" smtClean="0"/>
              <a:t>Loss Modelling of the Traction Inverter and Validation by Double Pulse Test</a:t>
            </a:r>
            <a:endParaRPr lang="sv-SE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52E08D81-344D-5640-BC09-C6F8DF74B8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74705-AE8B-4A42-AB7F-E934F3FD7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7DF-C448-9E4A-AC1B-538968DD2481}" type="datetime1">
              <a:rPr lang="sv-SE" smtClean="0"/>
              <a:pPr/>
              <a:t>2023-09-18</a:t>
            </a:fld>
            <a:endParaRPr lang="sv-S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3B2698-B4E9-7A4C-9527-FEC214F6F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6620A-5648-0C4A-8D32-82D4B46D2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5504758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261A77-36CD-DE4F-8CA6-569DA6FD0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F6CAB-D6C5-C24C-A2B1-D43DE3A030AC}" type="datetime1">
              <a:rPr lang="sv-SE" smtClean="0"/>
              <a:pPr/>
              <a:t>2023-09-18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EEE17-AFAB-724E-9DF0-4C48FC080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2B6CC9-3FEF-FB46-9337-9012AEB65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</a:t>
            </a:fld>
            <a:endParaRPr lang="sv-SE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sv-SE" dirty="0" err="1" smtClean="0"/>
              <a:t>Semiconductor</a:t>
            </a:r>
            <a:r>
              <a:rPr lang="sv-SE" dirty="0" smtClean="0"/>
              <a:t> </a:t>
            </a:r>
            <a:r>
              <a:rPr lang="sv-SE" dirty="0" err="1" smtClean="0"/>
              <a:t>Losses</a:t>
            </a:r>
            <a:endParaRPr lang="sv-SE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1203598"/>
            <a:ext cx="3744416" cy="2720340"/>
          </a:xfrm>
          <a:prstGeom prst="rect">
            <a:avLst/>
          </a:prstGeom>
        </p:spPr>
      </p:pic>
      <p:sp>
        <p:nvSpPr>
          <p:cNvPr id="10" name="Content Placeholder 2"/>
          <p:cNvSpPr>
            <a:spLocks noGrp="1"/>
          </p:cNvSpPr>
          <p:nvPr>
            <p:ph idx="4294967295"/>
          </p:nvPr>
        </p:nvSpPr>
        <p:spPr>
          <a:xfrm>
            <a:off x="4897134" y="1494930"/>
            <a:ext cx="3875892" cy="2810471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 smtClean="0">
                <a:solidFill>
                  <a:srgbClr val="0070C0"/>
                </a:solidFill>
              </a:rPr>
              <a:t>Losses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 smtClean="0"/>
              <a:t>Power semiconductors (90 %) </a:t>
            </a:r>
            <a:r>
              <a:rPr lang="en-US" sz="1400" dirty="0"/>
              <a:t>(</a:t>
            </a:r>
            <a:r>
              <a:rPr lang="en-US" sz="1400" dirty="0" smtClean="0"/>
              <a:t>eff 99.5%)</a:t>
            </a:r>
          </a:p>
          <a:p>
            <a:pPr lvl="1"/>
            <a:r>
              <a:rPr lang="en-US" sz="1400" dirty="0" smtClean="0">
                <a:solidFill>
                  <a:srgbClr val="C00000"/>
                </a:solidFill>
              </a:rPr>
              <a:t>Conduction Losses</a:t>
            </a:r>
          </a:p>
          <a:p>
            <a:pPr lvl="1"/>
            <a:r>
              <a:rPr lang="en-US" sz="1400" dirty="0" smtClean="0">
                <a:solidFill>
                  <a:srgbClr val="C00000"/>
                </a:solidFill>
              </a:rPr>
              <a:t>Switching Losses</a:t>
            </a:r>
          </a:p>
          <a:p>
            <a:pPr lvl="1"/>
            <a:r>
              <a:rPr lang="en-US" sz="1400" strike="sngStrike" dirty="0"/>
              <a:t>Driving losses</a:t>
            </a:r>
          </a:p>
          <a:p>
            <a:pPr lvl="1"/>
            <a:r>
              <a:rPr lang="en-US" sz="1400" strike="sngStrike" dirty="0"/>
              <a:t>Leakage </a:t>
            </a:r>
            <a:r>
              <a:rPr lang="en-US" sz="1400" strike="sngStrike" dirty="0" smtClean="0"/>
              <a:t>Losses</a:t>
            </a:r>
            <a:endParaRPr lang="en-US" sz="14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 smtClean="0"/>
              <a:t>Additional Losses  ( 10%)</a:t>
            </a:r>
          </a:p>
          <a:p>
            <a:pPr lvl="1"/>
            <a:r>
              <a:rPr lang="en-US" sz="1400" dirty="0" smtClean="0"/>
              <a:t>Filters losses </a:t>
            </a:r>
            <a:endParaRPr lang="en-US" sz="1400" dirty="0"/>
          </a:p>
          <a:p>
            <a:pPr marL="0" indent="0">
              <a:buNone/>
            </a:pPr>
            <a:endParaRPr lang="en-US" sz="2500" dirty="0"/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1508373" y="4178485"/>
            <a:ext cx="16642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>
            <a:off x="3543312" y="4357659"/>
            <a:ext cx="10827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180557" y="3927235"/>
            <a:ext cx="1156650" cy="5589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Volume</a:t>
            </a:r>
            <a:endParaRPr lang="sv-SE" dirty="0"/>
          </a:p>
        </p:txBody>
      </p:sp>
      <p:sp>
        <p:nvSpPr>
          <p:cNvPr id="16" name="Rectangle 15"/>
          <p:cNvSpPr/>
          <p:nvPr/>
        </p:nvSpPr>
        <p:spPr>
          <a:xfrm>
            <a:off x="774176" y="3915144"/>
            <a:ext cx="1037408" cy="55893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Losses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9703" y="3814183"/>
            <a:ext cx="1360854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Cooling system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52692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261A77-36CD-DE4F-8CA6-569DA6FD0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F6CAB-D6C5-C24C-A2B1-D43DE3A030AC}" type="datetime1">
              <a:rPr lang="sv-SE" smtClean="0"/>
              <a:pPr/>
              <a:t>2023-09-18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EEE17-AFAB-724E-9DF0-4C48FC080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2B6CC9-3FEF-FB46-9337-9012AEB65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</a:t>
            </a:fld>
            <a:endParaRPr lang="sv-SE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2800" dirty="0" smtClean="0"/>
              <a:t>Loss Modelling</a:t>
            </a:r>
            <a:endParaRPr lang="sv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308920" y="1934324"/>
                <a:ext cx="4183797" cy="4410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𝑐𝑜𝑛𝑑</m:t>
                          </m:r>
                        </m:sub>
                      </m:sSub>
                      <m:d>
                        <m:dPr>
                          <m:ctrlPr>
                            <a:rPr lang="sv-SE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sv-SE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𝑜𝑢𝑡</m:t>
                          </m:r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>
                        <m:sSubPr>
                          <m:ctrlPr>
                            <a:rPr lang="sv-S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d>
                        <m:dPr>
                          <m:ctrlPr>
                            <a:rPr lang="sv-SE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]</m:t>
                      </m:r>
                      <m:f>
                        <m:fPr>
                          <m:ctrlPr>
                            <a:rPr lang="sv-SE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  <m:t>𝑠𝑤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sv-SE" sz="1600" dirty="0" err="1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8920" y="1934324"/>
                <a:ext cx="4183797" cy="441083"/>
              </a:xfrm>
              <a:prstGeom prst="rect">
                <a:avLst/>
              </a:prstGeom>
              <a:blipFill>
                <a:blip r:embed="rId2"/>
                <a:stretch>
                  <a:fillRect b="-5479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2160798" y="3354272"/>
                <a:ext cx="5219514" cy="2481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𝑠𝑤</m:t>
                          </m:r>
                        </m:sub>
                      </m:sSub>
                      <m:d>
                        <m:dPr>
                          <m:ctrlPr>
                            <a:rPr lang="sv-SE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sv-SE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sv-S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4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sv-SE" sz="1400" i="1">
                                  <a:latin typeface="Cambria Math" panose="02040503050406030204" pitchFamily="18" charset="0"/>
                                </a:rPr>
                                <m:t>𝑆𝑊</m:t>
                              </m:r>
                            </m:sub>
                          </m:sSub>
                        </m:e>
                      </m:d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=2 </m:t>
                      </m:r>
                      <m:sSub>
                        <m:sSubPr>
                          <m:ctrlPr>
                            <a:rPr lang="sv-S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𝑠𝑤</m:t>
                          </m:r>
                        </m:sub>
                      </m:sSub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[</m:t>
                      </m:r>
                      <m:sSub>
                        <m:sSubPr>
                          <m:ctrlPr>
                            <a:rPr lang="sv-S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𝑜𝑛</m:t>
                          </m:r>
                        </m:sub>
                      </m:sSub>
                      <m:d>
                        <m:dPr>
                          <m:ctrlPr>
                            <a:rPr lang="sv-SE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sv-S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4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sv-SE" sz="1400" i="1">
                                  <a:latin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  <m:r>
                            <a:rPr lang="sv-SE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sv-S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sv-SE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sv-SE" sz="1400" b="0" i="1" smtClean="0">
                                  <a:latin typeface="Cambria Math" panose="02040503050406030204" pitchFamily="18" charset="0"/>
                                </a:rPr>
                                <m:t>𝑆𝑊</m:t>
                              </m:r>
                            </m:sub>
                          </m:sSub>
                        </m:e>
                      </m:d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sv-SE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4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sv-SE" sz="1400" i="1">
                              <a:latin typeface="Cambria Math" panose="02040503050406030204" pitchFamily="18" charset="0"/>
                            </a:rPr>
                            <m:t>𝑜</m:t>
                          </m:r>
                          <m:r>
                            <a:rPr lang="sv-SE" sz="1400" b="0" i="1" smtClean="0">
                              <a:latin typeface="Cambria Math" panose="02040503050406030204" pitchFamily="18" charset="0"/>
                            </a:rPr>
                            <m:t>𝑓𝑓</m:t>
                          </m:r>
                        </m:sub>
                      </m:sSub>
                      <m:d>
                        <m:dPr>
                          <m:ctrlPr>
                            <a:rPr lang="sv-SE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sv-S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4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sv-SE" sz="1400" i="1">
                                  <a:latin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  <m:r>
                            <a:rPr lang="sv-SE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sv-S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sv-SE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sv-SE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sv-S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4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sv-SE" sz="1400" i="1">
                                  <a:latin typeface="Cambria Math" panose="02040503050406030204" pitchFamily="18" charset="0"/>
                                </a:rPr>
                                <m:t>𝑆𝑊</m:t>
                              </m:r>
                            </m:sub>
                          </m:sSub>
                        </m:e>
                      </m:d>
                      <m:r>
                        <a:rPr lang="sv-SE" sz="14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sv-SE" sz="1400" dirty="0" err="1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798" y="3354272"/>
                <a:ext cx="5219514" cy="248145"/>
              </a:xfrm>
              <a:prstGeom prst="rect">
                <a:avLst/>
              </a:prstGeom>
              <a:blipFill>
                <a:blip r:embed="rId3"/>
                <a:stretch>
                  <a:fillRect b="-2195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/>
              <p:cNvSpPr/>
              <p:nvPr/>
            </p:nvSpPr>
            <p:spPr>
              <a:xfrm>
                <a:off x="971600" y="973805"/>
                <a:ext cx="7848872" cy="51058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sv-SE" dirty="0"/>
                  <a:t>The </a:t>
                </a:r>
                <a:r>
                  <a:rPr lang="sv-SE" dirty="0" err="1"/>
                  <a:t>average</a:t>
                </a:r>
                <a:r>
                  <a:rPr lang="sv-SE" dirty="0"/>
                  <a:t> </a:t>
                </a:r>
                <a:r>
                  <a:rPr lang="sv-SE" dirty="0" err="1"/>
                  <a:t>module</a:t>
                </a:r>
                <a:r>
                  <a:rPr lang="sv-SE" dirty="0"/>
                  <a:t> </a:t>
                </a:r>
                <a:r>
                  <a:rPr lang="sv-SE" dirty="0" err="1"/>
                  <a:t>power</a:t>
                </a:r>
                <a:r>
                  <a:rPr lang="sv-SE" dirty="0"/>
                  <a:t> loss </a:t>
                </a:r>
                <a:r>
                  <a:rPr lang="sv-SE" dirty="0" err="1"/>
                  <a:t>during</a:t>
                </a:r>
                <a:r>
                  <a:rPr lang="sv-SE" dirty="0"/>
                  <a:t> </a:t>
                </a:r>
                <a:r>
                  <a:rPr lang="sv-SE" dirty="0" err="1"/>
                  <a:t>one</a:t>
                </a:r>
                <a:r>
                  <a:rPr lang="sv-SE" dirty="0"/>
                  <a:t> fundamental </a:t>
                </a:r>
                <a:r>
                  <a:rPr lang="sv-SE" dirty="0" err="1"/>
                  <a:t>cycle</a:t>
                </a:r>
                <a:r>
                  <a:rPr lang="sv-SE" dirty="0"/>
                  <a:t> </a:t>
                </a:r>
                <a:r>
                  <a:rPr lang="sv-SE" dirty="0" err="1"/>
                  <a:t>consists</a:t>
                </a:r>
                <a:r>
                  <a:rPr lang="sv-SE" dirty="0"/>
                  <a:t> </a:t>
                </a:r>
                <a:r>
                  <a:rPr lang="sv-SE" dirty="0" err="1"/>
                  <a:t>of</a:t>
                </a:r>
                <a:r>
                  <a:rPr lang="sv-SE" dirty="0"/>
                  <a:t> </a:t>
                </a:r>
                <a:r>
                  <a:rPr lang="sv-SE" dirty="0" err="1"/>
                  <a:t>two</a:t>
                </a:r>
                <a:r>
                  <a:rPr lang="sv-SE" dirty="0"/>
                  <a:t> parts: </a:t>
                </a:r>
                <a:r>
                  <a:rPr lang="sv-SE" dirty="0" smtClean="0"/>
                  <a:t>the </a:t>
                </a:r>
                <a:r>
                  <a:rPr lang="sv-SE" dirty="0" err="1"/>
                  <a:t>conduction</a:t>
                </a:r>
                <a:r>
                  <a:rPr lang="sv-SE" dirty="0"/>
                  <a:t> 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sv-SE" sz="1400" i="1">
                            <a:latin typeface="Cambria Math" panose="02040503050406030204" pitchFamily="18" charset="0"/>
                          </a:rPr>
                          <m:t>𝑐𝑜𝑛𝑑</m:t>
                        </m:r>
                      </m:sub>
                    </m:sSub>
                  </m:oMath>
                </a14:m>
                <a:r>
                  <a:rPr lang="sv-SE" dirty="0"/>
                  <a:t>  and the </a:t>
                </a:r>
                <a:r>
                  <a:rPr lang="sv-SE" dirty="0" err="1"/>
                  <a:t>switching</a:t>
                </a:r>
                <a:r>
                  <a:rPr lang="sv-SE" dirty="0"/>
                  <a:t> 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sv-SE" sz="1400" i="1">
                            <a:latin typeface="Cambria Math" panose="02040503050406030204" pitchFamily="18" charset="0"/>
                          </a:rPr>
                          <m:t>𝑠𝑤</m:t>
                        </m:r>
                      </m:sub>
                    </m:sSub>
                  </m:oMath>
                </a14:m>
                <a:r>
                  <a:rPr lang="sv-SE" dirty="0"/>
                  <a:t>. </a:t>
                </a:r>
                <a:r>
                  <a:rPr lang="sv-SE" dirty="0" smtClean="0"/>
                  <a:t>i.e., </a:t>
                </a:r>
              </a:p>
            </p:txBody>
          </p:sp>
        </mc:Choice>
        <mc:Fallback xmlns="">
          <p:sp>
            <p:nvSpPr>
              <p:cNvPr id="31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973805"/>
                <a:ext cx="7848872" cy="510589"/>
              </a:xfrm>
              <a:prstGeom prst="rect">
                <a:avLst/>
              </a:prstGeom>
              <a:blipFill>
                <a:blip r:embed="rId4"/>
                <a:stretch>
                  <a:fillRect l="-155" t="-2381" b="-10714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/>
          <p:cNvSpPr/>
          <p:nvPr/>
        </p:nvSpPr>
        <p:spPr>
          <a:xfrm>
            <a:off x="960096" y="1565284"/>
            <a:ext cx="4012637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dirty="0"/>
              <a:t>The </a:t>
            </a:r>
            <a:r>
              <a:rPr lang="sv-SE" dirty="0" err="1"/>
              <a:t>module</a:t>
            </a:r>
            <a:r>
              <a:rPr lang="sv-SE" dirty="0"/>
              <a:t> </a:t>
            </a:r>
            <a:r>
              <a:rPr lang="sv-SE" dirty="0" err="1"/>
              <a:t>conduction</a:t>
            </a:r>
            <a:r>
              <a:rPr lang="sv-SE" dirty="0"/>
              <a:t> loss </a:t>
            </a:r>
            <a:r>
              <a:rPr lang="sv-SE" dirty="0" err="1"/>
              <a:t>can</a:t>
            </a:r>
            <a:r>
              <a:rPr lang="sv-SE" dirty="0"/>
              <a:t> be </a:t>
            </a:r>
            <a:r>
              <a:rPr lang="sv-SE" dirty="0" err="1"/>
              <a:t>calculated</a:t>
            </a:r>
            <a:r>
              <a:rPr lang="sv-SE" dirty="0"/>
              <a:t> </a:t>
            </a:r>
            <a:r>
              <a:rPr lang="sv-SE" dirty="0" smtClean="0"/>
              <a:t>as:</a:t>
            </a:r>
            <a:endParaRPr lang="sv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ctangle 37"/>
              <p:cNvSpPr/>
              <p:nvPr/>
            </p:nvSpPr>
            <p:spPr>
              <a:xfrm>
                <a:off x="880859" y="2440129"/>
                <a:ext cx="7404030" cy="32508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sv-SE" dirty="0" smtClean="0"/>
                  <a:t>The </a:t>
                </a:r>
                <a:r>
                  <a:rPr lang="sv-SE" dirty="0" err="1"/>
                  <a:t>junction</a:t>
                </a:r>
                <a:r>
                  <a:rPr lang="sv-SE" dirty="0"/>
                  <a:t> </a:t>
                </a:r>
                <a:r>
                  <a:rPr lang="sv-SE" dirty="0" err="1"/>
                  <a:t>temperature</a:t>
                </a:r>
                <a:r>
                  <a:rPr lang="sv-SE" dirty="0"/>
                  <a:t> </a:t>
                </a:r>
                <a:r>
                  <a:rPr lang="sv-SE" dirty="0" err="1"/>
                  <a:t>can</a:t>
                </a:r>
                <a:r>
                  <a:rPr lang="sv-SE" dirty="0"/>
                  <a:t> </a:t>
                </a:r>
                <a:r>
                  <a:rPr lang="sv-SE" dirty="0" err="1"/>
                  <a:t>affect</a:t>
                </a:r>
                <a:r>
                  <a:rPr lang="sv-SE" dirty="0"/>
                  <a:t> the </a:t>
                </a:r>
                <a:r>
                  <a:rPr lang="sv-SE" dirty="0" err="1"/>
                  <a:t>device</a:t>
                </a:r>
                <a:r>
                  <a:rPr lang="sv-SE" dirty="0"/>
                  <a:t> ON-</a:t>
                </a:r>
                <a:r>
                  <a:rPr lang="sv-SE" dirty="0" err="1"/>
                  <a:t>state</a:t>
                </a:r>
                <a:r>
                  <a:rPr lang="sv-SE" dirty="0"/>
                  <a:t> </a:t>
                </a:r>
                <a:r>
                  <a:rPr lang="sv-SE" dirty="0" err="1"/>
                  <a:t>resistance</a:t>
                </a:r>
                <a:r>
                  <a:rPr lang="sv-SE" dirty="0"/>
                  <a:t>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4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sv-SE" sz="1400" i="1">
                            <a:latin typeface="Cambria Math" panose="02040503050406030204" pitchFamily="18" charset="0"/>
                          </a:rPr>
                          <m:t>𝑑𝑠</m:t>
                        </m:r>
                        <m:r>
                          <a:rPr lang="sv-SE" sz="14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sv-SE" dirty="0"/>
                  <a:t> is a </a:t>
                </a:r>
                <a:r>
                  <a:rPr lang="sv-SE" dirty="0" err="1"/>
                  <a:t>function</a:t>
                </a:r>
                <a:r>
                  <a:rPr lang="sv-SE" dirty="0"/>
                  <a:t> </a:t>
                </a:r>
                <a:r>
                  <a:rPr lang="sv-SE" dirty="0" err="1"/>
                  <a:t>of</a:t>
                </a:r>
                <a:r>
                  <a:rPr lang="sv-S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sv-SE" sz="1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sv-SE" sz="14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sv-SE" dirty="0"/>
              </a:p>
            </p:txBody>
          </p:sp>
        </mc:Choice>
        <mc:Fallback xmlns="">
          <p:sp>
            <p:nvSpPr>
              <p:cNvPr id="38" name="Rectangle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859" y="2440129"/>
                <a:ext cx="7404030" cy="325089"/>
              </a:xfrm>
              <a:prstGeom prst="rect">
                <a:avLst/>
              </a:prstGeom>
              <a:blipFill>
                <a:blip r:embed="rId5"/>
                <a:stretch>
                  <a:fillRect l="-165" b="-1111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ectangle 38"/>
          <p:cNvSpPr/>
          <p:nvPr/>
        </p:nvSpPr>
        <p:spPr>
          <a:xfrm>
            <a:off x="896843" y="2885925"/>
            <a:ext cx="6992406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/>
              <a:t>The </a:t>
            </a:r>
            <a:r>
              <a:rPr lang="sv-SE" dirty="0" err="1"/>
              <a:t>module</a:t>
            </a:r>
            <a:r>
              <a:rPr lang="sv-SE" dirty="0"/>
              <a:t> </a:t>
            </a:r>
            <a:r>
              <a:rPr lang="sv-SE" dirty="0" err="1"/>
              <a:t>switching</a:t>
            </a:r>
            <a:r>
              <a:rPr lang="sv-SE" dirty="0"/>
              <a:t> loss </a:t>
            </a:r>
            <a:r>
              <a:rPr lang="sv-SE" dirty="0" err="1" smtClean="0"/>
              <a:t>can</a:t>
            </a:r>
            <a:r>
              <a:rPr lang="sv-SE" dirty="0" smtClean="0"/>
              <a:t> </a:t>
            </a:r>
            <a:r>
              <a:rPr lang="sv-SE" dirty="0"/>
              <a:t>be </a:t>
            </a:r>
            <a:r>
              <a:rPr lang="sv-SE" dirty="0" err="1"/>
              <a:t>written</a:t>
            </a:r>
            <a:r>
              <a:rPr lang="sv-SE" dirty="0"/>
              <a:t> </a:t>
            </a:r>
            <a:r>
              <a:rPr lang="sv-SE" dirty="0" smtClean="0"/>
              <a:t>as:</a:t>
            </a:r>
            <a:endParaRPr lang="sv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/>
              <p:cNvSpPr txBox="1"/>
              <p:nvPr/>
            </p:nvSpPr>
            <p:spPr>
              <a:xfrm>
                <a:off x="3816982" y="1179076"/>
                <a:ext cx="2808312" cy="3592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1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0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sv-SE" sz="1000" b="1" i="1" smtClean="0">
                              <a:latin typeface="Cambria Math" panose="02040503050406030204" pitchFamily="18" charset="0"/>
                            </a:rPr>
                            <m:t>𝒍𝒐𝒔𝒔</m:t>
                          </m:r>
                        </m:sub>
                      </m:sSub>
                      <m:r>
                        <a:rPr lang="sv-SE" sz="1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sv-SE" sz="10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sv-SE" sz="1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b>
                            <m:sSubPr>
                              <m:ctrlPr>
                                <a:rPr lang="sv-SE" sz="10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000" b="1" i="1"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sv-SE" sz="1000" b="1" i="1">
                                  <a:latin typeface="Cambria Math" panose="02040503050406030204" pitchFamily="18" charset="0"/>
                                </a:rPr>
                                <m:t>𝒇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sv-SE" sz="1000" b="1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sv-SE" sz="1000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  <m:sup>
                          <m:sSub>
                            <m:sSubPr>
                              <m:ctrlPr>
                                <a:rPr lang="sv-SE" sz="10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000" b="1" i="1"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sv-SE" sz="1000" b="1" i="1">
                                  <a:latin typeface="Cambria Math" panose="02040503050406030204" pitchFamily="18" charset="0"/>
                                </a:rPr>
                                <m:t>𝒇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sv-SE" sz="10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sv-SE" sz="1000" b="1" i="1"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</m:e>
                            <m:sub>
                              <m:r>
                                <a:rPr lang="sv-SE" sz="1000" b="1" i="1">
                                  <a:latin typeface="Cambria Math" panose="02040503050406030204" pitchFamily="18" charset="0"/>
                                </a:rPr>
                                <m:t>𝒄𝒐𝒏𝒅</m:t>
                              </m:r>
                            </m:sub>
                          </m:sSub>
                          <m:r>
                            <a:rPr lang="sv-SE" sz="1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sv-SE" sz="10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000" b="1" i="1"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</m:e>
                            <m:sub>
                              <m:r>
                                <a:rPr lang="sv-SE" sz="1000" b="1" i="1">
                                  <a:latin typeface="Cambria Math" panose="02040503050406030204" pitchFamily="18" charset="0"/>
                                </a:rPr>
                                <m:t>𝒔𝒘</m:t>
                              </m:r>
                            </m:sub>
                          </m:sSub>
                          <m:r>
                            <a:rPr lang="sv-SE" sz="1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sv-SE" sz="10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e>
                      </m:nary>
                    </m:oMath>
                  </m:oMathPara>
                </a14:m>
                <a:endParaRPr lang="sv-SE" sz="1400" b="1" dirty="0" err="1"/>
              </a:p>
            </p:txBody>
          </p:sp>
        </mc:Choice>
        <mc:Fallback xmlns="">
          <p:sp>
            <p:nvSpPr>
              <p:cNvPr id="40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6982" y="1179076"/>
                <a:ext cx="2808312" cy="359266"/>
              </a:xfrm>
              <a:prstGeom prst="rect">
                <a:avLst/>
              </a:prstGeom>
              <a:blipFill>
                <a:blip r:embed="rId6"/>
                <a:stretch>
                  <a:fillRect t="-181356" b="-26610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40"/>
          <p:cNvSpPr/>
          <p:nvPr/>
        </p:nvSpPr>
        <p:spPr>
          <a:xfrm>
            <a:off x="913125" y="3790387"/>
            <a:ext cx="7836078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err="1"/>
              <a:t>Similarly</a:t>
            </a:r>
            <a:r>
              <a:rPr lang="sv-SE" dirty="0"/>
              <a:t>, the </a:t>
            </a:r>
            <a:r>
              <a:rPr lang="sv-SE" dirty="0" err="1"/>
              <a:t>switching</a:t>
            </a:r>
            <a:r>
              <a:rPr lang="sv-SE" dirty="0"/>
              <a:t> </a:t>
            </a:r>
            <a:r>
              <a:rPr lang="sv-SE" dirty="0" err="1"/>
              <a:t>energies</a:t>
            </a:r>
            <a:r>
              <a:rPr lang="sv-SE" dirty="0"/>
              <a:t> </a:t>
            </a:r>
            <a:r>
              <a:rPr lang="sv-SE" dirty="0" err="1"/>
              <a:t>are</a:t>
            </a:r>
            <a:r>
              <a:rPr lang="sv-SE" dirty="0"/>
              <a:t> </a:t>
            </a:r>
            <a:r>
              <a:rPr lang="sv-SE" dirty="0" err="1"/>
              <a:t>also</a:t>
            </a:r>
            <a:r>
              <a:rPr lang="sv-SE" dirty="0"/>
              <a:t> </a:t>
            </a:r>
            <a:r>
              <a:rPr lang="sv-SE" dirty="0" err="1"/>
              <a:t>affected</a:t>
            </a:r>
            <a:r>
              <a:rPr lang="sv-SE" dirty="0"/>
              <a:t> by the </a:t>
            </a:r>
            <a:r>
              <a:rPr lang="sv-SE" dirty="0" err="1"/>
              <a:t>junction</a:t>
            </a:r>
            <a:r>
              <a:rPr lang="sv-SE" dirty="0"/>
              <a:t> </a:t>
            </a:r>
            <a:r>
              <a:rPr lang="sv-SE" dirty="0" err="1" smtClean="0"/>
              <a:t>temperature</a:t>
            </a:r>
            <a:r>
              <a:rPr lang="sv-SE" dirty="0" smtClean="0"/>
              <a:t>, </a:t>
            </a:r>
            <a:r>
              <a:rPr lang="sv-SE" dirty="0" err="1" smtClean="0"/>
              <a:t>module</a:t>
            </a:r>
            <a:r>
              <a:rPr lang="sv-SE" dirty="0" smtClean="0"/>
              <a:t> </a:t>
            </a:r>
            <a:r>
              <a:rPr lang="sv-SE" dirty="0"/>
              <a:t>output </a:t>
            </a:r>
            <a:r>
              <a:rPr lang="sv-SE" dirty="0" err="1" smtClean="0"/>
              <a:t>current</a:t>
            </a:r>
            <a:r>
              <a:rPr lang="sv-SE" dirty="0" smtClean="0"/>
              <a:t>, and the </a:t>
            </a:r>
            <a:r>
              <a:rPr lang="sv-SE" dirty="0" err="1" smtClean="0"/>
              <a:t>switching</a:t>
            </a:r>
            <a:r>
              <a:rPr lang="sv-SE" dirty="0" smtClean="0"/>
              <a:t> </a:t>
            </a:r>
            <a:r>
              <a:rPr lang="sv-SE" dirty="0" err="1" smtClean="0"/>
              <a:t>voltage</a:t>
            </a:r>
            <a:r>
              <a:rPr lang="sv-SE" dirty="0" smtClean="0"/>
              <a:t>.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31353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261A77-36CD-DE4F-8CA6-569DA6FD0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F6CAB-D6C5-C24C-A2B1-D43DE3A030AC}" type="datetime1">
              <a:rPr lang="sv-SE" smtClean="0"/>
              <a:pPr/>
              <a:t>2023-09-18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EEE17-AFAB-724E-9DF0-4C48FC080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2B6CC9-3FEF-FB46-9337-9012AEB65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</a:t>
            </a:fld>
            <a:endParaRPr lang="sv-SE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2800" dirty="0" smtClean="0"/>
              <a:t>Loss Modelling</a:t>
            </a:r>
            <a:endParaRPr lang="sv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/>
              <p:cNvSpPr/>
              <p:nvPr/>
            </p:nvSpPr>
            <p:spPr>
              <a:xfrm>
                <a:off x="1149668" y="843558"/>
                <a:ext cx="7742812" cy="10305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sv-SE" sz="1200" dirty="0" smtClean="0"/>
                  <a:t>The relationships </a:t>
                </a:r>
                <a:r>
                  <a:rPr lang="sv-SE" sz="1200" dirty="0" err="1"/>
                  <a:t>among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200" b="0" i="1" smtClean="0">
                            <a:latin typeface="Cambria Math" panose="02040503050406030204" pitchFamily="18" charset="0"/>
                          </a:rPr>
                          <m:t>  (</m:t>
                        </m:r>
                        <m:r>
                          <a:rPr lang="sv-SE" sz="12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sv-SE" sz="1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sv-SE" sz="1200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2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sv-SE" sz="1200" i="1"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</m:oMath>
                </a14:m>
                <a:r>
                  <a:rPr lang="sv-SE" sz="1200" dirty="0" smtClean="0"/>
                  <a:t>,</a:t>
                </a:r>
                <a:r>
                  <a:rPr lang="sv-SE" sz="1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2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sv-SE" sz="1200" i="1">
                            <a:latin typeface="Cambria Math" panose="02040503050406030204" pitchFamily="18" charset="0"/>
                          </a:rPr>
                          <m:t>𝑆𝑊</m:t>
                        </m:r>
                      </m:sub>
                    </m:sSub>
                  </m:oMath>
                </a14:m>
                <a:r>
                  <a:rPr lang="sv-SE" sz="1200" dirty="0" smtClean="0"/>
                  <a:t> ) and (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sv-SE" sz="1200" i="1">
                            <a:latin typeface="Cambria Math" panose="02040503050406030204" pitchFamily="18" charset="0"/>
                          </a:rPr>
                          <m:t>𝑑𝑠</m:t>
                        </m:r>
                        <m:r>
                          <a:rPr lang="sv-SE" sz="12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sv-SE" sz="1200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2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sv-SE" sz="1200" i="1">
                            <a:latin typeface="Cambria Math" panose="02040503050406030204" pitchFamily="18" charset="0"/>
                          </a:rPr>
                          <m:t>𝑜</m:t>
                        </m:r>
                        <m:r>
                          <a:rPr lang="sv-SE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sv-SE" sz="1200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2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sv-SE" sz="1200" i="1">
                            <a:latin typeface="Cambria Math" panose="02040503050406030204" pitchFamily="18" charset="0"/>
                          </a:rPr>
                          <m:t>𝑜𝑓𝑓</m:t>
                        </m:r>
                      </m:sub>
                    </m:sSub>
                    <m:r>
                      <a:rPr lang="sv-SE" sz="12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sv-SE" sz="12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sv-SE" sz="1200" dirty="0" err="1" smtClean="0"/>
                  <a:t>can</a:t>
                </a:r>
                <a:r>
                  <a:rPr lang="sv-SE" sz="1200" dirty="0" smtClean="0"/>
                  <a:t> </a:t>
                </a:r>
                <a:r>
                  <a:rPr lang="sv-SE" sz="1200" dirty="0"/>
                  <a:t>be </a:t>
                </a:r>
                <a:r>
                  <a:rPr lang="sv-SE" sz="1200" dirty="0" err="1"/>
                  <a:t>easily</a:t>
                </a:r>
                <a:r>
                  <a:rPr lang="sv-SE" sz="1200" dirty="0"/>
                  <a:t> </a:t>
                </a:r>
                <a:r>
                  <a:rPr lang="sv-SE" sz="1200" dirty="0" err="1"/>
                  <a:t>found</a:t>
                </a:r>
                <a:r>
                  <a:rPr lang="sv-SE" sz="1200" dirty="0"/>
                  <a:t> in the </a:t>
                </a:r>
                <a:r>
                  <a:rPr lang="sv-SE" sz="1200" dirty="0" err="1" smtClean="0"/>
                  <a:t>datasheet</a:t>
                </a:r>
                <a:r>
                  <a:rPr lang="sv-SE" sz="1200" dirty="0" smtClean="0"/>
                  <a:t>.</a:t>
                </a:r>
              </a:p>
              <a:p>
                <a:endParaRPr lang="sv-SE" sz="1200" dirty="0"/>
              </a:p>
              <a:p>
                <a:r>
                  <a:rPr lang="sv-SE" sz="1200" dirty="0" smtClean="0"/>
                  <a:t>The </a:t>
                </a:r>
                <a:r>
                  <a:rPr lang="sv-SE" sz="1200" dirty="0" err="1"/>
                  <a:t>estimation</a:t>
                </a:r>
                <a:r>
                  <a:rPr lang="sv-SE" sz="1200" dirty="0"/>
                  <a:t> </a:t>
                </a:r>
                <a:r>
                  <a:rPr lang="sv-SE" sz="1200" dirty="0" err="1"/>
                  <a:t>of</a:t>
                </a:r>
                <a:r>
                  <a:rPr lang="sv-SE" sz="1200" dirty="0"/>
                  <a:t> the </a:t>
                </a:r>
                <a:r>
                  <a:rPr lang="sv-SE" sz="1200" dirty="0" err="1"/>
                  <a:t>module</a:t>
                </a:r>
                <a:r>
                  <a:rPr lang="sv-SE" sz="1200" dirty="0"/>
                  <a:t> </a:t>
                </a:r>
                <a:r>
                  <a:rPr lang="sv-SE" sz="1200" dirty="0" err="1"/>
                  <a:t>power</a:t>
                </a:r>
                <a:r>
                  <a:rPr lang="sv-SE" sz="1200" dirty="0"/>
                  <a:t> loss must </a:t>
                </a:r>
                <a:r>
                  <a:rPr lang="sv-SE" sz="1200" dirty="0" err="1"/>
                  <a:t>consider</a:t>
                </a:r>
                <a:r>
                  <a:rPr lang="sv-SE" sz="1200" dirty="0"/>
                  <a:t> the </a:t>
                </a:r>
                <a:r>
                  <a:rPr lang="sv-SE" sz="1200" dirty="0" err="1"/>
                  <a:t>complicated</a:t>
                </a:r>
                <a:r>
                  <a:rPr lang="sv-SE" sz="1200" dirty="0"/>
                  <a:t> </a:t>
                </a:r>
                <a:r>
                  <a:rPr lang="sv-SE" sz="1200" dirty="0" err="1"/>
                  <a:t>interaction</a:t>
                </a:r>
                <a:r>
                  <a:rPr lang="sv-SE" sz="1200" dirty="0"/>
                  <a:t> </a:t>
                </a:r>
                <a:r>
                  <a:rPr lang="sv-SE" sz="1200" dirty="0" err="1"/>
                  <a:t>between</a:t>
                </a:r>
                <a:r>
                  <a:rPr lang="sv-SE" sz="1200" dirty="0"/>
                  <a:t> the </a:t>
                </a:r>
                <a:r>
                  <a:rPr lang="sv-SE" sz="1200" dirty="0" err="1"/>
                  <a:t>power</a:t>
                </a:r>
                <a:r>
                  <a:rPr lang="sv-SE" sz="1200" dirty="0"/>
                  <a:t> loss and </a:t>
                </a:r>
                <a:r>
                  <a:rPr lang="sv-SE" sz="1200" dirty="0" err="1"/>
                  <a:t>junction</a:t>
                </a:r>
                <a:r>
                  <a:rPr lang="sv-SE" sz="1200" dirty="0"/>
                  <a:t> </a:t>
                </a:r>
                <a:r>
                  <a:rPr lang="sv-SE" sz="1200" dirty="0" err="1"/>
                  <a:t>temperature</a:t>
                </a:r>
                <a:r>
                  <a:rPr lang="sv-SE" sz="1200" dirty="0"/>
                  <a:t>. </a:t>
                </a:r>
                <a:endParaRPr lang="sv-SE" sz="1200" dirty="0" smtClean="0"/>
              </a:p>
              <a:p>
                <a:endParaRPr lang="sv-SE" sz="1200" dirty="0"/>
              </a:p>
            </p:txBody>
          </p:sp>
        </mc:Choice>
        <mc:Fallback xmlns="">
          <p:sp>
            <p:nvSpPr>
              <p:cNvPr id="2" name="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668" y="843558"/>
                <a:ext cx="7742812" cy="1030539"/>
              </a:xfrm>
              <a:prstGeom prst="rect">
                <a:avLst/>
              </a:prstGeom>
              <a:blipFill>
                <a:blip r:embed="rId2"/>
                <a:stretch>
                  <a:fillRect l="-79" t="-59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5795" y="2439748"/>
            <a:ext cx="4225983" cy="229224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33680" y="1821292"/>
            <a:ext cx="763284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sv-SE" sz="1200" dirty="0">
                <a:solidFill>
                  <a:srgbClr val="000000"/>
                </a:solidFill>
              </a:rPr>
              <a:t>At a </a:t>
            </a:r>
            <a:r>
              <a:rPr lang="sv-SE" sz="1200" dirty="0" err="1">
                <a:solidFill>
                  <a:srgbClr val="000000"/>
                </a:solidFill>
              </a:rPr>
              <a:t>fixed</a:t>
            </a:r>
            <a:r>
              <a:rPr lang="sv-SE" sz="1200" dirty="0">
                <a:solidFill>
                  <a:srgbClr val="000000"/>
                </a:solidFill>
              </a:rPr>
              <a:t> output </a:t>
            </a:r>
            <a:r>
              <a:rPr lang="sv-SE" sz="1200" dirty="0" err="1">
                <a:solidFill>
                  <a:srgbClr val="000000"/>
                </a:solidFill>
              </a:rPr>
              <a:t>current</a:t>
            </a:r>
            <a:r>
              <a:rPr lang="sv-SE" sz="1200" dirty="0">
                <a:solidFill>
                  <a:srgbClr val="000000"/>
                </a:solidFill>
              </a:rPr>
              <a:t>, the </a:t>
            </a:r>
            <a:r>
              <a:rPr lang="sv-SE" sz="1200" dirty="0" err="1">
                <a:solidFill>
                  <a:srgbClr val="000000"/>
                </a:solidFill>
              </a:rPr>
              <a:t>module</a:t>
            </a:r>
            <a:r>
              <a:rPr lang="sv-SE" sz="1200" dirty="0">
                <a:solidFill>
                  <a:srgbClr val="000000"/>
                </a:solidFill>
              </a:rPr>
              <a:t> </a:t>
            </a:r>
            <a:r>
              <a:rPr lang="sv-SE" sz="1200" dirty="0" err="1">
                <a:solidFill>
                  <a:srgbClr val="000000"/>
                </a:solidFill>
              </a:rPr>
              <a:t>power</a:t>
            </a:r>
            <a:r>
              <a:rPr lang="sv-SE" sz="1200" dirty="0">
                <a:solidFill>
                  <a:srgbClr val="000000"/>
                </a:solidFill>
              </a:rPr>
              <a:t> loss </a:t>
            </a:r>
            <a:r>
              <a:rPr lang="sv-SE" sz="1200" dirty="0" err="1">
                <a:solidFill>
                  <a:srgbClr val="000000"/>
                </a:solidFill>
              </a:rPr>
              <a:t>leads</a:t>
            </a:r>
            <a:r>
              <a:rPr lang="sv-SE" sz="1200" dirty="0">
                <a:solidFill>
                  <a:srgbClr val="000000"/>
                </a:solidFill>
              </a:rPr>
              <a:t> to a </a:t>
            </a:r>
            <a:r>
              <a:rPr lang="sv-SE" sz="1200" dirty="0" err="1">
                <a:solidFill>
                  <a:srgbClr val="000000"/>
                </a:solidFill>
              </a:rPr>
              <a:t>fixed</a:t>
            </a:r>
            <a:r>
              <a:rPr lang="sv-SE" sz="1200" dirty="0">
                <a:solidFill>
                  <a:srgbClr val="000000"/>
                </a:solidFill>
              </a:rPr>
              <a:t> </a:t>
            </a:r>
            <a:r>
              <a:rPr lang="sv-SE" sz="1200" dirty="0" err="1">
                <a:solidFill>
                  <a:srgbClr val="000000"/>
                </a:solidFill>
              </a:rPr>
              <a:t>junction</a:t>
            </a:r>
            <a:r>
              <a:rPr lang="sv-SE" sz="1200" dirty="0">
                <a:solidFill>
                  <a:srgbClr val="000000"/>
                </a:solidFill>
              </a:rPr>
              <a:t> </a:t>
            </a:r>
            <a:r>
              <a:rPr lang="sv-SE" sz="1200" dirty="0" err="1">
                <a:solidFill>
                  <a:srgbClr val="000000"/>
                </a:solidFill>
              </a:rPr>
              <a:t>temperature</a:t>
            </a:r>
            <a:r>
              <a:rPr lang="sv-SE" sz="1200" dirty="0">
                <a:solidFill>
                  <a:srgbClr val="000000"/>
                </a:solidFill>
              </a:rPr>
              <a:t> </a:t>
            </a:r>
            <a:r>
              <a:rPr lang="sv-SE" sz="1200" dirty="0" err="1">
                <a:solidFill>
                  <a:srgbClr val="000000"/>
                </a:solidFill>
              </a:rPr>
              <a:t>rise</a:t>
            </a:r>
            <a:r>
              <a:rPr lang="sv-SE" sz="1200" dirty="0">
                <a:solidFill>
                  <a:srgbClr val="000000"/>
                </a:solidFill>
              </a:rPr>
              <a:t>, and the </a:t>
            </a:r>
            <a:r>
              <a:rPr lang="sv-SE" sz="1200" dirty="0" err="1">
                <a:solidFill>
                  <a:srgbClr val="000000"/>
                </a:solidFill>
              </a:rPr>
              <a:t>junction</a:t>
            </a:r>
            <a:r>
              <a:rPr lang="sv-SE" sz="1200" dirty="0">
                <a:solidFill>
                  <a:srgbClr val="000000"/>
                </a:solidFill>
              </a:rPr>
              <a:t> </a:t>
            </a:r>
            <a:r>
              <a:rPr lang="sv-SE" sz="1200" dirty="0" err="1">
                <a:solidFill>
                  <a:srgbClr val="000000"/>
                </a:solidFill>
              </a:rPr>
              <a:t>temperature</a:t>
            </a:r>
            <a:r>
              <a:rPr lang="sv-SE" sz="1200" dirty="0">
                <a:solidFill>
                  <a:srgbClr val="000000"/>
                </a:solidFill>
              </a:rPr>
              <a:t> </a:t>
            </a:r>
            <a:r>
              <a:rPr lang="sv-SE" sz="1200" dirty="0" err="1">
                <a:solidFill>
                  <a:srgbClr val="000000"/>
                </a:solidFill>
              </a:rPr>
              <a:t>rise</a:t>
            </a:r>
            <a:r>
              <a:rPr lang="sv-SE" sz="1200" dirty="0">
                <a:solidFill>
                  <a:srgbClr val="000000"/>
                </a:solidFill>
              </a:rPr>
              <a:t> </a:t>
            </a:r>
            <a:r>
              <a:rPr lang="sv-SE" sz="1200" dirty="0" err="1">
                <a:solidFill>
                  <a:srgbClr val="000000"/>
                </a:solidFill>
              </a:rPr>
              <a:t>affects</a:t>
            </a:r>
            <a:r>
              <a:rPr lang="sv-SE" sz="1200" dirty="0">
                <a:solidFill>
                  <a:srgbClr val="000000"/>
                </a:solidFill>
              </a:rPr>
              <a:t> the </a:t>
            </a:r>
            <a:r>
              <a:rPr lang="sv-SE" sz="1200" dirty="0" err="1">
                <a:solidFill>
                  <a:srgbClr val="000000"/>
                </a:solidFill>
              </a:rPr>
              <a:t>module</a:t>
            </a:r>
            <a:r>
              <a:rPr lang="sv-SE" sz="1200" dirty="0">
                <a:solidFill>
                  <a:srgbClr val="000000"/>
                </a:solidFill>
              </a:rPr>
              <a:t> </a:t>
            </a:r>
            <a:r>
              <a:rPr lang="sv-SE" sz="1200" dirty="0" err="1">
                <a:solidFill>
                  <a:srgbClr val="000000"/>
                </a:solidFill>
              </a:rPr>
              <a:t>power</a:t>
            </a:r>
            <a:r>
              <a:rPr lang="sv-SE" sz="1200" dirty="0">
                <a:solidFill>
                  <a:srgbClr val="000000"/>
                </a:solidFill>
              </a:rPr>
              <a:t> loss in </a:t>
            </a:r>
            <a:r>
              <a:rPr lang="sv-SE" sz="1200" dirty="0" err="1">
                <a:solidFill>
                  <a:srgbClr val="000000"/>
                </a:solidFill>
              </a:rPr>
              <a:t>turn</a:t>
            </a:r>
            <a:r>
              <a:rPr lang="sv-SE" sz="1200" dirty="0">
                <a:solidFill>
                  <a:srgbClr val="000000"/>
                </a:solidFill>
              </a:rPr>
              <a:t>, </a:t>
            </a:r>
            <a:r>
              <a:rPr lang="sv-SE" sz="1200" dirty="0" err="1">
                <a:solidFill>
                  <a:srgbClr val="000000"/>
                </a:solidFill>
              </a:rPr>
              <a:t>resulting</a:t>
            </a:r>
            <a:r>
              <a:rPr lang="sv-SE" sz="1200" dirty="0">
                <a:solidFill>
                  <a:srgbClr val="000000"/>
                </a:solidFill>
              </a:rPr>
              <a:t> in the </a:t>
            </a:r>
            <a:r>
              <a:rPr lang="sv-SE" sz="1200" dirty="0" err="1">
                <a:solidFill>
                  <a:srgbClr val="000000"/>
                </a:solidFill>
              </a:rPr>
              <a:t>need</a:t>
            </a:r>
            <a:r>
              <a:rPr lang="sv-SE" sz="1200" dirty="0">
                <a:solidFill>
                  <a:srgbClr val="000000"/>
                </a:solidFill>
              </a:rPr>
              <a:t> for iteration to </a:t>
            </a:r>
            <a:r>
              <a:rPr lang="sv-SE" sz="1200" dirty="0" err="1">
                <a:solidFill>
                  <a:srgbClr val="000000"/>
                </a:solidFill>
              </a:rPr>
              <a:t>solve</a:t>
            </a:r>
            <a:r>
              <a:rPr lang="sv-SE" sz="1200" dirty="0">
                <a:solidFill>
                  <a:srgbClr val="000000"/>
                </a:solidFill>
              </a:rPr>
              <a:t> for </a:t>
            </a:r>
            <a:r>
              <a:rPr lang="sv-SE" sz="1200" dirty="0" err="1">
                <a:solidFill>
                  <a:srgbClr val="000000"/>
                </a:solidFill>
              </a:rPr>
              <a:t>steady-state</a:t>
            </a:r>
            <a:r>
              <a:rPr lang="sv-SE" sz="1200" dirty="0">
                <a:solidFill>
                  <a:srgbClr val="000000"/>
                </a:solidFill>
              </a:rPr>
              <a:t> </a:t>
            </a:r>
            <a:r>
              <a:rPr lang="sv-SE" sz="1200" dirty="0" err="1">
                <a:solidFill>
                  <a:srgbClr val="000000"/>
                </a:solidFill>
              </a:rPr>
              <a:t>behavior</a:t>
            </a:r>
            <a:r>
              <a:rPr lang="sv-SE" sz="1200" dirty="0">
                <a:solidFill>
                  <a:srgbClr val="0000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8350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261A77-36CD-DE4F-8CA6-569DA6FD0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F6CAB-D6C5-C24C-A2B1-D43DE3A030AC}" type="datetime1">
              <a:rPr lang="sv-SE" smtClean="0"/>
              <a:pPr/>
              <a:t>2023-09-18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EEE17-AFAB-724E-9DF0-4C48FC080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2B6CC9-3FEF-FB46-9337-9012AEB65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</a:t>
            </a:fld>
            <a:endParaRPr lang="sv-SE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600" y="270634"/>
            <a:ext cx="7763861" cy="647700"/>
          </a:xfrm>
        </p:spPr>
        <p:txBody>
          <a:bodyPr/>
          <a:lstStyle/>
          <a:p>
            <a:pPr algn="ctr"/>
            <a:r>
              <a:rPr lang="en-US" sz="2800" dirty="0"/>
              <a:t>Loss Calculation Assumptions</a:t>
            </a:r>
            <a:endParaRPr lang="sv-SE" dirty="0"/>
          </a:p>
        </p:txBody>
      </p:sp>
      <p:sp>
        <p:nvSpPr>
          <p:cNvPr id="2" name="Rectangle 1"/>
          <p:cNvSpPr/>
          <p:nvPr/>
        </p:nvSpPr>
        <p:spPr>
          <a:xfrm>
            <a:off x="971600" y="918334"/>
            <a:ext cx="756084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sv-SE" sz="1500" dirty="0" err="1"/>
              <a:t>SiC</a:t>
            </a:r>
            <a:r>
              <a:rPr lang="sv-SE" sz="1500" dirty="0"/>
              <a:t> </a:t>
            </a:r>
            <a:r>
              <a:rPr lang="sv-SE" sz="1500" dirty="0" err="1"/>
              <a:t>MOSFETs</a:t>
            </a:r>
            <a:r>
              <a:rPr lang="sv-SE" sz="1500" dirty="0"/>
              <a:t>, </a:t>
            </a:r>
            <a:r>
              <a:rPr lang="sv-SE" sz="1500" dirty="0" err="1"/>
              <a:t>which</a:t>
            </a:r>
            <a:r>
              <a:rPr lang="sv-SE" sz="1500" dirty="0"/>
              <a:t> </a:t>
            </a:r>
            <a:r>
              <a:rPr lang="sv-SE" sz="1500" dirty="0" err="1"/>
              <a:t>are</a:t>
            </a:r>
            <a:r>
              <a:rPr lang="sv-SE" sz="1500" dirty="0"/>
              <a:t> </a:t>
            </a:r>
            <a:r>
              <a:rPr lang="sv-SE" sz="1500" dirty="0" err="1"/>
              <a:t>capable</a:t>
            </a:r>
            <a:r>
              <a:rPr lang="sv-SE" sz="1500" dirty="0"/>
              <a:t> </a:t>
            </a:r>
            <a:r>
              <a:rPr lang="sv-SE" sz="1500" dirty="0" err="1"/>
              <a:t>of</a:t>
            </a:r>
            <a:r>
              <a:rPr lang="sv-SE" sz="1500" dirty="0"/>
              <a:t> </a:t>
            </a:r>
            <a:r>
              <a:rPr lang="sv-SE" sz="1500" b="1" dirty="0"/>
              <a:t>forward</a:t>
            </a:r>
            <a:r>
              <a:rPr lang="sv-SE" sz="1500" dirty="0"/>
              <a:t> and </a:t>
            </a:r>
            <a:r>
              <a:rPr lang="sv-SE" sz="1500" b="1" dirty="0" err="1"/>
              <a:t>reverse</a:t>
            </a:r>
            <a:r>
              <a:rPr lang="sv-SE" sz="1500" b="1" dirty="0"/>
              <a:t> </a:t>
            </a:r>
            <a:r>
              <a:rPr lang="sv-SE" sz="1500" b="1" dirty="0" err="1"/>
              <a:t>current</a:t>
            </a:r>
            <a:r>
              <a:rPr lang="sv-SE" sz="1500" b="1" dirty="0"/>
              <a:t> </a:t>
            </a:r>
            <a:r>
              <a:rPr lang="sv-SE" sz="1500" dirty="0" err="1"/>
              <a:t>conduction</a:t>
            </a:r>
            <a:r>
              <a:rPr lang="sv-SE" sz="1500" dirty="0"/>
              <a:t> </a:t>
            </a:r>
            <a:r>
              <a:rPr lang="sv-SE" sz="1500" dirty="0" err="1"/>
              <a:t>through</a:t>
            </a:r>
            <a:r>
              <a:rPr lang="sv-SE" sz="1500" dirty="0"/>
              <a:t> the </a:t>
            </a:r>
            <a:r>
              <a:rPr lang="sv-SE" sz="1500" dirty="0" err="1"/>
              <a:t>channel</a:t>
            </a:r>
            <a:r>
              <a:rPr lang="sv-SE" sz="1500" dirty="0"/>
              <a:t>, </a:t>
            </a:r>
            <a:r>
              <a:rPr lang="sv-SE" sz="1500" dirty="0" err="1"/>
              <a:t>are</a:t>
            </a:r>
            <a:r>
              <a:rPr lang="sv-SE" sz="1500" dirty="0"/>
              <a:t> </a:t>
            </a:r>
            <a:r>
              <a:rPr lang="sv-SE" sz="1500" dirty="0" err="1"/>
              <a:t>used</a:t>
            </a:r>
            <a:r>
              <a:rPr lang="sv-SE" sz="1500" dirty="0"/>
              <a:t> as </a:t>
            </a:r>
            <a:r>
              <a:rPr lang="sv-SE" sz="1500" dirty="0" err="1"/>
              <a:t>switching</a:t>
            </a:r>
            <a:r>
              <a:rPr lang="sv-SE" sz="1500" dirty="0"/>
              <a:t> </a:t>
            </a:r>
            <a:r>
              <a:rPr lang="sv-SE" sz="1500" dirty="0" err="1"/>
              <a:t>devices</a:t>
            </a:r>
            <a:r>
              <a:rPr lang="sv-SE" sz="1500" dirty="0"/>
              <a:t>. </a:t>
            </a:r>
            <a:r>
              <a:rPr lang="en-US" sz="1500" dirty="0"/>
              <a:t>It is assumed that </a:t>
            </a:r>
            <a:r>
              <a:rPr lang="en-US" sz="1500" b="1" dirty="0"/>
              <a:t>the reverse current flows completely through the MOSFET channel</a:t>
            </a:r>
            <a:r>
              <a:rPr lang="en-US" sz="1500" dirty="0"/>
              <a:t>. This is a worse assumption than </a:t>
            </a:r>
            <a:r>
              <a:rPr lang="en-US" sz="1500" b="1" dirty="0"/>
              <a:t>current sharing </a:t>
            </a:r>
            <a:r>
              <a:rPr lang="en-US" sz="1500" dirty="0"/>
              <a:t>between the </a:t>
            </a:r>
            <a:r>
              <a:rPr lang="en-US" sz="1500" b="1" dirty="0"/>
              <a:t>channel</a:t>
            </a:r>
            <a:r>
              <a:rPr lang="en-US" sz="1500" dirty="0"/>
              <a:t> and the </a:t>
            </a:r>
            <a:r>
              <a:rPr lang="en-US" sz="1500" b="1" dirty="0"/>
              <a:t>body diode</a:t>
            </a:r>
            <a:r>
              <a:rPr lang="en-US" sz="1500" dirty="0"/>
              <a:t>. It partly compensates the </a:t>
            </a:r>
            <a:r>
              <a:rPr lang="en-US" sz="1500" dirty="0" err="1"/>
              <a:t>neglection</a:t>
            </a:r>
            <a:r>
              <a:rPr lang="en-US" sz="1500" dirty="0"/>
              <a:t> of losses in the body diode during interlock (dead) times.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500" b="1" dirty="0"/>
              <a:t>The reverse recovery energy of the body diode is also not considered</a:t>
            </a:r>
            <a:r>
              <a:rPr lang="en-US" sz="1500" dirty="0"/>
              <a:t>, since measuring it is problematic  and it is comparably small so that it is not included in the datasheet of the module.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500" dirty="0"/>
              <a:t>When the MOSFET is </a:t>
            </a:r>
            <a:r>
              <a:rPr lang="en-US" sz="1500" b="1" dirty="0"/>
              <a:t>in reverse conduction mode </a:t>
            </a:r>
            <a:r>
              <a:rPr lang="en-US" sz="1500" dirty="0" smtClean="0"/>
              <a:t>the </a:t>
            </a:r>
            <a:r>
              <a:rPr lang="en-US" sz="1500" dirty="0"/>
              <a:t>current commutates from and to its own body diode under </a:t>
            </a:r>
            <a:r>
              <a:rPr lang="en-US" sz="1500" b="1" dirty="0"/>
              <a:t>zero voltage switching (ZVS) condition</a:t>
            </a:r>
            <a:r>
              <a:rPr lang="en-US" sz="1500" dirty="0"/>
              <a:t>, and therefore </a:t>
            </a:r>
            <a:r>
              <a:rPr lang="en-US" sz="1500" b="1" dirty="0"/>
              <a:t>switching losses </a:t>
            </a:r>
            <a:r>
              <a:rPr lang="en-US" sz="1500" dirty="0"/>
              <a:t>are only taken into account during </a:t>
            </a:r>
            <a:r>
              <a:rPr lang="en-US" sz="1500" b="1" dirty="0"/>
              <a:t>forward conduction mode </a:t>
            </a:r>
            <a:r>
              <a:rPr lang="en-US" sz="1500" dirty="0"/>
              <a:t>of the MOSFET.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500" dirty="0"/>
              <a:t>For the </a:t>
            </a:r>
            <a:r>
              <a:rPr lang="en-US" sz="1500" b="1" dirty="0"/>
              <a:t>NPC</a:t>
            </a:r>
            <a:r>
              <a:rPr lang="en-US" sz="1500" dirty="0"/>
              <a:t> inverter, another type of semiconductor is used for the clamping diodes. Here, </a:t>
            </a:r>
            <a:r>
              <a:rPr lang="en-US" sz="1500" b="1" dirty="0" err="1"/>
              <a:t>SiC</a:t>
            </a:r>
            <a:r>
              <a:rPr lang="en-US" sz="1500" b="1" dirty="0"/>
              <a:t> </a:t>
            </a:r>
            <a:r>
              <a:rPr lang="en-US" sz="1500" b="1" dirty="0" err="1"/>
              <a:t>Schottky</a:t>
            </a:r>
            <a:r>
              <a:rPr lang="en-US" sz="1500" b="1" dirty="0"/>
              <a:t> </a:t>
            </a:r>
            <a:r>
              <a:rPr lang="en-US" sz="1500" dirty="0"/>
              <a:t>diodes are considered which have </a:t>
            </a:r>
            <a:r>
              <a:rPr lang="en-US" sz="1500" b="1" dirty="0"/>
              <a:t>negligible switching losses</a:t>
            </a:r>
            <a:r>
              <a:rPr lang="en-US" sz="1500" dirty="0"/>
              <a:t>, and thus only </a:t>
            </a:r>
            <a:r>
              <a:rPr lang="en-US" sz="1500" b="1" dirty="0"/>
              <a:t>the conduction losses </a:t>
            </a:r>
            <a:r>
              <a:rPr lang="en-US" sz="1500" dirty="0"/>
              <a:t>are </a:t>
            </a:r>
            <a:r>
              <a:rPr lang="en-US" sz="1500" b="1" dirty="0"/>
              <a:t>accounted</a:t>
            </a:r>
            <a:r>
              <a:rPr lang="en-US" sz="1500" dirty="0"/>
              <a:t> for.</a:t>
            </a:r>
          </a:p>
        </p:txBody>
      </p:sp>
    </p:spTree>
    <p:extLst>
      <p:ext uri="{BB962C8B-B14F-4D97-AF65-F5344CB8AC3E}">
        <p14:creationId xmlns:p14="http://schemas.microsoft.com/office/powerpoint/2010/main" val="104460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261A77-36CD-DE4F-8CA6-569DA6FD0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F6CAB-D6C5-C24C-A2B1-D43DE3A030AC}" type="datetime1">
              <a:rPr lang="sv-SE" smtClean="0"/>
              <a:pPr/>
              <a:t>2023-09-18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EEE17-AFAB-724E-9DF0-4C48FC080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2B6CC9-3FEF-FB46-9337-9012AEB65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6</a:t>
            </a:fld>
            <a:endParaRPr lang="sv-SE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2800" dirty="0" smtClean="0"/>
              <a:t>Thermal Model</a:t>
            </a:r>
            <a:endParaRPr lang="sv-SE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1059582"/>
            <a:ext cx="3281697" cy="146037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3605225" y="973381"/>
                <a:ext cx="5179321" cy="15799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sv-SE" dirty="0" smtClean="0"/>
                  <a:t>The </a:t>
                </a:r>
                <a:r>
                  <a:rPr lang="sv-SE" dirty="0" err="1"/>
                  <a:t>thermal</a:t>
                </a:r>
                <a:r>
                  <a:rPr lang="sv-SE" dirty="0"/>
                  <a:t> </a:t>
                </a:r>
                <a:r>
                  <a:rPr lang="sv-SE" dirty="0" err="1"/>
                  <a:t>model</a:t>
                </a:r>
                <a:r>
                  <a:rPr lang="sv-SE" dirty="0"/>
                  <a:t> </a:t>
                </a:r>
                <a:r>
                  <a:rPr lang="sv-SE" dirty="0" err="1"/>
                  <a:t>of</a:t>
                </a:r>
                <a:r>
                  <a:rPr lang="sv-SE" dirty="0"/>
                  <a:t> the </a:t>
                </a:r>
                <a:r>
                  <a:rPr lang="sv-SE" dirty="0" err="1"/>
                  <a:t>inverter</a:t>
                </a:r>
                <a:r>
                  <a:rPr lang="sv-SE" dirty="0"/>
                  <a:t> system, </a:t>
                </a:r>
                <a:r>
                  <a:rPr lang="sv-SE" dirty="0" err="1"/>
                  <a:t>where</a:t>
                </a:r>
                <a:r>
                  <a:rPr lang="sv-S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sv-SE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sv-S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sv-SE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sv-SE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sv-SE" dirty="0" err="1"/>
                  <a:t>are</a:t>
                </a:r>
                <a:r>
                  <a:rPr lang="sv-SE" dirty="0"/>
                  <a:t> the </a:t>
                </a:r>
                <a:r>
                  <a:rPr lang="sv-SE" dirty="0" err="1"/>
                  <a:t>junction</a:t>
                </a:r>
                <a:r>
                  <a:rPr lang="sv-SE" dirty="0"/>
                  <a:t> and </a:t>
                </a:r>
                <a:r>
                  <a:rPr lang="sv-SE" dirty="0" err="1"/>
                  <a:t>case</a:t>
                </a:r>
                <a:r>
                  <a:rPr lang="sv-SE" dirty="0"/>
                  <a:t> </a:t>
                </a:r>
                <a:r>
                  <a:rPr lang="sv-SE" dirty="0" err="1"/>
                  <a:t>temperatures</a:t>
                </a:r>
                <a:r>
                  <a:rPr lang="sv-SE" dirty="0"/>
                  <a:t> </a:t>
                </a:r>
                <a:r>
                  <a:rPr lang="sv-SE" dirty="0" err="1"/>
                  <a:t>of</a:t>
                </a:r>
                <a:r>
                  <a:rPr lang="sv-SE" dirty="0"/>
                  <a:t> the </a:t>
                </a:r>
                <a:r>
                  <a:rPr lang="sv-SE" dirty="0" err="1" smtClean="0"/>
                  <a:t>module</a:t>
                </a:r>
                <a:r>
                  <a:rPr lang="sv-SE" dirty="0" smtClean="0"/>
                  <a:t>, </a:t>
                </a:r>
                <a:r>
                  <a:rPr lang="sv-SE" dirty="0" err="1" smtClean="0"/>
                  <a:t>respectively</a:t>
                </a:r>
                <a:r>
                  <a:rPr lang="sv-S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sv-SE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sv-SE" dirty="0"/>
                  <a:t> is the </a:t>
                </a:r>
                <a:r>
                  <a:rPr lang="sv-SE" dirty="0" err="1"/>
                  <a:t>inlet</a:t>
                </a:r>
                <a:r>
                  <a:rPr lang="sv-SE" dirty="0"/>
                  <a:t> </a:t>
                </a:r>
                <a:r>
                  <a:rPr lang="sv-SE" dirty="0" err="1"/>
                  <a:t>coolant</a:t>
                </a:r>
                <a:r>
                  <a:rPr lang="sv-SE" dirty="0"/>
                  <a:t> </a:t>
                </a:r>
                <a:r>
                  <a:rPr lang="sv-SE" dirty="0" err="1" smtClean="0"/>
                  <a:t>temperature</a:t>
                </a:r>
                <a:r>
                  <a:rPr lang="sv-SE" dirty="0" smtClean="0"/>
                  <a:t>.’</a:t>
                </a:r>
              </a:p>
              <a:p>
                <a:endParaRPr lang="sv-SE" dirty="0" smtClean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sv-S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sv-SE" i="1" dirty="0">
                            <a:latin typeface="Cambria Math" panose="02040503050406030204" pitchFamily="18" charset="0"/>
                          </a:rPr>
                          <m:t>𝑡h</m:t>
                        </m:r>
                        <m:r>
                          <a:rPr lang="sv-SE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sv-SE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sv-SE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sv-SE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sv-SE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sv-SE" i="1" dirty="0">
                            <a:latin typeface="Cambria Math" panose="02040503050406030204" pitchFamily="18" charset="0"/>
                          </a:rPr>
                          <m:t>𝑡h</m:t>
                        </m:r>
                        <m:r>
                          <a:rPr lang="sv-SE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sv-SE" i="1" dirty="0">
                            <a:latin typeface="Cambria Math" panose="02040503050406030204" pitchFamily="18" charset="0"/>
                          </a:rPr>
                          <m:t>𝑡𝑝</m:t>
                        </m:r>
                      </m:sub>
                    </m:sSub>
                  </m:oMath>
                </a14:m>
                <a:r>
                  <a:rPr lang="sv-SE" dirty="0" smtClean="0"/>
                  <a:t>, </a:t>
                </a:r>
                <a:r>
                  <a:rPr lang="sv-SE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sv-SE" i="1" dirty="0">
                            <a:latin typeface="Cambria Math" panose="02040503050406030204" pitchFamily="18" charset="0"/>
                          </a:rPr>
                          <m:t>𝑡h</m:t>
                        </m:r>
                        <m:r>
                          <a:rPr lang="sv-SE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sv-SE" i="1" dirty="0">
                            <a:latin typeface="Cambria Math" panose="02040503050406030204" pitchFamily="18" charset="0"/>
                          </a:rPr>
                          <m:t>𝑐𝑝</m:t>
                        </m:r>
                      </m:sub>
                    </m:sSub>
                  </m:oMath>
                </a14:m>
                <a:r>
                  <a:rPr lang="sv-SE" dirty="0" smtClean="0"/>
                  <a:t> are </a:t>
                </a:r>
                <a:r>
                  <a:rPr lang="sv-SE" dirty="0"/>
                  <a:t>the </a:t>
                </a:r>
                <a:r>
                  <a:rPr lang="sv-SE" dirty="0" err="1"/>
                  <a:t>thermal</a:t>
                </a:r>
                <a:r>
                  <a:rPr lang="sv-SE" dirty="0"/>
                  <a:t> </a:t>
                </a:r>
                <a:r>
                  <a:rPr lang="sv-SE" dirty="0" err="1"/>
                  <a:t>resistances</a:t>
                </a:r>
                <a:r>
                  <a:rPr lang="sv-SE" dirty="0"/>
                  <a:t> </a:t>
                </a:r>
                <a:r>
                  <a:rPr lang="sv-SE" dirty="0" err="1"/>
                  <a:t>of</a:t>
                </a:r>
                <a:r>
                  <a:rPr lang="sv-SE" dirty="0"/>
                  <a:t> the </a:t>
                </a:r>
                <a:r>
                  <a:rPr lang="sv-SE" dirty="0" err="1"/>
                  <a:t>power</a:t>
                </a:r>
                <a:r>
                  <a:rPr lang="sv-SE" dirty="0"/>
                  <a:t> </a:t>
                </a:r>
                <a:r>
                  <a:rPr lang="sv-SE" dirty="0" err="1"/>
                  <a:t>module</a:t>
                </a:r>
                <a:r>
                  <a:rPr lang="sv-SE" dirty="0"/>
                  <a:t>, </a:t>
                </a:r>
                <a:r>
                  <a:rPr lang="sv-SE" dirty="0" err="1"/>
                  <a:t>thermal</a:t>
                </a:r>
                <a:r>
                  <a:rPr lang="sv-SE" dirty="0"/>
                  <a:t> </a:t>
                </a:r>
                <a:r>
                  <a:rPr lang="en-US" dirty="0"/>
                  <a:t>thermal interface materials (TIM</a:t>
                </a:r>
                <a:r>
                  <a:rPr lang="en-US" dirty="0" smtClean="0"/>
                  <a:t>), </a:t>
                </a:r>
                <a:r>
                  <a:rPr lang="en-US" dirty="0"/>
                  <a:t>and cold plate</a:t>
                </a:r>
                <a:endParaRPr lang="sv-SE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5225" y="973381"/>
                <a:ext cx="5179321" cy="1579920"/>
              </a:xfrm>
              <a:prstGeom prst="rect">
                <a:avLst/>
              </a:prstGeom>
              <a:blipFill>
                <a:blip r:embed="rId3"/>
                <a:stretch>
                  <a:fillRect l="-118" t="-772" b="-3089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/>
          <p:cNvSpPr/>
          <p:nvPr/>
        </p:nvSpPr>
        <p:spPr>
          <a:xfrm>
            <a:off x="899592" y="2772542"/>
            <a:ext cx="6624736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/>
              <a:t>The </a:t>
            </a:r>
            <a:r>
              <a:rPr lang="sv-SE" dirty="0" err="1"/>
              <a:t>case</a:t>
            </a:r>
            <a:r>
              <a:rPr lang="sv-SE" dirty="0"/>
              <a:t> and </a:t>
            </a:r>
            <a:r>
              <a:rPr lang="sv-SE" dirty="0" err="1"/>
              <a:t>junction</a:t>
            </a:r>
            <a:r>
              <a:rPr lang="sv-SE" dirty="0"/>
              <a:t> </a:t>
            </a:r>
            <a:r>
              <a:rPr lang="sv-SE" dirty="0" err="1"/>
              <a:t>temperature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the </a:t>
            </a:r>
            <a:r>
              <a:rPr lang="sv-SE" dirty="0" err="1"/>
              <a:t>module</a:t>
            </a:r>
            <a:r>
              <a:rPr lang="sv-SE" dirty="0"/>
              <a:t> </a:t>
            </a:r>
            <a:r>
              <a:rPr lang="sv-SE" dirty="0" err="1"/>
              <a:t>can</a:t>
            </a:r>
            <a:r>
              <a:rPr lang="sv-SE" dirty="0"/>
              <a:t> be </a:t>
            </a:r>
            <a:r>
              <a:rPr lang="sv-SE" dirty="0" err="1"/>
              <a:t>written</a:t>
            </a:r>
            <a:r>
              <a:rPr lang="sv-SE" dirty="0"/>
              <a:t> </a:t>
            </a:r>
            <a:r>
              <a:rPr lang="sv-SE" dirty="0" smtClean="0"/>
              <a:t>as:</a:t>
            </a:r>
            <a:endParaRPr lang="sv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3694234" y="3220285"/>
                <a:ext cx="1855828" cy="3167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sv-SE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sv-S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sv-SE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sv-SE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sv-S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𝑡h</m:t>
                          </m:r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sv-S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sv-SE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sv-SE" b="0" i="1" dirty="0" smtClean="0">
                              <a:latin typeface="Cambria Math" panose="02040503050406030204" pitchFamily="18" charset="0"/>
                            </a:rPr>
                            <m:t>𝑙𝑜𝑠𝑠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4234" y="3220285"/>
                <a:ext cx="1855828" cy="316753"/>
              </a:xfrm>
              <a:prstGeom prst="rect">
                <a:avLst/>
              </a:prstGeom>
              <a:blipFill>
                <a:blip r:embed="rId4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3347864" y="3586597"/>
                <a:ext cx="2582182" cy="31604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sv-SE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sv-SE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sv-S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sv-SE" b="0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sv-SE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sv-SE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sv-S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𝑡h</m:t>
                          </m:r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sv-SE" b="0" i="1" dirty="0" smtClean="0">
                              <a:latin typeface="Cambria Math" panose="02040503050406030204" pitchFamily="18" charset="0"/>
                            </a:rPr>
                            <m:t>𝑡𝑝</m:t>
                          </m:r>
                        </m:sub>
                      </m:sSub>
                      <m:r>
                        <a:rPr lang="sv-SE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sv-S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𝑡h</m:t>
                          </m:r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sv-SE" b="0" i="1" dirty="0" smtClean="0">
                              <a:latin typeface="Cambria Math" panose="02040503050406030204" pitchFamily="18" charset="0"/>
                            </a:rPr>
                            <m:t>𝑐𝑝</m:t>
                          </m:r>
                        </m:sub>
                      </m:sSub>
                      <m:sSub>
                        <m:sSubPr>
                          <m:ctrlPr>
                            <a:rPr lang="sv-S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sv-SE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sv-SE" i="1" dirty="0">
                              <a:latin typeface="Cambria Math" panose="02040503050406030204" pitchFamily="18" charset="0"/>
                            </a:rPr>
                            <m:t>𝑙𝑜𝑠𝑠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864" y="3586597"/>
                <a:ext cx="2582182" cy="316049"/>
              </a:xfrm>
              <a:prstGeom prst="rect">
                <a:avLst/>
              </a:prstGeom>
              <a:blipFill>
                <a:blip r:embed="rId5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/>
          <p:cNvSpPr/>
          <p:nvPr/>
        </p:nvSpPr>
        <p:spPr>
          <a:xfrm>
            <a:off x="827584" y="4025485"/>
            <a:ext cx="748883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/>
              <a:t>T</a:t>
            </a:r>
            <a:r>
              <a:rPr lang="sv-SE" dirty="0" smtClean="0"/>
              <a:t>he </a:t>
            </a:r>
            <a:r>
              <a:rPr lang="sv-SE" dirty="0" err="1"/>
              <a:t>junction</a:t>
            </a:r>
            <a:r>
              <a:rPr lang="sv-SE" dirty="0"/>
              <a:t> </a:t>
            </a:r>
            <a:r>
              <a:rPr lang="sv-SE" dirty="0" err="1"/>
              <a:t>temperature</a:t>
            </a:r>
            <a:r>
              <a:rPr lang="sv-SE" dirty="0"/>
              <a:t> is a </a:t>
            </a:r>
            <a:r>
              <a:rPr lang="sv-SE" dirty="0" err="1"/>
              <a:t>function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coolant</a:t>
            </a:r>
            <a:r>
              <a:rPr lang="sv-SE" dirty="0"/>
              <a:t> </a:t>
            </a:r>
            <a:r>
              <a:rPr lang="sv-SE" dirty="0" err="1"/>
              <a:t>temperature</a:t>
            </a:r>
            <a:r>
              <a:rPr lang="sv-SE" dirty="0"/>
              <a:t>, </a:t>
            </a:r>
            <a:r>
              <a:rPr lang="sv-SE" dirty="0" err="1"/>
              <a:t>module</a:t>
            </a:r>
            <a:r>
              <a:rPr lang="sv-SE" dirty="0"/>
              <a:t> </a:t>
            </a:r>
            <a:r>
              <a:rPr lang="sv-SE" dirty="0" err="1"/>
              <a:t>power</a:t>
            </a:r>
            <a:r>
              <a:rPr lang="sv-SE" dirty="0"/>
              <a:t> loss, and </a:t>
            </a:r>
            <a:r>
              <a:rPr lang="sv-SE" dirty="0" err="1"/>
              <a:t>thermal</a:t>
            </a:r>
            <a:r>
              <a:rPr lang="sv-SE" dirty="0"/>
              <a:t> </a:t>
            </a:r>
            <a:r>
              <a:rPr lang="sv-SE" dirty="0" err="1"/>
              <a:t>resistances</a:t>
            </a:r>
            <a:r>
              <a:rPr lang="sv-SE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2760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261A77-36CD-DE4F-8CA6-569DA6FD0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F6CAB-D6C5-C24C-A2B1-D43DE3A030AC}" type="datetime1">
              <a:rPr lang="sv-SE" smtClean="0"/>
              <a:pPr/>
              <a:t>2023-09-18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EEE17-AFAB-724E-9DF0-4C48FC080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2B6CC9-3FEF-FB46-9337-9012AEB65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7</a:t>
            </a:fld>
            <a:endParaRPr lang="sv-SE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601" y="267494"/>
            <a:ext cx="7560840" cy="647700"/>
          </a:xfrm>
        </p:spPr>
        <p:txBody>
          <a:bodyPr/>
          <a:lstStyle/>
          <a:p>
            <a:pPr algn="ctr"/>
            <a:r>
              <a:rPr lang="en-US" sz="2800" dirty="0" smtClean="0"/>
              <a:t>Datasheet Parameters</a:t>
            </a:r>
            <a:endParaRPr lang="sv-SE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131590"/>
            <a:ext cx="2614986" cy="293951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296" y="1131590"/>
            <a:ext cx="2620222" cy="302433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" r="1606"/>
          <a:stretch/>
        </p:blipFill>
        <p:spPr>
          <a:xfrm>
            <a:off x="6228184" y="1059582"/>
            <a:ext cx="2516168" cy="293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4151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261A77-36CD-DE4F-8CA6-569DA6FD0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F6CAB-D6C5-C24C-A2B1-D43DE3A030AC}" type="datetime1">
              <a:rPr lang="sv-SE" smtClean="0"/>
              <a:pPr/>
              <a:t>2023-09-18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EEE17-AFAB-724E-9DF0-4C48FC080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2B6CC9-3FEF-FB46-9337-9012AEB65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8</a:t>
            </a:fld>
            <a:endParaRPr lang="sv-SE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601" y="267494"/>
            <a:ext cx="7560840" cy="647700"/>
          </a:xfrm>
        </p:spPr>
        <p:txBody>
          <a:bodyPr/>
          <a:lstStyle/>
          <a:p>
            <a:pPr algn="ctr"/>
            <a:r>
              <a:rPr lang="en-US" sz="2800" dirty="0" err="1" smtClean="0"/>
              <a:t>Grabit</a:t>
            </a:r>
            <a:r>
              <a:rPr lang="en-US" sz="2800" dirty="0" smtClean="0"/>
              <a:t> and Digital Data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449737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261A77-36CD-DE4F-8CA6-569DA6FD0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F6CAB-D6C5-C24C-A2B1-D43DE3A030AC}" type="datetime1">
              <a:rPr lang="sv-SE" smtClean="0"/>
              <a:pPr/>
              <a:t>2023-09-18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EEE17-AFAB-724E-9DF0-4C48FC080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2B6CC9-3FEF-FB46-9337-9012AEB65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9</a:t>
            </a:fld>
            <a:endParaRPr lang="sv-SE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624" y="272818"/>
            <a:ext cx="7560840" cy="647700"/>
          </a:xfrm>
        </p:spPr>
        <p:txBody>
          <a:bodyPr/>
          <a:lstStyle/>
          <a:p>
            <a:pPr algn="ctr"/>
            <a:r>
              <a:rPr lang="en-US" sz="2800" dirty="0" smtClean="0"/>
              <a:t>Modulation</a:t>
            </a:r>
            <a:endParaRPr lang="sv-SE" dirty="0"/>
          </a:p>
        </p:txBody>
      </p:sp>
      <p:sp>
        <p:nvSpPr>
          <p:cNvPr id="23" name="Rounded Rectangle 22"/>
          <p:cNvSpPr/>
          <p:nvPr/>
        </p:nvSpPr>
        <p:spPr>
          <a:xfrm>
            <a:off x="1059601" y="1275606"/>
            <a:ext cx="2498638" cy="41395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Selection of Input Parameters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4" name="Straight Connector 23"/>
          <p:cNvCxnSpPr>
            <a:stCxn id="23" idx="3"/>
          </p:cNvCxnSpPr>
          <p:nvPr/>
        </p:nvCxnSpPr>
        <p:spPr>
          <a:xfrm flipV="1">
            <a:off x="3558239" y="1481465"/>
            <a:ext cx="574585" cy="111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988808" y="1227892"/>
            <a:ext cx="3960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Switching frequency, DC link voltage, Power, </a:t>
            </a:r>
          </a:p>
          <a:p>
            <a:r>
              <a:rPr lang="en-US" sz="1200" dirty="0" smtClean="0"/>
              <a:t>Power factor</a:t>
            </a:r>
          </a:p>
        </p:txBody>
      </p:sp>
      <p:cxnSp>
        <p:nvCxnSpPr>
          <p:cNvPr id="26" name="Straight Arrow Connector 25"/>
          <p:cNvCxnSpPr>
            <a:stCxn id="23" idx="2"/>
            <a:endCxn id="27" idx="0"/>
          </p:cNvCxnSpPr>
          <p:nvPr/>
        </p:nvCxnSpPr>
        <p:spPr>
          <a:xfrm>
            <a:off x="2308920" y="1689557"/>
            <a:ext cx="0" cy="5364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59601" y="2225959"/>
            <a:ext cx="2498638" cy="59312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Topology and Modulation Selection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" name="Straight Arrow Connector 27"/>
          <p:cNvCxnSpPr>
            <a:stCxn id="27" idx="2"/>
          </p:cNvCxnSpPr>
          <p:nvPr/>
        </p:nvCxnSpPr>
        <p:spPr>
          <a:xfrm>
            <a:off x="2308920" y="2819084"/>
            <a:ext cx="0" cy="5352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27" idx="3"/>
          </p:cNvCxnSpPr>
          <p:nvPr/>
        </p:nvCxnSpPr>
        <p:spPr>
          <a:xfrm flipV="1">
            <a:off x="3558239" y="2520289"/>
            <a:ext cx="574585" cy="22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988808" y="2266716"/>
            <a:ext cx="3960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2 level : SPWM THIPWM SVPWM</a:t>
            </a:r>
          </a:p>
          <a:p>
            <a:r>
              <a:rPr lang="en-US" sz="1200" dirty="0" smtClean="0"/>
              <a:t>3 level NPC: SPWM THIPWM SVPWM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9601" y="3354369"/>
            <a:ext cx="2498638" cy="59312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Creating voltage and current waveforms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3" name="Picture 4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9806" y="2936366"/>
            <a:ext cx="2332438" cy="1749328"/>
          </a:xfrm>
          <a:prstGeom prst="rect">
            <a:avLst/>
          </a:prstGeom>
        </p:spPr>
      </p:pic>
      <p:pic>
        <p:nvPicPr>
          <p:cNvPr id="55" name="Picture 5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54" y="2934828"/>
            <a:ext cx="2448272" cy="1836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540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261A77-36CD-DE4F-8CA6-569DA6FD0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F6CAB-D6C5-C24C-A2B1-D43DE3A030AC}" type="datetime1">
              <a:rPr lang="sv-SE" smtClean="0"/>
              <a:pPr/>
              <a:t>2023-09-18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EEE17-AFAB-724E-9DF0-4C48FC080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2B6CC9-3FEF-FB46-9337-9012AEB65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10</a:t>
            </a:fld>
            <a:endParaRPr lang="sv-SE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107909"/>
            <a:ext cx="7560840" cy="647700"/>
          </a:xfrm>
        </p:spPr>
        <p:txBody>
          <a:bodyPr/>
          <a:lstStyle/>
          <a:p>
            <a:pPr algn="ctr"/>
            <a:r>
              <a:rPr lang="en-US" sz="2800" dirty="0" smtClean="0"/>
              <a:t>Conduction and Switching </a:t>
            </a:r>
            <a:r>
              <a:rPr lang="en-US" sz="2800" dirty="0" smtClean="0"/>
              <a:t>Events</a:t>
            </a:r>
            <a:endParaRPr lang="sv-SE" dirty="0"/>
          </a:p>
        </p:txBody>
      </p:sp>
      <p:sp>
        <p:nvSpPr>
          <p:cNvPr id="23" name="Rounded Rectangle 22"/>
          <p:cNvSpPr/>
          <p:nvPr/>
        </p:nvSpPr>
        <p:spPr>
          <a:xfrm>
            <a:off x="3229836" y="999281"/>
            <a:ext cx="2498638" cy="41395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oltage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current waveforms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/>
          <p:cNvCxnSpPr>
            <a:stCxn id="23" idx="2"/>
            <a:endCxn id="27" idx="0"/>
          </p:cNvCxnSpPr>
          <p:nvPr/>
        </p:nvCxnSpPr>
        <p:spPr>
          <a:xfrm>
            <a:off x="4479155" y="1413232"/>
            <a:ext cx="0" cy="131524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229836" y="2728478"/>
            <a:ext cx="2498638" cy="59312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Finding</a:t>
            </a:r>
            <a:r>
              <a:rPr lang="sv-SE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sv-SE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conduction</a:t>
            </a:r>
            <a:r>
              <a:rPr lang="sv-SE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sv-SE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commutation</a:t>
            </a:r>
            <a:r>
              <a:rPr lang="sv-SE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times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08" y="1848803"/>
            <a:ext cx="2899502" cy="217462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474" y="1792004"/>
            <a:ext cx="3205929" cy="2404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295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632" y="2655033"/>
            <a:ext cx="2480492" cy="1860369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1844" y="2613161"/>
            <a:ext cx="2586548" cy="193991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261A77-36CD-DE4F-8CA6-569DA6FD0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F6CAB-D6C5-C24C-A2B1-D43DE3A030AC}" type="datetime1">
              <a:rPr lang="sv-SE" smtClean="0"/>
              <a:pPr/>
              <a:t>2023-09-18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EEE17-AFAB-724E-9DF0-4C48FC080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2B6CC9-3FEF-FB46-9337-9012AEB65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11</a:t>
            </a:fld>
            <a:endParaRPr lang="sv-SE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771" y="154477"/>
            <a:ext cx="7560840" cy="647700"/>
          </a:xfrm>
        </p:spPr>
        <p:txBody>
          <a:bodyPr/>
          <a:lstStyle/>
          <a:p>
            <a:pPr algn="ctr"/>
            <a:r>
              <a:rPr lang="en-US" sz="2800" dirty="0" smtClean="0"/>
              <a:t>Loss Calculations</a:t>
            </a:r>
            <a:endParaRPr lang="sv-SE" dirty="0"/>
          </a:p>
        </p:txBody>
      </p:sp>
      <p:sp>
        <p:nvSpPr>
          <p:cNvPr id="13" name="Rounded Rectangle 12"/>
          <p:cNvSpPr/>
          <p:nvPr/>
        </p:nvSpPr>
        <p:spPr>
          <a:xfrm>
            <a:off x="3419872" y="805356"/>
            <a:ext cx="2498638" cy="59312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sv-SE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conduction</a:t>
            </a:r>
            <a:r>
              <a:rPr lang="sv-SE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sv-SE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commutation</a:t>
            </a:r>
            <a:r>
              <a:rPr lang="sv-SE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times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Straight Arrow Connector 15"/>
          <p:cNvCxnSpPr>
            <a:stCxn id="13" idx="2"/>
            <a:endCxn id="18" idx="0"/>
          </p:cNvCxnSpPr>
          <p:nvPr/>
        </p:nvCxnSpPr>
        <p:spPr>
          <a:xfrm flipH="1">
            <a:off x="2170553" y="1398481"/>
            <a:ext cx="2498638" cy="5947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21234" y="1993243"/>
            <a:ext cx="2498638" cy="59312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Conduction</a:t>
            </a:r>
            <a:r>
              <a:rPr lang="sv-SE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Loss </a:t>
            </a:r>
            <a:r>
              <a:rPr lang="sv-SE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Calculation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918510" y="1909833"/>
            <a:ext cx="2498638" cy="59312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Switching</a:t>
            </a:r>
            <a:r>
              <a:rPr lang="sv-SE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Loss </a:t>
            </a:r>
            <a:r>
              <a:rPr lang="sv-SE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Calculation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4" name="Straight Arrow Connector 23"/>
          <p:cNvCxnSpPr>
            <a:stCxn id="13" idx="2"/>
            <a:endCxn id="21" idx="0"/>
          </p:cNvCxnSpPr>
          <p:nvPr/>
        </p:nvCxnSpPr>
        <p:spPr>
          <a:xfrm>
            <a:off x="4669191" y="1398481"/>
            <a:ext cx="2498638" cy="5113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6" y="2635659"/>
            <a:ext cx="2506324" cy="1879743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5001" y="2666473"/>
            <a:ext cx="2545463" cy="1909097"/>
          </a:xfrm>
          <a:prstGeom prst="rect">
            <a:avLst/>
          </a:prstGeom>
        </p:spPr>
      </p:pic>
      <p:pic>
        <p:nvPicPr>
          <p:cNvPr id="39" name="Picture 3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6420" y="482022"/>
            <a:ext cx="1690728" cy="1268046"/>
          </a:xfrm>
          <a:prstGeom prst="rect">
            <a:avLst/>
          </a:prstGeom>
        </p:spPr>
      </p:pic>
      <p:pic>
        <p:nvPicPr>
          <p:cNvPr id="40" name="Picture 3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608" y="565653"/>
            <a:ext cx="1666430" cy="1249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026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261A77-36CD-DE4F-8CA6-569DA6FD0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F6CAB-D6C5-C24C-A2B1-D43DE3A030AC}" type="datetime1">
              <a:rPr lang="sv-SE" smtClean="0"/>
              <a:pPr/>
              <a:t>2023-09-18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EEE17-AFAB-724E-9DF0-4C48FC080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2B6CC9-3FEF-FB46-9337-9012AEB65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12</a:t>
            </a:fld>
            <a:endParaRPr lang="sv-SE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107909"/>
            <a:ext cx="7560840" cy="647700"/>
          </a:xfrm>
        </p:spPr>
        <p:txBody>
          <a:bodyPr/>
          <a:lstStyle/>
          <a:p>
            <a:pPr algn="ctr"/>
            <a:r>
              <a:rPr lang="en-US" sz="2800" dirty="0" smtClean="0"/>
              <a:t>Iterative Solution</a:t>
            </a:r>
            <a:endParaRPr lang="sv-SE" dirty="0"/>
          </a:p>
        </p:txBody>
      </p:sp>
      <p:pic>
        <p:nvPicPr>
          <p:cNvPr id="34" name="Pictur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491630"/>
            <a:ext cx="3914298" cy="212317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56" y="555526"/>
            <a:ext cx="2952328" cy="221424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6515" y="2753728"/>
            <a:ext cx="2851409" cy="2138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052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261A77-36CD-DE4F-8CA6-569DA6FD0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F6CAB-D6C5-C24C-A2B1-D43DE3A030AC}" type="datetime1">
              <a:rPr lang="sv-SE" smtClean="0"/>
              <a:pPr/>
              <a:t>2023-09-18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EEE17-AFAB-724E-9DF0-4C48FC080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2B6CC9-3FEF-FB46-9337-9012AEB65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13</a:t>
            </a:fld>
            <a:endParaRPr lang="sv-SE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27086"/>
            <a:ext cx="7560840" cy="647700"/>
          </a:xfrm>
        </p:spPr>
        <p:txBody>
          <a:bodyPr/>
          <a:lstStyle/>
          <a:p>
            <a:pPr algn="ctr"/>
            <a:r>
              <a:rPr lang="en-US" sz="2800" dirty="0" smtClean="0"/>
              <a:t>Summary  </a:t>
            </a:r>
            <a:endParaRPr lang="sv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964700" y="1132511"/>
                <a:ext cx="7488832" cy="5405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:r>
                  <a:rPr lang="sv-SE" sz="1400" dirty="0" smtClean="0"/>
                  <a:t>1.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sv-SE" sz="1400" b="0" i="1" smtClean="0">
                            <a:latin typeface="Cambria Math" panose="02040503050406030204" pitchFamily="18" charset="0"/>
                          </a:rPr>
                          <m:t>𝑑𝑠</m:t>
                        </m:r>
                      </m:sub>
                    </m:sSub>
                    <m:r>
                      <a:rPr lang="sv-SE" sz="1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sv-SE" sz="1400" dirty="0" smtClean="0"/>
                  <a:t> is proportional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sv-SE" sz="1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sv-SE" sz="1400" dirty="0" smtClean="0"/>
              </a:p>
              <a:p>
                <a:pPr algn="l"/>
                <a:endParaRPr lang="sv-SE" sz="20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700" y="1132511"/>
                <a:ext cx="7488832" cy="540533"/>
              </a:xfrm>
              <a:prstGeom prst="rect">
                <a:avLst/>
              </a:prstGeom>
              <a:blipFill>
                <a:blip r:embed="rId2"/>
                <a:stretch>
                  <a:fillRect l="-1465" t="-1022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2644926" y="1418374"/>
                <a:ext cx="1927771" cy="3127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𝑇𝑗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sv-SE" sz="1600" b="0" i="1" smtClean="0">
                          <a:latin typeface="Cambria Math" panose="02040503050406030204" pitchFamily="18" charset="0"/>
                        </a:rPr>
                        <m:t>= (1+</m:t>
                      </m:r>
                      <m:r>
                        <a:rPr lang="sv-SE" sz="16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sv-S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sv-SE" sz="16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sv-SE" sz="1600" dirty="0" err="1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4926" y="1418374"/>
                <a:ext cx="1927771" cy="312714"/>
              </a:xfrm>
              <a:prstGeom prst="rect">
                <a:avLst/>
              </a:prstGeom>
              <a:blipFill>
                <a:blip r:embed="rId3"/>
                <a:stretch>
                  <a:fillRect l="-3165" r="-633" b="-1764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899592" y="1994865"/>
                <a:ext cx="3715312" cy="30777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sv-SE" sz="1400" dirty="0" smtClean="0"/>
                  <a:t>2. The </a:t>
                </a:r>
                <a:r>
                  <a:rPr lang="sv-SE" sz="1400" dirty="0" err="1"/>
                  <a:t>switching</a:t>
                </a:r>
                <a:r>
                  <a:rPr lang="sv-SE" sz="1400" dirty="0"/>
                  <a:t> </a:t>
                </a:r>
                <a:r>
                  <a:rPr lang="sv-SE" sz="1400" dirty="0" err="1"/>
                  <a:t>energy</a:t>
                </a:r>
                <a:r>
                  <a:rPr lang="sv-SE" sz="1400" dirty="0"/>
                  <a:t> is proportional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1400" i="1" dirty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sv-SE" sz="1400" i="1" dirty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endParaRPr lang="sv-SE" dirty="0"/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1994865"/>
                <a:ext cx="3715312" cy="307777"/>
              </a:xfrm>
              <a:prstGeom prst="rect">
                <a:avLst/>
              </a:prstGeom>
              <a:blipFill>
                <a:blip r:embed="rId4"/>
                <a:stretch>
                  <a:fillRect l="-493" t="-3922" b="-1960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/>
          <p:cNvSpPr/>
          <p:nvPr/>
        </p:nvSpPr>
        <p:spPr>
          <a:xfrm>
            <a:off x="899592" y="3015972"/>
            <a:ext cx="884396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sz="1400" dirty="0" smtClean="0"/>
              <a:t>3. The </a:t>
            </a:r>
            <a:r>
              <a:rPr lang="sv-SE" sz="1400" dirty="0" err="1"/>
              <a:t>switching</a:t>
            </a:r>
            <a:r>
              <a:rPr lang="sv-SE" sz="1400" dirty="0"/>
              <a:t> </a:t>
            </a:r>
            <a:r>
              <a:rPr lang="sv-SE" sz="1400" dirty="0" err="1"/>
              <a:t>energy</a:t>
            </a:r>
            <a:r>
              <a:rPr lang="sv-SE" sz="1400" dirty="0"/>
              <a:t> is </a:t>
            </a:r>
            <a:r>
              <a:rPr lang="sv-SE" sz="1400" dirty="0" err="1"/>
              <a:t>supposed</a:t>
            </a:r>
            <a:r>
              <a:rPr lang="sv-SE" sz="1400" dirty="0"/>
              <a:t> to be proportional to the </a:t>
            </a:r>
            <a:r>
              <a:rPr lang="sv-SE" sz="1400" dirty="0" err="1"/>
              <a:t>load</a:t>
            </a:r>
            <a:r>
              <a:rPr lang="sv-SE" sz="1400" dirty="0"/>
              <a:t> </a:t>
            </a:r>
            <a:r>
              <a:rPr lang="sv-SE" sz="1400" dirty="0" err="1" smtClean="0"/>
              <a:t>current</a:t>
            </a:r>
            <a:r>
              <a:rPr lang="sv-SE" sz="1013" dirty="0" smtClean="0"/>
              <a:t>. </a:t>
            </a:r>
            <a:endParaRPr lang="sv-SE" sz="1013" dirty="0"/>
          </a:p>
        </p:txBody>
      </p:sp>
      <p:sp>
        <p:nvSpPr>
          <p:cNvPr id="14" name="Rectangle 13"/>
          <p:cNvSpPr/>
          <p:nvPr/>
        </p:nvSpPr>
        <p:spPr>
          <a:xfrm>
            <a:off x="899592" y="3856254"/>
            <a:ext cx="612068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sz="1400" dirty="0" smtClean="0"/>
              <a:t>4. The </a:t>
            </a:r>
            <a:r>
              <a:rPr lang="sv-SE" sz="1400" dirty="0" err="1"/>
              <a:t>function</a:t>
            </a:r>
            <a:r>
              <a:rPr lang="sv-SE" sz="1400" dirty="0"/>
              <a:t> for the </a:t>
            </a:r>
            <a:r>
              <a:rPr lang="sv-SE" sz="1400" dirty="0" err="1"/>
              <a:t>temperature</a:t>
            </a:r>
            <a:r>
              <a:rPr lang="sv-SE" sz="1400" dirty="0"/>
              <a:t> </a:t>
            </a:r>
            <a:r>
              <a:rPr lang="sv-SE" sz="1400" dirty="0" err="1"/>
              <a:t>effect</a:t>
            </a:r>
            <a:r>
              <a:rPr lang="sv-SE" sz="1400" dirty="0"/>
              <a:t> fits </a:t>
            </a:r>
            <a:r>
              <a:rPr lang="sv-SE" sz="1400" dirty="0" err="1"/>
              <a:t>with</a:t>
            </a:r>
            <a:r>
              <a:rPr lang="sv-SE" sz="1400" dirty="0"/>
              <a:t> a </a:t>
            </a:r>
            <a:r>
              <a:rPr lang="sv-SE" sz="1400" dirty="0" err="1"/>
              <a:t>first-degree</a:t>
            </a:r>
            <a:r>
              <a:rPr lang="sv-SE" sz="1400" dirty="0"/>
              <a:t> </a:t>
            </a:r>
            <a:r>
              <a:rPr lang="sv-SE" sz="1400" dirty="0" err="1" smtClean="0"/>
              <a:t>polynomial</a:t>
            </a:r>
            <a:r>
              <a:rPr lang="sv-SE" sz="1400" dirty="0" smtClean="0"/>
              <a:t>.</a:t>
            </a:r>
            <a:endParaRPr lang="sv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2509376" y="2318238"/>
                <a:ext cx="2170017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𝑠𝑤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sv-SE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sv-SE" sz="1600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sv-SE" sz="1600" b="0" i="1" smtClean="0">
                                      <a:latin typeface="Cambria Math" panose="02040503050406030204" pitchFamily="18" charset="0"/>
                                    </a:rPr>
                                    <m:t>𝐷𝐶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d>
                        <m:d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𝑠𝑤</m:t>
                              </m:r>
                            </m:sub>
                          </m:sSub>
                        </m:e>
                      </m:d>
                      <m:r>
                        <a:rPr lang="sv-S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sv-SE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sv-SE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sz="1600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  <m:sub>
                                      <m:r>
                                        <a:rPr lang="sv-SE" sz="1600" b="0" i="1" smtClean="0">
                                          <a:latin typeface="Cambria Math" panose="02040503050406030204" pitchFamily="18" charset="0"/>
                                        </a:rPr>
                                        <m:t>𝑠𝑤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sv-SE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sz="1600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  <m:sub>
                                      <m:r>
                                        <a:rPr lang="sv-SE" sz="1600" b="0" i="1" smtClean="0">
                                          <a:latin typeface="Cambria Math" panose="02040503050406030204" pitchFamily="18" charset="0"/>
                                        </a:rPr>
                                        <m:t>𝐷𝐶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sv-SE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sv-SE" sz="1600" dirty="0" err="1"/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9376" y="2318238"/>
                <a:ext cx="2170017" cy="58182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2571957" y="3388135"/>
                <a:ext cx="2057486" cy="2689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𝑠𝑤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𝐷𝐶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e>
                      </m:d>
                      <m:r>
                        <a:rPr lang="sv-SE" sz="1600" b="0" i="1" smtClean="0">
                          <a:latin typeface="Cambria Math" panose="02040503050406030204" pitchFamily="18" charset="0"/>
                        </a:rPr>
                        <m:t>= (1+</m:t>
                      </m:r>
                      <m:r>
                        <a:rPr lang="sv-SE" sz="16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sv-S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sv-SE" sz="16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sv-SE" sz="1600" dirty="0" err="1"/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1957" y="3388135"/>
                <a:ext cx="2057486" cy="268920"/>
              </a:xfrm>
              <a:prstGeom prst="rect">
                <a:avLst/>
              </a:prstGeom>
              <a:blipFill>
                <a:blip r:embed="rId6"/>
                <a:stretch>
                  <a:fillRect l="-2967" r="-593" b="-2272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2571897" y="4305604"/>
                <a:ext cx="2006318" cy="3529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𝑠𝑤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sv-SE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sv-SE" sz="1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sv-SE" sz="16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d>
                        <m:d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sv-SE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sv-SE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sv-SE" sz="1600" b="0" i="1" smtClean="0">
                          <a:latin typeface="Cambria Math" panose="02040503050406030204" pitchFamily="18" charset="0"/>
                        </a:rPr>
                        <m:t>= (1+</m:t>
                      </m:r>
                      <m:r>
                        <a:rPr lang="sv-SE" sz="1600" b="0" i="1" smtClean="0">
                          <a:latin typeface="Cambria Math" panose="02040503050406030204" pitchFamily="18" charset="0"/>
                        </a:rPr>
                        <m:t>𝑝</m:t>
                      </m:r>
                      <m:sSub>
                        <m:sSubPr>
                          <m:ctrlPr>
                            <a:rPr lang="sv-SE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sv-SE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sv-SE" sz="16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sv-SE" sz="1600" dirty="0" err="1"/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1897" y="4305604"/>
                <a:ext cx="2006318" cy="352982"/>
              </a:xfrm>
              <a:prstGeom prst="rect">
                <a:avLst/>
              </a:prstGeom>
              <a:blipFill>
                <a:blip r:embed="rId7"/>
                <a:stretch>
                  <a:fillRect l="-3040" r="-608" b="-1724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7386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27086"/>
            <a:ext cx="7560840" cy="647700"/>
          </a:xfrm>
        </p:spPr>
        <p:txBody>
          <a:bodyPr/>
          <a:lstStyle/>
          <a:p>
            <a:pPr algn="ctr"/>
            <a:r>
              <a:rPr lang="en-US" sz="2800" dirty="0" smtClean="0"/>
              <a:t>Validation by Double Pulse Test  </a:t>
            </a:r>
            <a:endParaRPr lang="sv-SE" dirty="0"/>
          </a:p>
        </p:txBody>
      </p:sp>
      <p:sp>
        <p:nvSpPr>
          <p:cNvPr id="2" name="Rectangle 1"/>
          <p:cNvSpPr/>
          <p:nvPr/>
        </p:nvSpPr>
        <p:spPr>
          <a:xfrm>
            <a:off x="899592" y="987574"/>
            <a:ext cx="756084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Söhne"/>
              </a:rPr>
              <a:t>Objective</a:t>
            </a:r>
            <a:r>
              <a:rPr lang="en-US" dirty="0">
                <a:solidFill>
                  <a:srgbClr val="374151"/>
                </a:solidFill>
                <a:latin typeface="Söhne"/>
              </a:rPr>
              <a:t>: The primary objective of the double pulse test is to measure </a:t>
            </a:r>
            <a:r>
              <a:rPr lang="en-US" dirty="0" smtClean="0">
                <a:solidFill>
                  <a:srgbClr val="374151"/>
                </a:solidFill>
                <a:latin typeface="Söhne"/>
              </a:rPr>
              <a:t>the </a:t>
            </a:r>
            <a:r>
              <a:rPr lang="en-US" dirty="0">
                <a:solidFill>
                  <a:srgbClr val="374151"/>
                </a:solidFill>
                <a:latin typeface="Söhne"/>
              </a:rPr>
              <a:t>switching </a:t>
            </a:r>
            <a:r>
              <a:rPr lang="en-US" dirty="0" smtClean="0">
                <a:solidFill>
                  <a:srgbClr val="374151"/>
                </a:solidFill>
                <a:latin typeface="Söhne"/>
              </a:rPr>
              <a:t>behavior and </a:t>
            </a:r>
            <a:r>
              <a:rPr lang="en-US" dirty="0" smtClean="0">
                <a:solidFill>
                  <a:srgbClr val="374151"/>
                </a:solidFill>
                <a:latin typeface="Söhne"/>
              </a:rPr>
              <a:t>compare/validate </a:t>
            </a:r>
            <a:r>
              <a:rPr lang="en-US" dirty="0" smtClean="0">
                <a:solidFill>
                  <a:srgbClr val="374151"/>
                </a:solidFill>
                <a:latin typeface="Söhne"/>
              </a:rPr>
              <a:t>the theoretical calculation. </a:t>
            </a:r>
            <a:endParaRPr lang="sv-SE" dirty="0"/>
          </a:p>
        </p:txBody>
      </p:sp>
      <p:sp>
        <p:nvSpPr>
          <p:cNvPr id="6" name="Rectangle 5"/>
          <p:cNvSpPr/>
          <p:nvPr/>
        </p:nvSpPr>
        <p:spPr>
          <a:xfrm>
            <a:off x="899592" y="1608193"/>
            <a:ext cx="7416824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Söhne"/>
              </a:rPr>
              <a:t>Setup</a:t>
            </a:r>
            <a:r>
              <a:rPr lang="en-US" dirty="0">
                <a:solidFill>
                  <a:srgbClr val="374151"/>
                </a:solidFill>
                <a:latin typeface="Söhne"/>
              </a:rPr>
              <a:t>: To perform a double pulse test, </a:t>
            </a:r>
            <a:r>
              <a:rPr lang="en-US" dirty="0" smtClean="0">
                <a:solidFill>
                  <a:srgbClr val="374151"/>
                </a:solidFill>
                <a:latin typeface="Söhne"/>
              </a:rPr>
              <a:t>we need a half-bridge module, a gate driver, a pulse </a:t>
            </a:r>
            <a:r>
              <a:rPr lang="en-US" dirty="0">
                <a:solidFill>
                  <a:srgbClr val="374151"/>
                </a:solidFill>
                <a:latin typeface="Söhne"/>
              </a:rPr>
              <a:t>generator</a:t>
            </a:r>
            <a:r>
              <a:rPr lang="en-US" dirty="0" smtClean="0">
                <a:solidFill>
                  <a:srgbClr val="374151"/>
                </a:solidFill>
                <a:latin typeface="Söhne"/>
              </a:rPr>
              <a:t>, DC-link capacitance, </a:t>
            </a:r>
            <a:r>
              <a:rPr lang="en-US" dirty="0">
                <a:solidFill>
                  <a:srgbClr val="374151"/>
                </a:solidFill>
                <a:latin typeface="Söhne"/>
              </a:rPr>
              <a:t>and </a:t>
            </a:r>
            <a:r>
              <a:rPr lang="en-US" dirty="0" smtClean="0">
                <a:solidFill>
                  <a:srgbClr val="374151"/>
                </a:solidFill>
                <a:latin typeface="Söhne"/>
              </a:rPr>
              <a:t>load inductance. </a:t>
            </a:r>
            <a:endParaRPr lang="sv-SE" dirty="0"/>
          </a:p>
        </p:txBody>
      </p:sp>
      <p:pic>
        <p:nvPicPr>
          <p:cNvPr id="1026" name="Picture 2" descr="https://www.powerelectronictips.com/wp-content/uploads/2022/02/GaN-testing-challenges-Figure-1-1024x803.jpg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2355726"/>
            <a:ext cx="2525126" cy="1980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498" y="2418135"/>
            <a:ext cx="2614865" cy="157735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996755" y="3475900"/>
            <a:ext cx="2521417" cy="11310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Söhne"/>
              </a:rPr>
              <a:t>Second </a:t>
            </a:r>
            <a:r>
              <a:rPr lang="en-US" b="1" dirty="0">
                <a:latin typeface="Söhne"/>
              </a:rPr>
              <a:t>Pulse (Turn-On</a:t>
            </a:r>
            <a:r>
              <a:rPr lang="en-US" b="1" dirty="0" smtClean="0">
                <a:latin typeface="Söhne"/>
              </a:rPr>
              <a:t>) </a:t>
            </a:r>
            <a:r>
              <a:rPr lang="en-US" dirty="0" smtClean="0">
                <a:solidFill>
                  <a:srgbClr val="374151"/>
                </a:solidFill>
                <a:latin typeface="Söhne"/>
              </a:rPr>
              <a:t>: </a:t>
            </a:r>
            <a:r>
              <a:rPr lang="en-US" dirty="0" smtClean="0"/>
              <a:t>to </a:t>
            </a:r>
            <a:r>
              <a:rPr lang="en-US" dirty="0"/>
              <a:t>switch from off to on (turn-on time), the voltage rise time, and any overshoot or ringing in the voltage waveform</a:t>
            </a:r>
            <a:endParaRPr lang="sv-SE" dirty="0"/>
          </a:p>
        </p:txBody>
      </p:sp>
      <p:sp>
        <p:nvSpPr>
          <p:cNvPr id="24" name="Rectangle 23"/>
          <p:cNvSpPr/>
          <p:nvPr/>
        </p:nvSpPr>
        <p:spPr>
          <a:xfrm>
            <a:off x="5985759" y="2410632"/>
            <a:ext cx="2521417" cy="7155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Söhne"/>
              </a:rPr>
              <a:t>First </a:t>
            </a:r>
            <a:r>
              <a:rPr lang="en-US" b="1" dirty="0">
                <a:latin typeface="Söhne"/>
              </a:rPr>
              <a:t>Pulse (Turn-Off)</a:t>
            </a:r>
            <a:r>
              <a:rPr lang="en-US" dirty="0">
                <a:solidFill>
                  <a:srgbClr val="374151"/>
                </a:solidFill>
                <a:latin typeface="Söhne"/>
              </a:rPr>
              <a:t>: </a:t>
            </a:r>
            <a:r>
              <a:rPr lang="en-US" dirty="0"/>
              <a:t>turn-off time, voltage fall time, and any voltage spikes or ringing.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5553107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27086"/>
            <a:ext cx="7560840" cy="647700"/>
          </a:xfrm>
        </p:spPr>
        <p:txBody>
          <a:bodyPr/>
          <a:lstStyle/>
          <a:p>
            <a:pPr algn="ctr"/>
            <a:r>
              <a:rPr lang="en-US" sz="2800" dirty="0" smtClean="0"/>
              <a:t>Double </a:t>
            </a:r>
            <a:r>
              <a:rPr lang="en-US" sz="2800" dirty="0" smtClean="0"/>
              <a:t>Pulse </a:t>
            </a:r>
            <a:r>
              <a:rPr lang="en-US" sz="2800" dirty="0" smtClean="0"/>
              <a:t>Test</a:t>
            </a:r>
            <a:endParaRPr lang="sv-S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l="4026" r="-639"/>
          <a:stretch/>
        </p:blipFill>
        <p:spPr>
          <a:xfrm>
            <a:off x="107504" y="1333915"/>
            <a:ext cx="5184576" cy="243474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4855" y="2734046"/>
            <a:ext cx="2452756" cy="16561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8401" y="1381709"/>
            <a:ext cx="2932633" cy="16659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355324" y="997568"/>
            <a:ext cx="243207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 smtClean="0"/>
              <a:t>Ideal parts and waveforms</a:t>
            </a:r>
            <a:endParaRPr lang="sv-SE" b="1" dirty="0"/>
          </a:p>
        </p:txBody>
      </p:sp>
      <p:sp>
        <p:nvSpPr>
          <p:cNvPr id="14" name="Rectangle 13"/>
          <p:cNvSpPr/>
          <p:nvPr/>
        </p:nvSpPr>
        <p:spPr>
          <a:xfrm>
            <a:off x="5868144" y="1091454"/>
            <a:ext cx="202331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 err="1" smtClean="0"/>
              <a:t>Parasitics</a:t>
            </a:r>
            <a:r>
              <a:rPr lang="en-US" sz="1400" b="1" dirty="0" smtClean="0"/>
              <a:t> and affects</a:t>
            </a:r>
            <a:endParaRPr lang="sv-SE" b="1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9348" y="2931790"/>
            <a:ext cx="2736304" cy="1849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1236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27086"/>
            <a:ext cx="7560840" cy="647700"/>
          </a:xfrm>
        </p:spPr>
        <p:txBody>
          <a:bodyPr/>
          <a:lstStyle/>
          <a:p>
            <a:pPr algn="ctr"/>
            <a:r>
              <a:rPr lang="en-US" sz="2800" dirty="0" smtClean="0"/>
              <a:t>Inductor Selection</a:t>
            </a:r>
            <a:endParaRPr lang="sv-SE" dirty="0"/>
          </a:p>
        </p:txBody>
      </p:sp>
      <p:sp>
        <p:nvSpPr>
          <p:cNvPr id="7" name="Rectangle 6"/>
          <p:cNvSpPr/>
          <p:nvPr/>
        </p:nvSpPr>
        <p:spPr>
          <a:xfrm>
            <a:off x="827584" y="987574"/>
            <a:ext cx="6511895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/>
              <a:t>The </a:t>
            </a:r>
            <a:r>
              <a:rPr lang="sv-SE" dirty="0" err="1"/>
              <a:t>key</a:t>
            </a:r>
            <a:r>
              <a:rPr lang="sv-SE" dirty="0"/>
              <a:t> </a:t>
            </a:r>
            <a:r>
              <a:rPr lang="sv-SE" dirty="0" err="1"/>
              <a:t>considerations</a:t>
            </a:r>
            <a:r>
              <a:rPr lang="sv-SE" dirty="0"/>
              <a:t> for the </a:t>
            </a:r>
            <a:r>
              <a:rPr lang="sv-SE" dirty="0" err="1"/>
              <a:t>selection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this</a:t>
            </a:r>
            <a:r>
              <a:rPr lang="sv-SE" dirty="0"/>
              <a:t> </a:t>
            </a:r>
            <a:r>
              <a:rPr lang="sv-SE" dirty="0" err="1"/>
              <a:t>inductor</a:t>
            </a:r>
            <a:r>
              <a:rPr lang="sv-SE" dirty="0"/>
              <a:t> </a:t>
            </a:r>
            <a:r>
              <a:rPr lang="sv-SE" dirty="0" err="1" smtClean="0"/>
              <a:t>include</a:t>
            </a:r>
            <a:r>
              <a:rPr lang="sv-SE" dirty="0" smtClean="0"/>
              <a:t>: </a:t>
            </a:r>
            <a:endParaRPr lang="sv-SE" dirty="0"/>
          </a:p>
        </p:txBody>
      </p:sp>
      <p:sp>
        <p:nvSpPr>
          <p:cNvPr id="8" name="Rectangle 7"/>
          <p:cNvSpPr/>
          <p:nvPr/>
        </p:nvSpPr>
        <p:spPr>
          <a:xfrm>
            <a:off x="633524" y="1287656"/>
            <a:ext cx="8092976" cy="19620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sv-SE" dirty="0"/>
              <a:t>It </a:t>
            </a:r>
            <a:r>
              <a:rPr lang="sv-SE" dirty="0" err="1"/>
              <a:t>should</a:t>
            </a:r>
            <a:r>
              <a:rPr lang="sv-SE" dirty="0"/>
              <a:t> not </a:t>
            </a:r>
            <a:r>
              <a:rPr lang="sv-SE" dirty="0" err="1"/>
              <a:t>saturate</a:t>
            </a:r>
            <a:r>
              <a:rPr lang="sv-SE" dirty="0"/>
              <a:t> at the </a:t>
            </a:r>
            <a:r>
              <a:rPr lang="sv-SE" dirty="0" err="1"/>
              <a:t>peak</a:t>
            </a:r>
            <a:r>
              <a:rPr lang="sv-SE" dirty="0"/>
              <a:t> test </a:t>
            </a:r>
            <a:r>
              <a:rPr lang="sv-SE" dirty="0" err="1"/>
              <a:t>currents</a:t>
            </a:r>
            <a:r>
              <a:rPr lang="sv-SE" dirty="0" smtClean="0"/>
              <a:t>. (Air </a:t>
            </a:r>
            <a:r>
              <a:rPr lang="sv-SE" dirty="0" err="1" smtClean="0"/>
              <a:t>core</a:t>
            </a:r>
            <a:r>
              <a:rPr lang="sv-SE" dirty="0" smtClean="0"/>
              <a:t> </a:t>
            </a:r>
            <a:r>
              <a:rPr lang="sv-SE" dirty="0" err="1" smtClean="0"/>
              <a:t>inductors</a:t>
            </a:r>
            <a:r>
              <a:rPr lang="sv-SE" dirty="0" smtClean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sv-SE" dirty="0" smtClean="0"/>
              <a:t>It </a:t>
            </a:r>
            <a:r>
              <a:rPr lang="sv-SE" dirty="0" err="1"/>
              <a:t>should</a:t>
            </a:r>
            <a:r>
              <a:rPr lang="sv-SE" dirty="0"/>
              <a:t> limit the di/dt so </a:t>
            </a:r>
            <a:r>
              <a:rPr lang="sv-SE" dirty="0" err="1"/>
              <a:t>that</a:t>
            </a:r>
            <a:r>
              <a:rPr lang="sv-SE" dirty="0"/>
              <a:t> the </a:t>
            </a:r>
            <a:r>
              <a:rPr lang="sv-SE" dirty="0" err="1"/>
              <a:t>switching</a:t>
            </a:r>
            <a:r>
              <a:rPr lang="sv-SE" dirty="0"/>
              <a:t> </a:t>
            </a:r>
            <a:r>
              <a:rPr lang="sv-SE" dirty="0" err="1"/>
              <a:t>times</a:t>
            </a:r>
            <a:r>
              <a:rPr lang="sv-SE" dirty="0"/>
              <a:t> (T1, T2 and </a:t>
            </a:r>
            <a:r>
              <a:rPr lang="sv-SE" dirty="0" smtClean="0"/>
              <a:t>T3) </a:t>
            </a:r>
            <a:r>
              <a:rPr lang="sv-SE" dirty="0" err="1"/>
              <a:t>are</a:t>
            </a:r>
            <a:r>
              <a:rPr lang="sv-SE" dirty="0"/>
              <a:t> not less </a:t>
            </a:r>
            <a:r>
              <a:rPr lang="sv-SE" dirty="0" err="1"/>
              <a:t>than</a:t>
            </a:r>
            <a:r>
              <a:rPr lang="sv-SE" dirty="0"/>
              <a:t> 10 </a:t>
            </a:r>
            <a:r>
              <a:rPr lang="sv-SE" dirty="0" err="1"/>
              <a:t>μs</a:t>
            </a:r>
            <a:r>
              <a:rPr lang="sv-SE" dirty="0"/>
              <a:t>, to </a:t>
            </a:r>
            <a:r>
              <a:rPr lang="sv-SE" dirty="0" err="1"/>
              <a:t>ensure</a:t>
            </a:r>
            <a:r>
              <a:rPr lang="sv-SE" dirty="0"/>
              <a:t> the </a:t>
            </a:r>
            <a:r>
              <a:rPr lang="sv-SE" dirty="0" err="1"/>
              <a:t>devices</a:t>
            </a:r>
            <a:r>
              <a:rPr lang="sv-SE" dirty="0"/>
              <a:t> </a:t>
            </a:r>
            <a:r>
              <a:rPr lang="sv-SE" dirty="0" err="1"/>
              <a:t>have</a:t>
            </a:r>
            <a:r>
              <a:rPr lang="sv-SE" dirty="0"/>
              <a:t> </a:t>
            </a:r>
            <a:r>
              <a:rPr lang="sv-SE" dirty="0" err="1"/>
              <a:t>fully</a:t>
            </a:r>
            <a:r>
              <a:rPr lang="sv-SE" dirty="0"/>
              <a:t> </a:t>
            </a:r>
            <a:r>
              <a:rPr lang="sv-SE" dirty="0" err="1"/>
              <a:t>turned</a:t>
            </a:r>
            <a:r>
              <a:rPr lang="sv-SE" dirty="0"/>
              <a:t> on or off. </a:t>
            </a:r>
            <a:endParaRPr lang="sv-SE" dirty="0" smtClean="0"/>
          </a:p>
          <a:p>
            <a:pPr marL="342900" indent="-342900">
              <a:buFont typeface="+mj-lt"/>
              <a:buAutoNum type="arabicPeriod"/>
            </a:pPr>
            <a:r>
              <a:rPr lang="sv-SE" dirty="0" smtClean="0"/>
              <a:t>The </a:t>
            </a:r>
            <a:r>
              <a:rPr lang="sv-SE" dirty="0"/>
              <a:t>di/dt </a:t>
            </a:r>
            <a:r>
              <a:rPr lang="sv-SE" dirty="0" err="1"/>
              <a:t>should</a:t>
            </a:r>
            <a:r>
              <a:rPr lang="sv-SE" dirty="0"/>
              <a:t> not be so </a:t>
            </a:r>
            <a:r>
              <a:rPr lang="sv-SE" dirty="0" err="1"/>
              <a:t>low</a:t>
            </a:r>
            <a:r>
              <a:rPr lang="sv-SE" dirty="0"/>
              <a:t> </a:t>
            </a:r>
            <a:r>
              <a:rPr lang="sv-SE" dirty="0" err="1"/>
              <a:t>that</a:t>
            </a:r>
            <a:r>
              <a:rPr lang="sv-SE" dirty="0"/>
              <a:t> the </a:t>
            </a:r>
            <a:r>
              <a:rPr lang="sv-SE" dirty="0" err="1"/>
              <a:t>switching</a:t>
            </a:r>
            <a:r>
              <a:rPr lang="sv-SE" dirty="0"/>
              <a:t> </a:t>
            </a:r>
            <a:r>
              <a:rPr lang="sv-SE" dirty="0" err="1"/>
              <a:t>times</a:t>
            </a:r>
            <a:r>
              <a:rPr lang="sv-SE" dirty="0"/>
              <a:t> </a:t>
            </a:r>
            <a:r>
              <a:rPr lang="sv-SE" dirty="0" err="1"/>
              <a:t>are</a:t>
            </a:r>
            <a:r>
              <a:rPr lang="sv-SE" dirty="0"/>
              <a:t> </a:t>
            </a:r>
            <a:r>
              <a:rPr lang="sv-SE" dirty="0" err="1"/>
              <a:t>longer</a:t>
            </a:r>
            <a:r>
              <a:rPr lang="sv-SE" dirty="0"/>
              <a:t> </a:t>
            </a:r>
            <a:r>
              <a:rPr lang="sv-SE" dirty="0" err="1"/>
              <a:t>than</a:t>
            </a:r>
            <a:r>
              <a:rPr lang="sv-SE" dirty="0"/>
              <a:t> 200 </a:t>
            </a:r>
            <a:r>
              <a:rPr lang="sv-SE" dirty="0" err="1"/>
              <a:t>μS</a:t>
            </a:r>
            <a:r>
              <a:rPr lang="sv-SE" dirty="0"/>
              <a:t> so as not to cause the DC bus </a:t>
            </a:r>
            <a:r>
              <a:rPr lang="sv-SE" dirty="0" err="1"/>
              <a:t>voltage</a:t>
            </a:r>
            <a:r>
              <a:rPr lang="sv-SE" dirty="0"/>
              <a:t> to dip by </a:t>
            </a:r>
            <a:r>
              <a:rPr lang="sv-SE" dirty="0" err="1"/>
              <a:t>more</a:t>
            </a:r>
            <a:r>
              <a:rPr lang="sv-SE" dirty="0"/>
              <a:t> </a:t>
            </a:r>
            <a:r>
              <a:rPr lang="sv-SE" dirty="0" err="1"/>
              <a:t>than</a:t>
            </a:r>
            <a:r>
              <a:rPr lang="sv-SE" dirty="0"/>
              <a:t> ≈5 </a:t>
            </a:r>
            <a:r>
              <a:rPr lang="sv-SE" dirty="0" err="1"/>
              <a:t>percent</a:t>
            </a:r>
            <a:r>
              <a:rPr lang="sv-SE" dirty="0"/>
              <a:t>, and so </a:t>
            </a:r>
            <a:r>
              <a:rPr lang="sv-SE" dirty="0" err="1"/>
              <a:t>change</a:t>
            </a:r>
            <a:r>
              <a:rPr lang="sv-SE" dirty="0"/>
              <a:t> the </a:t>
            </a:r>
            <a:r>
              <a:rPr lang="sv-SE" dirty="0" err="1"/>
              <a:t>switching</a:t>
            </a:r>
            <a:r>
              <a:rPr lang="sv-SE" dirty="0"/>
              <a:t> </a:t>
            </a:r>
            <a:r>
              <a:rPr lang="sv-SE" dirty="0" err="1"/>
              <a:t>performance</a:t>
            </a:r>
            <a:r>
              <a:rPr lang="sv-SE" dirty="0"/>
              <a:t>. In addition, </a:t>
            </a:r>
            <a:r>
              <a:rPr lang="sv-SE" dirty="0" err="1"/>
              <a:t>if</a:t>
            </a:r>
            <a:r>
              <a:rPr lang="sv-SE" dirty="0"/>
              <a:t> the </a:t>
            </a:r>
            <a:r>
              <a:rPr lang="sv-SE" dirty="0" err="1"/>
              <a:t>current</a:t>
            </a:r>
            <a:r>
              <a:rPr lang="sv-SE" dirty="0"/>
              <a:t> </a:t>
            </a:r>
            <a:r>
              <a:rPr lang="sv-SE" dirty="0" err="1"/>
              <a:t>pulse</a:t>
            </a:r>
            <a:r>
              <a:rPr lang="sv-SE" dirty="0"/>
              <a:t> is long, </a:t>
            </a:r>
            <a:r>
              <a:rPr lang="sv-SE" dirty="0" err="1"/>
              <a:t>then</a:t>
            </a:r>
            <a:r>
              <a:rPr lang="sv-SE" dirty="0"/>
              <a:t> the chip </a:t>
            </a:r>
            <a:r>
              <a:rPr lang="sv-SE" dirty="0" err="1"/>
              <a:t>temperature</a:t>
            </a:r>
            <a:r>
              <a:rPr lang="sv-SE" dirty="0"/>
              <a:t> </a:t>
            </a:r>
            <a:r>
              <a:rPr lang="sv-SE" dirty="0" err="1"/>
              <a:t>can</a:t>
            </a:r>
            <a:r>
              <a:rPr lang="sv-SE" dirty="0"/>
              <a:t> </a:t>
            </a:r>
            <a:r>
              <a:rPr lang="sv-SE" dirty="0" err="1"/>
              <a:t>increase</a:t>
            </a:r>
            <a:r>
              <a:rPr lang="sv-SE" dirty="0"/>
              <a:t> by </a:t>
            </a:r>
            <a:r>
              <a:rPr lang="sv-SE" dirty="0" err="1"/>
              <a:t>more</a:t>
            </a:r>
            <a:r>
              <a:rPr lang="sv-SE" dirty="0"/>
              <a:t> </a:t>
            </a:r>
            <a:r>
              <a:rPr lang="sv-SE" dirty="0" err="1"/>
              <a:t>than</a:t>
            </a:r>
            <a:r>
              <a:rPr lang="sv-SE" dirty="0"/>
              <a:t> a </a:t>
            </a:r>
            <a:r>
              <a:rPr lang="sv-SE" dirty="0" err="1"/>
              <a:t>few</a:t>
            </a:r>
            <a:r>
              <a:rPr lang="sv-SE" dirty="0"/>
              <a:t> °C, </a:t>
            </a:r>
            <a:r>
              <a:rPr lang="sv-SE" dirty="0" err="1"/>
              <a:t>again</a:t>
            </a:r>
            <a:r>
              <a:rPr lang="sv-SE" dirty="0"/>
              <a:t> </a:t>
            </a:r>
            <a:r>
              <a:rPr lang="sv-SE" dirty="0" err="1"/>
              <a:t>affecting</a:t>
            </a:r>
            <a:r>
              <a:rPr lang="sv-SE" dirty="0"/>
              <a:t> the </a:t>
            </a:r>
            <a:r>
              <a:rPr lang="sv-SE" dirty="0" err="1"/>
              <a:t>switching</a:t>
            </a:r>
            <a:r>
              <a:rPr lang="sv-SE" dirty="0"/>
              <a:t> </a:t>
            </a:r>
            <a:r>
              <a:rPr lang="sv-SE" dirty="0" err="1"/>
              <a:t>performance</a:t>
            </a:r>
            <a:r>
              <a:rPr lang="sv-SE" dirty="0"/>
              <a:t>. </a:t>
            </a:r>
            <a:endParaRPr lang="sv-SE" dirty="0" smtClean="0"/>
          </a:p>
          <a:p>
            <a:pPr marL="342900" indent="-342900">
              <a:buFont typeface="+mj-lt"/>
              <a:buAutoNum type="arabicPeriod"/>
            </a:pPr>
            <a:r>
              <a:rPr lang="sv-SE" dirty="0" smtClean="0"/>
              <a:t>The </a:t>
            </a:r>
            <a:r>
              <a:rPr lang="sv-SE" dirty="0" err="1"/>
              <a:t>inductor</a:t>
            </a:r>
            <a:r>
              <a:rPr lang="sv-SE" dirty="0"/>
              <a:t> </a:t>
            </a:r>
            <a:r>
              <a:rPr lang="sv-SE" dirty="0" err="1"/>
              <a:t>should</a:t>
            </a:r>
            <a:r>
              <a:rPr lang="sv-SE" dirty="0"/>
              <a:t> be </a:t>
            </a:r>
            <a:r>
              <a:rPr lang="sv-SE" dirty="0" err="1"/>
              <a:t>mounted</a:t>
            </a:r>
            <a:r>
              <a:rPr lang="sv-SE" dirty="0"/>
              <a:t> </a:t>
            </a:r>
            <a:r>
              <a:rPr lang="sv-SE" dirty="0" err="1"/>
              <a:t>well</a:t>
            </a:r>
            <a:r>
              <a:rPr lang="sv-SE" dirty="0"/>
              <a:t> </a:t>
            </a:r>
            <a:r>
              <a:rPr lang="sv-SE" dirty="0" err="1"/>
              <a:t>away</a:t>
            </a:r>
            <a:r>
              <a:rPr lang="sv-SE" dirty="0"/>
              <a:t> from the test setup to </a:t>
            </a:r>
            <a:r>
              <a:rPr lang="sv-SE" dirty="0" err="1"/>
              <a:t>prevent</a:t>
            </a:r>
            <a:r>
              <a:rPr lang="sv-SE" dirty="0"/>
              <a:t> EMI </a:t>
            </a:r>
            <a:r>
              <a:rPr lang="sv-SE" dirty="0" err="1"/>
              <a:t>interference</a:t>
            </a:r>
            <a:r>
              <a:rPr lang="sv-SE" dirty="0"/>
              <a:t> or </a:t>
            </a:r>
            <a:r>
              <a:rPr lang="sv-SE" dirty="0" err="1"/>
              <a:t>magnetic</a:t>
            </a:r>
            <a:r>
              <a:rPr lang="sv-SE" dirty="0"/>
              <a:t> </a:t>
            </a:r>
            <a:r>
              <a:rPr lang="sv-SE" dirty="0" err="1"/>
              <a:t>field</a:t>
            </a:r>
            <a:r>
              <a:rPr lang="sv-SE" dirty="0"/>
              <a:t> </a:t>
            </a:r>
            <a:r>
              <a:rPr lang="sv-SE" dirty="0" err="1"/>
              <a:t>coupling</a:t>
            </a:r>
            <a:r>
              <a:rPr lang="sv-SE" dirty="0"/>
              <a:t> </a:t>
            </a:r>
            <a:r>
              <a:rPr lang="sv-SE" dirty="0" err="1"/>
              <a:t>into</a:t>
            </a:r>
            <a:r>
              <a:rPr lang="sv-SE" dirty="0"/>
              <a:t> </a:t>
            </a:r>
            <a:r>
              <a:rPr lang="sv-SE" dirty="0" err="1"/>
              <a:t>any</a:t>
            </a:r>
            <a:r>
              <a:rPr lang="sv-SE" dirty="0"/>
              <a:t> gate drive </a:t>
            </a:r>
            <a:r>
              <a:rPr lang="sv-SE" dirty="0" err="1"/>
              <a:t>circuits</a:t>
            </a:r>
            <a:r>
              <a:rPr lang="sv-SE" dirty="0"/>
              <a:t> or instrumentation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848" y="3291830"/>
            <a:ext cx="2089443" cy="1405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84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27086"/>
            <a:ext cx="7560840" cy="647700"/>
          </a:xfrm>
        </p:spPr>
        <p:txBody>
          <a:bodyPr/>
          <a:lstStyle/>
          <a:p>
            <a:pPr algn="ctr"/>
            <a:r>
              <a:rPr lang="en-US" sz="2800" dirty="0"/>
              <a:t>Instrumentation</a:t>
            </a:r>
            <a:endParaRPr lang="sv-SE" dirty="0"/>
          </a:p>
        </p:txBody>
      </p:sp>
      <p:sp>
        <p:nvSpPr>
          <p:cNvPr id="7" name="Rectangle 6"/>
          <p:cNvSpPr/>
          <p:nvPr/>
        </p:nvSpPr>
        <p:spPr>
          <a:xfrm>
            <a:off x="827584" y="987574"/>
            <a:ext cx="7560840" cy="13388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We need some </a:t>
            </a:r>
            <a:r>
              <a:rPr lang="en-US" dirty="0"/>
              <a:t>techniques to reduce loop inductance and coupling in the measurement path and how some turns around a ferrite core can add common mode impedance to the </a:t>
            </a:r>
            <a:r>
              <a:rPr lang="en-US" dirty="0" smtClean="0"/>
              <a:t>measurement </a:t>
            </a:r>
            <a:r>
              <a:rPr lang="en-US" dirty="0"/>
              <a:t>signal. 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To </a:t>
            </a:r>
            <a:r>
              <a:rPr lang="en-US" dirty="0"/>
              <a:t>measure voltages at </a:t>
            </a:r>
            <a:r>
              <a:rPr lang="en-US" dirty="0" err="1" smtClean="0"/>
              <a:t>nonground</a:t>
            </a:r>
            <a:r>
              <a:rPr lang="en-US" dirty="0" smtClean="0"/>
              <a:t> </a:t>
            </a:r>
            <a:r>
              <a:rPr lang="en-US" dirty="0"/>
              <a:t>reference potentials, differential probes are required and should be selected with a high common mode rejection ratio, as the DUT can be moving at very high dv/</a:t>
            </a:r>
            <a:r>
              <a:rPr lang="en-US" dirty="0" err="1"/>
              <a:t>dt</a:t>
            </a:r>
            <a:r>
              <a:rPr lang="en-US" dirty="0"/>
              <a:t> levels with respect to the scope ground.</a:t>
            </a:r>
            <a:endParaRPr lang="sv-SE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2800225"/>
            <a:ext cx="2761879" cy="1451897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096" y="2577863"/>
            <a:ext cx="2166853" cy="181523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11560" y="4393097"/>
            <a:ext cx="4572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sv-SE" sz="1050" dirty="0" err="1"/>
              <a:t>Voltage</a:t>
            </a:r>
            <a:r>
              <a:rPr lang="sv-SE" sz="1050" dirty="0"/>
              <a:t> </a:t>
            </a:r>
            <a:r>
              <a:rPr lang="sv-SE" sz="1050" dirty="0" err="1"/>
              <a:t>probe</a:t>
            </a:r>
            <a:r>
              <a:rPr lang="sv-SE" sz="1050" dirty="0"/>
              <a:t> </a:t>
            </a:r>
            <a:r>
              <a:rPr lang="sv-SE" sz="1050" dirty="0" err="1"/>
              <a:t>tip</a:t>
            </a:r>
            <a:r>
              <a:rPr lang="sv-SE" sz="1050" dirty="0"/>
              <a:t> to </a:t>
            </a:r>
            <a:r>
              <a:rPr lang="sv-SE" sz="1050" dirty="0" err="1"/>
              <a:t>reduce</a:t>
            </a:r>
            <a:r>
              <a:rPr lang="sv-SE" sz="1050" dirty="0"/>
              <a:t> </a:t>
            </a:r>
            <a:r>
              <a:rPr lang="sv-SE" sz="1050" dirty="0" err="1"/>
              <a:t>inductance</a:t>
            </a:r>
            <a:r>
              <a:rPr lang="sv-SE" sz="1050" dirty="0"/>
              <a:t> in </a:t>
            </a:r>
            <a:r>
              <a:rPr lang="sv-SE" sz="1050" dirty="0" err="1"/>
              <a:t>measurement</a:t>
            </a:r>
            <a:r>
              <a:rPr lang="sv-SE" sz="1050" dirty="0"/>
              <a:t>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4788024" y="4393097"/>
            <a:ext cx="4572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sv-SE" sz="1050" dirty="0" err="1"/>
              <a:t>Voltage</a:t>
            </a:r>
            <a:r>
              <a:rPr lang="sv-SE" sz="1050" dirty="0"/>
              <a:t> </a:t>
            </a:r>
            <a:r>
              <a:rPr lang="sv-SE" sz="1050" dirty="0" err="1"/>
              <a:t>probe</a:t>
            </a:r>
            <a:r>
              <a:rPr lang="sv-SE" sz="1050" dirty="0"/>
              <a:t> </a:t>
            </a:r>
            <a:r>
              <a:rPr lang="sv-SE" sz="1050" dirty="0" err="1"/>
              <a:t>with</a:t>
            </a:r>
            <a:r>
              <a:rPr lang="sv-SE" sz="1050" dirty="0"/>
              <a:t> </a:t>
            </a:r>
            <a:r>
              <a:rPr lang="sv-SE" sz="1050" dirty="0" err="1"/>
              <a:t>some</a:t>
            </a:r>
            <a:r>
              <a:rPr lang="sv-SE" sz="1050" dirty="0"/>
              <a:t> </a:t>
            </a:r>
            <a:r>
              <a:rPr lang="sv-SE" sz="1050" dirty="0" err="1"/>
              <a:t>added</a:t>
            </a:r>
            <a:r>
              <a:rPr lang="sv-SE" sz="1050" dirty="0"/>
              <a:t> common mode </a:t>
            </a:r>
            <a:r>
              <a:rPr lang="sv-SE" sz="1050" dirty="0" err="1"/>
              <a:t>impedance</a:t>
            </a:r>
            <a:endParaRPr lang="sv-SE" sz="1050" dirty="0"/>
          </a:p>
        </p:txBody>
      </p:sp>
    </p:spTree>
    <p:extLst>
      <p:ext uri="{BB962C8B-B14F-4D97-AF65-F5344CB8AC3E}">
        <p14:creationId xmlns:p14="http://schemas.microsoft.com/office/powerpoint/2010/main" val="253347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27086"/>
            <a:ext cx="7560840" cy="647700"/>
          </a:xfrm>
        </p:spPr>
        <p:txBody>
          <a:bodyPr/>
          <a:lstStyle/>
          <a:p>
            <a:pPr algn="ctr"/>
            <a:r>
              <a:rPr lang="en-US" sz="2800" dirty="0"/>
              <a:t>Instrumentation</a:t>
            </a:r>
            <a:endParaRPr lang="sv-SE" dirty="0"/>
          </a:p>
        </p:txBody>
      </p:sp>
      <p:sp>
        <p:nvSpPr>
          <p:cNvPr id="7" name="Rectangle 6"/>
          <p:cNvSpPr/>
          <p:nvPr/>
        </p:nvSpPr>
        <p:spPr>
          <a:xfrm>
            <a:off x="827584" y="987574"/>
            <a:ext cx="756084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measure the actual device switching current, a current sensor must be inserted into the </a:t>
            </a:r>
            <a:r>
              <a:rPr lang="en-US" dirty="0" smtClean="0"/>
              <a:t>source/drain </a:t>
            </a:r>
            <a:r>
              <a:rPr lang="en-US" dirty="0"/>
              <a:t>of the DUT</a:t>
            </a:r>
            <a:r>
              <a:rPr lang="en-US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Rogowski</a:t>
            </a:r>
            <a:r>
              <a:rPr lang="en-US" dirty="0"/>
              <a:t> </a:t>
            </a:r>
            <a:r>
              <a:rPr lang="en-US" dirty="0" smtClean="0"/>
              <a:t>coils: These </a:t>
            </a:r>
            <a:r>
              <a:rPr lang="en-US" dirty="0"/>
              <a:t>have a bandwidth of between 15-30 </a:t>
            </a:r>
            <a:r>
              <a:rPr lang="en-US" dirty="0" err="1"/>
              <a:t>Mhz</a:t>
            </a:r>
            <a:r>
              <a:rPr lang="en-US" dirty="0"/>
              <a:t> which is enough for many applications and any delay skew can be compensated for with an </a:t>
            </a:r>
            <a:r>
              <a:rPr lang="en-US" dirty="0" smtClean="0"/>
              <a:t>oscilloscope.</a:t>
            </a:r>
            <a:endParaRPr lang="sv-SE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0458" y="2211710"/>
            <a:ext cx="2039107" cy="247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04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364" y="195486"/>
            <a:ext cx="7560840" cy="647700"/>
          </a:xfrm>
        </p:spPr>
        <p:txBody>
          <a:bodyPr/>
          <a:lstStyle/>
          <a:p>
            <a:pPr algn="ctr"/>
            <a:r>
              <a:rPr lang="en-US" sz="2800" dirty="0"/>
              <a:t>What testing should be included in a </a:t>
            </a:r>
            <a:r>
              <a:rPr lang="en-US" sz="2800" dirty="0" smtClean="0"/>
              <a:t>DPT and expecte</a:t>
            </a:r>
            <a:r>
              <a:rPr lang="en-US" sz="2800" dirty="0" smtClean="0"/>
              <a:t>d results</a:t>
            </a:r>
            <a:endParaRPr lang="sv-SE" dirty="0"/>
          </a:p>
        </p:txBody>
      </p:sp>
      <p:sp>
        <p:nvSpPr>
          <p:cNvPr id="7" name="Rectangle 6"/>
          <p:cNvSpPr/>
          <p:nvPr/>
        </p:nvSpPr>
        <p:spPr>
          <a:xfrm>
            <a:off x="827584" y="987574"/>
            <a:ext cx="7560840" cy="19620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/>
              <a:t>DUT </a:t>
            </a:r>
            <a:r>
              <a:rPr lang="en-US" dirty="0"/>
              <a:t>can be switched at different </a:t>
            </a:r>
            <a:r>
              <a:rPr lang="en-US" dirty="0" smtClean="0"/>
              <a:t>voltages.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We can change the DC link voltage.</a:t>
            </a:r>
          </a:p>
          <a:p>
            <a:pPr marL="342900" indent="-342900">
              <a:buFont typeface="+mj-lt"/>
              <a:buAutoNum type="arabicPeriod"/>
            </a:pPr>
            <a:endParaRPr lang="en-US" dirty="0" smtClean="0"/>
          </a:p>
          <a:p>
            <a:pPr marL="342900" indent="-342900">
              <a:buFont typeface="+mj-lt"/>
              <a:buAutoNum type="arabicPeriod"/>
            </a:pPr>
            <a:r>
              <a:rPr lang="en-US" dirty="0" smtClean="0"/>
              <a:t>DUT </a:t>
            </a:r>
            <a:r>
              <a:rPr lang="en-US" dirty="0"/>
              <a:t>can be switched at</a:t>
            </a:r>
            <a:r>
              <a:rPr lang="en-US" dirty="0" smtClean="0"/>
              <a:t> </a:t>
            </a:r>
            <a:r>
              <a:rPr lang="en-US" dirty="0"/>
              <a:t>different </a:t>
            </a:r>
            <a:r>
              <a:rPr lang="en-US" dirty="0" smtClean="0"/>
              <a:t>currents.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dirty="0" smtClean="0"/>
              <a:t>We can change the pulse widths or inductor values. </a:t>
            </a:r>
          </a:p>
          <a:p>
            <a:pPr marL="342900" indent="-342900">
              <a:buFont typeface="+mj-lt"/>
              <a:buAutoNum type="arabicPeriod"/>
            </a:pPr>
            <a:endParaRPr lang="en-US" dirty="0" smtClean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DUT can be switched at different </a:t>
            </a:r>
            <a:r>
              <a:rPr lang="en-US" dirty="0" smtClean="0"/>
              <a:t>temperatures.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dirty="0" smtClean="0"/>
              <a:t>This </a:t>
            </a:r>
            <a:r>
              <a:rPr lang="en-US" dirty="0"/>
              <a:t>can be adjusted by mounting the DUT on a </a:t>
            </a:r>
            <a:r>
              <a:rPr lang="en-US" dirty="0" smtClean="0"/>
              <a:t>heatsink, which </a:t>
            </a:r>
            <a:r>
              <a:rPr lang="en-US" dirty="0"/>
              <a:t>can be heated or </a:t>
            </a:r>
            <a:r>
              <a:rPr lang="en-US" dirty="0" smtClean="0"/>
              <a:t>cooled</a:t>
            </a:r>
            <a:endParaRPr lang="sv-SE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2928680"/>
            <a:ext cx="4506186" cy="1944216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004" y="2928028"/>
            <a:ext cx="3650684" cy="188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472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63559-229D-724F-BBD5-623E582CF5C1}" type="datetime1">
              <a:rPr lang="sv-SE" smtClean="0"/>
              <a:t>2023-09-18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 smtClean="0"/>
              <a:t>Footer</a:t>
            </a:r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20</a:t>
            </a:fld>
            <a:endParaRPr lang="sv-SE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644008" y="1193800"/>
            <a:ext cx="4253930" cy="35409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v-SE" b="1" dirty="0" smtClean="0"/>
              <a:t>Double </a:t>
            </a:r>
            <a:r>
              <a:rPr lang="sv-SE" b="1" dirty="0" err="1" smtClean="0"/>
              <a:t>Pulse</a:t>
            </a:r>
            <a:r>
              <a:rPr lang="sv-SE" b="1" dirty="0" smtClean="0"/>
              <a:t> Test</a:t>
            </a:r>
          </a:p>
          <a:p>
            <a:pPr marL="342900" indent="-342900">
              <a:buFont typeface="+mj-lt"/>
              <a:buAutoNum type="arabicPeriod"/>
            </a:pPr>
            <a:r>
              <a:rPr lang="sv-SE" dirty="0" smtClean="0"/>
              <a:t>A </a:t>
            </a:r>
            <a:r>
              <a:rPr lang="sv-SE" dirty="0" err="1"/>
              <a:t>Low</a:t>
            </a:r>
            <a:r>
              <a:rPr lang="sv-SE" dirty="0"/>
              <a:t> </a:t>
            </a:r>
            <a:r>
              <a:rPr lang="sv-SE" dirty="0" err="1"/>
              <a:t>Inductance</a:t>
            </a:r>
            <a:r>
              <a:rPr lang="sv-SE" dirty="0"/>
              <a:t>, </a:t>
            </a:r>
            <a:r>
              <a:rPr lang="sv-SE" dirty="0" err="1"/>
              <a:t>High</a:t>
            </a:r>
            <a:r>
              <a:rPr lang="sv-SE" dirty="0"/>
              <a:t> Power </a:t>
            </a:r>
            <a:r>
              <a:rPr lang="sv-SE" dirty="0" err="1"/>
              <a:t>Density</a:t>
            </a:r>
            <a:r>
              <a:rPr lang="sv-SE" dirty="0"/>
              <a:t> 3L-TNPC Power </a:t>
            </a:r>
            <a:r>
              <a:rPr lang="sv-SE" dirty="0" err="1"/>
              <a:t>Module</a:t>
            </a:r>
            <a:r>
              <a:rPr lang="sv-SE" dirty="0"/>
              <a:t> for </a:t>
            </a:r>
            <a:r>
              <a:rPr lang="sv-SE" dirty="0" err="1"/>
              <a:t>More</a:t>
            </a:r>
            <a:r>
              <a:rPr lang="sv-SE" dirty="0"/>
              <a:t>-Electric Aircraft </a:t>
            </a:r>
            <a:r>
              <a:rPr lang="sv-SE" dirty="0" err="1" smtClean="0"/>
              <a:t>Applications</a:t>
            </a:r>
            <a:r>
              <a:rPr lang="sv-SE" dirty="0" smtClean="0"/>
              <a:t>, in IEEE </a:t>
            </a:r>
            <a:r>
              <a:rPr lang="sv-SE" dirty="0" err="1" smtClean="0"/>
              <a:t>Transactions</a:t>
            </a:r>
            <a:r>
              <a:rPr lang="sv-SE" dirty="0" smtClean="0"/>
              <a:t> on </a:t>
            </a:r>
            <a:r>
              <a:rPr lang="sv-SE" dirty="0" err="1" smtClean="0"/>
              <a:t>Transportation</a:t>
            </a:r>
            <a:r>
              <a:rPr lang="sv-SE" dirty="0" smtClean="0"/>
              <a:t> </a:t>
            </a:r>
            <a:r>
              <a:rPr lang="sv-SE" dirty="0" err="1" smtClean="0"/>
              <a:t>Electrification</a:t>
            </a:r>
            <a:endParaRPr lang="sv-SE" dirty="0" smtClean="0"/>
          </a:p>
          <a:p>
            <a:pPr marL="342900" indent="-342900">
              <a:buFont typeface="+mj-lt"/>
              <a:buAutoNum type="arabicPeriod"/>
            </a:pPr>
            <a:r>
              <a:rPr lang="en-US" dirty="0" smtClean="0"/>
              <a:t>Design </a:t>
            </a:r>
            <a:r>
              <a:rPr lang="en-US" dirty="0"/>
              <a:t>and Evaluation of a 1200-V/200-A </a:t>
            </a:r>
            <a:r>
              <a:rPr lang="en-US" dirty="0" err="1"/>
              <a:t>SiC</a:t>
            </a:r>
            <a:r>
              <a:rPr lang="en-US" dirty="0"/>
              <a:t> Three-Level NPC Power Module," in IEEE Transactions on Industry </a:t>
            </a:r>
            <a:r>
              <a:rPr lang="en-US" dirty="0" smtClean="0"/>
              <a:t>Applications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smtClean="0"/>
              <a:t>Double </a:t>
            </a:r>
            <a:r>
              <a:rPr lang="en-US" dirty="0"/>
              <a:t>Pulse Testing: The How, What and Why by </a:t>
            </a:r>
            <a:r>
              <a:rPr lang="en-US" dirty="0" smtClean="0"/>
              <a:t>David </a:t>
            </a:r>
            <a:r>
              <a:rPr lang="en-US" dirty="0" err="1"/>
              <a:t>Levett</a:t>
            </a:r>
            <a:r>
              <a:rPr lang="en-US" dirty="0"/>
              <a:t>, </a:t>
            </a:r>
            <a:r>
              <a:rPr lang="en-US" dirty="0" err="1"/>
              <a:t>Ziqing</a:t>
            </a:r>
            <a:r>
              <a:rPr lang="en-US" dirty="0"/>
              <a:t> Zheng and Tim Frank, Infineon Technologies</a:t>
            </a:r>
            <a:endParaRPr lang="sv-SE" dirty="0" smtClean="0"/>
          </a:p>
          <a:p>
            <a:pPr marL="342900" indent="-342900">
              <a:buFont typeface="+mj-lt"/>
              <a:buAutoNum type="arabicPeriod"/>
            </a:pPr>
            <a:r>
              <a:rPr lang="sv-SE" dirty="0" smtClean="0">
                <a:hlinkClick r:id="rId2"/>
              </a:rPr>
              <a:t>Double </a:t>
            </a:r>
            <a:r>
              <a:rPr lang="sv-SE" dirty="0" err="1" smtClean="0">
                <a:hlinkClick r:id="rId2"/>
              </a:rPr>
              <a:t>pulse</a:t>
            </a:r>
            <a:r>
              <a:rPr lang="sv-SE" dirty="0" smtClean="0">
                <a:hlinkClick r:id="rId2"/>
              </a:rPr>
              <a:t> </a:t>
            </a:r>
            <a:r>
              <a:rPr lang="sv-SE" dirty="0" err="1" smtClean="0">
                <a:hlinkClick r:id="rId2"/>
              </a:rPr>
              <a:t>testing</a:t>
            </a:r>
            <a:r>
              <a:rPr lang="sv-SE" dirty="0" smtClean="0">
                <a:hlinkClick r:id="rId2"/>
              </a:rPr>
              <a:t> by Philip </a:t>
            </a:r>
            <a:r>
              <a:rPr lang="sv-SE" dirty="0" err="1" smtClean="0">
                <a:hlinkClick r:id="rId2"/>
              </a:rPr>
              <a:t>Abrahamssont</a:t>
            </a:r>
            <a:endParaRPr lang="sv-SE" dirty="0" smtClean="0"/>
          </a:p>
          <a:p>
            <a:endParaRPr lang="sv-SE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7"/>
          </p:nvPr>
        </p:nvSpPr>
        <p:spPr>
          <a:xfrm>
            <a:off x="467544" y="1214120"/>
            <a:ext cx="4104456" cy="35409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v-SE" b="1" dirty="0" smtClean="0"/>
              <a:t>Loss </a:t>
            </a:r>
            <a:r>
              <a:rPr lang="sv-SE" b="1" dirty="0" err="1" smtClean="0"/>
              <a:t>Calculation</a:t>
            </a:r>
            <a:endParaRPr lang="sv-SE" b="1" dirty="0" smtClean="0"/>
          </a:p>
          <a:p>
            <a:pPr marL="342900" indent="-342900">
              <a:buFont typeface="+mj-lt"/>
              <a:buAutoNum type="arabicPeriod"/>
            </a:pPr>
            <a:r>
              <a:rPr lang="sv-SE" dirty="0" smtClean="0"/>
              <a:t>A </a:t>
            </a:r>
            <a:r>
              <a:rPr lang="sv-SE" dirty="0" err="1"/>
              <a:t>Compact</a:t>
            </a:r>
            <a:r>
              <a:rPr lang="sv-SE" dirty="0"/>
              <a:t> 250 kW Silicon Carbide MOSFET </a:t>
            </a:r>
            <a:r>
              <a:rPr lang="sv-SE" dirty="0" err="1"/>
              <a:t>based</a:t>
            </a:r>
            <a:r>
              <a:rPr lang="sv-SE" dirty="0"/>
              <a:t> Three-</a:t>
            </a:r>
            <a:r>
              <a:rPr lang="sv-SE" dirty="0" err="1"/>
              <a:t>Level</a:t>
            </a:r>
            <a:r>
              <a:rPr lang="sv-SE" dirty="0"/>
              <a:t> </a:t>
            </a:r>
            <a:r>
              <a:rPr lang="sv-SE" dirty="0" err="1"/>
              <a:t>Traction</a:t>
            </a:r>
            <a:r>
              <a:rPr lang="sv-SE" dirty="0"/>
              <a:t> </a:t>
            </a:r>
            <a:r>
              <a:rPr lang="sv-SE" dirty="0" err="1"/>
              <a:t>Inverter</a:t>
            </a:r>
            <a:r>
              <a:rPr lang="sv-SE" dirty="0"/>
              <a:t> for Heavy Equipment </a:t>
            </a:r>
            <a:r>
              <a:rPr lang="sv-SE" dirty="0" err="1"/>
              <a:t>Applications</a:t>
            </a:r>
            <a:r>
              <a:rPr lang="sv-SE" dirty="0" smtClean="0"/>
              <a:t>, </a:t>
            </a:r>
            <a:r>
              <a:rPr lang="sv-SE" dirty="0"/>
              <a:t>2018 IEEE </a:t>
            </a:r>
            <a:r>
              <a:rPr lang="sv-SE" dirty="0" err="1"/>
              <a:t>Transportation</a:t>
            </a:r>
            <a:r>
              <a:rPr lang="sv-SE" dirty="0"/>
              <a:t> </a:t>
            </a:r>
            <a:r>
              <a:rPr lang="sv-SE" dirty="0" err="1"/>
              <a:t>Electrification</a:t>
            </a:r>
            <a:r>
              <a:rPr lang="sv-SE" dirty="0"/>
              <a:t> Conference and Expo (</a:t>
            </a:r>
            <a:r>
              <a:rPr lang="sv-SE" dirty="0" smtClean="0"/>
              <a:t>ITEC),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 smtClean="0"/>
              <a:t>Electrothermal</a:t>
            </a:r>
            <a:r>
              <a:rPr lang="en-US" dirty="0" smtClean="0"/>
              <a:t>-Control </a:t>
            </a:r>
            <a:r>
              <a:rPr lang="en-US" dirty="0"/>
              <a:t>Co-Design of an All Silicon Carbide 2×250 kW Dual Inverter for Heavy-Duty Traction Applications</a:t>
            </a:r>
            <a:r>
              <a:rPr lang="en-US" dirty="0" smtClean="0"/>
              <a:t>, </a:t>
            </a:r>
            <a:r>
              <a:rPr lang="en-US" dirty="0"/>
              <a:t>in IEEE Transactions on Industry </a:t>
            </a:r>
            <a:r>
              <a:rPr lang="en-US" dirty="0" smtClean="0"/>
              <a:t>Applications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smtClean="0"/>
              <a:t>Potentials </a:t>
            </a:r>
            <a:r>
              <a:rPr lang="en-US" dirty="0"/>
              <a:t>and Comparison of Inverter Topologies for Future All-Electric Aircraft Propulsion</a:t>
            </a:r>
            <a:r>
              <a:rPr lang="en-US" dirty="0" smtClean="0"/>
              <a:t>, </a:t>
            </a:r>
            <a:r>
              <a:rPr lang="en-US" dirty="0"/>
              <a:t>in IEEE Journal of Emerging and Selected Topics in Power </a:t>
            </a:r>
            <a:r>
              <a:rPr lang="en-US" dirty="0" smtClean="0"/>
              <a:t>Electronics</a:t>
            </a:r>
            <a:endParaRPr lang="sv-SE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 smtClean="0"/>
              <a:t>References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982343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KTH">
      <a:dk1>
        <a:srgbClr val="000000"/>
      </a:dk1>
      <a:lt1>
        <a:srgbClr val="FFFFFF"/>
      </a:lt1>
      <a:dk2>
        <a:srgbClr val="65656C"/>
      </a:dk2>
      <a:lt2>
        <a:srgbClr val="838389"/>
      </a:lt2>
      <a:accent1>
        <a:srgbClr val="1954A6"/>
      </a:accent1>
      <a:accent2>
        <a:srgbClr val="5E87C0"/>
      </a:accent2>
      <a:accent3>
        <a:srgbClr val="2091C3"/>
      </a:accent3>
      <a:accent4>
        <a:srgbClr val="D02F80"/>
      </a:accent4>
      <a:accent5>
        <a:srgbClr val="D95999"/>
      </a:accent5>
      <a:accent6>
        <a:srgbClr val="61922E"/>
      </a:accent6>
      <a:hlink>
        <a:srgbClr val="65656C"/>
      </a:hlink>
      <a:folHlink>
        <a:srgbClr val="83838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 sz="20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7121384-D8C6-FA41-9A6B-F4615C0099B0}" vid="{DF4435B0-2EFE-BF49-8755-0024FDD40B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KTH_16_9</Template>
  <TotalTime>1446</TotalTime>
  <Words>1753</Words>
  <Application>Microsoft Office PowerPoint</Application>
  <PresentationFormat>On-screen Show (16:9)</PresentationFormat>
  <Paragraphs>150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Cambria Math</vt:lpstr>
      <vt:lpstr>Söhne</vt:lpstr>
      <vt:lpstr>Times New Roman</vt:lpstr>
      <vt:lpstr>Office-tema</vt:lpstr>
      <vt:lpstr>Loss Modelling of the Traction Inverter and Validation by Double Pulse Test</vt:lpstr>
      <vt:lpstr>Semiconductor Losses</vt:lpstr>
      <vt:lpstr>Loss Modelling</vt:lpstr>
      <vt:lpstr>Loss Modelling</vt:lpstr>
      <vt:lpstr>Loss Calculation Assumptions</vt:lpstr>
      <vt:lpstr>Thermal Model</vt:lpstr>
      <vt:lpstr>Datasheet Parameters</vt:lpstr>
      <vt:lpstr>Grabit and Digital Data</vt:lpstr>
      <vt:lpstr>Modulation</vt:lpstr>
      <vt:lpstr>Conduction and Switching Events</vt:lpstr>
      <vt:lpstr>Loss Calculations</vt:lpstr>
      <vt:lpstr>Iterative Solution</vt:lpstr>
      <vt:lpstr>Summary  </vt:lpstr>
      <vt:lpstr>Validation by Double Pulse Test  </vt:lpstr>
      <vt:lpstr>Double Pulse Test</vt:lpstr>
      <vt:lpstr>Inductor Selection</vt:lpstr>
      <vt:lpstr>Instrumentation</vt:lpstr>
      <vt:lpstr>Instrumentation</vt:lpstr>
      <vt:lpstr>What testing should be included in a DPT and expected results</vt:lpstr>
      <vt:lpstr>References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Malin Modig</dc:creator>
  <cp:lastModifiedBy>Enes Ayaz</cp:lastModifiedBy>
  <cp:revision>173</cp:revision>
  <dcterms:created xsi:type="dcterms:W3CDTF">2019-12-10T08:55:59Z</dcterms:created>
  <dcterms:modified xsi:type="dcterms:W3CDTF">2023-09-18T08:47:05Z</dcterms:modified>
</cp:coreProperties>
</file>