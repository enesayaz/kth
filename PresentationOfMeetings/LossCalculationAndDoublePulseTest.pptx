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76" r:id="rId3"/>
    <p:sldId id="278" r:id="rId4"/>
    <p:sldId id="281" r:id="rId5"/>
    <p:sldId id="282" r:id="rId6"/>
    <p:sldId id="277" r:id="rId7"/>
    <p:sldId id="283" r:id="rId8"/>
    <p:sldId id="285" r:id="rId9"/>
    <p:sldId id="284" r:id="rId10"/>
    <p:sldId id="288" r:id="rId11"/>
    <p:sldId id="287" r:id="rId12"/>
    <p:sldId id="286" r:id="rId13"/>
    <p:sldId id="289" r:id="rId14"/>
    <p:sldId id="290" r:id="rId15"/>
    <p:sldId id="295" r:id="rId16"/>
    <p:sldId id="291" r:id="rId17"/>
    <p:sldId id="292" r:id="rId18"/>
    <p:sldId id="293" r:id="rId19"/>
    <p:sldId id="294" r:id="rId20"/>
    <p:sldId id="296" r:id="rId21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60"/>
  </p:normalViewPr>
  <p:slideViewPr>
    <p:cSldViewPr>
      <p:cViewPr varScale="1">
        <p:scale>
          <a:sx n="152" d="100"/>
          <a:sy n="152" d="100"/>
        </p:scale>
        <p:origin x="5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2023-09-18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2023-09-18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2023-09-18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2023-09-18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2023-09-18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2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a.lth.se/kel/2021/Lectures/PE20_GuestLecture%20OnDoublePulseTesting_Philip.pdf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560" y="1131590"/>
            <a:ext cx="8396560" cy="566641"/>
          </a:xfrm>
        </p:spPr>
        <p:txBody>
          <a:bodyPr/>
          <a:lstStyle/>
          <a:p>
            <a:pPr algn="ctr"/>
            <a:r>
              <a:rPr lang="en-US" dirty="0" smtClean="0"/>
              <a:t>Loss Modelling of the Traction Inverter and Validation by Double Pulse Test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2023-09-18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 smtClean="0"/>
              <a:t>Semiconductor</a:t>
            </a:r>
            <a:r>
              <a:rPr lang="sv-SE" dirty="0" smtClean="0"/>
              <a:t> </a:t>
            </a:r>
            <a:r>
              <a:rPr lang="sv-SE" dirty="0" err="1" smtClean="0"/>
              <a:t>Losses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03598"/>
            <a:ext cx="3744416" cy="272034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4294967295"/>
          </p:nvPr>
        </p:nvSpPr>
        <p:spPr>
          <a:xfrm>
            <a:off x="4897134" y="1494930"/>
            <a:ext cx="3875892" cy="281047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Losses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Power semiconductors (90 %) </a:t>
            </a:r>
            <a:r>
              <a:rPr lang="en-US" sz="1400" dirty="0"/>
              <a:t>(</a:t>
            </a:r>
            <a:r>
              <a:rPr lang="en-US" sz="1400" dirty="0" smtClean="0"/>
              <a:t>eff 99.5%)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</a:rPr>
              <a:t>Conduction Losses</a:t>
            </a:r>
          </a:p>
          <a:p>
            <a:pPr lvl="1"/>
            <a:r>
              <a:rPr lang="en-US" sz="1400" dirty="0" smtClean="0">
                <a:solidFill>
                  <a:srgbClr val="C00000"/>
                </a:solidFill>
              </a:rPr>
              <a:t>Switching Losses</a:t>
            </a:r>
          </a:p>
          <a:p>
            <a:pPr lvl="1"/>
            <a:r>
              <a:rPr lang="en-US" sz="1400" strike="sngStrike" dirty="0"/>
              <a:t>Driving losses</a:t>
            </a:r>
          </a:p>
          <a:p>
            <a:pPr lvl="1"/>
            <a:r>
              <a:rPr lang="en-US" sz="1400" strike="sngStrike" dirty="0"/>
              <a:t>Leakage </a:t>
            </a:r>
            <a:r>
              <a:rPr lang="en-US" sz="1400" strike="sngStrike" dirty="0" smtClean="0"/>
              <a:t>Losses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Additional Losses  ( 10%)</a:t>
            </a:r>
          </a:p>
          <a:p>
            <a:pPr lvl="1"/>
            <a:r>
              <a:rPr lang="en-US" sz="1400" dirty="0" smtClean="0"/>
              <a:t>Filters losses </a:t>
            </a:r>
            <a:endParaRPr lang="en-US" sz="1400" dirty="0"/>
          </a:p>
          <a:p>
            <a:pPr marL="0" indent="0">
              <a:buNone/>
            </a:pPr>
            <a:endParaRPr lang="en-US" sz="25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508373" y="4178485"/>
            <a:ext cx="16642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543312" y="4357659"/>
            <a:ext cx="1082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80557" y="3927235"/>
            <a:ext cx="1156650" cy="5589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16" name="Rectangle 15"/>
          <p:cNvSpPr/>
          <p:nvPr/>
        </p:nvSpPr>
        <p:spPr>
          <a:xfrm>
            <a:off x="774176" y="3915144"/>
            <a:ext cx="1037408" cy="5589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703" y="3814183"/>
            <a:ext cx="13608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Cooling system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69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Loss Modelling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08920" y="1934324"/>
                <a:ext cx="4183797" cy="4410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𝑐𝑜𝑛𝑑</m:t>
                          </m:r>
                        </m:sub>
                      </m:sSub>
                      <m:d>
                        <m:d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]</m:t>
                      </m:r>
                      <m:f>
                        <m:f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920" y="1934324"/>
                <a:ext cx="4183797" cy="441083"/>
              </a:xfrm>
              <a:prstGeom prst="rect">
                <a:avLst/>
              </a:prstGeom>
              <a:blipFill>
                <a:blip r:embed="rId2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60798" y="3354272"/>
                <a:ext cx="5219514" cy="24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d>
                        <m:d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𝑆𝑊</m:t>
                              </m:r>
                            </m:sub>
                          </m:sSub>
                        </m:e>
                      </m:d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b>
                        <m:sSub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[</m:t>
                      </m:r>
                      <m:sSub>
                        <m:sSubPr>
                          <m:ctrlPr>
                            <a:rPr lang="sv-S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d>
                        <m:dPr>
                          <m:ctrlPr>
                            <a:rPr lang="sv-S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sz="1400" b="0" i="1" smtClean="0">
                                  <a:latin typeface="Cambria Math" panose="02040503050406030204" pitchFamily="18" charset="0"/>
                                </a:rPr>
                                <m:t>𝑆𝑊</m:t>
                              </m:r>
                            </m:sub>
                          </m:sSub>
                        </m:e>
                      </m:d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sv-SE" sz="1400" b="0" i="1" smtClean="0"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d>
                        <m:dPr>
                          <m:ctrlPr>
                            <a:rPr lang="sv-S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sz="1400" i="1">
                                  <a:latin typeface="Cambria Math" panose="02040503050406030204" pitchFamily="18" charset="0"/>
                                </a:rPr>
                                <m:t>𝑆𝑊</m:t>
                              </m:r>
                            </m:sub>
                          </m:sSub>
                        </m:e>
                      </m:d>
                      <m:r>
                        <a:rPr lang="sv-SE" sz="1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sv-SE" sz="1400" dirty="0" err="1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798" y="3354272"/>
                <a:ext cx="5219514" cy="248145"/>
              </a:xfrm>
              <a:prstGeom prst="rect">
                <a:avLst/>
              </a:prstGeom>
              <a:blipFill>
                <a:blip r:embed="rId3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971600" y="973805"/>
                <a:ext cx="7848872" cy="510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sv-SE" dirty="0"/>
                  <a:t>The </a:t>
                </a:r>
                <a:r>
                  <a:rPr lang="sv-SE" dirty="0" err="1"/>
                  <a:t>average</a:t>
                </a:r>
                <a:r>
                  <a:rPr lang="sv-SE" dirty="0"/>
                  <a:t> </a:t>
                </a:r>
                <a:r>
                  <a:rPr lang="sv-SE" dirty="0" err="1"/>
                  <a:t>module</a:t>
                </a:r>
                <a:r>
                  <a:rPr lang="sv-SE" dirty="0"/>
                  <a:t> </a:t>
                </a:r>
                <a:r>
                  <a:rPr lang="sv-SE" dirty="0" err="1"/>
                  <a:t>power</a:t>
                </a:r>
                <a:r>
                  <a:rPr lang="sv-SE" dirty="0"/>
                  <a:t> loss </a:t>
                </a:r>
                <a:r>
                  <a:rPr lang="sv-SE" dirty="0" err="1"/>
                  <a:t>during</a:t>
                </a:r>
                <a:r>
                  <a:rPr lang="sv-SE" dirty="0"/>
                  <a:t> </a:t>
                </a:r>
                <a:r>
                  <a:rPr lang="sv-SE" dirty="0" err="1"/>
                  <a:t>one</a:t>
                </a:r>
                <a:r>
                  <a:rPr lang="sv-SE" dirty="0"/>
                  <a:t> fundamental </a:t>
                </a:r>
                <a:r>
                  <a:rPr lang="sv-SE" dirty="0" err="1"/>
                  <a:t>cycle</a:t>
                </a:r>
                <a:r>
                  <a:rPr lang="sv-SE" dirty="0"/>
                  <a:t> </a:t>
                </a:r>
                <a:r>
                  <a:rPr lang="sv-SE" dirty="0" err="1"/>
                  <a:t>consists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two</a:t>
                </a:r>
                <a:r>
                  <a:rPr lang="sv-SE" dirty="0"/>
                  <a:t> parts: </a:t>
                </a:r>
                <a:r>
                  <a:rPr lang="sv-SE" dirty="0" smtClean="0"/>
                  <a:t>the </a:t>
                </a:r>
                <a:r>
                  <a:rPr lang="sv-SE" dirty="0" err="1"/>
                  <a:t>conduction</a:t>
                </a:r>
                <a:r>
                  <a:rPr lang="sv-SE" dirty="0"/>
                  <a:t>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𝑐𝑜𝑛𝑑</m:t>
                        </m:r>
                      </m:sub>
                    </m:sSub>
                  </m:oMath>
                </a14:m>
                <a:r>
                  <a:rPr lang="sv-SE" dirty="0"/>
                  <a:t>  and the </a:t>
                </a:r>
                <a:r>
                  <a:rPr lang="sv-SE" dirty="0" err="1"/>
                  <a:t>switching</a:t>
                </a:r>
                <a:r>
                  <a:rPr lang="sv-SE" dirty="0"/>
                  <a:t>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r>
                  <a:rPr lang="sv-SE" dirty="0"/>
                  <a:t>. </a:t>
                </a:r>
                <a:r>
                  <a:rPr lang="sv-SE" dirty="0" smtClean="0"/>
                  <a:t>i.e., </a:t>
                </a: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973805"/>
                <a:ext cx="7848872" cy="510589"/>
              </a:xfrm>
              <a:prstGeom prst="rect">
                <a:avLst/>
              </a:prstGeom>
              <a:blipFill>
                <a:blip r:embed="rId4"/>
                <a:stretch>
                  <a:fillRect l="-155" t="-2381" b="-1071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960096" y="1565284"/>
            <a:ext cx="401263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The </a:t>
            </a:r>
            <a:r>
              <a:rPr lang="sv-SE" dirty="0" err="1"/>
              <a:t>module</a:t>
            </a:r>
            <a:r>
              <a:rPr lang="sv-SE" dirty="0"/>
              <a:t> </a:t>
            </a:r>
            <a:r>
              <a:rPr lang="sv-SE" dirty="0" err="1"/>
              <a:t>conduction</a:t>
            </a:r>
            <a:r>
              <a:rPr lang="sv-SE" dirty="0"/>
              <a:t> loss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calculated</a:t>
            </a:r>
            <a:r>
              <a:rPr lang="sv-SE" dirty="0"/>
              <a:t> </a:t>
            </a:r>
            <a:r>
              <a:rPr lang="sv-SE" dirty="0" smtClean="0"/>
              <a:t>as: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880859" y="2440129"/>
                <a:ext cx="7404030" cy="32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sv-SE" dirty="0" smtClean="0"/>
                  <a:t>The </a:t>
                </a:r>
                <a:r>
                  <a:rPr lang="sv-SE" dirty="0" err="1"/>
                  <a:t>junction</a:t>
                </a:r>
                <a:r>
                  <a:rPr lang="sv-SE" dirty="0"/>
                  <a:t> </a:t>
                </a:r>
                <a:r>
                  <a:rPr lang="sv-SE" dirty="0" err="1"/>
                  <a:t>temperature</a:t>
                </a:r>
                <a:r>
                  <a:rPr lang="sv-SE" dirty="0"/>
                  <a:t>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affect</a:t>
                </a:r>
                <a:r>
                  <a:rPr lang="sv-SE" dirty="0"/>
                  <a:t> the </a:t>
                </a:r>
                <a:r>
                  <a:rPr lang="sv-SE" dirty="0" err="1"/>
                  <a:t>device</a:t>
                </a:r>
                <a:r>
                  <a:rPr lang="sv-SE" dirty="0"/>
                  <a:t> ON-</a:t>
                </a:r>
                <a:r>
                  <a:rPr lang="sv-SE" dirty="0" err="1"/>
                  <a:t>state</a:t>
                </a:r>
                <a:r>
                  <a:rPr lang="sv-SE" dirty="0"/>
                  <a:t> </a:t>
                </a:r>
                <a:r>
                  <a:rPr lang="sv-SE" dirty="0" err="1"/>
                  <a:t>resistance</a:t>
                </a:r>
                <a:r>
                  <a:rPr lang="sv-SE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sv-SE" dirty="0"/>
                  <a:t> is a </a:t>
                </a:r>
                <a:r>
                  <a:rPr lang="sv-SE" dirty="0" err="1"/>
                  <a:t>function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sz="1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59" y="2440129"/>
                <a:ext cx="7404030" cy="325089"/>
              </a:xfrm>
              <a:prstGeom prst="rect">
                <a:avLst/>
              </a:prstGeom>
              <a:blipFill>
                <a:blip r:embed="rId5"/>
                <a:stretch>
                  <a:fillRect l="-165" b="-1111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896843" y="2885925"/>
            <a:ext cx="6992406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</a:t>
            </a:r>
            <a:r>
              <a:rPr lang="sv-SE" dirty="0" err="1"/>
              <a:t>module</a:t>
            </a:r>
            <a:r>
              <a:rPr lang="sv-SE" dirty="0"/>
              <a:t> </a:t>
            </a:r>
            <a:r>
              <a:rPr lang="sv-SE" dirty="0" err="1"/>
              <a:t>switching</a:t>
            </a:r>
            <a:r>
              <a:rPr lang="sv-SE" dirty="0"/>
              <a:t> loss </a:t>
            </a:r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/>
              <a:t>be </a:t>
            </a:r>
            <a:r>
              <a:rPr lang="sv-SE" dirty="0" err="1"/>
              <a:t>written</a:t>
            </a:r>
            <a:r>
              <a:rPr lang="sv-SE" dirty="0"/>
              <a:t> </a:t>
            </a:r>
            <a:r>
              <a:rPr lang="sv-SE" dirty="0" smtClean="0"/>
              <a:t>as: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816982" y="1179076"/>
                <a:ext cx="2808312" cy="359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0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sv-SE" sz="1000" b="1" i="1" smtClean="0">
                              <a:latin typeface="Cambria Math" panose="02040503050406030204" pitchFamily="18" charset="0"/>
                            </a:rPr>
                            <m:t>𝒍𝒐𝒔𝒔</m:t>
                          </m:r>
                        </m:sub>
                      </m:sSub>
                      <m:r>
                        <a:rPr lang="sv-SE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1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sv-SE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sv-SE" sz="1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1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sv-SE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sv-SE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𝒄𝒐𝒏𝒅</m:t>
                              </m:r>
                            </m:sub>
                          </m:sSub>
                          <m:r>
                            <a:rPr lang="sv-SE" sz="1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sv-SE" sz="1000" b="1" i="1">
                                  <a:latin typeface="Cambria Math" panose="02040503050406030204" pitchFamily="18" charset="0"/>
                                </a:rPr>
                                <m:t>𝒔𝒘</m:t>
                              </m:r>
                            </m:sub>
                          </m:sSub>
                          <m:r>
                            <a:rPr lang="sv-SE" sz="1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10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sv-SE" sz="1400" b="1" dirty="0" err="1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982" y="1179076"/>
                <a:ext cx="2808312" cy="359266"/>
              </a:xfrm>
              <a:prstGeom prst="rect">
                <a:avLst/>
              </a:prstGeom>
              <a:blipFill>
                <a:blip r:embed="rId6"/>
                <a:stretch>
                  <a:fillRect t="-181356" b="-26610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913125" y="3790387"/>
            <a:ext cx="783607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Similarly</a:t>
            </a:r>
            <a:r>
              <a:rPr lang="sv-SE" dirty="0"/>
              <a:t>,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energies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affected</a:t>
            </a:r>
            <a:r>
              <a:rPr lang="sv-SE" dirty="0"/>
              <a:t> by the </a:t>
            </a:r>
            <a:r>
              <a:rPr lang="sv-SE" dirty="0" err="1"/>
              <a:t>junction</a:t>
            </a:r>
            <a:r>
              <a:rPr lang="sv-SE" dirty="0"/>
              <a:t> </a:t>
            </a:r>
            <a:r>
              <a:rPr lang="sv-SE" dirty="0" err="1" smtClean="0"/>
              <a:t>temperature</a:t>
            </a:r>
            <a:r>
              <a:rPr lang="sv-SE" dirty="0" smtClean="0"/>
              <a:t>, </a:t>
            </a:r>
            <a:r>
              <a:rPr lang="sv-SE" dirty="0" err="1" smtClean="0"/>
              <a:t>module</a:t>
            </a:r>
            <a:r>
              <a:rPr lang="sv-SE" dirty="0" smtClean="0"/>
              <a:t> </a:t>
            </a:r>
            <a:r>
              <a:rPr lang="sv-SE" dirty="0"/>
              <a:t>output </a:t>
            </a:r>
            <a:r>
              <a:rPr lang="sv-SE" dirty="0" err="1" smtClean="0"/>
              <a:t>current</a:t>
            </a:r>
            <a:r>
              <a:rPr lang="sv-SE" dirty="0" smtClean="0"/>
              <a:t>, and the </a:t>
            </a:r>
            <a:r>
              <a:rPr lang="sv-SE" dirty="0" err="1" smtClean="0"/>
              <a:t>switching</a:t>
            </a:r>
            <a:r>
              <a:rPr lang="sv-SE" dirty="0" smtClean="0"/>
              <a:t> </a:t>
            </a:r>
            <a:r>
              <a:rPr lang="sv-SE" dirty="0" err="1" smtClean="0"/>
              <a:t>voltage</a:t>
            </a:r>
            <a:r>
              <a:rPr lang="sv-SE" dirty="0" smtClean="0"/>
              <a:t>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135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Loss Modelling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149668" y="843558"/>
                <a:ext cx="7742812" cy="10305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sv-SE" sz="1200" dirty="0" smtClean="0"/>
                  <a:t>The relationships </a:t>
                </a:r>
                <a:r>
                  <a:rPr lang="sv-SE" sz="1200" dirty="0" err="1"/>
                  <a:t>among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b="0" i="1" smtClean="0">
                            <a:latin typeface="Cambria Math" panose="02040503050406030204" pitchFamily="18" charset="0"/>
                          </a:rPr>
                          <m:t>  (</m:t>
                        </m:r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sz="12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sv-SE" sz="1200" dirty="0" smtClean="0"/>
                  <a:t>,</a:t>
                </a:r>
                <a:r>
                  <a:rPr lang="sv-SE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𝑆𝑊</m:t>
                        </m:r>
                      </m:sub>
                    </m:sSub>
                  </m:oMath>
                </a14:m>
                <a:r>
                  <a:rPr lang="sv-SE" sz="1200" dirty="0" smtClean="0"/>
                  <a:t> ) and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sv-SE" sz="12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sv-SE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sv-SE" sz="12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1200" i="1">
                            <a:latin typeface="Cambria Math" panose="02040503050406030204" pitchFamily="18" charset="0"/>
                          </a:rPr>
                          <m:t>𝑜𝑓𝑓</m:t>
                        </m:r>
                      </m:sub>
                    </m:sSub>
                    <m:r>
                      <a:rPr lang="sv-SE" sz="1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sv-SE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1200" dirty="0" err="1" smtClean="0"/>
                  <a:t>can</a:t>
                </a:r>
                <a:r>
                  <a:rPr lang="sv-SE" sz="1200" dirty="0" smtClean="0"/>
                  <a:t> </a:t>
                </a:r>
                <a:r>
                  <a:rPr lang="sv-SE" sz="1200" dirty="0"/>
                  <a:t>be </a:t>
                </a:r>
                <a:r>
                  <a:rPr lang="sv-SE" sz="1200" dirty="0" err="1"/>
                  <a:t>easily</a:t>
                </a:r>
                <a:r>
                  <a:rPr lang="sv-SE" sz="1200" dirty="0"/>
                  <a:t> </a:t>
                </a:r>
                <a:r>
                  <a:rPr lang="sv-SE" sz="1200" dirty="0" err="1"/>
                  <a:t>found</a:t>
                </a:r>
                <a:r>
                  <a:rPr lang="sv-SE" sz="1200" dirty="0"/>
                  <a:t> in the </a:t>
                </a:r>
                <a:r>
                  <a:rPr lang="sv-SE" sz="1200" dirty="0" err="1" smtClean="0"/>
                  <a:t>datasheet</a:t>
                </a:r>
                <a:r>
                  <a:rPr lang="sv-SE" sz="1200" dirty="0" smtClean="0"/>
                  <a:t>.</a:t>
                </a:r>
              </a:p>
              <a:p>
                <a:endParaRPr lang="sv-SE" sz="1200" dirty="0"/>
              </a:p>
              <a:p>
                <a:r>
                  <a:rPr lang="sv-SE" sz="1200" dirty="0" smtClean="0"/>
                  <a:t>The </a:t>
                </a:r>
                <a:r>
                  <a:rPr lang="sv-SE" sz="1200" dirty="0" err="1"/>
                  <a:t>estimation</a:t>
                </a:r>
                <a:r>
                  <a:rPr lang="sv-SE" sz="1200" dirty="0"/>
                  <a:t> </a:t>
                </a:r>
                <a:r>
                  <a:rPr lang="sv-SE" sz="1200" dirty="0" err="1"/>
                  <a:t>of</a:t>
                </a:r>
                <a:r>
                  <a:rPr lang="sv-SE" sz="1200" dirty="0"/>
                  <a:t> the </a:t>
                </a:r>
                <a:r>
                  <a:rPr lang="sv-SE" sz="1200" dirty="0" err="1"/>
                  <a:t>module</a:t>
                </a:r>
                <a:r>
                  <a:rPr lang="sv-SE" sz="1200" dirty="0"/>
                  <a:t> </a:t>
                </a:r>
                <a:r>
                  <a:rPr lang="sv-SE" sz="1200" dirty="0" err="1"/>
                  <a:t>power</a:t>
                </a:r>
                <a:r>
                  <a:rPr lang="sv-SE" sz="1200" dirty="0"/>
                  <a:t> loss must </a:t>
                </a:r>
                <a:r>
                  <a:rPr lang="sv-SE" sz="1200" dirty="0" err="1"/>
                  <a:t>consider</a:t>
                </a:r>
                <a:r>
                  <a:rPr lang="sv-SE" sz="1200" dirty="0"/>
                  <a:t> the </a:t>
                </a:r>
                <a:r>
                  <a:rPr lang="sv-SE" sz="1200" dirty="0" err="1"/>
                  <a:t>complicated</a:t>
                </a:r>
                <a:r>
                  <a:rPr lang="sv-SE" sz="1200" dirty="0"/>
                  <a:t> </a:t>
                </a:r>
                <a:r>
                  <a:rPr lang="sv-SE" sz="1200" dirty="0" err="1"/>
                  <a:t>interaction</a:t>
                </a:r>
                <a:r>
                  <a:rPr lang="sv-SE" sz="1200" dirty="0"/>
                  <a:t> </a:t>
                </a:r>
                <a:r>
                  <a:rPr lang="sv-SE" sz="1200" dirty="0" err="1"/>
                  <a:t>between</a:t>
                </a:r>
                <a:r>
                  <a:rPr lang="sv-SE" sz="1200" dirty="0"/>
                  <a:t> the </a:t>
                </a:r>
                <a:r>
                  <a:rPr lang="sv-SE" sz="1200" dirty="0" err="1"/>
                  <a:t>power</a:t>
                </a:r>
                <a:r>
                  <a:rPr lang="sv-SE" sz="1200" dirty="0"/>
                  <a:t> loss and </a:t>
                </a:r>
                <a:r>
                  <a:rPr lang="sv-SE" sz="1200" dirty="0" err="1"/>
                  <a:t>junction</a:t>
                </a:r>
                <a:r>
                  <a:rPr lang="sv-SE" sz="1200" dirty="0"/>
                  <a:t> </a:t>
                </a:r>
                <a:r>
                  <a:rPr lang="sv-SE" sz="1200" dirty="0" err="1"/>
                  <a:t>temperature</a:t>
                </a:r>
                <a:r>
                  <a:rPr lang="sv-SE" sz="1200" dirty="0"/>
                  <a:t>. </a:t>
                </a:r>
                <a:endParaRPr lang="sv-SE" sz="1200" dirty="0" smtClean="0"/>
              </a:p>
              <a:p>
                <a:endParaRPr lang="sv-SE" sz="1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668" y="843558"/>
                <a:ext cx="7742812" cy="1030539"/>
              </a:xfrm>
              <a:prstGeom prst="rect">
                <a:avLst/>
              </a:prstGeom>
              <a:blipFill>
                <a:blip r:embed="rId2"/>
                <a:stretch>
                  <a:fillRect l="-79" t="-59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795" y="2439748"/>
            <a:ext cx="4225983" cy="22922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33680" y="1821292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sv-SE" sz="1200" dirty="0">
                <a:solidFill>
                  <a:srgbClr val="000000"/>
                </a:solidFill>
              </a:rPr>
              <a:t>At a </a:t>
            </a:r>
            <a:r>
              <a:rPr lang="sv-SE" sz="1200" dirty="0" err="1">
                <a:solidFill>
                  <a:srgbClr val="000000"/>
                </a:solidFill>
              </a:rPr>
              <a:t>fixed</a:t>
            </a:r>
            <a:r>
              <a:rPr lang="sv-SE" sz="1200" dirty="0">
                <a:solidFill>
                  <a:srgbClr val="000000"/>
                </a:solidFill>
              </a:rPr>
              <a:t> output </a:t>
            </a:r>
            <a:r>
              <a:rPr lang="sv-SE" sz="1200" dirty="0" err="1">
                <a:solidFill>
                  <a:srgbClr val="000000"/>
                </a:solidFill>
              </a:rPr>
              <a:t>current</a:t>
            </a:r>
            <a:r>
              <a:rPr lang="sv-SE" sz="1200" dirty="0">
                <a:solidFill>
                  <a:srgbClr val="000000"/>
                </a:solidFill>
              </a:rPr>
              <a:t>, the </a:t>
            </a:r>
            <a:r>
              <a:rPr lang="sv-SE" sz="1200" dirty="0" err="1">
                <a:solidFill>
                  <a:srgbClr val="000000"/>
                </a:solidFill>
              </a:rPr>
              <a:t>module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power</a:t>
            </a:r>
            <a:r>
              <a:rPr lang="sv-SE" sz="1200" dirty="0">
                <a:solidFill>
                  <a:srgbClr val="000000"/>
                </a:solidFill>
              </a:rPr>
              <a:t> loss </a:t>
            </a:r>
            <a:r>
              <a:rPr lang="sv-SE" sz="1200" dirty="0" err="1">
                <a:solidFill>
                  <a:srgbClr val="000000"/>
                </a:solidFill>
              </a:rPr>
              <a:t>leads</a:t>
            </a:r>
            <a:r>
              <a:rPr lang="sv-SE" sz="1200" dirty="0">
                <a:solidFill>
                  <a:srgbClr val="000000"/>
                </a:solidFill>
              </a:rPr>
              <a:t> to a </a:t>
            </a:r>
            <a:r>
              <a:rPr lang="sv-SE" sz="1200" dirty="0" err="1">
                <a:solidFill>
                  <a:srgbClr val="000000"/>
                </a:solidFill>
              </a:rPr>
              <a:t>fixed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junction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temperature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rise</a:t>
            </a:r>
            <a:r>
              <a:rPr lang="sv-SE" sz="1200" dirty="0">
                <a:solidFill>
                  <a:srgbClr val="000000"/>
                </a:solidFill>
              </a:rPr>
              <a:t>, and the </a:t>
            </a:r>
            <a:r>
              <a:rPr lang="sv-SE" sz="1200" dirty="0" err="1">
                <a:solidFill>
                  <a:srgbClr val="000000"/>
                </a:solidFill>
              </a:rPr>
              <a:t>junction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temperature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rise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affects</a:t>
            </a:r>
            <a:r>
              <a:rPr lang="sv-SE" sz="1200" dirty="0">
                <a:solidFill>
                  <a:srgbClr val="000000"/>
                </a:solidFill>
              </a:rPr>
              <a:t> the </a:t>
            </a:r>
            <a:r>
              <a:rPr lang="sv-SE" sz="1200" dirty="0" err="1">
                <a:solidFill>
                  <a:srgbClr val="000000"/>
                </a:solidFill>
              </a:rPr>
              <a:t>module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power</a:t>
            </a:r>
            <a:r>
              <a:rPr lang="sv-SE" sz="1200" dirty="0">
                <a:solidFill>
                  <a:srgbClr val="000000"/>
                </a:solidFill>
              </a:rPr>
              <a:t> loss in </a:t>
            </a:r>
            <a:r>
              <a:rPr lang="sv-SE" sz="1200" dirty="0" err="1">
                <a:solidFill>
                  <a:srgbClr val="000000"/>
                </a:solidFill>
              </a:rPr>
              <a:t>turn</a:t>
            </a:r>
            <a:r>
              <a:rPr lang="sv-SE" sz="1200" dirty="0">
                <a:solidFill>
                  <a:srgbClr val="000000"/>
                </a:solidFill>
              </a:rPr>
              <a:t>, </a:t>
            </a:r>
            <a:r>
              <a:rPr lang="sv-SE" sz="1200" dirty="0" err="1">
                <a:solidFill>
                  <a:srgbClr val="000000"/>
                </a:solidFill>
              </a:rPr>
              <a:t>resulting</a:t>
            </a:r>
            <a:r>
              <a:rPr lang="sv-SE" sz="1200" dirty="0">
                <a:solidFill>
                  <a:srgbClr val="000000"/>
                </a:solidFill>
              </a:rPr>
              <a:t> in the </a:t>
            </a:r>
            <a:r>
              <a:rPr lang="sv-SE" sz="1200" dirty="0" err="1">
                <a:solidFill>
                  <a:srgbClr val="000000"/>
                </a:solidFill>
              </a:rPr>
              <a:t>need</a:t>
            </a:r>
            <a:r>
              <a:rPr lang="sv-SE" sz="1200" dirty="0">
                <a:solidFill>
                  <a:srgbClr val="000000"/>
                </a:solidFill>
              </a:rPr>
              <a:t> for iteration to </a:t>
            </a:r>
            <a:r>
              <a:rPr lang="sv-SE" sz="1200" dirty="0" err="1">
                <a:solidFill>
                  <a:srgbClr val="000000"/>
                </a:solidFill>
              </a:rPr>
              <a:t>solve</a:t>
            </a:r>
            <a:r>
              <a:rPr lang="sv-SE" sz="1200" dirty="0">
                <a:solidFill>
                  <a:srgbClr val="000000"/>
                </a:solidFill>
              </a:rPr>
              <a:t> for </a:t>
            </a:r>
            <a:r>
              <a:rPr lang="sv-SE" sz="1200" dirty="0" err="1">
                <a:solidFill>
                  <a:srgbClr val="000000"/>
                </a:solidFill>
              </a:rPr>
              <a:t>steady-state</a:t>
            </a:r>
            <a:r>
              <a:rPr lang="sv-SE" sz="1200" dirty="0">
                <a:solidFill>
                  <a:srgbClr val="000000"/>
                </a:solidFill>
              </a:rPr>
              <a:t> </a:t>
            </a:r>
            <a:r>
              <a:rPr lang="sv-SE" sz="1200" dirty="0" err="1">
                <a:solidFill>
                  <a:srgbClr val="000000"/>
                </a:solidFill>
              </a:rPr>
              <a:t>behavior</a:t>
            </a:r>
            <a:r>
              <a:rPr lang="sv-SE" sz="12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5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Thermal Model</a:t>
            </a:r>
            <a:endParaRPr lang="sv-S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9582"/>
            <a:ext cx="3281697" cy="1460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05225" y="973381"/>
                <a:ext cx="5179321" cy="1579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dirty="0" smtClean="0"/>
                  <a:t>The </a:t>
                </a:r>
                <a:r>
                  <a:rPr lang="sv-SE" dirty="0" err="1"/>
                  <a:t>thermal</a:t>
                </a:r>
                <a:r>
                  <a:rPr lang="sv-SE" dirty="0"/>
                  <a:t> </a:t>
                </a:r>
                <a:r>
                  <a:rPr lang="sv-SE" dirty="0" err="1"/>
                  <a:t>model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the </a:t>
                </a:r>
                <a:r>
                  <a:rPr lang="sv-SE" dirty="0" err="1"/>
                  <a:t>inverter</a:t>
                </a:r>
                <a:r>
                  <a:rPr lang="sv-SE" dirty="0"/>
                  <a:t> system, </a:t>
                </a:r>
                <a:r>
                  <a:rPr lang="sv-SE" dirty="0" err="1"/>
                  <a:t>where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dirty="0" err="1"/>
                  <a:t>are</a:t>
                </a:r>
                <a:r>
                  <a:rPr lang="sv-SE" dirty="0"/>
                  <a:t> the </a:t>
                </a:r>
                <a:r>
                  <a:rPr lang="sv-SE" dirty="0" err="1"/>
                  <a:t>junction</a:t>
                </a:r>
                <a:r>
                  <a:rPr lang="sv-SE" dirty="0"/>
                  <a:t> and </a:t>
                </a:r>
                <a:r>
                  <a:rPr lang="sv-SE" dirty="0" err="1"/>
                  <a:t>case</a:t>
                </a:r>
                <a:r>
                  <a:rPr lang="sv-SE" dirty="0"/>
                  <a:t> </a:t>
                </a:r>
                <a:r>
                  <a:rPr lang="sv-SE" dirty="0" err="1"/>
                  <a:t>temperatures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the </a:t>
                </a:r>
                <a:r>
                  <a:rPr lang="sv-SE" dirty="0" err="1" smtClean="0"/>
                  <a:t>module</a:t>
                </a:r>
                <a:r>
                  <a:rPr lang="sv-SE" dirty="0" smtClean="0"/>
                  <a:t>, </a:t>
                </a:r>
                <a:r>
                  <a:rPr lang="sv-SE" dirty="0" err="1" smtClean="0"/>
                  <a:t>respectively</a:t>
                </a:r>
                <a:r>
                  <a:rPr lang="sv-S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sv-SE" dirty="0"/>
                  <a:t> is the </a:t>
                </a:r>
                <a:r>
                  <a:rPr lang="sv-SE" dirty="0" err="1"/>
                  <a:t>inlet</a:t>
                </a:r>
                <a:r>
                  <a:rPr lang="sv-SE" dirty="0"/>
                  <a:t> </a:t>
                </a:r>
                <a:r>
                  <a:rPr lang="sv-SE" dirty="0" err="1"/>
                  <a:t>coolant</a:t>
                </a:r>
                <a:r>
                  <a:rPr lang="sv-SE" dirty="0"/>
                  <a:t> </a:t>
                </a:r>
                <a:r>
                  <a:rPr lang="sv-SE" dirty="0" err="1" smtClean="0"/>
                  <a:t>temperature</a:t>
                </a:r>
                <a:r>
                  <a:rPr lang="sv-SE" dirty="0" smtClean="0"/>
                  <a:t>.’</a:t>
                </a:r>
              </a:p>
              <a:p>
                <a:endParaRPr lang="sv-SE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sv-SE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</m:oMath>
                </a14:m>
                <a:r>
                  <a:rPr lang="sv-SE" dirty="0" smtClean="0"/>
                  <a:t>, </a:t>
                </a:r>
                <a:r>
                  <a:rPr lang="sv-SE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𝑐𝑝</m:t>
                        </m:r>
                      </m:sub>
                    </m:sSub>
                  </m:oMath>
                </a14:m>
                <a:r>
                  <a:rPr lang="sv-SE" dirty="0" smtClean="0"/>
                  <a:t> are </a:t>
                </a:r>
                <a:r>
                  <a:rPr lang="sv-SE" dirty="0"/>
                  <a:t>the </a:t>
                </a:r>
                <a:r>
                  <a:rPr lang="sv-SE" dirty="0" err="1"/>
                  <a:t>thermal</a:t>
                </a:r>
                <a:r>
                  <a:rPr lang="sv-SE" dirty="0"/>
                  <a:t> </a:t>
                </a:r>
                <a:r>
                  <a:rPr lang="sv-SE" dirty="0" err="1"/>
                  <a:t>resistances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the </a:t>
                </a:r>
                <a:r>
                  <a:rPr lang="sv-SE" dirty="0" err="1"/>
                  <a:t>power</a:t>
                </a:r>
                <a:r>
                  <a:rPr lang="sv-SE" dirty="0"/>
                  <a:t> </a:t>
                </a:r>
                <a:r>
                  <a:rPr lang="sv-SE" dirty="0" err="1"/>
                  <a:t>module</a:t>
                </a:r>
                <a:r>
                  <a:rPr lang="sv-SE" dirty="0"/>
                  <a:t>, </a:t>
                </a:r>
                <a:r>
                  <a:rPr lang="sv-SE" dirty="0" err="1"/>
                  <a:t>thermal</a:t>
                </a:r>
                <a:r>
                  <a:rPr lang="sv-SE" dirty="0"/>
                  <a:t> </a:t>
                </a:r>
                <a:r>
                  <a:rPr lang="en-US" dirty="0"/>
                  <a:t>thermal interface materials (TIM</a:t>
                </a:r>
                <a:r>
                  <a:rPr lang="en-US" dirty="0" smtClean="0"/>
                  <a:t>), </a:t>
                </a:r>
                <a:r>
                  <a:rPr lang="en-US" dirty="0"/>
                  <a:t>and cold plate</a:t>
                </a:r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225" y="973381"/>
                <a:ext cx="5179321" cy="1579920"/>
              </a:xfrm>
              <a:prstGeom prst="rect">
                <a:avLst/>
              </a:prstGeom>
              <a:blipFill>
                <a:blip r:embed="rId3"/>
                <a:stretch>
                  <a:fillRect l="-118" t="-772" b="-308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899592" y="2772542"/>
            <a:ext cx="6624736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</a:t>
            </a:r>
            <a:r>
              <a:rPr lang="sv-SE" dirty="0" err="1"/>
              <a:t>case</a:t>
            </a:r>
            <a:r>
              <a:rPr lang="sv-SE" dirty="0"/>
              <a:t> and </a:t>
            </a:r>
            <a:r>
              <a:rPr lang="sv-SE" dirty="0" err="1"/>
              <a:t>junction</a:t>
            </a:r>
            <a:r>
              <a:rPr lang="sv-SE" dirty="0"/>
              <a:t> </a:t>
            </a:r>
            <a:r>
              <a:rPr lang="sv-SE" dirty="0" err="1"/>
              <a:t>temperature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module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written</a:t>
            </a:r>
            <a:r>
              <a:rPr lang="sv-SE" dirty="0"/>
              <a:t> </a:t>
            </a:r>
            <a:r>
              <a:rPr lang="sv-SE" dirty="0" smtClean="0"/>
              <a:t>as: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694234" y="3220285"/>
                <a:ext cx="1855828" cy="316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234" y="3220285"/>
                <a:ext cx="1855828" cy="316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347864" y="3586597"/>
                <a:ext cx="2582182" cy="3160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𝑡𝑝</m:t>
                          </m:r>
                        </m:sub>
                      </m:sSub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586597"/>
                <a:ext cx="2582182" cy="316049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827584" y="4025485"/>
            <a:ext cx="748883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</a:t>
            </a:r>
            <a:r>
              <a:rPr lang="sv-SE" dirty="0" smtClean="0"/>
              <a:t>he </a:t>
            </a:r>
            <a:r>
              <a:rPr lang="sv-SE" dirty="0" err="1"/>
              <a:t>junction</a:t>
            </a:r>
            <a:r>
              <a:rPr lang="sv-SE" dirty="0"/>
              <a:t> </a:t>
            </a:r>
            <a:r>
              <a:rPr lang="sv-SE" dirty="0" err="1"/>
              <a:t>temperature</a:t>
            </a:r>
            <a:r>
              <a:rPr lang="sv-SE" dirty="0"/>
              <a:t> is a </a:t>
            </a:r>
            <a:r>
              <a:rPr lang="sv-SE" dirty="0" err="1"/>
              <a:t>function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coolant</a:t>
            </a:r>
            <a:r>
              <a:rPr lang="sv-SE" dirty="0"/>
              <a:t> </a:t>
            </a:r>
            <a:r>
              <a:rPr lang="sv-SE" dirty="0" err="1"/>
              <a:t>temperature</a:t>
            </a:r>
            <a:r>
              <a:rPr lang="sv-SE" dirty="0"/>
              <a:t>, </a:t>
            </a:r>
            <a:r>
              <a:rPr lang="sv-SE" dirty="0" err="1"/>
              <a:t>module</a:t>
            </a:r>
            <a:r>
              <a:rPr lang="sv-SE" dirty="0"/>
              <a:t> </a:t>
            </a:r>
            <a:r>
              <a:rPr lang="sv-SE" dirty="0" err="1"/>
              <a:t>power</a:t>
            </a:r>
            <a:r>
              <a:rPr lang="sv-SE" dirty="0"/>
              <a:t> loss, and </a:t>
            </a:r>
            <a:r>
              <a:rPr lang="sv-SE" dirty="0" err="1"/>
              <a:t>thermal</a:t>
            </a:r>
            <a:r>
              <a:rPr lang="sv-SE" dirty="0"/>
              <a:t> </a:t>
            </a:r>
            <a:r>
              <a:rPr lang="sv-SE" dirty="0" err="1"/>
              <a:t>resistances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276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270634"/>
            <a:ext cx="7763861" cy="647700"/>
          </a:xfrm>
        </p:spPr>
        <p:txBody>
          <a:bodyPr/>
          <a:lstStyle/>
          <a:p>
            <a:pPr algn="ctr"/>
            <a:r>
              <a:rPr lang="en-US" sz="2800" dirty="0"/>
              <a:t>Loss Calculation Assumptions</a:t>
            </a:r>
            <a:endParaRPr lang="sv-SE" dirty="0"/>
          </a:p>
        </p:txBody>
      </p:sp>
      <p:sp>
        <p:nvSpPr>
          <p:cNvPr id="2" name="Rectangle 1"/>
          <p:cNvSpPr/>
          <p:nvPr/>
        </p:nvSpPr>
        <p:spPr>
          <a:xfrm>
            <a:off x="971600" y="918334"/>
            <a:ext cx="75608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sv-SE" sz="1500" dirty="0" err="1"/>
              <a:t>SiC</a:t>
            </a:r>
            <a:r>
              <a:rPr lang="sv-SE" sz="1500" dirty="0"/>
              <a:t> </a:t>
            </a:r>
            <a:r>
              <a:rPr lang="sv-SE" sz="1500" dirty="0" err="1"/>
              <a:t>MOSFETs</a:t>
            </a:r>
            <a:r>
              <a:rPr lang="sv-SE" sz="1500" dirty="0"/>
              <a:t>, </a:t>
            </a:r>
            <a:r>
              <a:rPr lang="sv-SE" sz="1500" dirty="0" err="1"/>
              <a:t>which</a:t>
            </a:r>
            <a:r>
              <a:rPr lang="sv-SE" sz="1500" dirty="0"/>
              <a:t> </a:t>
            </a:r>
            <a:r>
              <a:rPr lang="sv-SE" sz="1500" dirty="0" err="1"/>
              <a:t>are</a:t>
            </a:r>
            <a:r>
              <a:rPr lang="sv-SE" sz="1500" dirty="0"/>
              <a:t> </a:t>
            </a:r>
            <a:r>
              <a:rPr lang="sv-SE" sz="1500" dirty="0" err="1"/>
              <a:t>capable</a:t>
            </a:r>
            <a:r>
              <a:rPr lang="sv-SE" sz="1500" dirty="0"/>
              <a:t> </a:t>
            </a:r>
            <a:r>
              <a:rPr lang="sv-SE" sz="1500" dirty="0" err="1"/>
              <a:t>of</a:t>
            </a:r>
            <a:r>
              <a:rPr lang="sv-SE" sz="1500" dirty="0"/>
              <a:t> </a:t>
            </a:r>
            <a:r>
              <a:rPr lang="sv-SE" sz="1500" b="1" dirty="0"/>
              <a:t>forward</a:t>
            </a:r>
            <a:r>
              <a:rPr lang="sv-SE" sz="1500" dirty="0"/>
              <a:t> and </a:t>
            </a:r>
            <a:r>
              <a:rPr lang="sv-SE" sz="1500" b="1" dirty="0" err="1"/>
              <a:t>reverse</a:t>
            </a:r>
            <a:r>
              <a:rPr lang="sv-SE" sz="1500" b="1" dirty="0"/>
              <a:t> </a:t>
            </a:r>
            <a:r>
              <a:rPr lang="sv-SE" sz="1500" b="1" dirty="0" err="1"/>
              <a:t>current</a:t>
            </a:r>
            <a:r>
              <a:rPr lang="sv-SE" sz="1500" b="1" dirty="0"/>
              <a:t> </a:t>
            </a:r>
            <a:r>
              <a:rPr lang="sv-SE" sz="1500" dirty="0" err="1"/>
              <a:t>conduction</a:t>
            </a:r>
            <a:r>
              <a:rPr lang="sv-SE" sz="1500" dirty="0"/>
              <a:t> </a:t>
            </a:r>
            <a:r>
              <a:rPr lang="sv-SE" sz="1500" dirty="0" err="1"/>
              <a:t>through</a:t>
            </a:r>
            <a:r>
              <a:rPr lang="sv-SE" sz="1500" dirty="0"/>
              <a:t> the </a:t>
            </a:r>
            <a:r>
              <a:rPr lang="sv-SE" sz="1500" dirty="0" err="1"/>
              <a:t>channel</a:t>
            </a:r>
            <a:r>
              <a:rPr lang="sv-SE" sz="1500" dirty="0"/>
              <a:t>, </a:t>
            </a:r>
            <a:r>
              <a:rPr lang="sv-SE" sz="1500" dirty="0" err="1"/>
              <a:t>are</a:t>
            </a:r>
            <a:r>
              <a:rPr lang="sv-SE" sz="1500" dirty="0"/>
              <a:t> </a:t>
            </a:r>
            <a:r>
              <a:rPr lang="sv-SE" sz="1500" dirty="0" err="1"/>
              <a:t>used</a:t>
            </a:r>
            <a:r>
              <a:rPr lang="sv-SE" sz="1500" dirty="0"/>
              <a:t> as </a:t>
            </a:r>
            <a:r>
              <a:rPr lang="sv-SE" sz="1500" dirty="0" err="1"/>
              <a:t>switching</a:t>
            </a:r>
            <a:r>
              <a:rPr lang="sv-SE" sz="1500" dirty="0"/>
              <a:t> </a:t>
            </a:r>
            <a:r>
              <a:rPr lang="sv-SE" sz="1500" dirty="0" err="1"/>
              <a:t>devices</a:t>
            </a:r>
            <a:r>
              <a:rPr lang="sv-SE" sz="1500" dirty="0"/>
              <a:t>. </a:t>
            </a:r>
            <a:r>
              <a:rPr lang="en-US" sz="1500" dirty="0"/>
              <a:t>It is assumed that </a:t>
            </a:r>
            <a:r>
              <a:rPr lang="en-US" sz="1500" b="1" dirty="0"/>
              <a:t>the reverse current flows completely through the MOSFET channel</a:t>
            </a:r>
            <a:r>
              <a:rPr lang="en-US" sz="1500" dirty="0"/>
              <a:t>. This is a worse assumption than </a:t>
            </a:r>
            <a:r>
              <a:rPr lang="en-US" sz="1500" b="1" dirty="0"/>
              <a:t>current sharing </a:t>
            </a:r>
            <a:r>
              <a:rPr lang="en-US" sz="1500" dirty="0"/>
              <a:t>between the </a:t>
            </a:r>
            <a:r>
              <a:rPr lang="en-US" sz="1500" b="1" dirty="0"/>
              <a:t>channel</a:t>
            </a:r>
            <a:r>
              <a:rPr lang="en-US" sz="1500" dirty="0"/>
              <a:t> and the </a:t>
            </a:r>
            <a:r>
              <a:rPr lang="en-US" sz="1500" b="1" dirty="0"/>
              <a:t>body diode</a:t>
            </a:r>
            <a:r>
              <a:rPr lang="en-US" sz="1500" dirty="0"/>
              <a:t>. It partly compensates the </a:t>
            </a:r>
            <a:r>
              <a:rPr lang="en-US" sz="1500" dirty="0" err="1"/>
              <a:t>neglection</a:t>
            </a:r>
            <a:r>
              <a:rPr lang="en-US" sz="1500" dirty="0"/>
              <a:t> of losses in the body diode during interlock (dead) times.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500" b="1" dirty="0"/>
              <a:t>The reverse recovery energy of the body diode is also not considered</a:t>
            </a:r>
            <a:r>
              <a:rPr lang="en-US" sz="1500" dirty="0"/>
              <a:t>, since measuring it is problematic  and it is comparably small so that it is not included in the datasheet of the module.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500" dirty="0"/>
              <a:t>When the MOSFET is </a:t>
            </a:r>
            <a:r>
              <a:rPr lang="en-US" sz="1500" b="1" dirty="0"/>
              <a:t>in reverse conduction mode </a:t>
            </a:r>
            <a:r>
              <a:rPr lang="en-US" sz="1500" dirty="0" smtClean="0"/>
              <a:t>the </a:t>
            </a:r>
            <a:r>
              <a:rPr lang="en-US" sz="1500" dirty="0"/>
              <a:t>current commutates from and to its own body diode under </a:t>
            </a:r>
            <a:r>
              <a:rPr lang="en-US" sz="1500" b="1" dirty="0"/>
              <a:t>zero voltage switching (ZVS) condition</a:t>
            </a:r>
            <a:r>
              <a:rPr lang="en-US" sz="1500" dirty="0"/>
              <a:t>, and therefore </a:t>
            </a:r>
            <a:r>
              <a:rPr lang="en-US" sz="1500" b="1" dirty="0"/>
              <a:t>switching losses </a:t>
            </a:r>
            <a:r>
              <a:rPr lang="en-US" sz="1500" dirty="0"/>
              <a:t>are only taken into account during </a:t>
            </a:r>
            <a:r>
              <a:rPr lang="en-US" sz="1500" b="1" dirty="0"/>
              <a:t>forward conduction mode </a:t>
            </a:r>
            <a:r>
              <a:rPr lang="en-US" sz="1500" dirty="0"/>
              <a:t>of the MOSFET.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500" dirty="0"/>
              <a:t>For the </a:t>
            </a:r>
            <a:r>
              <a:rPr lang="en-US" sz="1500" b="1" dirty="0"/>
              <a:t>NPC</a:t>
            </a:r>
            <a:r>
              <a:rPr lang="en-US" sz="1500" dirty="0"/>
              <a:t> inverter, another type of semiconductor is used for the clamping diodes. Here, </a:t>
            </a:r>
            <a:r>
              <a:rPr lang="en-US" sz="1500" b="1" dirty="0" err="1"/>
              <a:t>SiC</a:t>
            </a:r>
            <a:r>
              <a:rPr lang="en-US" sz="1500" b="1" dirty="0"/>
              <a:t> </a:t>
            </a:r>
            <a:r>
              <a:rPr lang="en-US" sz="1500" b="1" dirty="0" err="1"/>
              <a:t>Schottky</a:t>
            </a:r>
            <a:r>
              <a:rPr lang="en-US" sz="1500" b="1" dirty="0"/>
              <a:t> </a:t>
            </a:r>
            <a:r>
              <a:rPr lang="en-US" sz="1500" dirty="0"/>
              <a:t>diodes are considered which have </a:t>
            </a:r>
            <a:r>
              <a:rPr lang="en-US" sz="1500" b="1" dirty="0"/>
              <a:t>negligible switching losses</a:t>
            </a:r>
            <a:r>
              <a:rPr lang="en-US" sz="1500" dirty="0"/>
              <a:t>, and thus only </a:t>
            </a:r>
            <a:r>
              <a:rPr lang="en-US" sz="1500" b="1" dirty="0"/>
              <a:t>the conduction losses </a:t>
            </a:r>
            <a:r>
              <a:rPr lang="en-US" sz="1500" dirty="0"/>
              <a:t>are </a:t>
            </a:r>
            <a:r>
              <a:rPr lang="en-US" sz="1500" b="1" dirty="0"/>
              <a:t>accounted</a:t>
            </a:r>
            <a:r>
              <a:rPr lang="en-US" sz="1500" dirty="0"/>
              <a:t> for.</a:t>
            </a:r>
          </a:p>
        </p:txBody>
      </p:sp>
    </p:spTree>
    <p:extLst>
      <p:ext uri="{BB962C8B-B14F-4D97-AF65-F5344CB8AC3E}">
        <p14:creationId xmlns:p14="http://schemas.microsoft.com/office/powerpoint/2010/main" val="10446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7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1" y="267494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Datasheet Parameters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31590"/>
            <a:ext cx="2614986" cy="29395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296" y="1131590"/>
            <a:ext cx="2620222" cy="30243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" r="1606"/>
          <a:stretch/>
        </p:blipFill>
        <p:spPr>
          <a:xfrm>
            <a:off x="6228184" y="1059582"/>
            <a:ext cx="2516168" cy="29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1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8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1" y="267494"/>
            <a:ext cx="7560840" cy="647700"/>
          </a:xfrm>
        </p:spPr>
        <p:txBody>
          <a:bodyPr/>
          <a:lstStyle/>
          <a:p>
            <a:pPr algn="ctr"/>
            <a:r>
              <a:rPr lang="en-US" sz="2800" dirty="0" err="1" smtClean="0"/>
              <a:t>Grabit</a:t>
            </a:r>
            <a:r>
              <a:rPr lang="en-US" sz="2800" dirty="0" smtClean="0"/>
              <a:t> and Digital Data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4973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9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72818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Modulation</a:t>
            </a:r>
            <a:endParaRPr lang="sv-SE" dirty="0"/>
          </a:p>
        </p:txBody>
      </p:sp>
      <p:sp>
        <p:nvSpPr>
          <p:cNvPr id="23" name="Rounded Rectangle 22"/>
          <p:cNvSpPr/>
          <p:nvPr/>
        </p:nvSpPr>
        <p:spPr>
          <a:xfrm>
            <a:off x="1059601" y="1275606"/>
            <a:ext cx="2498638" cy="4139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Input Parameters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/>
          <p:cNvCxnSpPr>
            <a:stCxn id="23" idx="3"/>
          </p:cNvCxnSpPr>
          <p:nvPr/>
        </p:nvCxnSpPr>
        <p:spPr>
          <a:xfrm flipV="1">
            <a:off x="3558239" y="1481465"/>
            <a:ext cx="574585" cy="11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88808" y="1227892"/>
            <a:ext cx="396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Switching frequency, DC link voltage, Power, </a:t>
            </a:r>
          </a:p>
          <a:p>
            <a:r>
              <a:rPr lang="en-US" sz="1200" dirty="0" smtClean="0"/>
              <a:t>Power factor</a:t>
            </a:r>
          </a:p>
        </p:txBody>
      </p:sp>
      <p:cxnSp>
        <p:nvCxnSpPr>
          <p:cNvPr id="26" name="Straight Arrow Connector 25"/>
          <p:cNvCxnSpPr>
            <a:stCxn id="23" idx="2"/>
            <a:endCxn id="27" idx="0"/>
          </p:cNvCxnSpPr>
          <p:nvPr/>
        </p:nvCxnSpPr>
        <p:spPr>
          <a:xfrm>
            <a:off x="2308920" y="1689557"/>
            <a:ext cx="0" cy="53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9601" y="2225959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 and Modulation Selection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7" idx="2"/>
          </p:cNvCxnSpPr>
          <p:nvPr/>
        </p:nvCxnSpPr>
        <p:spPr>
          <a:xfrm>
            <a:off x="2308920" y="2819084"/>
            <a:ext cx="0" cy="535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7" idx="3"/>
          </p:cNvCxnSpPr>
          <p:nvPr/>
        </p:nvCxnSpPr>
        <p:spPr>
          <a:xfrm flipV="1">
            <a:off x="3558239" y="2520289"/>
            <a:ext cx="574585" cy="22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88808" y="2266716"/>
            <a:ext cx="396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2 level : SPWM THIPWM SVPWM</a:t>
            </a:r>
          </a:p>
          <a:p>
            <a:r>
              <a:rPr lang="en-US" sz="1200" dirty="0" smtClean="0"/>
              <a:t>3 level NPC: SPWM THIPWM SVPWM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9601" y="3354369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voltage and current waveforms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806" y="2936366"/>
            <a:ext cx="2332438" cy="174932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54" y="2934828"/>
            <a:ext cx="2448272" cy="183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4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10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07909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Conduction and Switching Events</a:t>
            </a:r>
            <a:endParaRPr lang="sv-SE" dirty="0"/>
          </a:p>
        </p:txBody>
      </p:sp>
      <p:sp>
        <p:nvSpPr>
          <p:cNvPr id="23" name="Rounded Rectangle 22"/>
          <p:cNvSpPr/>
          <p:nvPr/>
        </p:nvSpPr>
        <p:spPr>
          <a:xfrm>
            <a:off x="3229836" y="999281"/>
            <a:ext cx="2498638" cy="4139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oltage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current waveforms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/>
          <p:cNvCxnSpPr>
            <a:stCxn id="23" idx="2"/>
            <a:endCxn id="27" idx="0"/>
          </p:cNvCxnSpPr>
          <p:nvPr/>
        </p:nvCxnSpPr>
        <p:spPr>
          <a:xfrm>
            <a:off x="4479155" y="1413232"/>
            <a:ext cx="0" cy="1315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29836" y="2728478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conduction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commutation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8" y="1848803"/>
            <a:ext cx="2899502" cy="21746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74" y="1792004"/>
            <a:ext cx="3205929" cy="24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9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32" y="2655033"/>
            <a:ext cx="2480492" cy="186036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844" y="2613161"/>
            <a:ext cx="2586548" cy="193991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11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771" y="154477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Loss Calculations</a:t>
            </a:r>
            <a:endParaRPr lang="sv-SE" dirty="0"/>
          </a:p>
        </p:txBody>
      </p:sp>
      <p:sp>
        <p:nvSpPr>
          <p:cNvPr id="13" name="Rounded Rectangle 12"/>
          <p:cNvSpPr/>
          <p:nvPr/>
        </p:nvSpPr>
        <p:spPr>
          <a:xfrm>
            <a:off x="3419872" y="805356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conduction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commutation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>
            <a:stCxn id="13" idx="2"/>
            <a:endCxn id="18" idx="0"/>
          </p:cNvCxnSpPr>
          <p:nvPr/>
        </p:nvCxnSpPr>
        <p:spPr>
          <a:xfrm flipH="1">
            <a:off x="2170553" y="1398481"/>
            <a:ext cx="2498638" cy="594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1234" y="1993243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Conduction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18510" y="1909833"/>
            <a:ext cx="2498638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sv-S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</a:t>
            </a:r>
            <a:r>
              <a:rPr lang="sv-S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3" idx="2"/>
            <a:endCxn id="21" idx="0"/>
          </p:cNvCxnSpPr>
          <p:nvPr/>
        </p:nvCxnSpPr>
        <p:spPr>
          <a:xfrm>
            <a:off x="4669191" y="1398481"/>
            <a:ext cx="2498638" cy="511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" y="2635659"/>
            <a:ext cx="2506324" cy="187974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01" y="2666473"/>
            <a:ext cx="2545463" cy="190909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420" y="482022"/>
            <a:ext cx="1690728" cy="126804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08" y="565653"/>
            <a:ext cx="1666430" cy="124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2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12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07909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Iterative Solution</a:t>
            </a:r>
            <a:endParaRPr lang="sv-SE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91630"/>
            <a:ext cx="3914298" cy="21231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555526"/>
            <a:ext cx="2952328" cy="22142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515" y="2753728"/>
            <a:ext cx="2851409" cy="21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5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2023-09-18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13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Summary  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4700" y="1132511"/>
                <a:ext cx="7488832" cy="540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sv-SE" sz="1400" dirty="0" smtClean="0"/>
                  <a:t>1.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sz="14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sub>
                    </m:sSub>
                    <m:r>
                      <a:rPr lang="sv-SE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1400" dirty="0" smtClean="0"/>
                  <a:t> is proportional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sv-SE" sz="1400" dirty="0" smtClean="0"/>
              </a:p>
              <a:p>
                <a:pPr algn="l"/>
                <a:endParaRPr lang="sv-SE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00" y="1132511"/>
                <a:ext cx="7488832" cy="540533"/>
              </a:xfrm>
              <a:prstGeom prst="rect">
                <a:avLst/>
              </a:prstGeom>
              <a:blipFill>
                <a:blip r:embed="rId2"/>
                <a:stretch>
                  <a:fillRect l="-1465" t="-1022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44926" y="1418374"/>
                <a:ext cx="1927771" cy="312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𝑇𝑗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= (1+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926" y="1418374"/>
                <a:ext cx="1927771" cy="312714"/>
              </a:xfrm>
              <a:prstGeom prst="rect">
                <a:avLst/>
              </a:prstGeom>
              <a:blipFill>
                <a:blip r:embed="rId3"/>
                <a:stretch>
                  <a:fillRect l="-3165" r="-633" b="-1764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99592" y="1994865"/>
                <a:ext cx="371531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v-SE" sz="1400" dirty="0" smtClean="0"/>
                  <a:t>2. The </a:t>
                </a:r>
                <a:r>
                  <a:rPr lang="sv-SE" sz="1400" dirty="0" err="1"/>
                  <a:t>switching</a:t>
                </a:r>
                <a:r>
                  <a:rPr lang="sv-SE" sz="1400" dirty="0"/>
                  <a:t> </a:t>
                </a:r>
                <a:r>
                  <a:rPr lang="sv-SE" sz="1400" dirty="0" err="1"/>
                  <a:t>energy</a:t>
                </a:r>
                <a:r>
                  <a:rPr lang="sv-SE" sz="1400" dirty="0"/>
                  <a:t> is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4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sv-SE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994865"/>
                <a:ext cx="3715312" cy="307777"/>
              </a:xfrm>
              <a:prstGeom prst="rect">
                <a:avLst/>
              </a:prstGeom>
              <a:blipFill>
                <a:blip r:embed="rId4"/>
                <a:stretch>
                  <a:fillRect l="-493" t="-3922" b="-1960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899592" y="3015972"/>
            <a:ext cx="88439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 smtClean="0"/>
              <a:t>3. The </a:t>
            </a:r>
            <a:r>
              <a:rPr lang="sv-SE" sz="1400" dirty="0" err="1"/>
              <a:t>switching</a:t>
            </a:r>
            <a:r>
              <a:rPr lang="sv-SE" sz="1400" dirty="0"/>
              <a:t> </a:t>
            </a:r>
            <a:r>
              <a:rPr lang="sv-SE" sz="1400" dirty="0" err="1"/>
              <a:t>energy</a:t>
            </a:r>
            <a:r>
              <a:rPr lang="sv-SE" sz="1400" dirty="0"/>
              <a:t> is </a:t>
            </a:r>
            <a:r>
              <a:rPr lang="sv-SE" sz="1400" dirty="0" err="1"/>
              <a:t>supposed</a:t>
            </a:r>
            <a:r>
              <a:rPr lang="sv-SE" sz="1400" dirty="0"/>
              <a:t> to be proportional to the </a:t>
            </a:r>
            <a:r>
              <a:rPr lang="sv-SE" sz="1400" dirty="0" err="1"/>
              <a:t>load</a:t>
            </a:r>
            <a:r>
              <a:rPr lang="sv-SE" sz="1400" dirty="0"/>
              <a:t> </a:t>
            </a:r>
            <a:r>
              <a:rPr lang="sv-SE" sz="1400" dirty="0" err="1" smtClean="0"/>
              <a:t>current</a:t>
            </a:r>
            <a:r>
              <a:rPr lang="sv-SE" sz="1013" dirty="0" smtClean="0"/>
              <a:t>. </a:t>
            </a:r>
            <a:endParaRPr lang="sv-SE" sz="1013" dirty="0"/>
          </a:p>
        </p:txBody>
      </p:sp>
      <p:sp>
        <p:nvSpPr>
          <p:cNvPr id="14" name="Rectangle 13"/>
          <p:cNvSpPr/>
          <p:nvPr/>
        </p:nvSpPr>
        <p:spPr>
          <a:xfrm>
            <a:off x="899592" y="3856254"/>
            <a:ext cx="61206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 smtClean="0"/>
              <a:t>4. The </a:t>
            </a:r>
            <a:r>
              <a:rPr lang="sv-SE" sz="1400" dirty="0" err="1"/>
              <a:t>function</a:t>
            </a:r>
            <a:r>
              <a:rPr lang="sv-SE" sz="1400" dirty="0"/>
              <a:t> for the </a:t>
            </a:r>
            <a:r>
              <a:rPr lang="sv-SE" sz="1400" dirty="0" err="1"/>
              <a:t>temperature</a:t>
            </a:r>
            <a:r>
              <a:rPr lang="sv-SE" sz="1400" dirty="0"/>
              <a:t> </a:t>
            </a:r>
            <a:r>
              <a:rPr lang="sv-SE" sz="1400" dirty="0" err="1"/>
              <a:t>effect</a:t>
            </a:r>
            <a:r>
              <a:rPr lang="sv-SE" sz="1400" dirty="0"/>
              <a:t> fits </a:t>
            </a:r>
            <a:r>
              <a:rPr lang="sv-SE" sz="1400" dirty="0" err="1"/>
              <a:t>with</a:t>
            </a:r>
            <a:r>
              <a:rPr lang="sv-SE" sz="1400" dirty="0"/>
              <a:t> a </a:t>
            </a:r>
            <a:r>
              <a:rPr lang="sv-SE" sz="1400" dirty="0" err="1"/>
              <a:t>first-degree</a:t>
            </a:r>
            <a:r>
              <a:rPr lang="sv-SE" sz="1400" dirty="0"/>
              <a:t> </a:t>
            </a:r>
            <a:r>
              <a:rPr lang="sv-SE" sz="1400" dirty="0" err="1" smtClean="0"/>
              <a:t>polynomial</a:t>
            </a:r>
            <a:r>
              <a:rPr lang="sv-SE" sz="1400" dirty="0" smtClean="0"/>
              <a:t>.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09376" y="2318238"/>
                <a:ext cx="2170017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  <m:t>𝐷𝐶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</m:e>
                      </m:d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  <m:t>𝑠𝑤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sv-SE" sz="1600" b="0" i="1" smtClean="0">
                                          <a:latin typeface="Cambria Math" panose="02040503050406030204" pitchFamily="18" charset="0"/>
                                        </a:rPr>
                                        <m:t>𝐷𝐶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376" y="2318238"/>
                <a:ext cx="2170017" cy="581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71957" y="3388135"/>
                <a:ext cx="2057486" cy="268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= (1+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57" y="3388135"/>
                <a:ext cx="2057486" cy="268920"/>
              </a:xfrm>
              <a:prstGeom prst="rect">
                <a:avLst/>
              </a:prstGeom>
              <a:blipFill>
                <a:blip r:embed="rId6"/>
                <a:stretch>
                  <a:fillRect l="-2967" r="-593" b="-2272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71897" y="4305604"/>
                <a:ext cx="2006318" cy="352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= (1+</m:t>
                      </m:r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sv-S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sz="16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97" y="4305604"/>
                <a:ext cx="2006318" cy="352982"/>
              </a:xfrm>
              <a:prstGeom prst="rect">
                <a:avLst/>
              </a:prstGeom>
              <a:blipFill>
                <a:blip r:embed="rId7"/>
                <a:stretch>
                  <a:fillRect l="-3040" r="-608" b="-1724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38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Validation by Double Pulse Test  </a:t>
            </a:r>
            <a:endParaRPr lang="sv-SE" dirty="0"/>
          </a:p>
        </p:txBody>
      </p:sp>
      <p:sp>
        <p:nvSpPr>
          <p:cNvPr id="2" name="Rectangle 1"/>
          <p:cNvSpPr/>
          <p:nvPr/>
        </p:nvSpPr>
        <p:spPr>
          <a:xfrm>
            <a:off x="899592" y="987574"/>
            <a:ext cx="756084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Söhne"/>
              </a:rPr>
              <a:t>Objective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: The primary objective of the double pulse test is to measure 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the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switching 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behavior and compare/validate the theoretical calculation. 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899592" y="1608193"/>
            <a:ext cx="741682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Söhne"/>
              </a:rPr>
              <a:t>Setup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: To perform a double pulse test, 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we need a half-bridge module, a gate driver, a pulse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generator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, DC-link capacitance,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and 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load inductance. </a:t>
            </a:r>
            <a:endParaRPr lang="sv-SE" dirty="0"/>
          </a:p>
        </p:txBody>
      </p:sp>
      <p:pic>
        <p:nvPicPr>
          <p:cNvPr id="1026" name="Picture 2" descr="https://www.powerelectronictips.com/wp-content/uploads/2022/02/GaN-testing-challenges-Figure-1-1024x803.jp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55726"/>
            <a:ext cx="2525126" cy="198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98" y="2418135"/>
            <a:ext cx="2614865" cy="157735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996755" y="3475900"/>
            <a:ext cx="2521417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Söhne"/>
              </a:rPr>
              <a:t>Second </a:t>
            </a:r>
            <a:r>
              <a:rPr lang="en-US" b="1" dirty="0">
                <a:latin typeface="Söhne"/>
              </a:rPr>
              <a:t>Pulse (Turn-On</a:t>
            </a:r>
            <a:r>
              <a:rPr lang="en-US" b="1" dirty="0" smtClean="0">
                <a:latin typeface="Söhne"/>
              </a:rPr>
              <a:t>) 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: </a:t>
            </a:r>
            <a:r>
              <a:rPr lang="en-US" dirty="0" smtClean="0"/>
              <a:t>to </a:t>
            </a:r>
            <a:r>
              <a:rPr lang="en-US" dirty="0"/>
              <a:t>switch from off to on (turn-on time), the voltage rise time, and any overshoot or ringing in the voltage waveform</a:t>
            </a:r>
            <a:endParaRPr lang="sv-SE" dirty="0"/>
          </a:p>
        </p:txBody>
      </p:sp>
      <p:sp>
        <p:nvSpPr>
          <p:cNvPr id="24" name="Rectangle 23"/>
          <p:cNvSpPr/>
          <p:nvPr/>
        </p:nvSpPr>
        <p:spPr>
          <a:xfrm>
            <a:off x="5985759" y="2410632"/>
            <a:ext cx="2521417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Söhne"/>
              </a:rPr>
              <a:t>First Pulse (Turn-Off)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: </a:t>
            </a:r>
            <a:r>
              <a:rPr lang="en-US" dirty="0"/>
              <a:t>turn-off time, voltage fall time, and any voltage spikes or ringing.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5531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Double Pulse Test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026" r="-639"/>
          <a:stretch/>
        </p:blipFill>
        <p:spPr>
          <a:xfrm>
            <a:off x="107504" y="1333915"/>
            <a:ext cx="5184576" cy="2434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55" y="2734046"/>
            <a:ext cx="2452756" cy="16561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401" y="1381709"/>
            <a:ext cx="2932633" cy="16659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55324" y="997568"/>
            <a:ext cx="24320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Ideal parts and waveforms</a:t>
            </a:r>
            <a:endParaRPr lang="sv-SE" b="1" dirty="0"/>
          </a:p>
        </p:txBody>
      </p:sp>
      <p:sp>
        <p:nvSpPr>
          <p:cNvPr id="14" name="Rectangle 13"/>
          <p:cNvSpPr/>
          <p:nvPr/>
        </p:nvSpPr>
        <p:spPr>
          <a:xfrm>
            <a:off x="5868144" y="1091454"/>
            <a:ext cx="2023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Parasitics</a:t>
            </a:r>
            <a:r>
              <a:rPr lang="en-US" sz="1400" b="1" dirty="0" smtClean="0"/>
              <a:t> and affects</a:t>
            </a:r>
            <a:endParaRPr lang="sv-SE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348" y="2931790"/>
            <a:ext cx="2736304" cy="18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Inductor Selection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651189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</a:t>
            </a:r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considerations</a:t>
            </a:r>
            <a:r>
              <a:rPr lang="sv-SE" dirty="0"/>
              <a:t> for the </a:t>
            </a:r>
            <a:r>
              <a:rPr lang="sv-SE" dirty="0" err="1"/>
              <a:t>selection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inductor</a:t>
            </a:r>
            <a:r>
              <a:rPr lang="sv-SE" dirty="0"/>
              <a:t> </a:t>
            </a:r>
            <a:r>
              <a:rPr lang="sv-SE" dirty="0" err="1" smtClean="0"/>
              <a:t>include</a:t>
            </a:r>
            <a:r>
              <a:rPr lang="sv-SE" dirty="0" smtClean="0"/>
              <a:t>: </a:t>
            </a:r>
            <a:endParaRPr lang="sv-SE" dirty="0"/>
          </a:p>
        </p:txBody>
      </p:sp>
      <p:sp>
        <p:nvSpPr>
          <p:cNvPr id="8" name="Rectangle 7"/>
          <p:cNvSpPr/>
          <p:nvPr/>
        </p:nvSpPr>
        <p:spPr>
          <a:xfrm>
            <a:off x="633524" y="1287656"/>
            <a:ext cx="8092976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/>
              <a:t>It </a:t>
            </a:r>
            <a:r>
              <a:rPr lang="sv-SE" dirty="0" err="1"/>
              <a:t>should</a:t>
            </a:r>
            <a:r>
              <a:rPr lang="sv-SE" dirty="0"/>
              <a:t> not </a:t>
            </a:r>
            <a:r>
              <a:rPr lang="sv-SE" dirty="0" err="1"/>
              <a:t>saturate</a:t>
            </a:r>
            <a:r>
              <a:rPr lang="sv-SE" dirty="0"/>
              <a:t> at the </a:t>
            </a:r>
            <a:r>
              <a:rPr lang="sv-SE" dirty="0" err="1"/>
              <a:t>peak</a:t>
            </a:r>
            <a:r>
              <a:rPr lang="sv-SE" dirty="0"/>
              <a:t> test </a:t>
            </a:r>
            <a:r>
              <a:rPr lang="sv-SE" dirty="0" err="1"/>
              <a:t>currents</a:t>
            </a:r>
            <a:r>
              <a:rPr lang="sv-SE" dirty="0" smtClean="0"/>
              <a:t>. (Air </a:t>
            </a:r>
            <a:r>
              <a:rPr lang="sv-SE" dirty="0" err="1" smtClean="0"/>
              <a:t>core</a:t>
            </a:r>
            <a:r>
              <a:rPr lang="sv-SE" dirty="0" smtClean="0"/>
              <a:t> </a:t>
            </a:r>
            <a:r>
              <a:rPr lang="sv-SE" dirty="0" err="1" smtClean="0"/>
              <a:t>inductors</a:t>
            </a:r>
            <a:r>
              <a:rPr lang="sv-SE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It </a:t>
            </a:r>
            <a:r>
              <a:rPr lang="sv-SE" dirty="0" err="1"/>
              <a:t>should</a:t>
            </a:r>
            <a:r>
              <a:rPr lang="sv-SE" dirty="0"/>
              <a:t> limit the di/dt so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times</a:t>
            </a:r>
            <a:r>
              <a:rPr lang="sv-SE" dirty="0"/>
              <a:t> (T1, T2 and </a:t>
            </a:r>
            <a:r>
              <a:rPr lang="sv-SE" dirty="0" smtClean="0"/>
              <a:t>T3) </a:t>
            </a:r>
            <a:r>
              <a:rPr lang="sv-SE" dirty="0" err="1"/>
              <a:t>are</a:t>
            </a:r>
            <a:r>
              <a:rPr lang="sv-SE" dirty="0"/>
              <a:t> not less </a:t>
            </a:r>
            <a:r>
              <a:rPr lang="sv-SE" dirty="0" err="1"/>
              <a:t>than</a:t>
            </a:r>
            <a:r>
              <a:rPr lang="sv-SE" dirty="0"/>
              <a:t> 10 </a:t>
            </a:r>
            <a:r>
              <a:rPr lang="sv-SE" dirty="0" err="1"/>
              <a:t>μs</a:t>
            </a:r>
            <a:r>
              <a:rPr lang="sv-SE" dirty="0"/>
              <a:t>, to </a:t>
            </a:r>
            <a:r>
              <a:rPr lang="sv-SE" dirty="0" err="1"/>
              <a:t>ensure</a:t>
            </a:r>
            <a:r>
              <a:rPr lang="sv-SE" dirty="0"/>
              <a:t> the </a:t>
            </a:r>
            <a:r>
              <a:rPr lang="sv-SE" dirty="0" err="1"/>
              <a:t>devices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fully</a:t>
            </a:r>
            <a:r>
              <a:rPr lang="sv-SE" dirty="0"/>
              <a:t> </a:t>
            </a:r>
            <a:r>
              <a:rPr lang="sv-SE" dirty="0" err="1"/>
              <a:t>turned</a:t>
            </a:r>
            <a:r>
              <a:rPr lang="sv-SE" dirty="0"/>
              <a:t> on or off. 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The </a:t>
            </a:r>
            <a:r>
              <a:rPr lang="sv-SE" dirty="0"/>
              <a:t>di/dt </a:t>
            </a:r>
            <a:r>
              <a:rPr lang="sv-SE" dirty="0" err="1"/>
              <a:t>should</a:t>
            </a:r>
            <a:r>
              <a:rPr lang="sv-SE" dirty="0"/>
              <a:t> not be so </a:t>
            </a:r>
            <a:r>
              <a:rPr lang="sv-SE" dirty="0" err="1"/>
              <a:t>low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times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200 </a:t>
            </a:r>
            <a:r>
              <a:rPr lang="sv-SE" dirty="0" err="1"/>
              <a:t>μS</a:t>
            </a:r>
            <a:r>
              <a:rPr lang="sv-SE" dirty="0"/>
              <a:t> so as not to cause the DC bus </a:t>
            </a:r>
            <a:r>
              <a:rPr lang="sv-SE" dirty="0" err="1"/>
              <a:t>voltage</a:t>
            </a:r>
            <a:r>
              <a:rPr lang="sv-SE" dirty="0"/>
              <a:t> to dip by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≈5 </a:t>
            </a:r>
            <a:r>
              <a:rPr lang="sv-SE" dirty="0" err="1"/>
              <a:t>percent</a:t>
            </a:r>
            <a:r>
              <a:rPr lang="sv-SE" dirty="0"/>
              <a:t>, and so </a:t>
            </a:r>
            <a:r>
              <a:rPr lang="sv-SE" dirty="0" err="1"/>
              <a:t>change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r>
              <a:rPr lang="sv-SE" dirty="0"/>
              <a:t>. In addition, </a:t>
            </a:r>
            <a:r>
              <a:rPr lang="sv-SE" dirty="0" err="1"/>
              <a:t>if</a:t>
            </a:r>
            <a:r>
              <a:rPr lang="sv-SE" dirty="0"/>
              <a:t> the </a:t>
            </a:r>
            <a:r>
              <a:rPr lang="sv-SE" dirty="0" err="1"/>
              <a:t>current</a:t>
            </a:r>
            <a:r>
              <a:rPr lang="sv-SE" dirty="0"/>
              <a:t> </a:t>
            </a:r>
            <a:r>
              <a:rPr lang="sv-SE" dirty="0" err="1"/>
              <a:t>pulse</a:t>
            </a:r>
            <a:r>
              <a:rPr lang="sv-SE" dirty="0"/>
              <a:t> is long, </a:t>
            </a:r>
            <a:r>
              <a:rPr lang="sv-SE" dirty="0" err="1"/>
              <a:t>then</a:t>
            </a:r>
            <a:r>
              <a:rPr lang="sv-SE" dirty="0"/>
              <a:t> the chip </a:t>
            </a:r>
            <a:r>
              <a:rPr lang="sv-SE" dirty="0" err="1"/>
              <a:t>temperature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increase</a:t>
            </a:r>
            <a:r>
              <a:rPr lang="sv-SE" dirty="0"/>
              <a:t> by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a </a:t>
            </a:r>
            <a:r>
              <a:rPr lang="sv-SE" dirty="0" err="1"/>
              <a:t>few</a:t>
            </a:r>
            <a:r>
              <a:rPr lang="sv-SE" dirty="0"/>
              <a:t> °C, </a:t>
            </a:r>
            <a:r>
              <a:rPr lang="sv-SE" dirty="0" err="1"/>
              <a:t>again</a:t>
            </a:r>
            <a:r>
              <a:rPr lang="sv-SE" dirty="0"/>
              <a:t> </a:t>
            </a:r>
            <a:r>
              <a:rPr lang="sv-SE" dirty="0" err="1"/>
              <a:t>affecting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r>
              <a:rPr lang="sv-SE" dirty="0"/>
              <a:t>. 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The </a:t>
            </a:r>
            <a:r>
              <a:rPr lang="sv-SE" dirty="0" err="1"/>
              <a:t>inductor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 </a:t>
            </a:r>
            <a:r>
              <a:rPr lang="sv-SE" dirty="0" err="1"/>
              <a:t>mounted</a:t>
            </a:r>
            <a:r>
              <a:rPr lang="sv-SE" dirty="0"/>
              <a:t> </a:t>
            </a:r>
            <a:r>
              <a:rPr lang="sv-SE" dirty="0" err="1"/>
              <a:t>well</a:t>
            </a:r>
            <a:r>
              <a:rPr lang="sv-SE" dirty="0"/>
              <a:t> </a:t>
            </a:r>
            <a:r>
              <a:rPr lang="sv-SE" dirty="0" err="1"/>
              <a:t>away</a:t>
            </a:r>
            <a:r>
              <a:rPr lang="sv-SE" dirty="0"/>
              <a:t> from the test setup to </a:t>
            </a:r>
            <a:r>
              <a:rPr lang="sv-SE" dirty="0" err="1"/>
              <a:t>prevent</a:t>
            </a:r>
            <a:r>
              <a:rPr lang="sv-SE" dirty="0"/>
              <a:t> EMI </a:t>
            </a:r>
            <a:r>
              <a:rPr lang="sv-SE" dirty="0" err="1"/>
              <a:t>interference</a:t>
            </a:r>
            <a:r>
              <a:rPr lang="sv-SE" dirty="0"/>
              <a:t> or </a:t>
            </a:r>
            <a:r>
              <a:rPr lang="sv-SE" dirty="0" err="1"/>
              <a:t>magnetic</a:t>
            </a:r>
            <a:r>
              <a:rPr lang="sv-SE" dirty="0"/>
              <a:t> </a:t>
            </a:r>
            <a:r>
              <a:rPr lang="sv-SE" dirty="0" err="1"/>
              <a:t>field</a:t>
            </a:r>
            <a:r>
              <a:rPr lang="sv-SE" dirty="0"/>
              <a:t> </a:t>
            </a:r>
            <a:r>
              <a:rPr lang="sv-SE" dirty="0" err="1"/>
              <a:t>coupling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gate drive </a:t>
            </a:r>
            <a:r>
              <a:rPr lang="sv-SE" dirty="0" err="1"/>
              <a:t>circuits</a:t>
            </a:r>
            <a:r>
              <a:rPr lang="sv-SE" dirty="0"/>
              <a:t> or instrumentation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291830"/>
            <a:ext cx="2089443" cy="14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Instrumentation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need some </a:t>
            </a:r>
            <a:r>
              <a:rPr lang="en-US" dirty="0"/>
              <a:t>techniques to reduce loop inductance and coupling in the measurement path and how some turns around a ferrite core can add common mode impedance to the </a:t>
            </a:r>
            <a:r>
              <a:rPr lang="en-US" dirty="0" smtClean="0"/>
              <a:t>measurement </a:t>
            </a:r>
            <a:r>
              <a:rPr lang="en-US" dirty="0"/>
              <a:t>signal.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 </a:t>
            </a:r>
            <a:r>
              <a:rPr lang="en-US" dirty="0"/>
              <a:t>measure voltages at </a:t>
            </a:r>
            <a:r>
              <a:rPr lang="en-US" dirty="0" err="1" smtClean="0"/>
              <a:t>nonground</a:t>
            </a:r>
            <a:r>
              <a:rPr lang="en-US" dirty="0" smtClean="0"/>
              <a:t> </a:t>
            </a:r>
            <a:r>
              <a:rPr lang="en-US" dirty="0"/>
              <a:t>reference potentials, differential probes are required and should be selected with a high common mode rejection ratio, as the DUT can be moving at very high dv/</a:t>
            </a:r>
            <a:r>
              <a:rPr lang="en-US" dirty="0" err="1"/>
              <a:t>dt</a:t>
            </a:r>
            <a:r>
              <a:rPr lang="en-US" dirty="0"/>
              <a:t> levels with respect to the scope ground.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800225"/>
            <a:ext cx="2761879" cy="1451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577863"/>
            <a:ext cx="2166853" cy="18152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1560" y="439309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050" dirty="0" err="1"/>
              <a:t>Voltage</a:t>
            </a:r>
            <a:r>
              <a:rPr lang="sv-SE" sz="1050" dirty="0"/>
              <a:t> </a:t>
            </a:r>
            <a:r>
              <a:rPr lang="sv-SE" sz="1050" dirty="0" err="1"/>
              <a:t>probe</a:t>
            </a:r>
            <a:r>
              <a:rPr lang="sv-SE" sz="1050" dirty="0"/>
              <a:t> </a:t>
            </a:r>
            <a:r>
              <a:rPr lang="sv-SE" sz="1050" dirty="0" err="1"/>
              <a:t>tip</a:t>
            </a:r>
            <a:r>
              <a:rPr lang="sv-SE" sz="1050" dirty="0"/>
              <a:t> to </a:t>
            </a:r>
            <a:r>
              <a:rPr lang="sv-SE" sz="1050" dirty="0" err="1"/>
              <a:t>reduce</a:t>
            </a:r>
            <a:r>
              <a:rPr lang="sv-SE" sz="1050" dirty="0"/>
              <a:t> </a:t>
            </a:r>
            <a:r>
              <a:rPr lang="sv-SE" sz="1050" dirty="0" err="1"/>
              <a:t>inductance</a:t>
            </a:r>
            <a:r>
              <a:rPr lang="sv-SE" sz="1050" dirty="0"/>
              <a:t> in </a:t>
            </a:r>
            <a:r>
              <a:rPr lang="sv-SE" sz="1050" dirty="0" err="1"/>
              <a:t>measurement</a:t>
            </a:r>
            <a:r>
              <a:rPr lang="sv-SE" sz="1050" dirty="0"/>
              <a:t>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88024" y="439309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050" dirty="0" err="1"/>
              <a:t>Voltage</a:t>
            </a:r>
            <a:r>
              <a:rPr lang="sv-SE" sz="1050" dirty="0"/>
              <a:t> </a:t>
            </a:r>
            <a:r>
              <a:rPr lang="sv-SE" sz="1050" dirty="0" err="1"/>
              <a:t>probe</a:t>
            </a:r>
            <a:r>
              <a:rPr lang="sv-SE" sz="1050" dirty="0"/>
              <a:t> </a:t>
            </a:r>
            <a:r>
              <a:rPr lang="sv-SE" sz="1050" dirty="0" err="1"/>
              <a:t>with</a:t>
            </a:r>
            <a:r>
              <a:rPr lang="sv-SE" sz="1050" dirty="0"/>
              <a:t> </a:t>
            </a:r>
            <a:r>
              <a:rPr lang="sv-SE" sz="1050" dirty="0" err="1"/>
              <a:t>some</a:t>
            </a:r>
            <a:r>
              <a:rPr lang="sv-SE" sz="1050" dirty="0"/>
              <a:t> </a:t>
            </a:r>
            <a:r>
              <a:rPr lang="sv-SE" sz="1050" dirty="0" err="1"/>
              <a:t>added</a:t>
            </a:r>
            <a:r>
              <a:rPr lang="sv-SE" sz="1050" dirty="0"/>
              <a:t> common mode </a:t>
            </a:r>
            <a:r>
              <a:rPr lang="sv-SE" sz="1050" dirty="0" err="1"/>
              <a:t>impedance</a:t>
            </a:r>
            <a:endParaRPr lang="sv-SE" sz="1050" dirty="0"/>
          </a:p>
        </p:txBody>
      </p:sp>
    </p:spTree>
    <p:extLst>
      <p:ext uri="{BB962C8B-B14F-4D97-AF65-F5344CB8AC3E}">
        <p14:creationId xmlns:p14="http://schemas.microsoft.com/office/powerpoint/2010/main" val="2533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Instrumentation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measure the actual device switching current, a current sensor must be inserted into the </a:t>
            </a:r>
            <a:r>
              <a:rPr lang="en-US" dirty="0" smtClean="0"/>
              <a:t>source/drain </a:t>
            </a:r>
            <a:r>
              <a:rPr lang="en-US" dirty="0"/>
              <a:t>of the DUT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Rogowski</a:t>
            </a:r>
            <a:r>
              <a:rPr lang="en-US" dirty="0"/>
              <a:t> </a:t>
            </a:r>
            <a:r>
              <a:rPr lang="en-US" dirty="0" smtClean="0"/>
              <a:t>coils: These </a:t>
            </a:r>
            <a:r>
              <a:rPr lang="en-US" dirty="0"/>
              <a:t>have a bandwidth of between 15-30 </a:t>
            </a:r>
            <a:r>
              <a:rPr lang="en-US" dirty="0" err="1"/>
              <a:t>Mhz</a:t>
            </a:r>
            <a:r>
              <a:rPr lang="en-US" dirty="0"/>
              <a:t> which is enough for many applications and any delay skew can be compensated for with an </a:t>
            </a:r>
            <a:r>
              <a:rPr lang="en-US" dirty="0" smtClean="0"/>
              <a:t>oscilloscope.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458" y="2211710"/>
            <a:ext cx="2039107" cy="24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64" y="1954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What testing should be included in a </a:t>
            </a:r>
            <a:r>
              <a:rPr lang="en-US" sz="2800" dirty="0" smtClean="0"/>
              <a:t>DPT and expected results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DUT </a:t>
            </a:r>
            <a:r>
              <a:rPr lang="en-US" dirty="0"/>
              <a:t>can be switched at different </a:t>
            </a:r>
            <a:r>
              <a:rPr lang="en-US" dirty="0" smtClean="0"/>
              <a:t>voltages.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can change the DC link voltage.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DUT </a:t>
            </a:r>
            <a:r>
              <a:rPr lang="en-US" dirty="0"/>
              <a:t>can be switched at</a:t>
            </a:r>
            <a:r>
              <a:rPr lang="en-US" dirty="0" smtClean="0"/>
              <a:t> </a:t>
            </a:r>
            <a:r>
              <a:rPr lang="en-US" dirty="0"/>
              <a:t>different </a:t>
            </a:r>
            <a:r>
              <a:rPr lang="en-US" dirty="0" smtClean="0"/>
              <a:t>currents.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We can change the pulse widths or inductor values. 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DUT can be switched at different </a:t>
            </a:r>
            <a:r>
              <a:rPr lang="en-US" dirty="0" smtClean="0"/>
              <a:t>temperatures.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can be adjusted by mounting the DUT on a </a:t>
            </a:r>
            <a:r>
              <a:rPr lang="en-US" dirty="0" smtClean="0"/>
              <a:t>heatsink, which </a:t>
            </a:r>
            <a:r>
              <a:rPr lang="en-US" dirty="0"/>
              <a:t>can be heated or </a:t>
            </a:r>
            <a:r>
              <a:rPr lang="en-US" dirty="0" smtClean="0"/>
              <a:t>cooled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928680"/>
            <a:ext cx="4506186" cy="19442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04" y="2928028"/>
            <a:ext cx="3650684" cy="188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7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2023-09-18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20</a:t>
            </a:fld>
            <a:endParaRPr lang="sv-SE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44008" y="1193800"/>
            <a:ext cx="4253930" cy="3540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 smtClean="0"/>
              <a:t>Double </a:t>
            </a:r>
            <a:r>
              <a:rPr lang="sv-SE" b="1" dirty="0" err="1" smtClean="0"/>
              <a:t>Pulse</a:t>
            </a:r>
            <a:r>
              <a:rPr lang="sv-SE" b="1" dirty="0" smtClean="0"/>
              <a:t> Test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A </a:t>
            </a:r>
            <a:r>
              <a:rPr lang="sv-SE" dirty="0" err="1"/>
              <a:t>Low</a:t>
            </a:r>
            <a:r>
              <a:rPr lang="sv-SE" dirty="0"/>
              <a:t> </a:t>
            </a:r>
            <a:r>
              <a:rPr lang="sv-SE" dirty="0" err="1"/>
              <a:t>Inductance</a:t>
            </a:r>
            <a:r>
              <a:rPr lang="sv-SE" dirty="0"/>
              <a:t>, </a:t>
            </a:r>
            <a:r>
              <a:rPr lang="sv-SE" dirty="0" err="1"/>
              <a:t>High</a:t>
            </a:r>
            <a:r>
              <a:rPr lang="sv-SE" dirty="0"/>
              <a:t> Power </a:t>
            </a:r>
            <a:r>
              <a:rPr lang="sv-SE" dirty="0" err="1"/>
              <a:t>Density</a:t>
            </a:r>
            <a:r>
              <a:rPr lang="sv-SE" dirty="0"/>
              <a:t> 3L-TNPC Power </a:t>
            </a:r>
            <a:r>
              <a:rPr lang="sv-SE" dirty="0" err="1"/>
              <a:t>Module</a:t>
            </a:r>
            <a:r>
              <a:rPr lang="sv-SE" dirty="0"/>
              <a:t> for </a:t>
            </a:r>
            <a:r>
              <a:rPr lang="sv-SE" dirty="0" err="1"/>
              <a:t>More</a:t>
            </a:r>
            <a:r>
              <a:rPr lang="sv-SE" dirty="0"/>
              <a:t>-Electric Aircraft </a:t>
            </a:r>
            <a:r>
              <a:rPr lang="sv-SE" dirty="0" err="1" smtClean="0"/>
              <a:t>Applications</a:t>
            </a:r>
            <a:r>
              <a:rPr lang="sv-SE" dirty="0" smtClean="0"/>
              <a:t>, in IEEE </a:t>
            </a:r>
            <a:r>
              <a:rPr lang="sv-SE" dirty="0" err="1" smtClean="0"/>
              <a:t>Transactions</a:t>
            </a:r>
            <a:r>
              <a:rPr lang="sv-SE" dirty="0" smtClean="0"/>
              <a:t> on </a:t>
            </a:r>
            <a:r>
              <a:rPr lang="sv-SE" dirty="0" err="1" smtClean="0"/>
              <a:t>Transportation</a:t>
            </a:r>
            <a:r>
              <a:rPr lang="sv-SE" dirty="0" smtClean="0"/>
              <a:t> </a:t>
            </a:r>
            <a:r>
              <a:rPr lang="sv-SE" dirty="0" err="1" smtClean="0"/>
              <a:t>Electrification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Design </a:t>
            </a:r>
            <a:r>
              <a:rPr lang="en-US" dirty="0"/>
              <a:t>and Evaluation of a 1200-V/200-A </a:t>
            </a:r>
            <a:r>
              <a:rPr lang="en-US" dirty="0" err="1"/>
              <a:t>SiC</a:t>
            </a:r>
            <a:r>
              <a:rPr lang="en-US" dirty="0"/>
              <a:t> Three-Level NPC Power Module," in IEEE Transactions on Industry </a:t>
            </a:r>
            <a:r>
              <a:rPr lang="en-US" dirty="0" smtClean="0"/>
              <a:t>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Double </a:t>
            </a:r>
            <a:r>
              <a:rPr lang="en-US" dirty="0"/>
              <a:t>Pulse Testing: The How, What and Why by </a:t>
            </a:r>
            <a:r>
              <a:rPr lang="en-US" dirty="0" smtClean="0"/>
              <a:t>David </a:t>
            </a:r>
            <a:r>
              <a:rPr lang="en-US" dirty="0" err="1"/>
              <a:t>Levett</a:t>
            </a:r>
            <a:r>
              <a:rPr lang="en-US" dirty="0"/>
              <a:t>, </a:t>
            </a:r>
            <a:r>
              <a:rPr lang="en-US" dirty="0" err="1"/>
              <a:t>Ziqing</a:t>
            </a:r>
            <a:r>
              <a:rPr lang="en-US" dirty="0"/>
              <a:t> Zheng and Tim Frank, Infineon Technologies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>
                <a:hlinkClick r:id="rId2"/>
              </a:rPr>
              <a:t>Double </a:t>
            </a:r>
            <a:r>
              <a:rPr lang="sv-SE" dirty="0" err="1" smtClean="0">
                <a:hlinkClick r:id="rId2"/>
              </a:rPr>
              <a:t>pulse</a:t>
            </a:r>
            <a:r>
              <a:rPr lang="sv-SE" dirty="0" smtClean="0">
                <a:hlinkClick r:id="rId2"/>
              </a:rPr>
              <a:t> </a:t>
            </a:r>
            <a:r>
              <a:rPr lang="sv-SE" dirty="0" err="1" smtClean="0">
                <a:hlinkClick r:id="rId2"/>
              </a:rPr>
              <a:t>testing</a:t>
            </a:r>
            <a:r>
              <a:rPr lang="sv-SE" dirty="0" smtClean="0">
                <a:hlinkClick r:id="rId2"/>
              </a:rPr>
              <a:t> by Philip </a:t>
            </a:r>
            <a:r>
              <a:rPr lang="sv-SE" dirty="0" err="1" smtClean="0">
                <a:hlinkClick r:id="rId2"/>
              </a:rPr>
              <a:t>Abrahamssont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467544" y="1214120"/>
            <a:ext cx="4104456" cy="3540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 smtClean="0"/>
              <a:t>Loss </a:t>
            </a:r>
            <a:r>
              <a:rPr lang="sv-SE" b="1" dirty="0" err="1" smtClean="0"/>
              <a:t>Calculation</a:t>
            </a:r>
            <a:endParaRPr lang="sv-SE" b="1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A </a:t>
            </a:r>
            <a:r>
              <a:rPr lang="sv-SE" dirty="0" err="1"/>
              <a:t>Compact</a:t>
            </a:r>
            <a:r>
              <a:rPr lang="sv-SE" dirty="0"/>
              <a:t> 250 kW Silicon Carbide MOSFET </a:t>
            </a:r>
            <a:r>
              <a:rPr lang="sv-SE" dirty="0" err="1"/>
              <a:t>based</a:t>
            </a:r>
            <a:r>
              <a:rPr lang="sv-SE" dirty="0"/>
              <a:t> Three-</a:t>
            </a:r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Traction</a:t>
            </a:r>
            <a:r>
              <a:rPr lang="sv-SE" dirty="0"/>
              <a:t> </a:t>
            </a:r>
            <a:r>
              <a:rPr lang="sv-SE" dirty="0" err="1"/>
              <a:t>Inverter</a:t>
            </a:r>
            <a:r>
              <a:rPr lang="sv-SE" dirty="0"/>
              <a:t> for Heavy Equipment </a:t>
            </a:r>
            <a:r>
              <a:rPr lang="sv-SE" dirty="0" err="1"/>
              <a:t>Applications</a:t>
            </a:r>
            <a:r>
              <a:rPr lang="sv-SE" dirty="0" smtClean="0"/>
              <a:t>, </a:t>
            </a:r>
            <a:r>
              <a:rPr lang="sv-SE" dirty="0"/>
              <a:t>2018 IEEE </a:t>
            </a:r>
            <a:r>
              <a:rPr lang="sv-SE" dirty="0" err="1"/>
              <a:t>Transportation</a:t>
            </a:r>
            <a:r>
              <a:rPr lang="sv-SE" dirty="0"/>
              <a:t> </a:t>
            </a:r>
            <a:r>
              <a:rPr lang="sv-SE" dirty="0" err="1"/>
              <a:t>Electrification</a:t>
            </a:r>
            <a:r>
              <a:rPr lang="sv-SE" dirty="0"/>
              <a:t> Conference and Expo (</a:t>
            </a:r>
            <a:r>
              <a:rPr lang="sv-SE" dirty="0" smtClean="0"/>
              <a:t>ITEC),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Electrothermal</a:t>
            </a:r>
            <a:r>
              <a:rPr lang="en-US" dirty="0" smtClean="0"/>
              <a:t>-Control </a:t>
            </a:r>
            <a:r>
              <a:rPr lang="en-US" dirty="0"/>
              <a:t>Co-Design of an All Silicon Carbide 2×250 kW Dual Inverter for Heavy-Duty Traction Applications</a:t>
            </a:r>
            <a:r>
              <a:rPr lang="en-US" dirty="0" smtClean="0"/>
              <a:t>, </a:t>
            </a:r>
            <a:r>
              <a:rPr lang="en-US" dirty="0"/>
              <a:t>in IEEE Transactions on Industry </a:t>
            </a:r>
            <a:r>
              <a:rPr lang="en-US" dirty="0" smtClean="0"/>
              <a:t>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Potentials </a:t>
            </a:r>
            <a:r>
              <a:rPr lang="en-US" dirty="0"/>
              <a:t>and Comparison of Inverter Topologies for Future All-Electric Aircraft Propulsion</a:t>
            </a:r>
            <a:r>
              <a:rPr lang="en-US" dirty="0" smtClean="0"/>
              <a:t>, </a:t>
            </a:r>
            <a:r>
              <a:rPr lang="en-US" dirty="0"/>
              <a:t>in IEEE Journal of Emerging and Selected Topics in Power </a:t>
            </a:r>
            <a:r>
              <a:rPr lang="en-US" dirty="0" smtClean="0"/>
              <a:t>Electronics</a:t>
            </a:r>
            <a:endParaRPr lang="sv-SE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References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8234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1459</TotalTime>
  <Words>1753</Words>
  <Application>Microsoft Office PowerPoint</Application>
  <PresentationFormat>On-screen Show (16:9)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Söhne</vt:lpstr>
      <vt:lpstr>Times New Roman</vt:lpstr>
      <vt:lpstr>Office-tema</vt:lpstr>
      <vt:lpstr>Loss Modelling of the Traction Inverter and Validation by Double Pulse Test</vt:lpstr>
      <vt:lpstr>Semiconductor Losses</vt:lpstr>
      <vt:lpstr>Loss Modelling</vt:lpstr>
      <vt:lpstr>Loss Modelling</vt:lpstr>
      <vt:lpstr>Thermal Model</vt:lpstr>
      <vt:lpstr>Loss Calculation Assumptions</vt:lpstr>
      <vt:lpstr>Datasheet Parameters</vt:lpstr>
      <vt:lpstr>Grabit and Digital Data</vt:lpstr>
      <vt:lpstr>Modulation</vt:lpstr>
      <vt:lpstr>Conduction and Switching Events</vt:lpstr>
      <vt:lpstr>Loss Calculations</vt:lpstr>
      <vt:lpstr>Iterative Solution</vt:lpstr>
      <vt:lpstr>Summary  </vt:lpstr>
      <vt:lpstr>Validation by Double Pulse Test  </vt:lpstr>
      <vt:lpstr>Double Pulse Test</vt:lpstr>
      <vt:lpstr>Inductor Selection</vt:lpstr>
      <vt:lpstr>Instrumentation</vt:lpstr>
      <vt:lpstr>Instrumentation</vt:lpstr>
      <vt:lpstr>What testing should be included in a DPT and expected results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175</cp:revision>
  <dcterms:created xsi:type="dcterms:W3CDTF">2019-12-10T08:55:59Z</dcterms:created>
  <dcterms:modified xsi:type="dcterms:W3CDTF">2023-09-18T13:37:03Z</dcterms:modified>
</cp:coreProperties>
</file>