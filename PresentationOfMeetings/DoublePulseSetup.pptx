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95" r:id="rId2"/>
    <p:sldId id="291" r:id="rId3"/>
    <p:sldId id="292" r:id="rId4"/>
    <p:sldId id="293" r:id="rId5"/>
    <p:sldId id="294" r:id="rId6"/>
    <p:sldId id="296" r:id="rId7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1" autoAdjust="0"/>
    <p:restoredTop sz="94660"/>
  </p:normalViewPr>
  <p:slideViewPr>
    <p:cSldViewPr>
      <p:cViewPr varScale="1">
        <p:scale>
          <a:sx n="216" d="100"/>
          <a:sy n="216" d="100"/>
        </p:scale>
        <p:origin x="33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2024-02-07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2024-02-07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2024-02-07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2024-02-07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2024-02-07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2024-02-07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2024-02-07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2024-02-07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2024-02-07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2024-02-07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2024-02-07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a.lth.se/kel/2021/Lectures/PE20_GuestLecture%20OnDoublePulseTesting_Philip.pdf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Double Pulse Test</a:t>
            </a:r>
            <a:endParaRPr lang="sv-S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026" r="-639"/>
          <a:stretch/>
        </p:blipFill>
        <p:spPr>
          <a:xfrm>
            <a:off x="107504" y="1333915"/>
            <a:ext cx="5184576" cy="24347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855" y="2734046"/>
            <a:ext cx="2452756" cy="16561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401" y="1381709"/>
            <a:ext cx="2932633" cy="16659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55324" y="997568"/>
            <a:ext cx="24320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/>
              <a:t>Ideal parts and waveforms</a:t>
            </a:r>
            <a:endParaRPr lang="sv-SE" b="1" dirty="0"/>
          </a:p>
        </p:txBody>
      </p:sp>
      <p:sp>
        <p:nvSpPr>
          <p:cNvPr id="14" name="Rectangle 13"/>
          <p:cNvSpPr/>
          <p:nvPr/>
        </p:nvSpPr>
        <p:spPr>
          <a:xfrm>
            <a:off x="5868144" y="1091454"/>
            <a:ext cx="20233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 smtClean="0"/>
              <a:t>Parasitics</a:t>
            </a:r>
            <a:r>
              <a:rPr lang="en-US" sz="1400" b="1" dirty="0" smtClean="0"/>
              <a:t> and affects</a:t>
            </a:r>
            <a:endParaRPr lang="sv-SE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348" y="2931790"/>
            <a:ext cx="2736304" cy="18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 smtClean="0"/>
              <a:t>Inductor Selection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27584" y="987574"/>
            <a:ext cx="651189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The </a:t>
            </a:r>
            <a:r>
              <a:rPr lang="sv-SE" dirty="0" err="1"/>
              <a:t>key</a:t>
            </a:r>
            <a:r>
              <a:rPr lang="sv-SE" dirty="0"/>
              <a:t> </a:t>
            </a:r>
            <a:r>
              <a:rPr lang="sv-SE" dirty="0" err="1"/>
              <a:t>considerations</a:t>
            </a:r>
            <a:r>
              <a:rPr lang="sv-SE" dirty="0"/>
              <a:t> for the </a:t>
            </a:r>
            <a:r>
              <a:rPr lang="sv-SE" dirty="0" err="1"/>
              <a:t>selection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inductor</a:t>
            </a:r>
            <a:r>
              <a:rPr lang="sv-SE" dirty="0"/>
              <a:t> </a:t>
            </a:r>
            <a:r>
              <a:rPr lang="sv-SE" dirty="0" err="1" smtClean="0"/>
              <a:t>include</a:t>
            </a:r>
            <a:r>
              <a:rPr lang="sv-SE" dirty="0" smtClean="0"/>
              <a:t>: </a:t>
            </a:r>
            <a:endParaRPr lang="sv-SE" dirty="0"/>
          </a:p>
        </p:txBody>
      </p:sp>
      <p:sp>
        <p:nvSpPr>
          <p:cNvPr id="8" name="Rectangle 7"/>
          <p:cNvSpPr/>
          <p:nvPr/>
        </p:nvSpPr>
        <p:spPr>
          <a:xfrm>
            <a:off x="633524" y="1287656"/>
            <a:ext cx="8092976" cy="1962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dirty="0"/>
              <a:t>It </a:t>
            </a:r>
            <a:r>
              <a:rPr lang="sv-SE" dirty="0" err="1"/>
              <a:t>should</a:t>
            </a:r>
            <a:r>
              <a:rPr lang="sv-SE" dirty="0"/>
              <a:t> not </a:t>
            </a:r>
            <a:r>
              <a:rPr lang="sv-SE" dirty="0" err="1"/>
              <a:t>saturate</a:t>
            </a:r>
            <a:r>
              <a:rPr lang="sv-SE" dirty="0"/>
              <a:t> at the </a:t>
            </a:r>
            <a:r>
              <a:rPr lang="sv-SE" dirty="0" err="1"/>
              <a:t>peak</a:t>
            </a:r>
            <a:r>
              <a:rPr lang="sv-SE" dirty="0"/>
              <a:t> test </a:t>
            </a:r>
            <a:r>
              <a:rPr lang="sv-SE" dirty="0" err="1"/>
              <a:t>currents</a:t>
            </a:r>
            <a:r>
              <a:rPr lang="sv-SE" dirty="0" smtClean="0"/>
              <a:t>. (Air </a:t>
            </a:r>
            <a:r>
              <a:rPr lang="sv-SE" dirty="0" err="1" smtClean="0"/>
              <a:t>core</a:t>
            </a:r>
            <a:r>
              <a:rPr lang="sv-SE" dirty="0" smtClean="0"/>
              <a:t> </a:t>
            </a:r>
            <a:r>
              <a:rPr lang="sv-SE" dirty="0" err="1" smtClean="0"/>
              <a:t>inductors</a:t>
            </a:r>
            <a:r>
              <a:rPr lang="sv-SE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sv-SE" dirty="0" smtClean="0"/>
              <a:t>It </a:t>
            </a:r>
            <a:r>
              <a:rPr lang="sv-SE" dirty="0" err="1"/>
              <a:t>should</a:t>
            </a:r>
            <a:r>
              <a:rPr lang="sv-SE" dirty="0"/>
              <a:t> limit the di/dt so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times</a:t>
            </a:r>
            <a:r>
              <a:rPr lang="sv-SE" dirty="0"/>
              <a:t> (T1, T2 and </a:t>
            </a:r>
            <a:r>
              <a:rPr lang="sv-SE" dirty="0" smtClean="0"/>
              <a:t>T3) </a:t>
            </a:r>
            <a:r>
              <a:rPr lang="sv-SE" dirty="0" err="1"/>
              <a:t>are</a:t>
            </a:r>
            <a:r>
              <a:rPr lang="sv-SE" dirty="0"/>
              <a:t> not less </a:t>
            </a:r>
            <a:r>
              <a:rPr lang="sv-SE" dirty="0" err="1"/>
              <a:t>than</a:t>
            </a:r>
            <a:r>
              <a:rPr lang="sv-SE" dirty="0"/>
              <a:t> 10 </a:t>
            </a:r>
            <a:r>
              <a:rPr lang="sv-SE" dirty="0" err="1"/>
              <a:t>μs</a:t>
            </a:r>
            <a:r>
              <a:rPr lang="sv-SE" dirty="0"/>
              <a:t>, to </a:t>
            </a:r>
            <a:r>
              <a:rPr lang="sv-SE" dirty="0" err="1"/>
              <a:t>ensure</a:t>
            </a:r>
            <a:r>
              <a:rPr lang="sv-SE" dirty="0"/>
              <a:t> the </a:t>
            </a:r>
            <a:r>
              <a:rPr lang="sv-SE" dirty="0" err="1"/>
              <a:t>devices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fully</a:t>
            </a:r>
            <a:r>
              <a:rPr lang="sv-SE" dirty="0"/>
              <a:t> </a:t>
            </a:r>
            <a:r>
              <a:rPr lang="sv-SE" dirty="0" err="1"/>
              <a:t>turned</a:t>
            </a:r>
            <a:r>
              <a:rPr lang="sv-SE" dirty="0"/>
              <a:t> on or off. </a:t>
            </a:r>
            <a:endParaRPr lang="sv-SE" dirty="0" smtClean="0"/>
          </a:p>
          <a:p>
            <a:pPr marL="342900" indent="-342900">
              <a:buFont typeface="+mj-lt"/>
              <a:buAutoNum type="arabicPeriod"/>
            </a:pPr>
            <a:r>
              <a:rPr lang="sv-SE" dirty="0" smtClean="0"/>
              <a:t>The </a:t>
            </a:r>
            <a:r>
              <a:rPr lang="sv-SE" dirty="0"/>
              <a:t>di/dt </a:t>
            </a:r>
            <a:r>
              <a:rPr lang="sv-SE" dirty="0" err="1"/>
              <a:t>should</a:t>
            </a:r>
            <a:r>
              <a:rPr lang="sv-SE" dirty="0"/>
              <a:t> not be so </a:t>
            </a:r>
            <a:r>
              <a:rPr lang="sv-SE" dirty="0" err="1"/>
              <a:t>low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times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200 </a:t>
            </a:r>
            <a:r>
              <a:rPr lang="sv-SE" dirty="0" err="1"/>
              <a:t>μS</a:t>
            </a:r>
            <a:r>
              <a:rPr lang="sv-SE" dirty="0"/>
              <a:t> so as not to cause the DC bus </a:t>
            </a:r>
            <a:r>
              <a:rPr lang="sv-SE" dirty="0" err="1"/>
              <a:t>voltage</a:t>
            </a:r>
            <a:r>
              <a:rPr lang="sv-SE" dirty="0"/>
              <a:t> to dip by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≈5 </a:t>
            </a:r>
            <a:r>
              <a:rPr lang="sv-SE" dirty="0" err="1"/>
              <a:t>percent</a:t>
            </a:r>
            <a:r>
              <a:rPr lang="sv-SE" dirty="0"/>
              <a:t>, and so </a:t>
            </a:r>
            <a:r>
              <a:rPr lang="sv-SE" dirty="0" err="1"/>
              <a:t>change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performance</a:t>
            </a:r>
            <a:r>
              <a:rPr lang="sv-SE" dirty="0"/>
              <a:t>. In addition, </a:t>
            </a:r>
            <a:r>
              <a:rPr lang="sv-SE" dirty="0" err="1"/>
              <a:t>if</a:t>
            </a:r>
            <a:r>
              <a:rPr lang="sv-SE" dirty="0"/>
              <a:t> the </a:t>
            </a:r>
            <a:r>
              <a:rPr lang="sv-SE" dirty="0" err="1"/>
              <a:t>current</a:t>
            </a:r>
            <a:r>
              <a:rPr lang="sv-SE" dirty="0"/>
              <a:t> </a:t>
            </a:r>
            <a:r>
              <a:rPr lang="sv-SE" dirty="0" err="1"/>
              <a:t>pulse</a:t>
            </a:r>
            <a:r>
              <a:rPr lang="sv-SE" dirty="0"/>
              <a:t> is long, </a:t>
            </a:r>
            <a:r>
              <a:rPr lang="sv-SE" dirty="0" err="1"/>
              <a:t>then</a:t>
            </a:r>
            <a:r>
              <a:rPr lang="sv-SE" dirty="0"/>
              <a:t> the chip </a:t>
            </a:r>
            <a:r>
              <a:rPr lang="sv-SE" dirty="0" err="1"/>
              <a:t>temperature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increase</a:t>
            </a:r>
            <a:r>
              <a:rPr lang="sv-SE" dirty="0"/>
              <a:t> by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than</a:t>
            </a:r>
            <a:r>
              <a:rPr lang="sv-SE" dirty="0"/>
              <a:t> a </a:t>
            </a:r>
            <a:r>
              <a:rPr lang="sv-SE" dirty="0" err="1"/>
              <a:t>few</a:t>
            </a:r>
            <a:r>
              <a:rPr lang="sv-SE" dirty="0"/>
              <a:t> °C, </a:t>
            </a:r>
            <a:r>
              <a:rPr lang="sv-SE" dirty="0" err="1"/>
              <a:t>again</a:t>
            </a:r>
            <a:r>
              <a:rPr lang="sv-SE" dirty="0"/>
              <a:t> </a:t>
            </a:r>
            <a:r>
              <a:rPr lang="sv-SE" dirty="0" err="1"/>
              <a:t>affecting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performance</a:t>
            </a:r>
            <a:r>
              <a:rPr lang="sv-SE" dirty="0"/>
              <a:t>. </a:t>
            </a:r>
            <a:endParaRPr lang="sv-SE" dirty="0" smtClean="0"/>
          </a:p>
          <a:p>
            <a:pPr marL="342900" indent="-342900">
              <a:buFont typeface="+mj-lt"/>
              <a:buAutoNum type="arabicPeriod"/>
            </a:pPr>
            <a:r>
              <a:rPr lang="sv-SE" dirty="0" smtClean="0"/>
              <a:t>The </a:t>
            </a:r>
            <a:r>
              <a:rPr lang="sv-SE" dirty="0" err="1"/>
              <a:t>inductor</a:t>
            </a:r>
            <a:r>
              <a:rPr lang="sv-SE" dirty="0"/>
              <a:t> </a:t>
            </a:r>
            <a:r>
              <a:rPr lang="sv-SE" dirty="0" err="1"/>
              <a:t>should</a:t>
            </a:r>
            <a:r>
              <a:rPr lang="sv-SE" dirty="0"/>
              <a:t> be </a:t>
            </a:r>
            <a:r>
              <a:rPr lang="sv-SE" dirty="0" err="1"/>
              <a:t>mounted</a:t>
            </a:r>
            <a:r>
              <a:rPr lang="sv-SE" dirty="0"/>
              <a:t> </a:t>
            </a:r>
            <a:r>
              <a:rPr lang="sv-SE" dirty="0" err="1"/>
              <a:t>well</a:t>
            </a:r>
            <a:r>
              <a:rPr lang="sv-SE" dirty="0"/>
              <a:t> </a:t>
            </a:r>
            <a:r>
              <a:rPr lang="sv-SE" dirty="0" err="1"/>
              <a:t>away</a:t>
            </a:r>
            <a:r>
              <a:rPr lang="sv-SE" dirty="0"/>
              <a:t> from the test setup to </a:t>
            </a:r>
            <a:r>
              <a:rPr lang="sv-SE" dirty="0" err="1"/>
              <a:t>prevent</a:t>
            </a:r>
            <a:r>
              <a:rPr lang="sv-SE" dirty="0"/>
              <a:t> EMI </a:t>
            </a:r>
            <a:r>
              <a:rPr lang="sv-SE" dirty="0" err="1"/>
              <a:t>interference</a:t>
            </a:r>
            <a:r>
              <a:rPr lang="sv-SE" dirty="0"/>
              <a:t> or </a:t>
            </a:r>
            <a:r>
              <a:rPr lang="sv-SE" dirty="0" err="1"/>
              <a:t>magnetic</a:t>
            </a:r>
            <a:r>
              <a:rPr lang="sv-SE" dirty="0"/>
              <a:t> </a:t>
            </a:r>
            <a:r>
              <a:rPr lang="sv-SE" dirty="0" err="1"/>
              <a:t>field</a:t>
            </a:r>
            <a:r>
              <a:rPr lang="sv-SE" dirty="0"/>
              <a:t> </a:t>
            </a:r>
            <a:r>
              <a:rPr lang="sv-SE" dirty="0" err="1"/>
              <a:t>coupling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</a:t>
            </a:r>
            <a:r>
              <a:rPr lang="sv-SE" dirty="0" err="1"/>
              <a:t>any</a:t>
            </a:r>
            <a:r>
              <a:rPr lang="sv-SE" dirty="0"/>
              <a:t> gate drive </a:t>
            </a:r>
            <a:r>
              <a:rPr lang="sv-SE" dirty="0" err="1"/>
              <a:t>circuits</a:t>
            </a:r>
            <a:r>
              <a:rPr lang="sv-SE" dirty="0"/>
              <a:t> or instrumentation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3291830"/>
            <a:ext cx="2089443" cy="140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4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/>
              <a:t>Instrumentation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27584" y="987574"/>
            <a:ext cx="756084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 need some </a:t>
            </a:r>
            <a:r>
              <a:rPr lang="en-US" dirty="0"/>
              <a:t>techniques to reduce loop inductance and coupling in the measurement path and how some turns around a ferrite core can add common mode impedance to the </a:t>
            </a:r>
            <a:r>
              <a:rPr lang="en-US" dirty="0" smtClean="0"/>
              <a:t>measurement </a:t>
            </a:r>
            <a:r>
              <a:rPr lang="en-US" dirty="0"/>
              <a:t>signal.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 </a:t>
            </a:r>
            <a:r>
              <a:rPr lang="en-US" dirty="0"/>
              <a:t>measure voltages at </a:t>
            </a:r>
            <a:r>
              <a:rPr lang="en-US" dirty="0" err="1" smtClean="0"/>
              <a:t>nonground</a:t>
            </a:r>
            <a:r>
              <a:rPr lang="en-US" dirty="0" smtClean="0"/>
              <a:t> </a:t>
            </a:r>
            <a:r>
              <a:rPr lang="en-US" dirty="0"/>
              <a:t>reference potentials, differential probes are required and should be selected with a high common mode rejection ratio, as the DUT can be moving at very high dv/</a:t>
            </a:r>
            <a:r>
              <a:rPr lang="en-US" dirty="0" err="1"/>
              <a:t>dt</a:t>
            </a:r>
            <a:r>
              <a:rPr lang="en-US" dirty="0"/>
              <a:t> levels with respect to the scope ground.</a:t>
            </a:r>
            <a:endParaRPr lang="sv-S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800225"/>
            <a:ext cx="2761879" cy="14518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2577863"/>
            <a:ext cx="2166853" cy="18152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1560" y="439309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050" dirty="0" err="1"/>
              <a:t>Voltage</a:t>
            </a:r>
            <a:r>
              <a:rPr lang="sv-SE" sz="1050" dirty="0"/>
              <a:t> </a:t>
            </a:r>
            <a:r>
              <a:rPr lang="sv-SE" sz="1050" dirty="0" err="1"/>
              <a:t>probe</a:t>
            </a:r>
            <a:r>
              <a:rPr lang="sv-SE" sz="1050" dirty="0"/>
              <a:t> </a:t>
            </a:r>
            <a:r>
              <a:rPr lang="sv-SE" sz="1050" dirty="0" err="1"/>
              <a:t>tip</a:t>
            </a:r>
            <a:r>
              <a:rPr lang="sv-SE" sz="1050" dirty="0"/>
              <a:t> to </a:t>
            </a:r>
            <a:r>
              <a:rPr lang="sv-SE" sz="1050" dirty="0" err="1"/>
              <a:t>reduce</a:t>
            </a:r>
            <a:r>
              <a:rPr lang="sv-SE" sz="1050" dirty="0"/>
              <a:t> </a:t>
            </a:r>
            <a:r>
              <a:rPr lang="sv-SE" sz="1050" dirty="0" err="1"/>
              <a:t>inductance</a:t>
            </a:r>
            <a:r>
              <a:rPr lang="sv-SE" sz="1050" dirty="0"/>
              <a:t> in </a:t>
            </a:r>
            <a:r>
              <a:rPr lang="sv-SE" sz="1050" dirty="0" err="1"/>
              <a:t>measurement</a:t>
            </a:r>
            <a:r>
              <a:rPr lang="sv-SE" sz="1050" dirty="0"/>
              <a:t>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788024" y="4393097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050" dirty="0" err="1"/>
              <a:t>Voltage</a:t>
            </a:r>
            <a:r>
              <a:rPr lang="sv-SE" sz="1050" dirty="0"/>
              <a:t> </a:t>
            </a:r>
            <a:r>
              <a:rPr lang="sv-SE" sz="1050" dirty="0" err="1"/>
              <a:t>probe</a:t>
            </a:r>
            <a:r>
              <a:rPr lang="sv-SE" sz="1050" dirty="0"/>
              <a:t> </a:t>
            </a:r>
            <a:r>
              <a:rPr lang="sv-SE" sz="1050" dirty="0" err="1"/>
              <a:t>with</a:t>
            </a:r>
            <a:r>
              <a:rPr lang="sv-SE" sz="1050" dirty="0"/>
              <a:t> </a:t>
            </a:r>
            <a:r>
              <a:rPr lang="sv-SE" sz="1050" dirty="0" err="1"/>
              <a:t>some</a:t>
            </a:r>
            <a:r>
              <a:rPr lang="sv-SE" sz="1050" dirty="0"/>
              <a:t> </a:t>
            </a:r>
            <a:r>
              <a:rPr lang="sv-SE" sz="1050" dirty="0" err="1"/>
              <a:t>added</a:t>
            </a:r>
            <a:r>
              <a:rPr lang="sv-SE" sz="1050" dirty="0"/>
              <a:t> common mode </a:t>
            </a:r>
            <a:r>
              <a:rPr lang="sv-SE" sz="1050" dirty="0" err="1"/>
              <a:t>impedance</a:t>
            </a:r>
            <a:endParaRPr lang="sv-SE" sz="1050" dirty="0"/>
          </a:p>
        </p:txBody>
      </p:sp>
    </p:spTree>
    <p:extLst>
      <p:ext uri="{BB962C8B-B14F-4D97-AF65-F5344CB8AC3E}">
        <p14:creationId xmlns:p14="http://schemas.microsoft.com/office/powerpoint/2010/main" val="2533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27086"/>
            <a:ext cx="7560840" cy="647700"/>
          </a:xfrm>
        </p:spPr>
        <p:txBody>
          <a:bodyPr/>
          <a:lstStyle/>
          <a:p>
            <a:pPr algn="ctr"/>
            <a:r>
              <a:rPr lang="en-US" sz="2800" dirty="0"/>
              <a:t>Instrumentation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27584" y="987574"/>
            <a:ext cx="75608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measure the actual device switching current, a current sensor must be inserted into the </a:t>
            </a:r>
            <a:r>
              <a:rPr lang="en-US" dirty="0" smtClean="0"/>
              <a:t>source/drain </a:t>
            </a:r>
            <a:r>
              <a:rPr lang="en-US" dirty="0"/>
              <a:t>of the DUT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Rogowski</a:t>
            </a:r>
            <a:r>
              <a:rPr lang="en-US" dirty="0"/>
              <a:t> </a:t>
            </a:r>
            <a:r>
              <a:rPr lang="en-US" dirty="0" smtClean="0"/>
              <a:t>coils: These </a:t>
            </a:r>
            <a:r>
              <a:rPr lang="en-US" dirty="0"/>
              <a:t>have a bandwidth of between 15-30 </a:t>
            </a:r>
            <a:r>
              <a:rPr lang="en-US" dirty="0" err="1"/>
              <a:t>Mhz</a:t>
            </a:r>
            <a:r>
              <a:rPr lang="en-US" dirty="0"/>
              <a:t> which is enough for many applications and any delay skew can be compensated for with an </a:t>
            </a:r>
            <a:r>
              <a:rPr lang="en-US" dirty="0" smtClean="0"/>
              <a:t>oscilloscope.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458" y="2211710"/>
            <a:ext cx="2039107" cy="247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364" y="195486"/>
            <a:ext cx="7560840" cy="647700"/>
          </a:xfrm>
        </p:spPr>
        <p:txBody>
          <a:bodyPr/>
          <a:lstStyle/>
          <a:p>
            <a:pPr algn="ctr"/>
            <a:r>
              <a:rPr lang="en-US" sz="2800" dirty="0"/>
              <a:t>What testing should be included in a </a:t>
            </a:r>
            <a:r>
              <a:rPr lang="en-US" sz="2800" dirty="0" smtClean="0"/>
              <a:t>DPT and expected results</a:t>
            </a:r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827584" y="987574"/>
            <a:ext cx="7560840" cy="1962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DUT </a:t>
            </a:r>
            <a:r>
              <a:rPr lang="en-US" dirty="0"/>
              <a:t>can be switched at different </a:t>
            </a:r>
            <a:r>
              <a:rPr lang="en-US" dirty="0" smtClean="0"/>
              <a:t>voltages.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We can change the DC link voltage.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DUT </a:t>
            </a:r>
            <a:r>
              <a:rPr lang="en-US" dirty="0"/>
              <a:t>can be switched at</a:t>
            </a:r>
            <a:r>
              <a:rPr lang="en-US" dirty="0" smtClean="0"/>
              <a:t> </a:t>
            </a:r>
            <a:r>
              <a:rPr lang="en-US" dirty="0"/>
              <a:t>different </a:t>
            </a:r>
            <a:r>
              <a:rPr lang="en-US" dirty="0" smtClean="0"/>
              <a:t>currents.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We can change the pulse widths or inductor values. 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DUT can be switched at different </a:t>
            </a:r>
            <a:r>
              <a:rPr lang="en-US" dirty="0" smtClean="0"/>
              <a:t>temperatures.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can be adjusted by mounting the DUT on a </a:t>
            </a:r>
            <a:r>
              <a:rPr lang="en-US" dirty="0" smtClean="0"/>
              <a:t>heatsink, which </a:t>
            </a:r>
            <a:r>
              <a:rPr lang="en-US" dirty="0"/>
              <a:t>can be heated or </a:t>
            </a:r>
            <a:r>
              <a:rPr lang="en-US" dirty="0" smtClean="0"/>
              <a:t>cooled</a:t>
            </a:r>
            <a:endParaRPr lang="sv-S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928680"/>
            <a:ext cx="4506186" cy="19442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004" y="2928028"/>
            <a:ext cx="3650684" cy="188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7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2024-02-07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smtClean="0"/>
              <a:t>Footer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6</a:t>
            </a:fld>
            <a:endParaRPr lang="sv-SE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67544" y="1193800"/>
            <a:ext cx="8430394" cy="3540919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dirty="0" smtClean="0"/>
              <a:t>A </a:t>
            </a:r>
            <a:r>
              <a:rPr lang="sv-SE" dirty="0" err="1"/>
              <a:t>Low</a:t>
            </a:r>
            <a:r>
              <a:rPr lang="sv-SE" dirty="0"/>
              <a:t> </a:t>
            </a:r>
            <a:r>
              <a:rPr lang="sv-SE" dirty="0" err="1"/>
              <a:t>Inductance</a:t>
            </a:r>
            <a:r>
              <a:rPr lang="sv-SE" dirty="0"/>
              <a:t>, </a:t>
            </a:r>
            <a:r>
              <a:rPr lang="sv-SE" dirty="0" err="1"/>
              <a:t>High</a:t>
            </a:r>
            <a:r>
              <a:rPr lang="sv-SE" dirty="0"/>
              <a:t> Power </a:t>
            </a:r>
            <a:r>
              <a:rPr lang="sv-SE" dirty="0" err="1"/>
              <a:t>Density</a:t>
            </a:r>
            <a:r>
              <a:rPr lang="sv-SE" dirty="0"/>
              <a:t> 3L-TNPC Power </a:t>
            </a:r>
            <a:r>
              <a:rPr lang="sv-SE" dirty="0" err="1"/>
              <a:t>Module</a:t>
            </a:r>
            <a:r>
              <a:rPr lang="sv-SE" dirty="0"/>
              <a:t> for </a:t>
            </a:r>
            <a:r>
              <a:rPr lang="sv-SE" dirty="0" err="1"/>
              <a:t>More</a:t>
            </a:r>
            <a:r>
              <a:rPr lang="sv-SE" dirty="0"/>
              <a:t>-Electric Aircraft </a:t>
            </a:r>
            <a:r>
              <a:rPr lang="sv-SE" dirty="0" err="1" smtClean="0"/>
              <a:t>Applications</a:t>
            </a:r>
            <a:r>
              <a:rPr lang="sv-SE" dirty="0" smtClean="0"/>
              <a:t>, in IEEE </a:t>
            </a:r>
            <a:r>
              <a:rPr lang="sv-SE" dirty="0" err="1" smtClean="0"/>
              <a:t>Transactions</a:t>
            </a:r>
            <a:r>
              <a:rPr lang="sv-SE" dirty="0" smtClean="0"/>
              <a:t> on </a:t>
            </a:r>
            <a:r>
              <a:rPr lang="sv-SE" dirty="0" err="1" smtClean="0"/>
              <a:t>Transportation</a:t>
            </a:r>
            <a:r>
              <a:rPr lang="sv-SE" dirty="0" smtClean="0"/>
              <a:t> </a:t>
            </a:r>
            <a:r>
              <a:rPr lang="sv-SE" dirty="0" err="1" smtClean="0"/>
              <a:t>Electrification</a:t>
            </a:r>
            <a:endParaRPr lang="sv-SE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Design </a:t>
            </a:r>
            <a:r>
              <a:rPr lang="en-US" dirty="0"/>
              <a:t>and Evaluation of a 1200-V/200-A </a:t>
            </a:r>
            <a:r>
              <a:rPr lang="en-US" dirty="0" err="1"/>
              <a:t>SiC</a:t>
            </a:r>
            <a:r>
              <a:rPr lang="en-US" dirty="0"/>
              <a:t> Three-Level NPC Power Module," in IEEE Transactions on Industry </a:t>
            </a:r>
            <a:r>
              <a:rPr lang="en-US" dirty="0" smtClean="0"/>
              <a:t>Applications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Double </a:t>
            </a:r>
            <a:r>
              <a:rPr lang="en-US" dirty="0"/>
              <a:t>Pulse Testing: The How, What and Why by </a:t>
            </a:r>
            <a:r>
              <a:rPr lang="en-US" dirty="0" smtClean="0"/>
              <a:t>David </a:t>
            </a:r>
            <a:r>
              <a:rPr lang="en-US" dirty="0" err="1"/>
              <a:t>Levett</a:t>
            </a:r>
            <a:r>
              <a:rPr lang="en-US" dirty="0"/>
              <a:t>, </a:t>
            </a:r>
            <a:r>
              <a:rPr lang="en-US" dirty="0" err="1"/>
              <a:t>Ziqing</a:t>
            </a:r>
            <a:r>
              <a:rPr lang="en-US" dirty="0"/>
              <a:t> Zheng and Tim Frank, Infineon Technologies</a:t>
            </a:r>
            <a:endParaRPr lang="sv-SE" dirty="0" smtClean="0"/>
          </a:p>
          <a:p>
            <a:pPr marL="342900" indent="-342900">
              <a:buFont typeface="+mj-lt"/>
              <a:buAutoNum type="arabicPeriod"/>
            </a:pPr>
            <a:r>
              <a:rPr lang="sv-SE" dirty="0" smtClean="0">
                <a:hlinkClick r:id="rId2"/>
              </a:rPr>
              <a:t>Double </a:t>
            </a:r>
            <a:r>
              <a:rPr lang="sv-SE" dirty="0" err="1" smtClean="0">
                <a:hlinkClick r:id="rId2"/>
              </a:rPr>
              <a:t>pulse</a:t>
            </a:r>
            <a:r>
              <a:rPr lang="sv-SE" dirty="0" smtClean="0">
                <a:hlinkClick r:id="rId2"/>
              </a:rPr>
              <a:t> </a:t>
            </a:r>
            <a:r>
              <a:rPr lang="sv-SE" dirty="0" err="1" smtClean="0">
                <a:hlinkClick r:id="rId2"/>
              </a:rPr>
              <a:t>testing</a:t>
            </a:r>
            <a:r>
              <a:rPr lang="sv-SE" dirty="0" smtClean="0">
                <a:hlinkClick r:id="rId2"/>
              </a:rPr>
              <a:t> by Philip </a:t>
            </a:r>
            <a:r>
              <a:rPr lang="sv-SE" dirty="0" err="1" smtClean="0">
                <a:hlinkClick r:id="rId2"/>
              </a:rPr>
              <a:t>Abrahamssont</a:t>
            </a:r>
            <a:endParaRPr lang="sv-SE" dirty="0" smtClean="0"/>
          </a:p>
          <a:p>
            <a:endParaRPr lang="sv-SE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References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8234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1459</TotalTime>
  <Words>455</Words>
  <Application>Microsoft Office PowerPoint</Application>
  <PresentationFormat>On-screen Show (16:9)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Office-tema</vt:lpstr>
      <vt:lpstr>Double Pulse Test</vt:lpstr>
      <vt:lpstr>Inductor Selection</vt:lpstr>
      <vt:lpstr>Instrumentation</vt:lpstr>
      <vt:lpstr>Instrumentation</vt:lpstr>
      <vt:lpstr>What testing should be included in a DPT and expected results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Enes Ayaz</cp:lastModifiedBy>
  <cp:revision>176</cp:revision>
  <dcterms:created xsi:type="dcterms:W3CDTF">2019-12-10T08:55:59Z</dcterms:created>
  <dcterms:modified xsi:type="dcterms:W3CDTF">2024-02-07T09:28:19Z</dcterms:modified>
</cp:coreProperties>
</file>