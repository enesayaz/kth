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0"/>
  </p:notesMasterIdLst>
  <p:sldIdLst>
    <p:sldId id="256" r:id="rId2"/>
    <p:sldId id="286" r:id="rId3"/>
    <p:sldId id="287" r:id="rId4"/>
    <p:sldId id="296" r:id="rId5"/>
    <p:sldId id="288" r:id="rId6"/>
    <p:sldId id="297" r:id="rId7"/>
    <p:sldId id="298" r:id="rId8"/>
    <p:sldId id="299" r:id="rId9"/>
    <p:sldId id="302" r:id="rId10"/>
    <p:sldId id="300" r:id="rId11"/>
    <p:sldId id="301" r:id="rId12"/>
    <p:sldId id="303" r:id="rId13"/>
    <p:sldId id="289" r:id="rId14"/>
    <p:sldId id="290" r:id="rId15"/>
    <p:sldId id="309" r:id="rId16"/>
    <p:sldId id="304" r:id="rId17"/>
    <p:sldId id="291" r:id="rId18"/>
    <p:sldId id="292" r:id="rId19"/>
    <p:sldId id="311" r:id="rId20"/>
    <p:sldId id="310" r:id="rId21"/>
    <p:sldId id="312" r:id="rId22"/>
    <p:sldId id="313" r:id="rId23"/>
    <p:sldId id="305" r:id="rId24"/>
    <p:sldId id="314" r:id="rId25"/>
    <p:sldId id="306" r:id="rId26"/>
    <p:sldId id="295" r:id="rId27"/>
    <p:sldId id="294" r:id="rId28"/>
    <p:sldId id="281" r:id="rId29"/>
  </p:sldIdLst>
  <p:sldSz cx="12192000" cy="6858000"/>
  <p:notesSz cx="6858000" cy="9144000"/>
  <p:embeddedFontLst>
    <p:embeddedFont>
      <p:font typeface="Figtree" panose="020B0604020202020204" charset="0"/>
      <p:regular r:id="rId31"/>
      <p:bold r:id="rId32"/>
      <p:italic r:id="rId33"/>
      <p:boldItalic r:id="rId3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6327"/>
  </p:normalViewPr>
  <p:slideViewPr>
    <p:cSldViewPr snapToGrid="0">
      <p:cViewPr varScale="1">
        <p:scale>
          <a:sx n="143" d="100"/>
          <a:sy n="143" d="100"/>
        </p:scale>
        <p:origin x="91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2026-09-14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7320ED-CC30-40CA-9CE4-6E3D40AC6940}" type="datetime1">
              <a:rPr lang="sv-SE" smtClean="0"/>
              <a:t>2026-09-14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C49BCAB-5A06-4223-BFB2-ED3A362D31FB}" type="datetime1">
              <a:rPr lang="sv-SE" smtClean="0"/>
              <a:t>2026-09-14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DE1E4F4-915F-4BDA-8018-0E8D85ADB3AE}" type="datetime1">
              <a:rPr lang="sv-SE" smtClean="0"/>
              <a:t>2026-09-14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838F692-DF1B-4705-97B1-EA9A7FECE70D}"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FFB1190-7C65-4056-BED4-EB7E51E067BA}"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DF53C7D-A530-4CB2-81B7-4822E854671D}"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3F2BC08D-9DE6-4B18-97D4-94C41C7C750B}"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174ABE9A-BFC9-4414-99F3-C04009DDD507}"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37F410EA-42AD-48B6-9D51-9A9648286DDE}"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9AB505C-0FE7-46CC-9442-496C62ABF749}"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F27EA40-ECA7-45D6-A8C4-30B44DDB041D}"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FD7CF34-B1D4-4C4D-9A17-FE1AB55311BA}"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89EC2E1-56DF-43E3-9653-4E5C33165AAD}"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84A3420-E8D2-4E05-B041-68E36F39639A}"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87B91D26-6A42-4A6A-9C66-69F2C39EF0CF}"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D14C729-1F95-49E6-8483-86575ECFCB6E}"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3BAA5190-CB07-4BB7-A900-3DAB2E0E415F}" type="datetime1">
              <a:rPr lang="sv-SE" smtClean="0"/>
              <a:t>2026-09-14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8C85BA78-3D1B-4158-B001-FE61CF1C222E}" type="datetime1">
              <a:rPr lang="sv-SE" smtClean="0"/>
              <a:t>2026-09-14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10E95EC-C335-4145-ACE1-392060E44822}"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6DCC37F-AD05-44BD-A36C-1A828CB70665}"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5474E43-27D6-41CC-B429-196AE525BDB8}"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4FBD4B1-3F11-4E01-82C5-9CB645F147B5}"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3F11B96-60EF-445F-B5C7-65AC07B1D82A}"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75E3B09-F8CC-4D44-B8C1-07449FEFEBED}"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4D10F1A-1AAF-4648-B199-DA18729AAA1B}"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5208B1-A039-4927-BF83-AF5ABAE532ED}"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DDC1B5E-84F3-4205-8CC9-0ED2BBDCB308}"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BDF3CC5-CBCD-4293-A7FF-8E4824E89ADA}"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2414029-E44B-455F-B177-B428A7ECCE47}"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4A26C4-8A72-461A-A198-B820420183ED}"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92C207A-D86B-4817-A025-C1A14F1B0FDD}"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C0178818-F141-4E84-90B4-E52F899B5AB4}"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5BABAD-AE8C-42F9-A95A-EFB43FAAD5FF}"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624DCEF-49E6-4B70-95E7-A8F3F6BA5952}"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FFB7F76B-1D00-49DE-9F67-10C8EBA28D6F}"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D41F8B-E864-4DEF-898D-AEB5E7A12997}"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D5583B8-425F-424D-A537-19C487A0E825}"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D197700-4604-4353-957C-82710342673E}"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2AD88B0-5D04-4CBC-9F9D-A68222D2221C}"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2CB5245D-D3F1-47DD-81B7-B707BD426610}" type="datetime1">
              <a:rPr lang="sv-SE" smtClean="0"/>
              <a:t>2026-09-14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9C9B160-C296-4714-BAC5-2F363C7BBC45}"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EEE5CF1-D461-4F9F-A64C-35EE4209EA91}"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7A04451-31EE-427C-97F1-FC087CBD92A2}" type="datetime1">
              <a:rPr lang="sv-SE" smtClean="0"/>
              <a:t>2026-09-14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AC8713D-BB8F-49B9-88A5-23DB39DD36E0}" type="datetime1">
              <a:rPr lang="sv-SE" smtClean="0"/>
              <a:t>2026-09-14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095E2F45-FF78-44AE-91B9-C057DBFFB11E}" type="datetime1">
              <a:rPr lang="sv-SE" smtClean="0"/>
              <a:t>2026-09-14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310876DD-1031-4BCC-948D-E42E85795B8B}" type="datetime1">
              <a:rPr lang="sv-SE" smtClean="0"/>
              <a:t>2026-09-14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ABDBC88-D4D4-4F58-ADA3-A0DCC8EC5BFF}" type="datetime1">
              <a:rPr lang="sv-SE" smtClean="0"/>
              <a:t>2026-09-14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D8870112-0760-459F-8E4C-E4F09A70E3E0}" type="datetime1">
              <a:rPr lang="sv-SE" smtClean="0"/>
              <a:t>2026-09-14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69.png"/><Relationship Id="rId4" Type="http://schemas.openxmlformats.org/officeDocument/2006/relationships/image" Target="../media/image68.png"/></Relationships>
</file>

<file path=ppt/slides/_rels/slide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2.xml"/><Relationship Id="rId5" Type="http://schemas.openxmlformats.org/officeDocument/2006/relationships/image" Target="../media/image79.png"/><Relationship Id="rId4" Type="http://schemas.openxmlformats.org/officeDocument/2006/relationships/image" Target="../media/image78.png"/></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2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2.xml"/><Relationship Id="rId5" Type="http://schemas.openxmlformats.org/officeDocument/2006/relationships/image" Target="../media/image88.png"/><Relationship Id="rId4" Type="http://schemas.openxmlformats.org/officeDocument/2006/relationships/image" Target="../media/image87.png"/></Relationships>
</file>

<file path=ppt/slides/_rels/slide2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2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2.xml"/><Relationship Id="rId4" Type="http://schemas.openxmlformats.org/officeDocument/2006/relationships/image" Target="../media/image97.png"/></Relationships>
</file>

<file path=ppt/slides/_rels/slide2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2.xml"/><Relationship Id="rId5" Type="http://schemas.openxmlformats.org/officeDocument/2006/relationships/image" Target="../media/image101.png"/><Relationship Id="rId4" Type="http://schemas.openxmlformats.org/officeDocument/2006/relationships/image" Target="../media/image1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117375"/>
            <a:ext cx="8798701" cy="2108676"/>
          </a:xfrm>
        </p:spPr>
        <p:txBody>
          <a:bodyPr/>
          <a:lstStyle/>
          <a:p>
            <a:r>
              <a:rPr lang="en-US" dirty="0"/>
              <a:t>Holistic Design Approach on DC-Link Voltage Scaling to 1.2 kV for Heavy-DutyEVs </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a:bodyPr>
          <a:lstStyle/>
          <a:p>
            <a:r>
              <a:rPr lang="sv-SE" dirty="0"/>
              <a:t>Enes Ayaz</a:t>
            </a:r>
          </a:p>
        </p:txBody>
      </p:sp>
      <p:sp>
        <p:nvSpPr>
          <p:cNvPr id="2" name="Slide Number Placeholder 1"/>
          <p:cNvSpPr>
            <a:spLocks noGrp="1"/>
          </p:cNvSpPr>
          <p:nvPr>
            <p:ph type="sldNum" sz="quarter" idx="12"/>
          </p:nvPr>
        </p:nvSpPr>
        <p:spPr/>
        <p:txBody>
          <a:bodyPr/>
          <a:lstStyle/>
          <a:p>
            <a:fld id="{B716C8F4-20CD-364A-8A8E-DE130115B178}" type="slidenum">
              <a:rPr lang="sv-SE" smtClean="0"/>
              <a:pPr/>
              <a:t>1</a:t>
            </a:fld>
            <a:endParaRPr lang="sv-SE"/>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Introduction</a:t>
            </a:r>
            <a:endParaRPr lang="en-US" dirty="0"/>
          </a:p>
        </p:txBody>
      </p:sp>
      <p:sp>
        <p:nvSpPr>
          <p:cNvPr id="3" name="Content Placeholder 2"/>
          <p:cNvSpPr>
            <a:spLocks noGrp="1"/>
          </p:cNvSpPr>
          <p:nvPr>
            <p:ph idx="1"/>
          </p:nvPr>
        </p:nvSpPr>
        <p:spPr>
          <a:xfrm>
            <a:off x="3800894" y="1528929"/>
            <a:ext cx="7841412" cy="1036296"/>
          </a:xfrm>
        </p:spPr>
        <p:txBody>
          <a:bodyPr/>
          <a:lstStyle/>
          <a:p>
            <a:pPr marL="0" indent="0" algn="just">
              <a:buNone/>
            </a:pPr>
            <a:r>
              <a:rPr lang="en-US" sz="1800" dirty="0"/>
              <a:t>The shift towards </a:t>
            </a:r>
            <a:r>
              <a:rPr lang="en-US" sz="1800" b="1" dirty="0">
                <a:solidFill>
                  <a:schemeClr val="accent6">
                    <a:lumMod val="75000"/>
                  </a:schemeClr>
                </a:solidFill>
              </a:rPr>
              <a:t>electrifying heavy-duty vehicles</a:t>
            </a:r>
            <a:r>
              <a:rPr lang="en-US" sz="1800" dirty="0">
                <a:solidFill>
                  <a:schemeClr val="accent6">
                    <a:lumMod val="75000"/>
                  </a:schemeClr>
                </a:solidFill>
              </a:rPr>
              <a:t> </a:t>
            </a:r>
            <a:r>
              <a:rPr lang="en-US" sz="1800" dirty="0"/>
              <a:t>is driven by the increasing need for </a:t>
            </a:r>
            <a:r>
              <a:rPr lang="en-US" sz="1800" b="1" dirty="0">
                <a:solidFill>
                  <a:schemeClr val="accent6">
                    <a:lumMod val="75000"/>
                  </a:schemeClr>
                </a:solidFill>
              </a:rPr>
              <a:t>sustainable transportation solutions</a:t>
            </a:r>
            <a:r>
              <a:rPr lang="en-US" sz="1800" dirty="0">
                <a:solidFill>
                  <a:schemeClr val="accent6">
                    <a:lumMod val="75000"/>
                  </a:schemeClr>
                </a:solidFill>
              </a:rPr>
              <a:t> </a:t>
            </a:r>
            <a:r>
              <a:rPr lang="en-US" sz="1800" dirty="0"/>
              <a:t>to address </a:t>
            </a:r>
            <a:r>
              <a:rPr lang="en-US" sz="1800" b="1" dirty="0">
                <a:solidFill>
                  <a:schemeClr val="accent6">
                    <a:lumMod val="75000"/>
                  </a:schemeClr>
                </a:solidFill>
              </a:rPr>
              <a:t>environmental challenges</a:t>
            </a:r>
            <a:r>
              <a:rPr lang="en-US" sz="1800" dirty="0">
                <a:solidFill>
                  <a:schemeClr val="accent6">
                    <a:lumMod val="75000"/>
                  </a:schemeClr>
                </a:solidFill>
              </a:rPr>
              <a:t> </a:t>
            </a:r>
            <a:r>
              <a:rPr lang="en-US" sz="1800" dirty="0"/>
              <a:t>and reduce emissions.</a:t>
            </a:r>
            <a:endParaRPr lang="en-US" dirty="0"/>
          </a:p>
          <a:p>
            <a:pPr marL="457200" lvl="1" indent="0">
              <a:buNone/>
            </a:pPr>
            <a:r>
              <a:rPr lang="en-US" dirty="0"/>
              <a:t>	</a:t>
            </a:r>
            <a:endParaRPr lang="sv-SE" dirty="0"/>
          </a:p>
        </p:txBody>
      </p:sp>
      <p:pic>
        <p:nvPicPr>
          <p:cNvPr id="5" name="Picture 2" descr="Scania Australia | Driving The Future | Scania Austral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47" y="1252868"/>
            <a:ext cx="2921816" cy="19437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6011" y="3336332"/>
            <a:ext cx="6077969" cy="1477328"/>
          </a:xfrm>
          <a:prstGeom prst="rect">
            <a:avLst/>
          </a:prstGeom>
          <a:noFill/>
        </p:spPr>
        <p:txBody>
          <a:bodyPr wrap="square" rtlCol="0">
            <a:spAutoFit/>
          </a:bodyPr>
          <a:lstStyle/>
          <a:p>
            <a:pPr marL="342900" indent="-342900" algn="just">
              <a:buFont typeface="Arial" panose="020B0604020202020204" pitchFamily="34" charset="0"/>
              <a:buChar char="•"/>
            </a:pPr>
            <a:r>
              <a:rPr lang="en-US" b="1" dirty="0">
                <a:solidFill>
                  <a:schemeClr val="accent6">
                    <a:lumMod val="75000"/>
                  </a:schemeClr>
                </a:solidFill>
              </a:rPr>
              <a:t>Power Ratings</a:t>
            </a:r>
            <a:r>
              <a:rPr lang="en-US" dirty="0">
                <a:solidFill>
                  <a:schemeClr val="accent3">
                    <a:lumMod val="90000"/>
                    <a:lumOff val="10000"/>
                  </a:schemeClr>
                </a:solidFill>
              </a:rPr>
              <a:t>: </a:t>
            </a:r>
            <a:r>
              <a:rPr lang="en-US" dirty="0"/>
              <a:t>Electric trucks require high power ratings.</a:t>
            </a:r>
          </a:p>
          <a:p>
            <a:pPr marL="342900" indent="-342900" algn="just">
              <a:buFont typeface="Arial" panose="020B0604020202020204" pitchFamily="34" charset="0"/>
              <a:buChar char="•"/>
            </a:pPr>
            <a:r>
              <a:rPr lang="en-US" dirty="0"/>
              <a:t> </a:t>
            </a:r>
            <a:r>
              <a:rPr lang="en-US" b="1" dirty="0">
                <a:solidFill>
                  <a:schemeClr val="accent6">
                    <a:lumMod val="75000"/>
                  </a:schemeClr>
                </a:solidFill>
              </a:rPr>
              <a:t>Megawatt charging systems (MCS)</a:t>
            </a:r>
            <a:r>
              <a:rPr lang="en-US" dirty="0">
                <a:solidFill>
                  <a:schemeClr val="accent6">
                    <a:lumMod val="75000"/>
                  </a:schemeClr>
                </a:solidFill>
              </a:rPr>
              <a:t> </a:t>
            </a:r>
            <a:r>
              <a:rPr lang="en-US" dirty="0"/>
              <a:t>are essential to support rapid charging, aligning with the operational demands of electric trucks.</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13" name="Rectangle 2"/>
          <p:cNvSpPr>
            <a:spLocks noChangeArrowheads="1"/>
          </p:cNvSpPr>
          <p:nvPr/>
        </p:nvSpPr>
        <p:spPr bwMode="auto">
          <a:xfrm>
            <a:off x="254065" y="5091862"/>
            <a:ext cx="608991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chemeClr val="accent6">
                    <a:lumMod val="75000"/>
                  </a:schemeClr>
                </a:solidFill>
              </a:rPr>
              <a:t>European Union's regulation on driving times</a:t>
            </a:r>
            <a:endParaRPr kumimoji="0" lang="sv-SE" altLang="sv-SE" sz="1800" b="1" i="0" u="none" strike="noStrike" cap="none" normalizeH="0" baseline="0" dirty="0">
              <a:ln>
                <a:noFill/>
              </a:ln>
              <a:solidFill>
                <a:schemeClr val="accent6">
                  <a:lumMod val="75000"/>
                </a:schemeClr>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a:ln>
                  <a:noFill/>
                </a:ln>
                <a:solidFill>
                  <a:schemeClr val="tx1"/>
                </a:solidFill>
                <a:effectLst/>
                <a:latin typeface="Arial" panose="020B0604020202020204" pitchFamily="34" charset="0"/>
              </a:rPr>
              <a:t>Drivers </a:t>
            </a:r>
            <a:r>
              <a:rPr kumimoji="0" lang="sv-SE" altLang="sv-SE" b="0" i="0" u="none" strike="noStrike" cap="none" normalizeH="0" baseline="0" dirty="0" err="1">
                <a:ln>
                  <a:noFill/>
                </a:ln>
                <a:solidFill>
                  <a:schemeClr val="tx1"/>
                </a:solidFill>
                <a:effectLst/>
                <a:latin typeface="Arial" panose="020B0604020202020204" pitchFamily="34" charset="0"/>
              </a:rPr>
              <a:t>may</a:t>
            </a:r>
            <a:r>
              <a:rPr kumimoji="0" lang="sv-SE" altLang="sv-SE" b="0" i="0" u="none" strike="noStrike" cap="none" normalizeH="0" baseline="0" dirty="0">
                <a:ln>
                  <a:noFill/>
                </a:ln>
                <a:solidFill>
                  <a:schemeClr val="tx1"/>
                </a:solidFill>
                <a:effectLst/>
                <a:latin typeface="Arial" panose="020B0604020202020204" pitchFamily="34" charset="0"/>
              </a:rPr>
              <a:t> drive for a maximum </a:t>
            </a:r>
            <a:r>
              <a:rPr kumimoji="0" lang="sv-SE" altLang="sv-SE" b="0" i="0" u="none" strike="noStrike" cap="none" normalizeH="0" baseline="0" dirty="0" err="1">
                <a:ln>
                  <a:noFill/>
                </a:ln>
                <a:solidFill>
                  <a:schemeClr val="tx1"/>
                </a:solidFill>
                <a:effectLst/>
                <a:latin typeface="Arial" panose="020B0604020202020204" pitchFamily="34" charset="0"/>
              </a:rPr>
              <a:t>of</a:t>
            </a:r>
            <a:r>
              <a:rPr kumimoji="0" lang="sv-SE" altLang="sv-SE" b="0" i="0" u="none" strike="noStrike" cap="none" normalizeH="0" baseline="0" dirty="0">
                <a:ln>
                  <a:noFill/>
                </a:ln>
                <a:solidFill>
                  <a:schemeClr val="tx1"/>
                </a:solidFill>
                <a:effectLst/>
                <a:latin typeface="Arial" panose="020B0604020202020204" pitchFamily="34" charset="0"/>
              </a:rPr>
              <a:t> </a:t>
            </a:r>
            <a:r>
              <a:rPr kumimoji="0" lang="sv-SE" altLang="sv-SE" b="1" i="0" u="none" strike="noStrike" cap="none" normalizeH="0" baseline="0" dirty="0">
                <a:ln>
                  <a:noFill/>
                </a:ln>
                <a:solidFill>
                  <a:schemeClr val="accent6">
                    <a:lumMod val="75000"/>
                  </a:schemeClr>
                </a:solidFill>
                <a:effectLst/>
                <a:latin typeface="Arial" panose="020B0604020202020204" pitchFamily="34" charset="0"/>
              </a:rPr>
              <a:t>4.5 </a:t>
            </a:r>
            <a:r>
              <a:rPr kumimoji="0" lang="sv-SE" altLang="sv-SE" b="1" i="0" u="none" strike="noStrike" cap="none" normalizeH="0" baseline="0" dirty="0" err="1">
                <a:ln>
                  <a:noFill/>
                </a:ln>
                <a:solidFill>
                  <a:schemeClr val="accent6">
                    <a:lumMod val="75000"/>
                  </a:schemeClr>
                </a:solidFill>
                <a:effectLst/>
                <a:latin typeface="Arial" panose="020B0604020202020204" pitchFamily="34" charset="0"/>
              </a:rPr>
              <a:t>hours</a:t>
            </a:r>
            <a:r>
              <a:rPr kumimoji="0" lang="sv-SE" altLang="sv-SE" b="0" i="0" u="none" strike="noStrike" cap="none" normalizeH="0" baseline="0" dirty="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a:ln>
                  <a:noFill/>
                </a:ln>
                <a:solidFill>
                  <a:schemeClr val="tx1"/>
                </a:solidFill>
                <a:effectLst/>
                <a:latin typeface="Arial" panose="020B0604020202020204" pitchFamily="34" charset="0"/>
              </a:rPr>
              <a:t>continuously</a:t>
            </a:r>
            <a:r>
              <a:rPr kumimoji="0" lang="sv-SE" altLang="sv-SE"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dirty="0"/>
              <a:t>After 4.5 hours, a driver must take a </a:t>
            </a:r>
            <a:r>
              <a:rPr lang="en-US" b="1" dirty="0">
                <a:solidFill>
                  <a:schemeClr val="accent6">
                    <a:lumMod val="75000"/>
                  </a:schemeClr>
                </a:solidFill>
              </a:rPr>
              <a:t>minimum</a:t>
            </a:r>
            <a:r>
              <a:rPr lang="en-US" b="1" dirty="0"/>
              <a:t> </a:t>
            </a:r>
            <a:r>
              <a:rPr lang="en-US" b="1" dirty="0">
                <a:solidFill>
                  <a:schemeClr val="accent6">
                    <a:lumMod val="75000"/>
                  </a:schemeClr>
                </a:solidFill>
              </a:rPr>
              <a:t>45-minute rest</a:t>
            </a:r>
            <a:r>
              <a:rPr lang="en-US" b="1" dirty="0"/>
              <a:t>.</a:t>
            </a:r>
            <a:endParaRPr kumimoji="0" lang="sv-SE" altLang="sv-SE"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fld id="{B716C8F4-20CD-364A-8A8E-DE130115B178}" type="slidenum">
              <a:rPr lang="sv-SE" smtClean="0"/>
              <a:t>2</a:t>
            </a:fld>
            <a:endParaRPr lang="sv-SE"/>
          </a:p>
        </p:txBody>
      </p:sp>
      <p:sp>
        <p:nvSpPr>
          <p:cNvPr id="7" name="Rectangle 6"/>
          <p:cNvSpPr/>
          <p:nvPr/>
        </p:nvSpPr>
        <p:spPr>
          <a:xfrm>
            <a:off x="7128693" y="2898563"/>
            <a:ext cx="4498347" cy="646331"/>
          </a:xfrm>
          <a:prstGeom prst="rect">
            <a:avLst/>
          </a:prstGeom>
        </p:spPr>
        <p:txBody>
          <a:bodyPr wrap="none">
            <a:spAutoFit/>
          </a:bodyPr>
          <a:lstStyle/>
          <a:p>
            <a:r>
              <a:rPr lang="en-US" b="1" dirty="0">
                <a:solidFill>
                  <a:schemeClr val="accent6">
                    <a:lumMod val="75000"/>
                  </a:schemeClr>
                </a:solidFill>
              </a:rPr>
              <a:t>Limitations of 400–800 V architectures:</a:t>
            </a:r>
          </a:p>
          <a:p>
            <a:endParaRPr lang="sv-SE" dirty="0"/>
          </a:p>
        </p:txBody>
      </p:sp>
      <p:pic>
        <p:nvPicPr>
          <p:cNvPr id="14" name="Picture 13"/>
          <p:cNvPicPr>
            <a:picLocks noChangeAspect="1"/>
          </p:cNvPicPr>
          <p:nvPr/>
        </p:nvPicPr>
        <p:blipFill>
          <a:blip r:embed="rId3"/>
          <a:stretch>
            <a:fillRect/>
          </a:stretch>
        </p:blipFill>
        <p:spPr>
          <a:xfrm>
            <a:off x="7769532" y="3438932"/>
            <a:ext cx="3523861" cy="2749456"/>
          </a:xfrm>
          <a:prstGeom prst="rect">
            <a:avLst/>
          </a:prstGeom>
        </p:spPr>
      </p:pic>
    </p:spTree>
    <p:extLst>
      <p:ext uri="{BB962C8B-B14F-4D97-AF65-F5344CB8AC3E}">
        <p14:creationId xmlns:p14="http://schemas.microsoft.com/office/powerpoint/2010/main" val="3810454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Research Motivation &amp; Problem Statement</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3</a:t>
            </a:fld>
            <a:endParaRPr lang="sv-SE"/>
          </a:p>
        </p:txBody>
      </p:sp>
      <p:sp>
        <p:nvSpPr>
          <p:cNvPr id="12" name="Rectangle 11"/>
          <p:cNvSpPr/>
          <p:nvPr/>
        </p:nvSpPr>
        <p:spPr>
          <a:xfrm>
            <a:off x="563706" y="1110645"/>
            <a:ext cx="10713894" cy="5078313"/>
          </a:xfrm>
          <a:prstGeom prst="rect">
            <a:avLst/>
          </a:prstGeom>
        </p:spPr>
        <p:txBody>
          <a:bodyPr wrap="square">
            <a:spAutoFit/>
          </a:bodyPr>
          <a:lstStyle/>
          <a:p>
            <a:r>
              <a:rPr lang="en-US" b="1" dirty="0">
                <a:solidFill>
                  <a:schemeClr val="accent6">
                    <a:lumMod val="75000"/>
                  </a:schemeClr>
                </a:solidFill>
              </a:rPr>
              <a:t>Research gap</a:t>
            </a:r>
            <a:endParaRPr lang="en-US" dirty="0">
              <a:solidFill>
                <a:schemeClr val="accent6">
                  <a:lumMod val="75000"/>
                </a:schemeClr>
              </a:solidFill>
            </a:endParaRPr>
          </a:p>
          <a:p>
            <a:r>
              <a:rPr lang="en-US" dirty="0"/>
              <a:t>Literature mostly:</a:t>
            </a:r>
          </a:p>
          <a:p>
            <a:pPr marL="742950" lvl="1" indent="-285750">
              <a:buFont typeface="Arial" panose="020B0604020202020204" pitchFamily="34" charset="0"/>
              <a:buChar char="•"/>
            </a:pPr>
            <a:r>
              <a:rPr lang="en-US" dirty="0"/>
              <a:t>Subsystem-level</a:t>
            </a:r>
          </a:p>
          <a:p>
            <a:pPr marL="742950" lvl="1" indent="-285750">
              <a:buFont typeface="Arial" panose="020B0604020202020204" pitchFamily="34" charset="0"/>
              <a:buChar char="•"/>
            </a:pPr>
            <a:r>
              <a:rPr lang="en-US" dirty="0"/>
              <a:t>Focused on passenger EVs (≤ 800 V)</a:t>
            </a:r>
          </a:p>
          <a:p>
            <a:r>
              <a:rPr lang="en-US" dirty="0"/>
              <a:t>Lack of:</a:t>
            </a:r>
          </a:p>
          <a:p>
            <a:pPr marL="742950" lvl="1" indent="-285750">
              <a:buFont typeface="Arial" panose="020B0604020202020204" pitchFamily="34" charset="0"/>
              <a:buChar char="•"/>
            </a:pPr>
            <a:r>
              <a:rPr lang="en-US" dirty="0"/>
              <a:t>Unified HDV-scale analysis (&gt; 1 kV)</a:t>
            </a:r>
          </a:p>
          <a:p>
            <a:pPr marL="742950" lvl="1" indent="-285750">
              <a:buFont typeface="Arial" panose="020B0604020202020204" pitchFamily="34" charset="0"/>
              <a:buChar char="•"/>
            </a:pPr>
            <a:endParaRPr lang="en-US" b="1" dirty="0"/>
          </a:p>
          <a:p>
            <a:r>
              <a:rPr lang="en-US" b="1" dirty="0">
                <a:solidFill>
                  <a:schemeClr val="accent6">
                    <a:lumMod val="75000"/>
                  </a:schemeClr>
                </a:solidFill>
              </a:rPr>
              <a:t>The research objective</a:t>
            </a:r>
            <a:endParaRPr lang="en-US" dirty="0">
              <a:solidFill>
                <a:schemeClr val="accent6">
                  <a:lumMod val="75000"/>
                </a:schemeClr>
              </a:solidFill>
            </a:endParaRPr>
          </a:p>
          <a:p>
            <a:pPr marL="285750" indent="-285750">
              <a:buFont typeface="Arial" panose="020B0604020202020204" pitchFamily="34" charset="0"/>
              <a:buChar char="•"/>
            </a:pPr>
            <a:r>
              <a:rPr lang="en-US" dirty="0"/>
              <a:t>Quantify the </a:t>
            </a:r>
            <a:r>
              <a:rPr lang="en-US" b="1" dirty="0">
                <a:solidFill>
                  <a:schemeClr val="accent6">
                    <a:lumMod val="75000"/>
                  </a:schemeClr>
                </a:solidFill>
              </a:rPr>
              <a:t>system-level impact</a:t>
            </a:r>
            <a:r>
              <a:rPr lang="en-US" dirty="0">
                <a:solidFill>
                  <a:schemeClr val="accent6">
                    <a:lumMod val="75000"/>
                  </a:schemeClr>
                </a:solidFill>
              </a:rPr>
              <a:t> </a:t>
            </a:r>
            <a:r>
              <a:rPr lang="en-US" dirty="0"/>
              <a:t>of increasing DC-link voltage from </a:t>
            </a:r>
            <a:r>
              <a:rPr lang="en-US" b="1" dirty="0">
                <a:solidFill>
                  <a:schemeClr val="accent6">
                    <a:lumMod val="75000"/>
                  </a:schemeClr>
                </a:solidFill>
              </a:rPr>
              <a:t>800 V to 1200 V</a:t>
            </a:r>
            <a:r>
              <a:rPr lang="en-US" dirty="0">
                <a:solidFill>
                  <a:schemeClr val="accent6">
                    <a:lumMod val="75000"/>
                  </a:schemeClr>
                </a:solidFill>
              </a:rPr>
              <a:t> </a:t>
            </a:r>
            <a:r>
              <a:rPr lang="en-US" dirty="0"/>
              <a:t>in heavy-duty electric vehicles.</a:t>
            </a:r>
          </a:p>
          <a:p>
            <a:pPr>
              <a:buFont typeface="Arial" panose="020B0604020202020204" pitchFamily="34" charset="0"/>
              <a:buChar char="•"/>
            </a:pPr>
            <a:endParaRPr lang="en-US" dirty="0"/>
          </a:p>
          <a:p>
            <a:r>
              <a:rPr lang="en-US" b="1" dirty="0">
                <a:solidFill>
                  <a:schemeClr val="accent6">
                    <a:lumMod val="75000"/>
                  </a:schemeClr>
                </a:solidFill>
              </a:rPr>
              <a:t>Key questions</a:t>
            </a:r>
            <a:endParaRPr lang="en-US" dirty="0">
              <a:solidFill>
                <a:schemeClr val="accent6">
                  <a:lumMod val="75000"/>
                </a:schemeClr>
              </a:solidFill>
            </a:endParaRPr>
          </a:p>
          <a:p>
            <a:pPr marL="285750" indent="-285750">
              <a:buFont typeface="Arial" panose="020B0604020202020204" pitchFamily="34" charset="0"/>
              <a:buChar char="•"/>
            </a:pPr>
            <a:r>
              <a:rPr lang="en-US" dirty="0"/>
              <a:t>What </a:t>
            </a:r>
            <a:r>
              <a:rPr lang="en-US" b="1" dirty="0"/>
              <a:t>are performance improvements</a:t>
            </a:r>
            <a:r>
              <a:rPr lang="en-US" dirty="0"/>
              <a:t> enabled by increasing the DC-link voltage from 800 V to 1200 V at the system level?</a:t>
            </a:r>
          </a:p>
          <a:p>
            <a:pPr marL="285750" indent="-285750">
              <a:buFont typeface="Arial" panose="020B0604020202020204" pitchFamily="34" charset="0"/>
              <a:buChar char="•"/>
            </a:pPr>
            <a:r>
              <a:rPr lang="en-US" dirty="0"/>
              <a:t>What </a:t>
            </a:r>
            <a:r>
              <a:rPr lang="en-US" b="1" dirty="0"/>
              <a:t>new penalties and constraints</a:t>
            </a:r>
            <a:r>
              <a:rPr lang="en-US" dirty="0"/>
              <a:t> (losses, stresses, sizing) are introduced by high-voltage operation?</a:t>
            </a:r>
          </a:p>
          <a:p>
            <a:pPr marL="285750" indent="-285750">
              <a:buFont typeface="Arial" panose="020B0604020202020204" pitchFamily="34" charset="0"/>
              <a:buChar char="•"/>
            </a:pPr>
            <a:r>
              <a:rPr lang="en-US" dirty="0"/>
              <a:t>Under which </a:t>
            </a:r>
            <a:r>
              <a:rPr lang="en-US" b="1" dirty="0"/>
              <a:t>design conditions</a:t>
            </a:r>
            <a:r>
              <a:rPr lang="en-US" dirty="0"/>
              <a:t> does a 1200 V architecture become preferable to an 800 V system?</a:t>
            </a:r>
          </a:p>
        </p:txBody>
      </p:sp>
    </p:spTree>
    <p:extLst>
      <p:ext uri="{BB962C8B-B14F-4D97-AF65-F5344CB8AC3E}">
        <p14:creationId xmlns:p14="http://schemas.microsoft.com/office/powerpoint/2010/main" val="4092280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System Overview &amp; Methodology</a:t>
            </a:r>
          </a:p>
        </p:txBody>
      </p:sp>
      <p:sp>
        <p:nvSpPr>
          <p:cNvPr id="4" name="Slide Number Placeholder 3"/>
          <p:cNvSpPr>
            <a:spLocks noGrp="1"/>
          </p:cNvSpPr>
          <p:nvPr>
            <p:ph type="sldNum" sz="quarter" idx="12"/>
          </p:nvPr>
        </p:nvSpPr>
        <p:spPr/>
        <p:txBody>
          <a:bodyPr/>
          <a:lstStyle/>
          <a:p>
            <a:fld id="{B716C8F4-20CD-364A-8A8E-DE130115B178}" type="slidenum">
              <a:rPr lang="sv-SE" smtClean="0"/>
              <a:t>4</a:t>
            </a:fld>
            <a:endParaRPr lang="sv-SE"/>
          </a:p>
        </p:txBody>
      </p:sp>
      <p:sp>
        <p:nvSpPr>
          <p:cNvPr id="12" name="Rectangle 11"/>
          <p:cNvSpPr/>
          <p:nvPr/>
        </p:nvSpPr>
        <p:spPr>
          <a:xfrm>
            <a:off x="570347" y="4175669"/>
            <a:ext cx="4126481" cy="1200329"/>
          </a:xfrm>
          <a:prstGeom prst="rect">
            <a:avLst/>
          </a:prstGeom>
        </p:spPr>
        <p:txBody>
          <a:bodyPr wrap="square">
            <a:spAutoFit/>
          </a:bodyPr>
          <a:lstStyle/>
          <a:p>
            <a:r>
              <a:rPr lang="en-US" b="1" dirty="0"/>
              <a:t>Studied system</a:t>
            </a:r>
            <a:endParaRPr lang="en-US" dirty="0"/>
          </a:p>
          <a:p>
            <a:pPr marL="742950" lvl="1" indent="-285750">
              <a:buFont typeface="Arial" panose="020B0604020202020204" pitchFamily="34" charset="0"/>
              <a:buChar char="•"/>
            </a:pPr>
            <a:r>
              <a:rPr lang="en-US" dirty="0"/>
              <a:t>Battery + charging</a:t>
            </a:r>
          </a:p>
          <a:p>
            <a:pPr marL="742950" lvl="1" indent="-285750">
              <a:buFont typeface="Arial" panose="020B0604020202020204" pitchFamily="34" charset="0"/>
              <a:buChar char="•"/>
            </a:pPr>
            <a:r>
              <a:rPr lang="en-US" dirty="0"/>
              <a:t>Traction inverter</a:t>
            </a:r>
          </a:p>
          <a:p>
            <a:pPr marL="742950" lvl="1" indent="-285750">
              <a:buFont typeface="Arial" panose="020B0604020202020204" pitchFamily="34" charset="0"/>
              <a:buChar char="•"/>
            </a:pPr>
            <a:r>
              <a:rPr lang="en-US" dirty="0"/>
              <a:t>Traction motor</a:t>
            </a:r>
          </a:p>
        </p:txBody>
      </p:sp>
      <p:sp>
        <p:nvSpPr>
          <p:cNvPr id="3" name="Rectangle 2"/>
          <p:cNvSpPr/>
          <p:nvPr/>
        </p:nvSpPr>
        <p:spPr>
          <a:xfrm>
            <a:off x="6448426" y="4226197"/>
            <a:ext cx="5286568" cy="1200329"/>
          </a:xfrm>
          <a:prstGeom prst="rect">
            <a:avLst/>
          </a:prstGeom>
        </p:spPr>
        <p:txBody>
          <a:bodyPr wrap="square">
            <a:spAutoFit/>
          </a:bodyPr>
          <a:lstStyle/>
          <a:p>
            <a:r>
              <a:rPr lang="en-US" b="1" dirty="0"/>
              <a:t>Methodology</a:t>
            </a:r>
            <a:endParaRPr lang="en-US" dirty="0"/>
          </a:p>
          <a:p>
            <a:pPr marL="742950" lvl="1" indent="-285750">
              <a:buFont typeface="Arial" panose="020B0604020202020204" pitchFamily="34" charset="0"/>
              <a:buChar char="•"/>
            </a:pPr>
            <a:r>
              <a:rPr lang="en-US" dirty="0"/>
              <a:t>Unified virtual-prototyping framework</a:t>
            </a:r>
          </a:p>
          <a:p>
            <a:pPr marL="742950" lvl="1" indent="-285750">
              <a:buFont typeface="Arial" panose="020B0604020202020204" pitchFamily="34" charset="0"/>
              <a:buChar char="•"/>
            </a:pPr>
            <a:r>
              <a:rPr lang="en-US" dirty="0"/>
              <a:t>Equal-power &amp; equal-loss benchmarking</a:t>
            </a:r>
          </a:p>
          <a:p>
            <a:pPr marL="742950" lvl="1" indent="-285750">
              <a:buFont typeface="Arial" panose="020B0604020202020204" pitchFamily="34" charset="0"/>
              <a:buChar char="•"/>
            </a:pPr>
            <a:r>
              <a:rPr lang="en-US" dirty="0"/>
              <a:t>Analytical &amp; experimental approach</a:t>
            </a:r>
          </a:p>
        </p:txBody>
      </p:sp>
      <p:pic>
        <p:nvPicPr>
          <p:cNvPr id="7" name="Picture 6">
            <a:extLst>
              <a:ext uri="{FF2B5EF4-FFF2-40B4-BE49-F238E27FC236}">
                <a16:creationId xmlns:a16="http://schemas.microsoft.com/office/drawing/2014/main" id="{9894475F-EEC7-558C-5E98-5E59904BE683}"/>
              </a:ext>
            </a:extLst>
          </p:cNvPr>
          <p:cNvPicPr>
            <a:picLocks noChangeAspect="1"/>
          </p:cNvPicPr>
          <p:nvPr/>
        </p:nvPicPr>
        <p:blipFill>
          <a:blip r:embed="rId2"/>
          <a:stretch>
            <a:fillRect/>
          </a:stretch>
        </p:blipFill>
        <p:spPr>
          <a:xfrm>
            <a:off x="230933" y="1340845"/>
            <a:ext cx="7459616" cy="2449426"/>
          </a:xfrm>
          <a:prstGeom prst="rect">
            <a:avLst/>
          </a:prstGeom>
        </p:spPr>
      </p:pic>
      <p:pic>
        <p:nvPicPr>
          <p:cNvPr id="10" name="Picture 9"/>
          <p:cNvPicPr>
            <a:picLocks noChangeAspect="1"/>
          </p:cNvPicPr>
          <p:nvPr/>
        </p:nvPicPr>
        <p:blipFill>
          <a:blip r:embed="rId3"/>
          <a:stretch>
            <a:fillRect/>
          </a:stretch>
        </p:blipFill>
        <p:spPr>
          <a:xfrm>
            <a:off x="7836289" y="1506893"/>
            <a:ext cx="3825286" cy="1970492"/>
          </a:xfrm>
          <a:prstGeom prst="rect">
            <a:avLst/>
          </a:prstGeom>
        </p:spPr>
      </p:pic>
    </p:spTree>
    <p:extLst>
      <p:ext uri="{BB962C8B-B14F-4D97-AF65-F5344CB8AC3E}">
        <p14:creationId xmlns:p14="http://schemas.microsoft.com/office/powerpoint/2010/main" val="878734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stretch>
            <a:fillRect/>
          </a:stretch>
        </p:blipFill>
        <p:spPr>
          <a:xfrm>
            <a:off x="4271648" y="4984715"/>
            <a:ext cx="1302284" cy="702212"/>
          </a:xfrm>
          <a:prstGeom prst="rect">
            <a:avLst/>
          </a:prstGeom>
        </p:spPr>
      </p:pic>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a:xfrm>
            <a:off x="8772736" y="6244728"/>
            <a:ext cx="2743200" cy="94775"/>
          </a:xfrm>
        </p:spPr>
        <p:txBody>
          <a:bodyPr/>
          <a:lstStyle/>
          <a:p>
            <a:fld id="{B716C8F4-20CD-364A-8A8E-DE130115B178}" type="slidenum">
              <a:rPr lang="sv-SE" smtClean="0"/>
              <a:t>5</a:t>
            </a:fld>
            <a:endParaRPr lang="sv-SE"/>
          </a:p>
        </p:txBody>
      </p:sp>
      <p:pic>
        <p:nvPicPr>
          <p:cNvPr id="3" name="Picture 2"/>
          <p:cNvPicPr>
            <a:picLocks noChangeAspect="1"/>
          </p:cNvPicPr>
          <p:nvPr/>
        </p:nvPicPr>
        <p:blipFill rotWithShape="1">
          <a:blip r:embed="rId3"/>
          <a:srcRect l="12534"/>
          <a:stretch/>
        </p:blipFill>
        <p:spPr>
          <a:xfrm>
            <a:off x="2969365" y="1101669"/>
            <a:ext cx="2604567" cy="600430"/>
          </a:xfrm>
          <a:prstGeom prst="rect">
            <a:avLst/>
          </a:prstGeom>
        </p:spPr>
      </p:pic>
      <p:pic>
        <p:nvPicPr>
          <p:cNvPr id="5" name="Picture 4"/>
          <p:cNvPicPr>
            <a:picLocks noChangeAspect="1"/>
          </p:cNvPicPr>
          <p:nvPr/>
        </p:nvPicPr>
        <p:blipFill>
          <a:blip r:embed="rId4"/>
          <a:stretch>
            <a:fillRect/>
          </a:stretch>
        </p:blipFill>
        <p:spPr>
          <a:xfrm>
            <a:off x="3990610" y="1802228"/>
            <a:ext cx="2662515" cy="592624"/>
          </a:xfrm>
          <a:prstGeom prst="rect">
            <a:avLst/>
          </a:prstGeom>
        </p:spPr>
      </p:pic>
      <p:sp>
        <p:nvSpPr>
          <p:cNvPr id="7" name="Rectangle 6"/>
          <p:cNvSpPr/>
          <p:nvPr/>
        </p:nvSpPr>
        <p:spPr>
          <a:xfrm>
            <a:off x="485255" y="1234525"/>
            <a:ext cx="2702984" cy="369332"/>
          </a:xfrm>
          <a:prstGeom prst="rect">
            <a:avLst/>
          </a:prstGeom>
        </p:spPr>
        <p:txBody>
          <a:bodyPr wrap="none">
            <a:spAutoFit/>
          </a:bodyPr>
          <a:lstStyle/>
          <a:p>
            <a:r>
              <a:rPr lang="sv-SE" b="1" dirty="0">
                <a:solidFill>
                  <a:schemeClr val="accent6">
                    <a:lumMod val="75000"/>
                  </a:schemeClr>
                </a:solidFill>
              </a:rPr>
              <a:t>Total </a:t>
            </a:r>
            <a:r>
              <a:rPr lang="sv-SE" b="1" dirty="0" err="1">
                <a:solidFill>
                  <a:schemeClr val="accent6">
                    <a:lumMod val="75000"/>
                  </a:schemeClr>
                </a:solidFill>
              </a:rPr>
              <a:t>energy</a:t>
            </a:r>
            <a:r>
              <a:rPr lang="sv-SE" b="1" dirty="0">
                <a:solidFill>
                  <a:schemeClr val="accent6">
                    <a:lumMod val="75000"/>
                  </a:schemeClr>
                </a:solidFill>
              </a:rPr>
              <a:t> </a:t>
            </a:r>
            <a:r>
              <a:rPr lang="sv-SE" b="1" dirty="0" err="1">
                <a:solidFill>
                  <a:schemeClr val="accent6">
                    <a:lumMod val="75000"/>
                  </a:schemeClr>
                </a:solidFill>
              </a:rPr>
              <a:t>storaged</a:t>
            </a:r>
            <a:r>
              <a:rPr lang="sv-SE" b="1" dirty="0">
                <a:solidFill>
                  <a:schemeClr val="accent6">
                    <a:lumMod val="75000"/>
                  </a:schemeClr>
                </a:solidFill>
              </a:rPr>
              <a:t>:</a:t>
            </a:r>
            <a:endParaRPr lang="sv-SE" dirty="0"/>
          </a:p>
        </p:txBody>
      </p:sp>
      <p:pic>
        <p:nvPicPr>
          <p:cNvPr id="8" name="Picture 7"/>
          <p:cNvPicPr>
            <a:picLocks noChangeAspect="1"/>
          </p:cNvPicPr>
          <p:nvPr/>
        </p:nvPicPr>
        <p:blipFill>
          <a:blip r:embed="rId5"/>
          <a:stretch>
            <a:fillRect/>
          </a:stretch>
        </p:blipFill>
        <p:spPr>
          <a:xfrm>
            <a:off x="4271648" y="2485724"/>
            <a:ext cx="1402345" cy="647236"/>
          </a:xfrm>
          <a:prstGeom prst="rect">
            <a:avLst/>
          </a:prstGeom>
        </p:spPr>
      </p:pic>
      <p:pic>
        <p:nvPicPr>
          <p:cNvPr id="10" name="Picture 9"/>
          <p:cNvPicPr>
            <a:picLocks noChangeAspect="1"/>
          </p:cNvPicPr>
          <p:nvPr/>
        </p:nvPicPr>
        <p:blipFill>
          <a:blip r:embed="rId6"/>
          <a:stretch>
            <a:fillRect/>
          </a:stretch>
        </p:blipFill>
        <p:spPr>
          <a:xfrm>
            <a:off x="4972820" y="3424735"/>
            <a:ext cx="1903786" cy="566416"/>
          </a:xfrm>
          <a:prstGeom prst="rect">
            <a:avLst/>
          </a:prstGeom>
        </p:spPr>
      </p:pic>
      <p:pic>
        <p:nvPicPr>
          <p:cNvPr id="12" name="Picture 11"/>
          <p:cNvPicPr>
            <a:picLocks noChangeAspect="1"/>
          </p:cNvPicPr>
          <p:nvPr/>
        </p:nvPicPr>
        <p:blipFill>
          <a:blip r:embed="rId7"/>
          <a:stretch>
            <a:fillRect/>
          </a:stretch>
        </p:blipFill>
        <p:spPr>
          <a:xfrm>
            <a:off x="3564942" y="4096607"/>
            <a:ext cx="2254833" cy="795824"/>
          </a:xfrm>
          <a:prstGeom prst="rect">
            <a:avLst/>
          </a:prstGeom>
        </p:spPr>
      </p:pic>
      <p:pic>
        <p:nvPicPr>
          <p:cNvPr id="13" name="Picture 12"/>
          <p:cNvPicPr>
            <a:picLocks noChangeAspect="1"/>
          </p:cNvPicPr>
          <p:nvPr/>
        </p:nvPicPr>
        <p:blipFill rotWithShape="1">
          <a:blip r:embed="rId8"/>
          <a:srcRect t="37677"/>
          <a:stretch/>
        </p:blipFill>
        <p:spPr>
          <a:xfrm>
            <a:off x="2461116" y="5903964"/>
            <a:ext cx="2422257" cy="381746"/>
          </a:xfrm>
          <a:prstGeom prst="rect">
            <a:avLst/>
          </a:prstGeom>
        </p:spPr>
      </p:pic>
      <p:sp>
        <p:nvSpPr>
          <p:cNvPr id="14" name="Rectangle 13"/>
          <p:cNvSpPr/>
          <p:nvPr/>
        </p:nvSpPr>
        <p:spPr>
          <a:xfrm>
            <a:off x="485255" y="1929407"/>
            <a:ext cx="3555782" cy="369332"/>
          </a:xfrm>
          <a:prstGeom prst="rect">
            <a:avLst/>
          </a:prstGeom>
        </p:spPr>
        <p:txBody>
          <a:bodyPr wrap="none">
            <a:spAutoFit/>
          </a:bodyPr>
          <a:lstStyle/>
          <a:p>
            <a:r>
              <a:rPr lang="sv-SE" b="1" dirty="0" err="1">
                <a:solidFill>
                  <a:schemeClr val="accent6">
                    <a:lumMod val="75000"/>
                  </a:schemeClr>
                </a:solidFill>
              </a:rPr>
              <a:t>Higher</a:t>
            </a:r>
            <a:r>
              <a:rPr lang="sv-SE" b="1" dirty="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 </a:t>
            </a:r>
            <a:r>
              <a:rPr lang="sv-SE" b="1" dirty="0" err="1">
                <a:solidFill>
                  <a:schemeClr val="accent6">
                    <a:lumMod val="75000"/>
                  </a:schemeClr>
                </a:solidFill>
              </a:rPr>
              <a:t>lower</a:t>
            </a:r>
            <a:r>
              <a:rPr lang="sv-SE" b="1" dirty="0">
                <a:solidFill>
                  <a:schemeClr val="accent6">
                    <a:lumMod val="75000"/>
                  </a:schemeClr>
                </a:solidFill>
              </a:rPr>
              <a:t> </a:t>
            </a:r>
            <a:r>
              <a:rPr lang="sv-SE" b="1" dirty="0" err="1">
                <a:solidFill>
                  <a:schemeClr val="accent6">
                    <a:lumMod val="75000"/>
                  </a:schemeClr>
                </a:solidFill>
              </a:rPr>
              <a:t>current</a:t>
            </a:r>
            <a:r>
              <a:rPr lang="sv-SE" b="1" dirty="0">
                <a:solidFill>
                  <a:schemeClr val="accent6">
                    <a:lumMod val="75000"/>
                  </a:schemeClr>
                </a:solidFill>
              </a:rPr>
              <a:t>:</a:t>
            </a:r>
          </a:p>
        </p:txBody>
      </p:sp>
      <p:sp>
        <p:nvSpPr>
          <p:cNvPr id="15" name="Rectangle 14"/>
          <p:cNvSpPr/>
          <p:nvPr/>
        </p:nvSpPr>
        <p:spPr>
          <a:xfrm>
            <a:off x="6653125" y="1885663"/>
            <a:ext cx="4596337" cy="369332"/>
          </a:xfrm>
          <a:prstGeom prst="rect">
            <a:avLst/>
          </a:prstGeom>
        </p:spPr>
        <p:txBody>
          <a:bodyPr wrap="square">
            <a:spAutoFit/>
          </a:bodyPr>
          <a:lstStyle/>
          <a:p>
            <a:r>
              <a:rPr lang="en-US" dirty="0"/>
              <a:t>(Preserving the same total energy.)</a:t>
            </a:r>
            <a:endParaRPr lang="sv-SE" b="1" dirty="0">
              <a:solidFill>
                <a:schemeClr val="accent6">
                  <a:lumMod val="75000"/>
                </a:schemeClr>
              </a:solidFill>
            </a:endParaRPr>
          </a:p>
        </p:txBody>
      </p:sp>
      <p:sp>
        <p:nvSpPr>
          <p:cNvPr id="17" name="Rectangle 16"/>
          <p:cNvSpPr/>
          <p:nvPr/>
        </p:nvSpPr>
        <p:spPr>
          <a:xfrm>
            <a:off x="485255" y="2624289"/>
            <a:ext cx="3913251" cy="369332"/>
          </a:xfrm>
          <a:prstGeom prst="rect">
            <a:avLst/>
          </a:prstGeom>
        </p:spPr>
        <p:txBody>
          <a:bodyPr wrap="none">
            <a:spAutoFit/>
          </a:bodyPr>
          <a:lstStyle/>
          <a:p>
            <a:r>
              <a:rPr lang="sv-SE" b="1" dirty="0">
                <a:solidFill>
                  <a:schemeClr val="accent6">
                    <a:lumMod val="75000"/>
                  </a:schemeClr>
                </a:solidFill>
              </a:rPr>
              <a:t>The </a:t>
            </a:r>
            <a:r>
              <a:rPr lang="sv-SE" b="1" dirty="0" err="1">
                <a:solidFill>
                  <a:schemeClr val="accent6">
                    <a:lumMod val="75000"/>
                  </a:schemeClr>
                </a:solidFill>
              </a:rPr>
              <a:t>instantenous</a:t>
            </a:r>
            <a:r>
              <a:rPr lang="sv-SE" b="1" dirty="0">
                <a:solidFill>
                  <a:schemeClr val="accent6">
                    <a:lumMod val="75000"/>
                  </a:schemeClr>
                </a:solidFill>
              </a:rPr>
              <a:t> </a:t>
            </a:r>
            <a:r>
              <a:rPr lang="sv-SE" b="1" dirty="0" err="1">
                <a:solidFill>
                  <a:schemeClr val="accent6">
                    <a:lumMod val="75000"/>
                  </a:schemeClr>
                </a:solidFill>
              </a:rPr>
              <a:t>charging</a:t>
            </a:r>
            <a:r>
              <a:rPr lang="sv-SE" b="1" dirty="0">
                <a:solidFill>
                  <a:schemeClr val="accent6">
                    <a:lumMod val="75000"/>
                  </a:schemeClr>
                </a:solidFill>
              </a:rPr>
              <a:t> </a:t>
            </a:r>
            <a:r>
              <a:rPr lang="sv-SE" b="1" dirty="0" err="1">
                <a:solidFill>
                  <a:schemeClr val="accent6">
                    <a:lumMod val="75000"/>
                  </a:schemeClr>
                </a:solidFill>
              </a:rPr>
              <a:t>current</a:t>
            </a:r>
            <a:r>
              <a:rPr lang="sv-SE" b="1" dirty="0">
                <a:solidFill>
                  <a:schemeClr val="accent6">
                    <a:lumMod val="75000"/>
                  </a:schemeClr>
                </a:solidFill>
              </a:rPr>
              <a:t>:</a:t>
            </a:r>
          </a:p>
        </p:txBody>
      </p:sp>
      <p:sp>
        <p:nvSpPr>
          <p:cNvPr id="18" name="Rectangle 17"/>
          <p:cNvSpPr/>
          <p:nvPr/>
        </p:nvSpPr>
        <p:spPr>
          <a:xfrm>
            <a:off x="485255" y="3527948"/>
            <a:ext cx="4655442" cy="369332"/>
          </a:xfrm>
          <a:prstGeom prst="rect">
            <a:avLst/>
          </a:prstGeom>
        </p:spPr>
        <p:txBody>
          <a:bodyPr wrap="none">
            <a:spAutoFit/>
          </a:bodyPr>
          <a:lstStyle/>
          <a:p>
            <a:r>
              <a:rPr lang="sv-SE" b="1" dirty="0">
                <a:solidFill>
                  <a:schemeClr val="accent6">
                    <a:lumMod val="75000"/>
                  </a:schemeClr>
                </a:solidFill>
              </a:rPr>
              <a:t>The </a:t>
            </a:r>
            <a:r>
              <a:rPr lang="sv-SE" b="1" dirty="0" err="1">
                <a:solidFill>
                  <a:schemeClr val="accent6">
                    <a:lumMod val="75000"/>
                  </a:schemeClr>
                </a:solidFill>
              </a:rPr>
              <a:t>corresponding</a:t>
            </a:r>
            <a:r>
              <a:rPr lang="sv-SE" b="1" dirty="0">
                <a:solidFill>
                  <a:schemeClr val="accent6">
                    <a:lumMod val="75000"/>
                  </a:schemeClr>
                </a:solidFill>
              </a:rPr>
              <a:t> </a:t>
            </a:r>
            <a:r>
              <a:rPr lang="sv-SE" b="1" dirty="0" err="1">
                <a:solidFill>
                  <a:schemeClr val="accent6">
                    <a:lumMod val="75000"/>
                  </a:schemeClr>
                </a:solidFill>
              </a:rPr>
              <a:t>cable</a:t>
            </a:r>
            <a:r>
              <a:rPr lang="sv-SE" b="1" dirty="0">
                <a:solidFill>
                  <a:schemeClr val="accent6">
                    <a:lumMod val="75000"/>
                  </a:schemeClr>
                </a:solidFill>
              </a:rPr>
              <a:t> </a:t>
            </a:r>
            <a:r>
              <a:rPr lang="sv-SE" b="1" dirty="0" err="1">
                <a:solidFill>
                  <a:schemeClr val="accent6">
                    <a:lumMod val="75000"/>
                  </a:schemeClr>
                </a:solidFill>
              </a:rPr>
              <a:t>conduction</a:t>
            </a:r>
            <a:r>
              <a:rPr lang="sv-SE" b="1" dirty="0">
                <a:solidFill>
                  <a:schemeClr val="accent6">
                    <a:lumMod val="75000"/>
                  </a:schemeClr>
                </a:solidFill>
              </a:rPr>
              <a:t> loss :</a:t>
            </a:r>
          </a:p>
        </p:txBody>
      </p:sp>
      <p:sp>
        <p:nvSpPr>
          <p:cNvPr id="19" name="Rectangle 18"/>
          <p:cNvSpPr/>
          <p:nvPr/>
        </p:nvSpPr>
        <p:spPr>
          <a:xfrm>
            <a:off x="485255" y="5892903"/>
            <a:ext cx="2218877" cy="369332"/>
          </a:xfrm>
          <a:prstGeom prst="rect">
            <a:avLst/>
          </a:prstGeom>
        </p:spPr>
        <p:txBody>
          <a:bodyPr wrap="none">
            <a:spAutoFit/>
          </a:bodyPr>
          <a:lstStyle/>
          <a:p>
            <a:r>
              <a:rPr lang="sv-SE" b="1" dirty="0">
                <a:solidFill>
                  <a:schemeClr val="accent6">
                    <a:lumMod val="75000"/>
                  </a:schemeClr>
                </a:solidFill>
              </a:rPr>
              <a:t>Power is </a:t>
            </a:r>
            <a:r>
              <a:rPr lang="sv-SE" b="1" dirty="0" err="1">
                <a:solidFill>
                  <a:schemeClr val="accent6">
                    <a:lumMod val="75000"/>
                  </a:schemeClr>
                </a:solidFill>
              </a:rPr>
              <a:t>scaled</a:t>
            </a:r>
            <a:r>
              <a:rPr lang="sv-SE" b="1" dirty="0">
                <a:solidFill>
                  <a:schemeClr val="accent6">
                    <a:lumMod val="75000"/>
                  </a:schemeClr>
                </a:solidFill>
              </a:rPr>
              <a:t> by:</a:t>
            </a:r>
          </a:p>
        </p:txBody>
      </p:sp>
      <p:sp>
        <p:nvSpPr>
          <p:cNvPr id="20" name="Rectangle 19"/>
          <p:cNvSpPr/>
          <p:nvPr/>
        </p:nvSpPr>
        <p:spPr>
          <a:xfrm>
            <a:off x="5721842" y="4376565"/>
            <a:ext cx="4596337" cy="369332"/>
          </a:xfrm>
          <a:prstGeom prst="rect">
            <a:avLst/>
          </a:prstGeom>
        </p:spPr>
        <p:txBody>
          <a:bodyPr wrap="square">
            <a:spAutoFit/>
          </a:bodyPr>
          <a:lstStyle/>
          <a:p>
            <a:r>
              <a:rPr lang="en-US" dirty="0"/>
              <a:t>(while keeping the same conductor area.)</a:t>
            </a:r>
            <a:endParaRPr lang="sv-SE" b="1" dirty="0">
              <a:solidFill>
                <a:schemeClr val="accent6">
                  <a:lumMod val="75000"/>
                </a:schemeClr>
              </a:solidFill>
            </a:endParaRPr>
          </a:p>
        </p:txBody>
      </p:sp>
      <p:sp>
        <p:nvSpPr>
          <p:cNvPr id="21" name="Rectangle 20"/>
          <p:cNvSpPr/>
          <p:nvPr/>
        </p:nvSpPr>
        <p:spPr>
          <a:xfrm>
            <a:off x="485255" y="4345993"/>
            <a:ext cx="3244799" cy="369332"/>
          </a:xfrm>
          <a:prstGeom prst="rect">
            <a:avLst/>
          </a:prstGeom>
        </p:spPr>
        <p:txBody>
          <a:bodyPr wrap="none">
            <a:spAutoFit/>
          </a:bodyPr>
          <a:lstStyle/>
          <a:p>
            <a:r>
              <a:rPr lang="sv-SE" b="1" dirty="0" err="1">
                <a:solidFill>
                  <a:schemeClr val="accent6">
                    <a:lumMod val="75000"/>
                  </a:schemeClr>
                </a:solidFill>
              </a:rPr>
              <a:t>Conduction</a:t>
            </a:r>
            <a:r>
              <a:rPr lang="sv-SE" b="1" dirty="0">
                <a:solidFill>
                  <a:schemeClr val="accent6">
                    <a:lumMod val="75000"/>
                  </a:schemeClr>
                </a:solidFill>
              </a:rPr>
              <a:t> loss is </a:t>
            </a:r>
            <a:r>
              <a:rPr lang="sv-SE" b="1" dirty="0" err="1">
                <a:solidFill>
                  <a:schemeClr val="accent6">
                    <a:lumMod val="75000"/>
                  </a:schemeClr>
                </a:solidFill>
              </a:rPr>
              <a:t>scaled</a:t>
            </a:r>
            <a:r>
              <a:rPr lang="sv-SE" b="1" dirty="0">
                <a:solidFill>
                  <a:schemeClr val="accent6">
                    <a:lumMod val="75000"/>
                  </a:schemeClr>
                </a:solidFill>
              </a:rPr>
              <a:t> by:</a:t>
            </a:r>
          </a:p>
        </p:txBody>
      </p:sp>
      <p:sp>
        <p:nvSpPr>
          <p:cNvPr id="22" name="Rectangle 21"/>
          <p:cNvSpPr/>
          <p:nvPr/>
        </p:nvSpPr>
        <p:spPr>
          <a:xfrm>
            <a:off x="4826386" y="5845674"/>
            <a:ext cx="4596337" cy="369332"/>
          </a:xfrm>
          <a:prstGeom prst="rect">
            <a:avLst/>
          </a:prstGeom>
        </p:spPr>
        <p:txBody>
          <a:bodyPr wrap="square">
            <a:spAutoFit/>
          </a:bodyPr>
          <a:lstStyle/>
          <a:p>
            <a:r>
              <a:rPr lang="en-US" dirty="0"/>
              <a:t>(if cable current is fixed.)</a:t>
            </a:r>
            <a:endParaRPr lang="sv-SE" b="1" dirty="0">
              <a:solidFill>
                <a:schemeClr val="accent6">
                  <a:lumMod val="75000"/>
                </a:schemeClr>
              </a:solidFill>
            </a:endParaRPr>
          </a:p>
        </p:txBody>
      </p:sp>
      <p:sp>
        <p:nvSpPr>
          <p:cNvPr id="23" name="Rectangle 22"/>
          <p:cNvSpPr/>
          <p:nvPr/>
        </p:nvSpPr>
        <p:spPr>
          <a:xfrm>
            <a:off x="485255" y="5109468"/>
            <a:ext cx="4065537" cy="369332"/>
          </a:xfrm>
          <a:prstGeom prst="rect">
            <a:avLst/>
          </a:prstGeom>
        </p:spPr>
        <p:txBody>
          <a:bodyPr wrap="none">
            <a:spAutoFit/>
          </a:bodyPr>
          <a:lstStyle/>
          <a:p>
            <a:r>
              <a:rPr lang="sv-SE" b="1" dirty="0">
                <a:solidFill>
                  <a:schemeClr val="accent6">
                    <a:lumMod val="75000"/>
                  </a:schemeClr>
                </a:solidFill>
              </a:rPr>
              <a:t>Cable cross </a:t>
            </a:r>
            <a:r>
              <a:rPr lang="sv-SE" b="1" dirty="0" err="1">
                <a:solidFill>
                  <a:schemeClr val="accent6">
                    <a:lumMod val="75000"/>
                  </a:schemeClr>
                </a:solidFill>
              </a:rPr>
              <a:t>section</a:t>
            </a:r>
            <a:r>
              <a:rPr lang="sv-SE" b="1" dirty="0">
                <a:solidFill>
                  <a:schemeClr val="accent6">
                    <a:lumMod val="75000"/>
                  </a:schemeClr>
                </a:solidFill>
              </a:rPr>
              <a:t> </a:t>
            </a:r>
            <a:r>
              <a:rPr lang="sv-SE" b="1" dirty="0" err="1">
                <a:solidFill>
                  <a:schemeClr val="accent6">
                    <a:lumMod val="75000"/>
                  </a:schemeClr>
                </a:solidFill>
              </a:rPr>
              <a:t>can</a:t>
            </a:r>
            <a:r>
              <a:rPr lang="sv-SE" b="1" dirty="0">
                <a:solidFill>
                  <a:schemeClr val="accent6">
                    <a:lumMod val="75000"/>
                  </a:schemeClr>
                </a:solidFill>
              </a:rPr>
              <a:t> be </a:t>
            </a:r>
            <a:r>
              <a:rPr lang="sv-SE" b="1" dirty="0" err="1">
                <a:solidFill>
                  <a:schemeClr val="accent6">
                    <a:lumMod val="75000"/>
                  </a:schemeClr>
                </a:solidFill>
              </a:rPr>
              <a:t>reduced</a:t>
            </a:r>
            <a:r>
              <a:rPr lang="sv-SE" b="1" dirty="0">
                <a:solidFill>
                  <a:schemeClr val="accent6">
                    <a:lumMod val="75000"/>
                  </a:schemeClr>
                </a:solidFill>
              </a:rPr>
              <a:t> :</a:t>
            </a:r>
          </a:p>
        </p:txBody>
      </p:sp>
    </p:spTree>
    <p:extLst>
      <p:ext uri="{BB962C8B-B14F-4D97-AF65-F5344CB8AC3E}">
        <p14:creationId xmlns:p14="http://schemas.microsoft.com/office/powerpoint/2010/main" val="4074269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6</a:t>
            </a:fld>
            <a:endParaRPr lang="sv-SE"/>
          </a:p>
        </p:txBody>
      </p:sp>
      <p:sp>
        <p:nvSpPr>
          <p:cNvPr id="6" name="Rectangle 5"/>
          <p:cNvSpPr/>
          <p:nvPr/>
        </p:nvSpPr>
        <p:spPr>
          <a:xfrm>
            <a:off x="3028950" y="4649231"/>
            <a:ext cx="5581649" cy="1754326"/>
          </a:xfrm>
          <a:prstGeom prst="rect">
            <a:avLst/>
          </a:prstGeom>
        </p:spPr>
        <p:txBody>
          <a:bodyPr wrap="square">
            <a:spAutoFit/>
          </a:bodyPr>
          <a:lstStyle/>
          <a:p>
            <a:r>
              <a:rPr lang="sv-SE" b="1" dirty="0">
                <a:solidFill>
                  <a:schemeClr val="accent6">
                    <a:lumMod val="75000"/>
                  </a:schemeClr>
                </a:solidFill>
              </a:rPr>
              <a:t>Main </a:t>
            </a:r>
            <a:r>
              <a:rPr lang="sv-SE" b="1" dirty="0" err="1">
                <a:solidFill>
                  <a:schemeClr val="accent6">
                    <a:lumMod val="75000"/>
                  </a:schemeClr>
                </a:solidFill>
              </a:rPr>
              <a:t>findings</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a:t>Same </a:t>
            </a:r>
            <a:r>
              <a:rPr lang="sv-SE" dirty="0" err="1"/>
              <a:t>energy</a:t>
            </a:r>
            <a:r>
              <a:rPr lang="sv-SE" dirty="0"/>
              <a:t> : </a:t>
            </a:r>
            <a:r>
              <a:rPr lang="sv-SE" dirty="0" err="1"/>
              <a:t>higher</a:t>
            </a:r>
            <a:r>
              <a:rPr lang="sv-SE" dirty="0"/>
              <a:t> </a:t>
            </a:r>
            <a:r>
              <a:rPr lang="sv-SE" dirty="0" err="1"/>
              <a:t>voltage</a:t>
            </a:r>
            <a:r>
              <a:rPr lang="sv-SE" dirty="0"/>
              <a:t> → </a:t>
            </a:r>
            <a:r>
              <a:rPr lang="sv-SE" dirty="0" err="1"/>
              <a:t>lower</a:t>
            </a:r>
            <a:r>
              <a:rPr lang="sv-SE" dirty="0"/>
              <a:t> </a:t>
            </a:r>
            <a:r>
              <a:rPr lang="sv-SE" dirty="0" err="1"/>
              <a:t>current</a:t>
            </a:r>
            <a:endParaRPr lang="sv-SE" dirty="0"/>
          </a:p>
          <a:p>
            <a:pPr marL="285750" indent="-285750">
              <a:buFont typeface="Arial" panose="020B0604020202020204" pitchFamily="34" charset="0"/>
              <a:buChar char="•"/>
            </a:pPr>
            <a:r>
              <a:rPr lang="sv-SE" dirty="0"/>
              <a:t>~33% </a:t>
            </a:r>
            <a:r>
              <a:rPr lang="sv-SE" dirty="0" err="1"/>
              <a:t>current</a:t>
            </a:r>
            <a:r>
              <a:rPr lang="sv-SE" dirty="0"/>
              <a:t> </a:t>
            </a:r>
            <a:r>
              <a:rPr lang="sv-SE" dirty="0" err="1"/>
              <a:t>reduction</a:t>
            </a:r>
            <a:r>
              <a:rPr lang="sv-SE" dirty="0"/>
              <a:t> at 1200 V</a:t>
            </a:r>
          </a:p>
          <a:p>
            <a:pPr marL="285750" indent="-285750">
              <a:buFont typeface="Arial" panose="020B0604020202020204" pitchFamily="34" charset="0"/>
              <a:buChar char="•"/>
            </a:pPr>
            <a:r>
              <a:rPr lang="sv-SE" dirty="0"/>
              <a:t>~56% </a:t>
            </a:r>
            <a:r>
              <a:rPr lang="sv-SE" dirty="0" err="1"/>
              <a:t>reduction</a:t>
            </a:r>
            <a:r>
              <a:rPr lang="sv-SE" dirty="0"/>
              <a:t> in I²R </a:t>
            </a:r>
            <a:r>
              <a:rPr lang="sv-SE" dirty="0" err="1"/>
              <a:t>cable</a:t>
            </a:r>
            <a:r>
              <a:rPr lang="sv-SE" dirty="0"/>
              <a:t> </a:t>
            </a:r>
            <a:r>
              <a:rPr lang="sv-SE" dirty="0" err="1"/>
              <a:t>losses</a:t>
            </a:r>
            <a:endParaRPr lang="sv-SE" dirty="0"/>
          </a:p>
          <a:p>
            <a:pPr marL="285750" indent="-285750">
              <a:buFont typeface="Arial" panose="020B0604020202020204" pitchFamily="34" charset="0"/>
              <a:buChar char="•"/>
            </a:pPr>
            <a:r>
              <a:rPr lang="sv-SE" dirty="0"/>
              <a:t>~40–45% </a:t>
            </a:r>
            <a:r>
              <a:rPr lang="sv-SE" dirty="0" err="1"/>
              <a:t>cable</a:t>
            </a:r>
            <a:r>
              <a:rPr lang="sv-SE" dirty="0"/>
              <a:t> </a:t>
            </a:r>
            <a:r>
              <a:rPr lang="sv-SE" dirty="0" err="1"/>
              <a:t>mass</a:t>
            </a:r>
            <a:r>
              <a:rPr lang="sv-SE" dirty="0"/>
              <a:t> </a:t>
            </a:r>
            <a:r>
              <a:rPr lang="sv-SE" dirty="0" err="1"/>
              <a:t>reduction</a:t>
            </a:r>
            <a:endParaRPr lang="sv-SE" dirty="0"/>
          </a:p>
          <a:p>
            <a:pPr marL="285750" indent="-285750">
              <a:buFont typeface="Arial" panose="020B0604020202020204" pitchFamily="34" charset="0"/>
              <a:buChar char="•"/>
            </a:pPr>
            <a:r>
              <a:rPr lang="sv-SE" dirty="0"/>
              <a:t>Full </a:t>
            </a:r>
            <a:r>
              <a:rPr lang="sv-SE" dirty="0" err="1"/>
              <a:t>compatibility</a:t>
            </a:r>
            <a:r>
              <a:rPr lang="sv-SE" dirty="0"/>
              <a:t> </a:t>
            </a:r>
            <a:r>
              <a:rPr lang="sv-SE" dirty="0" err="1"/>
              <a:t>with</a:t>
            </a:r>
            <a:r>
              <a:rPr lang="sv-SE" dirty="0"/>
              <a:t> MCS standards(&gt; 1 MW)</a:t>
            </a:r>
          </a:p>
        </p:txBody>
      </p:sp>
      <p:pic>
        <p:nvPicPr>
          <p:cNvPr id="5" name="Picture 4">
            <a:extLst>
              <a:ext uri="{FF2B5EF4-FFF2-40B4-BE49-F238E27FC236}">
                <a16:creationId xmlns:a16="http://schemas.microsoft.com/office/drawing/2014/main" id="{C06E44F3-F484-E461-E18D-D83819AE928B}"/>
              </a:ext>
            </a:extLst>
          </p:cNvPr>
          <p:cNvPicPr>
            <a:picLocks noChangeAspect="1"/>
          </p:cNvPicPr>
          <p:nvPr/>
        </p:nvPicPr>
        <p:blipFill>
          <a:blip r:embed="rId2"/>
          <a:stretch>
            <a:fillRect/>
          </a:stretch>
        </p:blipFill>
        <p:spPr>
          <a:xfrm>
            <a:off x="2595562" y="1165766"/>
            <a:ext cx="6862763" cy="3222617"/>
          </a:xfrm>
          <a:prstGeom prst="rect">
            <a:avLst/>
          </a:prstGeom>
        </p:spPr>
      </p:pic>
    </p:spTree>
    <p:extLst>
      <p:ext uri="{BB962C8B-B14F-4D97-AF65-F5344CB8AC3E}">
        <p14:creationId xmlns:p14="http://schemas.microsoft.com/office/powerpoint/2010/main" val="140799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Benchmark</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7</a:t>
            </a:fld>
            <a:endParaRPr lang="sv-SE"/>
          </a:p>
        </p:txBody>
      </p:sp>
      <p:sp>
        <p:nvSpPr>
          <p:cNvPr id="3" name="Rectangle 2"/>
          <p:cNvSpPr/>
          <p:nvPr/>
        </p:nvSpPr>
        <p:spPr>
          <a:xfrm>
            <a:off x="6628204" y="1536477"/>
            <a:ext cx="4646403" cy="923330"/>
          </a:xfrm>
          <a:prstGeom prst="rect">
            <a:avLst/>
          </a:prstGeom>
        </p:spPr>
        <p:txBody>
          <a:bodyPr wrap="square">
            <a:spAutoFit/>
          </a:bodyPr>
          <a:lstStyle/>
          <a:p>
            <a:r>
              <a:rPr lang="en-US" b="1" dirty="0">
                <a:solidFill>
                  <a:schemeClr val="accent6">
                    <a:lumMod val="75000"/>
                  </a:schemeClr>
                </a:solidFill>
              </a:rPr>
              <a:t>Benchmark setup</a:t>
            </a:r>
            <a:endParaRPr lang="en-US" dirty="0">
              <a:solidFill>
                <a:schemeClr val="accent6">
                  <a:lumMod val="75000"/>
                </a:schemeClr>
              </a:solidFill>
            </a:endParaRPr>
          </a:p>
          <a:p>
            <a:pPr marL="285750" indent="-285750">
              <a:buFont typeface="Arial" panose="020B0604020202020204" pitchFamily="34" charset="0"/>
              <a:buChar char="•"/>
            </a:pPr>
            <a:r>
              <a:rPr lang="en-US" dirty="0"/>
              <a:t>800 V (1.2 kV </a:t>
            </a:r>
            <a:r>
              <a:rPr lang="en-US" dirty="0" err="1"/>
              <a:t>SiC</a:t>
            </a:r>
            <a:r>
              <a:rPr lang="en-US" dirty="0"/>
              <a:t>) vs 1200 V (2 kV </a:t>
            </a:r>
            <a:r>
              <a:rPr lang="en-US" dirty="0" err="1"/>
              <a:t>SiC</a:t>
            </a:r>
            <a:r>
              <a:rPr lang="en-US" dirty="0"/>
              <a:t>)</a:t>
            </a:r>
          </a:p>
          <a:p>
            <a:pPr marL="285750" indent="-285750">
              <a:buFont typeface="Arial" panose="020B0604020202020204" pitchFamily="34" charset="0"/>
              <a:buChar char="•"/>
            </a:pPr>
            <a:r>
              <a:rPr lang="en-US" dirty="0"/>
              <a:t>Same power, same thermal limits</a:t>
            </a:r>
          </a:p>
        </p:txBody>
      </p:sp>
      <p:sp>
        <p:nvSpPr>
          <p:cNvPr id="5" name="Rectangle 4"/>
          <p:cNvSpPr/>
          <p:nvPr/>
        </p:nvSpPr>
        <p:spPr>
          <a:xfrm>
            <a:off x="6705705" y="2896907"/>
            <a:ext cx="5086245" cy="3139321"/>
          </a:xfrm>
          <a:prstGeom prst="rect">
            <a:avLst/>
          </a:prstGeom>
        </p:spPr>
        <p:txBody>
          <a:bodyPr wrap="square">
            <a:spAutoFit/>
          </a:bodyPr>
          <a:lstStyle/>
          <a:p>
            <a:r>
              <a:rPr lang="sv-SE" b="1" dirty="0">
                <a:solidFill>
                  <a:schemeClr val="accent6">
                    <a:lumMod val="75000"/>
                  </a:schemeClr>
                </a:solidFill>
              </a:rPr>
              <a:t>Loss </a:t>
            </a:r>
            <a:r>
              <a:rPr lang="sv-SE" b="1" dirty="0" err="1">
                <a:solidFill>
                  <a:schemeClr val="accent6">
                    <a:lumMod val="75000"/>
                  </a:schemeClr>
                </a:solidFill>
              </a:rPr>
              <a:t>modeling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Conduction</a:t>
            </a:r>
            <a:r>
              <a:rPr lang="sv-SE" dirty="0"/>
              <a:t> vs </a:t>
            </a:r>
            <a:r>
              <a:rPr lang="sv-SE" dirty="0" err="1"/>
              <a:t>switching</a:t>
            </a:r>
            <a:endParaRPr lang="sv-SE" dirty="0"/>
          </a:p>
          <a:p>
            <a:r>
              <a:rPr lang="en-US" b="1" dirty="0">
                <a:solidFill>
                  <a:schemeClr val="accent6">
                    <a:lumMod val="75000"/>
                  </a:schemeClr>
                </a:solidFill>
              </a:rPr>
              <a:t>Device Rating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Die</a:t>
            </a:r>
            <a:r>
              <a:rPr lang="sv-SE" dirty="0"/>
              <a:t>-area </a:t>
            </a:r>
            <a:r>
              <a:rPr lang="sv-SE" dirty="0" err="1"/>
              <a:t>optimization</a:t>
            </a:r>
            <a:endParaRPr lang="sv-SE" dirty="0"/>
          </a:p>
          <a:p>
            <a:r>
              <a:rPr lang="en-US" b="1" dirty="0">
                <a:solidFill>
                  <a:schemeClr val="accent6">
                    <a:lumMod val="75000"/>
                  </a:schemeClr>
                </a:solidFill>
              </a:rPr>
              <a:t>Cooling System</a:t>
            </a:r>
          </a:p>
          <a:p>
            <a:pPr marL="742950" lvl="1" indent="-285750">
              <a:buFont typeface="Arial" panose="020B0604020202020204" pitchFamily="34" charset="0"/>
              <a:buChar char="•"/>
            </a:pPr>
            <a:r>
              <a:rPr lang="en-US" dirty="0"/>
              <a:t>Cooling-system performance index </a:t>
            </a:r>
          </a:p>
          <a:p>
            <a:r>
              <a:rPr lang="en-US" b="1" dirty="0">
                <a:solidFill>
                  <a:schemeClr val="accent6">
                    <a:lumMod val="75000"/>
                  </a:schemeClr>
                </a:solidFill>
              </a:rPr>
              <a:t>DC-Link Capacitance</a:t>
            </a:r>
          </a:p>
          <a:p>
            <a:pPr marL="742950" lvl="1" indent="-285750">
              <a:buFont typeface="Arial" panose="020B0604020202020204" pitchFamily="34" charset="0"/>
              <a:buChar char="•"/>
            </a:pPr>
            <a:r>
              <a:rPr lang="en-US" dirty="0"/>
              <a:t>Capacitance value and volume </a:t>
            </a:r>
          </a:p>
          <a:p>
            <a:r>
              <a:rPr lang="en-US" b="1" dirty="0">
                <a:solidFill>
                  <a:schemeClr val="accent6">
                    <a:lumMod val="75000"/>
                  </a:schemeClr>
                </a:solidFill>
              </a:rPr>
              <a:t>Design Selection</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Efficiency</a:t>
            </a:r>
            <a:r>
              <a:rPr lang="sv-SE" dirty="0"/>
              <a:t> </a:t>
            </a:r>
            <a:r>
              <a:rPr lang="sv-SE" dirty="0" err="1"/>
              <a:t>map</a:t>
            </a:r>
            <a:endParaRPr lang="sv-SE" dirty="0"/>
          </a:p>
          <a:p>
            <a:pPr marL="285750" indent="-285750">
              <a:buFont typeface="Arial" panose="020B0604020202020204" pitchFamily="34" charset="0"/>
              <a:buChar char="•"/>
            </a:pPr>
            <a:endParaRPr lang="sv-SE" dirty="0"/>
          </a:p>
        </p:txBody>
      </p:sp>
      <p:pic>
        <p:nvPicPr>
          <p:cNvPr id="9" name="Picture 8">
            <a:extLst>
              <a:ext uri="{FF2B5EF4-FFF2-40B4-BE49-F238E27FC236}">
                <a16:creationId xmlns:a16="http://schemas.microsoft.com/office/drawing/2014/main" id="{0E26B896-36B3-1983-795F-BE48AD384DAB}"/>
              </a:ext>
            </a:extLst>
          </p:cNvPr>
          <p:cNvPicPr>
            <a:picLocks noChangeAspect="1"/>
          </p:cNvPicPr>
          <p:nvPr/>
        </p:nvPicPr>
        <p:blipFill>
          <a:blip r:embed="rId2"/>
          <a:stretch>
            <a:fillRect/>
          </a:stretch>
        </p:blipFill>
        <p:spPr>
          <a:xfrm>
            <a:off x="400050" y="1841996"/>
            <a:ext cx="5941341" cy="3320554"/>
          </a:xfrm>
          <a:prstGeom prst="rect">
            <a:avLst/>
          </a:prstGeom>
        </p:spPr>
      </p:pic>
    </p:spTree>
    <p:extLst>
      <p:ext uri="{BB962C8B-B14F-4D97-AF65-F5344CB8AC3E}">
        <p14:creationId xmlns:p14="http://schemas.microsoft.com/office/powerpoint/2010/main" val="265166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Calculation</a:t>
            </a:r>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8</a:t>
            </a:fld>
            <a:endParaRPr lang="sv-SE"/>
          </a:p>
        </p:txBody>
      </p:sp>
      <p:pic>
        <p:nvPicPr>
          <p:cNvPr id="8" name="Picture 7"/>
          <p:cNvPicPr>
            <a:picLocks noChangeAspect="1"/>
          </p:cNvPicPr>
          <p:nvPr/>
        </p:nvPicPr>
        <p:blipFill>
          <a:blip r:embed="rId2"/>
          <a:stretch>
            <a:fillRect/>
          </a:stretch>
        </p:blipFill>
        <p:spPr>
          <a:xfrm>
            <a:off x="985382" y="1511525"/>
            <a:ext cx="3204219" cy="818008"/>
          </a:xfrm>
          <a:prstGeom prst="rect">
            <a:avLst/>
          </a:prstGeom>
        </p:spPr>
      </p:pic>
      <p:pic>
        <p:nvPicPr>
          <p:cNvPr id="9" name="Picture 8"/>
          <p:cNvPicPr>
            <a:picLocks noChangeAspect="1"/>
          </p:cNvPicPr>
          <p:nvPr/>
        </p:nvPicPr>
        <p:blipFill rotWithShape="1">
          <a:blip r:embed="rId3"/>
          <a:srcRect t="17308"/>
          <a:stretch/>
        </p:blipFill>
        <p:spPr>
          <a:xfrm>
            <a:off x="1568054" y="4488813"/>
            <a:ext cx="1578534" cy="756289"/>
          </a:xfrm>
          <a:prstGeom prst="rect">
            <a:avLst/>
          </a:prstGeom>
        </p:spPr>
      </p:pic>
      <p:pic>
        <p:nvPicPr>
          <p:cNvPr id="10" name="Picture 9"/>
          <p:cNvPicPr>
            <a:picLocks noChangeAspect="1"/>
          </p:cNvPicPr>
          <p:nvPr/>
        </p:nvPicPr>
        <p:blipFill>
          <a:blip r:embed="rId4"/>
          <a:stretch>
            <a:fillRect/>
          </a:stretch>
        </p:blipFill>
        <p:spPr>
          <a:xfrm>
            <a:off x="7708482" y="4346074"/>
            <a:ext cx="2915420" cy="591996"/>
          </a:xfrm>
          <a:prstGeom prst="rect">
            <a:avLst/>
          </a:prstGeom>
        </p:spPr>
      </p:pic>
      <p:pic>
        <p:nvPicPr>
          <p:cNvPr id="12" name="Picture 11"/>
          <p:cNvPicPr>
            <a:picLocks noChangeAspect="1"/>
          </p:cNvPicPr>
          <p:nvPr/>
        </p:nvPicPr>
        <p:blipFill rotWithShape="1">
          <a:blip r:embed="rId5"/>
          <a:srcRect t="16484" r="9312"/>
          <a:stretch/>
        </p:blipFill>
        <p:spPr>
          <a:xfrm>
            <a:off x="6305277" y="5552135"/>
            <a:ext cx="4976879" cy="543698"/>
          </a:xfrm>
          <a:prstGeom prst="rect">
            <a:avLst/>
          </a:prstGeom>
        </p:spPr>
      </p:pic>
      <p:pic>
        <p:nvPicPr>
          <p:cNvPr id="14" name="Picture 13"/>
          <p:cNvPicPr>
            <a:picLocks noChangeAspect="1"/>
          </p:cNvPicPr>
          <p:nvPr/>
        </p:nvPicPr>
        <p:blipFill>
          <a:blip r:embed="rId6"/>
          <a:stretch>
            <a:fillRect/>
          </a:stretch>
        </p:blipFill>
        <p:spPr>
          <a:xfrm>
            <a:off x="6953460" y="1635460"/>
            <a:ext cx="3920967" cy="728969"/>
          </a:xfrm>
          <a:prstGeom prst="rect">
            <a:avLst/>
          </a:prstGeom>
        </p:spPr>
      </p:pic>
      <p:sp>
        <p:nvSpPr>
          <p:cNvPr id="17" name="Rectangle 16"/>
          <p:cNvSpPr/>
          <p:nvPr/>
        </p:nvSpPr>
        <p:spPr>
          <a:xfrm>
            <a:off x="513201" y="2551619"/>
            <a:ext cx="5070204" cy="830997"/>
          </a:xfrm>
          <a:prstGeom prst="rect">
            <a:avLst/>
          </a:prstGeom>
        </p:spPr>
        <p:txBody>
          <a:bodyPr wrap="square">
            <a:spAutoFit/>
          </a:bodyPr>
          <a:lstStyle/>
          <a:p>
            <a:pPr algn="just"/>
            <a:r>
              <a:rPr lang="en-US" sz="1600" dirty="0"/>
              <a:t>where </a:t>
            </a:r>
            <a:r>
              <a:rPr lang="en-US" sz="1600" b="1" dirty="0">
                <a:solidFill>
                  <a:schemeClr val="accent6">
                    <a:lumMod val="75000"/>
                  </a:schemeClr>
                </a:solidFill>
              </a:rPr>
              <a:t>duty cycles </a:t>
            </a:r>
            <a:r>
              <a:rPr lang="en-US" sz="1600" dirty="0"/>
              <a:t>(D(θ)), </a:t>
            </a:r>
            <a:r>
              <a:rPr lang="en-US" sz="1600" b="1" dirty="0">
                <a:solidFill>
                  <a:schemeClr val="accent6">
                    <a:lumMod val="75000"/>
                  </a:schemeClr>
                </a:solidFill>
              </a:rPr>
              <a:t>switch current </a:t>
            </a:r>
            <a:r>
              <a:rPr lang="en-US" sz="1600" dirty="0"/>
              <a:t>(i</a:t>
            </a:r>
            <a:r>
              <a:rPr lang="en-US" sz="700" dirty="0"/>
              <a:t>ds</a:t>
            </a:r>
            <a:r>
              <a:rPr lang="en-US" sz="1600" dirty="0"/>
              <a:t>(θ)), </a:t>
            </a:r>
            <a:r>
              <a:rPr lang="en-US" sz="1600" b="1" dirty="0">
                <a:solidFill>
                  <a:schemeClr val="accent6">
                    <a:lumMod val="75000"/>
                  </a:schemeClr>
                </a:solidFill>
              </a:rPr>
              <a:t>conduction angles</a:t>
            </a:r>
            <a:r>
              <a:rPr lang="en-US" sz="1600" dirty="0"/>
              <a:t> (θ</a:t>
            </a:r>
            <a:r>
              <a:rPr lang="en-US" sz="700" dirty="0"/>
              <a:t>C1 </a:t>
            </a:r>
            <a:r>
              <a:rPr lang="en-US" sz="1600" dirty="0"/>
              <a:t>to θ</a:t>
            </a:r>
            <a:r>
              <a:rPr lang="en-US" sz="700" dirty="0"/>
              <a:t>C2</a:t>
            </a:r>
            <a:r>
              <a:rPr lang="en-US" sz="1600" dirty="0"/>
              <a:t>), and </a:t>
            </a:r>
            <a:r>
              <a:rPr lang="en-US" sz="1600" b="1" dirty="0">
                <a:solidFill>
                  <a:schemeClr val="accent6">
                    <a:lumMod val="75000"/>
                  </a:schemeClr>
                </a:solidFill>
              </a:rPr>
              <a:t>on-state resistance </a:t>
            </a:r>
            <a:r>
              <a:rPr lang="en-US" sz="1600" dirty="0"/>
              <a:t>(</a:t>
            </a:r>
            <a:r>
              <a:rPr lang="en-US" sz="1600" dirty="0" err="1"/>
              <a:t>r</a:t>
            </a:r>
            <a:r>
              <a:rPr lang="en-US" sz="700" dirty="0" err="1"/>
              <a:t>ds</a:t>
            </a:r>
            <a:r>
              <a:rPr lang="en-US" sz="1600" dirty="0"/>
              <a:t>) are required.</a:t>
            </a:r>
            <a:endParaRPr lang="sv-SE" sz="1600" dirty="0"/>
          </a:p>
        </p:txBody>
      </p:sp>
      <p:sp>
        <p:nvSpPr>
          <p:cNvPr id="30" name="Rectangle 29"/>
          <p:cNvSpPr/>
          <p:nvPr/>
        </p:nvSpPr>
        <p:spPr>
          <a:xfrm>
            <a:off x="1461111" y="1013542"/>
            <a:ext cx="1960793" cy="369332"/>
          </a:xfrm>
          <a:prstGeom prst="rect">
            <a:avLst/>
          </a:prstGeom>
        </p:spPr>
        <p:txBody>
          <a:bodyPr wrap="none">
            <a:spAutoFit/>
          </a:bodyPr>
          <a:lstStyle/>
          <a:p>
            <a:r>
              <a:rPr lang="sv-SE" b="1" dirty="0" err="1">
                <a:solidFill>
                  <a:schemeClr val="accent6">
                    <a:lumMod val="75000"/>
                  </a:schemeClr>
                </a:solidFill>
              </a:rPr>
              <a:t>Conduction</a:t>
            </a:r>
            <a:r>
              <a:rPr lang="sv-SE" b="1" dirty="0">
                <a:solidFill>
                  <a:schemeClr val="accent6">
                    <a:lumMod val="75000"/>
                  </a:schemeClr>
                </a:solidFill>
              </a:rPr>
              <a:t> Loss</a:t>
            </a:r>
            <a:endParaRPr lang="sv-SE" dirty="0">
              <a:solidFill>
                <a:schemeClr val="accent6">
                  <a:lumMod val="75000"/>
                </a:schemeClr>
              </a:solidFill>
            </a:endParaRPr>
          </a:p>
        </p:txBody>
      </p:sp>
      <p:sp>
        <p:nvSpPr>
          <p:cNvPr id="33" name="Rectangle 32"/>
          <p:cNvSpPr/>
          <p:nvPr/>
        </p:nvSpPr>
        <p:spPr>
          <a:xfrm>
            <a:off x="449246" y="5434923"/>
            <a:ext cx="5134159" cy="584775"/>
          </a:xfrm>
          <a:prstGeom prst="rect">
            <a:avLst/>
          </a:prstGeom>
        </p:spPr>
        <p:txBody>
          <a:bodyPr wrap="square">
            <a:spAutoFit/>
          </a:bodyPr>
          <a:lstStyle/>
          <a:p>
            <a:r>
              <a:rPr lang="en-US" sz="1600" dirty="0"/>
              <a:t>where </a:t>
            </a:r>
            <a:r>
              <a:rPr lang="en-US" sz="1600" dirty="0" err="1"/>
              <a:t>k</a:t>
            </a:r>
            <a:r>
              <a:rPr lang="en-US" sz="700" dirty="0" err="1"/>
              <a:t>r</a:t>
            </a:r>
            <a:r>
              <a:rPr lang="en-US" sz="700" dirty="0"/>
              <a:t> </a:t>
            </a:r>
            <a:r>
              <a:rPr lang="en-US" sz="1600" dirty="0"/>
              <a:t>and α</a:t>
            </a:r>
            <a:r>
              <a:rPr lang="en-US" sz="700" dirty="0"/>
              <a:t>r </a:t>
            </a:r>
            <a:r>
              <a:rPr lang="en-US" sz="1600" dirty="0"/>
              <a:t>are </a:t>
            </a:r>
            <a:r>
              <a:rPr lang="en-US" sz="1600" b="1" dirty="0">
                <a:solidFill>
                  <a:schemeClr val="accent6">
                    <a:lumMod val="75000"/>
                  </a:schemeClr>
                </a:solidFill>
              </a:rPr>
              <a:t>technology-dependent coefficients</a:t>
            </a:r>
            <a:r>
              <a:rPr lang="en-US" sz="1600" dirty="0"/>
              <a:t>.</a:t>
            </a:r>
            <a:endParaRPr lang="sv-SE" sz="1600" dirty="0"/>
          </a:p>
        </p:txBody>
      </p:sp>
      <p:sp>
        <p:nvSpPr>
          <p:cNvPr id="35" name="Rectangle 34"/>
          <p:cNvSpPr/>
          <p:nvPr/>
        </p:nvSpPr>
        <p:spPr>
          <a:xfrm>
            <a:off x="513201" y="3527176"/>
            <a:ext cx="5070204" cy="830997"/>
          </a:xfrm>
          <a:prstGeom prst="rect">
            <a:avLst/>
          </a:prstGeom>
        </p:spPr>
        <p:txBody>
          <a:bodyPr wrap="square">
            <a:spAutoFit/>
          </a:bodyPr>
          <a:lstStyle/>
          <a:p>
            <a:r>
              <a:rPr lang="en-US" sz="1600" dirty="0"/>
              <a:t>The on-state resistance depends on the </a:t>
            </a:r>
            <a:r>
              <a:rPr lang="en-US" sz="1600" b="1" dirty="0">
                <a:solidFill>
                  <a:schemeClr val="accent6">
                    <a:lumMod val="75000"/>
                  </a:schemeClr>
                </a:solidFill>
              </a:rPr>
              <a:t>voltage rating </a:t>
            </a:r>
            <a:r>
              <a:rPr lang="en-US" sz="1600" dirty="0"/>
              <a:t>(U</a:t>
            </a:r>
            <a:r>
              <a:rPr lang="en-US" sz="700" dirty="0"/>
              <a:t>B</a:t>
            </a:r>
            <a:r>
              <a:rPr lang="en-US" sz="1600" dirty="0"/>
              <a:t>) and </a:t>
            </a:r>
            <a:r>
              <a:rPr lang="en-US" sz="1600" b="1" dirty="0">
                <a:solidFill>
                  <a:schemeClr val="accent6">
                    <a:lumMod val="75000"/>
                  </a:schemeClr>
                </a:solidFill>
              </a:rPr>
              <a:t>die area </a:t>
            </a:r>
            <a:r>
              <a:rPr lang="en-US" sz="1600" dirty="0"/>
              <a:t>(A</a:t>
            </a:r>
            <a:r>
              <a:rPr lang="en-US" sz="700" dirty="0"/>
              <a:t>die</a:t>
            </a:r>
            <a:r>
              <a:rPr lang="en-US" sz="1600" dirty="0"/>
              <a:t>) that can be roughly calculated:</a:t>
            </a:r>
            <a:endParaRPr lang="sv-SE" sz="1600" dirty="0"/>
          </a:p>
        </p:txBody>
      </p:sp>
      <p:sp>
        <p:nvSpPr>
          <p:cNvPr id="36" name="Rectangle 35"/>
          <p:cNvSpPr/>
          <p:nvPr/>
        </p:nvSpPr>
        <p:spPr>
          <a:xfrm>
            <a:off x="8154536" y="1086910"/>
            <a:ext cx="2023311" cy="369332"/>
          </a:xfrm>
          <a:prstGeom prst="rect">
            <a:avLst/>
          </a:prstGeom>
        </p:spPr>
        <p:txBody>
          <a:bodyPr wrap="none">
            <a:spAutoFit/>
          </a:bodyPr>
          <a:lstStyle/>
          <a:p>
            <a:r>
              <a:rPr lang="sv-SE" b="1" dirty="0" err="1">
                <a:solidFill>
                  <a:schemeClr val="accent6">
                    <a:lumMod val="75000"/>
                  </a:schemeClr>
                </a:solidFill>
              </a:rPr>
              <a:t>Switching</a:t>
            </a:r>
            <a:r>
              <a:rPr lang="sv-SE" b="1" dirty="0">
                <a:solidFill>
                  <a:schemeClr val="accent6">
                    <a:lumMod val="75000"/>
                  </a:schemeClr>
                </a:solidFill>
              </a:rPr>
              <a:t> </a:t>
            </a:r>
            <a:r>
              <a:rPr lang="sv-SE" b="1" dirty="0" err="1">
                <a:solidFill>
                  <a:schemeClr val="accent6">
                    <a:lumMod val="75000"/>
                  </a:schemeClr>
                </a:solidFill>
              </a:rPr>
              <a:t>Losses</a:t>
            </a:r>
            <a:endParaRPr lang="sv-SE" dirty="0">
              <a:solidFill>
                <a:schemeClr val="accent6">
                  <a:lumMod val="75000"/>
                </a:schemeClr>
              </a:solidFill>
            </a:endParaRPr>
          </a:p>
        </p:txBody>
      </p:sp>
      <p:sp>
        <p:nvSpPr>
          <p:cNvPr id="37" name="Rectangle 36"/>
          <p:cNvSpPr/>
          <p:nvPr/>
        </p:nvSpPr>
        <p:spPr>
          <a:xfrm>
            <a:off x="6389052" y="3532023"/>
            <a:ext cx="4774485" cy="830997"/>
          </a:xfrm>
          <a:prstGeom prst="rect">
            <a:avLst/>
          </a:prstGeom>
        </p:spPr>
        <p:txBody>
          <a:bodyPr wrap="square">
            <a:spAutoFit/>
          </a:bodyPr>
          <a:lstStyle/>
          <a:p>
            <a:pPr algn="just"/>
            <a:r>
              <a:rPr lang="sv-SE" sz="1600" dirty="0"/>
              <a:t>The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t>
            </a:r>
            <a:r>
              <a:rPr lang="en-US" sz="1600" dirty="0"/>
              <a:t>is reliant on the </a:t>
            </a:r>
            <a:r>
              <a:rPr lang="en-US" sz="1600" b="1" dirty="0">
                <a:solidFill>
                  <a:schemeClr val="accent6">
                    <a:lumMod val="75000"/>
                  </a:schemeClr>
                </a:solidFill>
              </a:rPr>
              <a:t>output capacitance </a:t>
            </a:r>
            <a:r>
              <a:rPr lang="en-US" sz="1600" dirty="0"/>
              <a:t>(</a:t>
            </a:r>
            <a:r>
              <a:rPr lang="en-US" sz="1600" dirty="0" err="1"/>
              <a:t>C</a:t>
            </a:r>
            <a:r>
              <a:rPr lang="en-US" sz="700" dirty="0" err="1"/>
              <a:t>oss,Q</a:t>
            </a:r>
            <a:r>
              <a:rPr lang="en-US" sz="1600" dirty="0"/>
              <a:t>) and </a:t>
            </a:r>
            <a:r>
              <a:rPr lang="en-US" sz="1600" b="1" dirty="0">
                <a:solidFill>
                  <a:schemeClr val="accent6">
                    <a:lumMod val="75000"/>
                  </a:schemeClr>
                </a:solidFill>
              </a:rPr>
              <a:t>switching voltage </a:t>
            </a:r>
            <a:r>
              <a:rPr lang="en-US" sz="1600" dirty="0"/>
              <a:t>(</a:t>
            </a:r>
            <a:r>
              <a:rPr lang="en-US" sz="1600" dirty="0" err="1"/>
              <a:t>U</a:t>
            </a:r>
            <a:r>
              <a:rPr lang="en-US" sz="700" dirty="0" err="1"/>
              <a:t>dc</a:t>
            </a:r>
            <a:r>
              <a:rPr lang="en-US" sz="1600" dirty="0"/>
              <a:t>).</a:t>
            </a:r>
            <a:endParaRPr lang="sv-SE" sz="1600" dirty="0"/>
          </a:p>
        </p:txBody>
      </p:sp>
      <p:sp>
        <p:nvSpPr>
          <p:cNvPr id="40" name="Rectangle 39"/>
          <p:cNvSpPr/>
          <p:nvPr/>
        </p:nvSpPr>
        <p:spPr>
          <a:xfrm>
            <a:off x="6423897" y="4952715"/>
            <a:ext cx="4739640" cy="584775"/>
          </a:xfrm>
          <a:prstGeom prst="rect">
            <a:avLst/>
          </a:prstGeom>
        </p:spPr>
        <p:txBody>
          <a:bodyPr wrap="square">
            <a:spAutoFit/>
          </a:bodyPr>
          <a:lstStyle/>
          <a:p>
            <a:pPr algn="just"/>
            <a:r>
              <a:rPr lang="en-US" sz="1600" b="1" dirty="0">
                <a:solidFill>
                  <a:schemeClr val="accent6">
                    <a:lumMod val="75000"/>
                  </a:schemeClr>
                </a:solidFill>
              </a:rPr>
              <a:t>The overlapping energy </a:t>
            </a:r>
            <a:r>
              <a:rPr lang="en-US" sz="1600" dirty="0"/>
              <a:t>aligns with a second order polynomial:  </a:t>
            </a:r>
            <a:r>
              <a:rPr lang="en-US" sz="1600" b="1" dirty="0">
                <a:solidFill>
                  <a:schemeClr val="accent6">
                    <a:lumMod val="75000"/>
                  </a:schemeClr>
                </a:solidFill>
              </a:rPr>
              <a:t> </a:t>
            </a:r>
            <a:endParaRPr lang="sv-SE" sz="1600" dirty="0"/>
          </a:p>
        </p:txBody>
      </p:sp>
      <p:sp>
        <p:nvSpPr>
          <p:cNvPr id="41" name="Rectangle 40"/>
          <p:cNvSpPr/>
          <p:nvPr/>
        </p:nvSpPr>
        <p:spPr>
          <a:xfrm>
            <a:off x="6423897" y="2551542"/>
            <a:ext cx="5078063" cy="1077218"/>
          </a:xfrm>
          <a:prstGeom prst="rect">
            <a:avLst/>
          </a:prstGeom>
        </p:spPr>
        <p:txBody>
          <a:bodyPr wrap="square">
            <a:spAutoFit/>
          </a:bodyPr>
          <a:lstStyle/>
          <a:p>
            <a:r>
              <a:rPr lang="en-US" sz="1600" dirty="0">
                <a:latin typeface="CMMI10"/>
              </a:rPr>
              <a:t>Where θ</a:t>
            </a:r>
            <a:r>
              <a:rPr lang="en-US" sz="700" dirty="0">
                <a:latin typeface="CMMI7"/>
              </a:rPr>
              <a:t>SW</a:t>
            </a:r>
            <a:r>
              <a:rPr lang="en-US" sz="700" dirty="0">
                <a:latin typeface="CMR7"/>
              </a:rPr>
              <a:t>1  </a:t>
            </a:r>
            <a:r>
              <a:rPr lang="en-US" sz="1600" dirty="0">
                <a:latin typeface="NimbusRomNo9L-Regu"/>
              </a:rPr>
              <a:t>and </a:t>
            </a:r>
            <a:r>
              <a:rPr lang="en-US" sz="1600" dirty="0">
                <a:latin typeface="CMMI10"/>
              </a:rPr>
              <a:t>θ</a:t>
            </a:r>
            <a:r>
              <a:rPr lang="en-US" sz="700" dirty="0">
                <a:latin typeface="CMMI7"/>
              </a:rPr>
              <a:t>SW</a:t>
            </a:r>
            <a:r>
              <a:rPr lang="en-US" sz="700" dirty="0">
                <a:latin typeface="CMR7"/>
              </a:rPr>
              <a:t>2</a:t>
            </a:r>
            <a:r>
              <a:rPr lang="en-US" sz="1600" dirty="0">
                <a:latin typeface="NimbusRomNo9L-Regu"/>
              </a:rPr>
              <a:t> are </a:t>
            </a:r>
            <a:r>
              <a:rPr lang="en-US" sz="1600" b="1" dirty="0">
                <a:solidFill>
                  <a:schemeClr val="accent6">
                    <a:lumMod val="75000"/>
                  </a:schemeClr>
                </a:solidFill>
                <a:latin typeface="NimbusRomNo9L-Regu"/>
              </a:rPr>
              <a:t>switching angles</a:t>
            </a:r>
            <a:r>
              <a:rPr lang="en-US" sz="1600" dirty="0">
                <a:latin typeface="NimbusRomNo9L-Regu"/>
              </a:rPr>
              <a:t>,</a:t>
            </a:r>
            <a:r>
              <a:rPr lang="en-US" sz="1600" dirty="0"/>
              <a:t> </a:t>
            </a:r>
            <a:r>
              <a:rPr lang="en-US" sz="1600" dirty="0" err="1"/>
              <a:t>E</a:t>
            </a:r>
            <a:r>
              <a:rPr lang="en-US" sz="1200" dirty="0" err="1"/>
              <a:t>sw,zcs</a:t>
            </a:r>
            <a:r>
              <a:rPr lang="en-US" sz="1200" dirty="0"/>
              <a:t>  </a:t>
            </a:r>
            <a:r>
              <a:rPr lang="en-US" sz="1600" dirty="0"/>
              <a:t>and </a:t>
            </a:r>
            <a:r>
              <a:rPr lang="en-US" sz="1600" dirty="0" err="1"/>
              <a:t>E</a:t>
            </a:r>
            <a:r>
              <a:rPr lang="en-US" sz="1400" dirty="0" err="1"/>
              <a:t>sw,overlap</a:t>
            </a:r>
            <a:r>
              <a:rPr lang="en-US" sz="1600" dirty="0"/>
              <a:t>  are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and overlapping energy.</a:t>
            </a:r>
          </a:p>
          <a:p>
            <a:endParaRPr lang="sv-SE" sz="1600" dirty="0"/>
          </a:p>
        </p:txBody>
      </p:sp>
      <p:sp>
        <p:nvSpPr>
          <p:cNvPr id="42" name="Rectangle 41"/>
          <p:cNvSpPr/>
          <p:nvPr/>
        </p:nvSpPr>
        <p:spPr>
          <a:xfrm>
            <a:off x="449246" y="1013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87854" y="1013543"/>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3942336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Calculation</a:t>
            </a:r>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9</a:t>
            </a:fld>
            <a:endParaRPr lang="sv-SE"/>
          </a:p>
        </p:txBody>
      </p:sp>
      <p:sp>
        <p:nvSpPr>
          <p:cNvPr id="6" name="Rectangle 5"/>
          <p:cNvSpPr/>
          <p:nvPr/>
        </p:nvSpPr>
        <p:spPr>
          <a:xfrm>
            <a:off x="457200" y="4513336"/>
            <a:ext cx="6438900" cy="2031325"/>
          </a:xfrm>
          <a:prstGeom prst="rect">
            <a:avLst/>
          </a:prstGeom>
        </p:spPr>
        <p:txBody>
          <a:bodyPr wrap="square">
            <a:spAutoFit/>
          </a:bodyPr>
          <a:lstStyle/>
          <a:p>
            <a:pPr marL="285750" indent="-285750">
              <a:buFont typeface="Arial" panose="020B0604020202020204" pitchFamily="34" charset="0"/>
              <a:buChar char="•"/>
            </a:pPr>
            <a:r>
              <a:rPr lang="en-US" dirty="0"/>
              <a:t>The voltage and current slew rates determine coefficients α1 and α2s during the switching transitions.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While faster transitions reduce α1 and α2 but aggravate electromagnetic interference (EMI) and common-mode voltage stress. </a:t>
            </a:r>
            <a:endParaRPr lang="sv-SE" dirty="0"/>
          </a:p>
          <a:p>
            <a:r>
              <a:rPr lang="en-US" dirty="0"/>
              <a:t> </a:t>
            </a:r>
            <a:endParaRPr lang="sv-SE" dirty="0"/>
          </a:p>
        </p:txBody>
      </p:sp>
      <p:pic>
        <p:nvPicPr>
          <p:cNvPr id="8" name="Picture 7">
            <a:extLst>
              <a:ext uri="{FF2B5EF4-FFF2-40B4-BE49-F238E27FC236}">
                <a16:creationId xmlns:a16="http://schemas.microsoft.com/office/drawing/2014/main" id="{F9824A0E-A967-D17A-F77D-5F44A5402F1D}"/>
              </a:ext>
            </a:extLst>
          </p:cNvPr>
          <p:cNvPicPr>
            <a:picLocks noChangeAspect="1"/>
          </p:cNvPicPr>
          <p:nvPr/>
        </p:nvPicPr>
        <p:blipFill>
          <a:blip r:embed="rId2"/>
          <a:stretch>
            <a:fillRect/>
          </a:stretch>
        </p:blipFill>
        <p:spPr>
          <a:xfrm>
            <a:off x="3024188" y="1113976"/>
            <a:ext cx="5862638" cy="3135140"/>
          </a:xfrm>
          <a:prstGeom prst="rect">
            <a:avLst/>
          </a:prstGeom>
        </p:spPr>
      </p:pic>
      <p:pic>
        <p:nvPicPr>
          <p:cNvPr id="10" name="Picture 9">
            <a:extLst>
              <a:ext uri="{FF2B5EF4-FFF2-40B4-BE49-F238E27FC236}">
                <a16:creationId xmlns:a16="http://schemas.microsoft.com/office/drawing/2014/main" id="{8A9B075F-FECF-DCC6-F176-4F5C43BC22A5}"/>
              </a:ext>
            </a:extLst>
          </p:cNvPr>
          <p:cNvPicPr>
            <a:picLocks noChangeAspect="1"/>
          </p:cNvPicPr>
          <p:nvPr/>
        </p:nvPicPr>
        <p:blipFill>
          <a:blip r:embed="rId3"/>
          <a:stretch>
            <a:fillRect/>
          </a:stretch>
        </p:blipFill>
        <p:spPr>
          <a:xfrm>
            <a:off x="7267785" y="4600408"/>
            <a:ext cx="4467015" cy="1442970"/>
          </a:xfrm>
          <a:prstGeom prst="rect">
            <a:avLst/>
          </a:prstGeom>
        </p:spPr>
      </p:pic>
    </p:spTree>
    <p:extLst>
      <p:ext uri="{BB962C8B-B14F-4D97-AF65-F5344CB8AC3E}">
        <p14:creationId xmlns:p14="http://schemas.microsoft.com/office/powerpoint/2010/main" val="2831608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Cooling System &amp; DC-Link Capacitance</a:t>
            </a:r>
          </a:p>
        </p:txBody>
      </p:sp>
      <p:pic>
        <p:nvPicPr>
          <p:cNvPr id="3" name="Picture 2"/>
          <p:cNvPicPr>
            <a:picLocks noChangeAspect="1"/>
          </p:cNvPicPr>
          <p:nvPr/>
        </p:nvPicPr>
        <p:blipFill>
          <a:blip r:embed="rId2"/>
          <a:stretch>
            <a:fillRect/>
          </a:stretch>
        </p:blipFill>
        <p:spPr>
          <a:xfrm>
            <a:off x="1743136" y="1930070"/>
            <a:ext cx="1890712" cy="839645"/>
          </a:xfrm>
          <a:prstGeom prst="rect">
            <a:avLst/>
          </a:prstGeom>
        </p:spPr>
      </p:pic>
      <p:pic>
        <p:nvPicPr>
          <p:cNvPr id="5" name="Picture 4"/>
          <p:cNvPicPr>
            <a:picLocks noChangeAspect="1"/>
          </p:cNvPicPr>
          <p:nvPr/>
        </p:nvPicPr>
        <p:blipFill>
          <a:blip r:embed="rId3"/>
          <a:stretch>
            <a:fillRect/>
          </a:stretch>
        </p:blipFill>
        <p:spPr>
          <a:xfrm>
            <a:off x="734009" y="3678727"/>
            <a:ext cx="3614738" cy="809420"/>
          </a:xfrm>
          <a:prstGeom prst="rect">
            <a:avLst/>
          </a:prstGeom>
        </p:spPr>
      </p:pic>
      <p:pic>
        <p:nvPicPr>
          <p:cNvPr id="6" name="Picture 5"/>
          <p:cNvPicPr>
            <a:picLocks noChangeAspect="1"/>
          </p:cNvPicPr>
          <p:nvPr/>
        </p:nvPicPr>
        <p:blipFill>
          <a:blip r:embed="rId4"/>
          <a:stretch>
            <a:fillRect/>
          </a:stretch>
        </p:blipFill>
        <p:spPr>
          <a:xfrm>
            <a:off x="1432103" y="5684442"/>
            <a:ext cx="2218550" cy="795727"/>
          </a:xfrm>
          <a:prstGeom prst="rect">
            <a:avLst/>
          </a:prstGeom>
        </p:spPr>
      </p:pic>
      <p:sp>
        <p:nvSpPr>
          <p:cNvPr id="7" name="Rectangle 6"/>
          <p:cNvSpPr/>
          <p:nvPr/>
        </p:nvSpPr>
        <p:spPr>
          <a:xfrm>
            <a:off x="443036" y="1130221"/>
            <a:ext cx="5169004" cy="646331"/>
          </a:xfrm>
          <a:prstGeom prst="rect">
            <a:avLst/>
          </a:prstGeom>
        </p:spPr>
        <p:txBody>
          <a:bodyPr wrap="square">
            <a:spAutoFit/>
          </a:bodyPr>
          <a:lstStyle/>
          <a:p>
            <a:r>
              <a:rPr lang="sv-SE" dirty="0"/>
              <a:t>The </a:t>
            </a:r>
            <a:r>
              <a:rPr lang="sv-SE" dirty="0" err="1"/>
              <a:t>junction</a:t>
            </a:r>
            <a:r>
              <a:rPr lang="sv-SE" dirty="0"/>
              <a:t>-to-</a:t>
            </a:r>
            <a:r>
              <a:rPr lang="sv-SE" dirty="0" err="1"/>
              <a:t>case</a:t>
            </a:r>
            <a:r>
              <a:rPr lang="sv-SE" dirty="0"/>
              <a:t> </a:t>
            </a:r>
            <a:r>
              <a:rPr lang="sv-SE" dirty="0" err="1"/>
              <a:t>thermal</a:t>
            </a:r>
            <a:r>
              <a:rPr lang="sv-SE" dirty="0"/>
              <a:t> </a:t>
            </a:r>
            <a:r>
              <a:rPr lang="sv-SE" dirty="0" err="1"/>
              <a:t>resistance</a:t>
            </a:r>
            <a:r>
              <a:rPr lang="sv-SE" dirty="0"/>
              <a:t> </a:t>
            </a:r>
            <a:r>
              <a:rPr lang="sv-SE" dirty="0" err="1"/>
              <a:t>decreases</a:t>
            </a:r>
            <a:r>
              <a:rPr lang="sv-SE" dirty="0"/>
              <a:t> </a:t>
            </a:r>
            <a:r>
              <a:rPr lang="sv-SE" dirty="0" err="1"/>
              <a:t>with</a:t>
            </a:r>
            <a:r>
              <a:rPr lang="sv-SE" dirty="0"/>
              <a:t> </a:t>
            </a:r>
            <a:r>
              <a:rPr lang="sv-SE" dirty="0" err="1"/>
              <a:t>die</a:t>
            </a:r>
            <a:r>
              <a:rPr lang="sv-SE" dirty="0"/>
              <a:t> area</a:t>
            </a:r>
          </a:p>
        </p:txBody>
      </p:sp>
      <p:sp>
        <p:nvSpPr>
          <p:cNvPr id="16" name="Rectangle 15"/>
          <p:cNvSpPr/>
          <p:nvPr/>
        </p:nvSpPr>
        <p:spPr>
          <a:xfrm>
            <a:off x="443036" y="2725361"/>
            <a:ext cx="5169004" cy="646331"/>
          </a:xfrm>
          <a:prstGeom prst="rect">
            <a:avLst/>
          </a:prstGeom>
        </p:spPr>
        <p:txBody>
          <a:bodyPr wrap="square">
            <a:spAutoFit/>
          </a:bodyPr>
          <a:lstStyle/>
          <a:p>
            <a:r>
              <a:rPr lang="en-US" dirty="0"/>
              <a:t>The required heatsink-to-ambient thermal resistance to limit junction temperature: </a:t>
            </a:r>
            <a:endParaRPr lang="sv-SE" dirty="0"/>
          </a:p>
        </p:txBody>
      </p:sp>
      <p:sp>
        <p:nvSpPr>
          <p:cNvPr id="18" name="Rectangle 17"/>
          <p:cNvSpPr/>
          <p:nvPr/>
        </p:nvSpPr>
        <p:spPr>
          <a:xfrm>
            <a:off x="443036" y="4662785"/>
            <a:ext cx="5169004" cy="646331"/>
          </a:xfrm>
          <a:prstGeom prst="rect">
            <a:avLst/>
          </a:prstGeom>
        </p:spPr>
        <p:txBody>
          <a:bodyPr wrap="square">
            <a:spAutoFit/>
          </a:bodyPr>
          <a:lstStyle/>
          <a:p>
            <a:r>
              <a:rPr lang="en-US" dirty="0"/>
              <a:t>The heatsink volume is then estimated from the cooling system performance index (CSPI): </a:t>
            </a:r>
            <a:endParaRPr lang="sv-SE" dirty="0"/>
          </a:p>
        </p:txBody>
      </p:sp>
      <p:pic>
        <p:nvPicPr>
          <p:cNvPr id="19" name="Picture 18"/>
          <p:cNvPicPr>
            <a:picLocks noChangeAspect="1"/>
          </p:cNvPicPr>
          <p:nvPr/>
        </p:nvPicPr>
        <p:blipFill>
          <a:blip r:embed="rId5"/>
          <a:stretch>
            <a:fillRect/>
          </a:stretch>
        </p:blipFill>
        <p:spPr>
          <a:xfrm>
            <a:off x="7415790" y="1715671"/>
            <a:ext cx="2838450" cy="1054044"/>
          </a:xfrm>
          <a:prstGeom prst="rect">
            <a:avLst/>
          </a:prstGeom>
        </p:spPr>
      </p:pic>
      <p:sp>
        <p:nvSpPr>
          <p:cNvPr id="20" name="Rectangle 19"/>
          <p:cNvSpPr/>
          <p:nvPr/>
        </p:nvSpPr>
        <p:spPr>
          <a:xfrm>
            <a:off x="6401041" y="1164235"/>
            <a:ext cx="5214106" cy="646331"/>
          </a:xfrm>
          <a:prstGeom prst="rect">
            <a:avLst/>
          </a:prstGeom>
        </p:spPr>
        <p:txBody>
          <a:bodyPr wrap="square">
            <a:spAutoFit/>
          </a:bodyPr>
          <a:lstStyle/>
          <a:p>
            <a:r>
              <a:rPr lang="en-US" dirty="0"/>
              <a:t>The instantaneous dc-link capacitor current is expressed as </a:t>
            </a:r>
            <a:endParaRPr lang="sv-SE" dirty="0"/>
          </a:p>
        </p:txBody>
      </p:sp>
      <p:sp>
        <p:nvSpPr>
          <p:cNvPr id="21" name="Rectangle 20"/>
          <p:cNvSpPr/>
          <p:nvPr/>
        </p:nvSpPr>
        <p:spPr>
          <a:xfrm>
            <a:off x="6401041" y="3035276"/>
            <a:ext cx="5214106" cy="646331"/>
          </a:xfrm>
          <a:prstGeom prst="rect">
            <a:avLst/>
          </a:prstGeom>
        </p:spPr>
        <p:txBody>
          <a:bodyPr wrap="square">
            <a:spAutoFit/>
          </a:bodyPr>
          <a:lstStyle/>
          <a:p>
            <a:r>
              <a:rPr lang="en-US" dirty="0"/>
              <a:t>The minimum required </a:t>
            </a:r>
            <a:r>
              <a:rPr lang="en-US" dirty="0" err="1"/>
              <a:t>dclink</a:t>
            </a:r>
            <a:r>
              <a:rPr lang="en-US" dirty="0"/>
              <a:t> capacitance for a specified voltage ripple ∆V pp is calculated a</a:t>
            </a:r>
            <a:endParaRPr lang="sv-SE" dirty="0"/>
          </a:p>
        </p:txBody>
      </p:sp>
      <p:pic>
        <p:nvPicPr>
          <p:cNvPr id="34" name="Picture 33"/>
          <p:cNvPicPr>
            <a:picLocks noChangeAspect="1"/>
          </p:cNvPicPr>
          <p:nvPr/>
        </p:nvPicPr>
        <p:blipFill>
          <a:blip r:embed="rId6"/>
          <a:stretch>
            <a:fillRect/>
          </a:stretch>
        </p:blipFill>
        <p:spPr>
          <a:xfrm>
            <a:off x="6157913" y="4050272"/>
            <a:ext cx="5186362" cy="711428"/>
          </a:xfrm>
          <a:prstGeom prst="rect">
            <a:avLst/>
          </a:prstGeom>
        </p:spPr>
      </p:pic>
      <p:sp>
        <p:nvSpPr>
          <p:cNvPr id="41" name="Rectangle 40"/>
          <p:cNvSpPr/>
          <p:nvPr/>
        </p:nvSpPr>
        <p:spPr>
          <a:xfrm>
            <a:off x="6401041" y="5084277"/>
            <a:ext cx="5214106" cy="1200329"/>
          </a:xfrm>
          <a:prstGeom prst="rect">
            <a:avLst/>
          </a:prstGeom>
        </p:spPr>
        <p:txBody>
          <a:bodyPr wrap="square">
            <a:spAutoFit/>
          </a:bodyPr>
          <a:lstStyle/>
          <a:p>
            <a:r>
              <a:rPr lang="en-US" dirty="0"/>
              <a:t>At constant power, a higher dc-link voltage proportionally reduces the capacitor ripple current, thereby decreasing the required capacitance and volume</a:t>
            </a:r>
            <a:endParaRPr lang="sv-SE" dirty="0"/>
          </a:p>
        </p:txBody>
      </p:sp>
      <p:sp>
        <p:nvSpPr>
          <p:cNvPr id="42" name="Rectangle 41"/>
          <p:cNvSpPr/>
          <p:nvPr/>
        </p:nvSpPr>
        <p:spPr>
          <a:xfrm>
            <a:off x="415332" y="1020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96266" y="1020542"/>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1816245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967"/>
          <a:stretch/>
        </p:blipFill>
        <p:spPr>
          <a:xfrm>
            <a:off x="30480" y="988044"/>
            <a:ext cx="4299834" cy="2262809"/>
          </a:xfrm>
          <a:prstGeom prst="rect">
            <a:avLst/>
          </a:prstGeom>
        </p:spPr>
      </p:pic>
      <p:pic>
        <p:nvPicPr>
          <p:cNvPr id="12" name="Picture 11"/>
          <p:cNvPicPr>
            <a:picLocks noChangeAspect="1"/>
          </p:cNvPicPr>
          <p:nvPr/>
        </p:nvPicPr>
        <p:blipFill>
          <a:blip r:embed="rId3"/>
          <a:stretch>
            <a:fillRect/>
          </a:stretch>
        </p:blipFill>
        <p:spPr>
          <a:xfrm>
            <a:off x="3981451" y="1110906"/>
            <a:ext cx="4419600" cy="122682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8060" y="3009183"/>
            <a:ext cx="5823515" cy="2973710"/>
          </a:xfrm>
          <a:prstGeom prst="rect">
            <a:avLst/>
          </a:prstGeom>
        </p:spPr>
      </p:pic>
      <p:sp>
        <p:nvSpPr>
          <p:cNvPr id="2" name="Title 1"/>
          <p:cNvSpPr>
            <a:spLocks noGrp="1"/>
          </p:cNvSpPr>
          <p:nvPr>
            <p:ph type="title"/>
          </p:nvPr>
        </p:nvSpPr>
        <p:spPr>
          <a:xfrm>
            <a:off x="1040022" y="336507"/>
            <a:ext cx="10990263" cy="568412"/>
          </a:xfrm>
        </p:spPr>
        <p:txBody>
          <a:bodyPr/>
          <a:lstStyle/>
          <a:p>
            <a:r>
              <a:rPr lang="en-US" dirty="0"/>
              <a:t>Loss Analyses: Switching Frequency &amp; Die Area</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11</a:t>
            </a:fld>
            <a:endParaRPr lang="sv-SE"/>
          </a:p>
        </p:txBody>
      </p: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r="6367"/>
          <a:stretch/>
        </p:blipFill>
        <p:spPr>
          <a:xfrm>
            <a:off x="8042840" y="976967"/>
            <a:ext cx="4149160" cy="2262809"/>
          </a:xfrm>
          <a:prstGeom prst="rect">
            <a:avLst/>
          </a:prstGeom>
        </p:spPr>
      </p:pic>
      <p:pic>
        <p:nvPicPr>
          <p:cNvPr id="8" name="Picture 7"/>
          <p:cNvPicPr>
            <a:picLocks noChangeAspect="1"/>
          </p:cNvPicPr>
          <p:nvPr/>
        </p:nvPicPr>
        <p:blipFill>
          <a:blip r:embed="rId6"/>
          <a:stretch>
            <a:fillRect/>
          </a:stretch>
        </p:blipFill>
        <p:spPr>
          <a:xfrm>
            <a:off x="1306056" y="3239776"/>
            <a:ext cx="1617181" cy="328490"/>
          </a:xfrm>
          <a:prstGeom prst="rect">
            <a:avLst/>
          </a:prstGeom>
        </p:spPr>
      </p:pic>
      <p:pic>
        <p:nvPicPr>
          <p:cNvPr id="9" name="Picture 8"/>
          <p:cNvPicPr>
            <a:picLocks noChangeAspect="1"/>
          </p:cNvPicPr>
          <p:nvPr/>
        </p:nvPicPr>
        <p:blipFill>
          <a:blip r:embed="rId7"/>
          <a:stretch>
            <a:fillRect/>
          </a:stretch>
        </p:blipFill>
        <p:spPr>
          <a:xfrm>
            <a:off x="9657039" y="3316974"/>
            <a:ext cx="1509442" cy="262325"/>
          </a:xfrm>
          <a:prstGeom prst="rect">
            <a:avLst/>
          </a:prstGeom>
        </p:spPr>
      </p:pic>
      <p:pic>
        <p:nvPicPr>
          <p:cNvPr id="10" name="Picture 9"/>
          <p:cNvPicPr>
            <a:picLocks noChangeAspect="1"/>
          </p:cNvPicPr>
          <p:nvPr/>
        </p:nvPicPr>
        <p:blipFill rotWithShape="1">
          <a:blip r:embed="rId8"/>
          <a:srcRect b="67407"/>
          <a:stretch/>
        </p:blipFill>
        <p:spPr>
          <a:xfrm>
            <a:off x="3854705" y="5982893"/>
            <a:ext cx="4593120" cy="265507"/>
          </a:xfrm>
          <a:prstGeom prst="rect">
            <a:avLst/>
          </a:prstGeom>
        </p:spPr>
      </p:pic>
      <p:pic>
        <p:nvPicPr>
          <p:cNvPr id="14" name="Picture 13"/>
          <p:cNvPicPr>
            <a:picLocks noChangeAspect="1"/>
          </p:cNvPicPr>
          <p:nvPr/>
        </p:nvPicPr>
        <p:blipFill>
          <a:blip r:embed="rId9"/>
          <a:stretch>
            <a:fillRect/>
          </a:stretch>
        </p:blipFill>
        <p:spPr>
          <a:xfrm>
            <a:off x="3950752" y="6224563"/>
            <a:ext cx="4401025" cy="547536"/>
          </a:xfrm>
          <a:prstGeom prst="rect">
            <a:avLst/>
          </a:prstGeom>
        </p:spPr>
      </p:pic>
    </p:spTree>
    <p:extLst>
      <p:ext uri="{BB962C8B-B14F-4D97-AF65-F5344CB8AC3E}">
        <p14:creationId xmlns:p14="http://schemas.microsoft.com/office/powerpoint/2010/main" val="47288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6535153" y="3697581"/>
            <a:ext cx="4992024" cy="382136"/>
          </a:xfrm>
          <a:prstGeom prst="rect">
            <a:avLst/>
          </a:prstGeom>
        </p:spPr>
      </p:pic>
      <p:pic>
        <p:nvPicPr>
          <p:cNvPr id="14" name="Picture 13"/>
          <p:cNvPicPr>
            <a:picLocks noChangeAspect="1"/>
          </p:cNvPicPr>
          <p:nvPr/>
        </p:nvPicPr>
        <p:blipFill>
          <a:blip r:embed="rId3"/>
          <a:stretch>
            <a:fillRect/>
          </a:stretch>
        </p:blipFill>
        <p:spPr>
          <a:xfrm>
            <a:off x="1114425" y="3684746"/>
            <a:ext cx="4697095" cy="369057"/>
          </a:xfrm>
          <a:prstGeom prst="rect">
            <a:avLst/>
          </a:prstGeom>
        </p:spPr>
      </p:pic>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849" y="1074420"/>
            <a:ext cx="5177547" cy="2643854"/>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2770" y="960489"/>
            <a:ext cx="5475998" cy="2796254"/>
          </a:xfrm>
          <a:prstGeom prst="rect">
            <a:avLst/>
          </a:prstGeom>
        </p:spPr>
      </p:pic>
      <p:pic>
        <p:nvPicPr>
          <p:cNvPr id="16" name="Picture 15"/>
          <p:cNvPicPr>
            <a:picLocks noChangeAspect="1"/>
          </p:cNvPicPr>
          <p:nvPr/>
        </p:nvPicPr>
        <p:blipFill>
          <a:blip r:embed="rId6"/>
          <a:stretch>
            <a:fillRect/>
          </a:stretch>
        </p:blipFill>
        <p:spPr>
          <a:xfrm>
            <a:off x="3615810" y="4110640"/>
            <a:ext cx="5415355" cy="497656"/>
          </a:xfrm>
          <a:prstGeom prst="rect">
            <a:avLst/>
          </a:prstGeom>
        </p:spPr>
      </p:pic>
      <p:sp>
        <p:nvSpPr>
          <p:cNvPr id="19" name="Title 1"/>
          <p:cNvSpPr txBox="1">
            <a:spLocks/>
          </p:cNvSpPr>
          <p:nvPr/>
        </p:nvSpPr>
        <p:spPr>
          <a:xfrm>
            <a:off x="1201737" y="329060"/>
            <a:ext cx="10990263"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dirty="0"/>
              <a:t>Results: Cooling System &amp; DC-Link Capacitance</a:t>
            </a:r>
          </a:p>
        </p:txBody>
      </p:sp>
      <p:pic>
        <p:nvPicPr>
          <p:cNvPr id="2" name="Picture 1"/>
          <p:cNvPicPr>
            <a:picLocks noChangeAspect="1"/>
          </p:cNvPicPr>
          <p:nvPr/>
        </p:nvPicPr>
        <p:blipFill>
          <a:blip r:embed="rId7"/>
          <a:stretch>
            <a:fillRect/>
          </a:stretch>
        </p:blipFill>
        <p:spPr>
          <a:xfrm>
            <a:off x="3268914" y="4863586"/>
            <a:ext cx="5762251" cy="1826847"/>
          </a:xfrm>
          <a:prstGeom prst="rect">
            <a:avLst/>
          </a:prstGeom>
        </p:spPr>
      </p:pic>
    </p:spTree>
    <p:extLst>
      <p:ext uri="{BB962C8B-B14F-4D97-AF65-F5344CB8AC3E}">
        <p14:creationId xmlns:p14="http://schemas.microsoft.com/office/powerpoint/2010/main" val="3706530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&amp; Power Density Trade-Offs </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13</a:t>
            </a:fld>
            <a:endParaRPr lang="sv-SE"/>
          </a:p>
        </p:txBody>
      </p:sp>
      <p:sp>
        <p:nvSpPr>
          <p:cNvPr id="5" name="Rectangle 4"/>
          <p:cNvSpPr/>
          <p:nvPr/>
        </p:nvSpPr>
        <p:spPr>
          <a:xfrm>
            <a:off x="3138255" y="3406193"/>
            <a:ext cx="5417122" cy="2585323"/>
          </a:xfrm>
          <a:prstGeom prst="rect">
            <a:avLst/>
          </a:prstGeom>
        </p:spPr>
        <p:txBody>
          <a:bodyPr wrap="square">
            <a:spAutoFit/>
          </a:bodyPr>
          <a:lstStyle/>
          <a:p>
            <a:r>
              <a:rPr lang="sv-SE" b="1" dirty="0" err="1">
                <a:solidFill>
                  <a:schemeClr val="accent6">
                    <a:lumMod val="75000"/>
                  </a:schemeClr>
                </a:solidFill>
              </a:rPr>
              <a:t>Key</a:t>
            </a:r>
            <a:r>
              <a:rPr lang="sv-SE" b="1" dirty="0">
                <a:solidFill>
                  <a:schemeClr val="accent6">
                    <a:lumMod val="75000"/>
                  </a:schemeClr>
                </a:solidFill>
              </a:rPr>
              <a:t> </a:t>
            </a:r>
            <a:r>
              <a:rPr lang="sv-SE" b="1" dirty="0" err="1">
                <a:solidFill>
                  <a:schemeClr val="accent6">
                    <a:lumMod val="75000"/>
                  </a:schemeClr>
                </a:solidFill>
              </a:rPr>
              <a:t>results</a:t>
            </a:r>
            <a:endParaRPr lang="sv-SE" b="1" dirty="0">
              <a:solidFill>
                <a:schemeClr val="accent6">
                  <a:lumMod val="75000"/>
                </a:schemeClr>
              </a:solidFill>
            </a:endParaRPr>
          </a:p>
          <a:p>
            <a:endParaRPr lang="sv-SE" dirty="0"/>
          </a:p>
          <a:p>
            <a:pPr marL="285750" indent="-285750">
              <a:buFont typeface="Arial" panose="020B0604020202020204" pitchFamily="34" charset="0"/>
              <a:buChar char="•"/>
            </a:pPr>
            <a:r>
              <a:rPr lang="sv-SE" dirty="0" err="1"/>
              <a:t>Similar</a:t>
            </a:r>
            <a:r>
              <a:rPr lang="sv-SE" dirty="0"/>
              <a:t> </a:t>
            </a:r>
            <a:r>
              <a:rPr lang="sv-SE" dirty="0" err="1"/>
              <a:t>efficiency</a:t>
            </a:r>
            <a:r>
              <a:rPr lang="sv-SE" dirty="0"/>
              <a:t> (~99.2%)</a:t>
            </a:r>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err="1"/>
              <a:t>Lower</a:t>
            </a:r>
            <a:r>
              <a:rPr lang="sv-SE" dirty="0"/>
              <a:t> </a:t>
            </a:r>
            <a:r>
              <a:rPr lang="sv-SE" dirty="0" err="1"/>
              <a:t>current</a:t>
            </a:r>
            <a:r>
              <a:rPr lang="sv-SE" dirty="0"/>
              <a:t> ≠ </a:t>
            </a:r>
            <a:r>
              <a:rPr lang="sv-SE" dirty="0" err="1"/>
              <a:t>automatically</a:t>
            </a:r>
            <a:r>
              <a:rPr lang="sv-SE" dirty="0"/>
              <a:t> </a:t>
            </a:r>
            <a:r>
              <a:rPr lang="sv-SE" dirty="0" err="1"/>
              <a:t>lower</a:t>
            </a:r>
            <a:r>
              <a:rPr lang="sv-SE" dirty="0"/>
              <a:t> </a:t>
            </a:r>
            <a:r>
              <a:rPr lang="sv-SE" dirty="0" err="1"/>
              <a:t>losses</a:t>
            </a:r>
            <a:endParaRPr lang="sv-SE" dirty="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1200 V → </a:t>
            </a:r>
            <a:r>
              <a:rPr lang="sv-SE" dirty="0" err="1"/>
              <a:t>smaller</a:t>
            </a:r>
            <a:r>
              <a:rPr lang="sv-SE" dirty="0"/>
              <a:t> DC-</a:t>
            </a:r>
            <a:r>
              <a:rPr lang="sv-SE" dirty="0" err="1"/>
              <a:t>link</a:t>
            </a:r>
            <a:r>
              <a:rPr lang="sv-SE" dirty="0"/>
              <a:t> </a:t>
            </a:r>
            <a:r>
              <a:rPr lang="sv-SE" dirty="0" err="1"/>
              <a:t>capacitor</a:t>
            </a:r>
            <a:endParaRPr lang="sv-SE" dirty="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Power </a:t>
            </a:r>
            <a:r>
              <a:rPr lang="sv-SE" dirty="0" err="1"/>
              <a:t>density</a:t>
            </a:r>
            <a:r>
              <a:rPr lang="sv-SE" dirty="0"/>
              <a:t> </a:t>
            </a:r>
            <a:r>
              <a:rPr lang="sv-SE" dirty="0" err="1"/>
              <a:t>increased</a:t>
            </a:r>
            <a:r>
              <a:rPr lang="sv-SE" dirty="0"/>
              <a:t> by 11%</a:t>
            </a:r>
          </a:p>
        </p:txBody>
      </p:sp>
      <p:pic>
        <p:nvPicPr>
          <p:cNvPr id="3" name="Picture 2"/>
          <p:cNvPicPr>
            <a:picLocks noChangeAspect="1"/>
          </p:cNvPicPr>
          <p:nvPr/>
        </p:nvPicPr>
        <p:blipFill>
          <a:blip r:embed="rId2"/>
          <a:stretch>
            <a:fillRect/>
          </a:stretch>
        </p:blipFill>
        <p:spPr>
          <a:xfrm>
            <a:off x="2470279" y="1113454"/>
            <a:ext cx="6731678" cy="2063134"/>
          </a:xfrm>
          <a:prstGeom prst="rect">
            <a:avLst/>
          </a:prstGeom>
        </p:spPr>
      </p:pic>
    </p:spTree>
    <p:extLst>
      <p:ext uri="{BB962C8B-B14F-4D97-AF65-F5344CB8AC3E}">
        <p14:creationId xmlns:p14="http://schemas.microsoft.com/office/powerpoint/2010/main" val="223981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Traction</a:t>
            </a:r>
            <a:r>
              <a:rPr lang="sv-SE" dirty="0"/>
              <a:t> Motor Loss </a:t>
            </a:r>
            <a:r>
              <a:rPr lang="sv-SE" dirty="0" err="1"/>
              <a:t>Analyses</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14</a:t>
            </a:fld>
            <a:endParaRPr lang="sv-SE"/>
          </a:p>
        </p:txBody>
      </p:sp>
      <p:sp>
        <p:nvSpPr>
          <p:cNvPr id="3" name="Rectangle 2"/>
          <p:cNvSpPr/>
          <p:nvPr/>
        </p:nvSpPr>
        <p:spPr>
          <a:xfrm>
            <a:off x="666750" y="1084560"/>
            <a:ext cx="10820400" cy="923330"/>
          </a:xfrm>
          <a:prstGeom prst="rect">
            <a:avLst/>
          </a:prstGeom>
        </p:spPr>
        <p:txBody>
          <a:bodyPr wrap="square">
            <a:spAutoFit/>
          </a:bodyPr>
          <a:lstStyle/>
          <a:p>
            <a:pPr marL="285750" indent="-285750">
              <a:buFont typeface="Arial" panose="020B0604020202020204" pitchFamily="34" charset="0"/>
              <a:buChar char="•"/>
            </a:pPr>
            <a:r>
              <a:rPr lang="en-US" dirty="0"/>
              <a:t>The </a:t>
            </a:r>
            <a:r>
              <a:rPr lang="en-US" b="1" dirty="0">
                <a:solidFill>
                  <a:schemeClr val="accent6">
                    <a:lumMod val="75000"/>
                  </a:schemeClr>
                </a:solidFill>
              </a:rPr>
              <a:t>same</a:t>
            </a:r>
            <a:r>
              <a:rPr lang="en-US" dirty="0"/>
              <a:t> motor </a:t>
            </a:r>
            <a:r>
              <a:rPr lang="en-US" b="1" dirty="0">
                <a:solidFill>
                  <a:schemeClr val="accent6">
                    <a:lumMod val="75000"/>
                  </a:schemeClr>
                </a:solidFill>
              </a:rPr>
              <a:t>geometry</a:t>
            </a:r>
            <a:r>
              <a:rPr lang="en-US" dirty="0"/>
              <a:t> and </a:t>
            </a:r>
            <a:r>
              <a:rPr lang="en-US" b="1" dirty="0">
                <a:solidFill>
                  <a:schemeClr val="accent6">
                    <a:lumMod val="75000"/>
                  </a:schemeClr>
                </a:solidFill>
              </a:rPr>
              <a:t>electromagnetic design </a:t>
            </a:r>
            <a:r>
              <a:rPr lang="en-US" dirty="0"/>
              <a:t>are maintained.</a:t>
            </a:r>
          </a:p>
          <a:p>
            <a:pPr marL="285750" indent="-285750">
              <a:buFont typeface="Arial" panose="020B0604020202020204" pitchFamily="34" charset="0"/>
              <a:buChar char="•"/>
            </a:pPr>
            <a:r>
              <a:rPr lang="en-US" dirty="0"/>
              <a:t>A  higher dc-link voltage is accommodated by </a:t>
            </a:r>
            <a:r>
              <a:rPr lang="en-US" b="1" dirty="0">
                <a:solidFill>
                  <a:schemeClr val="accent6">
                    <a:lumMod val="75000"/>
                  </a:schemeClr>
                </a:solidFill>
              </a:rPr>
              <a:t>reconnecting the existing parallel winding paths in series</a:t>
            </a:r>
            <a:r>
              <a:rPr lang="en-US" dirty="0"/>
              <a:t>.</a:t>
            </a:r>
            <a:endParaRPr lang="sv-SE" dirty="0"/>
          </a:p>
        </p:txBody>
      </p:sp>
      <p:sp>
        <p:nvSpPr>
          <p:cNvPr id="6" name="TextBox 5">
            <a:extLst>
              <a:ext uri="{FF2B5EF4-FFF2-40B4-BE49-F238E27FC236}">
                <a16:creationId xmlns:a16="http://schemas.microsoft.com/office/drawing/2014/main" id="{25D18541-8CB9-2FC6-6E5C-54B233A3C2C9}"/>
              </a:ext>
            </a:extLst>
          </p:cNvPr>
          <p:cNvSpPr txBox="1"/>
          <p:nvPr/>
        </p:nvSpPr>
        <p:spPr>
          <a:xfrm>
            <a:off x="876300" y="2203090"/>
            <a:ext cx="2409825" cy="369332"/>
          </a:xfrm>
          <a:prstGeom prst="rect">
            <a:avLst/>
          </a:prstGeom>
          <a:noFill/>
        </p:spPr>
        <p:txBody>
          <a:bodyPr wrap="square">
            <a:spAutoFit/>
          </a:bodyPr>
          <a:lstStyle/>
          <a:p>
            <a:r>
              <a:rPr lang="en-US" dirty="0"/>
              <a:t>Stator copper loss:</a:t>
            </a:r>
            <a:endParaRPr lang="sv-SE" dirty="0"/>
          </a:p>
        </p:txBody>
      </p:sp>
      <p:pic>
        <p:nvPicPr>
          <p:cNvPr id="15" name="Picture 14">
            <a:extLst>
              <a:ext uri="{FF2B5EF4-FFF2-40B4-BE49-F238E27FC236}">
                <a16:creationId xmlns:a16="http://schemas.microsoft.com/office/drawing/2014/main" id="{4F798228-C8A1-A642-6E73-D669D49970F2}"/>
              </a:ext>
            </a:extLst>
          </p:cNvPr>
          <p:cNvPicPr>
            <a:picLocks noChangeAspect="1"/>
          </p:cNvPicPr>
          <p:nvPr/>
        </p:nvPicPr>
        <p:blipFill>
          <a:blip r:embed="rId2"/>
          <a:srcRect l="10861"/>
          <a:stretch>
            <a:fillRect/>
          </a:stretch>
        </p:blipFill>
        <p:spPr>
          <a:xfrm>
            <a:off x="3230384" y="2025029"/>
            <a:ext cx="1591377" cy="646056"/>
          </a:xfrm>
          <a:prstGeom prst="rect">
            <a:avLst/>
          </a:prstGeom>
        </p:spPr>
      </p:pic>
      <p:sp>
        <p:nvSpPr>
          <p:cNvPr id="21" name="TextBox 20">
            <a:extLst>
              <a:ext uri="{FF2B5EF4-FFF2-40B4-BE49-F238E27FC236}">
                <a16:creationId xmlns:a16="http://schemas.microsoft.com/office/drawing/2014/main" id="{41335A9C-395A-45EB-43E4-FA6166E3A16A}"/>
              </a:ext>
            </a:extLst>
          </p:cNvPr>
          <p:cNvSpPr txBox="1"/>
          <p:nvPr/>
        </p:nvSpPr>
        <p:spPr>
          <a:xfrm>
            <a:off x="6105525" y="2187531"/>
            <a:ext cx="1733550" cy="369332"/>
          </a:xfrm>
          <a:prstGeom prst="rect">
            <a:avLst/>
          </a:prstGeom>
          <a:noFill/>
        </p:spPr>
        <p:txBody>
          <a:bodyPr wrap="square">
            <a:spAutoFit/>
          </a:bodyPr>
          <a:lstStyle/>
          <a:p>
            <a:r>
              <a:rPr lang="sv-SE" dirty="0" err="1"/>
              <a:t>Core</a:t>
            </a:r>
            <a:r>
              <a:rPr lang="sv-SE" dirty="0"/>
              <a:t> </a:t>
            </a:r>
            <a:r>
              <a:rPr lang="sv-SE" dirty="0" err="1"/>
              <a:t>losses</a:t>
            </a:r>
            <a:r>
              <a:rPr lang="sv-SE" dirty="0"/>
              <a:t>:</a:t>
            </a:r>
          </a:p>
        </p:txBody>
      </p:sp>
      <p:pic>
        <p:nvPicPr>
          <p:cNvPr id="25" name="Picture 24">
            <a:extLst>
              <a:ext uri="{FF2B5EF4-FFF2-40B4-BE49-F238E27FC236}">
                <a16:creationId xmlns:a16="http://schemas.microsoft.com/office/drawing/2014/main" id="{C0A7FC7B-381B-AF5A-CCA0-65D48D29E34E}"/>
              </a:ext>
            </a:extLst>
          </p:cNvPr>
          <p:cNvPicPr>
            <a:picLocks noChangeAspect="1"/>
          </p:cNvPicPr>
          <p:nvPr/>
        </p:nvPicPr>
        <p:blipFill>
          <a:blip r:embed="rId3"/>
          <a:stretch>
            <a:fillRect/>
          </a:stretch>
        </p:blipFill>
        <p:spPr>
          <a:xfrm>
            <a:off x="7717361" y="2013175"/>
            <a:ext cx="3017314" cy="669763"/>
          </a:xfrm>
          <a:prstGeom prst="rect">
            <a:avLst/>
          </a:prstGeom>
        </p:spPr>
      </p:pic>
      <p:sp>
        <p:nvSpPr>
          <p:cNvPr id="27" name="TextBox 26">
            <a:extLst>
              <a:ext uri="{FF2B5EF4-FFF2-40B4-BE49-F238E27FC236}">
                <a16:creationId xmlns:a16="http://schemas.microsoft.com/office/drawing/2014/main" id="{1708E1B5-AAD2-E5CA-A95E-8D1BEB9B81E8}"/>
              </a:ext>
            </a:extLst>
          </p:cNvPr>
          <p:cNvSpPr txBox="1"/>
          <p:nvPr/>
        </p:nvSpPr>
        <p:spPr>
          <a:xfrm>
            <a:off x="772124" y="2664182"/>
            <a:ext cx="10458450" cy="923330"/>
          </a:xfrm>
          <a:prstGeom prst="rect">
            <a:avLst/>
          </a:prstGeom>
          <a:noFill/>
        </p:spPr>
        <p:txBody>
          <a:bodyPr wrap="square">
            <a:spAutoFit/>
          </a:bodyPr>
          <a:lstStyle/>
          <a:p>
            <a:r>
              <a:rPr lang="sv-SE" dirty="0" err="1"/>
              <a:t>Higher</a:t>
            </a:r>
            <a:r>
              <a:rPr lang="sv-SE" dirty="0"/>
              <a:t> </a:t>
            </a:r>
            <a:r>
              <a:rPr lang="sv-SE" dirty="0" err="1"/>
              <a:t>insulation</a:t>
            </a:r>
            <a:r>
              <a:rPr lang="sv-SE" dirty="0"/>
              <a:t> </a:t>
            </a:r>
            <a:r>
              <a:rPr lang="sv-SE" dirty="0" err="1"/>
              <a:t>requirements</a:t>
            </a:r>
            <a:r>
              <a:rPr lang="sv-SE" dirty="0"/>
              <a:t> at 1.2 kV </a:t>
            </a:r>
            <a:r>
              <a:rPr lang="sv-SE" b="1" dirty="0" err="1">
                <a:solidFill>
                  <a:schemeClr val="accent6">
                    <a:lumMod val="75000"/>
                  </a:schemeClr>
                </a:solidFill>
              </a:rPr>
              <a:t>typically</a:t>
            </a:r>
            <a:r>
              <a:rPr lang="sv-SE" b="1" dirty="0">
                <a:solidFill>
                  <a:schemeClr val="accent6">
                    <a:lumMod val="75000"/>
                  </a:schemeClr>
                </a:solidFill>
              </a:rPr>
              <a:t> </a:t>
            </a:r>
            <a:r>
              <a:rPr lang="sv-SE" b="1" dirty="0" err="1">
                <a:solidFill>
                  <a:schemeClr val="accent6">
                    <a:lumMod val="75000"/>
                  </a:schemeClr>
                </a:solidFill>
              </a:rPr>
              <a:t>mandate</a:t>
            </a:r>
            <a:r>
              <a:rPr lang="sv-SE" b="1" dirty="0">
                <a:solidFill>
                  <a:schemeClr val="accent6">
                    <a:lumMod val="75000"/>
                  </a:schemeClr>
                </a:solidFill>
              </a:rPr>
              <a:t> </a:t>
            </a:r>
            <a:r>
              <a:rPr lang="sv-SE" b="1" dirty="0" err="1">
                <a:solidFill>
                  <a:schemeClr val="accent6">
                    <a:lumMod val="75000"/>
                  </a:schemeClr>
                </a:solidFill>
              </a:rPr>
              <a:t>thicker</a:t>
            </a:r>
            <a:r>
              <a:rPr lang="sv-SE" b="1" dirty="0">
                <a:solidFill>
                  <a:schemeClr val="accent6">
                    <a:lumMod val="75000"/>
                  </a:schemeClr>
                </a:solidFill>
              </a:rPr>
              <a:t> </a:t>
            </a:r>
            <a:r>
              <a:rPr lang="sv-SE" b="1" dirty="0" err="1">
                <a:solidFill>
                  <a:schemeClr val="accent6">
                    <a:lumMod val="75000"/>
                  </a:schemeClr>
                </a:solidFill>
              </a:rPr>
              <a:t>groundwall</a:t>
            </a:r>
            <a:r>
              <a:rPr lang="sv-SE" b="1" dirty="0">
                <a:solidFill>
                  <a:schemeClr val="accent6">
                    <a:lumMod val="75000"/>
                  </a:schemeClr>
                </a:solidFill>
              </a:rPr>
              <a:t> and </a:t>
            </a:r>
            <a:r>
              <a:rPr lang="sv-SE" b="1" dirty="0" err="1">
                <a:solidFill>
                  <a:schemeClr val="accent6">
                    <a:lumMod val="75000"/>
                  </a:schemeClr>
                </a:solidFill>
              </a:rPr>
              <a:t>turn</a:t>
            </a:r>
            <a:r>
              <a:rPr lang="sv-SE" b="1" dirty="0">
                <a:solidFill>
                  <a:schemeClr val="accent6">
                    <a:lumMod val="75000"/>
                  </a:schemeClr>
                </a:solidFill>
              </a:rPr>
              <a:t> </a:t>
            </a:r>
            <a:r>
              <a:rPr lang="sv-SE" b="1" dirty="0" err="1">
                <a:solidFill>
                  <a:schemeClr val="accent6">
                    <a:lumMod val="75000"/>
                  </a:schemeClr>
                </a:solidFill>
              </a:rPr>
              <a:t>insulation</a:t>
            </a:r>
            <a:r>
              <a:rPr lang="sv-SE" dirty="0"/>
              <a:t>, </a:t>
            </a:r>
            <a:r>
              <a:rPr lang="en-US" dirty="0"/>
              <a:t>which reduces the slot fill factor and slightly increases Rs, leading to a </a:t>
            </a:r>
            <a:r>
              <a:rPr lang="en-US" b="1" dirty="0">
                <a:solidFill>
                  <a:schemeClr val="accent6">
                    <a:lumMod val="75000"/>
                  </a:schemeClr>
                </a:solidFill>
              </a:rPr>
              <a:t>marginal rise in stator copper losses. </a:t>
            </a:r>
            <a:endParaRPr lang="sv-SE" b="1" dirty="0">
              <a:solidFill>
                <a:schemeClr val="accent6">
                  <a:lumMod val="75000"/>
                </a:schemeClr>
              </a:solidFill>
            </a:endParaRPr>
          </a:p>
        </p:txBody>
      </p:sp>
      <p:sp>
        <p:nvSpPr>
          <p:cNvPr id="29" name="Rectangle 28">
            <a:extLst>
              <a:ext uri="{FF2B5EF4-FFF2-40B4-BE49-F238E27FC236}">
                <a16:creationId xmlns:a16="http://schemas.microsoft.com/office/drawing/2014/main" id="{A220FB0F-2ACB-A8AF-F118-017ED26CDC0A}"/>
              </a:ext>
            </a:extLst>
          </p:cNvPr>
          <p:cNvSpPr/>
          <p:nvPr/>
        </p:nvSpPr>
        <p:spPr>
          <a:xfrm>
            <a:off x="4063158" y="3886085"/>
            <a:ext cx="3876382" cy="369332"/>
          </a:xfrm>
          <a:prstGeom prst="rect">
            <a:avLst/>
          </a:prstGeom>
        </p:spPr>
        <p:txBody>
          <a:bodyPr wrap="none">
            <a:spAutoFit/>
          </a:bodyPr>
          <a:lstStyle/>
          <a:p>
            <a:r>
              <a:rPr lang="sv-SE" b="1" dirty="0" err="1">
                <a:solidFill>
                  <a:schemeClr val="accent6">
                    <a:lumMod val="75000"/>
                  </a:schemeClr>
                </a:solidFill>
              </a:rPr>
              <a:t>Impedance-based</a:t>
            </a:r>
            <a:r>
              <a:rPr lang="sv-SE" b="1" dirty="0">
                <a:solidFill>
                  <a:schemeClr val="accent6">
                    <a:lumMod val="75000"/>
                  </a:schemeClr>
                </a:solidFill>
              </a:rPr>
              <a:t> loss </a:t>
            </a:r>
            <a:r>
              <a:rPr lang="sv-SE" b="1" dirty="0" err="1">
                <a:solidFill>
                  <a:schemeClr val="accent6">
                    <a:lumMod val="75000"/>
                  </a:schemeClr>
                </a:solidFill>
              </a:rPr>
              <a:t>factor</a:t>
            </a:r>
            <a:r>
              <a:rPr lang="sv-SE" b="1" dirty="0">
                <a:solidFill>
                  <a:schemeClr val="accent6">
                    <a:lumMod val="75000"/>
                  </a:schemeClr>
                </a:solidFill>
              </a:rPr>
              <a:t> </a:t>
            </a:r>
            <a:r>
              <a:rPr lang="el-GR" b="1" dirty="0">
                <a:solidFill>
                  <a:schemeClr val="accent6">
                    <a:lumMod val="75000"/>
                  </a:schemeClr>
                </a:solidFill>
              </a:rPr>
              <a:t>Φ(ω</a:t>
            </a:r>
            <a:r>
              <a:rPr lang="en-US" b="1" dirty="0">
                <a:solidFill>
                  <a:schemeClr val="accent6">
                    <a:lumMod val="75000"/>
                  </a:schemeClr>
                </a:solidFill>
              </a:rPr>
              <a:t>)</a:t>
            </a:r>
            <a:endParaRPr lang="sv-SE" b="1" dirty="0">
              <a:solidFill>
                <a:schemeClr val="accent6">
                  <a:lumMod val="75000"/>
                </a:schemeClr>
              </a:solidFill>
            </a:endParaRPr>
          </a:p>
        </p:txBody>
      </p:sp>
      <p:pic>
        <p:nvPicPr>
          <p:cNvPr id="30" name="Picture 29">
            <a:extLst>
              <a:ext uri="{FF2B5EF4-FFF2-40B4-BE49-F238E27FC236}">
                <a16:creationId xmlns:a16="http://schemas.microsoft.com/office/drawing/2014/main" id="{58C570B3-69A9-4674-F372-04E1B4DEE817}"/>
              </a:ext>
            </a:extLst>
          </p:cNvPr>
          <p:cNvPicPr>
            <a:picLocks noChangeAspect="1"/>
          </p:cNvPicPr>
          <p:nvPr/>
        </p:nvPicPr>
        <p:blipFill>
          <a:blip r:embed="rId4"/>
          <a:stretch>
            <a:fillRect/>
          </a:stretch>
        </p:blipFill>
        <p:spPr>
          <a:xfrm>
            <a:off x="306913" y="3686175"/>
            <a:ext cx="3719159" cy="2881928"/>
          </a:xfrm>
          <a:prstGeom prst="rect">
            <a:avLst/>
          </a:prstGeom>
        </p:spPr>
      </p:pic>
      <p:pic>
        <p:nvPicPr>
          <p:cNvPr id="31" name="Picture 30">
            <a:extLst>
              <a:ext uri="{FF2B5EF4-FFF2-40B4-BE49-F238E27FC236}">
                <a16:creationId xmlns:a16="http://schemas.microsoft.com/office/drawing/2014/main" id="{785D6A26-F611-7B76-43D7-E3C8673F4B4F}"/>
              </a:ext>
            </a:extLst>
          </p:cNvPr>
          <p:cNvPicPr>
            <a:picLocks noChangeAspect="1"/>
          </p:cNvPicPr>
          <p:nvPr/>
        </p:nvPicPr>
        <p:blipFill>
          <a:blip r:embed="rId5"/>
          <a:stretch>
            <a:fillRect/>
          </a:stretch>
        </p:blipFill>
        <p:spPr>
          <a:xfrm>
            <a:off x="8184808" y="3580883"/>
            <a:ext cx="3553690" cy="2845395"/>
          </a:xfrm>
          <a:prstGeom prst="rect">
            <a:avLst/>
          </a:prstGeom>
        </p:spPr>
      </p:pic>
      <p:sp>
        <p:nvSpPr>
          <p:cNvPr id="32" name="TextBox 31">
            <a:extLst>
              <a:ext uri="{FF2B5EF4-FFF2-40B4-BE49-F238E27FC236}">
                <a16:creationId xmlns:a16="http://schemas.microsoft.com/office/drawing/2014/main" id="{9CF08D88-C22B-663D-F3D9-494F6A74D718}"/>
              </a:ext>
            </a:extLst>
          </p:cNvPr>
          <p:cNvSpPr txBox="1"/>
          <p:nvPr/>
        </p:nvSpPr>
        <p:spPr>
          <a:xfrm>
            <a:off x="4385850" y="4372731"/>
            <a:ext cx="3553690" cy="923330"/>
          </a:xfrm>
          <a:prstGeom prst="rect">
            <a:avLst/>
          </a:prstGeom>
          <a:noFill/>
        </p:spPr>
        <p:txBody>
          <a:bodyPr wrap="square">
            <a:spAutoFit/>
          </a:bodyPr>
          <a:lstStyle/>
          <a:p>
            <a:r>
              <a:rPr lang="en-US" dirty="0"/>
              <a:t>From the measured impedance response, a voltage-based loss factor is extracted as </a:t>
            </a:r>
            <a:endParaRPr lang="sv-SE" dirty="0"/>
          </a:p>
        </p:txBody>
      </p:sp>
      <p:pic>
        <p:nvPicPr>
          <p:cNvPr id="33" name="Picture 32">
            <a:extLst>
              <a:ext uri="{FF2B5EF4-FFF2-40B4-BE49-F238E27FC236}">
                <a16:creationId xmlns:a16="http://schemas.microsoft.com/office/drawing/2014/main" id="{90E5911B-C634-699D-151A-A8E6E102D0CB}"/>
              </a:ext>
            </a:extLst>
          </p:cNvPr>
          <p:cNvPicPr>
            <a:picLocks noChangeAspect="1"/>
          </p:cNvPicPr>
          <p:nvPr/>
        </p:nvPicPr>
        <p:blipFill>
          <a:blip r:embed="rId6"/>
          <a:stretch>
            <a:fillRect/>
          </a:stretch>
        </p:blipFill>
        <p:spPr>
          <a:xfrm>
            <a:off x="4597229" y="5328440"/>
            <a:ext cx="2670346" cy="1032834"/>
          </a:xfrm>
          <a:prstGeom prst="rect">
            <a:avLst/>
          </a:prstGeom>
        </p:spPr>
      </p:pic>
    </p:spTree>
    <p:extLst>
      <p:ext uri="{BB962C8B-B14F-4D97-AF65-F5344CB8AC3E}">
        <p14:creationId xmlns:p14="http://schemas.microsoft.com/office/powerpoint/2010/main" val="1670331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B9836-934D-AA7B-C04C-FF23A8936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70CF4-5D88-82EA-AA34-799E6E779E83}"/>
              </a:ext>
            </a:extLst>
          </p:cNvPr>
          <p:cNvSpPr>
            <a:spLocks noGrp="1"/>
          </p:cNvSpPr>
          <p:nvPr>
            <p:ph type="title"/>
          </p:nvPr>
        </p:nvSpPr>
        <p:spPr>
          <a:xfrm>
            <a:off x="1040022" y="336507"/>
            <a:ext cx="10990263" cy="568412"/>
          </a:xfrm>
        </p:spPr>
        <p:txBody>
          <a:bodyPr/>
          <a:lstStyle/>
          <a:p>
            <a:r>
              <a:rPr lang="sv-SE" dirty="0" err="1"/>
              <a:t>Traction</a:t>
            </a:r>
            <a:r>
              <a:rPr lang="sv-SE" dirty="0"/>
              <a:t> Motor Loss </a:t>
            </a:r>
            <a:r>
              <a:rPr lang="sv-SE" dirty="0" err="1"/>
              <a:t>Analyses</a:t>
            </a:r>
            <a:endParaRPr lang="en-US" dirty="0"/>
          </a:p>
        </p:txBody>
      </p:sp>
      <p:sp>
        <p:nvSpPr>
          <p:cNvPr id="11" name="TextBox 10">
            <a:extLst>
              <a:ext uri="{FF2B5EF4-FFF2-40B4-BE49-F238E27FC236}">
                <a16:creationId xmlns:a16="http://schemas.microsoft.com/office/drawing/2014/main" id="{A89AFCEA-7442-DB50-C479-5A679663E2D9}"/>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a:extLst>
              <a:ext uri="{FF2B5EF4-FFF2-40B4-BE49-F238E27FC236}">
                <a16:creationId xmlns:a16="http://schemas.microsoft.com/office/drawing/2014/main" id="{CC26590F-49E8-DD89-6639-93235D458A50}"/>
              </a:ext>
            </a:extLst>
          </p:cNvPr>
          <p:cNvSpPr>
            <a:spLocks noGrp="1"/>
          </p:cNvSpPr>
          <p:nvPr>
            <p:ph type="sldNum" sz="quarter" idx="12"/>
          </p:nvPr>
        </p:nvSpPr>
        <p:spPr/>
        <p:txBody>
          <a:bodyPr/>
          <a:lstStyle/>
          <a:p>
            <a:fld id="{B716C8F4-20CD-364A-8A8E-DE130115B178}" type="slidenum">
              <a:rPr lang="sv-SE" smtClean="0"/>
              <a:t>15</a:t>
            </a:fld>
            <a:endParaRPr lang="sv-SE"/>
          </a:p>
        </p:txBody>
      </p:sp>
      <p:sp>
        <p:nvSpPr>
          <p:cNvPr id="8" name="Rectangle 7">
            <a:extLst>
              <a:ext uri="{FF2B5EF4-FFF2-40B4-BE49-F238E27FC236}">
                <a16:creationId xmlns:a16="http://schemas.microsoft.com/office/drawing/2014/main" id="{12F293BF-7B74-9F42-2CE6-C7B98CAB66DA}"/>
              </a:ext>
            </a:extLst>
          </p:cNvPr>
          <p:cNvSpPr/>
          <p:nvPr/>
        </p:nvSpPr>
        <p:spPr>
          <a:xfrm>
            <a:off x="2133601" y="1067208"/>
            <a:ext cx="8086724" cy="369332"/>
          </a:xfrm>
          <a:prstGeom prst="rect">
            <a:avLst/>
          </a:prstGeom>
        </p:spPr>
        <p:txBody>
          <a:bodyPr wrap="square">
            <a:spAutoFit/>
          </a:bodyPr>
          <a:lstStyle/>
          <a:p>
            <a:r>
              <a:rPr lang="en-US" b="1" dirty="0">
                <a:solidFill>
                  <a:schemeClr val="accent6">
                    <a:lumMod val="75000"/>
                  </a:schemeClr>
                </a:solidFill>
              </a:rPr>
              <a:t>LOSS FACTOR SCALING WITH SERIES/PARALLEL RECONNECTION  </a:t>
            </a:r>
            <a:endParaRPr lang="sv-SE" b="1" dirty="0">
              <a:solidFill>
                <a:schemeClr val="accent6">
                  <a:lumMod val="75000"/>
                </a:schemeClr>
              </a:solidFill>
            </a:endParaRPr>
          </a:p>
        </p:txBody>
      </p:sp>
      <p:sp>
        <p:nvSpPr>
          <p:cNvPr id="5" name="TextBox 4">
            <a:extLst>
              <a:ext uri="{FF2B5EF4-FFF2-40B4-BE49-F238E27FC236}">
                <a16:creationId xmlns:a16="http://schemas.microsoft.com/office/drawing/2014/main" id="{CD143248-B2E1-C400-1B07-753AA8CD9126}"/>
              </a:ext>
            </a:extLst>
          </p:cNvPr>
          <p:cNvSpPr txBox="1"/>
          <p:nvPr/>
        </p:nvSpPr>
        <p:spPr>
          <a:xfrm>
            <a:off x="661985" y="1436540"/>
            <a:ext cx="10868025" cy="646331"/>
          </a:xfrm>
          <a:prstGeom prst="rect">
            <a:avLst/>
          </a:prstGeom>
          <a:noFill/>
        </p:spPr>
        <p:txBody>
          <a:bodyPr wrap="square">
            <a:spAutoFit/>
          </a:bodyPr>
          <a:lstStyle/>
          <a:p>
            <a:r>
              <a:rPr lang="en-US" dirty="0"/>
              <a:t>Reconnecting parallel winding paths in series increases the effective phase inductance, altering the winding’s high-frequency impedance behavior.</a:t>
            </a:r>
            <a:endParaRPr lang="sv-SE" dirty="0"/>
          </a:p>
        </p:txBody>
      </p:sp>
      <p:pic>
        <p:nvPicPr>
          <p:cNvPr id="9" name="Picture 8">
            <a:extLst>
              <a:ext uri="{FF2B5EF4-FFF2-40B4-BE49-F238E27FC236}">
                <a16:creationId xmlns:a16="http://schemas.microsoft.com/office/drawing/2014/main" id="{10BCDAC7-E4E0-5E9D-1CE1-616826FD8E95}"/>
              </a:ext>
            </a:extLst>
          </p:cNvPr>
          <p:cNvPicPr>
            <a:picLocks noChangeAspect="1"/>
          </p:cNvPicPr>
          <p:nvPr/>
        </p:nvPicPr>
        <p:blipFill>
          <a:blip r:embed="rId2"/>
          <a:srcRect t="28275"/>
          <a:stretch>
            <a:fillRect/>
          </a:stretch>
        </p:blipFill>
        <p:spPr>
          <a:xfrm>
            <a:off x="3571874" y="2082871"/>
            <a:ext cx="4171950" cy="871296"/>
          </a:xfrm>
          <a:prstGeom prst="rect">
            <a:avLst/>
          </a:prstGeom>
        </p:spPr>
      </p:pic>
      <p:sp>
        <p:nvSpPr>
          <p:cNvPr id="12" name="TextBox 11">
            <a:extLst>
              <a:ext uri="{FF2B5EF4-FFF2-40B4-BE49-F238E27FC236}">
                <a16:creationId xmlns:a16="http://schemas.microsoft.com/office/drawing/2014/main" id="{FE3832E7-D4CE-7B7B-1F8F-72C02163F47D}"/>
              </a:ext>
            </a:extLst>
          </p:cNvPr>
          <p:cNvSpPr txBox="1"/>
          <p:nvPr/>
        </p:nvSpPr>
        <p:spPr>
          <a:xfrm>
            <a:off x="3257549" y="2975085"/>
            <a:ext cx="4486275" cy="369332"/>
          </a:xfrm>
          <a:prstGeom prst="rect">
            <a:avLst/>
          </a:prstGeom>
          <a:noFill/>
        </p:spPr>
        <p:txBody>
          <a:bodyPr wrap="square">
            <a:spAutoFit/>
          </a:bodyPr>
          <a:lstStyle/>
          <a:p>
            <a:r>
              <a:rPr lang="en-US" b="1" dirty="0">
                <a:solidFill>
                  <a:schemeClr val="accent6">
                    <a:lumMod val="75000"/>
                  </a:schemeClr>
                </a:solidFill>
              </a:rPr>
              <a:t>SYNTHESIS OF PWM HARMONIC LOSS</a:t>
            </a:r>
            <a:endParaRPr lang="sv-SE" b="1" dirty="0">
              <a:solidFill>
                <a:schemeClr val="accent6">
                  <a:lumMod val="75000"/>
                </a:schemeClr>
              </a:solidFill>
            </a:endParaRPr>
          </a:p>
        </p:txBody>
      </p:sp>
      <p:pic>
        <p:nvPicPr>
          <p:cNvPr id="14" name="Picture 13">
            <a:extLst>
              <a:ext uri="{FF2B5EF4-FFF2-40B4-BE49-F238E27FC236}">
                <a16:creationId xmlns:a16="http://schemas.microsoft.com/office/drawing/2014/main" id="{9CECBEDB-9F16-6593-2BAB-F47059081054}"/>
              </a:ext>
            </a:extLst>
          </p:cNvPr>
          <p:cNvPicPr>
            <a:picLocks noChangeAspect="1"/>
          </p:cNvPicPr>
          <p:nvPr/>
        </p:nvPicPr>
        <p:blipFill>
          <a:blip r:embed="rId3"/>
          <a:stretch>
            <a:fillRect/>
          </a:stretch>
        </p:blipFill>
        <p:spPr>
          <a:xfrm>
            <a:off x="331786" y="3341281"/>
            <a:ext cx="5168900" cy="1345865"/>
          </a:xfrm>
          <a:prstGeom prst="rect">
            <a:avLst/>
          </a:prstGeom>
        </p:spPr>
      </p:pic>
      <p:pic>
        <p:nvPicPr>
          <p:cNvPr id="17" name="Picture 16">
            <a:extLst>
              <a:ext uri="{FF2B5EF4-FFF2-40B4-BE49-F238E27FC236}">
                <a16:creationId xmlns:a16="http://schemas.microsoft.com/office/drawing/2014/main" id="{5DACD27A-F59D-CD3C-DF34-07B748928F78}"/>
              </a:ext>
            </a:extLst>
          </p:cNvPr>
          <p:cNvPicPr>
            <a:picLocks noChangeAspect="1"/>
          </p:cNvPicPr>
          <p:nvPr/>
        </p:nvPicPr>
        <p:blipFill>
          <a:blip r:embed="rId4"/>
          <a:stretch>
            <a:fillRect/>
          </a:stretch>
        </p:blipFill>
        <p:spPr>
          <a:xfrm>
            <a:off x="7743824" y="3332877"/>
            <a:ext cx="3267075" cy="1065730"/>
          </a:xfrm>
          <a:prstGeom prst="rect">
            <a:avLst/>
          </a:prstGeom>
        </p:spPr>
      </p:pic>
      <p:pic>
        <p:nvPicPr>
          <p:cNvPr id="21" name="Picture 20">
            <a:extLst>
              <a:ext uri="{FF2B5EF4-FFF2-40B4-BE49-F238E27FC236}">
                <a16:creationId xmlns:a16="http://schemas.microsoft.com/office/drawing/2014/main" id="{6DD6DBA1-1295-387E-7AE9-A6BDEE34E319}"/>
              </a:ext>
            </a:extLst>
          </p:cNvPr>
          <p:cNvPicPr>
            <a:picLocks noChangeAspect="1"/>
          </p:cNvPicPr>
          <p:nvPr/>
        </p:nvPicPr>
        <p:blipFill>
          <a:blip r:embed="rId5"/>
          <a:srcRect t="3245"/>
          <a:stretch>
            <a:fillRect/>
          </a:stretch>
        </p:blipFill>
        <p:spPr>
          <a:xfrm>
            <a:off x="3019424" y="4687146"/>
            <a:ext cx="5722148" cy="1269912"/>
          </a:xfrm>
          <a:prstGeom prst="rect">
            <a:avLst/>
          </a:prstGeom>
        </p:spPr>
      </p:pic>
      <p:sp>
        <p:nvSpPr>
          <p:cNvPr id="23" name="TextBox 22">
            <a:extLst>
              <a:ext uri="{FF2B5EF4-FFF2-40B4-BE49-F238E27FC236}">
                <a16:creationId xmlns:a16="http://schemas.microsoft.com/office/drawing/2014/main" id="{C9192170-4270-B16A-A78E-8C94D17CBB15}"/>
              </a:ext>
            </a:extLst>
          </p:cNvPr>
          <p:cNvSpPr txBox="1"/>
          <p:nvPr/>
        </p:nvSpPr>
        <p:spPr>
          <a:xfrm>
            <a:off x="2133601" y="6077412"/>
            <a:ext cx="10191751" cy="369332"/>
          </a:xfrm>
          <a:prstGeom prst="rect">
            <a:avLst/>
          </a:prstGeom>
          <a:noFill/>
        </p:spPr>
        <p:txBody>
          <a:bodyPr wrap="square">
            <a:spAutoFit/>
          </a:bodyPr>
          <a:lstStyle/>
          <a:p>
            <a:pPr marL="742950" lvl="1" indent="-285750">
              <a:buFont typeface="Arial" panose="020B0604020202020204" pitchFamily="34" charset="0"/>
              <a:buChar char="•"/>
            </a:pPr>
            <a:r>
              <a:rPr lang="sv-SE" b="1" dirty="0">
                <a:solidFill>
                  <a:schemeClr val="accent6">
                    <a:lumMod val="75000"/>
                  </a:schemeClr>
                </a:solidFill>
              </a:rPr>
              <a:t>Same </a:t>
            </a:r>
            <a:r>
              <a:rPr lang="sv-SE" b="1" dirty="0" err="1">
                <a:solidFill>
                  <a:schemeClr val="accent6">
                    <a:lumMod val="75000"/>
                  </a:schemeClr>
                </a:solidFill>
              </a:rPr>
              <a:t>harmonic</a:t>
            </a:r>
            <a:r>
              <a:rPr lang="sv-SE" b="1" dirty="0">
                <a:solidFill>
                  <a:schemeClr val="accent6">
                    <a:lumMod val="75000"/>
                  </a:schemeClr>
                </a:solidFill>
              </a:rPr>
              <a:t> </a:t>
            </a:r>
            <a:r>
              <a:rPr lang="sv-SE" b="1" dirty="0" err="1">
                <a:solidFill>
                  <a:schemeClr val="accent6">
                    <a:lumMod val="75000"/>
                  </a:schemeClr>
                </a:solidFill>
              </a:rPr>
              <a:t>losses</a:t>
            </a:r>
            <a:r>
              <a:rPr lang="sv-SE" b="1" dirty="0">
                <a:solidFill>
                  <a:schemeClr val="accent6">
                    <a:lumMod val="75000"/>
                  </a:schemeClr>
                </a:solidFill>
              </a:rPr>
              <a:t>: </a:t>
            </a:r>
            <a:r>
              <a:rPr lang="sv-SE" dirty="0" err="1"/>
              <a:t>scaled</a:t>
            </a:r>
            <a:r>
              <a:rPr lang="sv-SE" dirty="0"/>
              <a:t> loss </a:t>
            </a:r>
            <a:r>
              <a:rPr lang="sv-SE" dirty="0" err="1"/>
              <a:t>factor</a:t>
            </a:r>
            <a:r>
              <a:rPr lang="sv-SE" dirty="0"/>
              <a:t> and </a:t>
            </a:r>
            <a:r>
              <a:rPr lang="sv-SE" dirty="0" err="1"/>
              <a:t>voltage</a:t>
            </a:r>
            <a:r>
              <a:rPr lang="sv-SE" dirty="0"/>
              <a:t> </a:t>
            </a:r>
            <a:r>
              <a:rPr lang="sv-SE" dirty="0" err="1"/>
              <a:t>levels</a:t>
            </a:r>
            <a:r>
              <a:rPr lang="sv-SE" dirty="0"/>
              <a:t>.</a:t>
            </a:r>
            <a:endParaRPr lang="sv-SE" b="1" dirty="0">
              <a:solidFill>
                <a:schemeClr val="accent6">
                  <a:lumMod val="75000"/>
                </a:schemeClr>
              </a:solidFill>
            </a:endParaRPr>
          </a:p>
        </p:txBody>
      </p:sp>
    </p:spTree>
    <p:extLst>
      <p:ext uri="{BB962C8B-B14F-4D97-AF65-F5344CB8AC3E}">
        <p14:creationId xmlns:p14="http://schemas.microsoft.com/office/powerpoint/2010/main" val="1577043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Common-Mode </a:t>
            </a:r>
            <a:r>
              <a:rPr lang="sv-SE" dirty="0" err="1"/>
              <a:t>Voltage</a:t>
            </a:r>
            <a:r>
              <a:rPr lang="sv-SE" dirty="0"/>
              <a:t> &amp; </a:t>
            </a:r>
            <a:r>
              <a:rPr lang="sv-SE" dirty="0" err="1"/>
              <a:t>Bearing</a:t>
            </a:r>
            <a:r>
              <a:rPr lang="sv-SE" dirty="0"/>
              <a:t> Stress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16</a:t>
            </a:fld>
            <a:endParaRPr lang="sv-SE"/>
          </a:p>
        </p:txBody>
      </p:sp>
      <p:pic>
        <p:nvPicPr>
          <p:cNvPr id="5" name="Picture 4"/>
          <p:cNvPicPr>
            <a:picLocks noChangeAspect="1"/>
          </p:cNvPicPr>
          <p:nvPr/>
        </p:nvPicPr>
        <p:blipFill>
          <a:blip r:embed="rId2"/>
          <a:stretch>
            <a:fillRect/>
          </a:stretch>
        </p:blipFill>
        <p:spPr>
          <a:xfrm>
            <a:off x="1656503" y="1768702"/>
            <a:ext cx="2804160" cy="776910"/>
          </a:xfrm>
          <a:prstGeom prst="rect">
            <a:avLst/>
          </a:prstGeom>
        </p:spPr>
      </p:pic>
      <p:sp>
        <p:nvSpPr>
          <p:cNvPr id="7" name="Rectangle 6"/>
          <p:cNvSpPr/>
          <p:nvPr/>
        </p:nvSpPr>
        <p:spPr>
          <a:xfrm>
            <a:off x="563880" y="1282303"/>
            <a:ext cx="5311140" cy="369332"/>
          </a:xfrm>
          <a:prstGeom prst="rect">
            <a:avLst/>
          </a:prstGeom>
        </p:spPr>
        <p:txBody>
          <a:bodyPr wrap="square">
            <a:spAutoFit/>
          </a:bodyPr>
          <a:lstStyle/>
          <a:p>
            <a:r>
              <a:rPr lang="sv-SE" b="1" dirty="0" err="1">
                <a:solidFill>
                  <a:schemeClr val="accent6">
                    <a:lumMod val="75000"/>
                  </a:schemeClr>
                </a:solidFill>
              </a:rPr>
              <a:t>Concern</a:t>
            </a:r>
            <a:r>
              <a:rPr lang="sv-SE" b="1" dirty="0">
                <a:solidFill>
                  <a:schemeClr val="accent6">
                    <a:lumMod val="75000"/>
                  </a:schemeClr>
                </a:solidFill>
              </a:rPr>
              <a:t> : </a:t>
            </a:r>
            <a:r>
              <a:rPr lang="sv-SE" dirty="0" err="1"/>
              <a:t>Higher</a:t>
            </a:r>
            <a:r>
              <a:rPr lang="sv-SE" dirty="0"/>
              <a:t> </a:t>
            </a:r>
            <a:r>
              <a:rPr lang="sv-SE" dirty="0" err="1"/>
              <a:t>Vdc</a:t>
            </a:r>
            <a:r>
              <a:rPr lang="sv-SE" dirty="0"/>
              <a:t> → </a:t>
            </a:r>
            <a:r>
              <a:rPr lang="sv-SE" dirty="0" err="1"/>
              <a:t>higher</a:t>
            </a:r>
            <a:r>
              <a:rPr lang="sv-SE" dirty="0"/>
              <a:t> CMV </a:t>
            </a:r>
            <a:r>
              <a:rPr lang="sv-SE" dirty="0" err="1"/>
              <a:t>amplitude</a:t>
            </a:r>
            <a:endParaRPr lang="sv-SE" dirty="0"/>
          </a:p>
        </p:txBody>
      </p:sp>
      <p:sp>
        <p:nvSpPr>
          <p:cNvPr id="8" name="Rectangle 7"/>
          <p:cNvSpPr/>
          <p:nvPr/>
        </p:nvSpPr>
        <p:spPr>
          <a:xfrm>
            <a:off x="563880" y="2673265"/>
            <a:ext cx="4696895" cy="646331"/>
          </a:xfrm>
          <a:prstGeom prst="rect">
            <a:avLst/>
          </a:prstGeom>
        </p:spPr>
        <p:txBody>
          <a:bodyPr wrap="square">
            <a:spAutoFit/>
          </a:bodyPr>
          <a:lstStyle/>
          <a:p>
            <a:r>
              <a:rPr lang="sv-SE" b="1" dirty="0" err="1">
                <a:solidFill>
                  <a:schemeClr val="accent6">
                    <a:lumMod val="75000"/>
                  </a:schemeClr>
                </a:solidFill>
              </a:rPr>
              <a:t>Bearing</a:t>
            </a:r>
            <a:r>
              <a:rPr lang="sv-SE" b="1" dirty="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a:t>
            </a:r>
            <a:r>
              <a:rPr lang="sv-SE" b="1" dirty="0" err="1">
                <a:solidFill>
                  <a:schemeClr val="accent6">
                    <a:lumMod val="75000"/>
                  </a:schemeClr>
                </a:solidFill>
              </a:rPr>
              <a:t>Ratio</a:t>
            </a:r>
            <a:r>
              <a:rPr lang="sv-SE" b="1" dirty="0">
                <a:solidFill>
                  <a:schemeClr val="accent6">
                    <a:lumMod val="75000"/>
                  </a:schemeClr>
                </a:solidFill>
              </a:rPr>
              <a:t> (BVR) </a:t>
            </a:r>
            <a:r>
              <a:rPr lang="en-US" dirty="0"/>
              <a:t>quantifies the coupling of CMV to the rotor shaft</a:t>
            </a:r>
            <a:r>
              <a:rPr lang="sv-SE" dirty="0"/>
              <a:t>: </a:t>
            </a:r>
          </a:p>
        </p:txBody>
      </p:sp>
      <p:pic>
        <p:nvPicPr>
          <p:cNvPr id="9" name="Picture 8"/>
          <p:cNvPicPr>
            <a:picLocks noChangeAspect="1"/>
          </p:cNvPicPr>
          <p:nvPr/>
        </p:nvPicPr>
        <p:blipFill>
          <a:blip r:embed="rId3"/>
          <a:stretch>
            <a:fillRect/>
          </a:stretch>
        </p:blipFill>
        <p:spPr>
          <a:xfrm>
            <a:off x="1343130" y="3313855"/>
            <a:ext cx="3295439" cy="608711"/>
          </a:xfrm>
          <a:prstGeom prst="rect">
            <a:avLst/>
          </a:prstGeom>
        </p:spPr>
      </p:pic>
      <p:sp>
        <p:nvSpPr>
          <p:cNvPr id="10" name="Rectangle 9"/>
          <p:cNvSpPr/>
          <p:nvPr/>
        </p:nvSpPr>
        <p:spPr>
          <a:xfrm>
            <a:off x="544722" y="4144335"/>
            <a:ext cx="4989406" cy="1477328"/>
          </a:xfrm>
          <a:prstGeom prst="rect">
            <a:avLst/>
          </a:prstGeom>
        </p:spPr>
        <p:txBody>
          <a:bodyPr wrap="square">
            <a:spAutoFit/>
          </a:bodyPr>
          <a:lstStyle/>
          <a:p>
            <a:r>
              <a:rPr lang="en-US" dirty="0"/>
              <a:t>In </a:t>
            </a:r>
            <a:r>
              <a:rPr lang="en-US" b="1" dirty="0">
                <a:solidFill>
                  <a:schemeClr val="accent6">
                    <a:lumMod val="75000"/>
                  </a:schemeClr>
                </a:solidFill>
              </a:rPr>
              <a:t>higher-voltage machines</a:t>
            </a:r>
            <a:r>
              <a:rPr lang="en-US" dirty="0"/>
              <a:t>, shielding materials can be employed to further reduce the bearing voltage ratio (BVR), while </a:t>
            </a:r>
            <a:r>
              <a:rPr lang="en-US" b="1" dirty="0">
                <a:solidFill>
                  <a:schemeClr val="accent6">
                    <a:lumMod val="75000"/>
                  </a:schemeClr>
                </a:solidFill>
              </a:rPr>
              <a:t>reinforced insulation</a:t>
            </a:r>
            <a:r>
              <a:rPr lang="en-US" dirty="0"/>
              <a:t> decreases the winding-to-rotor capacitance (</a:t>
            </a:r>
            <a:r>
              <a:rPr lang="en-US" dirty="0" err="1"/>
              <a:t>Cwr</a:t>
            </a:r>
            <a:r>
              <a:rPr lang="en-US" dirty="0"/>
              <a:t>).</a:t>
            </a:r>
            <a:endParaRPr lang="sv-SE" dirty="0"/>
          </a:p>
        </p:txBody>
      </p:sp>
      <p:pic>
        <p:nvPicPr>
          <p:cNvPr id="12" name="Picture 11"/>
          <p:cNvPicPr>
            <a:picLocks noChangeAspect="1"/>
          </p:cNvPicPr>
          <p:nvPr/>
        </p:nvPicPr>
        <p:blipFill>
          <a:blip r:embed="rId4"/>
          <a:stretch>
            <a:fillRect/>
          </a:stretch>
        </p:blipFill>
        <p:spPr>
          <a:xfrm>
            <a:off x="593525" y="5733802"/>
            <a:ext cx="4667250" cy="834301"/>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9873" y="1458079"/>
            <a:ext cx="4163584" cy="4163584"/>
          </a:xfrm>
          <a:prstGeom prst="rect">
            <a:avLst/>
          </a:prstGeom>
        </p:spPr>
      </p:pic>
      <p:pic>
        <p:nvPicPr>
          <p:cNvPr id="14" name="Picture 13"/>
          <p:cNvPicPr>
            <a:picLocks noChangeAspect="1"/>
          </p:cNvPicPr>
          <p:nvPr/>
        </p:nvPicPr>
        <p:blipFill>
          <a:blip r:embed="rId6"/>
          <a:stretch>
            <a:fillRect/>
          </a:stretch>
        </p:blipFill>
        <p:spPr>
          <a:xfrm>
            <a:off x="6535153" y="5722791"/>
            <a:ext cx="5231125" cy="467717"/>
          </a:xfrm>
          <a:prstGeom prst="rect">
            <a:avLst/>
          </a:prstGeom>
        </p:spPr>
      </p:pic>
    </p:spTree>
    <p:extLst>
      <p:ext uri="{BB962C8B-B14F-4D97-AF65-F5344CB8AC3E}">
        <p14:creationId xmlns:p14="http://schemas.microsoft.com/office/powerpoint/2010/main" val="1699775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Holistic</a:t>
            </a:r>
            <a:r>
              <a:rPr lang="sv-SE" dirty="0"/>
              <a:t> </a:t>
            </a:r>
            <a:r>
              <a:rPr lang="sv-SE" dirty="0" err="1"/>
              <a:t>Optimization</a:t>
            </a:r>
            <a:r>
              <a:rPr lang="sv-SE" dirty="0"/>
              <a:t>: </a:t>
            </a:r>
            <a:r>
              <a:rPr lang="sv-SE" dirty="0" err="1"/>
              <a:t>Switching</a:t>
            </a:r>
            <a:r>
              <a:rPr lang="sv-SE" dirty="0"/>
              <a:t> </a:t>
            </a:r>
            <a:r>
              <a:rPr lang="sv-SE" dirty="0" err="1"/>
              <a:t>Frequency</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17</a:t>
            </a:fld>
            <a:endParaRPr lang="sv-SE"/>
          </a:p>
        </p:txBody>
      </p:sp>
      <p:sp>
        <p:nvSpPr>
          <p:cNvPr id="5" name="Rectangle 4"/>
          <p:cNvSpPr/>
          <p:nvPr/>
        </p:nvSpPr>
        <p:spPr>
          <a:xfrm>
            <a:off x="3554621" y="1300327"/>
            <a:ext cx="4732128" cy="1200329"/>
          </a:xfrm>
          <a:prstGeom prst="rect">
            <a:avLst/>
          </a:prstGeom>
        </p:spPr>
        <p:txBody>
          <a:bodyPr wrap="square">
            <a:spAutoFit/>
          </a:bodyPr>
          <a:lstStyle/>
          <a:p>
            <a:r>
              <a:rPr lang="sv-SE" b="1" dirty="0" err="1">
                <a:solidFill>
                  <a:schemeClr val="accent6">
                    <a:lumMod val="75000"/>
                  </a:schemeClr>
                </a:solidFill>
              </a:rPr>
              <a:t>Why</a:t>
            </a:r>
            <a:r>
              <a:rPr lang="sv-SE" b="1" dirty="0">
                <a:solidFill>
                  <a:schemeClr val="accent6">
                    <a:lumMod val="75000"/>
                  </a:schemeClr>
                </a:solidFill>
              </a:rPr>
              <a:t> </a:t>
            </a:r>
            <a:r>
              <a:rPr lang="sv-SE" b="1" dirty="0" err="1">
                <a:solidFill>
                  <a:schemeClr val="accent6">
                    <a:lumMod val="75000"/>
                  </a:schemeClr>
                </a:solidFill>
              </a:rPr>
              <a:t>holistic</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err="1"/>
              <a:t>Inverter</a:t>
            </a:r>
            <a:r>
              <a:rPr lang="sv-SE" dirty="0"/>
              <a:t> </a:t>
            </a:r>
            <a:r>
              <a:rPr lang="sv-SE" dirty="0" err="1"/>
              <a:t>losses</a:t>
            </a:r>
            <a:r>
              <a:rPr lang="sv-SE" dirty="0"/>
              <a:t> ↑ </a:t>
            </a:r>
            <a:r>
              <a:rPr lang="sv-SE" dirty="0" err="1"/>
              <a:t>with</a:t>
            </a:r>
            <a:r>
              <a:rPr lang="sv-SE" dirty="0"/>
              <a:t> </a:t>
            </a:r>
            <a:r>
              <a:rPr lang="sv-SE" dirty="0" err="1"/>
              <a:t>fsw</a:t>
            </a:r>
            <a:endParaRPr lang="sv-SE" dirty="0"/>
          </a:p>
          <a:p>
            <a:pPr marL="285750" indent="-285750">
              <a:buFont typeface="Arial" panose="020B0604020202020204" pitchFamily="34" charset="0"/>
              <a:buChar char="•"/>
            </a:pPr>
            <a:r>
              <a:rPr lang="sv-SE" dirty="0"/>
              <a:t>Motor </a:t>
            </a:r>
            <a:r>
              <a:rPr lang="sv-SE" dirty="0" err="1"/>
              <a:t>harmonic</a:t>
            </a:r>
            <a:r>
              <a:rPr lang="sv-SE" dirty="0"/>
              <a:t> </a:t>
            </a:r>
            <a:r>
              <a:rPr lang="sv-SE" dirty="0" err="1"/>
              <a:t>losses</a:t>
            </a:r>
            <a:r>
              <a:rPr lang="sv-SE" dirty="0"/>
              <a:t> ↓ </a:t>
            </a:r>
            <a:r>
              <a:rPr lang="sv-SE" dirty="0" err="1"/>
              <a:t>with</a:t>
            </a:r>
            <a:r>
              <a:rPr lang="sv-SE" dirty="0"/>
              <a:t> </a:t>
            </a:r>
            <a:r>
              <a:rPr lang="sv-SE" dirty="0" err="1"/>
              <a:t>fsw</a:t>
            </a:r>
            <a:endParaRPr lang="sv-SE" dirty="0"/>
          </a:p>
          <a:p>
            <a:endParaRPr lang="sv-SE" dirty="0"/>
          </a:p>
        </p:txBody>
      </p:sp>
      <p:pic>
        <p:nvPicPr>
          <p:cNvPr id="8" name="Picture 7">
            <a:extLst>
              <a:ext uri="{FF2B5EF4-FFF2-40B4-BE49-F238E27FC236}">
                <a16:creationId xmlns:a16="http://schemas.microsoft.com/office/drawing/2014/main" id="{06A2AB6C-2062-99B4-A4B5-B039BE088F45}"/>
              </a:ext>
            </a:extLst>
          </p:cNvPr>
          <p:cNvPicPr>
            <a:picLocks noChangeAspect="1"/>
          </p:cNvPicPr>
          <p:nvPr/>
        </p:nvPicPr>
        <p:blipFill>
          <a:blip r:embed="rId2"/>
          <a:stretch>
            <a:fillRect/>
          </a:stretch>
        </p:blipFill>
        <p:spPr>
          <a:xfrm>
            <a:off x="3167062" y="2182242"/>
            <a:ext cx="5681663" cy="4389533"/>
          </a:xfrm>
          <a:prstGeom prst="rect">
            <a:avLst/>
          </a:prstGeom>
        </p:spPr>
      </p:pic>
    </p:spTree>
    <p:extLst>
      <p:ext uri="{BB962C8B-B14F-4D97-AF65-F5344CB8AC3E}">
        <p14:creationId xmlns:p14="http://schemas.microsoft.com/office/powerpoint/2010/main" val="2122849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B2B Setup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18</a:t>
            </a:fld>
            <a:endParaRPr lang="sv-SE"/>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999" y="1178754"/>
            <a:ext cx="3082925" cy="4923099"/>
          </a:xfrm>
          <a:prstGeom prst="rect">
            <a:avLst/>
          </a:prstGeom>
        </p:spPr>
      </p:pic>
      <p:pic>
        <p:nvPicPr>
          <p:cNvPr id="6" name="Picture 5"/>
          <p:cNvPicPr>
            <a:picLocks noChangeAspect="1"/>
          </p:cNvPicPr>
          <p:nvPr/>
        </p:nvPicPr>
        <p:blipFill>
          <a:blip r:embed="rId3"/>
          <a:stretch>
            <a:fillRect/>
          </a:stretch>
        </p:blipFill>
        <p:spPr>
          <a:xfrm>
            <a:off x="332262" y="6101853"/>
            <a:ext cx="5444004" cy="34627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0679" y="1685091"/>
            <a:ext cx="4758665" cy="3389989"/>
          </a:xfrm>
          <a:prstGeom prst="rect">
            <a:avLst/>
          </a:prstGeom>
        </p:spPr>
      </p:pic>
      <p:pic>
        <p:nvPicPr>
          <p:cNvPr id="8" name="Picture 7"/>
          <p:cNvPicPr>
            <a:picLocks noChangeAspect="1"/>
          </p:cNvPicPr>
          <p:nvPr/>
        </p:nvPicPr>
        <p:blipFill>
          <a:blip r:embed="rId5"/>
          <a:stretch>
            <a:fillRect/>
          </a:stretch>
        </p:blipFill>
        <p:spPr>
          <a:xfrm>
            <a:off x="6340679" y="5358694"/>
            <a:ext cx="5016091" cy="689194"/>
          </a:xfrm>
          <a:prstGeom prst="rect">
            <a:avLst/>
          </a:prstGeom>
        </p:spPr>
      </p:pic>
    </p:spTree>
    <p:extLst>
      <p:ext uri="{BB962C8B-B14F-4D97-AF65-F5344CB8AC3E}">
        <p14:creationId xmlns:p14="http://schemas.microsoft.com/office/powerpoint/2010/main" val="1924333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6DAA-6A37-32C2-8DAC-3C0CEDE0B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B4158-44E6-BBE9-8337-D456610901A0}"/>
              </a:ext>
            </a:extLst>
          </p:cNvPr>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5" name="Picture 4">
            <a:extLst>
              <a:ext uri="{FF2B5EF4-FFF2-40B4-BE49-F238E27FC236}">
                <a16:creationId xmlns:a16="http://schemas.microsoft.com/office/drawing/2014/main" id="{2E19CEC3-6503-C3C3-B869-009257C54591}"/>
              </a:ext>
            </a:extLst>
          </p:cNvPr>
          <p:cNvPicPr>
            <a:picLocks noChangeAspect="1"/>
          </p:cNvPicPr>
          <p:nvPr/>
        </p:nvPicPr>
        <p:blipFill>
          <a:blip r:embed="rId2"/>
          <a:stretch>
            <a:fillRect/>
          </a:stretch>
        </p:blipFill>
        <p:spPr>
          <a:xfrm>
            <a:off x="579636" y="1257300"/>
            <a:ext cx="4636918" cy="5133974"/>
          </a:xfrm>
          <a:prstGeom prst="rect">
            <a:avLst/>
          </a:prstGeom>
        </p:spPr>
      </p:pic>
      <p:sp>
        <p:nvSpPr>
          <p:cNvPr id="7" name="TextBox 6">
            <a:extLst>
              <a:ext uri="{FF2B5EF4-FFF2-40B4-BE49-F238E27FC236}">
                <a16:creationId xmlns:a16="http://schemas.microsoft.com/office/drawing/2014/main" id="{5D998678-6DD6-B18A-1D3E-2B757F0AE3D2}"/>
              </a:ext>
            </a:extLst>
          </p:cNvPr>
          <p:cNvSpPr txBox="1"/>
          <p:nvPr/>
        </p:nvSpPr>
        <p:spPr>
          <a:xfrm>
            <a:off x="5305425" y="1257300"/>
            <a:ext cx="6096000" cy="923330"/>
          </a:xfrm>
          <a:prstGeom prst="rect">
            <a:avLst/>
          </a:prstGeom>
          <a:noFill/>
        </p:spPr>
        <p:txBody>
          <a:bodyPr wrap="square">
            <a:spAutoFit/>
          </a:bodyPr>
          <a:lstStyle/>
          <a:p>
            <a:r>
              <a:rPr lang="sv-SE" dirty="0" err="1"/>
              <a:t>Measuring</a:t>
            </a:r>
            <a:r>
              <a:rPr lang="sv-SE" dirty="0"/>
              <a:t> </a:t>
            </a:r>
            <a:r>
              <a:rPr lang="sv-SE" dirty="0" err="1"/>
              <a:t>individual</a:t>
            </a:r>
            <a:r>
              <a:rPr lang="sv-SE" dirty="0"/>
              <a:t> loss </a:t>
            </a:r>
            <a:r>
              <a:rPr lang="sv-SE" dirty="0" err="1"/>
              <a:t>components</a:t>
            </a:r>
            <a:r>
              <a:rPr lang="sv-SE" dirty="0"/>
              <a:t> </a:t>
            </a:r>
            <a:r>
              <a:rPr lang="sv-SE" dirty="0" err="1"/>
              <a:t>independently</a:t>
            </a:r>
            <a:r>
              <a:rPr lang="sv-SE" dirty="0"/>
              <a:t> </a:t>
            </a:r>
            <a:r>
              <a:rPr lang="sv-SE" dirty="0" err="1"/>
              <a:t>requires</a:t>
            </a:r>
            <a:r>
              <a:rPr lang="sv-SE" dirty="0"/>
              <a:t> </a:t>
            </a:r>
            <a:r>
              <a:rPr lang="sv-SE" b="1" dirty="0" err="1">
                <a:solidFill>
                  <a:schemeClr val="accent6">
                    <a:lumMod val="75000"/>
                  </a:schemeClr>
                </a:solidFill>
              </a:rPr>
              <a:t>high</a:t>
            </a:r>
            <a:r>
              <a:rPr lang="sv-SE" b="1" dirty="0">
                <a:solidFill>
                  <a:schemeClr val="accent6">
                    <a:lumMod val="75000"/>
                  </a:schemeClr>
                </a:solidFill>
              </a:rPr>
              <a:t>-precision instrumentation</a:t>
            </a:r>
            <a:r>
              <a:rPr lang="sv-SE" dirty="0"/>
              <a:t>, </a:t>
            </a:r>
            <a:r>
              <a:rPr lang="sv-SE" dirty="0" err="1"/>
              <a:t>therefore</a:t>
            </a:r>
            <a:r>
              <a:rPr lang="sv-SE" dirty="0"/>
              <a:t>, a </a:t>
            </a:r>
            <a:r>
              <a:rPr lang="sv-SE" dirty="0" err="1"/>
              <a:t>calorimetric</a:t>
            </a:r>
            <a:r>
              <a:rPr lang="sv-SE" dirty="0"/>
              <a:t> </a:t>
            </a:r>
            <a:r>
              <a:rPr lang="sv-SE" dirty="0" err="1"/>
              <a:t>measurement</a:t>
            </a:r>
            <a:r>
              <a:rPr lang="sv-SE" dirty="0"/>
              <a:t> is </a:t>
            </a:r>
            <a:r>
              <a:rPr lang="sv-SE" dirty="0" err="1"/>
              <a:t>employed</a:t>
            </a:r>
            <a:r>
              <a:rPr lang="sv-SE" dirty="0"/>
              <a:t>. </a:t>
            </a:r>
          </a:p>
        </p:txBody>
      </p:sp>
      <p:sp>
        <p:nvSpPr>
          <p:cNvPr id="11" name="TextBox 10">
            <a:extLst>
              <a:ext uri="{FF2B5EF4-FFF2-40B4-BE49-F238E27FC236}">
                <a16:creationId xmlns:a16="http://schemas.microsoft.com/office/drawing/2014/main" id="{64807B91-74D8-3F75-E54B-A98CE8D83C67}"/>
              </a:ext>
            </a:extLst>
          </p:cNvPr>
          <p:cNvSpPr txBox="1"/>
          <p:nvPr/>
        </p:nvSpPr>
        <p:spPr>
          <a:xfrm>
            <a:off x="5381625" y="2372410"/>
            <a:ext cx="5905500" cy="646331"/>
          </a:xfrm>
          <a:prstGeom prst="rect">
            <a:avLst/>
          </a:prstGeom>
          <a:noFill/>
        </p:spPr>
        <p:txBody>
          <a:bodyPr wrap="square">
            <a:spAutoFit/>
          </a:bodyPr>
          <a:lstStyle/>
          <a:p>
            <a:r>
              <a:rPr lang="en-US" b="1" dirty="0">
                <a:solidFill>
                  <a:schemeClr val="accent6">
                    <a:lumMod val="75000"/>
                  </a:schemeClr>
                </a:solidFill>
              </a:rPr>
              <a:t>The total power loss </a:t>
            </a:r>
            <a:r>
              <a:rPr lang="en-US" dirty="0"/>
              <a:t>was determined from the coolant temperature rise and the measured flow rate using</a:t>
            </a:r>
            <a:endParaRPr lang="sv-SE" dirty="0"/>
          </a:p>
        </p:txBody>
      </p:sp>
      <p:pic>
        <p:nvPicPr>
          <p:cNvPr id="13" name="Picture 12">
            <a:extLst>
              <a:ext uri="{FF2B5EF4-FFF2-40B4-BE49-F238E27FC236}">
                <a16:creationId xmlns:a16="http://schemas.microsoft.com/office/drawing/2014/main" id="{3DB44076-1AA4-364D-066A-10656B31625A}"/>
              </a:ext>
            </a:extLst>
          </p:cNvPr>
          <p:cNvPicPr>
            <a:picLocks noChangeAspect="1"/>
          </p:cNvPicPr>
          <p:nvPr/>
        </p:nvPicPr>
        <p:blipFill>
          <a:blip r:embed="rId3"/>
          <a:stretch>
            <a:fillRect/>
          </a:stretch>
        </p:blipFill>
        <p:spPr>
          <a:xfrm>
            <a:off x="6672262" y="3018741"/>
            <a:ext cx="3419475" cy="694399"/>
          </a:xfrm>
          <a:prstGeom prst="rect">
            <a:avLst/>
          </a:prstGeom>
        </p:spPr>
      </p:pic>
      <p:sp>
        <p:nvSpPr>
          <p:cNvPr id="15" name="TextBox 14">
            <a:extLst>
              <a:ext uri="{FF2B5EF4-FFF2-40B4-BE49-F238E27FC236}">
                <a16:creationId xmlns:a16="http://schemas.microsoft.com/office/drawing/2014/main" id="{9CA3A5CD-57D2-4E53-D449-AE63283B0F09}"/>
              </a:ext>
            </a:extLst>
          </p:cNvPr>
          <p:cNvSpPr txBox="1"/>
          <p:nvPr/>
        </p:nvSpPr>
        <p:spPr>
          <a:xfrm>
            <a:off x="5381625" y="4190911"/>
            <a:ext cx="6096000" cy="646331"/>
          </a:xfrm>
          <a:prstGeom prst="rect">
            <a:avLst/>
          </a:prstGeom>
          <a:noFill/>
        </p:spPr>
        <p:txBody>
          <a:bodyPr wrap="square">
            <a:spAutoFit/>
          </a:bodyPr>
          <a:lstStyle/>
          <a:p>
            <a:r>
              <a:rPr lang="en-US" dirty="0"/>
              <a:t>This measurement does not distinguish between </a:t>
            </a:r>
            <a:r>
              <a:rPr lang="en-US" b="1" dirty="0">
                <a:solidFill>
                  <a:schemeClr val="accent6">
                    <a:lumMod val="75000"/>
                  </a:schemeClr>
                </a:solidFill>
              </a:rPr>
              <a:t>individual loss mechanisms.</a:t>
            </a:r>
            <a:endParaRPr lang="sv-SE" b="1" dirty="0">
              <a:solidFill>
                <a:schemeClr val="accent6">
                  <a:lumMod val="75000"/>
                </a:schemeClr>
              </a:solidFill>
            </a:endParaRPr>
          </a:p>
        </p:txBody>
      </p:sp>
    </p:spTree>
    <p:extLst>
      <p:ext uri="{BB962C8B-B14F-4D97-AF65-F5344CB8AC3E}">
        <p14:creationId xmlns:p14="http://schemas.microsoft.com/office/powerpoint/2010/main" val="3557315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AF1B-07FD-EF6A-3272-E4E0CBD4D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11E97-8C01-950F-A553-1A0A33BE8353}"/>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a:t>
            </a:r>
            <a:r>
              <a:rPr lang="sv-SE" dirty="0" err="1"/>
              <a:t>Conduction</a:t>
            </a:r>
            <a:r>
              <a:rPr lang="sv-SE" dirty="0"/>
              <a:t> Loss</a:t>
            </a:r>
            <a:endParaRPr lang="en-US" dirty="0"/>
          </a:p>
        </p:txBody>
      </p:sp>
      <p:pic>
        <p:nvPicPr>
          <p:cNvPr id="17" name="Picture 16">
            <a:extLst>
              <a:ext uri="{FF2B5EF4-FFF2-40B4-BE49-F238E27FC236}">
                <a16:creationId xmlns:a16="http://schemas.microsoft.com/office/drawing/2014/main" id="{E61BC40C-A84A-D7E0-E3EC-84EA1CAFE3EF}"/>
              </a:ext>
            </a:extLst>
          </p:cNvPr>
          <p:cNvPicPr>
            <a:picLocks noChangeAspect="1"/>
          </p:cNvPicPr>
          <p:nvPr/>
        </p:nvPicPr>
        <p:blipFill>
          <a:blip r:embed="rId2"/>
          <a:stretch>
            <a:fillRect/>
          </a:stretch>
        </p:blipFill>
        <p:spPr>
          <a:xfrm>
            <a:off x="3838575" y="1686094"/>
            <a:ext cx="4514850" cy="866775"/>
          </a:xfrm>
          <a:prstGeom prst="rect">
            <a:avLst/>
          </a:prstGeom>
        </p:spPr>
      </p:pic>
      <p:sp>
        <p:nvSpPr>
          <p:cNvPr id="19" name="TextBox 18">
            <a:extLst>
              <a:ext uri="{FF2B5EF4-FFF2-40B4-BE49-F238E27FC236}">
                <a16:creationId xmlns:a16="http://schemas.microsoft.com/office/drawing/2014/main" id="{B66E77C7-2ED1-4656-CE45-8D6488BE6158}"/>
              </a:ext>
            </a:extLst>
          </p:cNvPr>
          <p:cNvSpPr txBox="1"/>
          <p:nvPr/>
        </p:nvSpPr>
        <p:spPr>
          <a:xfrm>
            <a:off x="819150" y="1120556"/>
            <a:ext cx="9829800" cy="646331"/>
          </a:xfrm>
          <a:prstGeom prst="rect">
            <a:avLst/>
          </a:prstGeom>
          <a:noFill/>
        </p:spPr>
        <p:txBody>
          <a:bodyPr wrap="square">
            <a:spAutoFit/>
          </a:bodyPr>
          <a:lstStyle/>
          <a:p>
            <a:r>
              <a:rPr lang="en-US" dirty="0"/>
              <a:t>Assuming a constant junction temperature in steady-state, </a:t>
            </a:r>
            <a:r>
              <a:rPr lang="en-US" b="1" dirty="0">
                <a:solidFill>
                  <a:schemeClr val="accent6">
                    <a:lumMod val="75000"/>
                  </a:schemeClr>
                </a:solidFill>
              </a:rPr>
              <a:t>the average conduction loss </a:t>
            </a:r>
            <a:r>
              <a:rPr lang="en-US" dirty="0"/>
              <a:t>per leg is</a:t>
            </a:r>
            <a:endParaRPr lang="sv-SE" dirty="0"/>
          </a:p>
        </p:txBody>
      </p:sp>
      <p:sp>
        <p:nvSpPr>
          <p:cNvPr id="21" name="TextBox 20">
            <a:extLst>
              <a:ext uri="{FF2B5EF4-FFF2-40B4-BE49-F238E27FC236}">
                <a16:creationId xmlns:a16="http://schemas.microsoft.com/office/drawing/2014/main" id="{2D17914B-4263-5A83-1291-950166F35523}"/>
              </a:ext>
            </a:extLst>
          </p:cNvPr>
          <p:cNvSpPr txBox="1"/>
          <p:nvPr/>
        </p:nvSpPr>
        <p:spPr>
          <a:xfrm>
            <a:off x="819149" y="2633662"/>
            <a:ext cx="9829799" cy="369332"/>
          </a:xfrm>
          <a:prstGeom prst="rect">
            <a:avLst/>
          </a:prstGeom>
          <a:noFill/>
        </p:spPr>
        <p:txBody>
          <a:bodyPr wrap="square">
            <a:spAutoFit/>
          </a:bodyPr>
          <a:lstStyle/>
          <a:p>
            <a:r>
              <a:rPr lang="en-US" dirty="0"/>
              <a:t>The </a:t>
            </a:r>
            <a:r>
              <a:rPr lang="en-US" b="1" dirty="0">
                <a:solidFill>
                  <a:schemeClr val="accent6">
                    <a:lumMod val="75000"/>
                  </a:schemeClr>
                </a:solidFill>
              </a:rPr>
              <a:t>on-state resistance </a:t>
            </a:r>
            <a:r>
              <a:rPr lang="en-US" dirty="0"/>
              <a:t>can be modeled as a linear function of the junction temperature:</a:t>
            </a:r>
            <a:endParaRPr lang="sv-SE" dirty="0"/>
          </a:p>
        </p:txBody>
      </p:sp>
      <p:pic>
        <p:nvPicPr>
          <p:cNvPr id="23" name="Picture 22">
            <a:extLst>
              <a:ext uri="{FF2B5EF4-FFF2-40B4-BE49-F238E27FC236}">
                <a16:creationId xmlns:a16="http://schemas.microsoft.com/office/drawing/2014/main" id="{B7EF7761-E5BB-FD87-DF86-FE3279A957CC}"/>
              </a:ext>
            </a:extLst>
          </p:cNvPr>
          <p:cNvPicPr>
            <a:picLocks noChangeAspect="1"/>
          </p:cNvPicPr>
          <p:nvPr/>
        </p:nvPicPr>
        <p:blipFill>
          <a:blip r:embed="rId3"/>
          <a:stretch>
            <a:fillRect/>
          </a:stretch>
        </p:blipFill>
        <p:spPr>
          <a:xfrm>
            <a:off x="4086225" y="3331865"/>
            <a:ext cx="3886200" cy="523142"/>
          </a:xfrm>
          <a:prstGeom prst="rect">
            <a:avLst/>
          </a:prstGeom>
        </p:spPr>
      </p:pic>
      <p:sp>
        <p:nvSpPr>
          <p:cNvPr id="25" name="TextBox 24">
            <a:extLst>
              <a:ext uri="{FF2B5EF4-FFF2-40B4-BE49-F238E27FC236}">
                <a16:creationId xmlns:a16="http://schemas.microsoft.com/office/drawing/2014/main" id="{B0D2B1CA-9C71-4D73-CECD-04A185C84120}"/>
              </a:ext>
            </a:extLst>
          </p:cNvPr>
          <p:cNvSpPr txBox="1"/>
          <p:nvPr/>
        </p:nvSpPr>
        <p:spPr>
          <a:xfrm>
            <a:off x="904874" y="4183878"/>
            <a:ext cx="10010773" cy="646331"/>
          </a:xfrm>
          <a:prstGeom prst="rect">
            <a:avLst/>
          </a:prstGeom>
          <a:noFill/>
        </p:spPr>
        <p:txBody>
          <a:bodyPr wrap="square">
            <a:spAutoFit/>
          </a:bodyPr>
          <a:lstStyle/>
          <a:p>
            <a:r>
              <a:rPr lang="en-US" dirty="0"/>
              <a:t>The junction temperature cannot be directly measured in typical calorimetric setups. It is therefore </a:t>
            </a:r>
            <a:r>
              <a:rPr lang="en-US" b="1" dirty="0">
                <a:solidFill>
                  <a:schemeClr val="accent6">
                    <a:lumMod val="75000"/>
                  </a:schemeClr>
                </a:solidFill>
              </a:rPr>
              <a:t>inferred</a:t>
            </a:r>
            <a:r>
              <a:rPr lang="en-US" dirty="0"/>
              <a:t> from the total measured losses </a:t>
            </a:r>
            <a:endParaRPr lang="sv-SE" dirty="0"/>
          </a:p>
        </p:txBody>
      </p:sp>
      <p:pic>
        <p:nvPicPr>
          <p:cNvPr id="27" name="Picture 26">
            <a:extLst>
              <a:ext uri="{FF2B5EF4-FFF2-40B4-BE49-F238E27FC236}">
                <a16:creationId xmlns:a16="http://schemas.microsoft.com/office/drawing/2014/main" id="{379009E4-5448-08BB-93CA-F9F2B50679A3}"/>
              </a:ext>
            </a:extLst>
          </p:cNvPr>
          <p:cNvPicPr>
            <a:picLocks noChangeAspect="1"/>
          </p:cNvPicPr>
          <p:nvPr/>
        </p:nvPicPr>
        <p:blipFill>
          <a:blip r:embed="rId4"/>
          <a:stretch>
            <a:fillRect/>
          </a:stretch>
        </p:blipFill>
        <p:spPr>
          <a:xfrm>
            <a:off x="4841081" y="4750787"/>
            <a:ext cx="2997994" cy="706565"/>
          </a:xfrm>
          <a:prstGeom prst="rect">
            <a:avLst/>
          </a:prstGeom>
        </p:spPr>
      </p:pic>
      <p:sp>
        <p:nvSpPr>
          <p:cNvPr id="29" name="TextBox 28">
            <a:extLst>
              <a:ext uri="{FF2B5EF4-FFF2-40B4-BE49-F238E27FC236}">
                <a16:creationId xmlns:a16="http://schemas.microsoft.com/office/drawing/2014/main" id="{D2701268-A126-DE1D-26AD-8FA0940CE8D1}"/>
              </a:ext>
            </a:extLst>
          </p:cNvPr>
          <p:cNvSpPr txBox="1"/>
          <p:nvPr/>
        </p:nvSpPr>
        <p:spPr>
          <a:xfrm>
            <a:off x="819149" y="5737444"/>
            <a:ext cx="10553701" cy="646331"/>
          </a:xfrm>
          <a:prstGeom prst="rect">
            <a:avLst/>
          </a:prstGeom>
          <a:noFill/>
        </p:spPr>
        <p:txBody>
          <a:bodyPr wrap="square">
            <a:spAutoFit/>
          </a:bodyPr>
          <a:lstStyle/>
          <a:p>
            <a:r>
              <a:rPr lang="en-US" b="1" dirty="0">
                <a:solidFill>
                  <a:schemeClr val="accent6">
                    <a:lumMod val="75000"/>
                  </a:schemeClr>
                </a:solidFill>
              </a:rPr>
              <a:t>The factor κ1 </a:t>
            </a:r>
            <a:r>
              <a:rPr lang="en-US" dirty="0"/>
              <a:t>accounts for the </a:t>
            </a:r>
            <a:r>
              <a:rPr lang="en-US" b="1" dirty="0">
                <a:solidFill>
                  <a:schemeClr val="accent6">
                    <a:lumMod val="75000"/>
                  </a:schemeClr>
                </a:solidFill>
              </a:rPr>
              <a:t>effective thermal resistance network</a:t>
            </a:r>
            <a:r>
              <a:rPr lang="en-US" dirty="0"/>
              <a:t> between the junction and the coolant, comprising spreading effects and sensor placement. </a:t>
            </a:r>
            <a:endParaRPr lang="sv-SE" dirty="0"/>
          </a:p>
        </p:txBody>
      </p:sp>
    </p:spTree>
    <p:extLst>
      <p:ext uri="{BB962C8B-B14F-4D97-AF65-F5344CB8AC3E}">
        <p14:creationId xmlns:p14="http://schemas.microsoft.com/office/powerpoint/2010/main" val="4098875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078E4-5B4D-5EAC-D3B0-50A192F90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57933-5E94-3C27-F222-86F719F9AE3C}"/>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 </a:t>
            </a:r>
            <a:r>
              <a:rPr lang="sv-SE" dirty="0" err="1"/>
              <a:t>Switching</a:t>
            </a:r>
            <a:r>
              <a:rPr lang="sv-SE" dirty="0"/>
              <a:t> Loss</a:t>
            </a:r>
            <a:endParaRPr lang="en-US" dirty="0"/>
          </a:p>
        </p:txBody>
      </p:sp>
      <p:sp>
        <p:nvSpPr>
          <p:cNvPr id="19" name="TextBox 18">
            <a:extLst>
              <a:ext uri="{FF2B5EF4-FFF2-40B4-BE49-F238E27FC236}">
                <a16:creationId xmlns:a16="http://schemas.microsoft.com/office/drawing/2014/main" id="{94DA4678-A3E9-550C-5624-1C8B455645E3}"/>
              </a:ext>
            </a:extLst>
          </p:cNvPr>
          <p:cNvSpPr txBox="1"/>
          <p:nvPr/>
        </p:nvSpPr>
        <p:spPr>
          <a:xfrm>
            <a:off x="819150" y="1120556"/>
            <a:ext cx="9829800" cy="646331"/>
          </a:xfrm>
          <a:prstGeom prst="rect">
            <a:avLst/>
          </a:prstGeom>
          <a:noFill/>
        </p:spPr>
        <p:txBody>
          <a:bodyPr wrap="square">
            <a:spAutoFit/>
          </a:bodyPr>
          <a:lstStyle/>
          <a:p>
            <a:r>
              <a:rPr lang="en-US" dirty="0"/>
              <a:t>The </a:t>
            </a:r>
            <a:r>
              <a:rPr lang="en-US" b="1" dirty="0">
                <a:solidFill>
                  <a:schemeClr val="accent6">
                    <a:lumMod val="75000"/>
                  </a:schemeClr>
                </a:solidFill>
              </a:rPr>
              <a:t>total switching energy </a:t>
            </a:r>
            <a:r>
              <a:rPr lang="en-US" dirty="0"/>
              <a:t>per device is expressed as the sum of the overlap energy and the capacitive energy of the output capacitance</a:t>
            </a:r>
            <a:endParaRPr lang="sv-SE" dirty="0"/>
          </a:p>
        </p:txBody>
      </p:sp>
      <p:sp>
        <p:nvSpPr>
          <p:cNvPr id="21" name="TextBox 20">
            <a:extLst>
              <a:ext uri="{FF2B5EF4-FFF2-40B4-BE49-F238E27FC236}">
                <a16:creationId xmlns:a16="http://schemas.microsoft.com/office/drawing/2014/main" id="{D6530F41-6034-4143-F49B-E68D901B42F6}"/>
              </a:ext>
            </a:extLst>
          </p:cNvPr>
          <p:cNvSpPr txBox="1"/>
          <p:nvPr/>
        </p:nvSpPr>
        <p:spPr>
          <a:xfrm>
            <a:off x="819149" y="2633662"/>
            <a:ext cx="9829799" cy="369332"/>
          </a:xfrm>
          <a:prstGeom prst="rect">
            <a:avLst/>
          </a:prstGeom>
          <a:noFill/>
        </p:spPr>
        <p:txBody>
          <a:bodyPr wrap="square">
            <a:spAutoFit/>
          </a:bodyPr>
          <a:lstStyle/>
          <a:p>
            <a:r>
              <a:rPr lang="en-US" b="1" dirty="0">
                <a:solidFill>
                  <a:schemeClr val="accent6">
                    <a:lumMod val="75000"/>
                  </a:schemeClr>
                </a:solidFill>
              </a:rPr>
              <a:t>The overlap energy </a:t>
            </a:r>
            <a:r>
              <a:rPr lang="en-US" dirty="0"/>
              <a:t>is represented by a low-order polynomial in the RMS current:</a:t>
            </a:r>
            <a:endParaRPr lang="sv-SE" dirty="0"/>
          </a:p>
        </p:txBody>
      </p:sp>
      <p:sp>
        <p:nvSpPr>
          <p:cNvPr id="25" name="TextBox 24">
            <a:extLst>
              <a:ext uri="{FF2B5EF4-FFF2-40B4-BE49-F238E27FC236}">
                <a16:creationId xmlns:a16="http://schemas.microsoft.com/office/drawing/2014/main" id="{0490EFF4-A957-D6E9-8E86-1F24374C05D1}"/>
              </a:ext>
            </a:extLst>
          </p:cNvPr>
          <p:cNvSpPr txBox="1"/>
          <p:nvPr/>
        </p:nvSpPr>
        <p:spPr>
          <a:xfrm>
            <a:off x="895349" y="3832754"/>
            <a:ext cx="10010773" cy="923330"/>
          </a:xfrm>
          <a:prstGeom prst="rect">
            <a:avLst/>
          </a:prstGeom>
          <a:noFill/>
        </p:spPr>
        <p:txBody>
          <a:bodyPr wrap="square">
            <a:spAutoFit/>
          </a:bodyPr>
          <a:lstStyle/>
          <a:p>
            <a:r>
              <a:rPr lang="en-US" dirty="0"/>
              <a:t>where α1 and α2 are </a:t>
            </a:r>
            <a:r>
              <a:rPr lang="en-US" b="1" dirty="0">
                <a:solidFill>
                  <a:schemeClr val="accent6">
                    <a:lumMod val="75000"/>
                  </a:schemeClr>
                </a:solidFill>
              </a:rPr>
              <a:t>empirical coefficients </a:t>
            </a:r>
            <a:r>
              <a:rPr lang="en-US" dirty="0"/>
              <a:t>that account for the gate-drive network, device charge dynamics, and resulting dv/dt and di/dt characteristics. </a:t>
            </a:r>
          </a:p>
          <a:p>
            <a:r>
              <a:rPr lang="en-US" dirty="0"/>
              <a:t>The capacitive energy contribution of </a:t>
            </a:r>
            <a:r>
              <a:rPr lang="en-US" b="1" dirty="0">
                <a:solidFill>
                  <a:schemeClr val="accent6">
                    <a:lumMod val="75000"/>
                  </a:schemeClr>
                </a:solidFill>
              </a:rPr>
              <a:t>Coss</a:t>
            </a:r>
            <a:r>
              <a:rPr lang="en-US" dirty="0"/>
              <a:t> during hard-switching transitions is modeled as </a:t>
            </a:r>
            <a:endParaRPr lang="sv-SE" dirty="0"/>
          </a:p>
        </p:txBody>
      </p:sp>
      <p:pic>
        <p:nvPicPr>
          <p:cNvPr id="4" name="Picture 3">
            <a:extLst>
              <a:ext uri="{FF2B5EF4-FFF2-40B4-BE49-F238E27FC236}">
                <a16:creationId xmlns:a16="http://schemas.microsoft.com/office/drawing/2014/main" id="{2ED0DB82-A4E5-FD74-EA35-123BB9B6922B}"/>
              </a:ext>
            </a:extLst>
          </p:cNvPr>
          <p:cNvPicPr>
            <a:picLocks noChangeAspect="1"/>
          </p:cNvPicPr>
          <p:nvPr/>
        </p:nvPicPr>
        <p:blipFill>
          <a:blip r:embed="rId2"/>
          <a:stretch>
            <a:fillRect/>
          </a:stretch>
        </p:blipFill>
        <p:spPr>
          <a:xfrm>
            <a:off x="3369466" y="1827155"/>
            <a:ext cx="4729163" cy="609512"/>
          </a:xfrm>
          <a:prstGeom prst="rect">
            <a:avLst/>
          </a:prstGeom>
        </p:spPr>
      </p:pic>
      <p:pic>
        <p:nvPicPr>
          <p:cNvPr id="6" name="Picture 5">
            <a:extLst>
              <a:ext uri="{FF2B5EF4-FFF2-40B4-BE49-F238E27FC236}">
                <a16:creationId xmlns:a16="http://schemas.microsoft.com/office/drawing/2014/main" id="{6FBC1D2B-5D67-03B9-364F-5FD411291483}"/>
              </a:ext>
            </a:extLst>
          </p:cNvPr>
          <p:cNvPicPr>
            <a:picLocks noChangeAspect="1"/>
          </p:cNvPicPr>
          <p:nvPr/>
        </p:nvPicPr>
        <p:blipFill>
          <a:blip r:embed="rId3"/>
          <a:stretch>
            <a:fillRect/>
          </a:stretch>
        </p:blipFill>
        <p:spPr>
          <a:xfrm>
            <a:off x="3436141" y="3112268"/>
            <a:ext cx="4574384" cy="617072"/>
          </a:xfrm>
          <a:prstGeom prst="rect">
            <a:avLst/>
          </a:prstGeom>
        </p:spPr>
      </p:pic>
      <p:pic>
        <p:nvPicPr>
          <p:cNvPr id="8" name="Picture 7">
            <a:extLst>
              <a:ext uri="{FF2B5EF4-FFF2-40B4-BE49-F238E27FC236}">
                <a16:creationId xmlns:a16="http://schemas.microsoft.com/office/drawing/2014/main" id="{8814229F-7A26-8EE7-E1C6-132659C410B2}"/>
              </a:ext>
            </a:extLst>
          </p:cNvPr>
          <p:cNvPicPr>
            <a:picLocks noChangeAspect="1"/>
          </p:cNvPicPr>
          <p:nvPr/>
        </p:nvPicPr>
        <p:blipFill>
          <a:blip r:embed="rId4"/>
          <a:stretch>
            <a:fillRect/>
          </a:stretch>
        </p:blipFill>
        <p:spPr>
          <a:xfrm>
            <a:off x="4105274" y="4756084"/>
            <a:ext cx="4324350" cy="857250"/>
          </a:xfrm>
          <a:prstGeom prst="rect">
            <a:avLst/>
          </a:prstGeom>
        </p:spPr>
      </p:pic>
      <p:pic>
        <p:nvPicPr>
          <p:cNvPr id="12" name="Picture 11">
            <a:extLst>
              <a:ext uri="{FF2B5EF4-FFF2-40B4-BE49-F238E27FC236}">
                <a16:creationId xmlns:a16="http://schemas.microsoft.com/office/drawing/2014/main" id="{37E3FDE4-418D-08D5-A6CC-6591C3C73B5D}"/>
              </a:ext>
            </a:extLst>
          </p:cNvPr>
          <p:cNvPicPr>
            <a:picLocks noChangeAspect="1"/>
          </p:cNvPicPr>
          <p:nvPr/>
        </p:nvPicPr>
        <p:blipFill>
          <a:blip r:embed="rId5"/>
          <a:stretch>
            <a:fillRect/>
          </a:stretch>
        </p:blipFill>
        <p:spPr>
          <a:xfrm>
            <a:off x="3076574" y="6057100"/>
            <a:ext cx="6381750" cy="600075"/>
          </a:xfrm>
          <a:prstGeom prst="rect">
            <a:avLst/>
          </a:prstGeom>
        </p:spPr>
      </p:pic>
      <p:sp>
        <p:nvSpPr>
          <p:cNvPr id="14" name="TextBox 13">
            <a:extLst>
              <a:ext uri="{FF2B5EF4-FFF2-40B4-BE49-F238E27FC236}">
                <a16:creationId xmlns:a16="http://schemas.microsoft.com/office/drawing/2014/main" id="{5486DED0-7545-864B-61DF-CFAD7446FB0E}"/>
              </a:ext>
            </a:extLst>
          </p:cNvPr>
          <p:cNvSpPr txBox="1"/>
          <p:nvPr/>
        </p:nvSpPr>
        <p:spPr>
          <a:xfrm>
            <a:off x="952498" y="5552778"/>
            <a:ext cx="6972301" cy="369332"/>
          </a:xfrm>
          <a:prstGeom prst="rect">
            <a:avLst/>
          </a:prstGeom>
          <a:noFill/>
        </p:spPr>
        <p:txBody>
          <a:bodyPr wrap="square">
            <a:spAutoFit/>
          </a:bodyPr>
          <a:lstStyle/>
          <a:p>
            <a:r>
              <a:rPr lang="en-US" b="1" dirty="0">
                <a:solidFill>
                  <a:schemeClr val="accent6">
                    <a:lumMod val="75000"/>
                  </a:schemeClr>
                </a:solidFill>
              </a:rPr>
              <a:t>The average switching power loss </a:t>
            </a:r>
            <a:r>
              <a:rPr lang="en-US" dirty="0"/>
              <a:t>per leg is then given by</a:t>
            </a:r>
            <a:endParaRPr lang="sv-SE" dirty="0"/>
          </a:p>
        </p:txBody>
      </p:sp>
    </p:spTree>
    <p:extLst>
      <p:ext uri="{BB962C8B-B14F-4D97-AF65-F5344CB8AC3E}">
        <p14:creationId xmlns:p14="http://schemas.microsoft.com/office/powerpoint/2010/main" val="656022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BE08-3BE0-E8F0-3E64-39D4079A3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EE4E9-B128-39DF-E130-B023F7626B1A}"/>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 </a:t>
            </a:r>
            <a:r>
              <a:rPr lang="sv-SE" dirty="0" err="1"/>
              <a:t>Calibration</a:t>
            </a:r>
            <a:r>
              <a:rPr lang="sv-SE" dirty="0"/>
              <a:t> </a:t>
            </a:r>
            <a:endParaRPr lang="en-US" dirty="0"/>
          </a:p>
        </p:txBody>
      </p:sp>
      <p:pic>
        <p:nvPicPr>
          <p:cNvPr id="5" name="Picture 4">
            <a:extLst>
              <a:ext uri="{FF2B5EF4-FFF2-40B4-BE49-F238E27FC236}">
                <a16:creationId xmlns:a16="http://schemas.microsoft.com/office/drawing/2014/main" id="{F3320656-949E-417E-1674-7D834A6B2349}"/>
              </a:ext>
            </a:extLst>
          </p:cNvPr>
          <p:cNvPicPr>
            <a:picLocks noChangeAspect="1"/>
          </p:cNvPicPr>
          <p:nvPr/>
        </p:nvPicPr>
        <p:blipFill>
          <a:blip r:embed="rId2"/>
          <a:srcRect t="-1" b="17242"/>
          <a:stretch>
            <a:fillRect/>
          </a:stretch>
        </p:blipFill>
        <p:spPr>
          <a:xfrm>
            <a:off x="2185987" y="1104900"/>
            <a:ext cx="7648575" cy="457200"/>
          </a:xfrm>
          <a:prstGeom prst="rect">
            <a:avLst/>
          </a:prstGeom>
        </p:spPr>
      </p:pic>
      <p:pic>
        <p:nvPicPr>
          <p:cNvPr id="9" name="Picture 8">
            <a:extLst>
              <a:ext uri="{FF2B5EF4-FFF2-40B4-BE49-F238E27FC236}">
                <a16:creationId xmlns:a16="http://schemas.microsoft.com/office/drawing/2014/main" id="{FA1DD3AD-FB28-A091-C620-F845095F4C8B}"/>
              </a:ext>
            </a:extLst>
          </p:cNvPr>
          <p:cNvPicPr>
            <a:picLocks noChangeAspect="1"/>
          </p:cNvPicPr>
          <p:nvPr/>
        </p:nvPicPr>
        <p:blipFill>
          <a:blip r:embed="rId3"/>
          <a:stretch>
            <a:fillRect/>
          </a:stretch>
        </p:blipFill>
        <p:spPr>
          <a:xfrm>
            <a:off x="2974181" y="1875035"/>
            <a:ext cx="5729288" cy="1860662"/>
          </a:xfrm>
          <a:prstGeom prst="rect">
            <a:avLst/>
          </a:prstGeom>
        </p:spPr>
      </p:pic>
      <p:sp>
        <p:nvSpPr>
          <p:cNvPr id="11" name="TextBox 10">
            <a:extLst>
              <a:ext uri="{FF2B5EF4-FFF2-40B4-BE49-F238E27FC236}">
                <a16:creationId xmlns:a16="http://schemas.microsoft.com/office/drawing/2014/main" id="{A3E3C4BE-FA90-6FB4-7A85-69280337D3DE}"/>
              </a:ext>
            </a:extLst>
          </p:cNvPr>
          <p:cNvSpPr txBox="1"/>
          <p:nvPr/>
        </p:nvSpPr>
        <p:spPr>
          <a:xfrm>
            <a:off x="857249" y="3786485"/>
            <a:ext cx="10258425" cy="646331"/>
          </a:xfrm>
          <a:prstGeom prst="rect">
            <a:avLst/>
          </a:prstGeom>
          <a:noFill/>
        </p:spPr>
        <p:txBody>
          <a:bodyPr wrap="square">
            <a:spAutoFit/>
          </a:bodyPr>
          <a:lstStyle/>
          <a:p>
            <a:r>
              <a:rPr lang="en-US" b="1" dirty="0">
                <a:solidFill>
                  <a:schemeClr val="accent6">
                    <a:lumMod val="75000"/>
                  </a:schemeClr>
                </a:solidFill>
              </a:rPr>
              <a:t>Model calibration </a:t>
            </a:r>
            <a:r>
              <a:rPr lang="en-US" dirty="0"/>
              <a:t>is carried out using calorimetric measurements over a grid of operating points </a:t>
            </a:r>
            <a:r>
              <a:rPr lang="en-US" b="1" dirty="0">
                <a:solidFill>
                  <a:schemeClr val="accent6">
                    <a:lumMod val="75000"/>
                  </a:schemeClr>
                </a:solidFill>
              </a:rPr>
              <a:t>(</a:t>
            </a:r>
            <a:r>
              <a:rPr lang="en-US" b="1" dirty="0" err="1">
                <a:solidFill>
                  <a:schemeClr val="accent6">
                    <a:lumMod val="75000"/>
                  </a:schemeClr>
                </a:solidFill>
              </a:rPr>
              <a:t>Iph,RMS</a:t>
            </a:r>
            <a:r>
              <a:rPr lang="en-US" b="1" dirty="0">
                <a:solidFill>
                  <a:schemeClr val="accent6">
                    <a:lumMod val="75000"/>
                  </a:schemeClr>
                </a:solidFill>
              </a:rPr>
              <a:t>, </a:t>
            </a:r>
            <a:r>
              <a:rPr lang="en-US" b="1" dirty="0" err="1">
                <a:solidFill>
                  <a:schemeClr val="accent6">
                    <a:lumMod val="75000"/>
                  </a:schemeClr>
                </a:solidFill>
              </a:rPr>
              <a:t>fsw</a:t>
            </a:r>
            <a:r>
              <a:rPr lang="en-US" b="1" dirty="0">
                <a:solidFill>
                  <a:schemeClr val="accent6">
                    <a:lumMod val="75000"/>
                  </a:schemeClr>
                </a:solidFill>
              </a:rPr>
              <a:t>) </a:t>
            </a:r>
            <a:r>
              <a:rPr lang="en-US" dirty="0"/>
              <a:t>at constant Vdc and flow rate. </a:t>
            </a:r>
            <a:endParaRPr lang="sv-SE" dirty="0"/>
          </a:p>
        </p:txBody>
      </p:sp>
      <p:pic>
        <p:nvPicPr>
          <p:cNvPr id="15" name="Picture 14">
            <a:extLst>
              <a:ext uri="{FF2B5EF4-FFF2-40B4-BE49-F238E27FC236}">
                <a16:creationId xmlns:a16="http://schemas.microsoft.com/office/drawing/2014/main" id="{FA7BD2AA-EDD3-C076-E617-2416B6FE7D49}"/>
              </a:ext>
            </a:extLst>
          </p:cNvPr>
          <p:cNvPicPr>
            <a:picLocks noChangeAspect="1"/>
          </p:cNvPicPr>
          <p:nvPr/>
        </p:nvPicPr>
        <p:blipFill>
          <a:blip r:embed="rId4"/>
          <a:stretch>
            <a:fillRect/>
          </a:stretch>
        </p:blipFill>
        <p:spPr>
          <a:xfrm>
            <a:off x="3574256" y="4791362"/>
            <a:ext cx="5617369" cy="1047463"/>
          </a:xfrm>
          <a:prstGeom prst="rect">
            <a:avLst/>
          </a:prstGeom>
        </p:spPr>
      </p:pic>
    </p:spTree>
    <p:extLst>
      <p:ext uri="{BB962C8B-B14F-4D97-AF65-F5344CB8AC3E}">
        <p14:creationId xmlns:p14="http://schemas.microsoft.com/office/powerpoint/2010/main" val="4129218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7" name="Picture 6">
            <a:extLst>
              <a:ext uri="{FF2B5EF4-FFF2-40B4-BE49-F238E27FC236}">
                <a16:creationId xmlns:a16="http://schemas.microsoft.com/office/drawing/2014/main" id="{F937EB3E-DA6C-5EE9-3BD4-C0B3A5EB90E6}"/>
              </a:ext>
            </a:extLst>
          </p:cNvPr>
          <p:cNvPicPr>
            <a:picLocks noChangeAspect="1"/>
          </p:cNvPicPr>
          <p:nvPr/>
        </p:nvPicPr>
        <p:blipFill>
          <a:blip r:embed="rId2"/>
          <a:stretch>
            <a:fillRect/>
          </a:stretch>
        </p:blipFill>
        <p:spPr>
          <a:xfrm>
            <a:off x="538163" y="1327816"/>
            <a:ext cx="5319712" cy="1681305"/>
          </a:xfrm>
          <a:prstGeom prst="rect">
            <a:avLst/>
          </a:prstGeom>
        </p:spPr>
      </p:pic>
      <p:pic>
        <p:nvPicPr>
          <p:cNvPr id="11" name="Picture 10">
            <a:extLst>
              <a:ext uri="{FF2B5EF4-FFF2-40B4-BE49-F238E27FC236}">
                <a16:creationId xmlns:a16="http://schemas.microsoft.com/office/drawing/2014/main" id="{1DC52F9D-967A-C623-2F84-397B7ADE1B7C}"/>
              </a:ext>
            </a:extLst>
          </p:cNvPr>
          <p:cNvPicPr>
            <a:picLocks noChangeAspect="1"/>
          </p:cNvPicPr>
          <p:nvPr/>
        </p:nvPicPr>
        <p:blipFill>
          <a:blip r:embed="rId3"/>
          <a:stretch>
            <a:fillRect/>
          </a:stretch>
        </p:blipFill>
        <p:spPr>
          <a:xfrm>
            <a:off x="657225" y="3686238"/>
            <a:ext cx="5514975" cy="2331283"/>
          </a:xfrm>
          <a:prstGeom prst="rect">
            <a:avLst/>
          </a:prstGeom>
        </p:spPr>
      </p:pic>
      <p:pic>
        <p:nvPicPr>
          <p:cNvPr id="13" name="Picture 12">
            <a:extLst>
              <a:ext uri="{FF2B5EF4-FFF2-40B4-BE49-F238E27FC236}">
                <a16:creationId xmlns:a16="http://schemas.microsoft.com/office/drawing/2014/main" id="{1C82738A-86E5-9F5F-1E58-005E314457F7}"/>
              </a:ext>
            </a:extLst>
          </p:cNvPr>
          <p:cNvPicPr>
            <a:picLocks noChangeAspect="1"/>
          </p:cNvPicPr>
          <p:nvPr/>
        </p:nvPicPr>
        <p:blipFill>
          <a:blip r:embed="rId4"/>
          <a:stretch>
            <a:fillRect/>
          </a:stretch>
        </p:blipFill>
        <p:spPr>
          <a:xfrm>
            <a:off x="5934075" y="2307495"/>
            <a:ext cx="5956425" cy="2474118"/>
          </a:xfrm>
          <a:prstGeom prst="rect">
            <a:avLst/>
          </a:prstGeom>
        </p:spPr>
      </p:pic>
    </p:spTree>
    <p:extLst>
      <p:ext uri="{BB962C8B-B14F-4D97-AF65-F5344CB8AC3E}">
        <p14:creationId xmlns:p14="http://schemas.microsoft.com/office/powerpoint/2010/main" val="1504222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41F13-C8ED-BA94-6428-5936A4855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0011C-521D-469E-2A16-5E4D64E5C91C}"/>
              </a:ext>
            </a:extLst>
          </p:cNvPr>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5" name="Picture 4">
            <a:extLst>
              <a:ext uri="{FF2B5EF4-FFF2-40B4-BE49-F238E27FC236}">
                <a16:creationId xmlns:a16="http://schemas.microsoft.com/office/drawing/2014/main" id="{5C966105-E264-7EF8-7478-7612CED5675E}"/>
              </a:ext>
            </a:extLst>
          </p:cNvPr>
          <p:cNvPicPr>
            <a:picLocks noChangeAspect="1"/>
          </p:cNvPicPr>
          <p:nvPr/>
        </p:nvPicPr>
        <p:blipFill>
          <a:blip r:embed="rId2"/>
          <a:stretch>
            <a:fillRect/>
          </a:stretch>
        </p:blipFill>
        <p:spPr>
          <a:xfrm>
            <a:off x="614409" y="1259007"/>
            <a:ext cx="4881516" cy="1676399"/>
          </a:xfrm>
          <a:prstGeom prst="rect">
            <a:avLst/>
          </a:prstGeom>
        </p:spPr>
      </p:pic>
      <p:pic>
        <p:nvPicPr>
          <p:cNvPr id="7" name="Picture 6">
            <a:extLst>
              <a:ext uri="{FF2B5EF4-FFF2-40B4-BE49-F238E27FC236}">
                <a16:creationId xmlns:a16="http://schemas.microsoft.com/office/drawing/2014/main" id="{F4E91260-74BD-40BA-758D-0D513C990D53}"/>
              </a:ext>
            </a:extLst>
          </p:cNvPr>
          <p:cNvPicPr>
            <a:picLocks noChangeAspect="1"/>
          </p:cNvPicPr>
          <p:nvPr/>
        </p:nvPicPr>
        <p:blipFill>
          <a:blip r:embed="rId3"/>
          <a:stretch>
            <a:fillRect/>
          </a:stretch>
        </p:blipFill>
        <p:spPr>
          <a:xfrm>
            <a:off x="357187" y="3103942"/>
            <a:ext cx="6024563" cy="3496883"/>
          </a:xfrm>
          <a:prstGeom prst="rect">
            <a:avLst/>
          </a:prstGeom>
        </p:spPr>
      </p:pic>
      <p:pic>
        <p:nvPicPr>
          <p:cNvPr id="11" name="Picture 10">
            <a:extLst>
              <a:ext uri="{FF2B5EF4-FFF2-40B4-BE49-F238E27FC236}">
                <a16:creationId xmlns:a16="http://schemas.microsoft.com/office/drawing/2014/main" id="{701E709B-C1B1-DF4A-0FF9-8D7610B99E87}"/>
              </a:ext>
            </a:extLst>
          </p:cNvPr>
          <p:cNvPicPr>
            <a:picLocks noChangeAspect="1"/>
          </p:cNvPicPr>
          <p:nvPr/>
        </p:nvPicPr>
        <p:blipFill>
          <a:blip r:embed="rId4"/>
          <a:stretch>
            <a:fillRect/>
          </a:stretch>
        </p:blipFill>
        <p:spPr>
          <a:xfrm>
            <a:off x="6143809" y="1911654"/>
            <a:ext cx="5691004" cy="3496882"/>
          </a:xfrm>
          <a:prstGeom prst="rect">
            <a:avLst/>
          </a:prstGeom>
        </p:spPr>
      </p:pic>
    </p:spTree>
    <p:extLst>
      <p:ext uri="{BB962C8B-B14F-4D97-AF65-F5344CB8AC3E}">
        <p14:creationId xmlns:p14="http://schemas.microsoft.com/office/powerpoint/2010/main" val="1280622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a:t>
            </a:r>
            <a:r>
              <a:rPr lang="sv-SE" dirty="0" err="1"/>
              <a:t>Effiency</a:t>
            </a:r>
            <a:r>
              <a:rPr lang="sv-SE" dirty="0"/>
              <a:t> and </a:t>
            </a:r>
            <a:r>
              <a:rPr lang="sv-SE" dirty="0" err="1"/>
              <a:t>Paremeters</a:t>
            </a:r>
            <a:endParaRPr lang="en-US" dirty="0"/>
          </a:p>
        </p:txBody>
      </p:sp>
      <p:pic>
        <p:nvPicPr>
          <p:cNvPr id="4" name="Picture 3"/>
          <p:cNvPicPr>
            <a:picLocks noChangeAspect="1"/>
          </p:cNvPicPr>
          <p:nvPr/>
        </p:nvPicPr>
        <p:blipFill>
          <a:blip r:embed="rId2"/>
          <a:stretch>
            <a:fillRect/>
          </a:stretch>
        </p:blipFill>
        <p:spPr>
          <a:xfrm>
            <a:off x="498347" y="1077988"/>
            <a:ext cx="5286375" cy="24193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5132" y="1211824"/>
            <a:ext cx="5483459" cy="2800064"/>
          </a:xfrm>
          <a:prstGeom prst="rect">
            <a:avLst/>
          </a:prstGeom>
        </p:spPr>
      </p:pic>
      <p:pic>
        <p:nvPicPr>
          <p:cNvPr id="6" name="Picture 5"/>
          <p:cNvPicPr>
            <a:picLocks noChangeAspect="1"/>
          </p:cNvPicPr>
          <p:nvPr/>
        </p:nvPicPr>
        <p:blipFill>
          <a:blip r:embed="rId4"/>
          <a:stretch>
            <a:fillRect/>
          </a:stretch>
        </p:blipFill>
        <p:spPr>
          <a:xfrm>
            <a:off x="6631780" y="3978528"/>
            <a:ext cx="4976813" cy="539597"/>
          </a:xfrm>
          <a:prstGeom prst="rect">
            <a:avLst/>
          </a:prstGeom>
        </p:spPr>
      </p:pic>
      <p:sp>
        <p:nvSpPr>
          <p:cNvPr id="12" name="Rectangle 11"/>
          <p:cNvSpPr/>
          <p:nvPr/>
        </p:nvSpPr>
        <p:spPr>
          <a:xfrm>
            <a:off x="341572" y="3858230"/>
            <a:ext cx="5393644" cy="2585323"/>
          </a:xfrm>
          <a:prstGeom prst="rect">
            <a:avLst/>
          </a:prstGeom>
        </p:spPr>
        <p:txBody>
          <a:bodyPr wrap="square">
            <a:spAutoFit/>
          </a:bodyPr>
          <a:lstStyle/>
          <a:p>
            <a:pPr marL="285750" indent="-285750">
              <a:buFont typeface="Arial" panose="020B0604020202020204" pitchFamily="34" charset="0"/>
              <a:buChar char="•"/>
            </a:pPr>
            <a:r>
              <a:rPr lang="en-US" dirty="0"/>
              <a:t>Equivalent output capacitance matches datasheet-based output energy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Switching-loss parameters show good agreement with the analytical model (8%–20% deviation)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Total loss estimation agrees with experiments (error &lt; 10%)</a:t>
            </a:r>
            <a:endParaRPr lang="sv-SE" dirty="0"/>
          </a:p>
        </p:txBody>
      </p:sp>
      <p:pic>
        <p:nvPicPr>
          <p:cNvPr id="3" name="Picture 2"/>
          <p:cNvPicPr>
            <a:picLocks noChangeAspect="1"/>
          </p:cNvPicPr>
          <p:nvPr/>
        </p:nvPicPr>
        <p:blipFill>
          <a:blip r:embed="rId5"/>
          <a:stretch>
            <a:fillRect/>
          </a:stretch>
        </p:blipFill>
        <p:spPr>
          <a:xfrm>
            <a:off x="6468967" y="4808904"/>
            <a:ext cx="4908159" cy="1634649"/>
          </a:xfrm>
          <a:prstGeom prst="rect">
            <a:avLst/>
          </a:prstGeom>
        </p:spPr>
      </p:pic>
    </p:spTree>
    <p:extLst>
      <p:ext uri="{BB962C8B-B14F-4D97-AF65-F5344CB8AC3E}">
        <p14:creationId xmlns:p14="http://schemas.microsoft.com/office/powerpoint/2010/main" val="2441367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Conclusion</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26</a:t>
            </a:fld>
            <a:endParaRPr lang="sv-SE"/>
          </a:p>
        </p:txBody>
      </p:sp>
      <p:sp>
        <p:nvSpPr>
          <p:cNvPr id="3" name="Rectangle 2"/>
          <p:cNvSpPr/>
          <p:nvPr/>
        </p:nvSpPr>
        <p:spPr>
          <a:xfrm>
            <a:off x="619125" y="1017776"/>
            <a:ext cx="10363200" cy="5078313"/>
          </a:xfrm>
          <a:prstGeom prst="rect">
            <a:avLst/>
          </a:prstGeom>
        </p:spPr>
        <p:txBody>
          <a:bodyPr wrap="square">
            <a:spAutoFit/>
          </a:bodyPr>
          <a:lstStyle/>
          <a:p>
            <a:pPr marL="285750" indent="-285750" algn="just">
              <a:buFont typeface="Arial" panose="020B0604020202020204" pitchFamily="34" charset="0"/>
              <a:buChar char="•"/>
            </a:pPr>
            <a:r>
              <a:rPr lang="en-US" b="1" dirty="0">
                <a:solidFill>
                  <a:schemeClr val="accent6">
                    <a:lumMod val="75000"/>
                  </a:schemeClr>
                </a:solidFill>
              </a:rPr>
              <a:t>1200 V is not merely a voltage increase</a:t>
            </a:r>
            <a:r>
              <a:rPr lang="en-US" dirty="0"/>
              <a:t>; it fundamentally reshapes the </a:t>
            </a:r>
            <a:r>
              <a:rPr lang="en-US" b="1" dirty="0">
                <a:solidFill>
                  <a:schemeClr val="accent6">
                    <a:lumMod val="75000"/>
                  </a:schemeClr>
                </a:solidFill>
              </a:rPr>
              <a:t>entire powertrain architecture</a:t>
            </a:r>
            <a:r>
              <a:rPr lang="en-US" dirty="0"/>
              <a:t>, rather than optimizing individual subsystems.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charging level</a:t>
            </a:r>
            <a:r>
              <a:rPr lang="en-US" dirty="0">
                <a:solidFill>
                  <a:schemeClr val="accent6">
                    <a:lumMod val="75000"/>
                  </a:schemeClr>
                </a:solidFill>
              </a:rPr>
              <a:t>, </a:t>
            </a:r>
            <a:r>
              <a:rPr lang="en-US" dirty="0"/>
              <a:t>higher DC-link voltage enables </a:t>
            </a:r>
            <a:r>
              <a:rPr lang="en-US" b="1" dirty="0">
                <a:solidFill>
                  <a:schemeClr val="accent6">
                    <a:lumMod val="75000"/>
                  </a:schemeClr>
                </a:solidFill>
              </a:rPr>
              <a:t>megawatt-class fast charging </a:t>
            </a:r>
            <a:r>
              <a:rPr lang="en-US" dirty="0"/>
              <a:t>with substantially reduced current, lower cable losses, and significant reductions in cable mass, making compliance with MCS and long-haul operational constraints feasible.</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inverter level</a:t>
            </a:r>
            <a:r>
              <a:rPr lang="en-US" dirty="0">
                <a:solidFill>
                  <a:schemeClr val="accent6">
                    <a:lumMod val="75000"/>
                  </a:schemeClr>
                </a:solidFill>
              </a:rPr>
              <a:t>, </a:t>
            </a:r>
            <a:r>
              <a:rPr lang="en-US" dirty="0"/>
              <a:t>higher voltage operation reduces current stress and DC-link capacitor requirements.  When semiconductor die area and switching frequency are properly optimized, </a:t>
            </a:r>
            <a:r>
              <a:rPr lang="en-US" b="1" dirty="0">
                <a:solidFill>
                  <a:schemeClr val="accent6">
                    <a:lumMod val="75000"/>
                  </a:schemeClr>
                </a:solidFill>
              </a:rPr>
              <a:t>comparable efficiencies to 800 V systems are achieved</a:t>
            </a:r>
            <a:r>
              <a:rPr lang="en-US" dirty="0"/>
              <a:t>, while enabling </a:t>
            </a:r>
            <a:r>
              <a:rPr lang="en-US" b="1" dirty="0">
                <a:solidFill>
                  <a:schemeClr val="accent6">
                    <a:lumMod val="75000"/>
                  </a:schemeClr>
                </a:solidFill>
              </a:rPr>
              <a:t>higher power density</a:t>
            </a:r>
            <a:r>
              <a:rPr lang="en-US" dirty="0">
                <a:solidFill>
                  <a:schemeClr val="accent6">
                    <a:lumMod val="75000"/>
                  </a:schemeClr>
                </a:solidFill>
              </a:rPr>
              <a:t>.</a:t>
            </a:r>
          </a:p>
          <a:p>
            <a:pPr algn="just"/>
            <a:endParaRPr lang="en-US" dirty="0"/>
          </a:p>
          <a:p>
            <a:pPr marL="285750" indent="-285750" algn="just">
              <a:buFont typeface="Arial" panose="020B0604020202020204" pitchFamily="34" charset="0"/>
              <a:buChar char="•"/>
            </a:pPr>
            <a:r>
              <a:rPr lang="en-US" b="1" dirty="0">
                <a:solidFill>
                  <a:schemeClr val="accent6">
                    <a:lumMod val="75000"/>
                  </a:schemeClr>
                </a:solidFill>
              </a:rPr>
              <a:t>At the system level</a:t>
            </a:r>
            <a:r>
              <a:rPr lang="en-US" dirty="0"/>
              <a:t>, a holistic optimization, jointly considering inverter losses, motor harmonic losses, and switching frequency, reveals optimal operating regions that cannot be identified using inverter-only or motor-only design approaches.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This work provides experimentally validated design guidance</a:t>
            </a:r>
            <a:r>
              <a:rPr lang="en-US" dirty="0">
                <a:solidFill>
                  <a:schemeClr val="accent6">
                    <a:lumMod val="75000"/>
                  </a:schemeClr>
                </a:solidFill>
              </a:rPr>
              <a:t> </a:t>
            </a:r>
            <a:r>
              <a:rPr lang="en-US" dirty="0"/>
              <a:t>for next-generation heavy-duty electric vehicles, bridging analytical modeling and high-power laboratory validation, and establishing a practical framework for future high-voltage powertrain development.</a:t>
            </a:r>
          </a:p>
        </p:txBody>
      </p:sp>
    </p:spTree>
    <p:extLst>
      <p:ext uri="{BB962C8B-B14F-4D97-AF65-F5344CB8AC3E}">
        <p14:creationId xmlns:p14="http://schemas.microsoft.com/office/powerpoint/2010/main" val="2081473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Limitations </a:t>
            </a:r>
            <a:r>
              <a:rPr lang="sv-SE" dirty="0"/>
              <a:t>&amp; </a:t>
            </a:r>
            <a:r>
              <a:rPr lang="sv-SE" dirty="0" err="1"/>
              <a:t>Future</a:t>
            </a:r>
            <a:r>
              <a:rPr lang="sv-SE" dirty="0"/>
              <a:t> </a:t>
            </a:r>
            <a:r>
              <a:rPr lang="sv-SE" dirty="0" err="1"/>
              <a:t>Work</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27</a:t>
            </a:fld>
            <a:endParaRPr lang="sv-SE"/>
          </a:p>
        </p:txBody>
      </p:sp>
      <p:sp>
        <p:nvSpPr>
          <p:cNvPr id="3" name="Rectangle 2"/>
          <p:cNvSpPr/>
          <p:nvPr/>
        </p:nvSpPr>
        <p:spPr>
          <a:xfrm>
            <a:off x="717550" y="1540718"/>
            <a:ext cx="4587875" cy="3139321"/>
          </a:xfrm>
          <a:prstGeom prst="rect">
            <a:avLst/>
          </a:prstGeom>
        </p:spPr>
        <p:txBody>
          <a:bodyPr wrap="square">
            <a:spAutoFit/>
          </a:bodyPr>
          <a:lstStyle/>
          <a:p>
            <a:r>
              <a:rPr lang="en-US" b="1" dirty="0">
                <a:solidFill>
                  <a:schemeClr val="accent6">
                    <a:lumMod val="75000"/>
                  </a:schemeClr>
                </a:solidFill>
              </a:rPr>
              <a:t>Limitations</a:t>
            </a:r>
          </a:p>
          <a:p>
            <a:endParaRPr lang="en-US" b="1" dirty="0">
              <a:solidFill>
                <a:schemeClr val="accent6">
                  <a:lumMod val="75000"/>
                </a:schemeClr>
              </a:solidFill>
            </a:endParaRPr>
          </a:p>
          <a:p>
            <a:pPr marL="285750" indent="-285750">
              <a:buFont typeface="Arial" panose="020B0604020202020204" pitchFamily="34" charset="0"/>
              <a:buChar char="•"/>
            </a:pPr>
            <a:r>
              <a:rPr lang="en-US" dirty="0"/>
              <a:t>Single topology (2-level)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rated operating point , no drive-cycle weighting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 lifetime/aging modeling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Limited CMV/motor harmonic loss experimental validation</a:t>
            </a:r>
          </a:p>
        </p:txBody>
      </p:sp>
      <p:sp>
        <p:nvSpPr>
          <p:cNvPr id="5" name="Rectangle 4"/>
          <p:cNvSpPr/>
          <p:nvPr/>
        </p:nvSpPr>
        <p:spPr>
          <a:xfrm>
            <a:off x="6535152" y="1540718"/>
            <a:ext cx="4951997" cy="3139321"/>
          </a:xfrm>
          <a:prstGeom prst="rect">
            <a:avLst/>
          </a:prstGeom>
        </p:spPr>
        <p:txBody>
          <a:bodyPr wrap="square">
            <a:spAutoFit/>
          </a:bodyPr>
          <a:lstStyle/>
          <a:p>
            <a:r>
              <a:rPr lang="en-US" b="1" dirty="0">
                <a:solidFill>
                  <a:schemeClr val="accent6">
                    <a:lumMod val="75000"/>
                  </a:schemeClr>
                </a:solidFill>
              </a:rPr>
              <a:t>Future work can be</a:t>
            </a:r>
          </a:p>
          <a:p>
            <a:endParaRPr lang="en-US" b="1" dirty="0">
              <a:solidFill>
                <a:schemeClr val="accent6">
                  <a:lumMod val="75000"/>
                </a:schemeClr>
              </a:solidFill>
            </a:endParaRPr>
          </a:p>
          <a:p>
            <a:pPr marL="285750" indent="-285750">
              <a:buFont typeface="Arial" panose="020B0604020202020204" pitchFamily="34" charset="0"/>
              <a:buChar char="•"/>
            </a:pPr>
            <a:r>
              <a:rPr lang="en-US" dirty="0"/>
              <a:t>3-level topologies (NPC / T-type)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Drive-cycle-based 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Reliability &amp; lifetime (</a:t>
            </a:r>
            <a:r>
              <a:rPr lang="en-US" dirty="0" err="1"/>
              <a:t>SiC</a:t>
            </a:r>
            <a:r>
              <a:rPr lang="en-US" dirty="0"/>
              <a:t> + capacitors)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CO₂ &amp; life-cycle cost 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EMI / CMV experimental campaigns</a:t>
            </a:r>
          </a:p>
        </p:txBody>
      </p:sp>
    </p:spTree>
    <p:extLst>
      <p:ext uri="{BB962C8B-B14F-4D97-AF65-F5344CB8AC3E}">
        <p14:creationId xmlns:p14="http://schemas.microsoft.com/office/powerpoint/2010/main" val="644377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a:t>Thank you !!! </a:t>
            </a:r>
            <a:endParaRPr lang="sv-SE" dirty="0"/>
          </a:p>
        </p:txBody>
      </p:sp>
      <p:sp>
        <p:nvSpPr>
          <p:cNvPr id="2" name="Rectangle 1"/>
          <p:cNvSpPr/>
          <p:nvPr/>
        </p:nvSpPr>
        <p:spPr>
          <a:xfrm>
            <a:off x="1150491" y="5082003"/>
            <a:ext cx="9889423" cy="1200329"/>
          </a:xfrm>
          <a:prstGeom prst="rect">
            <a:avLst/>
          </a:prstGeom>
        </p:spPr>
        <p:txBody>
          <a:bodyPr wrap="square">
            <a:spAutoFit/>
          </a:bodyPr>
          <a:lstStyle/>
          <a:p>
            <a:pPr algn="just"/>
            <a:r>
              <a:rPr lang="en-US" dirty="0">
                <a:solidFill>
                  <a:schemeClr val="bg1"/>
                </a:solidFill>
                <a:latin typeface="NimbusRomNo9L-Regu"/>
              </a:rPr>
              <a:t>Research leading to these results has received funding from the EU </a:t>
            </a:r>
            <a:r>
              <a:rPr lang="en-US" dirty="0" err="1">
                <a:solidFill>
                  <a:schemeClr val="bg1"/>
                </a:solidFill>
                <a:latin typeface="NimbusRomNo9L-Regu"/>
              </a:rPr>
              <a:t>CHIPSJoint</a:t>
            </a:r>
            <a:r>
              <a:rPr lang="en-US" dirty="0">
                <a:solidFill>
                  <a:schemeClr val="bg1"/>
                </a:solidFill>
                <a:latin typeface="NimbusRomNo9L-Regu"/>
              </a:rPr>
              <a:t> Undertaking under grant agreement </a:t>
            </a:r>
            <a:r>
              <a:rPr lang="en-US" dirty="0">
                <a:solidFill>
                  <a:schemeClr val="bg1"/>
                </a:solidFill>
                <a:latin typeface="CMMI8"/>
              </a:rPr>
              <a:t>n</a:t>
            </a:r>
            <a:r>
              <a:rPr lang="en-US" sz="800" dirty="0">
                <a:solidFill>
                  <a:schemeClr val="bg1"/>
                </a:solidFill>
                <a:latin typeface="CMMI6"/>
              </a:rPr>
              <a:t>o </a:t>
            </a:r>
            <a:r>
              <a:rPr lang="en-US" dirty="0">
                <a:solidFill>
                  <a:schemeClr val="bg1"/>
                </a:solidFill>
                <a:latin typeface="NimbusRomNo9L-Regu"/>
              </a:rPr>
              <a:t>101007326 (project </a:t>
            </a:r>
            <a:r>
              <a:rPr lang="en-US" dirty="0" err="1">
                <a:solidFill>
                  <a:schemeClr val="bg1"/>
                </a:solidFill>
                <a:latin typeface="NimbusRomNo9L-Regu"/>
              </a:rPr>
              <a:t>PowerizeD</a:t>
            </a:r>
            <a:r>
              <a:rPr lang="en-US" dirty="0">
                <a:solidFill>
                  <a:schemeClr val="bg1"/>
                </a:solidFill>
                <a:latin typeface="NimbusRomNo9L-Regu"/>
              </a:rPr>
              <a:t>) and from the (Swedish) partner national funding authority </a:t>
            </a:r>
            <a:r>
              <a:rPr lang="en-US" dirty="0" err="1">
                <a:solidFill>
                  <a:schemeClr val="bg1"/>
                </a:solidFill>
                <a:latin typeface="NimbusRomNo9L-Regu"/>
              </a:rPr>
              <a:t>Vinnova</a:t>
            </a:r>
            <a:r>
              <a:rPr lang="en-US" dirty="0">
                <a:solidFill>
                  <a:schemeClr val="bg1"/>
                </a:solidFill>
                <a:latin typeface="NimbusRomNo9L-Regu"/>
              </a:rPr>
              <a:t>. Funding for this research has also been received from the Swedish Energy Agency </a:t>
            </a:r>
            <a:r>
              <a:rPr lang="sv-SE" dirty="0" err="1">
                <a:solidFill>
                  <a:schemeClr val="bg1"/>
                </a:solidFill>
                <a:latin typeface="NimbusRomNo9L-Regu"/>
              </a:rPr>
              <a:t>through</a:t>
            </a:r>
            <a:r>
              <a:rPr lang="sv-SE" dirty="0">
                <a:solidFill>
                  <a:schemeClr val="bg1"/>
                </a:solidFill>
                <a:latin typeface="NimbusRomNo9L-Regu"/>
              </a:rPr>
              <a:t> the HEMIZERO </a:t>
            </a:r>
            <a:r>
              <a:rPr lang="sv-SE" dirty="0" err="1">
                <a:solidFill>
                  <a:schemeClr val="bg1"/>
                </a:solidFill>
                <a:latin typeface="NimbusRomNo9L-Regu"/>
              </a:rPr>
              <a:t>project</a:t>
            </a:r>
            <a:r>
              <a:rPr lang="sv-SE" dirty="0">
                <a:solidFill>
                  <a:schemeClr val="bg1"/>
                </a:solidFill>
                <a:latin typeface="NimbusRomNo9L-Regu"/>
              </a:rPr>
              <a:t>.</a:t>
            </a:r>
            <a:endParaRPr lang="sv-SE" dirty="0">
              <a:solidFill>
                <a:schemeClr val="bg1"/>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pPr/>
              <a:t>28</a:t>
            </a:fld>
            <a:endParaRPr lang="sv-SE"/>
          </a:p>
        </p:txBody>
      </p:sp>
    </p:spTree>
    <p:extLst>
      <p:ext uri="{BB962C8B-B14F-4D97-AF65-F5344CB8AC3E}">
        <p14:creationId xmlns:p14="http://schemas.microsoft.com/office/powerpoint/2010/main" val="933827680"/>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8955</TotalTime>
  <Words>1550</Words>
  <Application>Microsoft Office PowerPoint</Application>
  <PresentationFormat>Widescreen</PresentationFormat>
  <Paragraphs>221</Paragraphs>
  <Slides>28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CMR7</vt:lpstr>
      <vt:lpstr>CMMI7</vt:lpstr>
      <vt:lpstr>CMMI10</vt:lpstr>
      <vt:lpstr>CMMI8</vt:lpstr>
      <vt:lpstr>Calibri</vt:lpstr>
      <vt:lpstr>Figtree</vt:lpstr>
      <vt:lpstr>NimbusRomNo9L-Regu</vt:lpstr>
      <vt:lpstr>CMMI6</vt:lpstr>
      <vt:lpstr>Office-tema</vt:lpstr>
      <vt:lpstr>Holistic Design Approach on DC-Link Voltage Scaling to 1.2 kV for Heavy-DutyEVs </vt:lpstr>
      <vt:lpstr>Introduction</vt:lpstr>
      <vt:lpstr>Research Motivation &amp; Problem Statement</vt:lpstr>
      <vt:lpstr>System Overview &amp; Methodology</vt:lpstr>
      <vt:lpstr>Battery &amp; Fast-Charging Analysis</vt:lpstr>
      <vt:lpstr>Battery &amp; Fast-Charging Analysis</vt:lpstr>
      <vt:lpstr>Traction Inverter Benchmark</vt:lpstr>
      <vt:lpstr>Traction Inverter Loss Calculation</vt:lpstr>
      <vt:lpstr>Traction Inverter Loss Calculation</vt:lpstr>
      <vt:lpstr>Cooling System &amp; DC-Link Capacitance</vt:lpstr>
      <vt:lpstr>Loss Analyses: Switching Frequency &amp; Die Area</vt:lpstr>
      <vt:lpstr>PowerPoint Presentation</vt:lpstr>
      <vt:lpstr>Traction Inverter: Loss &amp; Power Density Trade-Offs </vt:lpstr>
      <vt:lpstr>Traction Motor Loss Analyses</vt:lpstr>
      <vt:lpstr>Traction Motor Loss Analyses</vt:lpstr>
      <vt:lpstr>Common-Mode Voltage &amp; Bearing Stress </vt:lpstr>
      <vt:lpstr>Holistic Optimization: Switching Frequency</vt:lpstr>
      <vt:lpstr>Experimental Validation: B2B Setup </vt:lpstr>
      <vt:lpstr>Experimental Validation : Loss Seperation </vt:lpstr>
      <vt:lpstr>Loss Seperation: Conduction Loss</vt:lpstr>
      <vt:lpstr>Loss Seperation : Switching Loss</vt:lpstr>
      <vt:lpstr>Loss Seperation : Calibration </vt:lpstr>
      <vt:lpstr>Experimental Validation : Loss Seperation </vt:lpstr>
      <vt:lpstr>Experimental Validation : Loss Seperation </vt:lpstr>
      <vt:lpstr>Experimental Validation: Effiency and Paremeters</vt:lpstr>
      <vt:lpstr>Conclusion</vt:lpstr>
      <vt:lpstr>Limitations &amp; Future Work</vt:lpstr>
      <vt:lpstr>Thank you !!!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191</cp:revision>
  <dcterms:created xsi:type="dcterms:W3CDTF">2024-11-29T08:44:28Z</dcterms:created>
  <dcterms:modified xsi:type="dcterms:W3CDTF">2026-09-15T08:39:31Z</dcterms:modified>
</cp:coreProperties>
</file>