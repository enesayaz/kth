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256" r:id="rId2"/>
    <p:sldId id="293" r:id="rId3"/>
    <p:sldId id="294" r:id="rId4"/>
    <p:sldId id="295" r:id="rId5"/>
    <p:sldId id="297" r:id="rId6"/>
    <p:sldId id="296" r:id="rId7"/>
    <p:sldId id="301" r:id="rId8"/>
    <p:sldId id="283" r:id="rId9"/>
    <p:sldId id="298" r:id="rId10"/>
    <p:sldId id="299" r:id="rId11"/>
    <p:sldId id="300" r:id="rId12"/>
  </p:sldIdLst>
  <p:sldSz cx="12192000" cy="6858000"/>
  <p:notesSz cx="6858000" cy="9144000"/>
  <p:embeddedFontLst>
    <p:embeddedFont>
      <p:font typeface="Cambria Math" panose="02040503050406030204" pitchFamily="18" charset="0"/>
      <p:regular r:id="rId14"/>
    </p:embeddedFont>
    <p:embeddedFont>
      <p:font typeface="Figtree" panose="020B0604020202020204" charset="0"/>
      <p:regular r:id="rId15"/>
      <p:bold r:id="rId16"/>
      <p:italic r:id="rId17"/>
      <p:boldItalic r:id="rId1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varScale="1">
        <p:scale>
          <a:sx n="149" d="100"/>
          <a:sy n="149" d="100"/>
        </p:scale>
        <p:origin x="88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2026-09-14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2026-09-14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2026-09-14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2026-09-14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2026-09-14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a:t>Stacked Poly</a:t>
            </a:r>
            <a:r>
              <a:rPr lang="sv-SE" dirty="0"/>
              <a:t>-</a:t>
            </a:r>
            <a:r>
              <a:rPr lang="en-US" dirty="0"/>
              <a:t>Phase Bridge</a:t>
            </a:r>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en-US" dirty="0"/>
              <a:t>Enes Ayaz</a:t>
            </a:r>
            <a:endParaRPr lang="sv-SE" dirty="0"/>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CD2A2-3431-021B-D853-AAFEFABC8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6F659-11D6-C0DA-C50D-5AABBB27FBEE}"/>
              </a:ext>
            </a:extLst>
          </p:cNvPr>
          <p:cNvSpPr>
            <a:spLocks noGrp="1"/>
          </p:cNvSpPr>
          <p:nvPr>
            <p:ph type="title"/>
          </p:nvPr>
        </p:nvSpPr>
        <p:spPr>
          <a:xfrm>
            <a:off x="1009317" y="286175"/>
            <a:ext cx="10990263" cy="568412"/>
          </a:xfrm>
        </p:spPr>
        <p:txBody>
          <a:bodyPr/>
          <a:lstStyle/>
          <a:p>
            <a:r>
              <a:rPr lang="en-US" dirty="0"/>
              <a:t>Why raise the traction DC-link voltage?</a:t>
            </a:r>
            <a:br>
              <a:rPr lang="en-US" dirty="0"/>
            </a:br>
            <a:endParaRPr lang="sv-SE" dirty="0"/>
          </a:p>
        </p:txBody>
      </p:sp>
      <p:pic>
        <p:nvPicPr>
          <p:cNvPr id="3" name="Picture 2">
            <a:extLst>
              <a:ext uri="{FF2B5EF4-FFF2-40B4-BE49-F238E27FC236}">
                <a16:creationId xmlns:a16="http://schemas.microsoft.com/office/drawing/2014/main" id="{CAF01D9A-7F0D-2E19-170E-2449CBA15185}"/>
              </a:ext>
            </a:extLst>
          </p:cNvPr>
          <p:cNvPicPr>
            <a:picLocks noChangeAspect="1"/>
          </p:cNvPicPr>
          <p:nvPr/>
        </p:nvPicPr>
        <p:blipFill>
          <a:blip r:embed="rId2"/>
          <a:stretch/>
        </p:blipFill>
        <p:spPr>
          <a:xfrm>
            <a:off x="350647" y="1482199"/>
            <a:ext cx="5381625" cy="4041565"/>
          </a:xfrm>
          <a:prstGeom prst="rect">
            <a:avLst/>
          </a:prstGeom>
        </p:spPr>
      </p:pic>
      <p:sp>
        <p:nvSpPr>
          <p:cNvPr id="4" name="Rectangle: Rounded Corners 3">
            <a:extLst>
              <a:ext uri="{FF2B5EF4-FFF2-40B4-BE49-F238E27FC236}">
                <a16:creationId xmlns:a16="http://schemas.microsoft.com/office/drawing/2014/main" id="{8B0096FD-31BE-4F11-951F-E6720222270B}"/>
              </a:ext>
            </a:extLst>
          </p:cNvPr>
          <p:cNvSpPr>
            <a:spLocks noGrp="1"/>
          </p:cNvSpPr>
          <p:nvPr/>
        </p:nvSpPr>
        <p:spPr>
          <a:xfrm>
            <a:off x="7217093" y="1207540"/>
            <a:ext cx="4524375" cy="1143000"/>
          </a:xfrm>
          <a:prstGeom prst="roundRect">
            <a:avLst>
              <a:gd name="adj" fmla="val 6667"/>
            </a:avLst>
          </a:prstGeom>
          <a:solidFill>
            <a:srgbClr val="FFFFFF"/>
          </a:solidFill>
          <a:ln w="0">
            <a:noFill/>
          </a:ln>
        </p:spPr>
        <p:txBody>
          <a:bodyPr/>
          <a:lstStyle/>
          <a:p>
            <a:endParaRPr lang="sv-SE" sz="2000"/>
          </a:p>
        </p:txBody>
      </p:sp>
      <p:sp>
        <p:nvSpPr>
          <p:cNvPr id="8" name="Rectangle 7">
            <a:extLst>
              <a:ext uri="{FF2B5EF4-FFF2-40B4-BE49-F238E27FC236}">
                <a16:creationId xmlns:a16="http://schemas.microsoft.com/office/drawing/2014/main" id="{E9A0F2E2-D890-4541-8E07-771C465F551C}"/>
              </a:ext>
            </a:extLst>
          </p:cNvPr>
          <p:cNvSpPr>
            <a:spLocks noGrp="1"/>
          </p:cNvSpPr>
          <p:nvPr/>
        </p:nvSpPr>
        <p:spPr>
          <a:xfrm>
            <a:off x="7217093" y="1207540"/>
            <a:ext cx="76200" cy="1143000"/>
          </a:xfrm>
          <a:prstGeom prst="rect">
            <a:avLst/>
          </a:prstGeom>
          <a:solidFill>
            <a:srgbClr val="16B8D4"/>
          </a:solidFill>
          <a:ln w="0">
            <a:noFill/>
          </a:ln>
        </p:spPr>
        <p:txBody>
          <a:bodyPr/>
          <a:lstStyle/>
          <a:p>
            <a:endParaRPr lang="sv-SE" sz="2000"/>
          </a:p>
        </p:txBody>
      </p:sp>
      <p:sp>
        <p:nvSpPr>
          <p:cNvPr id="10" name="Rectangle 9">
            <a:extLst>
              <a:ext uri="{FF2B5EF4-FFF2-40B4-BE49-F238E27FC236}">
                <a16:creationId xmlns:a16="http://schemas.microsoft.com/office/drawing/2014/main" id="{02F8A03D-3C7E-4E2A-9FA1-EFFF53440493}"/>
              </a:ext>
            </a:extLst>
          </p:cNvPr>
          <p:cNvSpPr>
            <a:spLocks noGrp="1"/>
          </p:cNvSpPr>
          <p:nvPr/>
        </p:nvSpPr>
        <p:spPr>
          <a:xfrm>
            <a:off x="7464743" y="1350415"/>
            <a:ext cx="4124325"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2550" b="1">
                <a:solidFill>
                  <a:srgbClr val="16B8D4"/>
                </a:solidFill>
                <a:latin typeface="Aptos"/>
                <a:ea typeface="Aptos"/>
                <a:cs typeface="Aptos"/>
              </a:defRPr>
            </a:pPr>
            <a:r>
              <a:rPr sz="2000" b="1">
                <a:solidFill>
                  <a:srgbClr val="16B8D4"/>
                </a:solidFill>
                <a:latin typeface="Aptos"/>
                <a:ea typeface="Aptos"/>
                <a:cs typeface="Aptos"/>
              </a:rPr>
              <a:t>Lower current</a:t>
            </a:r>
          </a:p>
        </p:txBody>
      </p:sp>
      <p:sp>
        <p:nvSpPr>
          <p:cNvPr id="12" name="Rectangle 11">
            <a:extLst>
              <a:ext uri="{FF2B5EF4-FFF2-40B4-BE49-F238E27FC236}">
                <a16:creationId xmlns:a16="http://schemas.microsoft.com/office/drawing/2014/main" id="{58DA4859-B655-4DAC-B153-B5EEEF9AAF02}"/>
              </a:ext>
            </a:extLst>
          </p:cNvPr>
          <p:cNvSpPr>
            <a:spLocks noGrp="1"/>
          </p:cNvSpPr>
          <p:nvPr/>
        </p:nvSpPr>
        <p:spPr>
          <a:xfrm>
            <a:off x="7464743" y="1836190"/>
            <a:ext cx="4124325"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00" b="0">
                <a:solidFill>
                  <a:srgbClr val="5E7184"/>
                </a:solidFill>
                <a:latin typeface="Aptos"/>
                <a:ea typeface="Aptos"/>
                <a:cs typeface="Aptos"/>
              </a:defRPr>
            </a:pPr>
            <a:r>
              <a:rPr sz="2000" b="0">
                <a:solidFill>
                  <a:srgbClr val="5E7184"/>
                </a:solidFill>
                <a:latin typeface="Aptos"/>
                <a:ea typeface="Aptos"/>
                <a:cs typeface="Aptos"/>
              </a:rPr>
              <a:t>for the same transmitted power</a:t>
            </a:r>
          </a:p>
        </p:txBody>
      </p:sp>
      <p:sp>
        <p:nvSpPr>
          <p:cNvPr id="14" name="Rectangle: Rounded Corners 13">
            <a:extLst>
              <a:ext uri="{FF2B5EF4-FFF2-40B4-BE49-F238E27FC236}">
                <a16:creationId xmlns:a16="http://schemas.microsoft.com/office/drawing/2014/main" id="{79BDE98B-5CDF-48D2-89AE-FECAAF330FD5}"/>
              </a:ext>
            </a:extLst>
          </p:cNvPr>
          <p:cNvSpPr>
            <a:spLocks noGrp="1"/>
          </p:cNvSpPr>
          <p:nvPr/>
        </p:nvSpPr>
        <p:spPr>
          <a:xfrm>
            <a:off x="7217093" y="2588665"/>
            <a:ext cx="4524375" cy="1143000"/>
          </a:xfrm>
          <a:prstGeom prst="roundRect">
            <a:avLst>
              <a:gd name="adj" fmla="val 6667"/>
            </a:avLst>
          </a:prstGeom>
          <a:solidFill>
            <a:srgbClr val="FFFFFF"/>
          </a:solidFill>
          <a:ln w="0">
            <a:noFill/>
          </a:ln>
        </p:spPr>
        <p:txBody>
          <a:bodyPr/>
          <a:lstStyle/>
          <a:p>
            <a:endParaRPr lang="sv-SE" sz="2000"/>
          </a:p>
        </p:txBody>
      </p:sp>
      <p:sp>
        <p:nvSpPr>
          <p:cNvPr id="16" name="Rectangle 15">
            <a:extLst>
              <a:ext uri="{FF2B5EF4-FFF2-40B4-BE49-F238E27FC236}">
                <a16:creationId xmlns:a16="http://schemas.microsoft.com/office/drawing/2014/main" id="{4150CEC8-7990-4A73-A5C5-F38A6345EA00}"/>
              </a:ext>
            </a:extLst>
          </p:cNvPr>
          <p:cNvSpPr>
            <a:spLocks noGrp="1"/>
          </p:cNvSpPr>
          <p:nvPr/>
        </p:nvSpPr>
        <p:spPr>
          <a:xfrm>
            <a:off x="7217093" y="2588665"/>
            <a:ext cx="76200" cy="1143000"/>
          </a:xfrm>
          <a:prstGeom prst="rect">
            <a:avLst/>
          </a:prstGeom>
          <a:solidFill>
            <a:srgbClr val="0B5FA5"/>
          </a:solidFill>
          <a:ln w="0">
            <a:noFill/>
          </a:ln>
        </p:spPr>
        <p:txBody>
          <a:bodyPr/>
          <a:lstStyle/>
          <a:p>
            <a:endParaRPr lang="sv-SE" sz="2000"/>
          </a:p>
        </p:txBody>
      </p:sp>
      <p:sp>
        <p:nvSpPr>
          <p:cNvPr id="17" name="Rectangle 16">
            <a:extLst>
              <a:ext uri="{FF2B5EF4-FFF2-40B4-BE49-F238E27FC236}">
                <a16:creationId xmlns:a16="http://schemas.microsoft.com/office/drawing/2014/main" id="{9D69A076-A28F-4B51-AA42-CF8CA6E9EC12}"/>
              </a:ext>
            </a:extLst>
          </p:cNvPr>
          <p:cNvSpPr>
            <a:spLocks noGrp="1"/>
          </p:cNvSpPr>
          <p:nvPr/>
        </p:nvSpPr>
        <p:spPr>
          <a:xfrm>
            <a:off x="7464743" y="2731540"/>
            <a:ext cx="4124325"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2550" b="1">
                <a:solidFill>
                  <a:srgbClr val="0B5FA5"/>
                </a:solidFill>
                <a:latin typeface="Aptos"/>
                <a:ea typeface="Aptos"/>
                <a:cs typeface="Aptos"/>
              </a:defRPr>
            </a:pPr>
            <a:r>
              <a:rPr sz="2000" b="1">
                <a:solidFill>
                  <a:srgbClr val="0B5FA5"/>
                </a:solidFill>
                <a:latin typeface="Aptos"/>
                <a:ea typeface="Aptos"/>
                <a:cs typeface="Aptos"/>
              </a:rPr>
              <a:t>Smaller conductors</a:t>
            </a:r>
          </a:p>
        </p:txBody>
      </p:sp>
      <p:sp>
        <p:nvSpPr>
          <p:cNvPr id="18" name="Rectangle 17">
            <a:extLst>
              <a:ext uri="{FF2B5EF4-FFF2-40B4-BE49-F238E27FC236}">
                <a16:creationId xmlns:a16="http://schemas.microsoft.com/office/drawing/2014/main" id="{7E049FDB-3810-40DC-AA02-5CFD93C51CE8}"/>
              </a:ext>
            </a:extLst>
          </p:cNvPr>
          <p:cNvSpPr>
            <a:spLocks noGrp="1"/>
          </p:cNvSpPr>
          <p:nvPr/>
        </p:nvSpPr>
        <p:spPr>
          <a:xfrm>
            <a:off x="7464743" y="3217315"/>
            <a:ext cx="4124325"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00" b="0">
                <a:solidFill>
                  <a:srgbClr val="5E7184"/>
                </a:solidFill>
                <a:latin typeface="Aptos"/>
                <a:ea typeface="Aptos"/>
                <a:cs typeface="Aptos"/>
              </a:defRPr>
            </a:pPr>
            <a:r>
              <a:rPr sz="2000" b="0">
                <a:solidFill>
                  <a:srgbClr val="5E7184"/>
                </a:solidFill>
                <a:latin typeface="Aptos"/>
                <a:ea typeface="Aptos"/>
                <a:cs typeface="Aptos"/>
              </a:rPr>
              <a:t>and lower cable losses</a:t>
            </a:r>
          </a:p>
        </p:txBody>
      </p:sp>
      <p:sp>
        <p:nvSpPr>
          <p:cNvPr id="19" name="Rectangle: Rounded Corners 18">
            <a:extLst>
              <a:ext uri="{FF2B5EF4-FFF2-40B4-BE49-F238E27FC236}">
                <a16:creationId xmlns:a16="http://schemas.microsoft.com/office/drawing/2014/main" id="{D4784520-90B2-48A0-B501-0E3D4D10D1D0}"/>
              </a:ext>
            </a:extLst>
          </p:cNvPr>
          <p:cNvSpPr>
            <a:spLocks noGrp="1"/>
          </p:cNvSpPr>
          <p:nvPr/>
        </p:nvSpPr>
        <p:spPr>
          <a:xfrm>
            <a:off x="7217093" y="3969790"/>
            <a:ext cx="4524375" cy="1143000"/>
          </a:xfrm>
          <a:prstGeom prst="roundRect">
            <a:avLst>
              <a:gd name="adj" fmla="val 6667"/>
            </a:avLst>
          </a:prstGeom>
          <a:solidFill>
            <a:srgbClr val="FFFFFF"/>
          </a:solidFill>
          <a:ln w="0">
            <a:noFill/>
          </a:ln>
        </p:spPr>
        <p:txBody>
          <a:bodyPr/>
          <a:lstStyle/>
          <a:p>
            <a:endParaRPr lang="sv-SE" sz="2000"/>
          </a:p>
        </p:txBody>
      </p:sp>
      <p:sp>
        <p:nvSpPr>
          <p:cNvPr id="20" name="Rectangle 19">
            <a:extLst>
              <a:ext uri="{FF2B5EF4-FFF2-40B4-BE49-F238E27FC236}">
                <a16:creationId xmlns:a16="http://schemas.microsoft.com/office/drawing/2014/main" id="{CFA4D5D1-260F-4C20-A234-343349852F69}"/>
              </a:ext>
            </a:extLst>
          </p:cNvPr>
          <p:cNvSpPr>
            <a:spLocks noGrp="1"/>
          </p:cNvSpPr>
          <p:nvPr/>
        </p:nvSpPr>
        <p:spPr>
          <a:xfrm>
            <a:off x="7217093" y="3969790"/>
            <a:ext cx="76200" cy="1143000"/>
          </a:xfrm>
          <a:prstGeom prst="rect">
            <a:avLst/>
          </a:prstGeom>
          <a:solidFill>
            <a:srgbClr val="F58A3A"/>
          </a:solidFill>
          <a:ln w="0">
            <a:noFill/>
          </a:ln>
        </p:spPr>
        <p:txBody>
          <a:bodyPr/>
          <a:lstStyle/>
          <a:p>
            <a:endParaRPr lang="sv-SE" sz="2000"/>
          </a:p>
        </p:txBody>
      </p:sp>
      <p:sp>
        <p:nvSpPr>
          <p:cNvPr id="21" name="Rectangle 20">
            <a:extLst>
              <a:ext uri="{FF2B5EF4-FFF2-40B4-BE49-F238E27FC236}">
                <a16:creationId xmlns:a16="http://schemas.microsoft.com/office/drawing/2014/main" id="{6C6E22C5-2D1E-4E95-A094-D241DD96D6C1}"/>
              </a:ext>
            </a:extLst>
          </p:cNvPr>
          <p:cNvSpPr>
            <a:spLocks noGrp="1"/>
          </p:cNvSpPr>
          <p:nvPr/>
        </p:nvSpPr>
        <p:spPr>
          <a:xfrm>
            <a:off x="7464743" y="4112665"/>
            <a:ext cx="4124325"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2550" b="1">
                <a:solidFill>
                  <a:srgbClr val="F58A3A"/>
                </a:solidFill>
                <a:latin typeface="Aptos"/>
                <a:ea typeface="Aptos"/>
                <a:cs typeface="Aptos"/>
              </a:defRPr>
            </a:pPr>
            <a:r>
              <a:rPr sz="2000" b="1">
                <a:solidFill>
                  <a:srgbClr val="F58A3A"/>
                </a:solidFill>
                <a:latin typeface="Aptos"/>
                <a:ea typeface="Aptos"/>
                <a:cs typeface="Aptos"/>
              </a:rPr>
              <a:t>Faster charging</a:t>
            </a:r>
          </a:p>
        </p:txBody>
      </p:sp>
      <p:sp>
        <p:nvSpPr>
          <p:cNvPr id="22" name="Rectangle 21">
            <a:extLst>
              <a:ext uri="{FF2B5EF4-FFF2-40B4-BE49-F238E27FC236}">
                <a16:creationId xmlns:a16="http://schemas.microsoft.com/office/drawing/2014/main" id="{B2D23913-A91B-4D9C-8336-63C41E501EFC}"/>
              </a:ext>
            </a:extLst>
          </p:cNvPr>
          <p:cNvSpPr>
            <a:spLocks noGrp="1"/>
          </p:cNvSpPr>
          <p:nvPr/>
        </p:nvSpPr>
        <p:spPr>
          <a:xfrm>
            <a:off x="7464743" y="4598440"/>
            <a:ext cx="4124325"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00" b="0">
                <a:solidFill>
                  <a:srgbClr val="5E7184"/>
                </a:solidFill>
                <a:latin typeface="Aptos"/>
                <a:ea typeface="Aptos"/>
                <a:cs typeface="Aptos"/>
              </a:defRPr>
            </a:pPr>
            <a:r>
              <a:rPr sz="2000" b="0">
                <a:solidFill>
                  <a:srgbClr val="5E7184"/>
                </a:solidFill>
                <a:latin typeface="Aptos"/>
                <a:ea typeface="Aptos"/>
                <a:cs typeface="Aptos"/>
              </a:rPr>
              <a:t>with lower current at megawatt power</a:t>
            </a:r>
          </a:p>
        </p:txBody>
      </p:sp>
      <p:sp>
        <p:nvSpPr>
          <p:cNvPr id="23" name="Rectangle 22">
            <a:extLst>
              <a:ext uri="{FF2B5EF4-FFF2-40B4-BE49-F238E27FC236}">
                <a16:creationId xmlns:a16="http://schemas.microsoft.com/office/drawing/2014/main" id="{C3CB4580-3D61-449C-AECD-A4E2E1EF76AF}"/>
              </a:ext>
            </a:extLst>
          </p:cNvPr>
          <p:cNvSpPr>
            <a:spLocks noGrp="1"/>
          </p:cNvSpPr>
          <p:nvPr/>
        </p:nvSpPr>
        <p:spPr>
          <a:xfrm>
            <a:off x="838328" y="5867400"/>
            <a:ext cx="1493392" cy="2286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125" b="1">
                <a:solidFill>
                  <a:srgbClr val="F58A3A"/>
                </a:solidFill>
                <a:latin typeface="Aptos"/>
                <a:ea typeface="Aptos"/>
                <a:cs typeface="Aptos"/>
              </a:defRPr>
            </a:pPr>
            <a:r>
              <a:rPr sz="2000" b="1" dirty="0">
                <a:solidFill>
                  <a:srgbClr val="F58A3A"/>
                </a:solidFill>
                <a:latin typeface="Aptos"/>
                <a:ea typeface="Aptos"/>
                <a:cs typeface="Aptos"/>
              </a:rPr>
              <a:t>Challenge</a:t>
            </a:r>
          </a:p>
        </p:txBody>
      </p:sp>
      <p:sp>
        <p:nvSpPr>
          <p:cNvPr id="24" name="Rectangle 23">
            <a:extLst>
              <a:ext uri="{FF2B5EF4-FFF2-40B4-BE49-F238E27FC236}">
                <a16:creationId xmlns:a16="http://schemas.microsoft.com/office/drawing/2014/main" id="{FD3450D3-92C1-4D9E-82BE-BFC82A16D6D4}"/>
              </a:ext>
            </a:extLst>
          </p:cNvPr>
          <p:cNvSpPr>
            <a:spLocks noGrp="1"/>
          </p:cNvSpPr>
          <p:nvPr/>
        </p:nvSpPr>
        <p:spPr>
          <a:xfrm>
            <a:off x="2186940" y="5761889"/>
            <a:ext cx="9464039" cy="4191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75" b="1">
                <a:solidFill>
                  <a:srgbClr val="102A43"/>
                </a:solidFill>
                <a:latin typeface="Aptos"/>
                <a:ea typeface="Aptos"/>
                <a:cs typeface="Aptos"/>
              </a:defRPr>
            </a:pPr>
            <a:r>
              <a:rPr sz="2000" b="1" dirty="0">
                <a:solidFill>
                  <a:srgbClr val="102A43"/>
                </a:solidFill>
                <a:latin typeface="Aptos"/>
                <a:ea typeface="Aptos"/>
                <a:cs typeface="Aptos"/>
              </a:rPr>
              <a:t>A conventional two-level inverter exposes every switch to the full DC-link voltage.</a:t>
            </a:r>
          </a:p>
        </p:txBody>
      </p:sp>
    </p:spTree>
    <p:extLst>
      <p:ext uri="{BB962C8B-B14F-4D97-AF65-F5344CB8AC3E}">
        <p14:creationId xmlns:p14="http://schemas.microsoft.com/office/powerpoint/2010/main" val="609784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244F3-6D8F-3575-F6F6-F76C9729F463}"/>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768A1A8C-B59E-4E0F-ACC9-67BE638D3614}"/>
              </a:ext>
            </a:extLst>
          </p:cNvPr>
          <p:cNvSpPr>
            <a:spLocks noGrp="1"/>
          </p:cNvSpPr>
          <p:nvPr/>
        </p:nvSpPr>
        <p:spPr>
          <a:xfrm>
            <a:off x="8399145" y="1413264"/>
            <a:ext cx="2952750" cy="1285875"/>
          </a:xfrm>
          <a:prstGeom prst="roundRect">
            <a:avLst>
              <a:gd name="adj" fmla="val 5926"/>
            </a:avLst>
          </a:prstGeom>
          <a:solidFill>
            <a:schemeClr val="tx2">
              <a:lumMod val="10000"/>
              <a:lumOff val="90000"/>
            </a:schemeClr>
          </a:solidFill>
          <a:ln w="0">
            <a:solidFill>
              <a:schemeClr val="tx2">
                <a:lumMod val="25000"/>
                <a:lumOff val="75000"/>
              </a:schemeClr>
            </a:solidFill>
          </a:ln>
        </p:spPr>
        <p:txBody>
          <a:bodyPr/>
          <a:lstStyle/>
          <a:p>
            <a:endParaRPr lang="sv-SE" sz="2000"/>
          </a:p>
        </p:txBody>
      </p:sp>
      <p:sp>
        <p:nvSpPr>
          <p:cNvPr id="2" name="Title 1">
            <a:extLst>
              <a:ext uri="{FF2B5EF4-FFF2-40B4-BE49-F238E27FC236}">
                <a16:creationId xmlns:a16="http://schemas.microsoft.com/office/drawing/2014/main" id="{0107E69A-AE49-EF85-31EA-703DBE280985}"/>
              </a:ext>
            </a:extLst>
          </p:cNvPr>
          <p:cNvSpPr>
            <a:spLocks noGrp="1"/>
          </p:cNvSpPr>
          <p:nvPr>
            <p:ph type="title"/>
          </p:nvPr>
        </p:nvSpPr>
        <p:spPr>
          <a:xfrm>
            <a:off x="1009317" y="286175"/>
            <a:ext cx="10990263" cy="568412"/>
          </a:xfrm>
        </p:spPr>
        <p:txBody>
          <a:bodyPr/>
          <a:lstStyle/>
          <a:p>
            <a:r>
              <a:rPr lang="en-US" sz="3200" dirty="0"/>
              <a:t>SPB portions one high-voltage DC link across N cells</a:t>
            </a:r>
            <a:br>
              <a:rPr lang="en-US" dirty="0"/>
            </a:br>
            <a:endParaRPr lang="sv-SE" dirty="0"/>
          </a:p>
        </p:txBody>
      </p:sp>
      <p:pic>
        <p:nvPicPr>
          <p:cNvPr id="6" name="Picture 5">
            <a:extLst>
              <a:ext uri="{FF2B5EF4-FFF2-40B4-BE49-F238E27FC236}">
                <a16:creationId xmlns:a16="http://schemas.microsoft.com/office/drawing/2014/main" id="{F9DDFD8E-87E2-6635-205D-11C7D82A1A07}"/>
              </a:ext>
            </a:extLst>
          </p:cNvPr>
          <p:cNvPicPr>
            <a:picLocks noChangeAspect="1"/>
          </p:cNvPicPr>
          <p:nvPr/>
        </p:nvPicPr>
        <p:blipFill>
          <a:blip r:embed="rId2"/>
          <a:stretch>
            <a:fillRect/>
          </a:stretch>
        </p:blipFill>
        <p:spPr>
          <a:xfrm>
            <a:off x="437216" y="1276617"/>
            <a:ext cx="7302411" cy="5476808"/>
          </a:xfrm>
          <a:prstGeom prst="rect">
            <a:avLst/>
          </a:prstGeom>
        </p:spPr>
      </p:pic>
      <p:sp>
        <p:nvSpPr>
          <p:cNvPr id="4" name="Rectangle 3">
            <a:extLst>
              <a:ext uri="{FF2B5EF4-FFF2-40B4-BE49-F238E27FC236}">
                <a16:creationId xmlns:a16="http://schemas.microsoft.com/office/drawing/2014/main" id="{73C3438A-C21B-4628-BEAD-D0E5D493105D}"/>
              </a:ext>
            </a:extLst>
          </p:cNvPr>
          <p:cNvSpPr>
            <a:spLocks noGrp="1"/>
          </p:cNvSpPr>
          <p:nvPr/>
        </p:nvSpPr>
        <p:spPr>
          <a:xfrm>
            <a:off x="8637270" y="1627577"/>
            <a:ext cx="2476500" cy="42862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2550" b="1">
                <a:solidFill>
                  <a:srgbClr val="FFFFFF"/>
                </a:solidFill>
                <a:latin typeface="Aptos"/>
                <a:ea typeface="Aptos"/>
                <a:cs typeface="Aptos"/>
              </a:defRPr>
            </a:pPr>
            <a:r>
              <a:rPr sz="2500" b="1" dirty="0" err="1">
                <a:solidFill>
                  <a:schemeClr val="accent6"/>
                </a:solidFill>
                <a:latin typeface="Aptos"/>
                <a:ea typeface="Aptos"/>
                <a:cs typeface="Aptos"/>
              </a:rPr>
              <a:t>Vcell</a:t>
            </a:r>
            <a:r>
              <a:rPr sz="2500" b="1" dirty="0">
                <a:solidFill>
                  <a:schemeClr val="accent6"/>
                </a:solidFill>
                <a:latin typeface="Aptos"/>
                <a:ea typeface="Aptos"/>
                <a:cs typeface="Aptos"/>
              </a:rPr>
              <a:t> ≈ Vdc / N</a:t>
            </a:r>
          </a:p>
        </p:txBody>
      </p:sp>
      <p:sp>
        <p:nvSpPr>
          <p:cNvPr id="8" name="Rectangle 7">
            <a:extLst>
              <a:ext uri="{FF2B5EF4-FFF2-40B4-BE49-F238E27FC236}">
                <a16:creationId xmlns:a16="http://schemas.microsoft.com/office/drawing/2014/main" id="{D9EE3558-0FA0-4057-A55B-F90B0678EF65}"/>
              </a:ext>
            </a:extLst>
          </p:cNvPr>
          <p:cNvSpPr>
            <a:spLocks noGrp="1"/>
          </p:cNvSpPr>
          <p:nvPr/>
        </p:nvSpPr>
        <p:spPr>
          <a:xfrm>
            <a:off x="8637270" y="2141927"/>
            <a:ext cx="2476500" cy="24765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125" b="0">
                <a:solidFill>
                  <a:srgbClr val="B9D9E8"/>
                </a:solidFill>
                <a:latin typeface="Aptos"/>
                <a:ea typeface="Aptos"/>
                <a:cs typeface="Aptos"/>
              </a:defRPr>
            </a:pPr>
            <a:r>
              <a:rPr sz="1500" b="0" dirty="0">
                <a:solidFill>
                  <a:schemeClr val="accent6"/>
                </a:solidFill>
                <a:latin typeface="Aptos"/>
                <a:ea typeface="Aptos"/>
                <a:cs typeface="Aptos"/>
              </a:rPr>
              <a:t>nominal voltage per cell</a:t>
            </a:r>
          </a:p>
        </p:txBody>
      </p:sp>
      <p:sp>
        <p:nvSpPr>
          <p:cNvPr id="10" name="Rectangle 9">
            <a:extLst>
              <a:ext uri="{FF2B5EF4-FFF2-40B4-BE49-F238E27FC236}">
                <a16:creationId xmlns:a16="http://schemas.microsoft.com/office/drawing/2014/main" id="{F09B619F-DBE5-4B56-9858-E5E22F906DE7}"/>
              </a:ext>
            </a:extLst>
          </p:cNvPr>
          <p:cNvSpPr>
            <a:spLocks noGrp="1"/>
          </p:cNvSpPr>
          <p:nvPr/>
        </p:nvSpPr>
        <p:spPr>
          <a:xfrm>
            <a:off x="8494395" y="2895867"/>
            <a:ext cx="2762250" cy="3238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500" b="1">
                <a:solidFill>
                  <a:srgbClr val="0B5FA5"/>
                </a:solidFill>
                <a:latin typeface="Aptos"/>
                <a:ea typeface="Aptos"/>
                <a:cs typeface="Aptos"/>
              </a:defRPr>
            </a:pPr>
            <a:r>
              <a:rPr sz="1500" b="1">
                <a:solidFill>
                  <a:srgbClr val="0B5FA5"/>
                </a:solidFill>
                <a:latin typeface="Aptos"/>
                <a:ea typeface="Aptos"/>
                <a:cs typeface="Aptos"/>
              </a:rPr>
              <a:t>Series on the DC side</a:t>
            </a:r>
          </a:p>
        </p:txBody>
      </p:sp>
      <p:sp>
        <p:nvSpPr>
          <p:cNvPr id="12" name="Rectangle 11">
            <a:extLst>
              <a:ext uri="{FF2B5EF4-FFF2-40B4-BE49-F238E27FC236}">
                <a16:creationId xmlns:a16="http://schemas.microsoft.com/office/drawing/2014/main" id="{CC78382B-39F9-42AD-81FD-F5C9CEE400E5}"/>
              </a:ext>
            </a:extLst>
          </p:cNvPr>
          <p:cNvSpPr>
            <a:spLocks noGrp="1"/>
          </p:cNvSpPr>
          <p:nvPr/>
        </p:nvSpPr>
        <p:spPr>
          <a:xfrm>
            <a:off x="8494395" y="3257817"/>
            <a:ext cx="2762250" cy="47625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75" b="0">
                <a:solidFill>
                  <a:srgbClr val="5E7184"/>
                </a:solidFill>
                <a:latin typeface="Aptos"/>
                <a:ea typeface="Aptos"/>
                <a:cs typeface="Aptos"/>
              </a:defRPr>
            </a:pPr>
            <a:r>
              <a:rPr sz="1500" b="0">
                <a:solidFill>
                  <a:srgbClr val="5E7184"/>
                </a:solidFill>
                <a:latin typeface="Aptos"/>
                <a:ea typeface="Aptos"/>
                <a:cs typeface="Aptos"/>
              </a:rPr>
              <a:t>The cells share the total blocking voltage.</a:t>
            </a:r>
          </a:p>
        </p:txBody>
      </p:sp>
      <p:sp>
        <p:nvSpPr>
          <p:cNvPr id="14" name="Rectangle 13">
            <a:extLst>
              <a:ext uri="{FF2B5EF4-FFF2-40B4-BE49-F238E27FC236}">
                <a16:creationId xmlns:a16="http://schemas.microsoft.com/office/drawing/2014/main" id="{A870B2A5-2FA8-4186-BC80-9D8B6C617C2A}"/>
              </a:ext>
            </a:extLst>
          </p:cNvPr>
          <p:cNvSpPr>
            <a:spLocks noGrp="1"/>
          </p:cNvSpPr>
          <p:nvPr/>
        </p:nvSpPr>
        <p:spPr>
          <a:xfrm>
            <a:off x="8494395" y="4019817"/>
            <a:ext cx="2762250" cy="32385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500" b="1">
                <a:solidFill>
                  <a:srgbClr val="0B5FA5"/>
                </a:solidFill>
                <a:latin typeface="Aptos"/>
                <a:ea typeface="Aptos"/>
                <a:cs typeface="Aptos"/>
              </a:defRPr>
            </a:pPr>
            <a:r>
              <a:rPr sz="1500" b="1">
                <a:solidFill>
                  <a:srgbClr val="0B5FA5"/>
                </a:solidFill>
                <a:latin typeface="Aptos"/>
                <a:ea typeface="Aptos"/>
                <a:cs typeface="Aptos"/>
              </a:rPr>
              <a:t>Separate winding groups</a:t>
            </a:r>
          </a:p>
        </p:txBody>
      </p:sp>
      <p:sp>
        <p:nvSpPr>
          <p:cNvPr id="16" name="Rectangle 15">
            <a:extLst>
              <a:ext uri="{FF2B5EF4-FFF2-40B4-BE49-F238E27FC236}">
                <a16:creationId xmlns:a16="http://schemas.microsoft.com/office/drawing/2014/main" id="{7A240184-7379-40D1-A390-FC7CE9F7BDE3}"/>
              </a:ext>
            </a:extLst>
          </p:cNvPr>
          <p:cNvSpPr>
            <a:spLocks noGrp="1"/>
          </p:cNvSpPr>
          <p:nvPr/>
        </p:nvSpPr>
        <p:spPr>
          <a:xfrm>
            <a:off x="8494395" y="4381767"/>
            <a:ext cx="2762250" cy="6096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75" b="0">
                <a:solidFill>
                  <a:srgbClr val="5E7184"/>
                </a:solidFill>
                <a:latin typeface="Aptos"/>
                <a:ea typeface="Aptos"/>
                <a:cs typeface="Aptos"/>
              </a:defRPr>
            </a:pPr>
            <a:r>
              <a:rPr sz="1500" b="0">
                <a:solidFill>
                  <a:srgbClr val="5E7184"/>
                </a:solidFill>
                <a:latin typeface="Aptos"/>
                <a:ea typeface="Aptos"/>
                <a:cs typeface="Aptos"/>
              </a:rPr>
              <a:t>Each cell controls a three-phase section of the same machine.</a:t>
            </a:r>
          </a:p>
        </p:txBody>
      </p:sp>
      <p:sp>
        <p:nvSpPr>
          <p:cNvPr id="17" name="Rectangle 16">
            <a:extLst>
              <a:ext uri="{FF2B5EF4-FFF2-40B4-BE49-F238E27FC236}">
                <a16:creationId xmlns:a16="http://schemas.microsoft.com/office/drawing/2014/main" id="{12402927-76DE-40CE-8F4F-B3C15FA28CAB}"/>
              </a:ext>
            </a:extLst>
          </p:cNvPr>
          <p:cNvSpPr>
            <a:spLocks noGrp="1"/>
          </p:cNvSpPr>
          <p:nvPr/>
        </p:nvSpPr>
        <p:spPr>
          <a:xfrm>
            <a:off x="8494395" y="5315217"/>
            <a:ext cx="2762250" cy="4572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75" b="1">
                <a:solidFill>
                  <a:srgbClr val="F58A3A"/>
                </a:solidFill>
                <a:latin typeface="Aptos"/>
                <a:ea typeface="Aptos"/>
                <a:cs typeface="Aptos"/>
              </a:defRPr>
            </a:pPr>
            <a:r>
              <a:rPr sz="1500" b="1">
                <a:solidFill>
                  <a:srgbClr val="F58A3A"/>
                </a:solidFill>
                <a:latin typeface="Aptos"/>
                <a:ea typeface="Aptos"/>
                <a:cs typeface="Aptos"/>
              </a:rPr>
              <a:t>The machine and converter become one modular architecture.</a:t>
            </a:r>
          </a:p>
        </p:txBody>
      </p:sp>
    </p:spTree>
    <p:extLst>
      <p:ext uri="{BB962C8B-B14F-4D97-AF65-F5344CB8AC3E}">
        <p14:creationId xmlns:p14="http://schemas.microsoft.com/office/powerpoint/2010/main" val="2445464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2C3D-52C9-BFB6-E797-34AA52E6B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90E9B-FD71-5405-D2C4-614F9479DDDE}"/>
              </a:ext>
            </a:extLst>
          </p:cNvPr>
          <p:cNvSpPr>
            <a:spLocks noGrp="1"/>
          </p:cNvSpPr>
          <p:nvPr>
            <p:ph type="title"/>
          </p:nvPr>
        </p:nvSpPr>
        <p:spPr>
          <a:xfrm>
            <a:off x="1009317" y="286175"/>
            <a:ext cx="10990263" cy="568412"/>
          </a:xfrm>
        </p:spPr>
        <p:txBody>
          <a:bodyPr/>
          <a:lstStyle/>
          <a:p>
            <a:r>
              <a:rPr lang="en-US" sz="3200" dirty="0"/>
              <a:t>Voltage portioning opens lower device-voltage classes</a:t>
            </a:r>
            <a:br>
              <a:rPr lang="en-US" sz="3200" dirty="0"/>
            </a:br>
            <a:br>
              <a:rPr lang="en-US" dirty="0"/>
            </a:br>
            <a:endParaRPr lang="sv-SE" dirty="0"/>
          </a:p>
        </p:txBody>
      </p:sp>
      <p:sp>
        <p:nvSpPr>
          <p:cNvPr id="3" name="Rectangle: Rounded Corners 2">
            <a:extLst>
              <a:ext uri="{FF2B5EF4-FFF2-40B4-BE49-F238E27FC236}">
                <a16:creationId xmlns:a16="http://schemas.microsoft.com/office/drawing/2014/main" id="{98EE4EB4-476B-4307-BE36-603645946845}"/>
              </a:ext>
            </a:extLst>
          </p:cNvPr>
          <p:cNvSpPr>
            <a:spLocks noGrp="1"/>
          </p:cNvSpPr>
          <p:nvPr/>
        </p:nvSpPr>
        <p:spPr>
          <a:xfrm>
            <a:off x="762000" y="1918335"/>
            <a:ext cx="2095500" cy="3524250"/>
          </a:xfrm>
          <a:prstGeom prst="roundRect">
            <a:avLst>
              <a:gd name="adj" fmla="val 3636"/>
            </a:avLst>
          </a:prstGeom>
          <a:solidFill>
            <a:srgbClr val="FFFFFF"/>
          </a:solidFill>
          <a:ln w="0">
            <a:noFill/>
          </a:ln>
        </p:spPr>
        <p:txBody>
          <a:bodyPr/>
          <a:lstStyle/>
          <a:p>
            <a:endParaRPr lang="sv-SE"/>
          </a:p>
        </p:txBody>
      </p:sp>
      <p:sp>
        <p:nvSpPr>
          <p:cNvPr id="4" name="Rectangle 3">
            <a:extLst>
              <a:ext uri="{FF2B5EF4-FFF2-40B4-BE49-F238E27FC236}">
                <a16:creationId xmlns:a16="http://schemas.microsoft.com/office/drawing/2014/main" id="{3840D136-35CD-4BA9-BEB5-5A02525E1208}"/>
              </a:ext>
            </a:extLst>
          </p:cNvPr>
          <p:cNvSpPr>
            <a:spLocks noGrp="1"/>
          </p:cNvSpPr>
          <p:nvPr/>
        </p:nvSpPr>
        <p:spPr>
          <a:xfrm>
            <a:off x="762000" y="1918335"/>
            <a:ext cx="2095500" cy="114300"/>
          </a:xfrm>
          <a:prstGeom prst="rect">
            <a:avLst/>
          </a:prstGeom>
          <a:solidFill>
            <a:srgbClr val="F58A3A"/>
          </a:solidFill>
          <a:ln w="0">
            <a:noFill/>
          </a:ln>
        </p:spPr>
        <p:txBody>
          <a:bodyPr/>
          <a:lstStyle/>
          <a:p>
            <a:endParaRPr lang="sv-SE"/>
          </a:p>
        </p:txBody>
      </p:sp>
      <p:sp>
        <p:nvSpPr>
          <p:cNvPr id="8" name="Rectangle 7">
            <a:extLst>
              <a:ext uri="{FF2B5EF4-FFF2-40B4-BE49-F238E27FC236}">
                <a16:creationId xmlns:a16="http://schemas.microsoft.com/office/drawing/2014/main" id="{11A03B6C-1305-49A1-98D5-0584701B50E1}"/>
              </a:ext>
            </a:extLst>
          </p:cNvPr>
          <p:cNvSpPr>
            <a:spLocks noGrp="1"/>
          </p:cNvSpPr>
          <p:nvPr/>
        </p:nvSpPr>
        <p:spPr>
          <a:xfrm>
            <a:off x="933450" y="2204085"/>
            <a:ext cx="1752600" cy="3810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800" b="1">
                <a:solidFill>
                  <a:srgbClr val="071A2F"/>
                </a:solidFill>
                <a:latin typeface="Aptos"/>
                <a:ea typeface="Aptos"/>
                <a:cs typeface="Aptos"/>
              </a:defRPr>
            </a:pPr>
            <a:r>
              <a:rPr sz="1800" b="1">
                <a:solidFill>
                  <a:srgbClr val="071A2F"/>
                </a:solidFill>
                <a:latin typeface="Aptos"/>
                <a:ea typeface="Aptos"/>
                <a:cs typeface="Aptos"/>
              </a:rPr>
              <a:t>3 cells</a:t>
            </a:r>
          </a:p>
        </p:txBody>
      </p:sp>
      <p:sp>
        <p:nvSpPr>
          <p:cNvPr id="10" name="Rectangle 9">
            <a:extLst>
              <a:ext uri="{FF2B5EF4-FFF2-40B4-BE49-F238E27FC236}">
                <a16:creationId xmlns:a16="http://schemas.microsoft.com/office/drawing/2014/main" id="{A27C0EC7-0DAA-4458-9349-6BB80E4EB12C}"/>
              </a:ext>
            </a:extLst>
          </p:cNvPr>
          <p:cNvSpPr>
            <a:spLocks noGrp="1"/>
          </p:cNvSpPr>
          <p:nvPr/>
        </p:nvSpPr>
        <p:spPr>
          <a:xfrm>
            <a:off x="933450" y="2813685"/>
            <a:ext cx="175260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225" b="1">
                <a:solidFill>
                  <a:srgbClr val="F58A3A"/>
                </a:solidFill>
                <a:latin typeface="Aptos"/>
                <a:ea typeface="Aptos"/>
                <a:cs typeface="Aptos"/>
              </a:defRPr>
            </a:pPr>
            <a:r>
              <a:rPr sz="3225" b="1">
                <a:solidFill>
                  <a:srgbClr val="F58A3A"/>
                </a:solidFill>
                <a:latin typeface="Aptos"/>
                <a:ea typeface="Aptos"/>
                <a:cs typeface="Aptos"/>
              </a:rPr>
              <a:t>400 V</a:t>
            </a:r>
          </a:p>
        </p:txBody>
      </p:sp>
      <p:sp>
        <p:nvSpPr>
          <p:cNvPr id="12" name="Rectangle 11">
            <a:extLst>
              <a:ext uri="{FF2B5EF4-FFF2-40B4-BE49-F238E27FC236}">
                <a16:creationId xmlns:a16="http://schemas.microsoft.com/office/drawing/2014/main" id="{6E46E03A-B457-4DB2-B26B-B24C90A983FC}"/>
              </a:ext>
            </a:extLst>
          </p:cNvPr>
          <p:cNvSpPr>
            <a:spLocks noGrp="1"/>
          </p:cNvSpPr>
          <p:nvPr/>
        </p:nvSpPr>
        <p:spPr>
          <a:xfrm>
            <a:off x="952500" y="3432810"/>
            <a:ext cx="1714500" cy="2476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050" b="0">
                <a:solidFill>
                  <a:srgbClr val="5E7184"/>
                </a:solidFill>
                <a:latin typeface="Aptos"/>
                <a:ea typeface="Aptos"/>
                <a:cs typeface="Aptos"/>
              </a:defRPr>
            </a:pPr>
            <a:r>
              <a:rPr sz="1050" b="0">
                <a:solidFill>
                  <a:srgbClr val="5E7184"/>
                </a:solidFill>
                <a:latin typeface="Aptos"/>
                <a:ea typeface="Aptos"/>
                <a:cs typeface="Aptos"/>
              </a:rPr>
              <a:t>nominal cell voltage</a:t>
            </a:r>
          </a:p>
        </p:txBody>
      </p:sp>
      <p:sp>
        <p:nvSpPr>
          <p:cNvPr id="14" name="Rectangle: Rounded Corners 13">
            <a:extLst>
              <a:ext uri="{FF2B5EF4-FFF2-40B4-BE49-F238E27FC236}">
                <a16:creationId xmlns:a16="http://schemas.microsoft.com/office/drawing/2014/main" id="{6851CBE6-4CE9-48FA-AEB8-4F7DA66A8D3E}"/>
              </a:ext>
            </a:extLst>
          </p:cNvPr>
          <p:cNvSpPr>
            <a:spLocks noGrp="1"/>
          </p:cNvSpPr>
          <p:nvPr/>
        </p:nvSpPr>
        <p:spPr>
          <a:xfrm>
            <a:off x="1095375" y="4032885"/>
            <a:ext cx="1428750" cy="476250"/>
          </a:xfrm>
          <a:prstGeom prst="roundRect">
            <a:avLst>
              <a:gd name="adj" fmla="val 16000"/>
            </a:avLst>
          </a:prstGeom>
          <a:solidFill>
            <a:srgbClr val="EAF4F8"/>
          </a:solidFill>
          <a:ln w="0">
            <a:noFill/>
          </a:ln>
        </p:spPr>
        <p:txBody>
          <a:bodyPr/>
          <a:lstStyle/>
          <a:p>
            <a:endParaRPr lang="sv-SE"/>
          </a:p>
        </p:txBody>
      </p:sp>
      <p:sp>
        <p:nvSpPr>
          <p:cNvPr id="16" name="Rectangle 15">
            <a:extLst>
              <a:ext uri="{FF2B5EF4-FFF2-40B4-BE49-F238E27FC236}">
                <a16:creationId xmlns:a16="http://schemas.microsoft.com/office/drawing/2014/main" id="{8494E1AC-BE74-4269-8741-2D8845D0ED06}"/>
              </a:ext>
            </a:extLst>
          </p:cNvPr>
          <p:cNvSpPr>
            <a:spLocks noGrp="1"/>
          </p:cNvSpPr>
          <p:nvPr/>
        </p:nvSpPr>
        <p:spPr>
          <a:xfrm>
            <a:off x="1190625" y="4118610"/>
            <a:ext cx="1238250" cy="29527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75" b="1">
                <a:solidFill>
                  <a:srgbClr val="0B5FA5"/>
                </a:solidFill>
                <a:latin typeface="Aptos"/>
                <a:ea typeface="Aptos"/>
                <a:cs typeface="Aptos"/>
              </a:defRPr>
            </a:pPr>
            <a:r>
              <a:rPr sz="1275" b="1">
                <a:solidFill>
                  <a:srgbClr val="0B5FA5"/>
                </a:solidFill>
                <a:latin typeface="Aptos"/>
                <a:ea typeface="Aptos"/>
                <a:cs typeface="Aptos"/>
              </a:rPr>
              <a:t>650 V class</a:t>
            </a:r>
          </a:p>
        </p:txBody>
      </p:sp>
      <p:sp>
        <p:nvSpPr>
          <p:cNvPr id="17" name="Rectangle 16">
            <a:extLst>
              <a:ext uri="{FF2B5EF4-FFF2-40B4-BE49-F238E27FC236}">
                <a16:creationId xmlns:a16="http://schemas.microsoft.com/office/drawing/2014/main" id="{A8824AEE-D02C-419C-9E8F-EBE4A5E312EA}"/>
              </a:ext>
            </a:extLst>
          </p:cNvPr>
          <p:cNvSpPr>
            <a:spLocks noGrp="1"/>
          </p:cNvSpPr>
          <p:nvPr/>
        </p:nvSpPr>
        <p:spPr>
          <a:xfrm>
            <a:off x="1095375" y="4747260"/>
            <a:ext cx="1428750"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00" b="0">
                <a:solidFill>
                  <a:srgbClr val="5E7184"/>
                </a:solidFill>
                <a:latin typeface="Aptos"/>
                <a:ea typeface="Aptos"/>
                <a:cs typeface="Aptos"/>
              </a:defRPr>
            </a:pPr>
            <a:r>
              <a:rPr sz="1200" b="0">
                <a:solidFill>
                  <a:srgbClr val="5E7184"/>
                </a:solidFill>
                <a:latin typeface="Aptos"/>
                <a:ea typeface="Aptos"/>
                <a:cs typeface="Aptos"/>
              </a:rPr>
              <a:t>6N = 18</a:t>
            </a:r>
          </a:p>
          <a:p>
            <a:pPr algn="ctr">
              <a:defRPr sz="1200" b="0">
                <a:solidFill>
                  <a:srgbClr val="5E7184"/>
                </a:solidFill>
                <a:latin typeface="Aptos"/>
                <a:ea typeface="Aptos"/>
                <a:cs typeface="Aptos"/>
              </a:defRPr>
            </a:pPr>
            <a:r>
              <a:rPr sz="1200" b="0">
                <a:solidFill>
                  <a:srgbClr val="5E7184"/>
                </a:solidFill>
                <a:latin typeface="Aptos"/>
                <a:ea typeface="Aptos"/>
                <a:cs typeface="Aptos"/>
              </a:rPr>
              <a:t>active switches</a:t>
            </a:r>
          </a:p>
        </p:txBody>
      </p:sp>
      <p:sp>
        <p:nvSpPr>
          <p:cNvPr id="18" name="Rectangle: Rounded Corners 17">
            <a:extLst>
              <a:ext uri="{FF2B5EF4-FFF2-40B4-BE49-F238E27FC236}">
                <a16:creationId xmlns:a16="http://schemas.microsoft.com/office/drawing/2014/main" id="{E938DBAC-638A-4918-9E44-06525C753610}"/>
              </a:ext>
            </a:extLst>
          </p:cNvPr>
          <p:cNvSpPr>
            <a:spLocks noGrp="1"/>
          </p:cNvSpPr>
          <p:nvPr/>
        </p:nvSpPr>
        <p:spPr>
          <a:xfrm>
            <a:off x="3619500" y="1918335"/>
            <a:ext cx="2095500" cy="3524250"/>
          </a:xfrm>
          <a:prstGeom prst="roundRect">
            <a:avLst>
              <a:gd name="adj" fmla="val 3636"/>
            </a:avLst>
          </a:prstGeom>
          <a:solidFill>
            <a:srgbClr val="FFFFFF"/>
          </a:solidFill>
          <a:ln w="0">
            <a:noFill/>
          </a:ln>
        </p:spPr>
        <p:txBody>
          <a:bodyPr/>
          <a:lstStyle/>
          <a:p>
            <a:endParaRPr lang="sv-SE"/>
          </a:p>
        </p:txBody>
      </p:sp>
      <p:sp>
        <p:nvSpPr>
          <p:cNvPr id="19" name="Rectangle 18">
            <a:extLst>
              <a:ext uri="{FF2B5EF4-FFF2-40B4-BE49-F238E27FC236}">
                <a16:creationId xmlns:a16="http://schemas.microsoft.com/office/drawing/2014/main" id="{D659B1FA-5551-4D93-A671-18374EEB469E}"/>
              </a:ext>
            </a:extLst>
          </p:cNvPr>
          <p:cNvSpPr>
            <a:spLocks noGrp="1"/>
          </p:cNvSpPr>
          <p:nvPr/>
        </p:nvSpPr>
        <p:spPr>
          <a:xfrm>
            <a:off x="3619500" y="1918335"/>
            <a:ext cx="2095500" cy="114300"/>
          </a:xfrm>
          <a:prstGeom prst="rect">
            <a:avLst/>
          </a:prstGeom>
          <a:solidFill>
            <a:srgbClr val="D8A029"/>
          </a:solidFill>
          <a:ln w="0">
            <a:noFill/>
          </a:ln>
        </p:spPr>
        <p:txBody>
          <a:bodyPr/>
          <a:lstStyle/>
          <a:p>
            <a:endParaRPr lang="sv-SE"/>
          </a:p>
        </p:txBody>
      </p:sp>
      <p:sp>
        <p:nvSpPr>
          <p:cNvPr id="20" name="Rectangle 19">
            <a:extLst>
              <a:ext uri="{FF2B5EF4-FFF2-40B4-BE49-F238E27FC236}">
                <a16:creationId xmlns:a16="http://schemas.microsoft.com/office/drawing/2014/main" id="{D6785164-7422-4583-99D7-E20B5257AE89}"/>
              </a:ext>
            </a:extLst>
          </p:cNvPr>
          <p:cNvSpPr>
            <a:spLocks noGrp="1"/>
          </p:cNvSpPr>
          <p:nvPr/>
        </p:nvSpPr>
        <p:spPr>
          <a:xfrm>
            <a:off x="3790950" y="2204085"/>
            <a:ext cx="1752600" cy="3810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800" b="1">
                <a:solidFill>
                  <a:srgbClr val="071A2F"/>
                </a:solidFill>
                <a:latin typeface="Aptos"/>
                <a:ea typeface="Aptos"/>
                <a:cs typeface="Aptos"/>
              </a:defRPr>
            </a:pPr>
            <a:r>
              <a:rPr sz="1800" b="1" dirty="0">
                <a:solidFill>
                  <a:srgbClr val="071A2F"/>
                </a:solidFill>
                <a:latin typeface="Aptos"/>
                <a:ea typeface="Aptos"/>
                <a:cs typeface="Aptos"/>
              </a:rPr>
              <a:t>5 cells</a:t>
            </a:r>
          </a:p>
        </p:txBody>
      </p:sp>
      <p:sp>
        <p:nvSpPr>
          <p:cNvPr id="21" name="Rectangle 20">
            <a:extLst>
              <a:ext uri="{FF2B5EF4-FFF2-40B4-BE49-F238E27FC236}">
                <a16:creationId xmlns:a16="http://schemas.microsoft.com/office/drawing/2014/main" id="{9F8EEB60-196A-4064-8744-9756C26B7E1D}"/>
              </a:ext>
            </a:extLst>
          </p:cNvPr>
          <p:cNvSpPr>
            <a:spLocks noGrp="1"/>
          </p:cNvSpPr>
          <p:nvPr/>
        </p:nvSpPr>
        <p:spPr>
          <a:xfrm>
            <a:off x="3790950" y="2813685"/>
            <a:ext cx="175260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225" b="1">
                <a:solidFill>
                  <a:srgbClr val="D8A029"/>
                </a:solidFill>
                <a:latin typeface="Aptos"/>
                <a:ea typeface="Aptos"/>
                <a:cs typeface="Aptos"/>
              </a:defRPr>
            </a:pPr>
            <a:r>
              <a:rPr sz="3225" b="1">
                <a:solidFill>
                  <a:srgbClr val="D8A029"/>
                </a:solidFill>
                <a:latin typeface="Aptos"/>
                <a:ea typeface="Aptos"/>
                <a:cs typeface="Aptos"/>
              </a:rPr>
              <a:t>240 V</a:t>
            </a:r>
          </a:p>
        </p:txBody>
      </p:sp>
      <p:sp>
        <p:nvSpPr>
          <p:cNvPr id="22" name="Rectangle 21">
            <a:extLst>
              <a:ext uri="{FF2B5EF4-FFF2-40B4-BE49-F238E27FC236}">
                <a16:creationId xmlns:a16="http://schemas.microsoft.com/office/drawing/2014/main" id="{610488E0-1736-43D6-98A9-706D5C08B2A1}"/>
              </a:ext>
            </a:extLst>
          </p:cNvPr>
          <p:cNvSpPr>
            <a:spLocks noGrp="1"/>
          </p:cNvSpPr>
          <p:nvPr/>
        </p:nvSpPr>
        <p:spPr>
          <a:xfrm>
            <a:off x="3810000" y="3432810"/>
            <a:ext cx="1714500" cy="2476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050" b="0">
                <a:solidFill>
                  <a:srgbClr val="5E7184"/>
                </a:solidFill>
                <a:latin typeface="Aptos"/>
                <a:ea typeface="Aptos"/>
                <a:cs typeface="Aptos"/>
              </a:defRPr>
            </a:pPr>
            <a:r>
              <a:rPr sz="1050" b="0">
                <a:solidFill>
                  <a:srgbClr val="5E7184"/>
                </a:solidFill>
                <a:latin typeface="Aptos"/>
                <a:ea typeface="Aptos"/>
                <a:cs typeface="Aptos"/>
              </a:rPr>
              <a:t>nominal cell voltage</a:t>
            </a:r>
          </a:p>
        </p:txBody>
      </p:sp>
      <p:sp>
        <p:nvSpPr>
          <p:cNvPr id="23" name="Rectangle: Rounded Corners 22">
            <a:extLst>
              <a:ext uri="{FF2B5EF4-FFF2-40B4-BE49-F238E27FC236}">
                <a16:creationId xmlns:a16="http://schemas.microsoft.com/office/drawing/2014/main" id="{36826874-962F-41B4-850F-6E6E4508503C}"/>
              </a:ext>
            </a:extLst>
          </p:cNvPr>
          <p:cNvSpPr>
            <a:spLocks noGrp="1"/>
          </p:cNvSpPr>
          <p:nvPr/>
        </p:nvSpPr>
        <p:spPr>
          <a:xfrm>
            <a:off x="3952875" y="4032885"/>
            <a:ext cx="1428750" cy="476250"/>
          </a:xfrm>
          <a:prstGeom prst="roundRect">
            <a:avLst>
              <a:gd name="adj" fmla="val 16000"/>
            </a:avLst>
          </a:prstGeom>
          <a:solidFill>
            <a:srgbClr val="EAF4F8"/>
          </a:solidFill>
          <a:ln w="0">
            <a:noFill/>
          </a:ln>
        </p:spPr>
        <p:txBody>
          <a:bodyPr/>
          <a:lstStyle/>
          <a:p>
            <a:endParaRPr lang="sv-SE"/>
          </a:p>
        </p:txBody>
      </p:sp>
      <p:sp>
        <p:nvSpPr>
          <p:cNvPr id="24" name="Rectangle 23">
            <a:extLst>
              <a:ext uri="{FF2B5EF4-FFF2-40B4-BE49-F238E27FC236}">
                <a16:creationId xmlns:a16="http://schemas.microsoft.com/office/drawing/2014/main" id="{D811BA19-6D72-4E3C-B7EB-2D195C5A54B0}"/>
              </a:ext>
            </a:extLst>
          </p:cNvPr>
          <p:cNvSpPr>
            <a:spLocks noGrp="1"/>
          </p:cNvSpPr>
          <p:nvPr/>
        </p:nvSpPr>
        <p:spPr>
          <a:xfrm>
            <a:off x="4048125" y="4118610"/>
            <a:ext cx="1238250" cy="29527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75" b="1">
                <a:solidFill>
                  <a:srgbClr val="0B5FA5"/>
                </a:solidFill>
                <a:latin typeface="Aptos"/>
                <a:ea typeface="Aptos"/>
                <a:cs typeface="Aptos"/>
              </a:defRPr>
            </a:pPr>
            <a:r>
              <a:rPr sz="1275" b="1">
                <a:solidFill>
                  <a:srgbClr val="0B5FA5"/>
                </a:solidFill>
                <a:latin typeface="Aptos"/>
                <a:ea typeface="Aptos"/>
                <a:cs typeface="Aptos"/>
              </a:rPr>
              <a:t>350 V class</a:t>
            </a:r>
          </a:p>
        </p:txBody>
      </p:sp>
      <p:sp>
        <p:nvSpPr>
          <p:cNvPr id="25" name="Rectangle 24">
            <a:extLst>
              <a:ext uri="{FF2B5EF4-FFF2-40B4-BE49-F238E27FC236}">
                <a16:creationId xmlns:a16="http://schemas.microsoft.com/office/drawing/2014/main" id="{B329C978-5BCC-461E-8EA4-A5346F78E24E}"/>
              </a:ext>
            </a:extLst>
          </p:cNvPr>
          <p:cNvSpPr>
            <a:spLocks noGrp="1"/>
          </p:cNvSpPr>
          <p:nvPr/>
        </p:nvSpPr>
        <p:spPr>
          <a:xfrm>
            <a:off x="3952875" y="4747260"/>
            <a:ext cx="1428750"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00" b="0">
                <a:solidFill>
                  <a:srgbClr val="5E7184"/>
                </a:solidFill>
                <a:latin typeface="Aptos"/>
                <a:ea typeface="Aptos"/>
                <a:cs typeface="Aptos"/>
              </a:defRPr>
            </a:pPr>
            <a:r>
              <a:rPr sz="1200" b="0">
                <a:solidFill>
                  <a:srgbClr val="5E7184"/>
                </a:solidFill>
                <a:latin typeface="Aptos"/>
                <a:ea typeface="Aptos"/>
                <a:cs typeface="Aptos"/>
              </a:rPr>
              <a:t>6N = 30</a:t>
            </a:r>
          </a:p>
          <a:p>
            <a:pPr algn="ctr">
              <a:defRPr sz="1200" b="0">
                <a:solidFill>
                  <a:srgbClr val="5E7184"/>
                </a:solidFill>
                <a:latin typeface="Aptos"/>
                <a:ea typeface="Aptos"/>
                <a:cs typeface="Aptos"/>
              </a:defRPr>
            </a:pPr>
            <a:r>
              <a:rPr sz="1200" b="0">
                <a:solidFill>
                  <a:srgbClr val="5E7184"/>
                </a:solidFill>
                <a:latin typeface="Aptos"/>
                <a:ea typeface="Aptos"/>
                <a:cs typeface="Aptos"/>
              </a:rPr>
              <a:t>active switches</a:t>
            </a:r>
          </a:p>
        </p:txBody>
      </p:sp>
      <p:sp>
        <p:nvSpPr>
          <p:cNvPr id="26" name="Rectangle: Rounded Corners 25">
            <a:extLst>
              <a:ext uri="{FF2B5EF4-FFF2-40B4-BE49-F238E27FC236}">
                <a16:creationId xmlns:a16="http://schemas.microsoft.com/office/drawing/2014/main" id="{71AB0B77-01B9-4D80-9253-1921D90147C5}"/>
              </a:ext>
            </a:extLst>
          </p:cNvPr>
          <p:cNvSpPr>
            <a:spLocks noGrp="1"/>
          </p:cNvSpPr>
          <p:nvPr/>
        </p:nvSpPr>
        <p:spPr>
          <a:xfrm>
            <a:off x="6477000" y="1918335"/>
            <a:ext cx="2095500" cy="3524250"/>
          </a:xfrm>
          <a:prstGeom prst="roundRect">
            <a:avLst>
              <a:gd name="adj" fmla="val 3636"/>
            </a:avLst>
          </a:prstGeom>
          <a:solidFill>
            <a:srgbClr val="FFFFFF"/>
          </a:solidFill>
          <a:ln w="0">
            <a:noFill/>
          </a:ln>
        </p:spPr>
        <p:txBody>
          <a:bodyPr/>
          <a:lstStyle/>
          <a:p>
            <a:endParaRPr lang="sv-SE"/>
          </a:p>
        </p:txBody>
      </p:sp>
      <p:sp>
        <p:nvSpPr>
          <p:cNvPr id="27" name="Rectangle 26">
            <a:extLst>
              <a:ext uri="{FF2B5EF4-FFF2-40B4-BE49-F238E27FC236}">
                <a16:creationId xmlns:a16="http://schemas.microsoft.com/office/drawing/2014/main" id="{B314C29F-A973-4799-8D29-89483C1F0CE5}"/>
              </a:ext>
            </a:extLst>
          </p:cNvPr>
          <p:cNvSpPr>
            <a:spLocks noGrp="1"/>
          </p:cNvSpPr>
          <p:nvPr/>
        </p:nvSpPr>
        <p:spPr>
          <a:xfrm>
            <a:off x="6477000" y="1918335"/>
            <a:ext cx="2095500" cy="114300"/>
          </a:xfrm>
          <a:prstGeom prst="rect">
            <a:avLst/>
          </a:prstGeom>
          <a:solidFill>
            <a:srgbClr val="1A9A74"/>
          </a:solidFill>
          <a:ln w="0">
            <a:noFill/>
          </a:ln>
        </p:spPr>
        <p:txBody>
          <a:bodyPr/>
          <a:lstStyle/>
          <a:p>
            <a:endParaRPr lang="sv-SE"/>
          </a:p>
        </p:txBody>
      </p:sp>
      <p:sp>
        <p:nvSpPr>
          <p:cNvPr id="28" name="Rectangle 27">
            <a:extLst>
              <a:ext uri="{FF2B5EF4-FFF2-40B4-BE49-F238E27FC236}">
                <a16:creationId xmlns:a16="http://schemas.microsoft.com/office/drawing/2014/main" id="{E057B413-238A-4174-93D2-5E219FAE0ED4}"/>
              </a:ext>
            </a:extLst>
          </p:cNvPr>
          <p:cNvSpPr>
            <a:spLocks noGrp="1"/>
          </p:cNvSpPr>
          <p:nvPr/>
        </p:nvSpPr>
        <p:spPr>
          <a:xfrm>
            <a:off x="6648450" y="2204085"/>
            <a:ext cx="1752600" cy="3810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800" b="1">
                <a:solidFill>
                  <a:srgbClr val="071A2F"/>
                </a:solidFill>
                <a:latin typeface="Aptos"/>
                <a:ea typeface="Aptos"/>
                <a:cs typeface="Aptos"/>
              </a:defRPr>
            </a:pPr>
            <a:r>
              <a:rPr sz="1800" b="1">
                <a:solidFill>
                  <a:srgbClr val="071A2F"/>
                </a:solidFill>
                <a:latin typeface="Aptos"/>
                <a:ea typeface="Aptos"/>
                <a:cs typeface="Aptos"/>
              </a:rPr>
              <a:t>8 cells</a:t>
            </a:r>
          </a:p>
        </p:txBody>
      </p:sp>
      <p:sp>
        <p:nvSpPr>
          <p:cNvPr id="29" name="Rectangle 28">
            <a:extLst>
              <a:ext uri="{FF2B5EF4-FFF2-40B4-BE49-F238E27FC236}">
                <a16:creationId xmlns:a16="http://schemas.microsoft.com/office/drawing/2014/main" id="{E2A21147-4636-4FC2-95D0-341E6361CADC}"/>
              </a:ext>
            </a:extLst>
          </p:cNvPr>
          <p:cNvSpPr>
            <a:spLocks noGrp="1"/>
          </p:cNvSpPr>
          <p:nvPr/>
        </p:nvSpPr>
        <p:spPr>
          <a:xfrm>
            <a:off x="6648450" y="2813685"/>
            <a:ext cx="175260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225" b="1">
                <a:solidFill>
                  <a:srgbClr val="1A9A74"/>
                </a:solidFill>
                <a:latin typeface="Aptos"/>
                <a:ea typeface="Aptos"/>
                <a:cs typeface="Aptos"/>
              </a:defRPr>
            </a:pPr>
            <a:r>
              <a:rPr sz="3225" b="1">
                <a:solidFill>
                  <a:srgbClr val="1A9A74"/>
                </a:solidFill>
                <a:latin typeface="Aptos"/>
                <a:ea typeface="Aptos"/>
                <a:cs typeface="Aptos"/>
              </a:rPr>
              <a:t>150 V</a:t>
            </a:r>
          </a:p>
        </p:txBody>
      </p:sp>
      <p:sp>
        <p:nvSpPr>
          <p:cNvPr id="30" name="Rectangle 29">
            <a:extLst>
              <a:ext uri="{FF2B5EF4-FFF2-40B4-BE49-F238E27FC236}">
                <a16:creationId xmlns:a16="http://schemas.microsoft.com/office/drawing/2014/main" id="{112FC599-0E8A-4187-8F52-1D9E5F2E9450}"/>
              </a:ext>
            </a:extLst>
          </p:cNvPr>
          <p:cNvSpPr>
            <a:spLocks noGrp="1"/>
          </p:cNvSpPr>
          <p:nvPr/>
        </p:nvSpPr>
        <p:spPr>
          <a:xfrm>
            <a:off x="6667500" y="3432810"/>
            <a:ext cx="1714500" cy="2476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050" b="0">
                <a:solidFill>
                  <a:srgbClr val="5E7184"/>
                </a:solidFill>
                <a:latin typeface="Aptos"/>
                <a:ea typeface="Aptos"/>
                <a:cs typeface="Aptos"/>
              </a:defRPr>
            </a:pPr>
            <a:r>
              <a:rPr sz="1050" b="0">
                <a:solidFill>
                  <a:srgbClr val="5E7184"/>
                </a:solidFill>
                <a:latin typeface="Aptos"/>
                <a:ea typeface="Aptos"/>
                <a:cs typeface="Aptos"/>
              </a:rPr>
              <a:t>nominal cell voltage</a:t>
            </a:r>
          </a:p>
        </p:txBody>
      </p:sp>
      <p:sp>
        <p:nvSpPr>
          <p:cNvPr id="31" name="Rectangle: Rounded Corners 30">
            <a:extLst>
              <a:ext uri="{FF2B5EF4-FFF2-40B4-BE49-F238E27FC236}">
                <a16:creationId xmlns:a16="http://schemas.microsoft.com/office/drawing/2014/main" id="{439535B1-32D0-445E-9594-671BF460018E}"/>
              </a:ext>
            </a:extLst>
          </p:cNvPr>
          <p:cNvSpPr>
            <a:spLocks noGrp="1"/>
          </p:cNvSpPr>
          <p:nvPr/>
        </p:nvSpPr>
        <p:spPr>
          <a:xfrm>
            <a:off x="6810375" y="4032885"/>
            <a:ext cx="1428750" cy="476250"/>
          </a:xfrm>
          <a:prstGeom prst="roundRect">
            <a:avLst>
              <a:gd name="adj" fmla="val 16000"/>
            </a:avLst>
          </a:prstGeom>
          <a:solidFill>
            <a:srgbClr val="EAF4F8"/>
          </a:solidFill>
          <a:ln w="0">
            <a:noFill/>
          </a:ln>
        </p:spPr>
        <p:txBody>
          <a:bodyPr/>
          <a:lstStyle/>
          <a:p>
            <a:endParaRPr lang="sv-SE"/>
          </a:p>
        </p:txBody>
      </p:sp>
      <p:sp>
        <p:nvSpPr>
          <p:cNvPr id="32" name="Rectangle 31">
            <a:extLst>
              <a:ext uri="{FF2B5EF4-FFF2-40B4-BE49-F238E27FC236}">
                <a16:creationId xmlns:a16="http://schemas.microsoft.com/office/drawing/2014/main" id="{1F4477F7-3C12-4126-83C4-44A70D8E59A0}"/>
              </a:ext>
            </a:extLst>
          </p:cNvPr>
          <p:cNvSpPr>
            <a:spLocks noGrp="1"/>
          </p:cNvSpPr>
          <p:nvPr/>
        </p:nvSpPr>
        <p:spPr>
          <a:xfrm>
            <a:off x="6905625" y="4118610"/>
            <a:ext cx="1238250" cy="29527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75" b="1">
                <a:solidFill>
                  <a:srgbClr val="0B5FA5"/>
                </a:solidFill>
                <a:latin typeface="Aptos"/>
                <a:ea typeface="Aptos"/>
                <a:cs typeface="Aptos"/>
              </a:defRPr>
            </a:pPr>
            <a:r>
              <a:rPr sz="1275" b="1">
                <a:solidFill>
                  <a:srgbClr val="0B5FA5"/>
                </a:solidFill>
                <a:latin typeface="Aptos"/>
                <a:ea typeface="Aptos"/>
                <a:cs typeface="Aptos"/>
              </a:rPr>
              <a:t>200 V class</a:t>
            </a:r>
          </a:p>
        </p:txBody>
      </p:sp>
      <p:sp>
        <p:nvSpPr>
          <p:cNvPr id="33" name="Rectangle 32">
            <a:extLst>
              <a:ext uri="{FF2B5EF4-FFF2-40B4-BE49-F238E27FC236}">
                <a16:creationId xmlns:a16="http://schemas.microsoft.com/office/drawing/2014/main" id="{C21667BC-CD8A-4012-8945-69D46EE22C49}"/>
              </a:ext>
            </a:extLst>
          </p:cNvPr>
          <p:cNvSpPr>
            <a:spLocks noGrp="1"/>
          </p:cNvSpPr>
          <p:nvPr/>
        </p:nvSpPr>
        <p:spPr>
          <a:xfrm>
            <a:off x="6810375" y="4747260"/>
            <a:ext cx="1428750"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00" b="0">
                <a:solidFill>
                  <a:srgbClr val="5E7184"/>
                </a:solidFill>
                <a:latin typeface="Aptos"/>
                <a:ea typeface="Aptos"/>
                <a:cs typeface="Aptos"/>
              </a:defRPr>
            </a:pPr>
            <a:r>
              <a:rPr sz="1200" b="0">
                <a:solidFill>
                  <a:srgbClr val="5E7184"/>
                </a:solidFill>
                <a:latin typeface="Aptos"/>
                <a:ea typeface="Aptos"/>
                <a:cs typeface="Aptos"/>
              </a:rPr>
              <a:t>6N = 48</a:t>
            </a:r>
          </a:p>
          <a:p>
            <a:pPr algn="ctr">
              <a:defRPr sz="1200" b="0">
                <a:solidFill>
                  <a:srgbClr val="5E7184"/>
                </a:solidFill>
                <a:latin typeface="Aptos"/>
                <a:ea typeface="Aptos"/>
                <a:cs typeface="Aptos"/>
              </a:defRPr>
            </a:pPr>
            <a:r>
              <a:rPr sz="1200" b="0">
                <a:solidFill>
                  <a:srgbClr val="5E7184"/>
                </a:solidFill>
                <a:latin typeface="Aptos"/>
                <a:ea typeface="Aptos"/>
                <a:cs typeface="Aptos"/>
              </a:rPr>
              <a:t>active switches</a:t>
            </a:r>
          </a:p>
        </p:txBody>
      </p:sp>
      <p:sp>
        <p:nvSpPr>
          <p:cNvPr id="34" name="Rectangle: Rounded Corners 33">
            <a:extLst>
              <a:ext uri="{FF2B5EF4-FFF2-40B4-BE49-F238E27FC236}">
                <a16:creationId xmlns:a16="http://schemas.microsoft.com/office/drawing/2014/main" id="{96B3562A-BFCB-4E6C-B891-BFDBFBB89F48}"/>
              </a:ext>
            </a:extLst>
          </p:cNvPr>
          <p:cNvSpPr>
            <a:spLocks noGrp="1"/>
          </p:cNvSpPr>
          <p:nvPr/>
        </p:nvSpPr>
        <p:spPr>
          <a:xfrm>
            <a:off x="9334500" y="1918335"/>
            <a:ext cx="2095500" cy="3524250"/>
          </a:xfrm>
          <a:prstGeom prst="roundRect">
            <a:avLst>
              <a:gd name="adj" fmla="val 3636"/>
            </a:avLst>
          </a:prstGeom>
          <a:solidFill>
            <a:srgbClr val="FFFFFF"/>
          </a:solidFill>
          <a:ln w="0">
            <a:noFill/>
          </a:ln>
        </p:spPr>
        <p:txBody>
          <a:bodyPr/>
          <a:lstStyle/>
          <a:p>
            <a:endParaRPr lang="sv-SE"/>
          </a:p>
        </p:txBody>
      </p:sp>
      <p:sp>
        <p:nvSpPr>
          <p:cNvPr id="35" name="Rectangle 34">
            <a:extLst>
              <a:ext uri="{FF2B5EF4-FFF2-40B4-BE49-F238E27FC236}">
                <a16:creationId xmlns:a16="http://schemas.microsoft.com/office/drawing/2014/main" id="{488D6562-9C11-4FAC-87E7-5CC1E88FFE0F}"/>
              </a:ext>
            </a:extLst>
          </p:cNvPr>
          <p:cNvSpPr>
            <a:spLocks noGrp="1"/>
          </p:cNvSpPr>
          <p:nvPr/>
        </p:nvSpPr>
        <p:spPr>
          <a:xfrm>
            <a:off x="9334500" y="1918335"/>
            <a:ext cx="2095500" cy="114300"/>
          </a:xfrm>
          <a:prstGeom prst="rect">
            <a:avLst/>
          </a:prstGeom>
          <a:solidFill>
            <a:srgbClr val="16B8D4"/>
          </a:solidFill>
          <a:ln w="0">
            <a:noFill/>
          </a:ln>
        </p:spPr>
        <p:txBody>
          <a:bodyPr/>
          <a:lstStyle/>
          <a:p>
            <a:endParaRPr lang="sv-SE"/>
          </a:p>
        </p:txBody>
      </p:sp>
      <p:sp>
        <p:nvSpPr>
          <p:cNvPr id="36" name="Rectangle 35">
            <a:extLst>
              <a:ext uri="{FF2B5EF4-FFF2-40B4-BE49-F238E27FC236}">
                <a16:creationId xmlns:a16="http://schemas.microsoft.com/office/drawing/2014/main" id="{60FC6D3F-632F-4F28-86D9-A0D2B6D4C9AA}"/>
              </a:ext>
            </a:extLst>
          </p:cNvPr>
          <p:cNvSpPr>
            <a:spLocks noGrp="1"/>
          </p:cNvSpPr>
          <p:nvPr/>
        </p:nvSpPr>
        <p:spPr>
          <a:xfrm>
            <a:off x="9505950" y="2204085"/>
            <a:ext cx="1752600" cy="3810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800" b="1">
                <a:solidFill>
                  <a:srgbClr val="071A2F"/>
                </a:solidFill>
                <a:latin typeface="Aptos"/>
                <a:ea typeface="Aptos"/>
                <a:cs typeface="Aptos"/>
              </a:defRPr>
            </a:pPr>
            <a:r>
              <a:rPr sz="1800" b="1">
                <a:solidFill>
                  <a:srgbClr val="071A2F"/>
                </a:solidFill>
                <a:latin typeface="Aptos"/>
                <a:ea typeface="Aptos"/>
                <a:cs typeface="Aptos"/>
              </a:rPr>
              <a:t>15 cells</a:t>
            </a:r>
          </a:p>
        </p:txBody>
      </p:sp>
      <p:sp>
        <p:nvSpPr>
          <p:cNvPr id="37" name="Rectangle 36">
            <a:extLst>
              <a:ext uri="{FF2B5EF4-FFF2-40B4-BE49-F238E27FC236}">
                <a16:creationId xmlns:a16="http://schemas.microsoft.com/office/drawing/2014/main" id="{52B718C7-8D7C-48F0-85C7-F49B058D2C57}"/>
              </a:ext>
            </a:extLst>
          </p:cNvPr>
          <p:cNvSpPr>
            <a:spLocks noGrp="1"/>
          </p:cNvSpPr>
          <p:nvPr/>
        </p:nvSpPr>
        <p:spPr>
          <a:xfrm>
            <a:off x="9505950" y="2813685"/>
            <a:ext cx="175260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225" b="1">
                <a:solidFill>
                  <a:srgbClr val="16B8D4"/>
                </a:solidFill>
                <a:latin typeface="Aptos"/>
                <a:ea typeface="Aptos"/>
                <a:cs typeface="Aptos"/>
              </a:defRPr>
            </a:pPr>
            <a:r>
              <a:rPr sz="3225" b="1">
                <a:solidFill>
                  <a:srgbClr val="16B8D4"/>
                </a:solidFill>
                <a:latin typeface="Aptos"/>
                <a:ea typeface="Aptos"/>
                <a:cs typeface="Aptos"/>
              </a:rPr>
              <a:t>80 V</a:t>
            </a:r>
          </a:p>
        </p:txBody>
      </p:sp>
      <p:sp>
        <p:nvSpPr>
          <p:cNvPr id="38" name="Rectangle 37">
            <a:extLst>
              <a:ext uri="{FF2B5EF4-FFF2-40B4-BE49-F238E27FC236}">
                <a16:creationId xmlns:a16="http://schemas.microsoft.com/office/drawing/2014/main" id="{F9FC0020-D58D-4414-B903-94DA6BEA25F6}"/>
              </a:ext>
            </a:extLst>
          </p:cNvPr>
          <p:cNvSpPr>
            <a:spLocks noGrp="1"/>
          </p:cNvSpPr>
          <p:nvPr/>
        </p:nvSpPr>
        <p:spPr>
          <a:xfrm>
            <a:off x="9525000" y="3432810"/>
            <a:ext cx="1714500" cy="2476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050" b="0">
                <a:solidFill>
                  <a:srgbClr val="5E7184"/>
                </a:solidFill>
                <a:latin typeface="Aptos"/>
                <a:ea typeface="Aptos"/>
                <a:cs typeface="Aptos"/>
              </a:defRPr>
            </a:pPr>
            <a:r>
              <a:rPr sz="1050" b="0">
                <a:solidFill>
                  <a:srgbClr val="5E7184"/>
                </a:solidFill>
                <a:latin typeface="Aptos"/>
                <a:ea typeface="Aptos"/>
                <a:cs typeface="Aptos"/>
              </a:rPr>
              <a:t>nominal cell voltage</a:t>
            </a:r>
          </a:p>
        </p:txBody>
      </p:sp>
      <p:sp>
        <p:nvSpPr>
          <p:cNvPr id="39" name="Rectangle: Rounded Corners 38">
            <a:extLst>
              <a:ext uri="{FF2B5EF4-FFF2-40B4-BE49-F238E27FC236}">
                <a16:creationId xmlns:a16="http://schemas.microsoft.com/office/drawing/2014/main" id="{F0FC3C8D-A77F-419A-830B-BEF2E46639C8}"/>
              </a:ext>
            </a:extLst>
          </p:cNvPr>
          <p:cNvSpPr>
            <a:spLocks noGrp="1"/>
          </p:cNvSpPr>
          <p:nvPr/>
        </p:nvSpPr>
        <p:spPr>
          <a:xfrm>
            <a:off x="9667875" y="4032885"/>
            <a:ext cx="1428750" cy="476250"/>
          </a:xfrm>
          <a:prstGeom prst="roundRect">
            <a:avLst>
              <a:gd name="adj" fmla="val 16000"/>
            </a:avLst>
          </a:prstGeom>
          <a:solidFill>
            <a:srgbClr val="EAF4F8"/>
          </a:solidFill>
          <a:ln w="0">
            <a:noFill/>
          </a:ln>
        </p:spPr>
        <p:txBody>
          <a:bodyPr/>
          <a:lstStyle/>
          <a:p>
            <a:endParaRPr lang="sv-SE"/>
          </a:p>
        </p:txBody>
      </p:sp>
      <p:sp>
        <p:nvSpPr>
          <p:cNvPr id="40" name="Rectangle 39">
            <a:extLst>
              <a:ext uri="{FF2B5EF4-FFF2-40B4-BE49-F238E27FC236}">
                <a16:creationId xmlns:a16="http://schemas.microsoft.com/office/drawing/2014/main" id="{B01FC32C-9944-4C55-BED7-39EF3345B1CF}"/>
              </a:ext>
            </a:extLst>
          </p:cNvPr>
          <p:cNvSpPr>
            <a:spLocks noGrp="1"/>
          </p:cNvSpPr>
          <p:nvPr/>
        </p:nvSpPr>
        <p:spPr>
          <a:xfrm>
            <a:off x="9763125" y="4118610"/>
            <a:ext cx="1238250" cy="29527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75" b="1">
                <a:solidFill>
                  <a:srgbClr val="0B5FA5"/>
                </a:solidFill>
                <a:latin typeface="Aptos"/>
                <a:ea typeface="Aptos"/>
                <a:cs typeface="Aptos"/>
              </a:defRPr>
            </a:pPr>
            <a:r>
              <a:rPr sz="1275" b="1">
                <a:solidFill>
                  <a:srgbClr val="0B5FA5"/>
                </a:solidFill>
                <a:latin typeface="Aptos"/>
                <a:ea typeface="Aptos"/>
                <a:cs typeface="Aptos"/>
              </a:rPr>
              <a:t>100 V class</a:t>
            </a:r>
          </a:p>
        </p:txBody>
      </p:sp>
      <p:sp>
        <p:nvSpPr>
          <p:cNvPr id="41" name="Rectangle 40">
            <a:extLst>
              <a:ext uri="{FF2B5EF4-FFF2-40B4-BE49-F238E27FC236}">
                <a16:creationId xmlns:a16="http://schemas.microsoft.com/office/drawing/2014/main" id="{AE848553-253C-411F-A237-3EBCF74D0A8B}"/>
              </a:ext>
            </a:extLst>
          </p:cNvPr>
          <p:cNvSpPr>
            <a:spLocks noGrp="1"/>
          </p:cNvSpPr>
          <p:nvPr/>
        </p:nvSpPr>
        <p:spPr>
          <a:xfrm>
            <a:off x="9667875" y="4747260"/>
            <a:ext cx="1428750" cy="4572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200" b="0">
                <a:solidFill>
                  <a:srgbClr val="5E7184"/>
                </a:solidFill>
                <a:latin typeface="Aptos"/>
                <a:ea typeface="Aptos"/>
                <a:cs typeface="Aptos"/>
              </a:defRPr>
            </a:pPr>
            <a:r>
              <a:rPr sz="1200" b="0">
                <a:solidFill>
                  <a:srgbClr val="5E7184"/>
                </a:solidFill>
                <a:latin typeface="Aptos"/>
                <a:ea typeface="Aptos"/>
                <a:cs typeface="Aptos"/>
              </a:rPr>
              <a:t>6N = 90</a:t>
            </a:r>
          </a:p>
          <a:p>
            <a:pPr algn="ctr">
              <a:defRPr sz="1200" b="0">
                <a:solidFill>
                  <a:srgbClr val="5E7184"/>
                </a:solidFill>
                <a:latin typeface="Aptos"/>
                <a:ea typeface="Aptos"/>
                <a:cs typeface="Aptos"/>
              </a:defRPr>
            </a:pPr>
            <a:r>
              <a:rPr sz="1200" b="0">
                <a:solidFill>
                  <a:srgbClr val="5E7184"/>
                </a:solidFill>
                <a:latin typeface="Aptos"/>
                <a:ea typeface="Aptos"/>
                <a:cs typeface="Aptos"/>
              </a:rPr>
              <a:t>active switches</a:t>
            </a:r>
          </a:p>
        </p:txBody>
      </p:sp>
    </p:spTree>
    <p:extLst>
      <p:ext uri="{BB962C8B-B14F-4D97-AF65-F5344CB8AC3E}">
        <p14:creationId xmlns:p14="http://schemas.microsoft.com/office/powerpoint/2010/main" val="2944140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56174-D6C6-67C0-FF28-36713A2BC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D8B33-E706-BF8C-AF1E-F8B6F5E6E775}"/>
              </a:ext>
            </a:extLst>
          </p:cNvPr>
          <p:cNvSpPr>
            <a:spLocks noGrp="1"/>
          </p:cNvSpPr>
          <p:nvPr>
            <p:ph type="title"/>
          </p:nvPr>
        </p:nvSpPr>
        <p:spPr>
          <a:xfrm>
            <a:off x="1009317" y="286175"/>
            <a:ext cx="10990263" cy="568412"/>
          </a:xfrm>
        </p:spPr>
        <p:txBody>
          <a:bodyPr/>
          <a:lstStyle/>
          <a:p>
            <a:r>
              <a:rPr lang="en-US" sz="3200" dirty="0"/>
              <a:t>Voltage portioning opens lower device-voltage classes</a:t>
            </a:r>
            <a:br>
              <a:rPr lang="en-US" sz="3200" dirty="0"/>
            </a:br>
            <a:br>
              <a:rPr lang="en-US" dirty="0"/>
            </a:br>
            <a:endParaRPr lang="sv-SE" dirty="0"/>
          </a:p>
        </p:txBody>
      </p:sp>
      <p:pic>
        <p:nvPicPr>
          <p:cNvPr id="9" name="Picture 8">
            <a:extLst>
              <a:ext uri="{FF2B5EF4-FFF2-40B4-BE49-F238E27FC236}">
                <a16:creationId xmlns:a16="http://schemas.microsoft.com/office/drawing/2014/main" id="{3A491363-5F83-BD3A-E52B-5E021AFA6858}"/>
              </a:ext>
            </a:extLst>
          </p:cNvPr>
          <p:cNvPicPr>
            <a:picLocks noChangeAspect="1"/>
          </p:cNvPicPr>
          <p:nvPr/>
        </p:nvPicPr>
        <p:blipFill>
          <a:blip r:embed="rId2"/>
          <a:srcRect t="2204"/>
          <a:stretch>
            <a:fillRect/>
          </a:stretch>
        </p:blipFill>
        <p:spPr>
          <a:xfrm>
            <a:off x="883920" y="1308010"/>
            <a:ext cx="10622280" cy="3694842"/>
          </a:xfrm>
          <a:prstGeom prst="rect">
            <a:avLst/>
          </a:prstGeom>
        </p:spPr>
      </p:pic>
    </p:spTree>
    <p:extLst>
      <p:ext uri="{BB962C8B-B14F-4D97-AF65-F5344CB8AC3E}">
        <p14:creationId xmlns:p14="http://schemas.microsoft.com/office/powerpoint/2010/main" val="778790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8AD0-185E-8A84-5DF0-AD3646FBD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20CC2-59A0-C9FB-3B65-7A1468E5AACE}"/>
              </a:ext>
            </a:extLst>
          </p:cNvPr>
          <p:cNvSpPr>
            <a:spLocks noGrp="1"/>
          </p:cNvSpPr>
          <p:nvPr>
            <p:ph type="title"/>
          </p:nvPr>
        </p:nvSpPr>
        <p:spPr>
          <a:xfrm>
            <a:off x="1009317" y="286175"/>
            <a:ext cx="10990263" cy="568412"/>
          </a:xfrm>
        </p:spPr>
        <p:txBody>
          <a:bodyPr/>
          <a:lstStyle/>
          <a:p>
            <a:r>
              <a:rPr lang="en-US" sz="2800" dirty="0"/>
              <a:t>Lower-voltage </a:t>
            </a:r>
            <a:r>
              <a:rPr lang="en-US" sz="2800" dirty="0" err="1"/>
              <a:t>GaN</a:t>
            </a:r>
            <a:r>
              <a:rPr lang="en-US" sz="2800" dirty="0"/>
              <a:t> can improve device-level performance</a:t>
            </a:r>
            <a:br>
              <a:rPr lang="en-US" sz="2800" dirty="0"/>
            </a:br>
            <a:r>
              <a:rPr lang="en-US" sz="2800" dirty="0"/>
              <a:t> </a:t>
            </a:r>
            <a:br>
              <a:rPr lang="en-US" sz="2800" dirty="0"/>
            </a:br>
            <a:br>
              <a:rPr lang="en-US" dirty="0"/>
            </a:br>
            <a:endParaRPr lang="sv-SE" dirty="0"/>
          </a:p>
        </p:txBody>
      </p:sp>
      <p:pic>
        <p:nvPicPr>
          <p:cNvPr id="5" name="Picture 4">
            <a:extLst>
              <a:ext uri="{FF2B5EF4-FFF2-40B4-BE49-F238E27FC236}">
                <a16:creationId xmlns:a16="http://schemas.microsoft.com/office/drawing/2014/main" id="{0E6F6431-0F0C-0530-670D-4C4109827860}"/>
              </a:ext>
            </a:extLst>
          </p:cNvPr>
          <p:cNvPicPr>
            <a:picLocks noChangeAspect="1"/>
          </p:cNvPicPr>
          <p:nvPr/>
        </p:nvPicPr>
        <p:blipFill>
          <a:blip r:embed="rId2"/>
          <a:stretch/>
        </p:blipFill>
        <p:spPr>
          <a:xfrm>
            <a:off x="541020" y="1234115"/>
            <a:ext cx="5715000" cy="4222129"/>
          </a:xfrm>
          <a:prstGeom prst="rect">
            <a:avLst/>
          </a:prstGeom>
        </p:spPr>
      </p:pic>
      <p:sp>
        <p:nvSpPr>
          <p:cNvPr id="6" name="Rectangle 5">
            <a:extLst>
              <a:ext uri="{FF2B5EF4-FFF2-40B4-BE49-F238E27FC236}">
                <a16:creationId xmlns:a16="http://schemas.microsoft.com/office/drawing/2014/main" id="{22742BB2-4E50-4C9F-A731-1CD6AB3863D1}"/>
              </a:ext>
            </a:extLst>
          </p:cNvPr>
          <p:cNvSpPr>
            <a:spLocks noGrp="1"/>
          </p:cNvSpPr>
          <p:nvPr/>
        </p:nvSpPr>
        <p:spPr>
          <a:xfrm>
            <a:off x="7075170" y="1284294"/>
            <a:ext cx="4000500" cy="3810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00" b="1">
                <a:solidFill>
                  <a:srgbClr val="071A2F"/>
                </a:solidFill>
                <a:latin typeface="Aptos"/>
                <a:ea typeface="Aptos"/>
                <a:cs typeface="Aptos"/>
              </a:defRPr>
            </a:pPr>
            <a:r>
              <a:rPr sz="2000" b="1" dirty="0">
                <a:solidFill>
                  <a:srgbClr val="071A2F"/>
                </a:solidFill>
                <a:latin typeface="Aptos"/>
                <a:ea typeface="Aptos"/>
                <a:cs typeface="Aptos"/>
              </a:rPr>
              <a:t>Why it matters</a:t>
            </a:r>
          </a:p>
        </p:txBody>
      </p:sp>
      <p:sp>
        <p:nvSpPr>
          <p:cNvPr id="7" name="Rectangle 6">
            <a:extLst>
              <a:ext uri="{FF2B5EF4-FFF2-40B4-BE49-F238E27FC236}">
                <a16:creationId xmlns:a16="http://schemas.microsoft.com/office/drawing/2014/main" id="{91E2B849-6261-4818-93A9-6A64A692507E}"/>
              </a:ext>
            </a:extLst>
          </p:cNvPr>
          <p:cNvSpPr>
            <a:spLocks noGrp="1"/>
          </p:cNvSpPr>
          <p:nvPr/>
        </p:nvSpPr>
        <p:spPr>
          <a:xfrm>
            <a:off x="7075170" y="1836744"/>
            <a:ext cx="2095500" cy="3238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00" b="1">
                <a:solidFill>
                  <a:srgbClr val="0B5FA5"/>
                </a:solidFill>
                <a:latin typeface="Aptos"/>
                <a:ea typeface="Aptos"/>
                <a:cs typeface="Aptos"/>
              </a:defRPr>
            </a:pPr>
            <a:r>
              <a:rPr sz="2000" b="1" dirty="0">
                <a:solidFill>
                  <a:srgbClr val="0B5FA5"/>
                </a:solidFill>
                <a:latin typeface="Aptos"/>
                <a:ea typeface="Aptos"/>
                <a:cs typeface="Aptos"/>
              </a:rPr>
              <a:t>Lower RDS(on)</a:t>
            </a:r>
          </a:p>
        </p:txBody>
      </p:sp>
      <p:sp>
        <p:nvSpPr>
          <p:cNvPr id="9" name="Rectangle 8">
            <a:extLst>
              <a:ext uri="{FF2B5EF4-FFF2-40B4-BE49-F238E27FC236}">
                <a16:creationId xmlns:a16="http://schemas.microsoft.com/office/drawing/2014/main" id="{4418579E-1DC6-4F1F-85EB-9DB140CF82D3}"/>
              </a:ext>
            </a:extLst>
          </p:cNvPr>
          <p:cNvSpPr>
            <a:spLocks noGrp="1"/>
          </p:cNvSpPr>
          <p:nvPr/>
        </p:nvSpPr>
        <p:spPr>
          <a:xfrm>
            <a:off x="7075170" y="2332044"/>
            <a:ext cx="4255770" cy="3810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defRPr sz="1275" b="0">
                <a:solidFill>
                  <a:srgbClr val="5E7184"/>
                </a:solidFill>
                <a:latin typeface="Aptos"/>
                <a:ea typeface="Aptos"/>
                <a:cs typeface="Aptos"/>
              </a:defRPr>
            </a:pPr>
            <a:r>
              <a:rPr sz="2000" b="0" dirty="0">
                <a:solidFill>
                  <a:srgbClr val="5E7184"/>
                </a:solidFill>
                <a:latin typeface="Aptos"/>
                <a:ea typeface="Aptos"/>
                <a:cs typeface="Aptos"/>
              </a:rPr>
              <a:t>can reduce conduction loss and chip area</a:t>
            </a:r>
          </a:p>
        </p:txBody>
      </p:sp>
      <p:sp>
        <p:nvSpPr>
          <p:cNvPr id="11" name="Rectangle 10">
            <a:extLst>
              <a:ext uri="{FF2B5EF4-FFF2-40B4-BE49-F238E27FC236}">
                <a16:creationId xmlns:a16="http://schemas.microsoft.com/office/drawing/2014/main" id="{5162A1F6-6FC4-4CF0-A528-02DA89C76B15}"/>
              </a:ext>
            </a:extLst>
          </p:cNvPr>
          <p:cNvSpPr>
            <a:spLocks noGrp="1"/>
          </p:cNvSpPr>
          <p:nvPr/>
        </p:nvSpPr>
        <p:spPr>
          <a:xfrm>
            <a:off x="7075170" y="2946406"/>
            <a:ext cx="2095500" cy="3238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00" b="1">
                <a:solidFill>
                  <a:srgbClr val="0B5FA5"/>
                </a:solidFill>
                <a:latin typeface="Aptos"/>
                <a:ea typeface="Aptos"/>
                <a:cs typeface="Aptos"/>
              </a:defRPr>
            </a:pPr>
            <a:r>
              <a:rPr sz="2000" b="1" dirty="0">
                <a:solidFill>
                  <a:srgbClr val="0B5FA5"/>
                </a:solidFill>
                <a:latin typeface="Aptos"/>
                <a:ea typeface="Aptos"/>
                <a:cs typeface="Aptos"/>
              </a:rPr>
              <a:t>Lower charge</a:t>
            </a:r>
          </a:p>
        </p:txBody>
      </p:sp>
      <p:sp>
        <p:nvSpPr>
          <p:cNvPr id="13" name="Rectangle 12">
            <a:extLst>
              <a:ext uri="{FF2B5EF4-FFF2-40B4-BE49-F238E27FC236}">
                <a16:creationId xmlns:a16="http://schemas.microsoft.com/office/drawing/2014/main" id="{0C02BE04-CC34-4BD4-B07C-99D535DF639F}"/>
              </a:ext>
            </a:extLst>
          </p:cNvPr>
          <p:cNvSpPr>
            <a:spLocks noGrp="1"/>
          </p:cNvSpPr>
          <p:nvPr/>
        </p:nvSpPr>
        <p:spPr>
          <a:xfrm>
            <a:off x="7075170" y="3379794"/>
            <a:ext cx="4316730" cy="381000"/>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defRPr sz="1275" b="0">
                <a:solidFill>
                  <a:srgbClr val="5E7184"/>
                </a:solidFill>
                <a:latin typeface="Aptos"/>
                <a:ea typeface="Aptos"/>
                <a:cs typeface="Aptos"/>
              </a:defRPr>
            </a:pPr>
            <a:r>
              <a:rPr sz="2000" b="0" dirty="0">
                <a:solidFill>
                  <a:srgbClr val="5E7184"/>
                </a:solidFill>
                <a:latin typeface="Aptos"/>
                <a:ea typeface="Aptos"/>
                <a:cs typeface="Aptos"/>
              </a:rPr>
              <a:t>can support faster switching and smaller passives</a:t>
            </a:r>
          </a:p>
        </p:txBody>
      </p:sp>
      <p:sp>
        <p:nvSpPr>
          <p:cNvPr id="15" name="Rectangle 14">
            <a:extLst>
              <a:ext uri="{FF2B5EF4-FFF2-40B4-BE49-F238E27FC236}">
                <a16:creationId xmlns:a16="http://schemas.microsoft.com/office/drawing/2014/main" id="{4B6E62F5-6792-46A9-95EA-A57FE3F1115B}"/>
              </a:ext>
            </a:extLst>
          </p:cNvPr>
          <p:cNvSpPr>
            <a:spLocks noGrp="1"/>
          </p:cNvSpPr>
          <p:nvPr/>
        </p:nvSpPr>
        <p:spPr>
          <a:xfrm>
            <a:off x="7075170" y="4060831"/>
            <a:ext cx="2476500" cy="3238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00" b="1">
                <a:solidFill>
                  <a:srgbClr val="F58A3A"/>
                </a:solidFill>
                <a:latin typeface="Aptos"/>
                <a:ea typeface="Aptos"/>
                <a:cs typeface="Aptos"/>
              </a:defRPr>
            </a:pPr>
            <a:r>
              <a:rPr sz="2000" b="1" dirty="0">
                <a:solidFill>
                  <a:srgbClr val="F58A3A"/>
                </a:solidFill>
                <a:latin typeface="Aptos"/>
                <a:ea typeface="Aptos"/>
                <a:cs typeface="Aptos"/>
              </a:rPr>
              <a:t>Commercial reality</a:t>
            </a:r>
          </a:p>
        </p:txBody>
      </p:sp>
      <p:sp>
        <p:nvSpPr>
          <p:cNvPr id="42" name="Rectangle 41">
            <a:extLst>
              <a:ext uri="{FF2B5EF4-FFF2-40B4-BE49-F238E27FC236}">
                <a16:creationId xmlns:a16="http://schemas.microsoft.com/office/drawing/2014/main" id="{443A82A2-1B44-49BF-B078-906C56E9D5BA}"/>
              </a:ext>
            </a:extLst>
          </p:cNvPr>
          <p:cNvSpPr>
            <a:spLocks noGrp="1"/>
          </p:cNvSpPr>
          <p:nvPr/>
        </p:nvSpPr>
        <p:spPr>
          <a:xfrm>
            <a:off x="7075170" y="4551369"/>
            <a:ext cx="4453890" cy="904875"/>
          </a:xfrm>
          <a:prstGeom prst="rect">
            <a:avLst/>
          </a:prstGeom>
          <a:noFill/>
          <a:ln w="0">
            <a:noFill/>
          </a:ln>
        </p:spPr>
        <p:txBody>
          <a:bodyPr wrap="square" lIns="0" tIns="0" rIns="0" bIns="0" anchor="ctr">
            <a:no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defRPr sz="1275" b="0">
                <a:solidFill>
                  <a:srgbClr val="102A43"/>
                </a:solidFill>
                <a:latin typeface="Aptos"/>
                <a:ea typeface="Aptos"/>
                <a:cs typeface="Aptos"/>
              </a:defRPr>
            </a:pPr>
            <a:r>
              <a:rPr sz="2000" b="0" dirty="0">
                <a:solidFill>
                  <a:srgbClr val="102A43"/>
                </a:solidFill>
                <a:latin typeface="Aptos"/>
                <a:ea typeface="Aptos"/>
                <a:cs typeface="Aptos"/>
              </a:rPr>
              <a:t>Current rating, Coss, package </a:t>
            </a:r>
            <a:r>
              <a:rPr sz="2000" b="0" dirty="0" err="1">
                <a:solidFill>
                  <a:srgbClr val="102A43"/>
                </a:solidFill>
                <a:latin typeface="Aptos"/>
                <a:ea typeface="Aptos"/>
                <a:cs typeface="Aptos"/>
              </a:rPr>
              <a:t>parasitics</a:t>
            </a:r>
            <a:r>
              <a:rPr sz="2000" b="0" dirty="0">
                <a:solidFill>
                  <a:srgbClr val="102A43"/>
                </a:solidFill>
                <a:latin typeface="Aptos"/>
                <a:ea typeface="Aptos"/>
                <a:cs typeface="Aptos"/>
              </a:rPr>
              <a:t>, dynamic RDS(on), and thermal limits can reverse a simple FOM ranking.</a:t>
            </a:r>
          </a:p>
        </p:txBody>
      </p:sp>
    </p:spTree>
    <p:extLst>
      <p:ext uri="{BB962C8B-B14F-4D97-AF65-F5344CB8AC3E}">
        <p14:creationId xmlns:p14="http://schemas.microsoft.com/office/powerpoint/2010/main" val="4152670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4B4F3-90C9-1A64-781D-0AE95FFD3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48FF6-4F2B-1453-361A-52E94C17232B}"/>
              </a:ext>
            </a:extLst>
          </p:cNvPr>
          <p:cNvSpPr>
            <a:spLocks noGrp="1"/>
          </p:cNvSpPr>
          <p:nvPr>
            <p:ph type="title"/>
          </p:nvPr>
        </p:nvSpPr>
        <p:spPr>
          <a:xfrm>
            <a:off x="1009317" y="286175"/>
            <a:ext cx="10990263" cy="568412"/>
          </a:xfrm>
        </p:spPr>
        <p:txBody>
          <a:bodyPr/>
          <a:lstStyle/>
          <a:p>
            <a:r>
              <a:rPr lang="en-US" sz="2800" dirty="0"/>
              <a:t>Figure-of-merit of Off-the-shelf </a:t>
            </a:r>
            <a:r>
              <a:rPr lang="en-US" sz="2800" dirty="0" err="1"/>
              <a:t>GaN</a:t>
            </a:r>
            <a:r>
              <a:rPr lang="en-US" sz="2800" dirty="0"/>
              <a:t> Devices</a:t>
            </a:r>
            <a:endParaRPr lang="sv-SE" dirty="0"/>
          </a:p>
        </p:txBody>
      </p:sp>
      <p:pic>
        <p:nvPicPr>
          <p:cNvPr id="4" name="Picture 3">
            <a:extLst>
              <a:ext uri="{FF2B5EF4-FFF2-40B4-BE49-F238E27FC236}">
                <a16:creationId xmlns:a16="http://schemas.microsoft.com/office/drawing/2014/main" id="{48615F9A-AD21-0985-BE11-9996B1D320FD}"/>
              </a:ext>
            </a:extLst>
          </p:cNvPr>
          <p:cNvPicPr>
            <a:picLocks noChangeAspect="1"/>
          </p:cNvPicPr>
          <p:nvPr/>
        </p:nvPicPr>
        <p:blipFill>
          <a:blip r:embed="rId2"/>
          <a:stretch>
            <a:fillRect/>
          </a:stretch>
        </p:blipFill>
        <p:spPr>
          <a:xfrm>
            <a:off x="53340" y="1208128"/>
            <a:ext cx="7081003" cy="4299180"/>
          </a:xfrm>
          <a:prstGeom prst="rect">
            <a:avLst/>
          </a:prstGeom>
        </p:spPr>
      </p:pic>
      <p:pic>
        <p:nvPicPr>
          <p:cNvPr id="10" name="Picture 9">
            <a:extLst>
              <a:ext uri="{FF2B5EF4-FFF2-40B4-BE49-F238E27FC236}">
                <a16:creationId xmlns:a16="http://schemas.microsoft.com/office/drawing/2014/main" id="{B31F8280-908E-3788-E877-699F75D1EC54}"/>
              </a:ext>
            </a:extLst>
          </p:cNvPr>
          <p:cNvPicPr>
            <a:picLocks noChangeAspect="1"/>
          </p:cNvPicPr>
          <p:nvPr/>
        </p:nvPicPr>
        <p:blipFill>
          <a:blip r:embed="rId3"/>
          <a:stretch>
            <a:fillRect/>
          </a:stretch>
        </p:blipFill>
        <p:spPr>
          <a:xfrm>
            <a:off x="5541047" y="1494680"/>
            <a:ext cx="6458533" cy="3726077"/>
          </a:xfrm>
          <a:prstGeom prst="rect">
            <a:avLst/>
          </a:prstGeom>
        </p:spPr>
      </p:pic>
      <mc:AlternateContent xmlns:mc="http://schemas.openxmlformats.org/markup-compatibility/2006" xmlns:a14="http://schemas.microsoft.com/office/drawing/2010/main">
        <mc:Choice Requires="a14">
          <p:sp>
            <p:nvSpPr>
              <p:cNvPr id="14" name="Shape 15">
                <a:extLst>
                  <a:ext uri="{FF2B5EF4-FFF2-40B4-BE49-F238E27FC236}">
                    <a16:creationId xmlns:a16="http://schemas.microsoft.com/office/drawing/2014/main" id="{C94E9380-A60A-D275-4200-DF494B5D9843}"/>
                  </a:ext>
                </a:extLst>
              </p:cNvPr>
              <p:cNvSpPr/>
              <p:nvPr/>
            </p:nvSpPr>
            <p:spPr>
              <a:xfrm>
                <a:off x="4484166" y="5627511"/>
                <a:ext cx="3722544" cy="662452"/>
              </a:xfrm>
              <a:prstGeom prst="roundRect">
                <a:avLst>
                  <a:gd name="adj" fmla="val 18750"/>
                </a:avLst>
              </a:prstGeom>
              <a:solidFill>
                <a:srgbClr val="DEF0FF"/>
              </a:solidFill>
              <a:ln w="12700">
                <a:solidFill>
                  <a:srgbClr val="DEF0FF"/>
                </a:solidFill>
                <a:prstDash val="solid"/>
              </a:ln>
            </p:spPr>
            <p:txBody>
              <a:bodyPr/>
              <a:lstStyle/>
              <a:p>
                <a:pPr algn="ctr"/>
                <a14:m>
                  <m:oMathPara xmlns:m="http://schemas.openxmlformats.org/officeDocument/2006/math">
                    <m:oMath>
                      <m:r>
                        <a:rPr lang="en-US" sz="1600" b="0" i="1" dirty="0" smtClean="0">
                          <a:solidFill>
                            <a:schemeClr val="tx1"/>
                          </a:solidFill>
                          <a:latin typeface="Cambria Math" panose="02040503050406030204" pitchFamily="18" charset="0"/>
                        </a:rPr>
                        <m:t>𝐷</m:t>
                      </m:r>
                      <m:r>
                        <a:rPr lang="en-US" sz="1600" b="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𝐹𝑂𝑀</m:t>
                      </m:r>
                      <m:r>
                        <a:rPr lang="en-US" sz="1600" b="0" i="1" dirty="0" smtClean="0">
                          <a:solidFill>
                            <a:schemeClr val="tx1"/>
                          </a:solidFill>
                          <a:latin typeface="Cambria Math" panose="02040503050406030204" pitchFamily="18" charset="0"/>
                        </a:rPr>
                        <m:t> = </m:t>
                      </m:r>
                      <m:f>
                        <m:fPr>
                          <m:ctrlPr>
                            <a:rPr lang="en-US" sz="1600" b="0" i="1" dirty="0" smtClean="0">
                              <a:solidFill>
                                <a:schemeClr val="tx1"/>
                              </a:solidFill>
                              <a:latin typeface="Cambria Math" panose="02040503050406030204" pitchFamily="18" charset="0"/>
                            </a:rPr>
                          </m:ctrlPr>
                        </m:fPr>
                        <m:num>
                          <m:r>
                            <a:rPr lang="en-US" sz="1600" b="0" i="1" dirty="0" smtClean="0">
                              <a:solidFill>
                                <a:schemeClr val="tx1"/>
                              </a:solidFill>
                              <a:latin typeface="Cambria Math" panose="02040503050406030204" pitchFamily="18" charset="0"/>
                            </a:rPr>
                            <m:t>1</m:t>
                          </m:r>
                        </m:num>
                        <m:den>
                          <m:rad>
                            <m:radPr>
                              <m:degHide m:val="on"/>
                              <m:ctrlPr>
                                <a:rPr lang="en-US" sz="1600" i="1" dirty="0">
                                  <a:solidFill>
                                    <a:schemeClr val="tx1"/>
                                  </a:solidFill>
                                  <a:latin typeface="Cambria Math" panose="02040503050406030204" pitchFamily="18" charset="0"/>
                                </a:rPr>
                              </m:ctrlPr>
                            </m:radPr>
                            <m:deg/>
                            <m:e>
                              <m:r>
                                <a:rPr lang="en-US" sz="1600" b="0" i="1" dirty="0">
                                  <a:solidFill>
                                    <a:schemeClr val="tx1"/>
                                  </a:solidFill>
                                  <a:latin typeface="Cambria Math" panose="02040503050406030204" pitchFamily="18" charset="0"/>
                                </a:rPr>
                                <m:t>𝑅𝐷𝑆</m:t>
                              </m:r>
                              <m:r>
                                <a:rPr lang="en-US" sz="1600" b="0" i="1" dirty="0">
                                  <a:solidFill>
                                    <a:schemeClr val="tx1"/>
                                  </a:solidFill>
                                  <a:latin typeface="Cambria Math" panose="02040503050406030204" pitchFamily="18" charset="0"/>
                                </a:rPr>
                                <m:t>(</m:t>
                              </m:r>
                              <m:r>
                                <a:rPr lang="en-US" sz="1600" b="0" i="1" dirty="0">
                                  <a:solidFill>
                                    <a:schemeClr val="tx1"/>
                                  </a:solidFill>
                                  <a:latin typeface="Cambria Math" panose="02040503050406030204" pitchFamily="18" charset="0"/>
                                </a:rPr>
                                <m:t>𝑜𝑛</m:t>
                              </m:r>
                              <m:r>
                                <a:rPr lang="en-US" sz="1600" b="0" i="1" dirty="0">
                                  <a:solidFill>
                                    <a:schemeClr val="tx1"/>
                                  </a:solidFill>
                                  <a:latin typeface="Cambria Math" panose="02040503050406030204" pitchFamily="18" charset="0"/>
                                </a:rPr>
                                <m:t>) · </m:t>
                              </m:r>
                              <m:r>
                                <a:rPr lang="en-US" sz="1600" b="0" i="1" dirty="0">
                                  <a:solidFill>
                                    <a:schemeClr val="tx1"/>
                                  </a:solidFill>
                                  <a:latin typeface="Cambria Math" panose="02040503050406030204" pitchFamily="18" charset="0"/>
                                </a:rPr>
                                <m:t>𝐶𝑜𝑠𝑠</m:t>
                              </m:r>
                            </m:e>
                          </m:rad>
                        </m:den>
                      </m:f>
                    </m:oMath>
                  </m:oMathPara>
                </a14:m>
                <a:endParaRPr/>
              </a:p>
            </p:txBody>
          </p:sp>
        </mc:Choice>
        <mc:Fallback xmlns="">
          <p:sp>
            <p:nvSpPr>
              <p:cNvPr id="14" name="Shape 15">
                <a:extLst>
                  <a:ext uri="{FF2B5EF4-FFF2-40B4-BE49-F238E27FC236}">
                    <a16:creationId xmlns:a16="http://schemas.microsoft.com/office/drawing/2014/main" id="{C94E9380-A60A-D275-4200-DF494B5D9843}"/>
                  </a:ext>
                </a:extLst>
              </p:cNvPr>
              <p:cNvSpPr>
                <a:spLocks noRot="1" noChangeAspect="1" noMove="1" noResize="1" noEditPoints="1" noAdjustHandles="1" noChangeArrowheads="1" noChangeShapeType="1" noTextEdit="1"/>
              </p:cNvSpPr>
              <p:nvPr/>
            </p:nvSpPr>
            <p:spPr>
              <a:xfrm>
                <a:off x="4484166" y="5627511"/>
                <a:ext cx="3722544" cy="662452"/>
              </a:xfrm>
              <a:prstGeom prst="roundRect">
                <a:avLst>
                  <a:gd name="adj" fmla="val 18750"/>
                </a:avLst>
              </a:prstGeom>
              <a:blipFill>
                <a:blip r:embed="rId4"/>
                <a:stretch>
                  <a:fillRect/>
                </a:stretch>
              </a:blipFill>
              <a:ln w="12700">
                <a:solidFill>
                  <a:srgbClr val="DEF0FF"/>
                </a:solidFill>
                <a:prstDash val="solid"/>
              </a:ln>
            </p:spPr>
            <p:txBody>
              <a:bodyPr/>
              <a:lstStyle/>
              <a:p>
                <a:r>
                  <a:rPr lang="sv-SE">
                    <a:noFill/>
                  </a:rPr>
                  <a:t> </a:t>
                </a:r>
              </a:p>
            </p:txBody>
          </p:sp>
        </mc:Fallback>
      </mc:AlternateContent>
      <p:sp>
        <p:nvSpPr>
          <p:cNvPr id="17" name="Text 16">
            <a:extLst>
              <a:ext uri="{FF2B5EF4-FFF2-40B4-BE49-F238E27FC236}">
                <a16:creationId xmlns:a16="http://schemas.microsoft.com/office/drawing/2014/main" id="{550F5B2A-2AD4-E363-6DA9-5325921FFB8E}"/>
              </a:ext>
            </a:extLst>
          </p:cNvPr>
          <p:cNvSpPr/>
          <p:nvPr/>
        </p:nvSpPr>
        <p:spPr>
          <a:xfrm>
            <a:off x="4796771" y="5677636"/>
            <a:ext cx="1865376" cy="155448"/>
          </a:xfrm>
          <a:prstGeom prst="rect">
            <a:avLst/>
          </a:prstGeom>
          <a:noFill/>
          <a:ln/>
        </p:spPr>
        <p:txBody>
          <a:bodyPr wrap="square" lIns="0" tIns="0" rIns="0" bIns="0" rtlCol="0" anchor="ctr"/>
          <a:lstStyle/>
          <a:p>
            <a:pPr marL="0" indent="0" algn="ctr">
              <a:buNone/>
            </a:pPr>
            <a:endParaRPr lang="en-US" sz="850" dirty="0"/>
          </a:p>
        </p:txBody>
      </p:sp>
    </p:spTree>
    <p:extLst>
      <p:ext uri="{BB962C8B-B14F-4D97-AF65-F5344CB8AC3E}">
        <p14:creationId xmlns:p14="http://schemas.microsoft.com/office/powerpoint/2010/main" val="2492960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B20B-81C2-33E7-121E-7A05693D5127}"/>
              </a:ext>
            </a:extLst>
          </p:cNvPr>
          <p:cNvSpPr>
            <a:spLocks noGrp="1"/>
          </p:cNvSpPr>
          <p:nvPr>
            <p:ph type="title"/>
          </p:nvPr>
        </p:nvSpPr>
        <p:spPr>
          <a:xfrm>
            <a:off x="1009317" y="286175"/>
            <a:ext cx="10990263" cy="568412"/>
          </a:xfrm>
        </p:spPr>
        <p:txBody>
          <a:bodyPr/>
          <a:lstStyle/>
          <a:p>
            <a:r>
              <a:rPr lang="en-US" sz="2800" dirty="0"/>
              <a:t>The optimum cell count balances efficiency against complexity</a:t>
            </a:r>
            <a:br>
              <a:rPr lang="en-US" dirty="0"/>
            </a:br>
            <a:br>
              <a:rPr lang="en-US" dirty="0"/>
            </a:br>
            <a:endParaRPr lang="sv-SE" dirty="0"/>
          </a:p>
        </p:txBody>
      </p:sp>
      <p:pic>
        <p:nvPicPr>
          <p:cNvPr id="3" name="Picture 2">
            <a:extLst>
              <a:ext uri="{FF2B5EF4-FFF2-40B4-BE49-F238E27FC236}">
                <a16:creationId xmlns:a16="http://schemas.microsoft.com/office/drawing/2014/main" id="{18F17414-5126-26B8-3598-DBAFCD65ADCD}"/>
              </a:ext>
            </a:extLst>
          </p:cNvPr>
          <p:cNvPicPr>
            <a:picLocks noChangeAspect="1"/>
          </p:cNvPicPr>
          <p:nvPr/>
        </p:nvPicPr>
        <p:blipFill>
          <a:blip r:embed="rId2"/>
          <a:stretch/>
        </p:blipFill>
        <p:spPr>
          <a:xfrm>
            <a:off x="377190" y="1220303"/>
            <a:ext cx="6667500" cy="3664917"/>
          </a:xfrm>
          <a:prstGeom prst="rect">
            <a:avLst/>
          </a:prstGeom>
        </p:spPr>
      </p:pic>
      <p:sp>
        <p:nvSpPr>
          <p:cNvPr id="4" name="Rectangle: Rounded Corners 3">
            <a:extLst>
              <a:ext uri="{FF2B5EF4-FFF2-40B4-BE49-F238E27FC236}">
                <a16:creationId xmlns:a16="http://schemas.microsoft.com/office/drawing/2014/main" id="{2A913273-B9E8-4E45-8282-F95B18652FAA}"/>
              </a:ext>
            </a:extLst>
          </p:cNvPr>
          <p:cNvSpPr>
            <a:spLocks noGrp="1"/>
          </p:cNvSpPr>
          <p:nvPr/>
        </p:nvSpPr>
        <p:spPr>
          <a:xfrm>
            <a:off x="7730490" y="1957387"/>
            <a:ext cx="3619500" cy="857250"/>
          </a:xfrm>
          <a:prstGeom prst="roundRect">
            <a:avLst>
              <a:gd name="adj" fmla="val 8889"/>
            </a:avLst>
          </a:prstGeom>
          <a:solidFill>
            <a:srgbClr val="EAF4F8"/>
          </a:solidFill>
          <a:ln w="0">
            <a:noFill/>
          </a:ln>
        </p:spPr>
        <p:txBody>
          <a:bodyPr/>
          <a:lstStyle/>
          <a:p>
            <a:endParaRPr lang="sv-SE"/>
          </a:p>
        </p:txBody>
      </p:sp>
      <p:sp>
        <p:nvSpPr>
          <p:cNvPr id="6" name="Rectangle 5">
            <a:extLst>
              <a:ext uri="{FF2B5EF4-FFF2-40B4-BE49-F238E27FC236}">
                <a16:creationId xmlns:a16="http://schemas.microsoft.com/office/drawing/2014/main" id="{44AA8055-CB23-4BC7-B7CA-806F3E03845C}"/>
              </a:ext>
            </a:extLst>
          </p:cNvPr>
          <p:cNvSpPr>
            <a:spLocks noGrp="1"/>
          </p:cNvSpPr>
          <p:nvPr/>
        </p:nvSpPr>
        <p:spPr>
          <a:xfrm>
            <a:off x="7968615" y="2100262"/>
            <a:ext cx="3143250" cy="2667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500" b="1">
                <a:solidFill>
                  <a:srgbClr val="0B5FA5"/>
                </a:solidFill>
                <a:latin typeface="Aptos"/>
                <a:ea typeface="Aptos"/>
                <a:cs typeface="Aptos"/>
              </a:defRPr>
            </a:pPr>
            <a:r>
              <a:rPr sz="1500" b="1">
                <a:solidFill>
                  <a:srgbClr val="0B5FA5"/>
                </a:solidFill>
                <a:latin typeface="Aptos"/>
                <a:ea typeface="Aptos"/>
                <a:cs typeface="Aptos"/>
              </a:rPr>
              <a:t>Voltage benefit</a:t>
            </a:r>
          </a:p>
        </p:txBody>
      </p:sp>
      <p:sp>
        <p:nvSpPr>
          <p:cNvPr id="8" name="Rectangle 7">
            <a:extLst>
              <a:ext uri="{FF2B5EF4-FFF2-40B4-BE49-F238E27FC236}">
                <a16:creationId xmlns:a16="http://schemas.microsoft.com/office/drawing/2014/main" id="{D32E8EE0-21AF-441E-AA25-D239075240EC}"/>
              </a:ext>
            </a:extLst>
          </p:cNvPr>
          <p:cNvSpPr>
            <a:spLocks noGrp="1"/>
          </p:cNvSpPr>
          <p:nvPr/>
        </p:nvSpPr>
        <p:spPr>
          <a:xfrm>
            <a:off x="7968615" y="2424112"/>
            <a:ext cx="3143250" cy="23812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00" b="0">
                <a:solidFill>
                  <a:srgbClr val="5E7184"/>
                </a:solidFill>
                <a:latin typeface="Aptos"/>
                <a:ea typeface="Aptos"/>
                <a:cs typeface="Aptos"/>
              </a:defRPr>
            </a:pPr>
            <a:r>
              <a:rPr sz="1200" b="0">
                <a:solidFill>
                  <a:srgbClr val="5E7184"/>
                </a:solidFill>
                <a:latin typeface="Aptos"/>
                <a:ea typeface="Aptos"/>
                <a:cs typeface="Aptos"/>
              </a:rPr>
              <a:t>Vcell falls approximately with 1/N</a:t>
            </a:r>
          </a:p>
        </p:txBody>
      </p:sp>
      <p:sp>
        <p:nvSpPr>
          <p:cNvPr id="10" name="Rectangle: Rounded Corners 9">
            <a:extLst>
              <a:ext uri="{FF2B5EF4-FFF2-40B4-BE49-F238E27FC236}">
                <a16:creationId xmlns:a16="http://schemas.microsoft.com/office/drawing/2014/main" id="{D36E7C5D-ABB1-4CFC-A8ED-F9986FADAF26}"/>
              </a:ext>
            </a:extLst>
          </p:cNvPr>
          <p:cNvSpPr>
            <a:spLocks noGrp="1"/>
          </p:cNvSpPr>
          <p:nvPr/>
        </p:nvSpPr>
        <p:spPr>
          <a:xfrm>
            <a:off x="7730490" y="3052762"/>
            <a:ext cx="3619500" cy="857250"/>
          </a:xfrm>
          <a:prstGeom prst="roundRect">
            <a:avLst>
              <a:gd name="adj" fmla="val 8889"/>
            </a:avLst>
          </a:prstGeom>
          <a:solidFill>
            <a:srgbClr val="FFF3E9"/>
          </a:solidFill>
          <a:ln w="0">
            <a:noFill/>
          </a:ln>
        </p:spPr>
        <p:txBody>
          <a:bodyPr/>
          <a:lstStyle/>
          <a:p>
            <a:endParaRPr lang="sv-SE"/>
          </a:p>
        </p:txBody>
      </p:sp>
      <p:sp>
        <p:nvSpPr>
          <p:cNvPr id="12" name="Rectangle 11">
            <a:extLst>
              <a:ext uri="{FF2B5EF4-FFF2-40B4-BE49-F238E27FC236}">
                <a16:creationId xmlns:a16="http://schemas.microsoft.com/office/drawing/2014/main" id="{BB6A542A-959A-44DB-8034-4A60C3D01C6F}"/>
              </a:ext>
            </a:extLst>
          </p:cNvPr>
          <p:cNvSpPr>
            <a:spLocks noGrp="1"/>
          </p:cNvSpPr>
          <p:nvPr/>
        </p:nvSpPr>
        <p:spPr>
          <a:xfrm>
            <a:off x="7968615" y="3195637"/>
            <a:ext cx="3143250" cy="26670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500" b="1">
                <a:solidFill>
                  <a:srgbClr val="F58A3A"/>
                </a:solidFill>
                <a:latin typeface="Aptos"/>
                <a:ea typeface="Aptos"/>
                <a:cs typeface="Aptos"/>
              </a:defRPr>
            </a:pPr>
            <a:r>
              <a:rPr sz="1500" b="1">
                <a:solidFill>
                  <a:srgbClr val="F58A3A"/>
                </a:solidFill>
                <a:latin typeface="Aptos"/>
                <a:ea typeface="Aptos"/>
                <a:cs typeface="Aptos"/>
              </a:rPr>
              <a:t>Hardware penalty</a:t>
            </a:r>
          </a:p>
        </p:txBody>
      </p:sp>
      <p:sp>
        <p:nvSpPr>
          <p:cNvPr id="14" name="Rectangle 13">
            <a:extLst>
              <a:ext uri="{FF2B5EF4-FFF2-40B4-BE49-F238E27FC236}">
                <a16:creationId xmlns:a16="http://schemas.microsoft.com/office/drawing/2014/main" id="{452E773B-DA50-443E-B7AA-32368777012B}"/>
              </a:ext>
            </a:extLst>
          </p:cNvPr>
          <p:cNvSpPr>
            <a:spLocks noGrp="1"/>
          </p:cNvSpPr>
          <p:nvPr/>
        </p:nvSpPr>
        <p:spPr>
          <a:xfrm>
            <a:off x="7968615" y="3519487"/>
            <a:ext cx="3143250" cy="238125"/>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200" b="0">
                <a:solidFill>
                  <a:srgbClr val="5E7184"/>
                </a:solidFill>
                <a:latin typeface="Aptos"/>
                <a:ea typeface="Aptos"/>
                <a:cs typeface="Aptos"/>
              </a:defRPr>
            </a:pPr>
            <a:r>
              <a:rPr sz="1200" b="0">
                <a:solidFill>
                  <a:srgbClr val="5E7184"/>
                </a:solidFill>
                <a:latin typeface="Aptos"/>
                <a:ea typeface="Aptos"/>
                <a:cs typeface="Aptos"/>
              </a:rPr>
              <a:t>Switch count grows linearly as 6N</a:t>
            </a:r>
          </a:p>
        </p:txBody>
      </p:sp>
      <p:sp>
        <p:nvSpPr>
          <p:cNvPr id="17" name="Shape 7">
            <a:extLst>
              <a:ext uri="{FF2B5EF4-FFF2-40B4-BE49-F238E27FC236}">
                <a16:creationId xmlns:a16="http://schemas.microsoft.com/office/drawing/2014/main" id="{310C34F7-ABA1-5830-7458-2C809C026631}"/>
              </a:ext>
            </a:extLst>
          </p:cNvPr>
          <p:cNvSpPr/>
          <p:nvPr/>
        </p:nvSpPr>
        <p:spPr>
          <a:xfrm>
            <a:off x="8310967" y="4893945"/>
            <a:ext cx="838788" cy="942855"/>
          </a:xfrm>
          <a:prstGeom prst="chevron">
            <a:avLst/>
          </a:prstGeom>
          <a:solidFill>
            <a:srgbClr val="BFDBFE"/>
          </a:solidFill>
          <a:ln w="12700">
            <a:solidFill>
              <a:srgbClr val="BFDBFE"/>
            </a:solidFill>
            <a:prstDash val="solid"/>
          </a:ln>
        </p:spPr>
        <p:txBody>
          <a:bodyPr/>
          <a:lstStyle/>
          <a:p>
            <a:endParaRPr lang="sv-SE"/>
          </a:p>
        </p:txBody>
      </p:sp>
      <p:sp>
        <p:nvSpPr>
          <p:cNvPr id="20" name="Shape 8">
            <a:extLst>
              <a:ext uri="{FF2B5EF4-FFF2-40B4-BE49-F238E27FC236}">
                <a16:creationId xmlns:a16="http://schemas.microsoft.com/office/drawing/2014/main" id="{745E4092-6F5C-B8B3-DEAB-1DFAC1107F5A}"/>
              </a:ext>
            </a:extLst>
          </p:cNvPr>
          <p:cNvSpPr/>
          <p:nvPr/>
        </p:nvSpPr>
        <p:spPr>
          <a:xfrm>
            <a:off x="9133927" y="4893945"/>
            <a:ext cx="838788" cy="942855"/>
          </a:xfrm>
          <a:prstGeom prst="chevron">
            <a:avLst/>
          </a:prstGeom>
          <a:solidFill>
            <a:srgbClr val="93C5FD"/>
          </a:solidFill>
          <a:ln w="12700">
            <a:solidFill>
              <a:srgbClr val="93C5FD"/>
            </a:solidFill>
            <a:prstDash val="solid"/>
          </a:ln>
        </p:spPr>
        <p:txBody>
          <a:bodyPr/>
          <a:lstStyle/>
          <a:p>
            <a:endParaRPr lang="sv-SE"/>
          </a:p>
        </p:txBody>
      </p:sp>
      <p:sp>
        <p:nvSpPr>
          <p:cNvPr id="22" name="Shape 9">
            <a:extLst>
              <a:ext uri="{FF2B5EF4-FFF2-40B4-BE49-F238E27FC236}">
                <a16:creationId xmlns:a16="http://schemas.microsoft.com/office/drawing/2014/main" id="{FD287A9B-8F9F-C4B5-3D6E-04C46C4D90A9}"/>
              </a:ext>
            </a:extLst>
          </p:cNvPr>
          <p:cNvSpPr/>
          <p:nvPr/>
        </p:nvSpPr>
        <p:spPr>
          <a:xfrm>
            <a:off x="9956887" y="4893945"/>
            <a:ext cx="838788" cy="942855"/>
          </a:xfrm>
          <a:prstGeom prst="chevron">
            <a:avLst/>
          </a:prstGeom>
          <a:solidFill>
            <a:srgbClr val="60A5FA"/>
          </a:solidFill>
          <a:ln w="12700">
            <a:solidFill>
              <a:srgbClr val="60A5FA"/>
            </a:solidFill>
            <a:prstDash val="solid"/>
          </a:ln>
        </p:spPr>
        <p:txBody>
          <a:bodyPr/>
          <a:lstStyle/>
          <a:p>
            <a:endParaRPr lang="sv-SE"/>
          </a:p>
        </p:txBody>
      </p:sp>
      <p:sp>
        <p:nvSpPr>
          <p:cNvPr id="24" name="Shape 10">
            <a:extLst>
              <a:ext uri="{FF2B5EF4-FFF2-40B4-BE49-F238E27FC236}">
                <a16:creationId xmlns:a16="http://schemas.microsoft.com/office/drawing/2014/main" id="{572BC909-B09B-9087-0ADE-85A70E781F96}"/>
              </a:ext>
            </a:extLst>
          </p:cNvPr>
          <p:cNvSpPr/>
          <p:nvPr/>
        </p:nvSpPr>
        <p:spPr>
          <a:xfrm>
            <a:off x="10779847" y="4893945"/>
            <a:ext cx="838788" cy="942855"/>
          </a:xfrm>
          <a:prstGeom prst="chevron">
            <a:avLst/>
          </a:prstGeom>
          <a:solidFill>
            <a:srgbClr val="3B82F6"/>
          </a:solidFill>
          <a:ln w="12700">
            <a:solidFill>
              <a:srgbClr val="3B82F6"/>
            </a:solidFill>
            <a:prstDash val="solid"/>
          </a:ln>
        </p:spPr>
        <p:txBody>
          <a:bodyPr/>
          <a:lstStyle/>
          <a:p>
            <a:endParaRPr lang="sv-SE"/>
          </a:p>
        </p:txBody>
      </p:sp>
      <p:sp>
        <p:nvSpPr>
          <p:cNvPr id="26" name="Text 11">
            <a:extLst>
              <a:ext uri="{FF2B5EF4-FFF2-40B4-BE49-F238E27FC236}">
                <a16:creationId xmlns:a16="http://schemas.microsoft.com/office/drawing/2014/main" id="{F7046F1C-11D6-BA16-49D2-84D28611F2AB}"/>
              </a:ext>
            </a:extLst>
          </p:cNvPr>
          <p:cNvSpPr/>
          <p:nvPr/>
        </p:nvSpPr>
        <p:spPr>
          <a:xfrm>
            <a:off x="8067660" y="6014994"/>
            <a:ext cx="3931920" cy="685800"/>
          </a:xfrm>
          <a:prstGeom prst="rect">
            <a:avLst/>
          </a:prstGeom>
          <a:noFill/>
          <a:ln/>
        </p:spPr>
        <p:txBody>
          <a:bodyPr wrap="square" lIns="0" tIns="0" rIns="0" bIns="0" rtlCol="0" anchor="ctr"/>
          <a:lstStyle/>
          <a:p>
            <a:pPr marL="0" indent="0" algn="ctr">
              <a:buNone/>
            </a:pPr>
            <a:r>
              <a:rPr lang="en-US" sz="1400" b="1" dirty="0">
                <a:solidFill>
                  <a:srgbClr val="0F172A"/>
                </a:solidFill>
              </a:rPr>
              <a:t>More cells</a:t>
            </a:r>
            <a:endParaRPr lang="en-US" sz="1400" dirty="0"/>
          </a:p>
          <a:p>
            <a:pPr marL="0" indent="0" algn="ctr">
              <a:buNone/>
            </a:pPr>
            <a:r>
              <a:rPr lang="en-US" sz="1400" b="1" dirty="0">
                <a:solidFill>
                  <a:srgbClr val="0F172A"/>
                </a:solidFill>
              </a:rPr>
              <a:t>lower Vcell</a:t>
            </a:r>
            <a:endParaRPr lang="en-US" sz="1400" dirty="0"/>
          </a:p>
          <a:p>
            <a:pPr marL="0" indent="0" algn="ctr">
              <a:buNone/>
            </a:pPr>
            <a:r>
              <a:rPr lang="en-US" sz="1400" b="1" dirty="0">
                <a:solidFill>
                  <a:srgbClr val="0F172A"/>
                </a:solidFill>
              </a:rPr>
              <a:t>more switches</a:t>
            </a:r>
            <a:endParaRPr lang="en-US" sz="1400" dirty="0"/>
          </a:p>
        </p:txBody>
      </p:sp>
      <p:sp>
        <p:nvSpPr>
          <p:cNvPr id="28" name="Text 4">
            <a:extLst>
              <a:ext uri="{FF2B5EF4-FFF2-40B4-BE49-F238E27FC236}">
                <a16:creationId xmlns:a16="http://schemas.microsoft.com/office/drawing/2014/main" id="{2DE4D6DE-CD91-E32D-7D79-E25537BB93B7}"/>
              </a:ext>
            </a:extLst>
          </p:cNvPr>
          <p:cNvSpPr/>
          <p:nvPr/>
        </p:nvSpPr>
        <p:spPr>
          <a:xfrm>
            <a:off x="825808" y="5047107"/>
            <a:ext cx="6444633" cy="768096"/>
          </a:xfrm>
          <a:prstGeom prst="rect">
            <a:avLst/>
          </a:prstGeom>
          <a:noFill/>
          <a:ln/>
        </p:spPr>
        <p:txBody>
          <a:bodyPr wrap="square" lIns="254" tIns="254" rIns="254" bIns="254" rtlCol="0" anchor="ctr">
            <a:normAutofit/>
          </a:bodyPr>
          <a:lstStyle/>
          <a:p>
            <a:pPr marL="0" indent="0">
              <a:buNone/>
            </a:pPr>
            <a:r>
              <a:rPr lang="en-US" sz="1600" b="1" dirty="0">
                <a:solidFill>
                  <a:srgbClr val="0F172A"/>
                </a:solidFill>
                <a:latin typeface="+mj-lt"/>
                <a:ea typeface="Aptos" pitchFamily="34" charset="-122"/>
                <a:cs typeface="Aptos" pitchFamily="34" charset="-120"/>
              </a:rPr>
              <a:t>Core question:</a:t>
            </a:r>
            <a:endParaRPr lang="en-US" sz="1600" b="1" dirty="0">
              <a:latin typeface="+mj-lt"/>
            </a:endParaRPr>
          </a:p>
          <a:p>
            <a:pPr marL="0" indent="0">
              <a:buNone/>
            </a:pPr>
            <a:r>
              <a:rPr lang="en-US" sz="1600" dirty="0">
                <a:solidFill>
                  <a:srgbClr val="0F172A"/>
                </a:solidFill>
                <a:latin typeface="+mj-lt"/>
                <a:ea typeface="Aptos" pitchFamily="34" charset="-122"/>
                <a:cs typeface="Aptos" pitchFamily="34" charset="-120"/>
              </a:rPr>
              <a:t>How many stacked two-level cells are worth adding before device count and control overload dominate?</a:t>
            </a:r>
            <a:endParaRPr lang="en-US" sz="1600" dirty="0">
              <a:latin typeface="+mj-lt"/>
            </a:endParaRPr>
          </a:p>
        </p:txBody>
      </p:sp>
    </p:spTree>
    <p:extLst>
      <p:ext uri="{BB962C8B-B14F-4D97-AF65-F5344CB8AC3E}">
        <p14:creationId xmlns:p14="http://schemas.microsoft.com/office/powerpoint/2010/main" val="1418560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68788-B08A-1C0F-F53C-63BA02DFD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F2E8E-8127-6F86-01E7-D8B0442F92C3}"/>
              </a:ext>
            </a:extLst>
          </p:cNvPr>
          <p:cNvSpPr>
            <a:spLocks noGrp="1"/>
          </p:cNvSpPr>
          <p:nvPr>
            <p:ph type="title"/>
          </p:nvPr>
        </p:nvSpPr>
        <p:spPr>
          <a:xfrm>
            <a:off x="1009317" y="286175"/>
            <a:ext cx="10990263" cy="568412"/>
          </a:xfrm>
        </p:spPr>
        <p:txBody>
          <a:bodyPr/>
          <a:lstStyle/>
          <a:p>
            <a:r>
              <a:rPr lang="en-US" sz="2800" dirty="0"/>
              <a:t>SPB optimization spans the converter and the machine</a:t>
            </a:r>
            <a:br>
              <a:rPr lang="en-US" sz="2800" dirty="0"/>
            </a:br>
            <a:r>
              <a:rPr lang="en-US" sz="2800" dirty="0"/>
              <a:t> </a:t>
            </a:r>
            <a:br>
              <a:rPr lang="en-US" dirty="0"/>
            </a:br>
            <a:br>
              <a:rPr lang="en-US" dirty="0"/>
            </a:br>
            <a:endParaRPr lang="sv-SE" dirty="0"/>
          </a:p>
        </p:txBody>
      </p:sp>
      <p:sp>
        <p:nvSpPr>
          <p:cNvPr id="5" name="Rectangle: Rounded Corners 4">
            <a:extLst>
              <a:ext uri="{FF2B5EF4-FFF2-40B4-BE49-F238E27FC236}">
                <a16:creationId xmlns:a16="http://schemas.microsoft.com/office/drawing/2014/main" id="{22E0B254-345C-4CB9-BDDA-A35E8759E7F1}"/>
              </a:ext>
            </a:extLst>
          </p:cNvPr>
          <p:cNvSpPr>
            <a:spLocks noGrp="1"/>
          </p:cNvSpPr>
          <p:nvPr/>
        </p:nvSpPr>
        <p:spPr>
          <a:xfrm>
            <a:off x="952500" y="1176338"/>
            <a:ext cx="4762500" cy="1524000"/>
          </a:xfrm>
          <a:prstGeom prst="roundRect">
            <a:avLst>
              <a:gd name="adj" fmla="val 5000"/>
            </a:avLst>
          </a:prstGeom>
          <a:solidFill>
            <a:srgbClr val="FFFFFF"/>
          </a:solidFill>
          <a:ln w="0">
            <a:noFill/>
          </a:ln>
        </p:spPr>
        <p:txBody>
          <a:bodyPr/>
          <a:lstStyle/>
          <a:p>
            <a:endParaRPr lang="sv-SE"/>
          </a:p>
        </p:txBody>
      </p:sp>
      <p:sp>
        <p:nvSpPr>
          <p:cNvPr id="7" name="Rectangle 6">
            <a:extLst>
              <a:ext uri="{FF2B5EF4-FFF2-40B4-BE49-F238E27FC236}">
                <a16:creationId xmlns:a16="http://schemas.microsoft.com/office/drawing/2014/main" id="{76251C9F-7648-4911-9548-195DB7465A23}"/>
              </a:ext>
            </a:extLst>
          </p:cNvPr>
          <p:cNvSpPr>
            <a:spLocks noGrp="1"/>
          </p:cNvSpPr>
          <p:nvPr/>
        </p:nvSpPr>
        <p:spPr>
          <a:xfrm>
            <a:off x="952500" y="1176338"/>
            <a:ext cx="114300" cy="1524000"/>
          </a:xfrm>
          <a:prstGeom prst="rect">
            <a:avLst/>
          </a:prstGeom>
          <a:solidFill>
            <a:srgbClr val="16B8D4"/>
          </a:solidFill>
          <a:ln w="0">
            <a:noFill/>
          </a:ln>
        </p:spPr>
        <p:txBody>
          <a:bodyPr/>
          <a:lstStyle/>
          <a:p>
            <a:endParaRPr lang="sv-SE"/>
          </a:p>
        </p:txBody>
      </p:sp>
      <p:sp>
        <p:nvSpPr>
          <p:cNvPr id="9" name="Rectangle 8">
            <a:extLst>
              <a:ext uri="{FF2B5EF4-FFF2-40B4-BE49-F238E27FC236}">
                <a16:creationId xmlns:a16="http://schemas.microsoft.com/office/drawing/2014/main" id="{FC1FCED5-ACC4-457A-8D5C-11F7C93DBF5E}"/>
              </a:ext>
            </a:extLst>
          </p:cNvPr>
          <p:cNvSpPr>
            <a:spLocks noGrp="1"/>
          </p:cNvSpPr>
          <p:nvPr/>
        </p:nvSpPr>
        <p:spPr>
          <a:xfrm>
            <a:off x="1238250" y="1404938"/>
            <a:ext cx="4095750"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75" b="1">
                <a:solidFill>
                  <a:srgbClr val="071A2F"/>
                </a:solidFill>
                <a:latin typeface="Aptos"/>
                <a:ea typeface="Aptos"/>
                <a:cs typeface="Aptos"/>
              </a:defRPr>
            </a:pPr>
            <a:r>
              <a:rPr sz="1875" b="1">
                <a:solidFill>
                  <a:srgbClr val="071A2F"/>
                </a:solidFill>
                <a:latin typeface="Aptos"/>
                <a:ea typeface="Aptos"/>
                <a:cs typeface="Aptos"/>
              </a:rPr>
              <a:t>Semiconductors</a:t>
            </a:r>
          </a:p>
        </p:txBody>
      </p:sp>
      <p:sp>
        <p:nvSpPr>
          <p:cNvPr id="11" name="Rectangle 10">
            <a:extLst>
              <a:ext uri="{FF2B5EF4-FFF2-40B4-BE49-F238E27FC236}">
                <a16:creationId xmlns:a16="http://schemas.microsoft.com/office/drawing/2014/main" id="{3832B672-9F21-455C-A244-C173D4236872}"/>
              </a:ext>
            </a:extLst>
          </p:cNvPr>
          <p:cNvSpPr>
            <a:spLocks noGrp="1"/>
          </p:cNvSpPr>
          <p:nvPr/>
        </p:nvSpPr>
        <p:spPr>
          <a:xfrm>
            <a:off x="1238250" y="1871663"/>
            <a:ext cx="409575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350" b="0">
                <a:solidFill>
                  <a:srgbClr val="5E7184"/>
                </a:solidFill>
                <a:latin typeface="Aptos"/>
                <a:ea typeface="Aptos"/>
                <a:cs typeface="Aptos"/>
              </a:defRPr>
            </a:pPr>
            <a:r>
              <a:rPr sz="1350" b="0">
                <a:solidFill>
                  <a:srgbClr val="5E7184"/>
                </a:solidFill>
                <a:latin typeface="Aptos"/>
                <a:ea typeface="Aptos"/>
                <a:cs typeface="Aptos"/>
              </a:rPr>
              <a:t>Conduction, Coss/Eoss, overlap loss, current capability</a:t>
            </a:r>
          </a:p>
        </p:txBody>
      </p:sp>
      <p:sp>
        <p:nvSpPr>
          <p:cNvPr id="13" name="Rectangle: Rounded Corners 12">
            <a:extLst>
              <a:ext uri="{FF2B5EF4-FFF2-40B4-BE49-F238E27FC236}">
                <a16:creationId xmlns:a16="http://schemas.microsoft.com/office/drawing/2014/main" id="{751685B0-D95B-42A8-BE0F-FE49E28E1563}"/>
              </a:ext>
            </a:extLst>
          </p:cNvPr>
          <p:cNvSpPr>
            <a:spLocks noGrp="1"/>
          </p:cNvSpPr>
          <p:nvPr/>
        </p:nvSpPr>
        <p:spPr>
          <a:xfrm>
            <a:off x="6477000" y="1176338"/>
            <a:ext cx="4762500" cy="1524000"/>
          </a:xfrm>
          <a:prstGeom prst="roundRect">
            <a:avLst>
              <a:gd name="adj" fmla="val 5000"/>
            </a:avLst>
          </a:prstGeom>
          <a:solidFill>
            <a:srgbClr val="FFFFFF"/>
          </a:solidFill>
          <a:ln w="0">
            <a:noFill/>
          </a:ln>
        </p:spPr>
        <p:txBody>
          <a:bodyPr/>
          <a:lstStyle/>
          <a:p>
            <a:endParaRPr lang="sv-SE"/>
          </a:p>
        </p:txBody>
      </p:sp>
      <p:sp>
        <p:nvSpPr>
          <p:cNvPr id="15" name="Rectangle 14">
            <a:extLst>
              <a:ext uri="{FF2B5EF4-FFF2-40B4-BE49-F238E27FC236}">
                <a16:creationId xmlns:a16="http://schemas.microsoft.com/office/drawing/2014/main" id="{4C2726C6-2655-4F74-A784-04D89C7BE6D8}"/>
              </a:ext>
            </a:extLst>
          </p:cNvPr>
          <p:cNvSpPr>
            <a:spLocks noGrp="1"/>
          </p:cNvSpPr>
          <p:nvPr/>
        </p:nvSpPr>
        <p:spPr>
          <a:xfrm>
            <a:off x="6477000" y="1176338"/>
            <a:ext cx="114300" cy="1524000"/>
          </a:xfrm>
          <a:prstGeom prst="rect">
            <a:avLst/>
          </a:prstGeom>
          <a:solidFill>
            <a:srgbClr val="0B5FA5"/>
          </a:solidFill>
          <a:ln w="0">
            <a:noFill/>
          </a:ln>
        </p:spPr>
        <p:txBody>
          <a:bodyPr/>
          <a:lstStyle/>
          <a:p>
            <a:endParaRPr lang="sv-SE"/>
          </a:p>
        </p:txBody>
      </p:sp>
      <p:sp>
        <p:nvSpPr>
          <p:cNvPr id="16" name="Rectangle 15">
            <a:extLst>
              <a:ext uri="{FF2B5EF4-FFF2-40B4-BE49-F238E27FC236}">
                <a16:creationId xmlns:a16="http://schemas.microsoft.com/office/drawing/2014/main" id="{1C6D383E-0B2F-44BE-B1E8-BA8EAF5BAA86}"/>
              </a:ext>
            </a:extLst>
          </p:cNvPr>
          <p:cNvSpPr>
            <a:spLocks noGrp="1"/>
          </p:cNvSpPr>
          <p:nvPr/>
        </p:nvSpPr>
        <p:spPr>
          <a:xfrm>
            <a:off x="6762750" y="1404938"/>
            <a:ext cx="4095750"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75" b="1">
                <a:solidFill>
                  <a:srgbClr val="071A2F"/>
                </a:solidFill>
                <a:latin typeface="Aptos"/>
                <a:ea typeface="Aptos"/>
                <a:cs typeface="Aptos"/>
              </a:defRPr>
            </a:pPr>
            <a:r>
              <a:rPr sz="1875" b="1">
                <a:solidFill>
                  <a:srgbClr val="071A2F"/>
                </a:solidFill>
                <a:latin typeface="Aptos"/>
                <a:ea typeface="Aptos"/>
                <a:cs typeface="Aptos"/>
              </a:rPr>
              <a:t>DC-link</a:t>
            </a:r>
          </a:p>
        </p:txBody>
      </p:sp>
      <p:sp>
        <p:nvSpPr>
          <p:cNvPr id="18" name="Rectangle 17">
            <a:extLst>
              <a:ext uri="{FF2B5EF4-FFF2-40B4-BE49-F238E27FC236}">
                <a16:creationId xmlns:a16="http://schemas.microsoft.com/office/drawing/2014/main" id="{389BA55D-D4DA-439F-8B42-4622CFE02703}"/>
              </a:ext>
            </a:extLst>
          </p:cNvPr>
          <p:cNvSpPr>
            <a:spLocks noGrp="1"/>
          </p:cNvSpPr>
          <p:nvPr/>
        </p:nvSpPr>
        <p:spPr>
          <a:xfrm>
            <a:off x="6762750" y="1871663"/>
            <a:ext cx="409575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350" b="0">
                <a:solidFill>
                  <a:srgbClr val="5E7184"/>
                </a:solidFill>
                <a:latin typeface="Aptos"/>
                <a:ea typeface="Aptos"/>
                <a:cs typeface="Aptos"/>
              </a:defRPr>
            </a:pPr>
            <a:r>
              <a:rPr sz="1350" b="0">
                <a:solidFill>
                  <a:srgbClr val="5E7184"/>
                </a:solidFill>
                <a:latin typeface="Aptos"/>
                <a:ea typeface="Aptos"/>
                <a:cs typeface="Aptos"/>
              </a:rPr>
              <a:t>Capacitance, ripple, balancing stability, overshoot</a:t>
            </a:r>
          </a:p>
        </p:txBody>
      </p:sp>
      <p:sp>
        <p:nvSpPr>
          <p:cNvPr id="19" name="Rectangle: Rounded Corners 18">
            <a:extLst>
              <a:ext uri="{FF2B5EF4-FFF2-40B4-BE49-F238E27FC236}">
                <a16:creationId xmlns:a16="http://schemas.microsoft.com/office/drawing/2014/main" id="{DF853E02-9261-4C9C-B2DF-2830076B96CD}"/>
              </a:ext>
            </a:extLst>
          </p:cNvPr>
          <p:cNvSpPr>
            <a:spLocks noGrp="1"/>
          </p:cNvSpPr>
          <p:nvPr/>
        </p:nvSpPr>
        <p:spPr>
          <a:xfrm>
            <a:off x="952500" y="3271838"/>
            <a:ext cx="4762500" cy="1524000"/>
          </a:xfrm>
          <a:prstGeom prst="roundRect">
            <a:avLst>
              <a:gd name="adj" fmla="val 5000"/>
            </a:avLst>
          </a:prstGeom>
          <a:solidFill>
            <a:srgbClr val="FFFFFF"/>
          </a:solidFill>
          <a:ln w="0">
            <a:noFill/>
          </a:ln>
        </p:spPr>
        <p:txBody>
          <a:bodyPr/>
          <a:lstStyle/>
          <a:p>
            <a:endParaRPr lang="sv-SE"/>
          </a:p>
        </p:txBody>
      </p:sp>
      <p:sp>
        <p:nvSpPr>
          <p:cNvPr id="21" name="Rectangle 20">
            <a:extLst>
              <a:ext uri="{FF2B5EF4-FFF2-40B4-BE49-F238E27FC236}">
                <a16:creationId xmlns:a16="http://schemas.microsoft.com/office/drawing/2014/main" id="{50FF28C8-C8DF-4966-BDD1-A12175B3874A}"/>
              </a:ext>
            </a:extLst>
          </p:cNvPr>
          <p:cNvSpPr>
            <a:spLocks noGrp="1"/>
          </p:cNvSpPr>
          <p:nvPr/>
        </p:nvSpPr>
        <p:spPr>
          <a:xfrm>
            <a:off x="952500" y="3271838"/>
            <a:ext cx="114300" cy="1524000"/>
          </a:xfrm>
          <a:prstGeom prst="rect">
            <a:avLst/>
          </a:prstGeom>
          <a:solidFill>
            <a:srgbClr val="1A9A74"/>
          </a:solidFill>
          <a:ln w="0">
            <a:noFill/>
          </a:ln>
        </p:spPr>
        <p:txBody>
          <a:bodyPr/>
          <a:lstStyle/>
          <a:p>
            <a:endParaRPr lang="sv-SE"/>
          </a:p>
        </p:txBody>
      </p:sp>
      <p:sp>
        <p:nvSpPr>
          <p:cNvPr id="23" name="Rectangle 22">
            <a:extLst>
              <a:ext uri="{FF2B5EF4-FFF2-40B4-BE49-F238E27FC236}">
                <a16:creationId xmlns:a16="http://schemas.microsoft.com/office/drawing/2014/main" id="{B483D6B8-BE6E-4D3B-A8EB-80E8956D4AED}"/>
              </a:ext>
            </a:extLst>
          </p:cNvPr>
          <p:cNvSpPr>
            <a:spLocks noGrp="1"/>
          </p:cNvSpPr>
          <p:nvPr/>
        </p:nvSpPr>
        <p:spPr>
          <a:xfrm>
            <a:off x="1238250" y="3500438"/>
            <a:ext cx="4095750"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75" b="1">
                <a:solidFill>
                  <a:srgbClr val="071A2F"/>
                </a:solidFill>
                <a:latin typeface="Aptos"/>
                <a:ea typeface="Aptos"/>
                <a:cs typeface="Aptos"/>
              </a:defRPr>
            </a:pPr>
            <a:r>
              <a:rPr sz="1875" b="1">
                <a:solidFill>
                  <a:srgbClr val="071A2F"/>
                </a:solidFill>
                <a:latin typeface="Aptos"/>
                <a:ea typeface="Aptos"/>
                <a:cs typeface="Aptos"/>
              </a:rPr>
              <a:t>Machine</a:t>
            </a:r>
          </a:p>
        </p:txBody>
      </p:sp>
      <p:sp>
        <p:nvSpPr>
          <p:cNvPr id="25" name="Rectangle 24">
            <a:extLst>
              <a:ext uri="{FF2B5EF4-FFF2-40B4-BE49-F238E27FC236}">
                <a16:creationId xmlns:a16="http://schemas.microsoft.com/office/drawing/2014/main" id="{B1835205-D165-4F1A-85A8-75DB807DEC3B}"/>
              </a:ext>
            </a:extLst>
          </p:cNvPr>
          <p:cNvSpPr>
            <a:spLocks noGrp="1"/>
          </p:cNvSpPr>
          <p:nvPr/>
        </p:nvSpPr>
        <p:spPr>
          <a:xfrm>
            <a:off x="1238250" y="3967163"/>
            <a:ext cx="409575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350" b="0">
                <a:solidFill>
                  <a:srgbClr val="5E7184"/>
                </a:solidFill>
                <a:latin typeface="Aptos"/>
                <a:ea typeface="Aptos"/>
                <a:cs typeface="Aptos"/>
              </a:defRPr>
            </a:pPr>
            <a:r>
              <a:rPr sz="1350" b="0">
                <a:solidFill>
                  <a:srgbClr val="5E7184"/>
                </a:solidFill>
                <a:latin typeface="Aptos"/>
                <a:ea typeface="Aptos"/>
                <a:cs typeface="Aptos"/>
              </a:rPr>
              <a:t>Winding-group count, voltage demand, coupling, harmonics</a:t>
            </a:r>
          </a:p>
        </p:txBody>
      </p:sp>
      <p:sp>
        <p:nvSpPr>
          <p:cNvPr id="27" name="Rectangle: Rounded Corners 26">
            <a:extLst>
              <a:ext uri="{FF2B5EF4-FFF2-40B4-BE49-F238E27FC236}">
                <a16:creationId xmlns:a16="http://schemas.microsoft.com/office/drawing/2014/main" id="{F2EA2DFD-86D0-44BD-8721-7F3B9C9AB6C2}"/>
              </a:ext>
            </a:extLst>
          </p:cNvPr>
          <p:cNvSpPr>
            <a:spLocks noGrp="1"/>
          </p:cNvSpPr>
          <p:nvPr/>
        </p:nvSpPr>
        <p:spPr>
          <a:xfrm>
            <a:off x="6477000" y="3271838"/>
            <a:ext cx="4762500" cy="1524000"/>
          </a:xfrm>
          <a:prstGeom prst="roundRect">
            <a:avLst>
              <a:gd name="adj" fmla="val 5000"/>
            </a:avLst>
          </a:prstGeom>
          <a:solidFill>
            <a:srgbClr val="FFFFFF"/>
          </a:solidFill>
          <a:ln w="0">
            <a:noFill/>
          </a:ln>
        </p:spPr>
        <p:txBody>
          <a:bodyPr/>
          <a:lstStyle/>
          <a:p>
            <a:endParaRPr lang="sv-SE"/>
          </a:p>
        </p:txBody>
      </p:sp>
      <p:sp>
        <p:nvSpPr>
          <p:cNvPr id="29" name="Rectangle 28">
            <a:extLst>
              <a:ext uri="{FF2B5EF4-FFF2-40B4-BE49-F238E27FC236}">
                <a16:creationId xmlns:a16="http://schemas.microsoft.com/office/drawing/2014/main" id="{7BA5C450-A14A-4E10-991C-F499F8A477B6}"/>
              </a:ext>
            </a:extLst>
          </p:cNvPr>
          <p:cNvSpPr>
            <a:spLocks noGrp="1"/>
          </p:cNvSpPr>
          <p:nvPr/>
        </p:nvSpPr>
        <p:spPr>
          <a:xfrm>
            <a:off x="6477000" y="3271838"/>
            <a:ext cx="114300" cy="1524000"/>
          </a:xfrm>
          <a:prstGeom prst="rect">
            <a:avLst/>
          </a:prstGeom>
          <a:solidFill>
            <a:srgbClr val="F58A3A"/>
          </a:solidFill>
          <a:ln w="0">
            <a:noFill/>
          </a:ln>
        </p:spPr>
        <p:txBody>
          <a:bodyPr/>
          <a:lstStyle/>
          <a:p>
            <a:endParaRPr lang="sv-SE"/>
          </a:p>
        </p:txBody>
      </p:sp>
      <p:sp>
        <p:nvSpPr>
          <p:cNvPr id="30" name="Rectangle 29">
            <a:extLst>
              <a:ext uri="{FF2B5EF4-FFF2-40B4-BE49-F238E27FC236}">
                <a16:creationId xmlns:a16="http://schemas.microsoft.com/office/drawing/2014/main" id="{990E2490-2943-4823-AADB-73A5891F17E0}"/>
              </a:ext>
            </a:extLst>
          </p:cNvPr>
          <p:cNvSpPr>
            <a:spLocks noGrp="1"/>
          </p:cNvSpPr>
          <p:nvPr/>
        </p:nvSpPr>
        <p:spPr>
          <a:xfrm>
            <a:off x="6762750" y="3500438"/>
            <a:ext cx="4095750" cy="3619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875" b="1">
                <a:solidFill>
                  <a:srgbClr val="071A2F"/>
                </a:solidFill>
                <a:latin typeface="Aptos"/>
                <a:ea typeface="Aptos"/>
                <a:cs typeface="Aptos"/>
              </a:defRPr>
            </a:pPr>
            <a:r>
              <a:rPr sz="1875" b="1">
                <a:solidFill>
                  <a:srgbClr val="071A2F"/>
                </a:solidFill>
                <a:latin typeface="Aptos"/>
                <a:ea typeface="Aptos"/>
                <a:cs typeface="Aptos"/>
              </a:rPr>
              <a:t>Integration</a:t>
            </a:r>
          </a:p>
        </p:txBody>
      </p:sp>
      <p:sp>
        <p:nvSpPr>
          <p:cNvPr id="31" name="Rectangle 30">
            <a:extLst>
              <a:ext uri="{FF2B5EF4-FFF2-40B4-BE49-F238E27FC236}">
                <a16:creationId xmlns:a16="http://schemas.microsoft.com/office/drawing/2014/main" id="{88E72AB7-C4C5-4295-850D-A12E0FBB75EC}"/>
              </a:ext>
            </a:extLst>
          </p:cNvPr>
          <p:cNvSpPr>
            <a:spLocks noGrp="1"/>
          </p:cNvSpPr>
          <p:nvPr/>
        </p:nvSpPr>
        <p:spPr>
          <a:xfrm>
            <a:off x="6762750" y="3967163"/>
            <a:ext cx="4095750" cy="590550"/>
          </a:xfrm>
          <a:prstGeom prst="rect">
            <a:avLst/>
          </a:prstGeom>
          <a:noFill/>
          <a:ln w="0">
            <a:noFill/>
          </a:ln>
        </p:spPr>
        <p:txBody>
          <a:bodyPr wrap="square" lIns="0" tIns="0" rIns="0" bIns="0" anchor="ctr">
            <a:norm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1350" b="0">
                <a:solidFill>
                  <a:srgbClr val="5E7184"/>
                </a:solidFill>
                <a:latin typeface="Aptos"/>
                <a:ea typeface="Aptos"/>
                <a:cs typeface="Aptos"/>
              </a:defRPr>
            </a:pPr>
            <a:r>
              <a:rPr sz="1350" b="0">
                <a:solidFill>
                  <a:srgbClr val="5E7184"/>
                </a:solidFill>
                <a:latin typeface="Aptos"/>
                <a:ea typeface="Aptos"/>
                <a:cs typeface="Aptos"/>
              </a:rPr>
              <a:t>Gate drives, isolation, cooling, interconnects, packaging</a:t>
            </a:r>
          </a:p>
        </p:txBody>
      </p:sp>
      <p:sp>
        <p:nvSpPr>
          <p:cNvPr id="32" name="Rectangle: Rounded Corners 31">
            <a:extLst>
              <a:ext uri="{FF2B5EF4-FFF2-40B4-BE49-F238E27FC236}">
                <a16:creationId xmlns:a16="http://schemas.microsoft.com/office/drawing/2014/main" id="{084AA4B7-D136-4D80-911E-8B91168B926A}"/>
              </a:ext>
            </a:extLst>
          </p:cNvPr>
          <p:cNvSpPr>
            <a:spLocks noGrp="1"/>
          </p:cNvSpPr>
          <p:nvPr/>
        </p:nvSpPr>
        <p:spPr>
          <a:xfrm>
            <a:off x="2872740" y="5405437"/>
            <a:ext cx="6858000" cy="552450"/>
          </a:xfrm>
          <a:prstGeom prst="roundRect">
            <a:avLst>
              <a:gd name="adj" fmla="val 13793"/>
            </a:avLst>
          </a:prstGeom>
          <a:solidFill>
            <a:schemeClr val="tx2">
              <a:lumMod val="10000"/>
              <a:lumOff val="90000"/>
            </a:schemeClr>
          </a:solidFill>
          <a:ln w="0">
            <a:noFill/>
          </a:ln>
        </p:spPr>
        <p:txBody>
          <a:bodyPr/>
          <a:lstStyle/>
          <a:p>
            <a:endParaRPr lang="sv-SE"/>
          </a:p>
        </p:txBody>
      </p:sp>
      <p:sp>
        <p:nvSpPr>
          <p:cNvPr id="33" name="Rectangle 32">
            <a:extLst>
              <a:ext uri="{FF2B5EF4-FFF2-40B4-BE49-F238E27FC236}">
                <a16:creationId xmlns:a16="http://schemas.microsoft.com/office/drawing/2014/main" id="{7D499826-456A-4A13-9180-CD5BEA704776}"/>
              </a:ext>
            </a:extLst>
          </p:cNvPr>
          <p:cNvSpPr>
            <a:spLocks noGrp="1"/>
          </p:cNvSpPr>
          <p:nvPr/>
        </p:nvSpPr>
        <p:spPr>
          <a:xfrm>
            <a:off x="3158490" y="5491162"/>
            <a:ext cx="6286500" cy="361950"/>
          </a:xfrm>
          <a:prstGeom prst="rect">
            <a:avLst/>
          </a:prstGeom>
          <a:noFill/>
          <a:ln w="0">
            <a:noFill/>
          </a:ln>
        </p:spPr>
        <p:txBody>
          <a:bodyPr wrap="square" lIns="0" tIns="0" rIns="0" bIns="0" anchor="ctr">
            <a:normAutofit fontScale="91545" lnSpcReduction="10000"/>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425" b="1">
                <a:solidFill>
                  <a:srgbClr val="FFFFFF"/>
                </a:solidFill>
                <a:latin typeface="Aptos"/>
                <a:ea typeface="Aptos"/>
                <a:cs typeface="Aptos"/>
              </a:defRPr>
            </a:pPr>
            <a:r>
              <a:rPr sz="1425" b="1" dirty="0">
                <a:solidFill>
                  <a:schemeClr val="accent6"/>
                </a:solidFill>
                <a:latin typeface="Aptos"/>
                <a:ea typeface="Aptos"/>
                <a:cs typeface="Aptos"/>
              </a:rPr>
              <a:t>One common objective: minimum system loss, mass, volume, and implementation risk</a:t>
            </a:r>
          </a:p>
        </p:txBody>
      </p:sp>
    </p:spTree>
    <p:extLst>
      <p:ext uri="{BB962C8B-B14F-4D97-AF65-F5344CB8AC3E}">
        <p14:creationId xmlns:p14="http://schemas.microsoft.com/office/powerpoint/2010/main" val="818687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9C85-3F83-B25F-94A0-DAB8CECAF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A4A22-D875-8097-94EE-988AD3758929}"/>
              </a:ext>
            </a:extLst>
          </p:cNvPr>
          <p:cNvSpPr>
            <a:spLocks noGrp="1"/>
          </p:cNvSpPr>
          <p:nvPr>
            <p:ph type="title"/>
          </p:nvPr>
        </p:nvSpPr>
        <p:spPr>
          <a:xfrm>
            <a:off x="1009317" y="286175"/>
            <a:ext cx="10990263" cy="568412"/>
          </a:xfrm>
        </p:spPr>
        <p:txBody>
          <a:bodyPr/>
          <a:lstStyle/>
          <a:p>
            <a:r>
              <a:rPr lang="en-US" sz="2800" dirty="0"/>
              <a:t>Preliminary results - comparison</a:t>
            </a:r>
            <a:br>
              <a:rPr lang="en-US" sz="2800" dirty="0"/>
            </a:br>
            <a:r>
              <a:rPr lang="en-US" sz="2800" dirty="0"/>
              <a:t> </a:t>
            </a:r>
            <a:br>
              <a:rPr lang="en-US" dirty="0"/>
            </a:br>
            <a:br>
              <a:rPr lang="en-US" dirty="0"/>
            </a:br>
            <a:endParaRPr lang="sv-SE" dirty="0"/>
          </a:p>
        </p:txBody>
      </p:sp>
      <p:sp>
        <p:nvSpPr>
          <p:cNvPr id="27" name="Rectangle: Rounded Corners 26">
            <a:extLst>
              <a:ext uri="{FF2B5EF4-FFF2-40B4-BE49-F238E27FC236}">
                <a16:creationId xmlns:a16="http://schemas.microsoft.com/office/drawing/2014/main" id="{8041D811-6D34-E2E9-0E58-456658920F17}"/>
              </a:ext>
            </a:extLst>
          </p:cNvPr>
          <p:cNvSpPr>
            <a:spLocks noGrp="1"/>
          </p:cNvSpPr>
          <p:nvPr/>
        </p:nvSpPr>
        <p:spPr>
          <a:xfrm>
            <a:off x="6477000" y="3271838"/>
            <a:ext cx="4762500" cy="1524000"/>
          </a:xfrm>
          <a:prstGeom prst="roundRect">
            <a:avLst>
              <a:gd name="adj" fmla="val 5000"/>
            </a:avLst>
          </a:prstGeom>
          <a:solidFill>
            <a:srgbClr val="FFFFFF"/>
          </a:solidFill>
          <a:ln w="0">
            <a:noFill/>
          </a:ln>
        </p:spPr>
        <p:txBody>
          <a:bodyPr/>
          <a:lstStyle/>
          <a:p>
            <a:endParaRPr lang="sv-SE"/>
          </a:p>
        </p:txBody>
      </p:sp>
      <p:pic>
        <p:nvPicPr>
          <p:cNvPr id="8" name="Picture 7">
            <a:extLst>
              <a:ext uri="{FF2B5EF4-FFF2-40B4-BE49-F238E27FC236}">
                <a16:creationId xmlns:a16="http://schemas.microsoft.com/office/drawing/2014/main" id="{8B9EC332-51F6-40A9-CB1F-34B9D94BE135}"/>
              </a:ext>
            </a:extLst>
          </p:cNvPr>
          <p:cNvPicPr>
            <a:picLocks noChangeAspect="1"/>
          </p:cNvPicPr>
          <p:nvPr/>
        </p:nvPicPr>
        <p:blipFill>
          <a:blip r:embed="rId2"/>
          <a:srcRect l="13750" t="5159" r="12063"/>
          <a:stretch>
            <a:fillRect/>
          </a:stretch>
        </p:blipFill>
        <p:spPr>
          <a:xfrm>
            <a:off x="1573530" y="1406680"/>
            <a:ext cx="9044940" cy="3610138"/>
          </a:xfrm>
          <a:prstGeom prst="rect">
            <a:avLst/>
          </a:prstGeom>
        </p:spPr>
      </p:pic>
    </p:spTree>
    <p:extLst>
      <p:ext uri="{BB962C8B-B14F-4D97-AF65-F5344CB8AC3E}">
        <p14:creationId xmlns:p14="http://schemas.microsoft.com/office/powerpoint/2010/main" val="3617844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8AFB-BD7D-80EB-BB1D-43B27187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D67DD-EDA1-66E1-3696-3BF1719BE62E}"/>
              </a:ext>
            </a:extLst>
          </p:cNvPr>
          <p:cNvSpPr>
            <a:spLocks noGrp="1"/>
          </p:cNvSpPr>
          <p:nvPr>
            <p:ph type="title"/>
          </p:nvPr>
        </p:nvSpPr>
        <p:spPr>
          <a:xfrm>
            <a:off x="1009317" y="286175"/>
            <a:ext cx="10990263" cy="568412"/>
          </a:xfrm>
        </p:spPr>
        <p:txBody>
          <a:bodyPr/>
          <a:lstStyle/>
          <a:p>
            <a:r>
              <a:rPr lang="en-US" sz="2800" dirty="0"/>
              <a:t>SPB research - milestones</a:t>
            </a:r>
            <a:endParaRPr lang="sv-SE" dirty="0"/>
          </a:p>
        </p:txBody>
      </p:sp>
      <p:pic>
        <p:nvPicPr>
          <p:cNvPr id="4" name="Picture 3">
            <a:extLst>
              <a:ext uri="{FF2B5EF4-FFF2-40B4-BE49-F238E27FC236}">
                <a16:creationId xmlns:a16="http://schemas.microsoft.com/office/drawing/2014/main" id="{F4FF7C94-9D9E-58F3-C9F9-DFF186382AE0}"/>
              </a:ext>
            </a:extLst>
          </p:cNvPr>
          <p:cNvPicPr>
            <a:picLocks noChangeAspect="1"/>
          </p:cNvPicPr>
          <p:nvPr/>
        </p:nvPicPr>
        <p:blipFill>
          <a:blip r:embed="rId2"/>
          <a:srcRect t="1553" b="1"/>
          <a:stretch>
            <a:fillRect/>
          </a:stretch>
        </p:blipFill>
        <p:spPr>
          <a:xfrm>
            <a:off x="1341681" y="2178641"/>
            <a:ext cx="9508638" cy="2500717"/>
          </a:xfrm>
          <a:prstGeom prst="rect">
            <a:avLst/>
          </a:prstGeom>
        </p:spPr>
      </p:pic>
    </p:spTree>
    <p:extLst>
      <p:ext uri="{BB962C8B-B14F-4D97-AF65-F5344CB8AC3E}">
        <p14:creationId xmlns:p14="http://schemas.microsoft.com/office/powerpoint/2010/main" val="2686454297"/>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21389</TotalTime>
  <Words>383</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Figtree</vt:lpstr>
      <vt:lpstr>Calibri</vt:lpstr>
      <vt:lpstr>Cambria Math</vt:lpstr>
      <vt:lpstr>Aptos</vt:lpstr>
      <vt:lpstr>Office-tema</vt:lpstr>
      <vt:lpstr>Stacked Poly-Phase Bridge</vt:lpstr>
      <vt:lpstr>Why raise the traction DC-link voltage? </vt:lpstr>
      <vt:lpstr>SPB portions one high-voltage DC link across N cells </vt:lpstr>
      <vt:lpstr>Voltage portioning opens lower device-voltage classes  </vt:lpstr>
      <vt:lpstr>Voltage portioning opens lower device-voltage classes  </vt:lpstr>
      <vt:lpstr>Lower-voltage GaN can improve device-level performance    </vt:lpstr>
      <vt:lpstr>Figure-of-merit of Off-the-shelf GaN Devices</vt:lpstr>
      <vt:lpstr>The optimum cell count balances efficiency against complexity  </vt:lpstr>
      <vt:lpstr>SPB optimization spans the converter and the machine    </vt:lpstr>
      <vt:lpstr>Preliminary results - comparison    </vt:lpstr>
      <vt:lpstr>SPB research - milestones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217</cp:revision>
  <dcterms:created xsi:type="dcterms:W3CDTF">2024-01-10T13:17:29Z</dcterms:created>
  <dcterms:modified xsi:type="dcterms:W3CDTF">2026-09-15T08:42:06Z</dcterms:modified>
</cp:coreProperties>
</file>