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328" r:id="rId2"/>
    <p:sldId id="272" r:id="rId3"/>
    <p:sldId id="330" r:id="rId4"/>
    <p:sldId id="331" r:id="rId5"/>
    <p:sldId id="333" r:id="rId6"/>
    <p:sldId id="336" r:id="rId7"/>
    <p:sldId id="334" r:id="rId8"/>
    <p:sldId id="337" r:id="rId9"/>
    <p:sldId id="335" r:id="rId10"/>
  </p:sldIdLst>
  <p:sldSz cx="12192000" cy="6858000"/>
  <p:notesSz cx="6858000" cy="9144000"/>
  <p:embeddedFontLst>
    <p:embeddedFont>
      <p:font typeface="Cambria Math" panose="02040503050406030204" pitchFamily="18" charset="0"/>
      <p:regular r:id="rId12"/>
    </p:embeddedFont>
    <p:embeddedFont>
      <p:font typeface="Figtree" panose="020B0604020202020204" charset="0"/>
      <p:regular r:id="rId13"/>
      <p:bold r:id="rId14"/>
      <p:italic r:id="rId15"/>
      <p:boldItalic r:id="rId16"/>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varScale="1">
        <p:scale>
          <a:sx n="149" d="100"/>
          <a:sy n="149" d="100"/>
        </p:scale>
        <p:origin x="64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2026-09-14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2026-09-14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2026-09-14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2026-09-14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2026-09-14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2026-09-14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2026-09-14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2026-09-14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2026-09-14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2026-09-14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2026-09-14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2026-09-14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2026-09-14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1.xml"/><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41.xml"/><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B0E1-F050-1D90-D40A-388801DB7B3A}"/>
            </a:ext>
          </a:extLst>
        </p:cNvPr>
        <p:cNvGrpSpPr/>
        <p:nvPr/>
      </p:nvGrpSpPr>
      <p:grpSpPr>
        <a:xfrm>
          <a:off x="0" y="0"/>
          <a:ext cx="0" cy="0"/>
          <a:chOff x="0" y="0"/>
          <a:chExt cx="0" cy="0"/>
        </a:xfrm>
      </p:grpSpPr>
      <p:sp>
        <p:nvSpPr>
          <p:cNvPr id="4" name="Rubrik 3">
            <a:extLst>
              <a:ext uri="{FF2B5EF4-FFF2-40B4-BE49-F238E27FC236}">
                <a16:creationId xmlns:a16="http://schemas.microsoft.com/office/drawing/2014/main" id="{6D8BDE40-6911-D994-7CC0-84AB4FE55F9C}"/>
              </a:ext>
            </a:extLst>
          </p:cNvPr>
          <p:cNvSpPr>
            <a:spLocks noGrp="1"/>
          </p:cNvSpPr>
          <p:nvPr>
            <p:ph type="ctrTitle"/>
          </p:nvPr>
        </p:nvSpPr>
        <p:spPr>
          <a:xfrm>
            <a:off x="1695853" y="3269129"/>
            <a:ext cx="8798701" cy="1956921"/>
          </a:xfrm>
        </p:spPr>
        <p:txBody>
          <a:bodyPr/>
          <a:lstStyle/>
          <a:p>
            <a:r>
              <a:rPr lang="en-US" dirty="0"/>
              <a:t>WP4: Progress Update</a:t>
            </a:r>
            <a:endParaRPr lang="sv-SE" dirty="0"/>
          </a:p>
        </p:txBody>
      </p:sp>
      <p:sp>
        <p:nvSpPr>
          <p:cNvPr id="5" name="Underrubrik 4">
            <a:extLst>
              <a:ext uri="{FF2B5EF4-FFF2-40B4-BE49-F238E27FC236}">
                <a16:creationId xmlns:a16="http://schemas.microsoft.com/office/drawing/2014/main" id="{926B6FE1-C457-BB62-00B0-EF8711993E8D}"/>
              </a:ext>
            </a:extLst>
          </p:cNvPr>
          <p:cNvSpPr>
            <a:spLocks noGrp="1"/>
          </p:cNvSpPr>
          <p:nvPr>
            <p:ph type="subTitle" idx="1"/>
          </p:nvPr>
        </p:nvSpPr>
        <p:spPr/>
        <p:txBody>
          <a:bodyPr/>
          <a:lstStyle/>
          <a:p>
            <a:r>
              <a:rPr lang="en-US" dirty="0"/>
              <a:t>Enes Ayaz, Shahriar </a:t>
            </a:r>
            <a:r>
              <a:rPr lang="en-US" dirty="0" err="1"/>
              <a:t>Sermest</a:t>
            </a:r>
            <a:r>
              <a:rPr lang="en-US" dirty="0"/>
              <a:t> Ghahfarokhi</a:t>
            </a:r>
            <a:endParaRPr lang="sv-SE" dirty="0"/>
          </a:p>
        </p:txBody>
      </p:sp>
    </p:spTree>
    <p:extLst>
      <p:ext uri="{BB962C8B-B14F-4D97-AF65-F5344CB8AC3E}">
        <p14:creationId xmlns:p14="http://schemas.microsoft.com/office/powerpoint/2010/main" val="1699279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 Progress Update</a:t>
            </a:r>
          </a:p>
        </p:txBody>
      </p:sp>
      <p:sp>
        <p:nvSpPr>
          <p:cNvPr id="3" name="Content Placeholder 2">
            <a:extLst>
              <a:ext uri="{FF2B5EF4-FFF2-40B4-BE49-F238E27FC236}">
                <a16:creationId xmlns:a16="http://schemas.microsoft.com/office/drawing/2014/main" id="{861ABEC9-FE54-DF3E-DB62-CEF0D78D785D}"/>
              </a:ext>
            </a:extLst>
          </p:cNvPr>
          <p:cNvSpPr>
            <a:spLocks noGrp="1"/>
          </p:cNvSpPr>
          <p:nvPr>
            <p:ph idx="1"/>
          </p:nvPr>
        </p:nvSpPr>
        <p:spPr/>
        <p:txBody>
          <a:bodyPr/>
          <a:lstStyle/>
          <a:p>
            <a:pPr marL="0" indent="0">
              <a:buNone/>
            </a:pPr>
            <a:r>
              <a:rPr lang="en-US" b="1" dirty="0"/>
              <a:t>Objective: </a:t>
            </a:r>
            <a:r>
              <a:rPr lang="en-US" dirty="0"/>
              <a:t>Main development</a:t>
            </a:r>
            <a:r>
              <a:rPr lang="en-US" b="1" dirty="0"/>
              <a:t> </a:t>
            </a:r>
            <a:r>
              <a:rPr lang="en-US" dirty="0"/>
              <a:t>inverter for high voltage system. </a:t>
            </a:r>
          </a:p>
        </p:txBody>
      </p:sp>
      <p:graphicFrame>
        <p:nvGraphicFramePr>
          <p:cNvPr id="4" name="Content Placeholder 3">
            <a:extLst>
              <a:ext uri="{FF2B5EF4-FFF2-40B4-BE49-F238E27FC236}">
                <a16:creationId xmlns:a16="http://schemas.microsoft.com/office/drawing/2014/main" id="{C4343F10-989D-6577-246D-1538BAB73305}"/>
              </a:ext>
            </a:extLst>
          </p:cNvPr>
          <p:cNvGraphicFramePr>
            <a:graphicFrameLocks/>
          </p:cNvGraphicFramePr>
          <p:nvPr/>
        </p:nvGraphicFramePr>
        <p:xfrm>
          <a:off x="600075" y="1853907"/>
          <a:ext cx="10097691" cy="2225040"/>
        </p:xfrm>
        <a:graphic>
          <a:graphicData uri="http://schemas.openxmlformats.org/drawingml/2006/table">
            <a:tbl>
              <a:tblPr firstRow="1" bandRow="1">
                <a:tableStyleId>{5C22544A-7EE6-4342-B048-85BDC9FD1C3A}</a:tableStyleId>
              </a:tblPr>
              <a:tblGrid>
                <a:gridCol w="4118978">
                  <a:extLst>
                    <a:ext uri="{9D8B030D-6E8A-4147-A177-3AD203B41FA5}">
                      <a16:colId xmlns:a16="http://schemas.microsoft.com/office/drawing/2014/main" val="1715558184"/>
                    </a:ext>
                  </a:extLst>
                </a:gridCol>
                <a:gridCol w="305109">
                  <a:extLst>
                    <a:ext uri="{9D8B030D-6E8A-4147-A177-3AD203B41FA5}">
                      <a16:colId xmlns:a16="http://schemas.microsoft.com/office/drawing/2014/main" val="2483269492"/>
                    </a:ext>
                  </a:extLst>
                </a:gridCol>
                <a:gridCol w="363347">
                  <a:extLst>
                    <a:ext uri="{9D8B030D-6E8A-4147-A177-3AD203B41FA5}">
                      <a16:colId xmlns:a16="http://schemas.microsoft.com/office/drawing/2014/main" val="1945346401"/>
                    </a:ext>
                  </a:extLst>
                </a:gridCol>
                <a:gridCol w="354877">
                  <a:extLst>
                    <a:ext uri="{9D8B030D-6E8A-4147-A177-3AD203B41FA5}">
                      <a16:colId xmlns:a16="http://schemas.microsoft.com/office/drawing/2014/main" val="1956685442"/>
                    </a:ext>
                  </a:extLst>
                </a:gridCol>
                <a:gridCol w="354877">
                  <a:extLst>
                    <a:ext uri="{9D8B030D-6E8A-4147-A177-3AD203B41FA5}">
                      <a16:colId xmlns:a16="http://schemas.microsoft.com/office/drawing/2014/main" val="1873674011"/>
                    </a:ext>
                  </a:extLst>
                </a:gridCol>
                <a:gridCol w="374234">
                  <a:extLst>
                    <a:ext uri="{9D8B030D-6E8A-4147-A177-3AD203B41FA5}">
                      <a16:colId xmlns:a16="http://schemas.microsoft.com/office/drawing/2014/main" val="406173214"/>
                    </a:ext>
                  </a:extLst>
                </a:gridCol>
                <a:gridCol w="400044">
                  <a:extLst>
                    <a:ext uri="{9D8B030D-6E8A-4147-A177-3AD203B41FA5}">
                      <a16:colId xmlns:a16="http://schemas.microsoft.com/office/drawing/2014/main" val="2980513574"/>
                    </a:ext>
                  </a:extLst>
                </a:gridCol>
                <a:gridCol w="374234">
                  <a:extLst>
                    <a:ext uri="{9D8B030D-6E8A-4147-A177-3AD203B41FA5}">
                      <a16:colId xmlns:a16="http://schemas.microsoft.com/office/drawing/2014/main" val="4238306596"/>
                    </a:ext>
                  </a:extLst>
                </a:gridCol>
                <a:gridCol w="423836">
                  <a:extLst>
                    <a:ext uri="{9D8B030D-6E8A-4147-A177-3AD203B41FA5}">
                      <a16:colId xmlns:a16="http://schemas.microsoft.com/office/drawing/2014/main" val="3028314082"/>
                    </a:ext>
                  </a:extLst>
                </a:gridCol>
                <a:gridCol w="421418">
                  <a:extLst>
                    <a:ext uri="{9D8B030D-6E8A-4147-A177-3AD203B41FA5}">
                      <a16:colId xmlns:a16="http://schemas.microsoft.com/office/drawing/2014/main" val="507415313"/>
                    </a:ext>
                  </a:extLst>
                </a:gridCol>
                <a:gridCol w="380687">
                  <a:extLst>
                    <a:ext uri="{9D8B030D-6E8A-4147-A177-3AD203B41FA5}">
                      <a16:colId xmlns:a16="http://schemas.microsoft.com/office/drawing/2014/main" val="3913904068"/>
                    </a:ext>
                  </a:extLst>
                </a:gridCol>
                <a:gridCol w="361330">
                  <a:extLst>
                    <a:ext uri="{9D8B030D-6E8A-4147-A177-3AD203B41FA5}">
                      <a16:colId xmlns:a16="http://schemas.microsoft.com/office/drawing/2014/main" val="2032044853"/>
                    </a:ext>
                  </a:extLst>
                </a:gridCol>
                <a:gridCol w="354877">
                  <a:extLst>
                    <a:ext uri="{9D8B030D-6E8A-4147-A177-3AD203B41FA5}">
                      <a16:colId xmlns:a16="http://schemas.microsoft.com/office/drawing/2014/main" val="2366692508"/>
                    </a:ext>
                  </a:extLst>
                </a:gridCol>
                <a:gridCol w="316164">
                  <a:extLst>
                    <a:ext uri="{9D8B030D-6E8A-4147-A177-3AD203B41FA5}">
                      <a16:colId xmlns:a16="http://schemas.microsoft.com/office/drawing/2014/main" val="3832782621"/>
                    </a:ext>
                  </a:extLst>
                </a:gridCol>
                <a:gridCol w="387139">
                  <a:extLst>
                    <a:ext uri="{9D8B030D-6E8A-4147-A177-3AD203B41FA5}">
                      <a16:colId xmlns:a16="http://schemas.microsoft.com/office/drawing/2014/main" val="1730476488"/>
                    </a:ext>
                  </a:extLst>
                </a:gridCol>
                <a:gridCol w="406496">
                  <a:extLst>
                    <a:ext uri="{9D8B030D-6E8A-4147-A177-3AD203B41FA5}">
                      <a16:colId xmlns:a16="http://schemas.microsoft.com/office/drawing/2014/main" val="4154092806"/>
                    </a:ext>
                  </a:extLst>
                </a:gridCol>
                <a:gridCol w="400044">
                  <a:extLst>
                    <a:ext uri="{9D8B030D-6E8A-4147-A177-3AD203B41FA5}">
                      <a16:colId xmlns:a16="http://schemas.microsoft.com/office/drawing/2014/main" val="4282158076"/>
                    </a:ext>
                  </a:extLst>
                </a:gridCol>
              </a:tblGrid>
              <a:tr h="370840">
                <a:tc>
                  <a:txBody>
                    <a:bodyPr/>
                    <a:lstStyle/>
                    <a:p>
                      <a:endParaRPr lang="sv-SE" sz="1800" dirty="0"/>
                    </a:p>
                  </a:txBody>
                  <a:tcPr/>
                </a:tc>
                <a:tc gridSpan="4">
                  <a:txBody>
                    <a:bodyPr/>
                    <a:lstStyle/>
                    <a:p>
                      <a:r>
                        <a:rPr lang="en-US" sz="1800" dirty="0"/>
                        <a:t>2023</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2024</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2025</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2026</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extLst>
                  <a:ext uri="{0D108BD9-81ED-4DB2-BD59-A6C34878D82A}">
                    <a16:rowId xmlns:a16="http://schemas.microsoft.com/office/drawing/2014/main" val="3566106526"/>
                  </a:ext>
                </a:extLst>
              </a:tr>
              <a:tr h="370840">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2020973612"/>
                  </a:ext>
                </a:extLst>
              </a:tr>
              <a:tr h="370840">
                <a:tc>
                  <a:txBody>
                    <a:bodyPr/>
                    <a:lstStyle/>
                    <a:p>
                      <a:r>
                        <a:rPr lang="sv-SE" sz="1800" b="0" i="0" u="none" strike="noStrike" kern="1200" baseline="0" dirty="0">
                          <a:solidFill>
                            <a:schemeClr val="dk1"/>
                          </a:solidFill>
                          <a:latin typeface="+mn-lt"/>
                          <a:ea typeface="+mn-ea"/>
                          <a:cs typeface="+mn-cs"/>
                        </a:rPr>
                        <a:t>4.1 </a:t>
                      </a:r>
                      <a:r>
                        <a:rPr lang="en-US" sz="1800" b="0" i="0" u="none" strike="noStrike" kern="1200" baseline="0" dirty="0">
                          <a:solidFill>
                            <a:schemeClr val="dk1"/>
                          </a:solidFill>
                          <a:latin typeface="+mn-lt"/>
                          <a:ea typeface="+mn-ea"/>
                          <a:cs typeface="+mn-cs"/>
                        </a:rPr>
                        <a:t>Inverter topology and construction</a:t>
                      </a:r>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354220234"/>
                  </a:ext>
                </a:extLst>
              </a:tr>
              <a:tr h="370840">
                <a:tc>
                  <a:txBody>
                    <a:bodyPr/>
                    <a:lstStyle/>
                    <a:p>
                      <a:r>
                        <a:rPr lang="en-US" sz="1800" b="0" i="0" u="none" strike="noStrike" kern="1200" baseline="0" dirty="0">
                          <a:solidFill>
                            <a:schemeClr val="dk1"/>
                          </a:solidFill>
                          <a:latin typeface="+mn-lt"/>
                          <a:ea typeface="+mn-ea"/>
                          <a:cs typeface="+mn-cs"/>
                        </a:rPr>
                        <a:t>4.2 Intelligent gate driver</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67718572"/>
                  </a:ext>
                </a:extLst>
              </a:tr>
              <a:tr h="370840">
                <a:tc>
                  <a:txBody>
                    <a:bodyPr/>
                    <a:lstStyle/>
                    <a:p>
                      <a:r>
                        <a:rPr lang="en-US" sz="1800" b="0" i="0" u="none" strike="noStrike" kern="1200" baseline="0" noProof="0" dirty="0">
                          <a:solidFill>
                            <a:schemeClr val="dk1"/>
                          </a:solidFill>
                          <a:latin typeface="+mn-lt"/>
                          <a:ea typeface="+mn-ea"/>
                          <a:cs typeface="+mn-cs"/>
                        </a:rPr>
                        <a:t>4.3 Cooling of DC link capacitors</a:t>
                      </a:r>
                      <a:endParaRPr lang="en-US" sz="1800" noProof="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92608565"/>
                  </a:ext>
                </a:extLst>
              </a:tr>
              <a:tr h="370840">
                <a:tc>
                  <a:txBody>
                    <a:bodyPr/>
                    <a:lstStyle/>
                    <a:p>
                      <a:r>
                        <a:rPr lang="en-US" sz="1800" noProof="0" dirty="0"/>
                        <a:t>4.4 High bandwidth current meas.</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718620526"/>
                  </a:ext>
                </a:extLst>
              </a:tr>
            </a:tbl>
          </a:graphicData>
        </a:graphic>
      </p:graphicFrame>
      <p:sp>
        <p:nvSpPr>
          <p:cNvPr id="10" name="TextBox 9">
            <a:extLst>
              <a:ext uri="{FF2B5EF4-FFF2-40B4-BE49-F238E27FC236}">
                <a16:creationId xmlns:a16="http://schemas.microsoft.com/office/drawing/2014/main" id="{C8158871-40C3-D5CB-9FD7-C49A537E03F4}"/>
              </a:ext>
            </a:extLst>
          </p:cNvPr>
          <p:cNvSpPr txBox="1"/>
          <p:nvPr/>
        </p:nvSpPr>
        <p:spPr>
          <a:xfrm>
            <a:off x="600074" y="4281329"/>
            <a:ext cx="10097691" cy="2123658"/>
          </a:xfrm>
          <a:prstGeom prst="rect">
            <a:avLst/>
          </a:prstGeom>
          <a:noFill/>
        </p:spPr>
        <p:txBody>
          <a:bodyPr wrap="square" lIns="91440" tIns="45720" rIns="91440" bIns="45720" anchor="t">
            <a:spAutoFit/>
          </a:bodyPr>
          <a:lstStyle/>
          <a:p>
            <a:pPr algn="just"/>
            <a:r>
              <a:rPr lang="en-US" sz="1200" dirty="0">
                <a:solidFill>
                  <a:schemeClr val="tx1">
                    <a:lumMod val="65000"/>
                    <a:lumOff val="35000"/>
                  </a:schemeClr>
                </a:solidFill>
              </a:rPr>
              <a:t>4.1: The high-voltage inverter can be designed as a two-level, three-level, or multi-level inverter, requiring theoretical evaluation and comparison of various topologies and modular configurations to optimize efficiency, compactness, and cost. </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4.2: The gate driver controls the inverter’s semiconductor components and can optimize motor stresses and perform state estimation by monitoring parameters like gate threshold voltage and leakage current, requiring comparison of different designs for performance and reliability.</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4.3: DC link capacitors’ size and reliability depend heavily on temperature, making it essential to evaluate various cooling methods, both theoretically and experimentally. </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4.4: Current measurement methods need evaluation, as higher bandwidth offers advantages like improved state estimation of the motor's stator winding. </a:t>
            </a:r>
            <a:endParaRPr lang="en-US" sz="1200" dirty="0">
              <a:solidFill>
                <a:srgbClr val="FF0000"/>
              </a:solidFill>
            </a:endParaRPr>
          </a:p>
        </p:txBody>
      </p:sp>
      <p:cxnSp>
        <p:nvCxnSpPr>
          <p:cNvPr id="5" name="Straight Connector 4">
            <a:extLst>
              <a:ext uri="{FF2B5EF4-FFF2-40B4-BE49-F238E27FC236}">
                <a16:creationId xmlns:a16="http://schemas.microsoft.com/office/drawing/2014/main" id="{6F76486B-7750-F701-5291-DB2C393BB549}"/>
              </a:ext>
            </a:extLst>
          </p:cNvPr>
          <p:cNvCxnSpPr>
            <a:cxnSpLocks/>
          </p:cNvCxnSpPr>
          <p:nvPr/>
        </p:nvCxnSpPr>
        <p:spPr>
          <a:xfrm>
            <a:off x="9923302" y="1853907"/>
            <a:ext cx="0" cy="2262421"/>
          </a:xfrm>
          <a:prstGeom prst="line">
            <a:avLst/>
          </a:prstGeom>
          <a:ln w="28575">
            <a:solidFill>
              <a:srgbClr val="E86A5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69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1FEB2-EE82-467D-C4E8-2554CA5B7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86874-6DC7-58C9-2E24-C765E60CF749}"/>
              </a:ext>
            </a:extLst>
          </p:cNvPr>
          <p:cNvSpPr>
            <a:spLocks noGrp="1"/>
          </p:cNvSpPr>
          <p:nvPr>
            <p:ph type="title"/>
          </p:nvPr>
        </p:nvSpPr>
        <p:spPr/>
        <p:txBody>
          <a:bodyPr/>
          <a:lstStyle/>
          <a:p>
            <a:r>
              <a:rPr lang="en-US" dirty="0"/>
              <a:t>System Requirements &amp; Testbed</a:t>
            </a:r>
          </a:p>
        </p:txBody>
      </p:sp>
      <p:pic>
        <p:nvPicPr>
          <p:cNvPr id="9" name="Picture 8">
            <a:extLst>
              <a:ext uri="{FF2B5EF4-FFF2-40B4-BE49-F238E27FC236}">
                <a16:creationId xmlns:a16="http://schemas.microsoft.com/office/drawing/2014/main" id="{7DE87A86-65B7-3749-D32F-3269B5640FA3}"/>
              </a:ext>
            </a:extLst>
          </p:cNvPr>
          <p:cNvPicPr>
            <a:picLocks noChangeAspect="1"/>
          </p:cNvPicPr>
          <p:nvPr/>
        </p:nvPicPr>
        <p:blipFill>
          <a:blip r:embed="rId2"/>
          <a:stretch>
            <a:fillRect/>
          </a:stretch>
        </p:blipFill>
        <p:spPr>
          <a:xfrm>
            <a:off x="1169375" y="1276350"/>
            <a:ext cx="4636918" cy="5133974"/>
          </a:xfrm>
          <a:prstGeom prst="rect">
            <a:avLst/>
          </a:prstGeom>
        </p:spPr>
      </p:pic>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AFF61707-CA40-28D4-F4FA-F67599F741CA}"/>
                  </a:ext>
                </a:extLst>
              </p:cNvPr>
              <p:cNvSpPr/>
              <p:nvPr/>
            </p:nvSpPr>
            <p:spPr>
              <a:xfrm>
                <a:off x="6912844" y="1711863"/>
                <a:ext cx="4425454" cy="2574616"/>
              </a:xfrm>
              <a:prstGeom prst="rect">
                <a:avLst/>
              </a:prstGeom>
            </p:spPr>
            <p:txBody>
              <a:bodyPr wrap="square">
                <a:spAutoFit/>
              </a:bodyPr>
              <a:lstStyle/>
              <a:p>
                <a:r>
                  <a:rPr lang="en-US" b="1" dirty="0"/>
                  <a:t>2-Level Inverter Power Ratings</a:t>
                </a:r>
              </a:p>
              <a:p>
                <a:endParaRPr lang="en-US" b="1"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i="1">
                            <a:latin typeface="Cambria Math" panose="02040503050406030204" pitchFamily="18" charset="0"/>
                          </a:rPr>
                          <m:t>𝐷𝐶</m:t>
                        </m:r>
                      </m:sub>
                    </m:sSub>
                    <m:r>
                      <a:rPr lang="en-US" i="1">
                        <a:latin typeface="Cambria Math" panose="02040503050406030204" pitchFamily="18" charset="0"/>
                      </a:rPr>
                      <m:t>=1</m:t>
                    </m:r>
                    <m:r>
                      <a:rPr lang="sv-SE" i="1">
                        <a:latin typeface="Cambria Math" panose="02040503050406030204" pitchFamily="18" charset="0"/>
                      </a:rPr>
                      <m:t>05</m:t>
                    </m:r>
                    <m:r>
                      <a:rPr lang="en-US" i="1">
                        <a:latin typeface="Cambria Math" panose="02040503050406030204" pitchFamily="18" charset="0"/>
                      </a:rPr>
                      <m:t>0 </m:t>
                    </m:r>
                    <m:r>
                      <a:rPr lang="en-US" i="1">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i="1">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525</m:t>
                    </m:r>
                    <m:r>
                      <a:rPr lang="en-US" i="1">
                        <a:latin typeface="Cambria Math" panose="02040503050406030204" pitchFamily="18" charset="0"/>
                      </a:rPr>
                      <m:t> </m:t>
                    </m:r>
                    <m:r>
                      <a:rPr lang="en-US" i="1">
                        <a:latin typeface="Cambria Math" panose="02040503050406030204" pitchFamily="18" charset="0"/>
                      </a:rPr>
                      <m:t>𝑉</m:t>
                    </m:r>
                    <m:r>
                      <a:rPr lang="en-US" i="1">
                        <a:latin typeface="Cambria Math" panose="02040503050406030204" pitchFamily="18" charset="0"/>
                      </a:rPr>
                      <m:t> </m:t>
                    </m:r>
                    <m:r>
                      <a:rPr lang="en-US" i="1">
                        <a:latin typeface="Cambria Math" panose="02040503050406030204" pitchFamily="18" charset="0"/>
                      </a:rPr>
                      <m:t>𝑜𝑟</m:t>
                    </m:r>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e>
                        </m:d>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i="1">
                        <a:latin typeface="Cambria Math" panose="02040503050406030204" pitchFamily="18" charset="0"/>
                      </a:rPr>
                      <m:t>6 </m:t>
                    </m:r>
                    <m:r>
                      <a:rPr lang="sv-SE" i="1">
                        <a:latin typeface="Cambria Math" panose="02040503050406030204" pitchFamily="18" charset="0"/>
                      </a:rPr>
                      <m:t>𝐴</m:t>
                    </m:r>
                  </m:oMath>
                </a14:m>
                <a:endParaRPr lang="sv-SE" i="1" dirty="0">
                  <a:latin typeface="Cambria Math" panose="02040503050406030204" pitchFamily="18" charset="0"/>
                </a:endParaRPr>
              </a:p>
            </p:txBody>
          </p:sp>
        </mc:Choice>
        <mc:Fallback>
          <p:sp>
            <p:nvSpPr>
              <p:cNvPr id="4" name="Rectangle 3">
                <a:extLst>
                  <a:ext uri="{FF2B5EF4-FFF2-40B4-BE49-F238E27FC236}">
                    <a16:creationId xmlns:a16="http://schemas.microsoft.com/office/drawing/2014/main" id="{AFF61707-CA40-28D4-F4FA-F67599F741CA}"/>
                  </a:ext>
                </a:extLst>
              </p:cNvPr>
              <p:cNvSpPr>
                <a:spLocks noRot="1" noChangeAspect="1" noMove="1" noResize="1" noEditPoints="1" noAdjustHandles="1" noChangeArrowheads="1" noChangeShapeType="1" noTextEdit="1"/>
              </p:cNvSpPr>
              <p:nvPr/>
            </p:nvSpPr>
            <p:spPr>
              <a:xfrm>
                <a:off x="6912844" y="1711863"/>
                <a:ext cx="4425454" cy="2574616"/>
              </a:xfrm>
              <a:prstGeom prst="rect">
                <a:avLst/>
              </a:prstGeom>
              <a:blipFill>
                <a:blip r:embed="rId3"/>
                <a:stretch>
                  <a:fillRect l="-1240" t="-1422"/>
                </a:stretch>
              </a:blipFill>
            </p:spPr>
            <p:txBody>
              <a:bodyPr/>
              <a:lstStyle/>
              <a:p>
                <a:r>
                  <a:rPr lang="sv-SE">
                    <a:noFill/>
                  </a:rPr>
                  <a:t> </a:t>
                </a:r>
              </a:p>
            </p:txBody>
          </p:sp>
        </mc:Fallback>
      </mc:AlternateContent>
    </p:spTree>
    <p:extLst>
      <p:ext uri="{BB962C8B-B14F-4D97-AF65-F5344CB8AC3E}">
        <p14:creationId xmlns:p14="http://schemas.microsoft.com/office/powerpoint/2010/main" val="3900652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B1BC-BA4D-C0F0-961C-B7C5063A8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D4744-F9FF-517E-E3CE-D0DBCE1EDBF3}"/>
              </a:ext>
            </a:extLst>
          </p:cNvPr>
          <p:cNvSpPr>
            <a:spLocks noGrp="1"/>
          </p:cNvSpPr>
          <p:nvPr>
            <p:ph type="title"/>
          </p:nvPr>
        </p:nvSpPr>
        <p:spPr/>
        <p:txBody>
          <a:bodyPr/>
          <a:lstStyle/>
          <a:p>
            <a:r>
              <a:rPr lang="en-US" dirty="0"/>
              <a:t>First Prototype with 62mm Power Modules</a:t>
            </a:r>
          </a:p>
        </p:txBody>
      </p:sp>
      <p:sp>
        <p:nvSpPr>
          <p:cNvPr id="4" name="TextBox 3">
            <a:extLst>
              <a:ext uri="{FF2B5EF4-FFF2-40B4-BE49-F238E27FC236}">
                <a16:creationId xmlns:a16="http://schemas.microsoft.com/office/drawing/2014/main" id="{ED23ABAF-7851-C9AC-8690-04BE403AAE5C}"/>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6" name="Picture 5">
            <a:extLst>
              <a:ext uri="{FF2B5EF4-FFF2-40B4-BE49-F238E27FC236}">
                <a16:creationId xmlns:a16="http://schemas.microsoft.com/office/drawing/2014/main" id="{62B6D6F2-5498-7E85-CB1C-73C53C9DC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9" y="1178754"/>
            <a:ext cx="3082925" cy="4923099"/>
          </a:xfrm>
          <a:prstGeom prst="rect">
            <a:avLst/>
          </a:prstGeom>
        </p:spPr>
      </p:pic>
      <p:pic>
        <p:nvPicPr>
          <p:cNvPr id="8" name="Picture 7">
            <a:extLst>
              <a:ext uri="{FF2B5EF4-FFF2-40B4-BE49-F238E27FC236}">
                <a16:creationId xmlns:a16="http://schemas.microsoft.com/office/drawing/2014/main" id="{B4CBD3FC-F8F2-0160-BB3C-3121A3D16D86}"/>
              </a:ext>
            </a:extLst>
          </p:cNvPr>
          <p:cNvPicPr>
            <a:picLocks noChangeAspect="1"/>
          </p:cNvPicPr>
          <p:nvPr/>
        </p:nvPicPr>
        <p:blipFill>
          <a:blip r:embed="rId3"/>
          <a:stretch>
            <a:fillRect/>
          </a:stretch>
        </p:blipFill>
        <p:spPr>
          <a:xfrm>
            <a:off x="332262" y="6101853"/>
            <a:ext cx="5444004" cy="346277"/>
          </a:xfrm>
          <a:prstGeom prst="rect">
            <a:avLst/>
          </a:prstGeom>
        </p:spPr>
      </p:pic>
      <p:pic>
        <p:nvPicPr>
          <p:cNvPr id="11" name="Picture 10">
            <a:extLst>
              <a:ext uri="{FF2B5EF4-FFF2-40B4-BE49-F238E27FC236}">
                <a16:creationId xmlns:a16="http://schemas.microsoft.com/office/drawing/2014/main" id="{FEF5C5AE-BE86-F578-BF99-050FB2DBD2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8900" y="1328512"/>
            <a:ext cx="4758665" cy="3389989"/>
          </a:xfrm>
          <a:prstGeom prst="rect">
            <a:avLst/>
          </a:prstGeom>
        </p:spPr>
      </p:pic>
      <p:pic>
        <p:nvPicPr>
          <p:cNvPr id="14" name="Picture 13">
            <a:extLst>
              <a:ext uri="{FF2B5EF4-FFF2-40B4-BE49-F238E27FC236}">
                <a16:creationId xmlns:a16="http://schemas.microsoft.com/office/drawing/2014/main" id="{04656585-8D0F-26E4-9F0D-B2722891C843}"/>
              </a:ext>
            </a:extLst>
          </p:cNvPr>
          <p:cNvPicPr>
            <a:picLocks noChangeAspect="1"/>
          </p:cNvPicPr>
          <p:nvPr/>
        </p:nvPicPr>
        <p:blipFill>
          <a:blip r:embed="rId5"/>
          <a:stretch>
            <a:fillRect/>
          </a:stretch>
        </p:blipFill>
        <p:spPr>
          <a:xfrm>
            <a:off x="6438900" y="5002115"/>
            <a:ext cx="5016091" cy="689194"/>
          </a:xfrm>
          <a:prstGeom prst="rect">
            <a:avLst/>
          </a:prstGeom>
        </p:spPr>
      </p:pic>
    </p:spTree>
    <p:extLst>
      <p:ext uri="{BB962C8B-B14F-4D97-AF65-F5344CB8AC3E}">
        <p14:creationId xmlns:p14="http://schemas.microsoft.com/office/powerpoint/2010/main" val="1136499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6BD7D-F9DE-0638-74E9-576B81CEB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03C53-E467-391C-A38C-EDFD97F134CA}"/>
              </a:ext>
            </a:extLst>
          </p:cNvPr>
          <p:cNvSpPr>
            <a:spLocks noGrp="1"/>
          </p:cNvSpPr>
          <p:nvPr>
            <p:ph type="title"/>
          </p:nvPr>
        </p:nvSpPr>
        <p:spPr/>
        <p:txBody>
          <a:bodyPr/>
          <a:lstStyle/>
          <a:p>
            <a:r>
              <a:rPr lang="en-US" dirty="0" err="1"/>
              <a:t>Effiency</a:t>
            </a:r>
            <a:r>
              <a:rPr lang="en-US" dirty="0"/>
              <a:t> and Power Density Results</a:t>
            </a:r>
          </a:p>
        </p:txBody>
      </p:sp>
      <p:pic>
        <p:nvPicPr>
          <p:cNvPr id="5" name="Picture 4">
            <a:extLst>
              <a:ext uri="{FF2B5EF4-FFF2-40B4-BE49-F238E27FC236}">
                <a16:creationId xmlns:a16="http://schemas.microsoft.com/office/drawing/2014/main" id="{38D6CAC9-6F2A-E6E8-6098-883E5D0E7B9A}"/>
              </a:ext>
            </a:extLst>
          </p:cNvPr>
          <p:cNvPicPr>
            <a:picLocks noChangeAspect="1"/>
          </p:cNvPicPr>
          <p:nvPr/>
        </p:nvPicPr>
        <p:blipFill>
          <a:blip r:embed="rId2"/>
          <a:stretch>
            <a:fillRect/>
          </a:stretch>
        </p:blipFill>
        <p:spPr>
          <a:xfrm>
            <a:off x="366047" y="1557605"/>
            <a:ext cx="5319712" cy="1681305"/>
          </a:xfrm>
          <a:prstGeom prst="rect">
            <a:avLst/>
          </a:prstGeom>
        </p:spPr>
      </p:pic>
      <p:pic>
        <p:nvPicPr>
          <p:cNvPr id="9" name="Picture 8">
            <a:extLst>
              <a:ext uri="{FF2B5EF4-FFF2-40B4-BE49-F238E27FC236}">
                <a16:creationId xmlns:a16="http://schemas.microsoft.com/office/drawing/2014/main" id="{22FDBE93-3719-D0D8-8B03-67933B68AA9D}"/>
              </a:ext>
            </a:extLst>
          </p:cNvPr>
          <p:cNvPicPr>
            <a:picLocks noChangeAspect="1"/>
          </p:cNvPicPr>
          <p:nvPr/>
        </p:nvPicPr>
        <p:blipFill>
          <a:blip r:embed="rId3"/>
          <a:stretch>
            <a:fillRect/>
          </a:stretch>
        </p:blipFill>
        <p:spPr>
          <a:xfrm>
            <a:off x="366047" y="3870894"/>
            <a:ext cx="5514975" cy="2331283"/>
          </a:xfrm>
          <a:prstGeom prst="rect">
            <a:avLst/>
          </a:prstGeom>
        </p:spPr>
      </p:pic>
      <p:pic>
        <p:nvPicPr>
          <p:cNvPr id="4" name="Picture 3">
            <a:extLst>
              <a:ext uri="{FF2B5EF4-FFF2-40B4-BE49-F238E27FC236}">
                <a16:creationId xmlns:a16="http://schemas.microsoft.com/office/drawing/2014/main" id="{F40D3F13-25A9-6BC0-DBC9-EAFE0DF360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3061" y="1078483"/>
            <a:ext cx="5483459" cy="2800064"/>
          </a:xfrm>
          <a:prstGeom prst="rect">
            <a:avLst/>
          </a:prstGeom>
        </p:spPr>
      </p:pic>
      <p:pic>
        <p:nvPicPr>
          <p:cNvPr id="7" name="Picture 6">
            <a:extLst>
              <a:ext uri="{FF2B5EF4-FFF2-40B4-BE49-F238E27FC236}">
                <a16:creationId xmlns:a16="http://schemas.microsoft.com/office/drawing/2014/main" id="{494BFE61-CE3F-26D9-B371-DBCDFAC5BA29}"/>
              </a:ext>
            </a:extLst>
          </p:cNvPr>
          <p:cNvPicPr>
            <a:picLocks noChangeAspect="1"/>
          </p:cNvPicPr>
          <p:nvPr/>
        </p:nvPicPr>
        <p:blipFill>
          <a:blip r:embed="rId5"/>
          <a:stretch>
            <a:fillRect/>
          </a:stretch>
        </p:blipFill>
        <p:spPr>
          <a:xfrm>
            <a:off x="6450712" y="3870894"/>
            <a:ext cx="4976813" cy="539597"/>
          </a:xfrm>
          <a:prstGeom prst="rect">
            <a:avLst/>
          </a:prstGeom>
        </p:spPr>
      </p:pic>
      <p:pic>
        <p:nvPicPr>
          <p:cNvPr id="10" name="Picture 9">
            <a:extLst>
              <a:ext uri="{FF2B5EF4-FFF2-40B4-BE49-F238E27FC236}">
                <a16:creationId xmlns:a16="http://schemas.microsoft.com/office/drawing/2014/main" id="{9653BCBE-173B-9127-968C-76E4FBA48D44}"/>
              </a:ext>
            </a:extLst>
          </p:cNvPr>
          <p:cNvPicPr>
            <a:picLocks noChangeAspect="1"/>
          </p:cNvPicPr>
          <p:nvPr/>
        </p:nvPicPr>
        <p:blipFill>
          <a:blip r:embed="rId6"/>
          <a:stretch>
            <a:fillRect/>
          </a:stretch>
        </p:blipFill>
        <p:spPr>
          <a:xfrm>
            <a:off x="6450712" y="4676973"/>
            <a:ext cx="4908159" cy="1634649"/>
          </a:xfrm>
          <a:prstGeom prst="rect">
            <a:avLst/>
          </a:prstGeom>
        </p:spPr>
      </p:pic>
    </p:spTree>
    <p:extLst>
      <p:ext uri="{BB962C8B-B14F-4D97-AF65-F5344CB8AC3E}">
        <p14:creationId xmlns:p14="http://schemas.microsoft.com/office/powerpoint/2010/main" val="275520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BF8C3-DC7E-DFD2-6AD1-542821D83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FF2BE-F9A4-5F72-C2AD-D39C3B0E1F70}"/>
              </a:ext>
            </a:extLst>
          </p:cNvPr>
          <p:cNvSpPr>
            <a:spLocks noGrp="1"/>
          </p:cNvSpPr>
          <p:nvPr>
            <p:ph type="title"/>
          </p:nvPr>
        </p:nvSpPr>
        <p:spPr/>
        <p:txBody>
          <a:bodyPr/>
          <a:lstStyle/>
          <a:p>
            <a:r>
              <a:rPr lang="en-US" dirty="0"/>
              <a:t>Second Prototype with </a:t>
            </a:r>
            <a:r>
              <a:rPr lang="en-US" dirty="0" err="1"/>
              <a:t>eTruck</a:t>
            </a:r>
            <a:r>
              <a:rPr lang="en-US" dirty="0"/>
              <a:t> Power Modules</a:t>
            </a:r>
          </a:p>
        </p:txBody>
      </p:sp>
      <p:pic>
        <p:nvPicPr>
          <p:cNvPr id="9" name="Picture 8">
            <a:extLst>
              <a:ext uri="{FF2B5EF4-FFF2-40B4-BE49-F238E27FC236}">
                <a16:creationId xmlns:a16="http://schemas.microsoft.com/office/drawing/2014/main" id="{F76B86F3-3679-02F4-FCA4-FAA9570FBB8C}"/>
              </a:ext>
            </a:extLst>
          </p:cNvPr>
          <p:cNvPicPr>
            <a:picLocks noChangeAspect="1"/>
          </p:cNvPicPr>
          <p:nvPr/>
        </p:nvPicPr>
        <p:blipFill>
          <a:blip r:embed="rId2"/>
          <a:srcRect t="27610" b="17455"/>
          <a:stretch>
            <a:fillRect/>
          </a:stretch>
        </p:blipFill>
        <p:spPr>
          <a:xfrm>
            <a:off x="331940" y="1817246"/>
            <a:ext cx="3170571" cy="3772385"/>
          </a:xfrm>
          <a:prstGeom prst="rect">
            <a:avLst/>
          </a:prstGeom>
        </p:spPr>
      </p:pic>
      <p:pic>
        <p:nvPicPr>
          <p:cNvPr id="11" name="Picture 10">
            <a:extLst>
              <a:ext uri="{FF2B5EF4-FFF2-40B4-BE49-F238E27FC236}">
                <a16:creationId xmlns:a16="http://schemas.microsoft.com/office/drawing/2014/main" id="{2949F4C2-0891-E9D7-85F5-3E66C8D23061}"/>
              </a:ext>
            </a:extLst>
          </p:cNvPr>
          <p:cNvPicPr>
            <a:picLocks noChangeAspect="1"/>
          </p:cNvPicPr>
          <p:nvPr/>
        </p:nvPicPr>
        <p:blipFill>
          <a:blip r:embed="rId3"/>
          <a:srcRect t="31273" b="10767"/>
          <a:stretch>
            <a:fillRect/>
          </a:stretch>
        </p:blipFill>
        <p:spPr>
          <a:xfrm>
            <a:off x="4194730" y="1817247"/>
            <a:ext cx="2879768" cy="3614976"/>
          </a:xfrm>
          <a:prstGeom prst="rect">
            <a:avLst/>
          </a:prstGeom>
        </p:spPr>
      </p:pic>
      <p:pic>
        <p:nvPicPr>
          <p:cNvPr id="13" name="Picture 12">
            <a:extLst>
              <a:ext uri="{FF2B5EF4-FFF2-40B4-BE49-F238E27FC236}">
                <a16:creationId xmlns:a16="http://schemas.microsoft.com/office/drawing/2014/main" id="{1E1F97DD-8FC1-924F-EB42-8FC8B0667061}"/>
              </a:ext>
            </a:extLst>
          </p:cNvPr>
          <p:cNvPicPr>
            <a:picLocks noChangeAspect="1"/>
          </p:cNvPicPr>
          <p:nvPr/>
        </p:nvPicPr>
        <p:blipFill>
          <a:blip r:embed="rId4"/>
          <a:stretch>
            <a:fillRect/>
          </a:stretch>
        </p:blipFill>
        <p:spPr>
          <a:xfrm>
            <a:off x="8264705" y="1938867"/>
            <a:ext cx="2827349" cy="1850020"/>
          </a:xfrm>
          <a:prstGeom prst="rect">
            <a:avLst/>
          </a:prstGeom>
        </p:spPr>
      </p:pic>
      <p:graphicFrame>
        <p:nvGraphicFramePr>
          <p:cNvPr id="15" name="Table 14">
            <a:extLst>
              <a:ext uri="{FF2B5EF4-FFF2-40B4-BE49-F238E27FC236}">
                <a16:creationId xmlns:a16="http://schemas.microsoft.com/office/drawing/2014/main" id="{EC0818D8-A537-78B7-C460-41AAD23B48AC}"/>
              </a:ext>
            </a:extLst>
          </p:cNvPr>
          <p:cNvGraphicFramePr>
            <a:graphicFrameLocks noGrp="1"/>
          </p:cNvGraphicFramePr>
          <p:nvPr>
            <p:extLst>
              <p:ext uri="{D42A27DB-BD31-4B8C-83A1-F6EECF244321}">
                <p14:modId xmlns:p14="http://schemas.microsoft.com/office/powerpoint/2010/main" val="2575392941"/>
              </p:ext>
            </p:extLst>
          </p:nvPr>
        </p:nvGraphicFramePr>
        <p:xfrm>
          <a:off x="7766716" y="4620079"/>
          <a:ext cx="4216582" cy="1463040"/>
        </p:xfrm>
        <a:graphic>
          <a:graphicData uri="http://schemas.openxmlformats.org/drawingml/2006/table">
            <a:tbl>
              <a:tblPr firstRow="1" bandRow="1">
                <a:tableStyleId>{5C22544A-7EE6-4342-B048-85BDC9FD1C3A}</a:tableStyleId>
              </a:tblPr>
              <a:tblGrid>
                <a:gridCol w="2108291">
                  <a:extLst>
                    <a:ext uri="{9D8B030D-6E8A-4147-A177-3AD203B41FA5}">
                      <a16:colId xmlns:a16="http://schemas.microsoft.com/office/drawing/2014/main" val="3391997756"/>
                    </a:ext>
                  </a:extLst>
                </a:gridCol>
                <a:gridCol w="2108291">
                  <a:extLst>
                    <a:ext uri="{9D8B030D-6E8A-4147-A177-3AD203B41FA5}">
                      <a16:colId xmlns:a16="http://schemas.microsoft.com/office/drawing/2014/main" val="3646013725"/>
                    </a:ext>
                  </a:extLst>
                </a:gridCol>
              </a:tblGrid>
              <a:tr h="0">
                <a:tc>
                  <a:txBody>
                    <a:bodyPr/>
                    <a:lstStyle/>
                    <a:p>
                      <a:r>
                        <a:rPr lang="en-US" dirty="0"/>
                        <a:t>Parameters</a:t>
                      </a:r>
                    </a:p>
                  </a:txBody>
                  <a:tcPr/>
                </a:tc>
                <a:tc>
                  <a:txBody>
                    <a:bodyPr/>
                    <a:lstStyle/>
                    <a:p>
                      <a:r>
                        <a:rPr lang="en-US" dirty="0"/>
                        <a:t>Value</a:t>
                      </a:r>
                    </a:p>
                  </a:txBody>
                  <a:tcPr/>
                </a:tc>
                <a:extLst>
                  <a:ext uri="{0D108BD9-81ED-4DB2-BD59-A6C34878D82A}">
                    <a16:rowId xmlns:a16="http://schemas.microsoft.com/office/drawing/2014/main" val="3785128762"/>
                  </a:ext>
                </a:extLst>
              </a:tr>
              <a:tr h="308179">
                <a:tc>
                  <a:txBody>
                    <a:bodyPr/>
                    <a:lstStyle/>
                    <a:p>
                      <a:r>
                        <a:rPr lang="en-US" dirty="0"/>
                        <a:t>Total volume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4.14 L</a:t>
                      </a:r>
                    </a:p>
                  </a:txBody>
                  <a:tcPr/>
                </a:tc>
                <a:extLst>
                  <a:ext uri="{0D108BD9-81ED-4DB2-BD59-A6C34878D82A}">
                    <a16:rowId xmlns:a16="http://schemas.microsoft.com/office/drawing/2014/main" val="598985417"/>
                  </a:ext>
                </a:extLst>
              </a:tr>
              <a:tr h="308179">
                <a:tc>
                  <a:txBody>
                    <a:bodyPr/>
                    <a:lstStyle/>
                    <a:p>
                      <a:r>
                        <a:rPr lang="en-US" dirty="0"/>
                        <a:t>Power Density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 kW/L</a:t>
                      </a:r>
                      <a:endParaRPr lang="sv-SE" dirty="0"/>
                    </a:p>
                  </a:txBody>
                  <a:tcPr/>
                </a:tc>
                <a:extLst>
                  <a:ext uri="{0D108BD9-81ED-4DB2-BD59-A6C34878D82A}">
                    <a16:rowId xmlns:a16="http://schemas.microsoft.com/office/drawing/2014/main" val="132422551"/>
                  </a:ext>
                </a:extLst>
              </a:tr>
              <a:tr h="308179">
                <a:tc>
                  <a:txBody>
                    <a:bodyPr/>
                    <a:lstStyle/>
                    <a:p>
                      <a:r>
                        <a:rPr lang="en-US" dirty="0"/>
                        <a:t>Box</a:t>
                      </a:r>
                      <a:r>
                        <a:rPr lang="en-US" baseline="0" dirty="0"/>
                        <a:t> Power Density</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~50kW/L </a:t>
                      </a:r>
                      <a:endParaRPr lang="sv-SE" dirty="0"/>
                    </a:p>
                  </a:txBody>
                  <a:tcPr/>
                </a:tc>
                <a:extLst>
                  <a:ext uri="{0D108BD9-81ED-4DB2-BD59-A6C34878D82A}">
                    <a16:rowId xmlns:a16="http://schemas.microsoft.com/office/drawing/2014/main" val="3049033565"/>
                  </a:ext>
                </a:extLst>
              </a:tr>
            </a:tbl>
          </a:graphicData>
        </a:graphic>
      </p:graphicFrame>
    </p:spTree>
    <p:extLst>
      <p:ext uri="{BB962C8B-B14F-4D97-AF65-F5344CB8AC3E}">
        <p14:creationId xmlns:p14="http://schemas.microsoft.com/office/powerpoint/2010/main" val="69821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C07F-FE35-CF7B-F93F-1EA627733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45783-9BF0-CA8A-6C9C-BD390E2CE6FE}"/>
              </a:ext>
            </a:extLst>
          </p:cNvPr>
          <p:cNvSpPr>
            <a:spLocks noGrp="1"/>
          </p:cNvSpPr>
          <p:nvPr>
            <p:ph type="title"/>
          </p:nvPr>
        </p:nvSpPr>
        <p:spPr/>
        <p:txBody>
          <a:bodyPr/>
          <a:lstStyle/>
          <a:p>
            <a:r>
              <a:rPr lang="en-US" dirty="0"/>
              <a:t>Loss Analysis</a:t>
            </a:r>
          </a:p>
        </p:txBody>
      </p:sp>
      <p:sp>
        <p:nvSpPr>
          <p:cNvPr id="4" name="TextBox 3">
            <a:extLst>
              <a:ext uri="{FF2B5EF4-FFF2-40B4-BE49-F238E27FC236}">
                <a16:creationId xmlns:a16="http://schemas.microsoft.com/office/drawing/2014/main" id="{CED0521F-059E-ABB3-99B2-BEEC2768B555}"/>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6" name="Picture 5">
            <a:extLst>
              <a:ext uri="{FF2B5EF4-FFF2-40B4-BE49-F238E27FC236}">
                <a16:creationId xmlns:a16="http://schemas.microsoft.com/office/drawing/2014/main" id="{E7169294-8B02-F46D-8072-62535EE20F83}"/>
              </a:ext>
            </a:extLst>
          </p:cNvPr>
          <p:cNvPicPr>
            <a:picLocks noChangeAspect="1"/>
          </p:cNvPicPr>
          <p:nvPr/>
        </p:nvPicPr>
        <p:blipFill>
          <a:blip r:embed="rId2"/>
          <a:stretch>
            <a:fillRect/>
          </a:stretch>
        </p:blipFill>
        <p:spPr>
          <a:xfrm>
            <a:off x="1064313" y="1342135"/>
            <a:ext cx="4034374" cy="3350753"/>
          </a:xfrm>
          <a:prstGeom prst="rect">
            <a:avLst/>
          </a:prstGeom>
        </p:spPr>
      </p:pic>
      <p:pic>
        <p:nvPicPr>
          <p:cNvPr id="9" name="Picture 8">
            <a:extLst>
              <a:ext uri="{FF2B5EF4-FFF2-40B4-BE49-F238E27FC236}">
                <a16:creationId xmlns:a16="http://schemas.microsoft.com/office/drawing/2014/main" id="{D0A98A73-7D59-A519-BB96-9845C4D7DC9D}"/>
              </a:ext>
            </a:extLst>
          </p:cNvPr>
          <p:cNvPicPr>
            <a:picLocks noChangeAspect="1"/>
          </p:cNvPicPr>
          <p:nvPr/>
        </p:nvPicPr>
        <p:blipFill>
          <a:blip r:embed="rId3"/>
          <a:stretch>
            <a:fillRect/>
          </a:stretch>
        </p:blipFill>
        <p:spPr>
          <a:xfrm>
            <a:off x="6943119" y="1342135"/>
            <a:ext cx="4057946" cy="3390139"/>
          </a:xfrm>
          <a:prstGeom prst="rect">
            <a:avLst/>
          </a:prstGeom>
        </p:spPr>
      </p:pic>
    </p:spTree>
    <p:extLst>
      <p:ext uri="{BB962C8B-B14F-4D97-AF65-F5344CB8AC3E}">
        <p14:creationId xmlns:p14="http://schemas.microsoft.com/office/powerpoint/2010/main" val="19144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96F4-E352-4917-BA7D-A02A0D1E3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E79D0-150C-77D5-309B-E3F9D29E584A}"/>
              </a:ext>
            </a:extLst>
          </p:cNvPr>
          <p:cNvSpPr>
            <a:spLocks noGrp="1"/>
          </p:cNvSpPr>
          <p:nvPr>
            <p:ph type="title"/>
          </p:nvPr>
        </p:nvSpPr>
        <p:spPr/>
        <p:txBody>
          <a:bodyPr/>
          <a:lstStyle/>
          <a:p>
            <a:r>
              <a:rPr lang="en-US" dirty="0"/>
              <a:t>Loss Analysis</a:t>
            </a:r>
          </a:p>
        </p:txBody>
      </p:sp>
      <p:sp>
        <p:nvSpPr>
          <p:cNvPr id="4" name="TextBox 3">
            <a:extLst>
              <a:ext uri="{FF2B5EF4-FFF2-40B4-BE49-F238E27FC236}">
                <a16:creationId xmlns:a16="http://schemas.microsoft.com/office/drawing/2014/main" id="{AB91312F-D64F-ABF9-E6EB-A8E05C26E50E}"/>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5" name="Picture 4">
            <a:extLst>
              <a:ext uri="{FF2B5EF4-FFF2-40B4-BE49-F238E27FC236}">
                <a16:creationId xmlns:a16="http://schemas.microsoft.com/office/drawing/2014/main" id="{6B87423B-3079-E95F-6C7E-4F0B78F926FD}"/>
              </a:ext>
            </a:extLst>
          </p:cNvPr>
          <p:cNvPicPr>
            <a:picLocks noChangeAspect="1"/>
          </p:cNvPicPr>
          <p:nvPr/>
        </p:nvPicPr>
        <p:blipFill>
          <a:blip r:embed="rId2"/>
          <a:stretch>
            <a:fillRect/>
          </a:stretch>
        </p:blipFill>
        <p:spPr>
          <a:xfrm>
            <a:off x="568942" y="1080892"/>
            <a:ext cx="10640452" cy="5087687"/>
          </a:xfrm>
          <a:prstGeom prst="rect">
            <a:avLst/>
          </a:prstGeom>
        </p:spPr>
      </p:pic>
    </p:spTree>
    <p:extLst>
      <p:ext uri="{BB962C8B-B14F-4D97-AF65-F5344CB8AC3E}">
        <p14:creationId xmlns:p14="http://schemas.microsoft.com/office/powerpoint/2010/main" val="582075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AF564-9EE8-9C79-B188-2B823A42A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22300-22CC-B860-B5E1-9BF648A9FDE5}"/>
              </a:ext>
            </a:extLst>
          </p:cNvPr>
          <p:cNvSpPr>
            <a:spLocks noGrp="1"/>
          </p:cNvSpPr>
          <p:nvPr>
            <p:ph type="title"/>
          </p:nvPr>
        </p:nvSpPr>
        <p:spPr/>
        <p:txBody>
          <a:bodyPr/>
          <a:lstStyle/>
          <a:p>
            <a:r>
              <a:rPr lang="en-US" dirty="0"/>
              <a:t>Efficiency Maps</a:t>
            </a:r>
          </a:p>
        </p:txBody>
      </p:sp>
      <p:pic>
        <p:nvPicPr>
          <p:cNvPr id="5" name="Picture 4">
            <a:extLst>
              <a:ext uri="{FF2B5EF4-FFF2-40B4-BE49-F238E27FC236}">
                <a16:creationId xmlns:a16="http://schemas.microsoft.com/office/drawing/2014/main" id="{05E2BAEC-B65F-2688-1170-934FBD1F63CE}"/>
              </a:ext>
            </a:extLst>
          </p:cNvPr>
          <p:cNvPicPr>
            <a:picLocks noChangeAspect="1"/>
          </p:cNvPicPr>
          <p:nvPr/>
        </p:nvPicPr>
        <p:blipFill>
          <a:blip r:embed="rId2"/>
          <a:stretch>
            <a:fillRect/>
          </a:stretch>
        </p:blipFill>
        <p:spPr>
          <a:xfrm>
            <a:off x="2602523" y="1229616"/>
            <a:ext cx="6496716" cy="5301543"/>
          </a:xfrm>
          <a:prstGeom prst="rect">
            <a:avLst/>
          </a:prstGeom>
        </p:spPr>
      </p:pic>
    </p:spTree>
    <p:extLst>
      <p:ext uri="{BB962C8B-B14F-4D97-AF65-F5344CB8AC3E}">
        <p14:creationId xmlns:p14="http://schemas.microsoft.com/office/powerpoint/2010/main" val="486758622"/>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26181</TotalTime>
  <Words>290</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Figtree</vt:lpstr>
      <vt:lpstr>Calibri</vt:lpstr>
      <vt:lpstr>Cambria Math</vt:lpstr>
      <vt:lpstr>Wingdings</vt:lpstr>
      <vt:lpstr>Office-tema</vt:lpstr>
      <vt:lpstr>WP4: Progress Update</vt:lpstr>
      <vt:lpstr>WP4: Progress Update</vt:lpstr>
      <vt:lpstr>System Requirements &amp; Testbed</vt:lpstr>
      <vt:lpstr>First Prototype with 62mm Power Modules</vt:lpstr>
      <vt:lpstr>Effiency and Power Density Results</vt:lpstr>
      <vt:lpstr>Second Prototype with eTruck Power Modules</vt:lpstr>
      <vt:lpstr>Loss Analysis</vt:lpstr>
      <vt:lpstr>Loss Analysis</vt:lpstr>
      <vt:lpstr>Efficiency Maps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284</cp:revision>
  <dcterms:created xsi:type="dcterms:W3CDTF">2024-01-10T13:17:29Z</dcterms:created>
  <dcterms:modified xsi:type="dcterms:W3CDTF">2026-09-15T08:39:37Z</dcterms:modified>
</cp:coreProperties>
</file>