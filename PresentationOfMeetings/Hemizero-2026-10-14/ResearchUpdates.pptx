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4"/>
  </p:notesMasterIdLst>
  <p:sldIdLst>
    <p:sldId id="328" r:id="rId2"/>
    <p:sldId id="272" r:id="rId3"/>
    <p:sldId id="330" r:id="rId4"/>
    <p:sldId id="331" r:id="rId5"/>
    <p:sldId id="333" r:id="rId6"/>
    <p:sldId id="336" r:id="rId7"/>
    <p:sldId id="334" r:id="rId8"/>
    <p:sldId id="337" r:id="rId9"/>
    <p:sldId id="335" r:id="rId10"/>
    <p:sldId id="329" r:id="rId11"/>
    <p:sldId id="319" r:id="rId12"/>
    <p:sldId id="304" r:id="rId13"/>
    <p:sldId id="305" r:id="rId14"/>
    <p:sldId id="306" r:id="rId15"/>
    <p:sldId id="307" r:id="rId16"/>
    <p:sldId id="311" r:id="rId17"/>
    <p:sldId id="321" r:id="rId18"/>
    <p:sldId id="323" r:id="rId19"/>
    <p:sldId id="324" r:id="rId20"/>
    <p:sldId id="325" r:id="rId21"/>
    <p:sldId id="326" r:id="rId22"/>
    <p:sldId id="327" r:id="rId23"/>
  </p:sldIdLst>
  <p:sldSz cx="12192000" cy="6858000"/>
  <p:notesSz cx="6858000" cy="9144000"/>
  <p:embeddedFontLst>
    <p:embeddedFont>
      <p:font typeface="Cambria Math" panose="02040503050406030204" pitchFamily="18" charset="0"/>
      <p:regular r:id="rId25"/>
    </p:embeddedFont>
    <p:embeddedFont>
      <p:font typeface="Figtree" panose="020B0604020202020204" charset="0"/>
      <p:regular r:id="rId26"/>
      <p:bold r:id="rId27"/>
      <p:italic r:id="rId28"/>
      <p:boldItalic r:id="rId29"/>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27"/>
  </p:normalViewPr>
  <p:slideViewPr>
    <p:cSldViewPr snapToGrid="0">
      <p:cViewPr varScale="1">
        <p:scale>
          <a:sx n="149" d="100"/>
          <a:sy n="149" d="100"/>
        </p:scale>
        <p:origin x="64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2026-09-13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2026-09-13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2026-09-13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2026-09-13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2026-09-13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2026-09-13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2026-09-13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2026-09-13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2026-09-13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2026-09-13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2026-09-13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2026-09-13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2026-09-13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2026-09-13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2026-09-13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2026-09-13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2026-09-13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2026-09-13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2026-09-13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2026-09-13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2026-09-13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2026-09-13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2026-09-13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2026-09-13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2026-09-13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2026-09-13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2026-09-13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2026-09-13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2026-09-13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2026-09-13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2026-09-13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2026-09-13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2026-09-13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2026-09-13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2026-09-13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2026-09-13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2026-09-13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2026-09-13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2026-09-13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2026-09-13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Set reading order</a:t>
            </a: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2026-09-13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9"/>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1.xml"/><Relationship Id="rId5" Type="http://schemas.openxmlformats.org/officeDocument/2006/relationships/image" Target="../media/image26.png"/><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jpg"/><Relationship Id="rId1" Type="http://schemas.openxmlformats.org/officeDocument/2006/relationships/slideLayout" Target="../slideLayouts/slideLayout41.xml"/><Relationship Id="rId4"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2.xml"/><Relationship Id="rId5" Type="http://schemas.openxmlformats.org/officeDocument/2006/relationships/image" Target="../media/image44.png"/><Relationship Id="rId4" Type="http://schemas.openxmlformats.org/officeDocument/2006/relationships/image" Target="../media/image43.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8" Type="http://schemas.openxmlformats.org/officeDocument/2006/relationships/image" Target="../media/image350.png"/><Relationship Id="rId13" Type="http://schemas.openxmlformats.org/officeDocument/2006/relationships/image" Target="../media/image52.emf"/><Relationship Id="rId3" Type="http://schemas.openxmlformats.org/officeDocument/2006/relationships/image" Target="../media/image300.png"/><Relationship Id="rId7" Type="http://schemas.openxmlformats.org/officeDocument/2006/relationships/image" Target="../media/image340.png"/><Relationship Id="rId12" Type="http://schemas.openxmlformats.org/officeDocument/2006/relationships/image" Target="../media/image51.png"/><Relationship Id="rId2" Type="http://schemas.openxmlformats.org/officeDocument/2006/relationships/image" Target="../media/image290.png"/><Relationship Id="rId1" Type="http://schemas.openxmlformats.org/officeDocument/2006/relationships/slideLayout" Target="../slideLayouts/slideLayout12.xml"/><Relationship Id="rId6" Type="http://schemas.openxmlformats.org/officeDocument/2006/relationships/image" Target="../media/image33.png"/><Relationship Id="rId11" Type="http://schemas.openxmlformats.org/officeDocument/2006/relationships/image" Target="../media/image50.png"/><Relationship Id="rId5" Type="http://schemas.openxmlformats.org/officeDocument/2006/relationships/image" Target="../media/image320.png"/><Relationship Id="rId15" Type="http://schemas.openxmlformats.org/officeDocument/2006/relationships/image" Target="../media/image54.png"/><Relationship Id="rId10" Type="http://schemas.openxmlformats.org/officeDocument/2006/relationships/image" Target="../media/image49.png"/><Relationship Id="rId4" Type="http://schemas.openxmlformats.org/officeDocument/2006/relationships/image" Target="../media/image310.png"/><Relationship Id="rId9" Type="http://schemas.openxmlformats.org/officeDocument/2006/relationships/image" Target="../media/image48.png"/><Relationship Id="rId14" Type="http://schemas.openxmlformats.org/officeDocument/2006/relationships/image" Target="../media/image53.emf"/></Relationships>
</file>

<file path=ppt/slides/_rels/slide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2.xml"/><Relationship Id="rId5" Type="http://schemas.openxmlformats.org/officeDocument/2006/relationships/image" Target="../media/image65.png"/><Relationship Id="rId4"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7B0E1-F050-1D90-D40A-388801DB7B3A}"/>
            </a:ext>
          </a:extLst>
        </p:cNvPr>
        <p:cNvGrpSpPr/>
        <p:nvPr/>
      </p:nvGrpSpPr>
      <p:grpSpPr>
        <a:xfrm>
          <a:off x="0" y="0"/>
          <a:ext cx="0" cy="0"/>
          <a:chOff x="0" y="0"/>
          <a:chExt cx="0" cy="0"/>
        </a:xfrm>
      </p:grpSpPr>
      <p:sp>
        <p:nvSpPr>
          <p:cNvPr id="4" name="Rubrik 3">
            <a:extLst>
              <a:ext uri="{FF2B5EF4-FFF2-40B4-BE49-F238E27FC236}">
                <a16:creationId xmlns:a16="http://schemas.microsoft.com/office/drawing/2014/main" id="{6D8BDE40-6911-D994-7CC0-84AB4FE55F9C}"/>
              </a:ext>
            </a:extLst>
          </p:cNvPr>
          <p:cNvSpPr>
            <a:spLocks noGrp="1"/>
          </p:cNvSpPr>
          <p:nvPr>
            <p:ph type="ctrTitle"/>
          </p:nvPr>
        </p:nvSpPr>
        <p:spPr>
          <a:xfrm>
            <a:off x="1695853" y="3269129"/>
            <a:ext cx="8798701" cy="1956921"/>
          </a:xfrm>
        </p:spPr>
        <p:txBody>
          <a:bodyPr/>
          <a:lstStyle/>
          <a:p>
            <a:r>
              <a:rPr lang="en-US" dirty="0"/>
              <a:t>WP4: Progress Update</a:t>
            </a:r>
            <a:endParaRPr lang="sv-SE" dirty="0"/>
          </a:p>
        </p:txBody>
      </p:sp>
      <p:sp>
        <p:nvSpPr>
          <p:cNvPr id="5" name="Underrubrik 4">
            <a:extLst>
              <a:ext uri="{FF2B5EF4-FFF2-40B4-BE49-F238E27FC236}">
                <a16:creationId xmlns:a16="http://schemas.microsoft.com/office/drawing/2014/main" id="{926B6FE1-C457-BB62-00B0-EF8711993E8D}"/>
              </a:ext>
            </a:extLst>
          </p:cNvPr>
          <p:cNvSpPr>
            <a:spLocks noGrp="1"/>
          </p:cNvSpPr>
          <p:nvPr>
            <p:ph type="subTitle" idx="1"/>
          </p:nvPr>
        </p:nvSpPr>
        <p:spPr/>
        <p:txBody>
          <a:bodyPr/>
          <a:lstStyle/>
          <a:p>
            <a:r>
              <a:rPr lang="en-US" dirty="0"/>
              <a:t>KTH</a:t>
            </a:r>
            <a:endParaRPr lang="sv-SE" dirty="0"/>
          </a:p>
        </p:txBody>
      </p:sp>
    </p:spTree>
    <p:extLst>
      <p:ext uri="{BB962C8B-B14F-4D97-AF65-F5344CB8AC3E}">
        <p14:creationId xmlns:p14="http://schemas.microsoft.com/office/powerpoint/2010/main" val="16992790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12ED6-312C-15E2-4D7E-147A4B1B461D}"/>
              </a:ext>
            </a:extLst>
          </p:cNvPr>
          <p:cNvSpPr>
            <a:spLocks noGrp="1"/>
          </p:cNvSpPr>
          <p:nvPr>
            <p:ph type="title"/>
          </p:nvPr>
        </p:nvSpPr>
        <p:spPr/>
        <p:txBody>
          <a:bodyPr/>
          <a:lstStyle/>
          <a:p>
            <a:r>
              <a:rPr lang="en-US" dirty="0"/>
              <a:t>WP4: Progress Update</a:t>
            </a:r>
          </a:p>
        </p:txBody>
      </p:sp>
      <p:sp>
        <p:nvSpPr>
          <p:cNvPr id="3" name="Content Placeholder 2">
            <a:extLst>
              <a:ext uri="{FF2B5EF4-FFF2-40B4-BE49-F238E27FC236}">
                <a16:creationId xmlns:a16="http://schemas.microsoft.com/office/drawing/2014/main" id="{861ABEC9-FE54-DF3E-DB62-CEF0D78D785D}"/>
              </a:ext>
            </a:extLst>
          </p:cNvPr>
          <p:cNvSpPr>
            <a:spLocks noGrp="1"/>
          </p:cNvSpPr>
          <p:nvPr>
            <p:ph idx="1"/>
          </p:nvPr>
        </p:nvSpPr>
        <p:spPr/>
        <p:txBody>
          <a:bodyPr/>
          <a:lstStyle/>
          <a:p>
            <a:pPr marL="0" indent="0">
              <a:buNone/>
            </a:pPr>
            <a:r>
              <a:rPr lang="en-US" b="1" dirty="0"/>
              <a:t>Objective: </a:t>
            </a:r>
            <a:r>
              <a:rPr lang="en-US" dirty="0"/>
              <a:t>Main development</a:t>
            </a:r>
            <a:r>
              <a:rPr lang="en-US" b="1" dirty="0"/>
              <a:t> </a:t>
            </a:r>
            <a:r>
              <a:rPr lang="en-US" dirty="0"/>
              <a:t>inverter for high voltage system. </a:t>
            </a:r>
          </a:p>
        </p:txBody>
      </p:sp>
      <p:graphicFrame>
        <p:nvGraphicFramePr>
          <p:cNvPr id="4" name="Content Placeholder 3">
            <a:extLst>
              <a:ext uri="{FF2B5EF4-FFF2-40B4-BE49-F238E27FC236}">
                <a16:creationId xmlns:a16="http://schemas.microsoft.com/office/drawing/2014/main" id="{C4343F10-989D-6577-246D-1538BAB73305}"/>
              </a:ext>
            </a:extLst>
          </p:cNvPr>
          <p:cNvGraphicFramePr>
            <a:graphicFrameLocks/>
          </p:cNvGraphicFramePr>
          <p:nvPr/>
        </p:nvGraphicFramePr>
        <p:xfrm>
          <a:off x="600075" y="1853907"/>
          <a:ext cx="10097691" cy="2225040"/>
        </p:xfrm>
        <a:graphic>
          <a:graphicData uri="http://schemas.openxmlformats.org/drawingml/2006/table">
            <a:tbl>
              <a:tblPr firstRow="1" bandRow="1">
                <a:tableStyleId>{5C22544A-7EE6-4342-B048-85BDC9FD1C3A}</a:tableStyleId>
              </a:tblPr>
              <a:tblGrid>
                <a:gridCol w="4118978">
                  <a:extLst>
                    <a:ext uri="{9D8B030D-6E8A-4147-A177-3AD203B41FA5}">
                      <a16:colId xmlns:a16="http://schemas.microsoft.com/office/drawing/2014/main" val="1715558184"/>
                    </a:ext>
                  </a:extLst>
                </a:gridCol>
                <a:gridCol w="305109">
                  <a:extLst>
                    <a:ext uri="{9D8B030D-6E8A-4147-A177-3AD203B41FA5}">
                      <a16:colId xmlns:a16="http://schemas.microsoft.com/office/drawing/2014/main" val="2483269492"/>
                    </a:ext>
                  </a:extLst>
                </a:gridCol>
                <a:gridCol w="363347">
                  <a:extLst>
                    <a:ext uri="{9D8B030D-6E8A-4147-A177-3AD203B41FA5}">
                      <a16:colId xmlns:a16="http://schemas.microsoft.com/office/drawing/2014/main" val="1945346401"/>
                    </a:ext>
                  </a:extLst>
                </a:gridCol>
                <a:gridCol w="354877">
                  <a:extLst>
                    <a:ext uri="{9D8B030D-6E8A-4147-A177-3AD203B41FA5}">
                      <a16:colId xmlns:a16="http://schemas.microsoft.com/office/drawing/2014/main" val="1956685442"/>
                    </a:ext>
                  </a:extLst>
                </a:gridCol>
                <a:gridCol w="354877">
                  <a:extLst>
                    <a:ext uri="{9D8B030D-6E8A-4147-A177-3AD203B41FA5}">
                      <a16:colId xmlns:a16="http://schemas.microsoft.com/office/drawing/2014/main" val="1873674011"/>
                    </a:ext>
                  </a:extLst>
                </a:gridCol>
                <a:gridCol w="374234">
                  <a:extLst>
                    <a:ext uri="{9D8B030D-6E8A-4147-A177-3AD203B41FA5}">
                      <a16:colId xmlns:a16="http://schemas.microsoft.com/office/drawing/2014/main" val="406173214"/>
                    </a:ext>
                  </a:extLst>
                </a:gridCol>
                <a:gridCol w="400044">
                  <a:extLst>
                    <a:ext uri="{9D8B030D-6E8A-4147-A177-3AD203B41FA5}">
                      <a16:colId xmlns:a16="http://schemas.microsoft.com/office/drawing/2014/main" val="2980513574"/>
                    </a:ext>
                  </a:extLst>
                </a:gridCol>
                <a:gridCol w="374234">
                  <a:extLst>
                    <a:ext uri="{9D8B030D-6E8A-4147-A177-3AD203B41FA5}">
                      <a16:colId xmlns:a16="http://schemas.microsoft.com/office/drawing/2014/main" val="4238306596"/>
                    </a:ext>
                  </a:extLst>
                </a:gridCol>
                <a:gridCol w="423836">
                  <a:extLst>
                    <a:ext uri="{9D8B030D-6E8A-4147-A177-3AD203B41FA5}">
                      <a16:colId xmlns:a16="http://schemas.microsoft.com/office/drawing/2014/main" val="3028314082"/>
                    </a:ext>
                  </a:extLst>
                </a:gridCol>
                <a:gridCol w="421418">
                  <a:extLst>
                    <a:ext uri="{9D8B030D-6E8A-4147-A177-3AD203B41FA5}">
                      <a16:colId xmlns:a16="http://schemas.microsoft.com/office/drawing/2014/main" val="507415313"/>
                    </a:ext>
                  </a:extLst>
                </a:gridCol>
                <a:gridCol w="380687">
                  <a:extLst>
                    <a:ext uri="{9D8B030D-6E8A-4147-A177-3AD203B41FA5}">
                      <a16:colId xmlns:a16="http://schemas.microsoft.com/office/drawing/2014/main" val="3913904068"/>
                    </a:ext>
                  </a:extLst>
                </a:gridCol>
                <a:gridCol w="361330">
                  <a:extLst>
                    <a:ext uri="{9D8B030D-6E8A-4147-A177-3AD203B41FA5}">
                      <a16:colId xmlns:a16="http://schemas.microsoft.com/office/drawing/2014/main" val="2032044853"/>
                    </a:ext>
                  </a:extLst>
                </a:gridCol>
                <a:gridCol w="354877">
                  <a:extLst>
                    <a:ext uri="{9D8B030D-6E8A-4147-A177-3AD203B41FA5}">
                      <a16:colId xmlns:a16="http://schemas.microsoft.com/office/drawing/2014/main" val="2366692508"/>
                    </a:ext>
                  </a:extLst>
                </a:gridCol>
                <a:gridCol w="316164">
                  <a:extLst>
                    <a:ext uri="{9D8B030D-6E8A-4147-A177-3AD203B41FA5}">
                      <a16:colId xmlns:a16="http://schemas.microsoft.com/office/drawing/2014/main" val="3832782621"/>
                    </a:ext>
                  </a:extLst>
                </a:gridCol>
                <a:gridCol w="387139">
                  <a:extLst>
                    <a:ext uri="{9D8B030D-6E8A-4147-A177-3AD203B41FA5}">
                      <a16:colId xmlns:a16="http://schemas.microsoft.com/office/drawing/2014/main" val="1730476488"/>
                    </a:ext>
                  </a:extLst>
                </a:gridCol>
                <a:gridCol w="406496">
                  <a:extLst>
                    <a:ext uri="{9D8B030D-6E8A-4147-A177-3AD203B41FA5}">
                      <a16:colId xmlns:a16="http://schemas.microsoft.com/office/drawing/2014/main" val="4154092806"/>
                    </a:ext>
                  </a:extLst>
                </a:gridCol>
                <a:gridCol w="400044">
                  <a:extLst>
                    <a:ext uri="{9D8B030D-6E8A-4147-A177-3AD203B41FA5}">
                      <a16:colId xmlns:a16="http://schemas.microsoft.com/office/drawing/2014/main" val="4282158076"/>
                    </a:ext>
                  </a:extLst>
                </a:gridCol>
              </a:tblGrid>
              <a:tr h="370840">
                <a:tc>
                  <a:txBody>
                    <a:bodyPr/>
                    <a:lstStyle/>
                    <a:p>
                      <a:endParaRPr lang="sv-SE" sz="1800" dirty="0"/>
                    </a:p>
                  </a:txBody>
                  <a:tcPr/>
                </a:tc>
                <a:tc gridSpan="4">
                  <a:txBody>
                    <a:bodyPr/>
                    <a:lstStyle/>
                    <a:p>
                      <a:r>
                        <a:rPr lang="en-US" sz="1800" dirty="0"/>
                        <a:t>2023</a:t>
                      </a:r>
                      <a:endParaRPr lang="sv-SE" sz="1800" dirty="0"/>
                    </a:p>
                  </a:txBody>
                  <a:tcPr/>
                </a:tc>
                <a:tc hMerge="1">
                  <a:txBody>
                    <a:bodyPr/>
                    <a:lstStyle/>
                    <a:p>
                      <a:endParaRPr lang="sv-SE" dirty="0"/>
                    </a:p>
                  </a:txBody>
                  <a:tcPr/>
                </a:tc>
                <a:tc hMerge="1">
                  <a:txBody>
                    <a:bodyPr/>
                    <a:lstStyle/>
                    <a:p>
                      <a:endParaRPr lang="sv-SE" dirty="0"/>
                    </a:p>
                  </a:txBody>
                  <a:tcPr/>
                </a:tc>
                <a:tc hMerge="1">
                  <a:txBody>
                    <a:bodyPr/>
                    <a:lstStyle/>
                    <a:p>
                      <a:endParaRPr lang="sv-SE" dirty="0"/>
                    </a:p>
                  </a:txBody>
                  <a:tcPr/>
                </a:tc>
                <a:tc gridSpan="4">
                  <a:txBody>
                    <a:bodyPr/>
                    <a:lstStyle/>
                    <a:p>
                      <a:r>
                        <a:rPr lang="en-US" sz="1800" dirty="0"/>
                        <a:t>2024</a:t>
                      </a:r>
                      <a:endParaRPr lang="sv-SE" sz="1800" dirty="0"/>
                    </a:p>
                  </a:txBody>
                  <a:tcPr/>
                </a:tc>
                <a:tc hMerge="1">
                  <a:txBody>
                    <a:bodyPr/>
                    <a:lstStyle/>
                    <a:p>
                      <a:endParaRPr lang="sv-SE" dirty="0"/>
                    </a:p>
                  </a:txBody>
                  <a:tcPr/>
                </a:tc>
                <a:tc hMerge="1">
                  <a:txBody>
                    <a:bodyPr/>
                    <a:lstStyle/>
                    <a:p>
                      <a:endParaRPr lang="sv-SE" dirty="0"/>
                    </a:p>
                  </a:txBody>
                  <a:tcPr/>
                </a:tc>
                <a:tc hMerge="1">
                  <a:txBody>
                    <a:bodyPr/>
                    <a:lstStyle/>
                    <a:p>
                      <a:endParaRPr lang="sv-SE" dirty="0"/>
                    </a:p>
                  </a:txBody>
                  <a:tcPr/>
                </a:tc>
                <a:tc gridSpan="4">
                  <a:txBody>
                    <a:bodyPr/>
                    <a:lstStyle/>
                    <a:p>
                      <a:r>
                        <a:rPr lang="en-US" sz="1800" dirty="0"/>
                        <a:t>2025</a:t>
                      </a:r>
                      <a:endParaRPr lang="sv-SE" sz="1800" dirty="0"/>
                    </a:p>
                  </a:txBody>
                  <a:tcPr/>
                </a:tc>
                <a:tc hMerge="1">
                  <a:txBody>
                    <a:bodyPr/>
                    <a:lstStyle/>
                    <a:p>
                      <a:endParaRPr lang="sv-SE" dirty="0"/>
                    </a:p>
                  </a:txBody>
                  <a:tcPr/>
                </a:tc>
                <a:tc hMerge="1">
                  <a:txBody>
                    <a:bodyPr/>
                    <a:lstStyle/>
                    <a:p>
                      <a:endParaRPr lang="sv-SE" dirty="0"/>
                    </a:p>
                  </a:txBody>
                  <a:tcPr/>
                </a:tc>
                <a:tc hMerge="1">
                  <a:txBody>
                    <a:bodyPr/>
                    <a:lstStyle/>
                    <a:p>
                      <a:endParaRPr lang="sv-SE" dirty="0"/>
                    </a:p>
                  </a:txBody>
                  <a:tcPr/>
                </a:tc>
                <a:tc gridSpan="4">
                  <a:txBody>
                    <a:bodyPr/>
                    <a:lstStyle/>
                    <a:p>
                      <a:r>
                        <a:rPr lang="en-US" sz="1800" dirty="0"/>
                        <a:t>2026</a:t>
                      </a:r>
                      <a:endParaRPr lang="sv-SE" sz="1800" dirty="0"/>
                    </a:p>
                  </a:txBody>
                  <a:tcPr/>
                </a:tc>
                <a:tc hMerge="1">
                  <a:txBody>
                    <a:bodyPr/>
                    <a:lstStyle/>
                    <a:p>
                      <a:endParaRPr lang="sv-SE" dirty="0"/>
                    </a:p>
                  </a:txBody>
                  <a:tcPr/>
                </a:tc>
                <a:tc hMerge="1">
                  <a:txBody>
                    <a:bodyPr/>
                    <a:lstStyle/>
                    <a:p>
                      <a:endParaRPr lang="sv-SE" dirty="0"/>
                    </a:p>
                  </a:txBody>
                  <a:tcPr/>
                </a:tc>
                <a:tc hMerge="1">
                  <a:txBody>
                    <a:bodyPr/>
                    <a:lstStyle/>
                    <a:p>
                      <a:endParaRPr lang="sv-SE" dirty="0"/>
                    </a:p>
                  </a:txBody>
                  <a:tcPr/>
                </a:tc>
                <a:extLst>
                  <a:ext uri="{0D108BD9-81ED-4DB2-BD59-A6C34878D82A}">
                    <a16:rowId xmlns:a16="http://schemas.microsoft.com/office/drawing/2014/main" val="3566106526"/>
                  </a:ext>
                </a:extLst>
              </a:tr>
              <a:tr h="370840">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2020973612"/>
                  </a:ext>
                </a:extLst>
              </a:tr>
              <a:tr h="370840">
                <a:tc>
                  <a:txBody>
                    <a:bodyPr/>
                    <a:lstStyle/>
                    <a:p>
                      <a:r>
                        <a:rPr lang="sv-SE" sz="1800" b="0" i="0" u="none" strike="noStrike" kern="1200" baseline="0" dirty="0">
                          <a:solidFill>
                            <a:schemeClr val="dk1"/>
                          </a:solidFill>
                          <a:latin typeface="+mn-lt"/>
                          <a:ea typeface="+mn-ea"/>
                          <a:cs typeface="+mn-cs"/>
                        </a:rPr>
                        <a:t>4.1 </a:t>
                      </a:r>
                      <a:r>
                        <a:rPr lang="en-US" sz="1800" b="0" i="0" u="none" strike="noStrike" kern="1200" baseline="0" dirty="0">
                          <a:solidFill>
                            <a:schemeClr val="dk1"/>
                          </a:solidFill>
                          <a:latin typeface="+mn-lt"/>
                          <a:ea typeface="+mn-ea"/>
                          <a:cs typeface="+mn-cs"/>
                        </a:rPr>
                        <a:t>Inverter topology and construction</a:t>
                      </a:r>
                      <a:endParaRPr lang="sv-SE" sz="1800" dirty="0"/>
                    </a:p>
                  </a:txBody>
                  <a:tcPr/>
                </a:tc>
                <a:tc>
                  <a:txBody>
                    <a:bodyPr/>
                    <a:lstStyle/>
                    <a:p>
                      <a:endParaRPr lang="sv-SE" sz="1800" dirty="0"/>
                    </a:p>
                  </a:txBody>
                  <a:tcPr/>
                </a:tc>
                <a:tc>
                  <a:txBody>
                    <a:bodyPr/>
                    <a:lstStyle/>
                    <a:p>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sv-SE" sz="1800" dirty="0"/>
                        <a:t>x</a:t>
                      </a:r>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1354220234"/>
                  </a:ext>
                </a:extLst>
              </a:tr>
              <a:tr h="370840">
                <a:tc>
                  <a:txBody>
                    <a:bodyPr/>
                    <a:lstStyle/>
                    <a:p>
                      <a:r>
                        <a:rPr lang="en-US" sz="1800" b="0" i="0" u="none" strike="noStrike" kern="1200" baseline="0" dirty="0">
                          <a:solidFill>
                            <a:schemeClr val="dk1"/>
                          </a:solidFill>
                          <a:latin typeface="+mn-lt"/>
                          <a:ea typeface="+mn-ea"/>
                          <a:cs typeface="+mn-cs"/>
                        </a:rPr>
                        <a:t>4.2 Intelligent gate driver</a:t>
                      </a:r>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r>
                        <a:rPr lang="sv-SE" sz="1800" dirty="0"/>
                        <a:t>x</a:t>
                      </a:r>
                    </a:p>
                  </a:txBody>
                  <a:tcPr/>
                </a:tc>
                <a:tc>
                  <a:txBody>
                    <a:bodyPr/>
                    <a:lstStyle/>
                    <a:p>
                      <a:r>
                        <a:rPr lang="sv-SE" sz="1800" dirty="0"/>
                        <a:t>x</a:t>
                      </a:r>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67718572"/>
                  </a:ext>
                </a:extLst>
              </a:tr>
              <a:tr h="370840">
                <a:tc>
                  <a:txBody>
                    <a:bodyPr/>
                    <a:lstStyle/>
                    <a:p>
                      <a:r>
                        <a:rPr lang="en-US" sz="1800" b="0" i="0" u="none" strike="noStrike" kern="1200" baseline="0" noProof="0" dirty="0">
                          <a:solidFill>
                            <a:schemeClr val="dk1"/>
                          </a:solidFill>
                          <a:latin typeface="+mn-lt"/>
                          <a:ea typeface="+mn-ea"/>
                          <a:cs typeface="+mn-cs"/>
                        </a:rPr>
                        <a:t>4.3 Cooling of DC link capacitors</a:t>
                      </a:r>
                      <a:endParaRPr lang="en-US" sz="1800" noProof="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r>
                        <a:rPr lang="sv-SE" sz="1800" dirty="0"/>
                        <a:t>x</a:t>
                      </a:r>
                    </a:p>
                  </a:txBody>
                  <a:tcPr/>
                </a:tc>
                <a:tc>
                  <a:txBody>
                    <a:bodyPr/>
                    <a:lstStyle/>
                    <a:p>
                      <a:r>
                        <a:rPr lang="sv-SE" sz="1800" dirty="0"/>
                        <a:t>x</a:t>
                      </a:r>
                    </a:p>
                  </a:txBody>
                  <a:tcPr/>
                </a:tc>
                <a:tc>
                  <a:txBody>
                    <a:bodyPr/>
                    <a:lstStyle/>
                    <a:p>
                      <a:r>
                        <a:rPr lang="en-US" sz="1800" dirty="0"/>
                        <a:t>x</a:t>
                      </a:r>
                      <a:endParaRPr lang="sv-SE" sz="1800" dirty="0"/>
                    </a:p>
                  </a:txBody>
                  <a:tcPr/>
                </a:tc>
                <a:tc>
                  <a:txBody>
                    <a:bodyPr/>
                    <a:lstStyle/>
                    <a:p>
                      <a:r>
                        <a:rPr lang="en-US" sz="1800" dirty="0"/>
                        <a:t>x</a:t>
                      </a:r>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192608565"/>
                  </a:ext>
                </a:extLst>
              </a:tr>
              <a:tr h="370840">
                <a:tc>
                  <a:txBody>
                    <a:bodyPr/>
                    <a:lstStyle/>
                    <a:p>
                      <a:r>
                        <a:rPr lang="en-US" sz="1800" noProof="0" dirty="0"/>
                        <a:t>4.4 High bandwidth current meas.</a:t>
                      </a:r>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endParaRPr lang="sv-SE" sz="1800" dirty="0"/>
                    </a:p>
                  </a:txBody>
                  <a:tcPr/>
                </a:tc>
                <a:tc>
                  <a:txBody>
                    <a:bodyPr/>
                    <a:lstStyle/>
                    <a:p>
                      <a:r>
                        <a:rPr lang="sv-SE" sz="1800" dirty="0"/>
                        <a:t>x</a:t>
                      </a:r>
                    </a:p>
                  </a:txBody>
                  <a:tcPr/>
                </a:tc>
                <a:tc>
                  <a:txBody>
                    <a:bodyPr/>
                    <a:lstStyle/>
                    <a:p>
                      <a:r>
                        <a:rPr lang="sv-SE" sz="1800" dirty="0"/>
                        <a:t>x</a:t>
                      </a:r>
                    </a:p>
                  </a:txBody>
                  <a:tcPr/>
                </a:tc>
                <a:tc>
                  <a:txBody>
                    <a:bodyPr/>
                    <a:lstStyle/>
                    <a:p>
                      <a:r>
                        <a:rPr lang="sv-SE" sz="1800" dirty="0"/>
                        <a:t>x</a:t>
                      </a:r>
                    </a:p>
                  </a:txBody>
                  <a:tcPr/>
                </a:tc>
                <a:tc>
                  <a:txBody>
                    <a:bodyPr/>
                    <a:lstStyle/>
                    <a:p>
                      <a:r>
                        <a:rPr lang="sv-SE" sz="1800" dirty="0"/>
                        <a:t>x</a:t>
                      </a:r>
                    </a:p>
                  </a:txBody>
                  <a:tcPr/>
                </a:tc>
                <a:tc>
                  <a:txBody>
                    <a:bodyPr/>
                    <a:lstStyle/>
                    <a:p>
                      <a:endParaRPr lang="sv-SE" sz="1800" dirty="0"/>
                    </a:p>
                  </a:txBody>
                  <a:tcPr/>
                </a:tc>
                <a:tc>
                  <a:txBody>
                    <a:bodyPr/>
                    <a:lstStyle/>
                    <a:p>
                      <a:endParaRPr lang="sv-SE" sz="1800" dirty="0"/>
                    </a:p>
                  </a:txBody>
                  <a:tcPr/>
                </a:tc>
                <a:extLst>
                  <a:ext uri="{0D108BD9-81ED-4DB2-BD59-A6C34878D82A}">
                    <a16:rowId xmlns:a16="http://schemas.microsoft.com/office/drawing/2014/main" val="718620526"/>
                  </a:ext>
                </a:extLst>
              </a:tr>
            </a:tbl>
          </a:graphicData>
        </a:graphic>
      </p:graphicFrame>
      <p:sp>
        <p:nvSpPr>
          <p:cNvPr id="10" name="TextBox 9">
            <a:extLst>
              <a:ext uri="{FF2B5EF4-FFF2-40B4-BE49-F238E27FC236}">
                <a16:creationId xmlns:a16="http://schemas.microsoft.com/office/drawing/2014/main" id="{C8158871-40C3-D5CB-9FD7-C49A537E03F4}"/>
              </a:ext>
            </a:extLst>
          </p:cNvPr>
          <p:cNvSpPr txBox="1"/>
          <p:nvPr/>
        </p:nvSpPr>
        <p:spPr>
          <a:xfrm>
            <a:off x="600074" y="4281329"/>
            <a:ext cx="10097691" cy="2123658"/>
          </a:xfrm>
          <a:prstGeom prst="rect">
            <a:avLst/>
          </a:prstGeom>
          <a:noFill/>
        </p:spPr>
        <p:txBody>
          <a:bodyPr wrap="square" lIns="91440" tIns="45720" rIns="91440" bIns="45720" anchor="t">
            <a:spAutoFit/>
          </a:bodyPr>
          <a:lstStyle/>
          <a:p>
            <a:pPr algn="just"/>
            <a:r>
              <a:rPr lang="en-US" sz="1200" dirty="0">
                <a:solidFill>
                  <a:schemeClr val="tx1">
                    <a:lumMod val="65000"/>
                    <a:lumOff val="35000"/>
                  </a:schemeClr>
                </a:solidFill>
              </a:rPr>
              <a:t>4.1: The high-voltage inverter can be designed as a two-level, three-level, or multi-level inverter, requiring theoretical evaluation and comparison of various topologies and modular configurations to optimize efficiency, compactness, and cost. </a:t>
            </a:r>
          </a:p>
          <a:p>
            <a:pPr algn="just"/>
            <a:endParaRPr lang="en-US" sz="1200" dirty="0">
              <a:solidFill>
                <a:schemeClr val="tx1">
                  <a:lumMod val="65000"/>
                  <a:lumOff val="35000"/>
                </a:schemeClr>
              </a:solidFill>
            </a:endParaRPr>
          </a:p>
          <a:p>
            <a:pPr algn="just"/>
            <a:r>
              <a:rPr lang="en-US" sz="1200" dirty="0">
                <a:solidFill>
                  <a:schemeClr val="tx1">
                    <a:lumMod val="65000"/>
                    <a:lumOff val="35000"/>
                  </a:schemeClr>
                </a:solidFill>
              </a:rPr>
              <a:t>4.2: The gate driver controls the inverter’s semiconductor components and can optimize motor stresses and perform state estimation by monitoring parameters like gate threshold voltage and leakage current, requiring comparison of different designs for performance and reliability.</a:t>
            </a:r>
          </a:p>
          <a:p>
            <a:pPr algn="just"/>
            <a:endParaRPr lang="en-US" sz="1200" dirty="0">
              <a:solidFill>
                <a:schemeClr val="tx1">
                  <a:lumMod val="65000"/>
                  <a:lumOff val="35000"/>
                </a:schemeClr>
              </a:solidFill>
            </a:endParaRPr>
          </a:p>
          <a:p>
            <a:pPr algn="just"/>
            <a:r>
              <a:rPr lang="en-US" sz="1200" dirty="0">
                <a:solidFill>
                  <a:schemeClr val="tx1">
                    <a:lumMod val="65000"/>
                    <a:lumOff val="35000"/>
                  </a:schemeClr>
                </a:solidFill>
              </a:rPr>
              <a:t>4.3: DC link capacitors’ size and reliability depend heavily on temperature, making it essential to evaluate various cooling methods, both theoretically and experimentally. </a:t>
            </a:r>
          </a:p>
          <a:p>
            <a:pPr algn="just"/>
            <a:endParaRPr lang="en-US" sz="1200" dirty="0">
              <a:solidFill>
                <a:schemeClr val="tx1">
                  <a:lumMod val="65000"/>
                  <a:lumOff val="35000"/>
                </a:schemeClr>
              </a:solidFill>
            </a:endParaRPr>
          </a:p>
          <a:p>
            <a:pPr algn="just"/>
            <a:r>
              <a:rPr lang="en-US" sz="1200" dirty="0">
                <a:solidFill>
                  <a:schemeClr val="tx1">
                    <a:lumMod val="65000"/>
                    <a:lumOff val="35000"/>
                  </a:schemeClr>
                </a:solidFill>
              </a:rPr>
              <a:t>4.4: Current measurement methods need evaluation, as higher bandwidth offers advantages like improved state estimation of the motor's stator winding. </a:t>
            </a:r>
            <a:endParaRPr lang="en-US" sz="1200" dirty="0">
              <a:solidFill>
                <a:srgbClr val="FF0000"/>
              </a:solidFill>
            </a:endParaRPr>
          </a:p>
        </p:txBody>
      </p:sp>
      <p:cxnSp>
        <p:nvCxnSpPr>
          <p:cNvPr id="5" name="Straight Connector 4">
            <a:extLst>
              <a:ext uri="{FF2B5EF4-FFF2-40B4-BE49-F238E27FC236}">
                <a16:creationId xmlns:a16="http://schemas.microsoft.com/office/drawing/2014/main" id="{6F76486B-7750-F701-5291-DB2C393BB549}"/>
              </a:ext>
            </a:extLst>
          </p:cNvPr>
          <p:cNvCxnSpPr>
            <a:cxnSpLocks/>
          </p:cNvCxnSpPr>
          <p:nvPr/>
        </p:nvCxnSpPr>
        <p:spPr>
          <a:xfrm>
            <a:off x="9923302" y="1853907"/>
            <a:ext cx="0" cy="2262421"/>
          </a:xfrm>
          <a:prstGeom prst="line">
            <a:avLst/>
          </a:prstGeom>
          <a:ln w="28575">
            <a:solidFill>
              <a:srgbClr val="E86A5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2693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1FEB2-EE82-467D-C4E8-2554CA5B75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886874-6DC7-58C9-2E24-C765E60CF749}"/>
              </a:ext>
            </a:extLst>
          </p:cNvPr>
          <p:cNvSpPr>
            <a:spLocks noGrp="1"/>
          </p:cNvSpPr>
          <p:nvPr>
            <p:ph type="title"/>
          </p:nvPr>
        </p:nvSpPr>
        <p:spPr/>
        <p:txBody>
          <a:bodyPr/>
          <a:lstStyle/>
          <a:p>
            <a:r>
              <a:rPr lang="en-US" dirty="0"/>
              <a:t>System Requirements &amp; Test Bed</a:t>
            </a:r>
          </a:p>
        </p:txBody>
      </p:sp>
      <p:pic>
        <p:nvPicPr>
          <p:cNvPr id="9" name="Picture 8">
            <a:extLst>
              <a:ext uri="{FF2B5EF4-FFF2-40B4-BE49-F238E27FC236}">
                <a16:creationId xmlns:a16="http://schemas.microsoft.com/office/drawing/2014/main" id="{7DE87A86-65B7-3749-D32F-3269B5640FA3}"/>
              </a:ext>
            </a:extLst>
          </p:cNvPr>
          <p:cNvPicPr>
            <a:picLocks noChangeAspect="1"/>
          </p:cNvPicPr>
          <p:nvPr/>
        </p:nvPicPr>
        <p:blipFill>
          <a:blip r:embed="rId2"/>
          <a:stretch>
            <a:fillRect/>
          </a:stretch>
        </p:blipFill>
        <p:spPr>
          <a:xfrm>
            <a:off x="1169375" y="1276350"/>
            <a:ext cx="4636918" cy="5133974"/>
          </a:xfrm>
          <a:prstGeom prst="rect">
            <a:avLst/>
          </a:prstGeom>
        </p:spPr>
      </p:pic>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AFF61707-CA40-28D4-F4FA-F67599F741CA}"/>
                  </a:ext>
                </a:extLst>
              </p:cNvPr>
              <p:cNvSpPr/>
              <p:nvPr/>
            </p:nvSpPr>
            <p:spPr>
              <a:xfrm>
                <a:off x="6912844" y="1711863"/>
                <a:ext cx="4425454" cy="3434273"/>
              </a:xfrm>
              <a:prstGeom prst="rect">
                <a:avLst/>
              </a:prstGeom>
            </p:spPr>
            <p:txBody>
              <a:bodyPr wrap="square">
                <a:spAutoFit/>
              </a:bodyPr>
              <a:lstStyle/>
              <a:p>
                <a:r>
                  <a:rPr lang="en-US" b="1" dirty="0"/>
                  <a:t>2-Level Inverter Power Ratings</a:t>
                </a:r>
              </a:p>
              <a:p>
                <a:endParaRPr lang="en-US" b="1" i="1" dirty="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r>
                      <a:rPr lang="en-US" i="1">
                        <a:latin typeface="Cambria Math" panose="02040503050406030204" pitchFamily="18" charset="0"/>
                      </a:rPr>
                      <m:t>=300 </m:t>
                    </m:r>
                    <m:r>
                      <a:rPr lang="en-US" i="1">
                        <a:latin typeface="Cambria Math" panose="02040503050406030204" pitchFamily="18" charset="0"/>
                      </a:rPr>
                      <m:t>𝑘𝑊</m:t>
                    </m:r>
                    <m:r>
                      <a:rPr lang="en-US" i="1">
                        <a:latin typeface="Cambria Math" panose="02040503050406030204" pitchFamily="18" charset="0"/>
                      </a:rPr>
                      <m:t> </m:t>
                    </m:r>
                  </m:oMath>
                </a14:m>
                <a:endParaRPr lang="en-US" i="1" dirty="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𝑉</m:t>
                        </m:r>
                      </m:e>
                      <m:sub>
                        <m:r>
                          <a:rPr lang="sv-SE" i="1">
                            <a:latin typeface="Cambria Math" panose="02040503050406030204" pitchFamily="18" charset="0"/>
                          </a:rPr>
                          <m:t>𝐷𝐶</m:t>
                        </m:r>
                      </m:sub>
                    </m:sSub>
                    <m:r>
                      <a:rPr lang="en-US" i="1">
                        <a:latin typeface="Cambria Math" panose="02040503050406030204" pitchFamily="18" charset="0"/>
                      </a:rPr>
                      <m:t>=1</m:t>
                    </m:r>
                    <m:r>
                      <a:rPr lang="sv-SE" i="1">
                        <a:latin typeface="Cambria Math" panose="02040503050406030204" pitchFamily="18" charset="0"/>
                      </a:rPr>
                      <m:t>05</m:t>
                    </m:r>
                    <m:r>
                      <a:rPr lang="en-US" i="1">
                        <a:latin typeface="Cambria Math" panose="02040503050406030204" pitchFamily="18" charset="0"/>
                      </a:rPr>
                      <m:t>0 </m:t>
                    </m:r>
                    <m:r>
                      <a:rPr lang="en-US" i="1">
                        <a:latin typeface="Cambria Math" panose="02040503050406030204" pitchFamily="18" charset="0"/>
                      </a:rPr>
                      <m:t>𝑉</m:t>
                    </m:r>
                  </m:oMath>
                </a14:m>
                <a:r>
                  <a:rPr lang="sv-SE" dirty="0"/>
                  <a:t>   </a:t>
                </a: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𝑖𝑛</m:t>
                        </m:r>
                      </m:sub>
                    </m:sSub>
                    <m:r>
                      <a:rPr lang="en-US" i="1">
                        <a:latin typeface="Cambria Math" panose="02040503050406030204" pitchFamily="18" charset="0"/>
                      </a:rPr>
                      <m:t>=</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num>
                      <m:den>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den>
                    </m:f>
                    <m:r>
                      <a:rPr lang="en-US" i="1">
                        <a:latin typeface="Cambria Math" panose="02040503050406030204" pitchFamily="18" charset="0"/>
                      </a:rPr>
                      <m:t>=2</m:t>
                    </m:r>
                    <m:r>
                      <a:rPr lang="sv-SE" i="1">
                        <a:latin typeface="Cambria Math" panose="02040503050406030204" pitchFamily="18" charset="0"/>
                      </a:rPr>
                      <m:t>85</m:t>
                    </m:r>
                    <m:r>
                      <a:rPr lang="en-US" i="1">
                        <a:latin typeface="Cambria Math" panose="02040503050406030204" pitchFamily="18" charset="0"/>
                      </a:rPr>
                      <m:t> </m:t>
                    </m:r>
                    <m:r>
                      <a:rPr lang="en-US" i="1">
                        <a:latin typeface="Cambria Math" panose="02040503050406030204" pitchFamily="18" charset="0"/>
                      </a:rPr>
                      <m:t>𝐴</m:t>
                    </m:r>
                  </m:oMath>
                </a14:m>
                <a:endParaRPr lang="en-US" i="1" dirty="0">
                  <a:latin typeface="Cambria Math" panose="02040503050406030204" pitchFamily="18" charset="0"/>
                </a:endParaRPr>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num>
                      <m:den>
                        <m:r>
                          <a:rPr lang="en-US" i="1">
                            <a:latin typeface="Cambria Math" panose="02040503050406030204" pitchFamily="18" charset="0"/>
                          </a:rPr>
                          <m:t>2</m:t>
                        </m:r>
                      </m:den>
                    </m:f>
                    <m:r>
                      <a:rPr lang="en-US" i="1">
                        <a:latin typeface="Cambria Math" panose="02040503050406030204" pitchFamily="18" charset="0"/>
                      </a:rPr>
                      <m:t>=</m:t>
                    </m:r>
                    <m:r>
                      <a:rPr lang="sv-SE" i="1">
                        <a:latin typeface="Cambria Math" panose="02040503050406030204" pitchFamily="18" charset="0"/>
                      </a:rPr>
                      <m:t>525</m:t>
                    </m:r>
                    <m:r>
                      <a:rPr lang="en-US" i="1">
                        <a:latin typeface="Cambria Math" panose="02040503050406030204" pitchFamily="18" charset="0"/>
                      </a:rPr>
                      <m:t> </m:t>
                    </m:r>
                    <m:r>
                      <a:rPr lang="en-US" i="1">
                        <a:latin typeface="Cambria Math" panose="02040503050406030204" pitchFamily="18" charset="0"/>
                      </a:rPr>
                      <m:t>𝑉</m:t>
                    </m:r>
                    <m:r>
                      <a:rPr lang="en-US" i="1">
                        <a:latin typeface="Cambria Math" panose="02040503050406030204" pitchFamily="18" charset="0"/>
                      </a:rPr>
                      <m:t> </m:t>
                    </m:r>
                    <m:r>
                      <a:rPr lang="en-US" i="1">
                        <a:latin typeface="Cambria Math" panose="02040503050406030204" pitchFamily="18" charset="0"/>
                      </a:rPr>
                      <m:t>𝑜𝑟</m:t>
                    </m:r>
                    <m:r>
                      <a:rPr lang="en-US" i="1">
                        <a:latin typeface="Cambria Math" panose="02040503050406030204" pitchFamily="18" charset="0"/>
                      </a:rPr>
                      <m:t> </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𝑖𝑛</m:t>
                            </m:r>
                          </m:sub>
                        </m:sSub>
                        <m:d>
                          <m:dPr>
                            <m:ctrlPr>
                              <a:rPr lang="en-US" i="1">
                                <a:latin typeface="Cambria Math" panose="02040503050406030204" pitchFamily="18" charset="0"/>
                              </a:rPr>
                            </m:ctrlPr>
                          </m:dPr>
                          <m:e>
                            <m:r>
                              <a:rPr lang="en-US" i="1">
                                <a:latin typeface="Cambria Math" panose="02040503050406030204" pitchFamily="18" charset="0"/>
                              </a:rPr>
                              <m:t>1+</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6</m:t>
                                </m:r>
                              </m:den>
                            </m:f>
                          </m:e>
                        </m:d>
                      </m:num>
                      <m:den>
                        <m:r>
                          <a:rPr lang="en-US" i="1">
                            <a:latin typeface="Cambria Math" panose="02040503050406030204" pitchFamily="18" charset="0"/>
                          </a:rPr>
                          <m:t>2</m:t>
                        </m:r>
                      </m:den>
                    </m:f>
                    <m:r>
                      <a:rPr lang="en-US" i="1">
                        <a:latin typeface="Cambria Math" panose="02040503050406030204" pitchFamily="18" charset="0"/>
                      </a:rPr>
                      <m:t>=</m:t>
                    </m:r>
                    <m:r>
                      <a:rPr lang="sv-SE" i="1">
                        <a:latin typeface="Cambria Math" panose="02040503050406030204" pitchFamily="18" charset="0"/>
                      </a:rPr>
                      <m:t>612.5</m:t>
                    </m:r>
                    <m:r>
                      <a:rPr lang="en-US" i="1">
                        <a:latin typeface="Cambria Math" panose="02040503050406030204" pitchFamily="18" charset="0"/>
                      </a:rPr>
                      <m:t> </m:t>
                    </m:r>
                    <m:r>
                      <a:rPr lang="en-US" i="1">
                        <a:latin typeface="Cambria Math" panose="02040503050406030204" pitchFamily="18" charset="0"/>
                      </a:rPr>
                      <m:t>𝑉</m:t>
                    </m:r>
                  </m:oMath>
                </a14:m>
                <a:endParaRPr lang="sv-SE" dirty="0"/>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𝐼</m:t>
                            </m:r>
                          </m:e>
                        </m:acc>
                      </m:e>
                      <m:sub>
                        <m:r>
                          <a:rPr lang="en-US" i="1">
                            <a:latin typeface="Cambria Math" panose="02040503050406030204" pitchFamily="18" charset="0"/>
                          </a:rPr>
                          <m:t>𝑙</m:t>
                        </m:r>
                      </m:sub>
                    </m:sSub>
                    <m:r>
                      <a:rPr lang="en-US" i="1">
                        <a:latin typeface="Cambria Math" panose="02040503050406030204" pitchFamily="18" charset="0"/>
                      </a:rPr>
                      <m:t>=2</m:t>
                    </m:r>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num>
                      <m:den>
                        <m:sSub>
                          <m:sSubPr>
                            <m:ctrlPr>
                              <a:rPr lang="en-US" i="1">
                                <a:latin typeface="Cambria Math" panose="02040503050406030204" pitchFamily="18" charset="0"/>
                              </a:rPr>
                            </m:ctrlPr>
                          </m:sSubPr>
                          <m:e>
                            <m:r>
                              <a:rPr lang="en-US" i="1">
                                <a:latin typeface="Cambria Math" panose="02040503050406030204" pitchFamily="18" charset="0"/>
                              </a:rPr>
                              <m:t>3</m:t>
                            </m:r>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den>
                    </m:f>
                    <m:r>
                      <a:rPr lang="en-US" i="1">
                        <a:latin typeface="Cambria Math" panose="02040503050406030204" pitchFamily="18" charset="0"/>
                      </a:rPr>
                      <m:t>=32</m:t>
                    </m:r>
                    <m:r>
                      <a:rPr lang="sv-SE" i="1">
                        <a:latin typeface="Cambria Math" panose="02040503050406030204" pitchFamily="18" charset="0"/>
                      </a:rPr>
                      <m:t>6 </m:t>
                    </m:r>
                    <m:r>
                      <a:rPr lang="sv-SE" i="1">
                        <a:latin typeface="Cambria Math" panose="02040503050406030204" pitchFamily="18" charset="0"/>
                      </a:rPr>
                      <m:t>𝐴</m:t>
                    </m:r>
                  </m:oMath>
                </a14:m>
                <a:endParaRPr lang="sv-SE" i="1" dirty="0">
                  <a:latin typeface="Cambria Math" panose="02040503050406030204" pitchFamily="18" charset="0"/>
                </a:endParaRPr>
              </a:p>
              <a:p>
                <a:pPr>
                  <a:buFont typeface="Wingdings" panose="05000000000000000000" pitchFamily="2" charset="2"/>
                  <a:buChar char="§"/>
                </a:pPr>
                <a14:m>
                  <m:oMath xmlns:m="http://schemas.openxmlformats.org/officeDocument/2006/math">
                    <m:r>
                      <a:rPr lang="en-US" i="1" dirty="0">
                        <a:latin typeface="Cambria Math" panose="02040503050406030204" pitchFamily="18" charset="0"/>
                      </a:rPr>
                      <m:t>𝑝𝑓</m:t>
                    </m:r>
                    <m:r>
                      <a:rPr lang="en-US" i="1" dirty="0">
                        <a:latin typeface="Cambria Math" panose="02040503050406030204" pitchFamily="18" charset="0"/>
                      </a:rPr>
                      <m:t>= 0.9</m:t>
                    </m:r>
                  </m:oMath>
                </a14:m>
                <a:endParaRPr lang="sv-SE" dirty="0"/>
              </a:p>
              <a:p>
                <a:pPr>
                  <a:buFont typeface="Wingdings" panose="05000000000000000000" pitchFamily="2" charset="2"/>
                  <a:buChar char="§"/>
                </a:pP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𝐼</m:t>
                            </m:r>
                          </m:e>
                        </m:acc>
                      </m:e>
                      <m:sub>
                        <m:r>
                          <a:rPr lang="en-US" i="1">
                            <a:latin typeface="Cambria Math" panose="02040503050406030204" pitchFamily="18" charset="0"/>
                          </a:rPr>
                          <m:t>𝑙</m:t>
                        </m:r>
                      </m:sub>
                    </m:sSub>
                    <m:r>
                      <a:rPr lang="en-US" i="1">
                        <a:latin typeface="Cambria Math" panose="02040503050406030204" pitchFamily="18" charset="0"/>
                      </a:rPr>
                      <m:t>=2</m:t>
                    </m:r>
                    <m:f>
                      <m:fPr>
                        <m:ctrlPr>
                          <a:rPr lang="en-US" i="1">
                            <a:latin typeface="Cambria Math" panose="02040503050406030204" pitchFamily="18" charset="0"/>
                          </a:rPr>
                        </m:ctrlPr>
                      </m:fPr>
                      <m:num>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𝑜𝑢𝑡</m:t>
                                </m:r>
                              </m:sub>
                            </m:sSub>
                          </m:num>
                          <m:den>
                            <m:r>
                              <a:rPr lang="en-US" i="1">
                                <a:latin typeface="Cambria Math" panose="02040503050406030204" pitchFamily="18" charset="0"/>
                              </a:rPr>
                              <m:t>𝑝𝑓</m:t>
                            </m:r>
                          </m:den>
                        </m:f>
                      </m:num>
                      <m:den>
                        <m:sSub>
                          <m:sSubPr>
                            <m:ctrlPr>
                              <a:rPr lang="en-US" i="1">
                                <a:latin typeface="Cambria Math" panose="02040503050406030204" pitchFamily="18" charset="0"/>
                              </a:rPr>
                            </m:ctrlPr>
                          </m:sSubPr>
                          <m:e>
                            <m:r>
                              <a:rPr lang="en-US" i="1">
                                <a:latin typeface="Cambria Math" panose="02040503050406030204" pitchFamily="18" charset="0"/>
                              </a:rPr>
                              <m:t>3</m:t>
                            </m:r>
                            <m:acc>
                              <m:accPr>
                                <m:chr m:val="̂"/>
                                <m:ctrlPr>
                                  <a:rPr lang="en-US" i="1">
                                    <a:latin typeface="Cambria Math" panose="02040503050406030204" pitchFamily="18" charset="0"/>
                                  </a:rPr>
                                </m:ctrlPr>
                              </m:accPr>
                              <m:e>
                                <m:r>
                                  <a:rPr lang="en-US" i="1">
                                    <a:latin typeface="Cambria Math" panose="02040503050406030204" pitchFamily="18" charset="0"/>
                                  </a:rPr>
                                  <m:t>𝑉</m:t>
                                </m:r>
                              </m:e>
                            </m:acc>
                          </m:e>
                          <m:sub>
                            <m:r>
                              <a:rPr lang="en-US" i="1">
                                <a:latin typeface="Cambria Math" panose="02040503050406030204" pitchFamily="18" charset="0"/>
                              </a:rPr>
                              <m:t>𝑙</m:t>
                            </m:r>
                            <m:r>
                              <a:rPr lang="en-US" i="1">
                                <a:latin typeface="Cambria Math" panose="02040503050406030204" pitchFamily="18" charset="0"/>
                              </a:rPr>
                              <m:t>−</m:t>
                            </m:r>
                            <m:r>
                              <a:rPr lang="en-US" i="1">
                                <a:latin typeface="Cambria Math" panose="02040503050406030204" pitchFamily="18" charset="0"/>
                              </a:rPr>
                              <m:t>𝑛</m:t>
                            </m:r>
                          </m:sub>
                        </m:sSub>
                      </m:den>
                    </m:f>
                    <m:r>
                      <a:rPr lang="en-US" i="1">
                        <a:latin typeface="Cambria Math" panose="02040503050406030204" pitchFamily="18" charset="0"/>
                      </a:rPr>
                      <m:t>=</m:t>
                    </m:r>
                    <m:r>
                      <a:rPr lang="sv-SE" i="1">
                        <a:latin typeface="Cambria Math" panose="02040503050406030204" pitchFamily="18" charset="0"/>
                      </a:rPr>
                      <m:t>360</m:t>
                    </m:r>
                    <m:r>
                      <a:rPr lang="sv-SE" i="1">
                        <a:latin typeface="Cambria Math" panose="02040503050406030204" pitchFamily="18" charset="0"/>
                      </a:rPr>
                      <m:t>𝐴</m:t>
                    </m:r>
                  </m:oMath>
                </a14:m>
                <a:endParaRPr lang="en-US" b="1" dirty="0"/>
              </a:p>
            </p:txBody>
          </p:sp>
        </mc:Choice>
        <mc:Fallback>
          <p:sp>
            <p:nvSpPr>
              <p:cNvPr id="4" name="Rectangle 3">
                <a:extLst>
                  <a:ext uri="{FF2B5EF4-FFF2-40B4-BE49-F238E27FC236}">
                    <a16:creationId xmlns:a16="http://schemas.microsoft.com/office/drawing/2014/main" id="{AFF61707-CA40-28D4-F4FA-F67599F741CA}"/>
                  </a:ext>
                </a:extLst>
              </p:cNvPr>
              <p:cNvSpPr>
                <a:spLocks noRot="1" noChangeAspect="1" noMove="1" noResize="1" noEditPoints="1" noAdjustHandles="1" noChangeArrowheads="1" noChangeShapeType="1" noTextEdit="1"/>
              </p:cNvSpPr>
              <p:nvPr/>
            </p:nvSpPr>
            <p:spPr>
              <a:xfrm>
                <a:off x="6912844" y="1711863"/>
                <a:ext cx="4425454" cy="3434273"/>
              </a:xfrm>
              <a:prstGeom prst="rect">
                <a:avLst/>
              </a:prstGeom>
              <a:blipFill>
                <a:blip r:embed="rId3"/>
                <a:stretch>
                  <a:fillRect l="-1240" t="-1066"/>
                </a:stretch>
              </a:blipFill>
            </p:spPr>
            <p:txBody>
              <a:bodyPr/>
              <a:lstStyle/>
              <a:p>
                <a:r>
                  <a:rPr lang="sv-SE">
                    <a:noFill/>
                  </a:rPr>
                  <a:t> </a:t>
                </a:r>
              </a:p>
            </p:txBody>
          </p:sp>
        </mc:Fallback>
      </mc:AlternateContent>
    </p:spTree>
    <p:extLst>
      <p:ext uri="{BB962C8B-B14F-4D97-AF65-F5344CB8AC3E}">
        <p14:creationId xmlns:p14="http://schemas.microsoft.com/office/powerpoint/2010/main" val="3900652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3B1BC-BA4D-C0F0-961C-B7C5063A81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D4744-F9FF-517E-E3CE-D0DBCE1EDBF3}"/>
              </a:ext>
            </a:extLst>
          </p:cNvPr>
          <p:cNvSpPr>
            <a:spLocks noGrp="1"/>
          </p:cNvSpPr>
          <p:nvPr>
            <p:ph type="title"/>
          </p:nvPr>
        </p:nvSpPr>
        <p:spPr/>
        <p:txBody>
          <a:bodyPr/>
          <a:lstStyle/>
          <a:p>
            <a:r>
              <a:rPr lang="en-US" dirty="0"/>
              <a:t>First Prototype with 62mm Power Modules</a:t>
            </a:r>
          </a:p>
        </p:txBody>
      </p:sp>
      <p:sp>
        <p:nvSpPr>
          <p:cNvPr id="4" name="TextBox 3">
            <a:extLst>
              <a:ext uri="{FF2B5EF4-FFF2-40B4-BE49-F238E27FC236}">
                <a16:creationId xmlns:a16="http://schemas.microsoft.com/office/drawing/2014/main" id="{ED23ABAF-7851-C9AC-8690-04BE403AAE5C}"/>
              </a:ext>
            </a:extLst>
          </p:cNvPr>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pic>
        <p:nvPicPr>
          <p:cNvPr id="6" name="Picture 5">
            <a:extLst>
              <a:ext uri="{FF2B5EF4-FFF2-40B4-BE49-F238E27FC236}">
                <a16:creationId xmlns:a16="http://schemas.microsoft.com/office/drawing/2014/main" id="{62B6D6F2-5498-7E85-CB1C-73C53C9DC6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9999" y="1178754"/>
            <a:ext cx="3082925" cy="4923099"/>
          </a:xfrm>
          <a:prstGeom prst="rect">
            <a:avLst/>
          </a:prstGeom>
        </p:spPr>
      </p:pic>
      <p:pic>
        <p:nvPicPr>
          <p:cNvPr id="8" name="Picture 7">
            <a:extLst>
              <a:ext uri="{FF2B5EF4-FFF2-40B4-BE49-F238E27FC236}">
                <a16:creationId xmlns:a16="http://schemas.microsoft.com/office/drawing/2014/main" id="{B4CBD3FC-F8F2-0160-BB3C-3121A3D16D86}"/>
              </a:ext>
            </a:extLst>
          </p:cNvPr>
          <p:cNvPicPr>
            <a:picLocks noChangeAspect="1"/>
          </p:cNvPicPr>
          <p:nvPr/>
        </p:nvPicPr>
        <p:blipFill>
          <a:blip r:embed="rId3"/>
          <a:stretch>
            <a:fillRect/>
          </a:stretch>
        </p:blipFill>
        <p:spPr>
          <a:xfrm>
            <a:off x="332262" y="6101853"/>
            <a:ext cx="5444004" cy="346277"/>
          </a:xfrm>
          <a:prstGeom prst="rect">
            <a:avLst/>
          </a:prstGeom>
        </p:spPr>
      </p:pic>
      <p:pic>
        <p:nvPicPr>
          <p:cNvPr id="11" name="Picture 10">
            <a:extLst>
              <a:ext uri="{FF2B5EF4-FFF2-40B4-BE49-F238E27FC236}">
                <a16:creationId xmlns:a16="http://schemas.microsoft.com/office/drawing/2014/main" id="{FEF5C5AE-BE86-F578-BF99-050FB2DBD2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8900" y="1328512"/>
            <a:ext cx="4758665" cy="3389989"/>
          </a:xfrm>
          <a:prstGeom prst="rect">
            <a:avLst/>
          </a:prstGeom>
        </p:spPr>
      </p:pic>
      <p:pic>
        <p:nvPicPr>
          <p:cNvPr id="14" name="Picture 13">
            <a:extLst>
              <a:ext uri="{FF2B5EF4-FFF2-40B4-BE49-F238E27FC236}">
                <a16:creationId xmlns:a16="http://schemas.microsoft.com/office/drawing/2014/main" id="{04656585-8D0F-26E4-9F0D-B2722891C843}"/>
              </a:ext>
            </a:extLst>
          </p:cNvPr>
          <p:cNvPicPr>
            <a:picLocks noChangeAspect="1"/>
          </p:cNvPicPr>
          <p:nvPr/>
        </p:nvPicPr>
        <p:blipFill>
          <a:blip r:embed="rId5"/>
          <a:stretch>
            <a:fillRect/>
          </a:stretch>
        </p:blipFill>
        <p:spPr>
          <a:xfrm>
            <a:off x="6438900" y="5002115"/>
            <a:ext cx="5016091" cy="689194"/>
          </a:xfrm>
          <a:prstGeom prst="rect">
            <a:avLst/>
          </a:prstGeom>
        </p:spPr>
      </p:pic>
    </p:spTree>
    <p:extLst>
      <p:ext uri="{BB962C8B-B14F-4D97-AF65-F5344CB8AC3E}">
        <p14:creationId xmlns:p14="http://schemas.microsoft.com/office/powerpoint/2010/main" val="1136499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6BD7D-F9DE-0638-74E9-576B81CEB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03C53-E467-391C-A38C-EDFD97F134CA}"/>
              </a:ext>
            </a:extLst>
          </p:cNvPr>
          <p:cNvSpPr>
            <a:spLocks noGrp="1"/>
          </p:cNvSpPr>
          <p:nvPr>
            <p:ph type="title"/>
          </p:nvPr>
        </p:nvSpPr>
        <p:spPr/>
        <p:txBody>
          <a:bodyPr/>
          <a:lstStyle/>
          <a:p>
            <a:r>
              <a:rPr lang="en-US" dirty="0" err="1"/>
              <a:t>Effiency</a:t>
            </a:r>
            <a:r>
              <a:rPr lang="en-US" dirty="0"/>
              <a:t> and Power Density Results</a:t>
            </a:r>
          </a:p>
        </p:txBody>
      </p:sp>
      <p:pic>
        <p:nvPicPr>
          <p:cNvPr id="5" name="Picture 4">
            <a:extLst>
              <a:ext uri="{FF2B5EF4-FFF2-40B4-BE49-F238E27FC236}">
                <a16:creationId xmlns:a16="http://schemas.microsoft.com/office/drawing/2014/main" id="{38D6CAC9-6F2A-E6E8-6098-883E5D0E7B9A}"/>
              </a:ext>
            </a:extLst>
          </p:cNvPr>
          <p:cNvPicPr>
            <a:picLocks noChangeAspect="1"/>
          </p:cNvPicPr>
          <p:nvPr/>
        </p:nvPicPr>
        <p:blipFill>
          <a:blip r:embed="rId2"/>
          <a:stretch>
            <a:fillRect/>
          </a:stretch>
        </p:blipFill>
        <p:spPr>
          <a:xfrm>
            <a:off x="366047" y="1557605"/>
            <a:ext cx="5319712" cy="1681305"/>
          </a:xfrm>
          <a:prstGeom prst="rect">
            <a:avLst/>
          </a:prstGeom>
        </p:spPr>
      </p:pic>
      <p:pic>
        <p:nvPicPr>
          <p:cNvPr id="9" name="Picture 8">
            <a:extLst>
              <a:ext uri="{FF2B5EF4-FFF2-40B4-BE49-F238E27FC236}">
                <a16:creationId xmlns:a16="http://schemas.microsoft.com/office/drawing/2014/main" id="{22FDBE93-3719-D0D8-8B03-67933B68AA9D}"/>
              </a:ext>
            </a:extLst>
          </p:cNvPr>
          <p:cNvPicPr>
            <a:picLocks noChangeAspect="1"/>
          </p:cNvPicPr>
          <p:nvPr/>
        </p:nvPicPr>
        <p:blipFill>
          <a:blip r:embed="rId3"/>
          <a:stretch>
            <a:fillRect/>
          </a:stretch>
        </p:blipFill>
        <p:spPr>
          <a:xfrm>
            <a:off x="366047" y="3870894"/>
            <a:ext cx="5514975" cy="2331283"/>
          </a:xfrm>
          <a:prstGeom prst="rect">
            <a:avLst/>
          </a:prstGeom>
        </p:spPr>
      </p:pic>
      <p:pic>
        <p:nvPicPr>
          <p:cNvPr id="4" name="Picture 3">
            <a:extLst>
              <a:ext uri="{FF2B5EF4-FFF2-40B4-BE49-F238E27FC236}">
                <a16:creationId xmlns:a16="http://schemas.microsoft.com/office/drawing/2014/main" id="{F40D3F13-25A9-6BC0-DBC9-EAFE0DF360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3061" y="1078483"/>
            <a:ext cx="5483459" cy="2800064"/>
          </a:xfrm>
          <a:prstGeom prst="rect">
            <a:avLst/>
          </a:prstGeom>
        </p:spPr>
      </p:pic>
      <p:pic>
        <p:nvPicPr>
          <p:cNvPr id="7" name="Picture 6">
            <a:extLst>
              <a:ext uri="{FF2B5EF4-FFF2-40B4-BE49-F238E27FC236}">
                <a16:creationId xmlns:a16="http://schemas.microsoft.com/office/drawing/2014/main" id="{494BFE61-CE3F-26D9-B371-DBCDFAC5BA29}"/>
              </a:ext>
            </a:extLst>
          </p:cNvPr>
          <p:cNvPicPr>
            <a:picLocks noChangeAspect="1"/>
          </p:cNvPicPr>
          <p:nvPr/>
        </p:nvPicPr>
        <p:blipFill>
          <a:blip r:embed="rId5"/>
          <a:stretch>
            <a:fillRect/>
          </a:stretch>
        </p:blipFill>
        <p:spPr>
          <a:xfrm>
            <a:off x="6450712" y="3870894"/>
            <a:ext cx="4976813" cy="539597"/>
          </a:xfrm>
          <a:prstGeom prst="rect">
            <a:avLst/>
          </a:prstGeom>
        </p:spPr>
      </p:pic>
      <p:pic>
        <p:nvPicPr>
          <p:cNvPr id="10" name="Picture 9">
            <a:extLst>
              <a:ext uri="{FF2B5EF4-FFF2-40B4-BE49-F238E27FC236}">
                <a16:creationId xmlns:a16="http://schemas.microsoft.com/office/drawing/2014/main" id="{9653BCBE-173B-9127-968C-76E4FBA48D44}"/>
              </a:ext>
            </a:extLst>
          </p:cNvPr>
          <p:cNvPicPr>
            <a:picLocks noChangeAspect="1"/>
          </p:cNvPicPr>
          <p:nvPr/>
        </p:nvPicPr>
        <p:blipFill>
          <a:blip r:embed="rId6"/>
          <a:stretch>
            <a:fillRect/>
          </a:stretch>
        </p:blipFill>
        <p:spPr>
          <a:xfrm>
            <a:off x="6450712" y="4676973"/>
            <a:ext cx="4908159" cy="1634649"/>
          </a:xfrm>
          <a:prstGeom prst="rect">
            <a:avLst/>
          </a:prstGeom>
        </p:spPr>
      </p:pic>
    </p:spTree>
    <p:extLst>
      <p:ext uri="{BB962C8B-B14F-4D97-AF65-F5344CB8AC3E}">
        <p14:creationId xmlns:p14="http://schemas.microsoft.com/office/powerpoint/2010/main" val="275520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BF8C3-DC7E-DFD2-6AD1-542821D836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FF2BE-F9A4-5F72-C2AD-D39C3B0E1F70}"/>
              </a:ext>
            </a:extLst>
          </p:cNvPr>
          <p:cNvSpPr>
            <a:spLocks noGrp="1"/>
          </p:cNvSpPr>
          <p:nvPr>
            <p:ph type="title"/>
          </p:nvPr>
        </p:nvSpPr>
        <p:spPr/>
        <p:txBody>
          <a:bodyPr/>
          <a:lstStyle/>
          <a:p>
            <a:r>
              <a:rPr lang="en-US" dirty="0"/>
              <a:t>Second Prototype with </a:t>
            </a:r>
            <a:r>
              <a:rPr lang="en-US" dirty="0" err="1"/>
              <a:t>eTruck</a:t>
            </a:r>
            <a:r>
              <a:rPr lang="en-US" dirty="0"/>
              <a:t> Power Modules</a:t>
            </a:r>
          </a:p>
        </p:txBody>
      </p:sp>
      <p:pic>
        <p:nvPicPr>
          <p:cNvPr id="9" name="Picture 8">
            <a:extLst>
              <a:ext uri="{FF2B5EF4-FFF2-40B4-BE49-F238E27FC236}">
                <a16:creationId xmlns:a16="http://schemas.microsoft.com/office/drawing/2014/main" id="{F76B86F3-3679-02F4-FCA4-FAA9570FBB8C}"/>
              </a:ext>
            </a:extLst>
          </p:cNvPr>
          <p:cNvPicPr>
            <a:picLocks noChangeAspect="1"/>
          </p:cNvPicPr>
          <p:nvPr/>
        </p:nvPicPr>
        <p:blipFill>
          <a:blip r:embed="rId2"/>
          <a:srcRect t="27610" b="17455"/>
          <a:stretch>
            <a:fillRect/>
          </a:stretch>
        </p:blipFill>
        <p:spPr>
          <a:xfrm>
            <a:off x="331940" y="1817246"/>
            <a:ext cx="3170571" cy="3772385"/>
          </a:xfrm>
          <a:prstGeom prst="rect">
            <a:avLst/>
          </a:prstGeom>
        </p:spPr>
      </p:pic>
      <p:pic>
        <p:nvPicPr>
          <p:cNvPr id="11" name="Picture 10">
            <a:extLst>
              <a:ext uri="{FF2B5EF4-FFF2-40B4-BE49-F238E27FC236}">
                <a16:creationId xmlns:a16="http://schemas.microsoft.com/office/drawing/2014/main" id="{2949F4C2-0891-E9D7-85F5-3E66C8D23061}"/>
              </a:ext>
            </a:extLst>
          </p:cNvPr>
          <p:cNvPicPr>
            <a:picLocks noChangeAspect="1"/>
          </p:cNvPicPr>
          <p:nvPr/>
        </p:nvPicPr>
        <p:blipFill>
          <a:blip r:embed="rId3"/>
          <a:srcRect t="31273" b="10767"/>
          <a:stretch>
            <a:fillRect/>
          </a:stretch>
        </p:blipFill>
        <p:spPr>
          <a:xfrm>
            <a:off x="4194730" y="1817247"/>
            <a:ext cx="2879768" cy="3614976"/>
          </a:xfrm>
          <a:prstGeom prst="rect">
            <a:avLst/>
          </a:prstGeom>
        </p:spPr>
      </p:pic>
      <p:pic>
        <p:nvPicPr>
          <p:cNvPr id="13" name="Picture 12">
            <a:extLst>
              <a:ext uri="{FF2B5EF4-FFF2-40B4-BE49-F238E27FC236}">
                <a16:creationId xmlns:a16="http://schemas.microsoft.com/office/drawing/2014/main" id="{1E1F97DD-8FC1-924F-EB42-8FC8B0667061}"/>
              </a:ext>
            </a:extLst>
          </p:cNvPr>
          <p:cNvPicPr>
            <a:picLocks noChangeAspect="1"/>
          </p:cNvPicPr>
          <p:nvPr/>
        </p:nvPicPr>
        <p:blipFill>
          <a:blip r:embed="rId4"/>
          <a:stretch>
            <a:fillRect/>
          </a:stretch>
        </p:blipFill>
        <p:spPr>
          <a:xfrm>
            <a:off x="8264705" y="1938867"/>
            <a:ext cx="2827349" cy="1850020"/>
          </a:xfrm>
          <a:prstGeom prst="rect">
            <a:avLst/>
          </a:prstGeom>
        </p:spPr>
      </p:pic>
      <p:graphicFrame>
        <p:nvGraphicFramePr>
          <p:cNvPr id="15" name="Table 14">
            <a:extLst>
              <a:ext uri="{FF2B5EF4-FFF2-40B4-BE49-F238E27FC236}">
                <a16:creationId xmlns:a16="http://schemas.microsoft.com/office/drawing/2014/main" id="{EC0818D8-A537-78B7-C460-41AAD23B48AC}"/>
              </a:ext>
            </a:extLst>
          </p:cNvPr>
          <p:cNvGraphicFramePr>
            <a:graphicFrameLocks noGrp="1"/>
          </p:cNvGraphicFramePr>
          <p:nvPr>
            <p:extLst>
              <p:ext uri="{D42A27DB-BD31-4B8C-83A1-F6EECF244321}">
                <p14:modId xmlns:p14="http://schemas.microsoft.com/office/powerpoint/2010/main" val="2575392941"/>
              </p:ext>
            </p:extLst>
          </p:nvPr>
        </p:nvGraphicFramePr>
        <p:xfrm>
          <a:off x="7766716" y="4620079"/>
          <a:ext cx="4216582" cy="1463040"/>
        </p:xfrm>
        <a:graphic>
          <a:graphicData uri="http://schemas.openxmlformats.org/drawingml/2006/table">
            <a:tbl>
              <a:tblPr firstRow="1" bandRow="1">
                <a:tableStyleId>{5C22544A-7EE6-4342-B048-85BDC9FD1C3A}</a:tableStyleId>
              </a:tblPr>
              <a:tblGrid>
                <a:gridCol w="2108291">
                  <a:extLst>
                    <a:ext uri="{9D8B030D-6E8A-4147-A177-3AD203B41FA5}">
                      <a16:colId xmlns:a16="http://schemas.microsoft.com/office/drawing/2014/main" val="3391997756"/>
                    </a:ext>
                  </a:extLst>
                </a:gridCol>
                <a:gridCol w="2108291">
                  <a:extLst>
                    <a:ext uri="{9D8B030D-6E8A-4147-A177-3AD203B41FA5}">
                      <a16:colId xmlns:a16="http://schemas.microsoft.com/office/drawing/2014/main" val="3646013725"/>
                    </a:ext>
                  </a:extLst>
                </a:gridCol>
              </a:tblGrid>
              <a:tr h="0">
                <a:tc>
                  <a:txBody>
                    <a:bodyPr/>
                    <a:lstStyle/>
                    <a:p>
                      <a:r>
                        <a:rPr lang="en-US" dirty="0"/>
                        <a:t>Parameters</a:t>
                      </a:r>
                    </a:p>
                  </a:txBody>
                  <a:tcPr/>
                </a:tc>
                <a:tc>
                  <a:txBody>
                    <a:bodyPr/>
                    <a:lstStyle/>
                    <a:p>
                      <a:r>
                        <a:rPr lang="en-US" dirty="0"/>
                        <a:t>Value</a:t>
                      </a:r>
                    </a:p>
                  </a:txBody>
                  <a:tcPr/>
                </a:tc>
                <a:extLst>
                  <a:ext uri="{0D108BD9-81ED-4DB2-BD59-A6C34878D82A}">
                    <a16:rowId xmlns:a16="http://schemas.microsoft.com/office/drawing/2014/main" val="3785128762"/>
                  </a:ext>
                </a:extLst>
              </a:tr>
              <a:tr h="308179">
                <a:tc>
                  <a:txBody>
                    <a:bodyPr/>
                    <a:lstStyle/>
                    <a:p>
                      <a:r>
                        <a:rPr lang="en-US" dirty="0"/>
                        <a:t>Total volume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4.14 L</a:t>
                      </a:r>
                    </a:p>
                  </a:txBody>
                  <a:tcPr/>
                </a:tc>
                <a:extLst>
                  <a:ext uri="{0D108BD9-81ED-4DB2-BD59-A6C34878D82A}">
                    <a16:rowId xmlns:a16="http://schemas.microsoft.com/office/drawing/2014/main" val="598985417"/>
                  </a:ext>
                </a:extLst>
              </a:tr>
              <a:tr h="308179">
                <a:tc>
                  <a:txBody>
                    <a:bodyPr/>
                    <a:lstStyle/>
                    <a:p>
                      <a:r>
                        <a:rPr lang="en-US" dirty="0"/>
                        <a:t>Power Density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~72 kW/L</a:t>
                      </a:r>
                      <a:endParaRPr lang="sv-SE" dirty="0"/>
                    </a:p>
                  </a:txBody>
                  <a:tcPr/>
                </a:tc>
                <a:extLst>
                  <a:ext uri="{0D108BD9-81ED-4DB2-BD59-A6C34878D82A}">
                    <a16:rowId xmlns:a16="http://schemas.microsoft.com/office/drawing/2014/main" val="132422551"/>
                  </a:ext>
                </a:extLst>
              </a:tr>
              <a:tr h="308179">
                <a:tc>
                  <a:txBody>
                    <a:bodyPr/>
                    <a:lstStyle/>
                    <a:p>
                      <a:r>
                        <a:rPr lang="en-US" dirty="0"/>
                        <a:t>Box</a:t>
                      </a:r>
                      <a:r>
                        <a:rPr lang="en-US" baseline="0" dirty="0"/>
                        <a:t> Power Density</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~50kW/L </a:t>
                      </a:r>
                      <a:endParaRPr lang="sv-SE" dirty="0"/>
                    </a:p>
                  </a:txBody>
                  <a:tcPr/>
                </a:tc>
                <a:extLst>
                  <a:ext uri="{0D108BD9-81ED-4DB2-BD59-A6C34878D82A}">
                    <a16:rowId xmlns:a16="http://schemas.microsoft.com/office/drawing/2014/main" val="3049033565"/>
                  </a:ext>
                </a:extLst>
              </a:tr>
            </a:tbl>
          </a:graphicData>
        </a:graphic>
      </p:graphicFrame>
    </p:spTree>
    <p:extLst>
      <p:ext uri="{BB962C8B-B14F-4D97-AF65-F5344CB8AC3E}">
        <p14:creationId xmlns:p14="http://schemas.microsoft.com/office/powerpoint/2010/main" val="698210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5C07F-FE35-CF7B-F93F-1EA627733F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45783-9BF0-CA8A-6C9C-BD390E2CE6FE}"/>
              </a:ext>
            </a:extLst>
          </p:cNvPr>
          <p:cNvSpPr>
            <a:spLocks noGrp="1"/>
          </p:cNvSpPr>
          <p:nvPr>
            <p:ph type="title"/>
          </p:nvPr>
        </p:nvSpPr>
        <p:spPr/>
        <p:txBody>
          <a:bodyPr/>
          <a:lstStyle/>
          <a:p>
            <a:r>
              <a:rPr lang="en-US" dirty="0"/>
              <a:t>Loss Analysis</a:t>
            </a:r>
          </a:p>
        </p:txBody>
      </p:sp>
      <p:sp>
        <p:nvSpPr>
          <p:cNvPr id="4" name="TextBox 3">
            <a:extLst>
              <a:ext uri="{FF2B5EF4-FFF2-40B4-BE49-F238E27FC236}">
                <a16:creationId xmlns:a16="http://schemas.microsoft.com/office/drawing/2014/main" id="{CED0521F-059E-ABB3-99B2-BEEC2768B555}"/>
              </a:ext>
            </a:extLst>
          </p:cNvPr>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pic>
        <p:nvPicPr>
          <p:cNvPr id="6" name="Picture 5">
            <a:extLst>
              <a:ext uri="{FF2B5EF4-FFF2-40B4-BE49-F238E27FC236}">
                <a16:creationId xmlns:a16="http://schemas.microsoft.com/office/drawing/2014/main" id="{E7169294-8B02-F46D-8072-62535EE20F83}"/>
              </a:ext>
            </a:extLst>
          </p:cNvPr>
          <p:cNvPicPr>
            <a:picLocks noChangeAspect="1"/>
          </p:cNvPicPr>
          <p:nvPr/>
        </p:nvPicPr>
        <p:blipFill>
          <a:blip r:embed="rId2"/>
          <a:stretch>
            <a:fillRect/>
          </a:stretch>
        </p:blipFill>
        <p:spPr>
          <a:xfrm>
            <a:off x="1064313" y="1342135"/>
            <a:ext cx="4034374" cy="3350753"/>
          </a:xfrm>
          <a:prstGeom prst="rect">
            <a:avLst/>
          </a:prstGeom>
        </p:spPr>
      </p:pic>
      <p:pic>
        <p:nvPicPr>
          <p:cNvPr id="9" name="Picture 8">
            <a:extLst>
              <a:ext uri="{FF2B5EF4-FFF2-40B4-BE49-F238E27FC236}">
                <a16:creationId xmlns:a16="http://schemas.microsoft.com/office/drawing/2014/main" id="{D0A98A73-7D59-A519-BB96-9845C4D7DC9D}"/>
              </a:ext>
            </a:extLst>
          </p:cNvPr>
          <p:cNvPicPr>
            <a:picLocks noChangeAspect="1"/>
          </p:cNvPicPr>
          <p:nvPr/>
        </p:nvPicPr>
        <p:blipFill>
          <a:blip r:embed="rId3"/>
          <a:stretch>
            <a:fillRect/>
          </a:stretch>
        </p:blipFill>
        <p:spPr>
          <a:xfrm>
            <a:off x="6943119" y="1342135"/>
            <a:ext cx="4057946" cy="3390139"/>
          </a:xfrm>
          <a:prstGeom prst="rect">
            <a:avLst/>
          </a:prstGeom>
        </p:spPr>
      </p:pic>
    </p:spTree>
    <p:extLst>
      <p:ext uri="{BB962C8B-B14F-4D97-AF65-F5344CB8AC3E}">
        <p14:creationId xmlns:p14="http://schemas.microsoft.com/office/powerpoint/2010/main" val="19144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E96F4-E352-4917-BA7D-A02A0D1E3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0E79D0-150C-77D5-309B-E3F9D29E584A}"/>
              </a:ext>
            </a:extLst>
          </p:cNvPr>
          <p:cNvSpPr>
            <a:spLocks noGrp="1"/>
          </p:cNvSpPr>
          <p:nvPr>
            <p:ph type="title"/>
          </p:nvPr>
        </p:nvSpPr>
        <p:spPr/>
        <p:txBody>
          <a:bodyPr/>
          <a:lstStyle/>
          <a:p>
            <a:r>
              <a:rPr lang="en-US" dirty="0"/>
              <a:t>Loss Analysis</a:t>
            </a:r>
          </a:p>
        </p:txBody>
      </p:sp>
      <p:sp>
        <p:nvSpPr>
          <p:cNvPr id="4" name="TextBox 3">
            <a:extLst>
              <a:ext uri="{FF2B5EF4-FFF2-40B4-BE49-F238E27FC236}">
                <a16:creationId xmlns:a16="http://schemas.microsoft.com/office/drawing/2014/main" id="{AB91312F-D64F-ABF9-E6EB-A8E05C26E50E}"/>
              </a:ext>
            </a:extLst>
          </p:cNvPr>
          <p:cNvSpPr txBox="1"/>
          <p:nvPr/>
        </p:nvSpPr>
        <p:spPr>
          <a:xfrm>
            <a:off x="1270000" y="6331503"/>
            <a:ext cx="5168900" cy="646331"/>
          </a:xfrm>
          <a:prstGeom prst="rect">
            <a:avLst/>
          </a:prstGeom>
          <a:noFill/>
        </p:spPr>
        <p:txBody>
          <a:bodyPr wrap="square" rtlCol="0">
            <a:spAutoFit/>
          </a:bodyPr>
          <a:lstStyle/>
          <a:p>
            <a:endParaRPr lang="en-US" dirty="0"/>
          </a:p>
          <a:p>
            <a:r>
              <a:rPr lang="en-US" dirty="0"/>
              <a:t>.</a:t>
            </a:r>
            <a:endParaRPr lang="sv-SE" dirty="0"/>
          </a:p>
        </p:txBody>
      </p:sp>
      <p:pic>
        <p:nvPicPr>
          <p:cNvPr id="5" name="Picture 4">
            <a:extLst>
              <a:ext uri="{FF2B5EF4-FFF2-40B4-BE49-F238E27FC236}">
                <a16:creationId xmlns:a16="http://schemas.microsoft.com/office/drawing/2014/main" id="{6B87423B-3079-E95F-6C7E-4F0B78F926FD}"/>
              </a:ext>
            </a:extLst>
          </p:cNvPr>
          <p:cNvPicPr>
            <a:picLocks noChangeAspect="1"/>
          </p:cNvPicPr>
          <p:nvPr/>
        </p:nvPicPr>
        <p:blipFill>
          <a:blip r:embed="rId2"/>
          <a:stretch>
            <a:fillRect/>
          </a:stretch>
        </p:blipFill>
        <p:spPr>
          <a:xfrm>
            <a:off x="568942" y="1080892"/>
            <a:ext cx="10640452" cy="5087687"/>
          </a:xfrm>
          <a:prstGeom prst="rect">
            <a:avLst/>
          </a:prstGeom>
        </p:spPr>
      </p:pic>
    </p:spTree>
    <p:extLst>
      <p:ext uri="{BB962C8B-B14F-4D97-AF65-F5344CB8AC3E}">
        <p14:creationId xmlns:p14="http://schemas.microsoft.com/office/powerpoint/2010/main" val="582075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AF564-9EE8-9C79-B188-2B823A42AD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22300-22CC-B860-B5E1-9BF648A9FDE5}"/>
              </a:ext>
            </a:extLst>
          </p:cNvPr>
          <p:cNvSpPr>
            <a:spLocks noGrp="1"/>
          </p:cNvSpPr>
          <p:nvPr>
            <p:ph type="title"/>
          </p:nvPr>
        </p:nvSpPr>
        <p:spPr/>
        <p:txBody>
          <a:bodyPr/>
          <a:lstStyle/>
          <a:p>
            <a:r>
              <a:rPr lang="en-US" dirty="0"/>
              <a:t>Efficiency Maps</a:t>
            </a:r>
          </a:p>
        </p:txBody>
      </p:sp>
      <p:pic>
        <p:nvPicPr>
          <p:cNvPr id="3" name="Content Placeholder 4">
            <a:extLst>
              <a:ext uri="{FF2B5EF4-FFF2-40B4-BE49-F238E27FC236}">
                <a16:creationId xmlns:a16="http://schemas.microsoft.com/office/drawing/2014/main" id="{8F6A0FB1-4913-5A54-0D37-DA183DE1603A}"/>
              </a:ext>
            </a:extLst>
          </p:cNvPr>
          <p:cNvPicPr>
            <a:picLocks noGrp="1" noChangeAspect="1"/>
          </p:cNvPicPr>
          <p:nvPr>
            <p:ph idx="1"/>
          </p:nvPr>
        </p:nvPicPr>
        <p:blipFill>
          <a:blip r:embed="rId2"/>
          <a:stretch>
            <a:fillRect/>
          </a:stretch>
        </p:blipFill>
        <p:spPr>
          <a:xfrm>
            <a:off x="502887" y="1477022"/>
            <a:ext cx="5743426" cy="4530725"/>
          </a:xfrm>
          <a:prstGeom prst="rect">
            <a:avLst/>
          </a:prstGeom>
        </p:spPr>
      </p:pic>
      <p:pic>
        <p:nvPicPr>
          <p:cNvPr id="5" name="Picture 4">
            <a:extLst>
              <a:ext uri="{FF2B5EF4-FFF2-40B4-BE49-F238E27FC236}">
                <a16:creationId xmlns:a16="http://schemas.microsoft.com/office/drawing/2014/main" id="{05E2BAEC-B65F-2688-1170-934FBD1F63CE}"/>
              </a:ext>
            </a:extLst>
          </p:cNvPr>
          <p:cNvPicPr>
            <a:picLocks noChangeAspect="1"/>
          </p:cNvPicPr>
          <p:nvPr/>
        </p:nvPicPr>
        <p:blipFill>
          <a:blip r:embed="rId3"/>
          <a:stretch>
            <a:fillRect/>
          </a:stretch>
        </p:blipFill>
        <p:spPr>
          <a:xfrm>
            <a:off x="6343785" y="1477021"/>
            <a:ext cx="5552127" cy="4530726"/>
          </a:xfrm>
          <a:prstGeom prst="rect">
            <a:avLst/>
          </a:prstGeom>
        </p:spPr>
      </p:pic>
    </p:spTree>
    <p:extLst>
      <p:ext uri="{BB962C8B-B14F-4D97-AF65-F5344CB8AC3E}">
        <p14:creationId xmlns:p14="http://schemas.microsoft.com/office/powerpoint/2010/main" val="486758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14E38-BF49-DCFA-37DF-2E388C0F5C4E}"/>
              </a:ext>
            </a:extLst>
          </p:cNvPr>
          <p:cNvSpPr>
            <a:spLocks noGrp="1"/>
          </p:cNvSpPr>
          <p:nvPr>
            <p:ph type="ctrTitle"/>
          </p:nvPr>
        </p:nvSpPr>
        <p:spPr/>
        <p:txBody>
          <a:bodyPr/>
          <a:lstStyle/>
          <a:p>
            <a:r>
              <a:rPr lang="en-US" dirty="0"/>
              <a:t>Research Updates</a:t>
            </a:r>
            <a:endParaRPr lang="sv-SE" dirty="0"/>
          </a:p>
        </p:txBody>
      </p:sp>
      <p:sp>
        <p:nvSpPr>
          <p:cNvPr id="3" name="Subtitle 2">
            <a:extLst>
              <a:ext uri="{FF2B5EF4-FFF2-40B4-BE49-F238E27FC236}">
                <a16:creationId xmlns:a16="http://schemas.microsoft.com/office/drawing/2014/main" id="{827DE742-38D0-791B-0DB9-FAFE876DF4C7}"/>
              </a:ext>
            </a:extLst>
          </p:cNvPr>
          <p:cNvSpPr>
            <a:spLocks noGrp="1"/>
          </p:cNvSpPr>
          <p:nvPr>
            <p:ph type="subTitle" idx="1"/>
          </p:nvPr>
        </p:nvSpPr>
        <p:spPr/>
        <p:txBody>
          <a:bodyPr/>
          <a:lstStyle/>
          <a:p>
            <a:endParaRPr lang="sv-SE"/>
          </a:p>
        </p:txBody>
      </p:sp>
    </p:spTree>
    <p:extLst>
      <p:ext uri="{BB962C8B-B14F-4D97-AF65-F5344CB8AC3E}">
        <p14:creationId xmlns:p14="http://schemas.microsoft.com/office/powerpoint/2010/main" val="3970744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a:latin typeface="Times New Roman" panose="02020603050405020304" pitchFamily="18" charset="0"/>
                <a:cs typeface="Times New Roman" panose="02020603050405020304" pitchFamily="18" charset="0"/>
              </a:rPr>
              <a:t>Papers Published in 2026</a:t>
            </a:r>
            <a:endParaRPr lang="sv-SE" dirty="0">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idx="1"/>
          </p:nvPr>
        </p:nvSpPr>
        <p:spPr>
          <a:xfrm>
            <a:off x="594098" y="1842462"/>
            <a:ext cx="10990263" cy="4453808"/>
          </a:xfrm>
        </p:spPr>
        <p:txBody>
          <a:bodyPr/>
          <a:lstStyle/>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ECCE-Asia (IPEC-2026) Paper Digest</a:t>
            </a:r>
          </a:p>
          <a:p>
            <a:pPr marL="0" indent="0">
              <a:buNone/>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ECCE-Asia (IPEC-2026) Paper Digest</a:t>
            </a:r>
          </a:p>
          <a:p>
            <a:pPr marL="0" indent="0">
              <a:buNone/>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ECCE-Asia (IPEC-2026) Paper Digest</a:t>
            </a:r>
          </a:p>
          <a:p>
            <a:pPr marL="0" indent="0">
              <a:buNone/>
            </a:pPr>
            <a:endParaRPr lang="en-US" sz="2400" dirty="0">
              <a:solidFill>
                <a:srgbClr val="C0C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7301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Overview of Three-Phase Two-Level VSIs</a:t>
            </a:r>
            <a:endParaRPr lang="sv-SE" dirty="0"/>
          </a:p>
        </p:txBody>
      </p:sp>
      <p:sp>
        <p:nvSpPr>
          <p:cNvPr id="3" name="Content Placeholder 2"/>
          <p:cNvSpPr>
            <a:spLocks noGrp="1"/>
          </p:cNvSpPr>
          <p:nvPr>
            <p:ph idx="1"/>
          </p:nvPr>
        </p:nvSpPr>
        <p:spPr>
          <a:xfrm>
            <a:off x="618611" y="1037966"/>
            <a:ext cx="10990263" cy="4744995"/>
          </a:xfrm>
        </p:spPr>
        <p:txBody>
          <a:bodyPr/>
          <a:lstStyle/>
          <a:p>
            <a:pPr marL="0" indent="0">
              <a:buNone/>
            </a:pPr>
            <a:r>
              <a:rPr lang="en-US" dirty="0"/>
              <a:t>Still </a:t>
            </a:r>
            <a:r>
              <a:rPr lang="en-US" b="1" dirty="0"/>
              <a:t>dominant</a:t>
            </a:r>
            <a:r>
              <a:rPr lang="en-US" dirty="0"/>
              <a:t> in industrial motor drives, traction systems, and renewable energy applications owing to:   </a:t>
            </a:r>
          </a:p>
          <a:p>
            <a:pPr lvl="1"/>
            <a:r>
              <a:rPr lang="en-US" sz="2000" dirty="0"/>
              <a:t>Structural simplicity   </a:t>
            </a:r>
          </a:p>
          <a:p>
            <a:pPr lvl="1"/>
            <a:r>
              <a:rPr lang="en-US" sz="2000" dirty="0"/>
              <a:t>Minimal component requirements </a:t>
            </a:r>
          </a:p>
          <a:p>
            <a:pPr lvl="1"/>
            <a:r>
              <a:rPr lang="en-US" sz="2000" dirty="0"/>
              <a:t>Simple to control</a:t>
            </a:r>
          </a:p>
          <a:p>
            <a:pPr lvl="1"/>
            <a:r>
              <a:rPr lang="en-US" sz="2000" dirty="0"/>
              <a:t>Minimal cost</a:t>
            </a:r>
          </a:p>
          <a:p>
            <a:pPr marL="0" indent="0">
              <a:buNone/>
            </a:pPr>
            <a:r>
              <a:rPr lang="en-US" b="1" dirty="0"/>
              <a:t>Reliability</a:t>
            </a:r>
            <a:r>
              <a:rPr lang="en-US" dirty="0"/>
              <a:t> remains a critical concern for sustainable power conversion systems. </a:t>
            </a:r>
          </a:p>
          <a:p>
            <a:pPr marL="0" indent="0">
              <a:buNone/>
            </a:pPr>
            <a:r>
              <a:rPr lang="en-US" dirty="0"/>
              <a:t>Extending the </a:t>
            </a:r>
            <a:r>
              <a:rPr lang="en-US" b="1" dirty="0"/>
              <a:t>lifespan</a:t>
            </a:r>
            <a:r>
              <a:rPr lang="en-US" dirty="0"/>
              <a:t> of the system is crucial at this point. </a:t>
            </a:r>
            <a:endParaRPr lang="sv-SE"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5315" y="4051503"/>
            <a:ext cx="3894663" cy="2442315"/>
          </a:xfrm>
          <a:prstGeom prst="rect">
            <a:avLst/>
          </a:prstGeom>
        </p:spPr>
      </p:pic>
    </p:spTree>
    <p:extLst>
      <p:ext uri="{BB962C8B-B14F-4D97-AF65-F5344CB8AC3E}">
        <p14:creationId xmlns:p14="http://schemas.microsoft.com/office/powerpoint/2010/main" val="2461530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DC-Link Capacitor: Reliability Bottleneck</a:t>
            </a:r>
            <a:endParaRPr lang="sv-SE" dirty="0"/>
          </a:p>
        </p:txBody>
      </p:sp>
      <p:sp>
        <p:nvSpPr>
          <p:cNvPr id="3" name="Content Placeholder 2"/>
          <p:cNvSpPr>
            <a:spLocks noGrp="1"/>
          </p:cNvSpPr>
          <p:nvPr>
            <p:ph idx="1"/>
          </p:nvPr>
        </p:nvSpPr>
        <p:spPr>
          <a:xfrm>
            <a:off x="600075" y="1044145"/>
            <a:ext cx="7036401" cy="2940909"/>
          </a:xfrm>
        </p:spPr>
        <p:txBody>
          <a:bodyPr/>
          <a:lstStyle/>
          <a:p>
            <a:pPr marL="0" indent="0">
              <a:buNone/>
            </a:pPr>
            <a:r>
              <a:rPr lang="en-US" dirty="0"/>
              <a:t>Functions:    </a:t>
            </a:r>
          </a:p>
          <a:p>
            <a:pPr lvl="1"/>
            <a:r>
              <a:rPr lang="en-US" sz="2000" dirty="0"/>
              <a:t>Stabilizes DC bus voltage    </a:t>
            </a:r>
          </a:p>
          <a:p>
            <a:pPr lvl="1"/>
            <a:r>
              <a:rPr lang="en-US" sz="2000" dirty="0"/>
              <a:t>Suppresses switching-induced fluctuations and parasitic oscillations</a:t>
            </a:r>
          </a:p>
          <a:p>
            <a:pPr marL="0" indent="0">
              <a:buNone/>
            </a:pPr>
            <a:r>
              <a:rPr lang="en-US" dirty="0"/>
              <a:t>Accounts for </a:t>
            </a:r>
            <a:r>
              <a:rPr lang="en-US" b="1" dirty="0"/>
              <a:t>~20% </a:t>
            </a:r>
            <a:r>
              <a:rPr lang="en-US" dirty="0"/>
              <a:t>of all VSI</a:t>
            </a:r>
            <a:r>
              <a:rPr lang="en-US" b="1" dirty="0"/>
              <a:t> failures</a:t>
            </a:r>
            <a:r>
              <a:rPr lang="en-US" dirty="0"/>
              <a:t>.  </a:t>
            </a:r>
          </a:p>
          <a:p>
            <a:pPr marL="0" indent="0">
              <a:buNone/>
            </a:pPr>
            <a:r>
              <a:rPr lang="en-US" dirty="0"/>
              <a:t>Degradation impacts system </a:t>
            </a:r>
            <a:r>
              <a:rPr lang="en-US" b="1" dirty="0"/>
              <a:t>longevity</a:t>
            </a:r>
            <a:r>
              <a:rPr lang="en-US" dirty="0"/>
              <a:t>.</a:t>
            </a:r>
          </a:p>
          <a:p>
            <a:pPr marL="0" indent="0">
              <a:buNone/>
            </a:pPr>
            <a:r>
              <a:rPr lang="en-US" dirty="0"/>
              <a:t>DC-link current harmonics influence </a:t>
            </a:r>
            <a:r>
              <a:rPr lang="en-US" b="1" dirty="0"/>
              <a:t>thermal stress</a:t>
            </a:r>
            <a:r>
              <a:rPr lang="en-US" dirty="0"/>
              <a:t>, affecting capacitor lifespan. </a:t>
            </a:r>
            <a:endParaRPr lang="sv-SE" dirty="0"/>
          </a:p>
        </p:txBody>
      </p:sp>
      <p:pic>
        <p:nvPicPr>
          <p:cNvPr id="4" name="Picture 3"/>
          <p:cNvPicPr>
            <a:picLocks noChangeAspect="1"/>
          </p:cNvPicPr>
          <p:nvPr/>
        </p:nvPicPr>
        <p:blipFill rotWithShape="1">
          <a:blip r:embed="rId2"/>
          <a:srcRect t="11493"/>
          <a:stretch/>
        </p:blipFill>
        <p:spPr>
          <a:xfrm>
            <a:off x="1017616" y="4085967"/>
            <a:ext cx="3372387" cy="690176"/>
          </a:xfrm>
          <a:prstGeom prst="rect">
            <a:avLst/>
          </a:prstGeom>
        </p:spPr>
      </p:pic>
      <p:pic>
        <p:nvPicPr>
          <p:cNvPr id="5" name="Picture 4"/>
          <p:cNvPicPr>
            <a:picLocks noChangeAspect="1"/>
          </p:cNvPicPr>
          <p:nvPr/>
        </p:nvPicPr>
        <p:blipFill>
          <a:blip r:embed="rId3"/>
          <a:stretch>
            <a:fillRect/>
          </a:stretch>
        </p:blipFill>
        <p:spPr>
          <a:xfrm>
            <a:off x="400247" y="4830107"/>
            <a:ext cx="4318301" cy="571444"/>
          </a:xfrm>
          <a:prstGeom prst="rect">
            <a:avLst/>
          </a:prstGeom>
        </p:spPr>
      </p:pic>
      <p:pic>
        <p:nvPicPr>
          <p:cNvPr id="6" name="Picture 5"/>
          <p:cNvPicPr>
            <a:picLocks noChangeAspect="1"/>
          </p:cNvPicPr>
          <p:nvPr/>
        </p:nvPicPr>
        <p:blipFill>
          <a:blip r:embed="rId4"/>
          <a:stretch>
            <a:fillRect/>
          </a:stretch>
        </p:blipFill>
        <p:spPr>
          <a:xfrm>
            <a:off x="763294" y="5621196"/>
            <a:ext cx="3626709" cy="745623"/>
          </a:xfrm>
          <a:prstGeom prst="rect">
            <a:avLst/>
          </a:prstGeom>
        </p:spPr>
      </p:pic>
      <p:sp>
        <p:nvSpPr>
          <p:cNvPr id="7" name="Rectangle 6"/>
          <p:cNvSpPr/>
          <p:nvPr/>
        </p:nvSpPr>
        <p:spPr>
          <a:xfrm>
            <a:off x="5301435" y="4034647"/>
            <a:ext cx="6180323" cy="2585323"/>
          </a:xfrm>
          <a:prstGeom prst="rect">
            <a:avLst/>
          </a:prstGeom>
        </p:spPr>
        <p:txBody>
          <a:bodyPr wrap="square">
            <a:spAutoFit/>
          </a:bodyPr>
          <a:lstStyle/>
          <a:p>
            <a:pPr marL="285750" indent="-285750">
              <a:buFont typeface="Arial" panose="020B0604020202020204" pitchFamily="34" charset="0"/>
              <a:buChar char="•"/>
            </a:pPr>
            <a:r>
              <a:rPr lang="en-US" dirty="0"/>
              <a:t>Capacitor lifetime improves with lower </a:t>
            </a:r>
            <a:r>
              <a:rPr lang="en-US" b="1" dirty="0"/>
              <a:t>hot-spot temperatures.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Hot-spot temperature depends on power losses, which decrease when the </a:t>
            </a:r>
            <a:r>
              <a:rPr lang="en-US" b="1" dirty="0"/>
              <a:t>RMS value </a:t>
            </a:r>
            <a:r>
              <a:rPr lang="en-US" dirty="0"/>
              <a:t>of the </a:t>
            </a:r>
            <a:r>
              <a:rPr lang="en-US" b="1" dirty="0"/>
              <a:t>capacitor current </a:t>
            </a:r>
            <a:r>
              <a:rPr lang="en-US" dirty="0"/>
              <a:t>is reduced.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Therefore, </a:t>
            </a:r>
            <a:r>
              <a:rPr lang="en-US" b="1" dirty="0"/>
              <a:t>minimizing</a:t>
            </a:r>
            <a:r>
              <a:rPr lang="en-US" dirty="0"/>
              <a:t> the capacitor's </a:t>
            </a:r>
            <a:r>
              <a:rPr lang="en-US" b="1" dirty="0"/>
              <a:t>ripple</a:t>
            </a:r>
            <a:r>
              <a:rPr lang="en-US" dirty="0"/>
              <a:t> current helps </a:t>
            </a:r>
            <a:r>
              <a:rPr lang="en-US" b="1" dirty="0"/>
              <a:t>extend</a:t>
            </a:r>
            <a:r>
              <a:rPr lang="en-US" dirty="0"/>
              <a:t> its </a:t>
            </a:r>
            <a:r>
              <a:rPr lang="en-US" b="1" dirty="0"/>
              <a:t>lifespan</a:t>
            </a:r>
            <a:r>
              <a:rPr lang="en-US" dirty="0"/>
              <a:t>.</a:t>
            </a:r>
          </a:p>
        </p:txBody>
      </p:sp>
      <p:pic>
        <p:nvPicPr>
          <p:cNvPr id="10" name="Picture 9"/>
          <p:cNvPicPr>
            <a:picLocks noChangeAspect="1"/>
          </p:cNvPicPr>
          <p:nvPr/>
        </p:nvPicPr>
        <p:blipFill>
          <a:blip r:embed="rId5"/>
          <a:stretch>
            <a:fillRect/>
          </a:stretch>
        </p:blipFill>
        <p:spPr>
          <a:xfrm>
            <a:off x="7027120" y="1410479"/>
            <a:ext cx="4254599" cy="1916448"/>
          </a:xfrm>
          <a:prstGeom prst="rect">
            <a:avLst/>
          </a:prstGeom>
        </p:spPr>
      </p:pic>
    </p:spTree>
    <p:extLst>
      <p:ext uri="{BB962C8B-B14F-4D97-AF65-F5344CB8AC3E}">
        <p14:creationId xmlns:p14="http://schemas.microsoft.com/office/powerpoint/2010/main" val="30220696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Reducing Current Ripple &amp; Stress</a:t>
            </a:r>
            <a:endParaRPr lang="sv-SE" dirty="0"/>
          </a:p>
        </p:txBody>
      </p:sp>
      <p:sp>
        <p:nvSpPr>
          <p:cNvPr id="3" name="Content Placeholder 2"/>
          <p:cNvSpPr>
            <a:spLocks noGrp="1"/>
          </p:cNvSpPr>
          <p:nvPr>
            <p:ph idx="1"/>
          </p:nvPr>
        </p:nvSpPr>
        <p:spPr>
          <a:xfrm>
            <a:off x="600076" y="1044146"/>
            <a:ext cx="10879352" cy="3274540"/>
          </a:xfrm>
        </p:spPr>
        <p:txBody>
          <a:bodyPr/>
          <a:lstStyle/>
          <a:p>
            <a:pPr marL="0" indent="0">
              <a:buNone/>
            </a:pPr>
            <a:r>
              <a:rPr lang="en-US" dirty="0"/>
              <a:t>Advanced modulation techniques aim to:   </a:t>
            </a:r>
          </a:p>
          <a:p>
            <a:pPr lvl="1"/>
            <a:r>
              <a:rPr lang="en-US" sz="2000" dirty="0"/>
              <a:t>Minimize inverter-induced current ripple  </a:t>
            </a:r>
          </a:p>
          <a:p>
            <a:pPr lvl="1"/>
            <a:r>
              <a:rPr lang="en-US" sz="2000" dirty="0"/>
              <a:t>Reduce DC-link current stress   </a:t>
            </a:r>
          </a:p>
          <a:p>
            <a:pPr lvl="1"/>
            <a:r>
              <a:rPr lang="en-US" sz="2000" dirty="0"/>
              <a:t>Maintain system performance &amp; durability  </a:t>
            </a:r>
          </a:p>
          <a:p>
            <a:pPr marL="0" indent="0">
              <a:buNone/>
            </a:pPr>
            <a:r>
              <a:rPr lang="en-US" b="1" dirty="0"/>
              <a:t>Interleaving</a:t>
            </a:r>
            <a:r>
              <a:rPr lang="en-US" dirty="0"/>
              <a:t> techniques modify carrier phase-shift relationships to reduce stress.</a:t>
            </a:r>
          </a:p>
          <a:p>
            <a:pPr marL="0" indent="0">
              <a:buNone/>
            </a:pPr>
            <a:r>
              <a:rPr lang="en-US" dirty="0"/>
              <a:t>Primarily applied in </a:t>
            </a:r>
            <a:r>
              <a:rPr lang="en-US" b="1" dirty="0"/>
              <a:t>multi-converter systems</a:t>
            </a:r>
            <a:r>
              <a:rPr lang="en-US" dirty="0"/>
              <a:t>, such as: </a:t>
            </a:r>
          </a:p>
          <a:p>
            <a:pPr lvl="1"/>
            <a:r>
              <a:rPr lang="en-US" sz="2000" dirty="0"/>
              <a:t>Dual-inverter architectures (e.g. Segmented motor drives)   </a:t>
            </a:r>
          </a:p>
          <a:p>
            <a:pPr lvl="1"/>
            <a:r>
              <a:rPr lang="en-US" sz="2000" dirty="0"/>
              <a:t>Systems with integrated front-end converters  for DC-link regulation  </a:t>
            </a:r>
          </a:p>
          <a:p>
            <a:pPr marL="0" indent="0">
              <a:buNone/>
            </a:pPr>
            <a:r>
              <a:rPr lang="en-US" dirty="0"/>
              <a:t> </a:t>
            </a:r>
            <a:endParaRPr lang="sv-SE" dirty="0"/>
          </a:p>
        </p:txBody>
      </p:sp>
      <p:pic>
        <p:nvPicPr>
          <p:cNvPr id="4" name="Picture 3">
            <a:extLst>
              <a:ext uri="{FF2B5EF4-FFF2-40B4-BE49-F238E27FC236}">
                <a16:creationId xmlns:a16="http://schemas.microsoft.com/office/drawing/2014/main" id="{3DFFF436-23DF-49E5-9C44-CB917E970CFB}"/>
              </a:ext>
            </a:extLst>
          </p:cNvPr>
          <p:cNvPicPr>
            <a:picLocks noChangeAspect="1"/>
          </p:cNvPicPr>
          <p:nvPr/>
        </p:nvPicPr>
        <p:blipFill>
          <a:blip r:embed="rId2"/>
          <a:stretch>
            <a:fillRect/>
          </a:stretch>
        </p:blipFill>
        <p:spPr>
          <a:xfrm>
            <a:off x="1695451" y="4230390"/>
            <a:ext cx="3720304" cy="2215889"/>
          </a:xfrm>
          <a:prstGeom prst="rect">
            <a:avLst/>
          </a:prstGeom>
        </p:spPr>
      </p:pic>
      <p:pic>
        <p:nvPicPr>
          <p:cNvPr id="5" name="Picture 4"/>
          <p:cNvPicPr>
            <a:picLocks noChangeAspect="1"/>
          </p:cNvPicPr>
          <p:nvPr/>
        </p:nvPicPr>
        <p:blipFill>
          <a:blip r:embed="rId3"/>
          <a:stretch>
            <a:fillRect/>
          </a:stretch>
        </p:blipFill>
        <p:spPr>
          <a:xfrm>
            <a:off x="6164134" y="4230390"/>
            <a:ext cx="3052078" cy="2337504"/>
          </a:xfrm>
          <a:prstGeom prst="rect">
            <a:avLst/>
          </a:prstGeom>
        </p:spPr>
      </p:pic>
    </p:spTree>
    <p:extLst>
      <p:ext uri="{BB962C8B-B14F-4D97-AF65-F5344CB8AC3E}">
        <p14:creationId xmlns:p14="http://schemas.microsoft.com/office/powerpoint/2010/main" val="35951659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Interleaving for Single 2L-VSI</a:t>
            </a:r>
            <a:endParaRPr lang="sv-SE" dirty="0"/>
          </a:p>
        </p:txBody>
      </p:sp>
      <p:sp>
        <p:nvSpPr>
          <p:cNvPr id="3" name="Content Placeholder 2"/>
          <p:cNvSpPr>
            <a:spLocks noGrp="1"/>
          </p:cNvSpPr>
          <p:nvPr>
            <p:ph idx="1"/>
          </p:nvPr>
        </p:nvSpPr>
        <p:spPr>
          <a:xfrm>
            <a:off x="417195" y="1035642"/>
            <a:ext cx="10990263" cy="1124466"/>
          </a:xfrm>
        </p:spPr>
        <p:txBody>
          <a:bodyPr/>
          <a:lstStyle/>
          <a:p>
            <a:pPr marL="0" indent="0">
              <a:buNone/>
            </a:pPr>
            <a:r>
              <a:rPr lang="en-US" sz="1800" dirty="0"/>
              <a:t>Existing Interleaving Approaches &amp; Limitations</a:t>
            </a:r>
          </a:p>
          <a:p>
            <a:pPr lvl="1"/>
            <a:r>
              <a:rPr lang="en-US" dirty="0"/>
              <a:t>Require additional switches (pre-converters, parallel inverters)    </a:t>
            </a:r>
          </a:p>
          <a:p>
            <a:pPr lvl="1"/>
            <a:r>
              <a:rPr lang="en-US" dirty="0"/>
              <a:t>Not applicable for several applications that aim to achieve a cost-effective solution. </a:t>
            </a:r>
            <a:endParaRPr lang="sv-SE" dirty="0"/>
          </a:p>
          <a:p>
            <a:pPr marL="457200" lvl="1" indent="0">
              <a:buNone/>
            </a:pPr>
            <a:endParaRPr lang="sv-SE" sz="2400" dirty="0"/>
          </a:p>
        </p:txBody>
      </p:sp>
      <p:sp>
        <p:nvSpPr>
          <p:cNvPr id="4" name="Rectangle 3"/>
          <p:cNvSpPr/>
          <p:nvPr/>
        </p:nvSpPr>
        <p:spPr>
          <a:xfrm>
            <a:off x="441253" y="3095971"/>
            <a:ext cx="5013277" cy="2339102"/>
          </a:xfrm>
          <a:prstGeom prst="rect">
            <a:avLst/>
          </a:prstGeom>
        </p:spPr>
        <p:txBody>
          <a:bodyPr wrap="square">
            <a:spAutoFit/>
          </a:bodyPr>
          <a:lstStyle/>
          <a:p>
            <a:r>
              <a:rPr lang="en-US" dirty="0"/>
              <a:t>We propose a novel interleaving between the phase legs of a single two-level VSI. </a:t>
            </a:r>
          </a:p>
          <a:p>
            <a:r>
              <a:rPr lang="en-US" dirty="0"/>
              <a:t>Challenges:   </a:t>
            </a:r>
          </a:p>
          <a:p>
            <a:pPr marL="800100" lvl="1" indent="-342900">
              <a:buFont typeface="Arial" panose="020B0604020202020204" pitchFamily="34" charset="0"/>
              <a:buChar char="•"/>
            </a:pPr>
            <a:r>
              <a:rPr lang="en-US" b="1" dirty="0"/>
              <a:t>Time-varying</a:t>
            </a:r>
            <a:r>
              <a:rPr lang="en-US" dirty="0"/>
              <a:t> leg currents complicate implementation.</a:t>
            </a:r>
          </a:p>
          <a:p>
            <a:pPr marL="800100" lvl="1" indent="-342900">
              <a:buFont typeface="Arial" panose="020B0604020202020204" pitchFamily="34" charset="0"/>
              <a:buChar char="•"/>
            </a:pPr>
            <a:r>
              <a:rPr lang="en-US" dirty="0"/>
              <a:t>Unlike parallel systems, it requires </a:t>
            </a:r>
            <a:r>
              <a:rPr lang="en-US" b="1" dirty="0"/>
              <a:t>dynamic</a:t>
            </a:r>
            <a:r>
              <a:rPr lang="en-US" dirty="0"/>
              <a:t> phase adjustment.  </a:t>
            </a:r>
          </a:p>
          <a:p>
            <a:pPr>
              <a:buFontTx/>
              <a:buChar char="-"/>
            </a:pPr>
            <a:endParaRPr lang="en-US" sz="2000" dirty="0"/>
          </a:p>
        </p:txBody>
      </p:sp>
      <p:pic>
        <p:nvPicPr>
          <p:cNvPr id="11" name="Picture 10"/>
          <p:cNvPicPr>
            <a:picLocks noChangeAspect="1"/>
          </p:cNvPicPr>
          <p:nvPr/>
        </p:nvPicPr>
        <p:blipFill>
          <a:blip r:embed="rId2"/>
          <a:stretch>
            <a:fillRect/>
          </a:stretch>
        </p:blipFill>
        <p:spPr>
          <a:xfrm>
            <a:off x="6604026" y="2854018"/>
            <a:ext cx="4591195" cy="2194361"/>
          </a:xfrm>
          <a:prstGeom prst="rect">
            <a:avLst/>
          </a:prstGeom>
        </p:spPr>
      </p:pic>
    </p:spTree>
    <p:extLst>
      <p:ext uri="{BB962C8B-B14F-4D97-AF65-F5344CB8AC3E}">
        <p14:creationId xmlns:p14="http://schemas.microsoft.com/office/powerpoint/2010/main" val="2555852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Dynamic Variable Carrier Phase-Shift Modulation</a:t>
            </a:r>
          </a:p>
        </p:txBody>
      </p:sp>
      <p:sp>
        <p:nvSpPr>
          <p:cNvPr id="15" name="Rectangle 14"/>
          <p:cNvSpPr/>
          <p:nvPr/>
        </p:nvSpPr>
        <p:spPr>
          <a:xfrm>
            <a:off x="419100" y="953867"/>
            <a:ext cx="8983980" cy="707886"/>
          </a:xfrm>
          <a:prstGeom prst="rect">
            <a:avLst/>
          </a:prstGeom>
        </p:spPr>
        <p:txBody>
          <a:bodyPr wrap="square">
            <a:spAutoFit/>
          </a:bodyPr>
          <a:lstStyle/>
          <a:p>
            <a:pPr marL="800100" lvl="1" indent="-342900">
              <a:buFont typeface="Arial" panose="020B0604020202020204" pitchFamily="34" charset="0"/>
              <a:buChar char="•"/>
            </a:pPr>
            <a:r>
              <a:rPr lang="en-US" sz="2000" b="1" dirty="0"/>
              <a:t>Adaptively</a:t>
            </a:r>
            <a:r>
              <a:rPr lang="en-US" sz="2000" dirty="0"/>
              <a:t> adjusts carrier phase shifts in real-time.    </a:t>
            </a:r>
          </a:p>
          <a:p>
            <a:pPr marL="800100" lvl="1" indent="-342900">
              <a:buFont typeface="Arial" panose="020B0604020202020204" pitchFamily="34" charset="0"/>
              <a:buChar char="•"/>
            </a:pPr>
            <a:r>
              <a:rPr lang="en-US" sz="2000" dirty="0"/>
              <a:t>Optimizes current stress reduction while maintaining performance</a:t>
            </a:r>
            <a:endParaRPr lang="sv-SE" sz="2000" dirty="0"/>
          </a:p>
        </p:txBody>
      </p:sp>
      <mc:AlternateContent xmlns:mc="http://schemas.openxmlformats.org/markup-compatibility/2006" xmlns:a14="http://schemas.microsoft.com/office/drawing/2010/main">
        <mc:Choice Requires="a14">
          <p:sp>
            <p:nvSpPr>
              <p:cNvPr id="32" name="TextBox 31"/>
              <p:cNvSpPr txBox="1"/>
              <p:nvPr/>
            </p:nvSpPr>
            <p:spPr>
              <a:xfrm>
                <a:off x="2802887" y="5135641"/>
                <a:ext cx="624840" cy="369332"/>
              </a:xfrm>
              <a:prstGeom prst="rect">
                <a:avLst/>
              </a:prstGeom>
              <a:noFill/>
            </p:spPr>
            <p:txBody>
              <a:bodyPr wrap="square" rtlCol="0">
                <a:spAutoFit/>
              </a:bodyPr>
              <a:lstStyle/>
              <a:p>
                <a14:m>
                  <m:oMath xmlns:m="http://schemas.openxmlformats.org/officeDocument/2006/math">
                    <m:r>
                      <a:rPr lang="en-US" i="1" dirty="0" smtClean="0">
                        <a:latin typeface="Cambria Math" panose="02040503050406030204" pitchFamily="18" charset="0"/>
                      </a:rPr>
                      <m:t>𝑂</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en-US" i="1" dirty="0" smtClean="0">
                            <a:latin typeface="Cambria Math" panose="02040503050406030204" pitchFamily="18" charset="0"/>
                          </a:rPr>
                          <m:t>1</m:t>
                        </m:r>
                      </m:sub>
                    </m:sSub>
                  </m:oMath>
                </a14:m>
                <a:r>
                  <a:rPr lang="sv-SE" dirty="0"/>
                  <a:t> </a:t>
                </a:r>
              </a:p>
            </p:txBody>
          </p:sp>
        </mc:Choice>
        <mc:Fallback xmlns="">
          <p:sp>
            <p:nvSpPr>
              <p:cNvPr id="32" name="TextBox 31"/>
              <p:cNvSpPr txBox="1">
                <a:spLocks noRot="1" noChangeAspect="1" noMove="1" noResize="1" noEditPoints="1" noAdjustHandles="1" noChangeArrowheads="1" noChangeShapeType="1" noTextEdit="1"/>
              </p:cNvSpPr>
              <p:nvPr/>
            </p:nvSpPr>
            <p:spPr>
              <a:xfrm>
                <a:off x="2802887" y="5135641"/>
                <a:ext cx="624840" cy="369332"/>
              </a:xfrm>
              <a:prstGeom prst="rect">
                <a:avLst/>
              </a:prstGeom>
              <a:blipFill>
                <a:blip r:embed="rId2"/>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3816376" y="5130045"/>
                <a:ext cx="693420" cy="369332"/>
              </a:xfrm>
              <a:prstGeom prst="rect">
                <a:avLst/>
              </a:prstGeom>
              <a:noFill/>
            </p:spPr>
            <p:txBody>
              <a:bodyPr wrap="square" rtlCol="0">
                <a:spAutoFit/>
              </a:bodyPr>
              <a:lstStyle/>
              <a:p>
                <a14:m>
                  <m:oMath xmlns:m="http://schemas.openxmlformats.org/officeDocument/2006/math">
                    <m:r>
                      <a:rPr lang="en-US" i="1" dirty="0" smtClean="0">
                        <a:latin typeface="Cambria Math" panose="02040503050406030204" pitchFamily="18" charset="0"/>
                      </a:rPr>
                      <m:t>𝑂</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𝐶</m:t>
                        </m:r>
                      </m:e>
                      <m:sub>
                        <m:r>
                          <a:rPr lang="sv-SE" b="0" i="1" dirty="0" smtClean="0">
                            <a:latin typeface="Cambria Math" panose="02040503050406030204" pitchFamily="18" charset="0"/>
                          </a:rPr>
                          <m:t>𝑁𝑠𝑤</m:t>
                        </m:r>
                      </m:sub>
                    </m:sSub>
                  </m:oMath>
                </a14:m>
                <a:r>
                  <a:rPr lang="sv-SE" dirty="0"/>
                  <a:t> </a:t>
                </a:r>
              </a:p>
            </p:txBody>
          </p:sp>
        </mc:Choice>
        <mc:Fallback xmlns="">
          <p:sp>
            <p:nvSpPr>
              <p:cNvPr id="33" name="TextBox 32"/>
              <p:cNvSpPr txBox="1">
                <a:spLocks noRot="1" noChangeAspect="1" noMove="1" noResize="1" noEditPoints="1" noAdjustHandles="1" noChangeArrowheads="1" noChangeShapeType="1" noTextEdit="1"/>
              </p:cNvSpPr>
              <p:nvPr/>
            </p:nvSpPr>
            <p:spPr>
              <a:xfrm>
                <a:off x="3816376" y="5130045"/>
                <a:ext cx="693420" cy="369332"/>
              </a:xfrm>
              <a:prstGeom prst="rect">
                <a:avLst/>
              </a:prstGeom>
              <a:blipFill>
                <a:blip r:embed="rId3"/>
                <a:stretch>
                  <a:fillRect r="-13158" b="-1667"/>
                </a:stretch>
              </a:blipFill>
            </p:spPr>
            <p:txBody>
              <a:bodyPr/>
              <a:lstStyle/>
              <a:p>
                <a:r>
                  <a:rPr lang="sv-SE">
                    <a:noFill/>
                  </a:rPr>
                  <a:t> </a:t>
                </a:r>
              </a:p>
            </p:txBody>
          </p:sp>
        </mc:Fallback>
      </mc:AlternateContent>
      <p:sp>
        <p:nvSpPr>
          <p:cNvPr id="37" name="TextBox 36"/>
          <p:cNvSpPr txBox="1"/>
          <p:nvPr/>
        </p:nvSpPr>
        <p:spPr>
          <a:xfrm>
            <a:off x="419100" y="5148913"/>
            <a:ext cx="2831462" cy="369332"/>
          </a:xfrm>
          <a:prstGeom prst="rect">
            <a:avLst/>
          </a:prstGeom>
          <a:noFill/>
        </p:spPr>
        <p:txBody>
          <a:bodyPr wrap="square" rtlCol="0">
            <a:spAutoFit/>
          </a:bodyPr>
          <a:lstStyle/>
          <a:p>
            <a:r>
              <a:rPr lang="en-US" b="1" dirty="0"/>
              <a:t>Operating condition</a:t>
            </a:r>
            <a:endParaRPr lang="sv-SE" b="1" dirty="0"/>
          </a:p>
        </p:txBody>
      </p:sp>
      <p:sp>
        <p:nvSpPr>
          <p:cNvPr id="38" name="TextBox 37"/>
          <p:cNvSpPr txBox="1"/>
          <p:nvPr/>
        </p:nvSpPr>
        <p:spPr>
          <a:xfrm>
            <a:off x="470961" y="5518245"/>
            <a:ext cx="2331926" cy="369332"/>
          </a:xfrm>
          <a:prstGeom prst="rect">
            <a:avLst/>
          </a:prstGeom>
          <a:noFill/>
        </p:spPr>
        <p:txBody>
          <a:bodyPr wrap="square" rtlCol="0">
            <a:spAutoFit/>
          </a:bodyPr>
          <a:lstStyle/>
          <a:p>
            <a:r>
              <a:rPr lang="en-US" b="1" dirty="0"/>
              <a:t>Fundamental Phase</a:t>
            </a:r>
            <a:endParaRPr lang="sv-SE" b="1" dirty="0"/>
          </a:p>
        </p:txBody>
      </p:sp>
      <mc:AlternateContent xmlns:mc="http://schemas.openxmlformats.org/markup-compatibility/2006" xmlns:a14="http://schemas.microsoft.com/office/drawing/2010/main">
        <mc:Choice Requires="a14">
          <p:sp>
            <p:nvSpPr>
              <p:cNvPr id="39" name="TextBox 38"/>
              <p:cNvSpPr txBox="1"/>
              <p:nvPr/>
            </p:nvSpPr>
            <p:spPr>
              <a:xfrm>
                <a:off x="2842921" y="5523841"/>
                <a:ext cx="624840" cy="369332"/>
              </a:xfrm>
              <a:prstGeom prst="rect">
                <a:avLst/>
              </a:prstGeom>
              <a:noFill/>
            </p:spPr>
            <p:txBody>
              <a:bodyPr wrap="square" rtlCol="0">
                <a:spAutoFit/>
              </a:bodyPr>
              <a:lstStyle/>
              <a:p>
                <a14:m>
                  <m:oMath xmlns:m="http://schemas.openxmlformats.org/officeDocument/2006/math">
                    <m:r>
                      <a:rPr lang="en-US" b="0" i="1" dirty="0" smtClean="0">
                        <a:latin typeface="Cambria Math" panose="02040503050406030204" pitchFamily="18" charset="0"/>
                      </a:rPr>
                      <m:t>0</m:t>
                    </m:r>
                  </m:oMath>
                </a14:m>
                <a:r>
                  <a:rPr lang="sv-SE" dirty="0"/>
                  <a:t> </a:t>
                </a:r>
              </a:p>
            </p:txBody>
          </p:sp>
        </mc:Choice>
        <mc:Fallback xmlns="">
          <p:sp>
            <p:nvSpPr>
              <p:cNvPr id="39" name="TextBox 38"/>
              <p:cNvSpPr txBox="1">
                <a:spLocks noRot="1" noChangeAspect="1" noMove="1" noResize="1" noEditPoints="1" noAdjustHandles="1" noChangeArrowheads="1" noChangeShapeType="1" noTextEdit="1"/>
              </p:cNvSpPr>
              <p:nvPr/>
            </p:nvSpPr>
            <p:spPr>
              <a:xfrm>
                <a:off x="2842921" y="5523841"/>
                <a:ext cx="624840" cy="369332"/>
              </a:xfrm>
              <a:prstGeom prst="rect">
                <a:avLst/>
              </a:prstGeom>
              <a:blipFill>
                <a:blip r:embed="rId4"/>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3856410" y="5518245"/>
                <a:ext cx="693420" cy="369332"/>
              </a:xfrm>
              <a:prstGeom prst="rect">
                <a:avLst/>
              </a:prstGeom>
              <a:noFill/>
            </p:spPr>
            <p:txBody>
              <a:bodyPr wrap="square" rtlCol="0">
                <a:spAutoFit/>
              </a:bodyPr>
              <a:lstStyle/>
              <a:p>
                <a14:m>
                  <m:oMath xmlns:m="http://schemas.openxmlformats.org/officeDocument/2006/math">
                    <m:r>
                      <a:rPr lang="en-US" i="1" dirty="0" smtClean="0">
                        <a:latin typeface="Cambria Math" panose="02040503050406030204" pitchFamily="18" charset="0"/>
                      </a:rPr>
                      <m:t>2</m:t>
                    </m:r>
                    <m:r>
                      <a:rPr lang="en-US" b="0" i="1" dirty="0" smtClean="0">
                        <a:latin typeface="Cambria Math" panose="02040503050406030204" pitchFamily="18" charset="0"/>
                      </a:rPr>
                      <m:t>𝜋</m:t>
                    </m:r>
                  </m:oMath>
                </a14:m>
                <a:r>
                  <a:rPr lang="sv-SE" dirty="0"/>
                  <a:t> </a:t>
                </a:r>
              </a:p>
            </p:txBody>
          </p:sp>
        </mc:Choice>
        <mc:Fallback xmlns="">
          <p:sp>
            <p:nvSpPr>
              <p:cNvPr id="40" name="TextBox 39"/>
              <p:cNvSpPr txBox="1">
                <a:spLocks noRot="1" noChangeAspect="1" noMove="1" noResize="1" noEditPoints="1" noAdjustHandles="1" noChangeArrowheads="1" noChangeShapeType="1" noTextEdit="1"/>
              </p:cNvSpPr>
              <p:nvPr/>
            </p:nvSpPr>
            <p:spPr>
              <a:xfrm>
                <a:off x="3856410" y="5518245"/>
                <a:ext cx="693420" cy="369332"/>
              </a:xfrm>
              <a:prstGeom prst="rect">
                <a:avLst/>
              </a:prstGeom>
              <a:blipFill>
                <a:blip r:embed="rId5"/>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7564455" y="5365522"/>
                <a:ext cx="4434840" cy="557845"/>
              </a:xfrm>
              <a:prstGeom prst="rect">
                <a:avLst/>
              </a:prstGeom>
              <a:noFill/>
            </p:spPr>
            <p:txBody>
              <a:bodyPr wrap="square" rtlCol="0">
                <a:spAutoFit/>
              </a:bodyPr>
              <a:lstStyle/>
              <a:p>
                <a14:m>
                  <m:oMath xmlns:m="http://schemas.openxmlformats.org/officeDocument/2006/math">
                    <m:sSub>
                      <m:sSubPr>
                        <m:ctrlPr>
                          <a:rPr lang="sv-SE" b="0" i="1" smtClean="0">
                            <a:latin typeface="Cambria Math" panose="02040503050406030204" pitchFamily="18" charset="0"/>
                          </a:rPr>
                        </m:ctrlPr>
                      </m:sSubPr>
                      <m:e>
                        <m:r>
                          <a:rPr lang="sv-SE" b="0" i="1" smtClean="0">
                            <a:latin typeface="Cambria Math" panose="02040503050406030204" pitchFamily="18" charset="0"/>
                          </a:rPr>
                          <m:t>𝑁</m:t>
                        </m:r>
                      </m:e>
                      <m:sub>
                        <m:r>
                          <a:rPr lang="sv-SE" b="0" i="1" smtClean="0">
                            <a:latin typeface="Cambria Math" panose="02040503050406030204" pitchFamily="18" charset="0"/>
                          </a:rPr>
                          <m:t>𝑠𝑤</m:t>
                        </m:r>
                      </m:sub>
                    </m:sSub>
                  </m:oMath>
                </a14:m>
                <a:r>
                  <a:rPr lang="en-US" dirty="0"/>
                  <a:t> is the frequency ratio: </a:t>
                </a:r>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𝑠𝑤</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𝑓𝑢𝑛𝑑</m:t>
                            </m:r>
                          </m:sub>
                        </m:sSub>
                      </m:den>
                    </m:f>
                  </m:oMath>
                </a14:m>
                <a:endParaRPr lang="sv-SE" dirty="0"/>
              </a:p>
            </p:txBody>
          </p:sp>
        </mc:Choice>
        <mc:Fallback xmlns="">
          <p:sp>
            <p:nvSpPr>
              <p:cNvPr id="42" name="TextBox 41"/>
              <p:cNvSpPr txBox="1">
                <a:spLocks noRot="1" noChangeAspect="1" noMove="1" noResize="1" noEditPoints="1" noAdjustHandles="1" noChangeArrowheads="1" noChangeShapeType="1" noTextEdit="1"/>
              </p:cNvSpPr>
              <p:nvPr/>
            </p:nvSpPr>
            <p:spPr>
              <a:xfrm>
                <a:off x="7564455" y="5365522"/>
                <a:ext cx="4434840" cy="557845"/>
              </a:xfrm>
              <a:prstGeom prst="rect">
                <a:avLst/>
              </a:prstGeom>
              <a:blipFill>
                <a:blip r:embed="rId6"/>
                <a:stretch>
                  <a:fillRect b="-3261"/>
                </a:stretch>
              </a:blipFill>
            </p:spPr>
            <p:txBody>
              <a:bodyPr/>
              <a:lstStyle/>
              <a:p>
                <a:r>
                  <a:rPr lang="sv-SE">
                    <a:noFill/>
                  </a:rPr>
                  <a:t> </a:t>
                </a:r>
              </a:p>
            </p:txBody>
          </p:sp>
        </mc:Fallback>
      </mc:AlternateContent>
      <p:sp>
        <p:nvSpPr>
          <p:cNvPr id="51" name="TextBox 50"/>
          <p:cNvSpPr txBox="1"/>
          <p:nvPr/>
        </p:nvSpPr>
        <p:spPr>
          <a:xfrm>
            <a:off x="430927" y="5960058"/>
            <a:ext cx="2331926" cy="369332"/>
          </a:xfrm>
          <a:prstGeom prst="rect">
            <a:avLst/>
          </a:prstGeom>
          <a:noFill/>
        </p:spPr>
        <p:txBody>
          <a:bodyPr wrap="square" rtlCol="0">
            <a:spAutoFit/>
          </a:bodyPr>
          <a:lstStyle/>
          <a:p>
            <a:r>
              <a:rPr lang="en-US" b="1" dirty="0"/>
              <a:t>Carrier phase shift</a:t>
            </a:r>
            <a:endParaRPr lang="sv-SE" b="1" dirty="0"/>
          </a:p>
        </p:txBody>
      </p:sp>
      <mc:AlternateContent xmlns:mc="http://schemas.openxmlformats.org/markup-compatibility/2006" xmlns:a14="http://schemas.microsoft.com/office/drawing/2010/main">
        <mc:Choice Requires="a14">
          <p:sp>
            <p:nvSpPr>
              <p:cNvPr id="52" name="TextBox 51"/>
              <p:cNvSpPr txBox="1"/>
              <p:nvPr/>
            </p:nvSpPr>
            <p:spPr>
              <a:xfrm>
                <a:off x="2802887" y="5965654"/>
                <a:ext cx="624840"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𝑂𝐶</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b="0" i="1" smtClean="0">
                            <a:latin typeface="Cambria Math" panose="02040503050406030204" pitchFamily="18" charset="0"/>
                          </a:rPr>
                          <m:t>𝐶</m:t>
                        </m:r>
                        <m:r>
                          <a:rPr lang="en-US" i="1">
                            <a:latin typeface="Cambria Math" panose="02040503050406030204" pitchFamily="18" charset="0"/>
                          </a:rPr>
                          <m:t>−</m:t>
                        </m:r>
                        <m:r>
                          <a:rPr lang="en-US" i="1">
                            <a:latin typeface="Cambria Math" panose="02040503050406030204" pitchFamily="18" charset="0"/>
                          </a:rPr>
                          <m:t>𝑂𝐶</m:t>
                        </m:r>
                        <m:r>
                          <a:rPr lang="en-US" i="1">
                            <a:latin typeface="Cambria Math" panose="02040503050406030204" pitchFamily="18" charset="0"/>
                          </a:rPr>
                          <m:t>1</m:t>
                        </m:r>
                      </m:sub>
                    </m:sSub>
                    <m:r>
                      <a:rPr lang="en-US" i="1">
                        <a:latin typeface="Cambria Math" panose="02040503050406030204" pitchFamily="18" charset="0"/>
                      </a:rPr>
                      <m:t>,</m:t>
                    </m:r>
                    <m:r>
                      <a:rPr lang="en-US" b="0" i="1" smtClean="0">
                        <a:latin typeface="Cambria Math" panose="02040503050406030204" pitchFamily="18" charset="0"/>
                      </a:rPr>
                      <m:t>]</m:t>
                    </m:r>
                  </m:oMath>
                </a14:m>
                <a:r>
                  <a:rPr lang="sv-SE" dirty="0"/>
                  <a:t> </a:t>
                </a:r>
              </a:p>
            </p:txBody>
          </p:sp>
        </mc:Choice>
        <mc:Fallback xmlns="">
          <p:sp>
            <p:nvSpPr>
              <p:cNvPr id="52" name="TextBox 51"/>
              <p:cNvSpPr txBox="1">
                <a:spLocks noRot="1" noChangeAspect="1" noMove="1" noResize="1" noEditPoints="1" noAdjustHandles="1" noChangeArrowheads="1" noChangeShapeType="1" noTextEdit="1"/>
              </p:cNvSpPr>
              <p:nvPr/>
            </p:nvSpPr>
            <p:spPr>
              <a:xfrm>
                <a:off x="2802887" y="5965654"/>
                <a:ext cx="624840" cy="369332"/>
              </a:xfrm>
              <a:prstGeom prst="rect">
                <a:avLst/>
              </a:prstGeom>
              <a:blipFill>
                <a:blip r:embed="rId7"/>
                <a:stretch>
                  <a:fillRect l="-3922" r="-214706" b="-18333"/>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55" name="Rectangle 54"/>
              <p:cNvSpPr/>
              <p:nvPr/>
            </p:nvSpPr>
            <p:spPr>
              <a:xfrm>
                <a:off x="5025057" y="5955715"/>
                <a:ext cx="2297680" cy="424155"/>
              </a:xfrm>
              <a:prstGeom prst="rect">
                <a:avLst/>
              </a:prstGeom>
            </p:spPr>
            <p:txBody>
              <a:bodyPr wrap="none">
                <a:spAutoFit/>
              </a:bodyPr>
              <a:lstStyle/>
              <a:p>
                <a14:m>
                  <m:oMath xmlns:m="http://schemas.openxmlformats.org/officeDocument/2006/math">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𝐵</m:t>
                        </m:r>
                        <m:r>
                          <a:rPr lang="en-US" i="1">
                            <a:latin typeface="Cambria Math" panose="02040503050406030204" pitchFamily="18" charset="0"/>
                          </a:rPr>
                          <m:t>−</m:t>
                        </m:r>
                        <m:r>
                          <a:rPr lang="en-US" i="1">
                            <a:latin typeface="Cambria Math" panose="02040503050406030204" pitchFamily="18" charset="0"/>
                          </a:rPr>
                          <m:t>𝑂</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𝑚𝑓</m:t>
                            </m:r>
                          </m:sub>
                        </m:sSub>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𝜙</m:t>
                        </m:r>
                      </m:e>
                      <m:sub>
                        <m:r>
                          <a:rPr lang="en-US" i="1">
                            <a:latin typeface="Cambria Math" panose="02040503050406030204" pitchFamily="18" charset="0"/>
                          </a:rPr>
                          <m:t>𝐶</m:t>
                        </m:r>
                        <m:r>
                          <a:rPr lang="en-US" i="1">
                            <a:latin typeface="Cambria Math" panose="02040503050406030204" pitchFamily="18" charset="0"/>
                          </a:rPr>
                          <m:t>−</m:t>
                        </m:r>
                        <m:r>
                          <a:rPr lang="en-US" i="1">
                            <a:latin typeface="Cambria Math" panose="02040503050406030204" pitchFamily="18" charset="0"/>
                          </a:rPr>
                          <m:t>𝑂</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b="0" i="1" smtClean="0">
                                <a:latin typeface="Cambria Math" panose="02040503050406030204" pitchFamily="18" charset="0"/>
                              </a:rPr>
                              <m:t>𝑚𝑓</m:t>
                            </m:r>
                          </m:sub>
                        </m:sSub>
                      </m:sub>
                    </m:sSub>
                    <m:r>
                      <a:rPr lang="en-US" i="1">
                        <a:latin typeface="Cambria Math" panose="02040503050406030204" pitchFamily="18" charset="0"/>
                      </a:rPr>
                      <m:t>,]</m:t>
                    </m:r>
                  </m:oMath>
                </a14:m>
                <a:r>
                  <a:rPr lang="sv-SE" dirty="0"/>
                  <a:t> </a:t>
                </a:r>
              </a:p>
            </p:txBody>
          </p:sp>
        </mc:Choice>
        <mc:Fallback xmlns="">
          <p:sp>
            <p:nvSpPr>
              <p:cNvPr id="55" name="Rectangle 54"/>
              <p:cNvSpPr>
                <a:spLocks noRot="1" noChangeAspect="1" noMove="1" noResize="1" noEditPoints="1" noAdjustHandles="1" noChangeArrowheads="1" noChangeShapeType="1" noTextEdit="1"/>
              </p:cNvSpPr>
              <p:nvPr/>
            </p:nvSpPr>
            <p:spPr>
              <a:xfrm>
                <a:off x="5025057" y="5955715"/>
                <a:ext cx="2297680" cy="424155"/>
              </a:xfrm>
              <a:prstGeom prst="rect">
                <a:avLst/>
              </a:prstGeom>
              <a:blipFill>
                <a:blip r:embed="rId8"/>
                <a:stretch>
                  <a:fillRect l="-796" b="-4286"/>
                </a:stretch>
              </a:blipFill>
            </p:spPr>
            <p:txBody>
              <a:bodyPr/>
              <a:lstStyle/>
              <a:p>
                <a:r>
                  <a:rPr lang="sv-SE">
                    <a:noFill/>
                  </a:rPr>
                  <a:t> </a:t>
                </a:r>
              </a:p>
            </p:txBody>
          </p:sp>
        </mc:Fallback>
      </mc:AlternateContent>
      <p:sp>
        <p:nvSpPr>
          <p:cNvPr id="57" name="TextBox 56"/>
          <p:cNvSpPr txBox="1"/>
          <p:nvPr/>
        </p:nvSpPr>
        <p:spPr>
          <a:xfrm>
            <a:off x="3427727" y="5174837"/>
            <a:ext cx="304829" cy="369332"/>
          </a:xfrm>
          <a:prstGeom prst="rect">
            <a:avLst/>
          </a:prstGeom>
          <a:noFill/>
        </p:spPr>
        <p:txBody>
          <a:bodyPr wrap="square" rtlCol="0">
            <a:spAutoFit/>
          </a:bodyPr>
          <a:lstStyle/>
          <a:p>
            <a:r>
              <a:rPr lang="en-US" dirty="0"/>
              <a:t>…</a:t>
            </a:r>
            <a:endParaRPr lang="sv-SE" dirty="0"/>
          </a:p>
        </p:txBody>
      </p:sp>
      <p:sp>
        <p:nvSpPr>
          <p:cNvPr id="58" name="TextBox 57"/>
          <p:cNvSpPr txBox="1"/>
          <p:nvPr/>
        </p:nvSpPr>
        <p:spPr>
          <a:xfrm>
            <a:off x="3453454" y="5534005"/>
            <a:ext cx="304829" cy="369332"/>
          </a:xfrm>
          <a:prstGeom prst="rect">
            <a:avLst/>
          </a:prstGeom>
          <a:noFill/>
        </p:spPr>
        <p:txBody>
          <a:bodyPr wrap="square" rtlCol="0">
            <a:spAutoFit/>
          </a:bodyPr>
          <a:lstStyle/>
          <a:p>
            <a:r>
              <a:rPr lang="en-US" dirty="0"/>
              <a:t>…</a:t>
            </a:r>
            <a:endParaRPr lang="sv-SE" dirty="0"/>
          </a:p>
        </p:txBody>
      </p:sp>
      <p:sp>
        <p:nvSpPr>
          <p:cNvPr id="59" name="TextBox 58"/>
          <p:cNvSpPr txBox="1"/>
          <p:nvPr/>
        </p:nvSpPr>
        <p:spPr>
          <a:xfrm>
            <a:off x="4720228" y="5983126"/>
            <a:ext cx="304829" cy="369332"/>
          </a:xfrm>
          <a:prstGeom prst="rect">
            <a:avLst/>
          </a:prstGeom>
          <a:noFill/>
        </p:spPr>
        <p:txBody>
          <a:bodyPr wrap="square" rtlCol="0">
            <a:spAutoFit/>
          </a:bodyPr>
          <a:lstStyle/>
          <a:p>
            <a:r>
              <a:rPr lang="en-US" dirty="0"/>
              <a:t>…</a:t>
            </a:r>
            <a:endParaRPr lang="sv-SE" dirty="0"/>
          </a:p>
        </p:txBody>
      </p:sp>
      <p:pic>
        <p:nvPicPr>
          <p:cNvPr id="5" name="Picture 4"/>
          <p:cNvPicPr>
            <a:picLocks noChangeAspect="1"/>
          </p:cNvPicPr>
          <p:nvPr/>
        </p:nvPicPr>
        <p:blipFill rotWithShape="1">
          <a:blip r:embed="rId9"/>
          <a:srcRect t="9540"/>
          <a:stretch/>
        </p:blipFill>
        <p:spPr>
          <a:xfrm>
            <a:off x="7187132" y="2098898"/>
            <a:ext cx="2981551" cy="536238"/>
          </a:xfrm>
          <a:prstGeom prst="rect">
            <a:avLst/>
          </a:prstGeom>
        </p:spPr>
      </p:pic>
      <p:pic>
        <p:nvPicPr>
          <p:cNvPr id="6" name="Picture 5"/>
          <p:cNvPicPr>
            <a:picLocks noChangeAspect="1"/>
          </p:cNvPicPr>
          <p:nvPr/>
        </p:nvPicPr>
        <p:blipFill>
          <a:blip r:embed="rId10"/>
          <a:stretch>
            <a:fillRect/>
          </a:stretch>
        </p:blipFill>
        <p:spPr>
          <a:xfrm>
            <a:off x="6380035" y="2687701"/>
            <a:ext cx="4342747" cy="630399"/>
          </a:xfrm>
          <a:prstGeom prst="rect">
            <a:avLst/>
          </a:prstGeom>
        </p:spPr>
      </p:pic>
      <p:pic>
        <p:nvPicPr>
          <p:cNvPr id="7" name="Picture 6"/>
          <p:cNvPicPr>
            <a:picLocks noChangeAspect="1"/>
          </p:cNvPicPr>
          <p:nvPr/>
        </p:nvPicPr>
        <p:blipFill rotWithShape="1">
          <a:blip r:embed="rId11"/>
          <a:srcRect t="7926"/>
          <a:stretch/>
        </p:blipFill>
        <p:spPr>
          <a:xfrm>
            <a:off x="6031557" y="3390581"/>
            <a:ext cx="4987872" cy="651884"/>
          </a:xfrm>
          <a:prstGeom prst="rect">
            <a:avLst/>
          </a:prstGeom>
        </p:spPr>
      </p:pic>
      <p:pic>
        <p:nvPicPr>
          <p:cNvPr id="8" name="Picture 7"/>
          <p:cNvPicPr>
            <a:picLocks noChangeAspect="1"/>
          </p:cNvPicPr>
          <p:nvPr/>
        </p:nvPicPr>
        <p:blipFill rotWithShape="1">
          <a:blip r:embed="rId12"/>
          <a:srcRect b="1893"/>
          <a:stretch/>
        </p:blipFill>
        <p:spPr>
          <a:xfrm>
            <a:off x="5812820" y="4054381"/>
            <a:ext cx="5730174" cy="817840"/>
          </a:xfrm>
          <a:prstGeom prst="rect">
            <a:avLst/>
          </a:prstGeom>
        </p:spPr>
      </p:pic>
      <p:pic>
        <p:nvPicPr>
          <p:cNvPr id="34" name="Picture 33"/>
          <p:cNvPicPr>
            <a:picLocks noChangeAspect="1"/>
          </p:cNvPicPr>
          <p:nvPr/>
        </p:nvPicPr>
        <p:blipFill>
          <a:blip r:embed="rId13"/>
          <a:stretch>
            <a:fillRect/>
          </a:stretch>
        </p:blipFill>
        <p:spPr>
          <a:xfrm>
            <a:off x="224428" y="1911168"/>
            <a:ext cx="2377163" cy="1782872"/>
          </a:xfrm>
          <a:prstGeom prst="rect">
            <a:avLst/>
          </a:prstGeom>
        </p:spPr>
      </p:pic>
      <p:pic>
        <p:nvPicPr>
          <p:cNvPr id="35" name="Picture 34"/>
          <p:cNvPicPr>
            <a:picLocks noChangeAspect="1"/>
          </p:cNvPicPr>
          <p:nvPr/>
        </p:nvPicPr>
        <p:blipFill>
          <a:blip r:embed="rId14"/>
          <a:stretch>
            <a:fillRect/>
          </a:stretch>
        </p:blipFill>
        <p:spPr>
          <a:xfrm>
            <a:off x="2494964" y="1883756"/>
            <a:ext cx="2303768" cy="1727826"/>
          </a:xfrm>
          <a:prstGeom prst="rect">
            <a:avLst/>
          </a:prstGeom>
        </p:spPr>
      </p:pic>
      <p:pic>
        <p:nvPicPr>
          <p:cNvPr id="9" name="Picture 8"/>
          <p:cNvPicPr>
            <a:picLocks noChangeAspect="1"/>
          </p:cNvPicPr>
          <p:nvPr/>
        </p:nvPicPr>
        <p:blipFill>
          <a:blip r:embed="rId15"/>
          <a:stretch>
            <a:fillRect/>
          </a:stretch>
        </p:blipFill>
        <p:spPr>
          <a:xfrm>
            <a:off x="349844" y="3777098"/>
            <a:ext cx="4636456" cy="1044476"/>
          </a:xfrm>
          <a:prstGeom prst="rect">
            <a:avLst/>
          </a:prstGeom>
        </p:spPr>
      </p:pic>
    </p:spTree>
    <p:extLst>
      <p:ext uri="{BB962C8B-B14F-4D97-AF65-F5344CB8AC3E}">
        <p14:creationId xmlns:p14="http://schemas.microsoft.com/office/powerpoint/2010/main" val="3877807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Dynamic Variable Carrier Phase-Shift Modulation</a:t>
            </a:r>
          </a:p>
        </p:txBody>
      </p:sp>
      <p:pic>
        <p:nvPicPr>
          <p:cNvPr id="7" name="Picture 6"/>
          <p:cNvPicPr>
            <a:picLocks noChangeAspect="1"/>
          </p:cNvPicPr>
          <p:nvPr/>
        </p:nvPicPr>
        <p:blipFill>
          <a:blip r:embed="rId2"/>
          <a:stretch>
            <a:fillRect/>
          </a:stretch>
        </p:blipFill>
        <p:spPr>
          <a:xfrm>
            <a:off x="1067753" y="1065358"/>
            <a:ext cx="3862388" cy="5266396"/>
          </a:xfrm>
          <a:prstGeom prst="rect">
            <a:avLst/>
          </a:prstGeom>
        </p:spPr>
      </p:pic>
      <p:pic>
        <p:nvPicPr>
          <p:cNvPr id="8" name="Picture 7"/>
          <p:cNvPicPr>
            <a:picLocks noChangeAspect="1"/>
          </p:cNvPicPr>
          <p:nvPr/>
        </p:nvPicPr>
        <p:blipFill>
          <a:blip r:embed="rId3"/>
          <a:stretch>
            <a:fillRect/>
          </a:stretch>
        </p:blipFill>
        <p:spPr>
          <a:xfrm>
            <a:off x="6126085" y="1025507"/>
            <a:ext cx="5110501" cy="5238441"/>
          </a:xfrm>
          <a:prstGeom prst="rect">
            <a:avLst/>
          </a:prstGeom>
        </p:spPr>
      </p:pic>
    </p:spTree>
    <p:extLst>
      <p:ext uri="{BB962C8B-B14F-4D97-AF65-F5344CB8AC3E}">
        <p14:creationId xmlns:p14="http://schemas.microsoft.com/office/powerpoint/2010/main" val="3522851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Dynamic Variable Carrier Phase-Shift Modulation</a:t>
            </a:r>
          </a:p>
        </p:txBody>
      </p:sp>
      <p:pic>
        <p:nvPicPr>
          <p:cNvPr id="5" name="Picture 4"/>
          <p:cNvPicPr>
            <a:picLocks noChangeAspect="1"/>
          </p:cNvPicPr>
          <p:nvPr/>
        </p:nvPicPr>
        <p:blipFill>
          <a:blip r:embed="rId2"/>
          <a:stretch>
            <a:fillRect/>
          </a:stretch>
        </p:blipFill>
        <p:spPr>
          <a:xfrm>
            <a:off x="2063620" y="1228769"/>
            <a:ext cx="7735700" cy="4200480"/>
          </a:xfrm>
          <a:prstGeom prst="rect">
            <a:avLst/>
          </a:prstGeom>
        </p:spPr>
      </p:pic>
    </p:spTree>
    <p:extLst>
      <p:ext uri="{BB962C8B-B14F-4D97-AF65-F5344CB8AC3E}">
        <p14:creationId xmlns:p14="http://schemas.microsoft.com/office/powerpoint/2010/main" val="3297567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a:latin typeface="Times New Roman" panose="02020603050405020304" pitchFamily="18" charset="0"/>
                <a:cs typeface="Times New Roman" panose="02020603050405020304" pitchFamily="18" charset="0"/>
              </a:rPr>
              <a:t>Outline</a:t>
            </a:r>
            <a:endParaRPr lang="sv-SE" dirty="0">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idx="1"/>
          </p:nvPr>
        </p:nvSpPr>
        <p:spPr>
          <a:xfrm>
            <a:off x="594098" y="1842462"/>
            <a:ext cx="10990263" cy="4453808"/>
          </a:xfrm>
        </p:spPr>
        <p:txBody>
          <a:bodyPr/>
          <a:lstStyle/>
          <a:p>
            <a:pPr>
              <a:buFont typeface="Wingdings" panose="05000000000000000000" pitchFamily="2" charset="2"/>
              <a:buChar char="q"/>
            </a:pPr>
            <a:r>
              <a:rPr lang="en-US" sz="2400" dirty="0">
                <a:solidFill>
                  <a:srgbClr val="C0C0C0"/>
                </a:solidFill>
                <a:latin typeface="Times New Roman" panose="02020603050405020304" pitchFamily="18" charset="0"/>
                <a:cs typeface="Times New Roman" panose="02020603050405020304" pitchFamily="18" charset="0"/>
              </a:rPr>
              <a:t>ECCE-Asia (IPEC-2026) Paper Digest</a:t>
            </a:r>
          </a:p>
          <a:p>
            <a:pPr marL="0" indent="0">
              <a:buNone/>
            </a:pPr>
            <a:endParaRPr lang="en-US" sz="2400" dirty="0">
              <a:solidFill>
                <a:srgbClr val="C0C0C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Initial Experimental Results of The Patent</a:t>
            </a:r>
          </a:p>
          <a:p>
            <a:pPr>
              <a:buFont typeface="Wingdings" panose="05000000000000000000" pitchFamily="2" charset="2"/>
              <a:buChar char="q"/>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0629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Variable Phase-Pole Machine</a:t>
            </a:r>
          </a:p>
        </p:txBody>
      </p:sp>
      <p:sp>
        <p:nvSpPr>
          <p:cNvPr id="6" name="Rectangle 5"/>
          <p:cNvSpPr/>
          <p:nvPr/>
        </p:nvSpPr>
        <p:spPr>
          <a:xfrm>
            <a:off x="454268" y="4169715"/>
            <a:ext cx="5304693" cy="2308324"/>
          </a:xfrm>
          <a:prstGeom prst="rect">
            <a:avLst/>
          </a:prstGeom>
        </p:spPr>
        <p:txBody>
          <a:bodyPr wrap="square">
            <a:spAutoFit/>
          </a:bodyPr>
          <a:lstStyle/>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To achieve a variable pole (synchronous) machine, the rotor windings should be re-configurable, which means a controllable bi-directional current on the rotor side. </a:t>
            </a:r>
          </a:p>
          <a:p>
            <a:pPr marL="285750" indent="-285750" algn="just">
              <a:buFont typeface="Arial" panose="020B0604020202020204" pitchFamily="34" charset="0"/>
              <a:buChar char="•"/>
            </a:pPr>
            <a:r>
              <a:rPr lang="en-GB" dirty="0">
                <a:latin typeface="Times New Roman" panose="02020603050405020304" pitchFamily="18" charset="0"/>
                <a:ea typeface="Georgia" panose="02040502050405020303" pitchFamily="18" charset="0"/>
                <a:cs typeface="Times New Roman" panose="02020603050405020304" pitchFamily="18" charset="0"/>
              </a:rPr>
              <a:t>A 4-pole rotor structure can be transformed into a 2-pole structure by employing identical field windings and strategically altering the current direction in only two windings.</a:t>
            </a:r>
            <a:endParaRPr lang="sv-SE" dirty="0">
              <a:latin typeface="Times New Roman" panose="02020603050405020304" pitchFamily="18" charset="0"/>
              <a:cs typeface="Times New Roman" panose="02020603050405020304" pitchFamily="18" charset="0"/>
            </a:endParaRPr>
          </a:p>
        </p:txBody>
      </p:sp>
      <p:sp>
        <p:nvSpPr>
          <p:cNvPr id="7" name="Rectangle 6"/>
          <p:cNvSpPr/>
          <p:nvPr/>
        </p:nvSpPr>
        <p:spPr>
          <a:xfrm>
            <a:off x="6385589" y="3892716"/>
            <a:ext cx="5017477" cy="2862322"/>
          </a:xfrm>
          <a:prstGeom prst="rect">
            <a:avLst/>
          </a:prstGeom>
        </p:spPr>
        <p:txBody>
          <a:bodyPr wrap="square">
            <a:spAutoFit/>
          </a:bodyPr>
          <a:lstStyle/>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Hypothetically, if such a solution were to exist, it might involve utilizing rotating semiconductor components that necessitate active gate signals for control.</a:t>
            </a:r>
          </a:p>
          <a:p>
            <a:pPr marL="285750" indent="-285750" algn="just">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However, this approach introduces complexities, including the need for a wireless converter system to receive commands from the stationary side. This </a:t>
            </a:r>
            <a:r>
              <a:rPr lang="en-US" dirty="0">
                <a:latin typeface="Times New Roman" panose="02020603050405020304" pitchFamily="18" charset="0"/>
                <a:cs typeface="Times New Roman" panose="02020603050405020304" pitchFamily="18" charset="0"/>
              </a:rPr>
              <a:t>This would add layers of intricacy to the system, posing challenges to reliability and overall system robustness</a:t>
            </a:r>
            <a:r>
              <a:rPr lang="en-GB" dirty="0">
                <a:latin typeface="Times New Roman" panose="02020603050405020304" pitchFamily="18" charset="0"/>
                <a:cs typeface="Times New Roman" panose="02020603050405020304" pitchFamily="18" charset="0"/>
              </a:rPr>
              <a:t>.</a:t>
            </a:r>
            <a:endParaRPr lang="sv-SE"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454268" y="1148617"/>
            <a:ext cx="5317394" cy="2892730"/>
          </a:xfrm>
          <a:prstGeom prst="rect">
            <a:avLst/>
          </a:prstGeom>
        </p:spPr>
      </p:pic>
      <p:pic>
        <p:nvPicPr>
          <p:cNvPr id="9" name="Picture 8"/>
          <p:cNvPicPr>
            <a:picLocks noChangeAspect="1"/>
          </p:cNvPicPr>
          <p:nvPr/>
        </p:nvPicPr>
        <p:blipFill>
          <a:blip r:embed="rId3"/>
          <a:stretch>
            <a:fillRect/>
          </a:stretch>
        </p:blipFill>
        <p:spPr>
          <a:xfrm>
            <a:off x="6385589" y="1148617"/>
            <a:ext cx="4652963" cy="2543802"/>
          </a:xfrm>
          <a:prstGeom prst="rect">
            <a:avLst/>
          </a:prstGeom>
        </p:spPr>
      </p:pic>
    </p:spTree>
    <p:extLst>
      <p:ext uri="{BB962C8B-B14F-4D97-AF65-F5344CB8AC3E}">
        <p14:creationId xmlns:p14="http://schemas.microsoft.com/office/powerpoint/2010/main" val="4123864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Self-Driven Field Excitation</a:t>
            </a:r>
          </a:p>
        </p:txBody>
      </p:sp>
      <p:sp>
        <p:nvSpPr>
          <p:cNvPr id="10" name="Rectangle 9"/>
          <p:cNvSpPr/>
          <p:nvPr/>
        </p:nvSpPr>
        <p:spPr>
          <a:xfrm>
            <a:off x="5545015" y="1782469"/>
            <a:ext cx="6096000" cy="4247317"/>
          </a:xfrm>
          <a:prstGeom prst="rect">
            <a:avLst/>
          </a:prstGeom>
        </p:spPr>
        <p:txBody>
          <a:bodyPr>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proposed dual-input, dual-output WPT system employs two resonant coil sets, each feeding a diode rectifier to supply unidirectional current.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anti-parallel connection of the rectifier outputs enables bipolar excitation of the field winding.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avoid reverse biasing of the rectifiers, bidirectional power switches—implemented using a MOSFET in anti-series with a diode—are placed between the rectifier ground and one terminal of the field winding.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These switches are self-driven using passive feedback network from their respective rectifier outputs, eliminating the need for external control signals. </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Field-current reversal is achieved by altering excitation between the two coil sets: one set drives the positive direction, while the other drives the negative</a:t>
            </a:r>
            <a:endParaRPr lang="sv-SE" dirty="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625351" y="1188834"/>
            <a:ext cx="4584823" cy="2693183"/>
          </a:xfrm>
          <a:prstGeom prst="rect">
            <a:avLst/>
          </a:prstGeom>
        </p:spPr>
      </p:pic>
      <p:pic>
        <p:nvPicPr>
          <p:cNvPr id="13" name="Picture 12"/>
          <p:cNvPicPr>
            <a:picLocks noChangeAspect="1"/>
          </p:cNvPicPr>
          <p:nvPr/>
        </p:nvPicPr>
        <p:blipFill>
          <a:blip r:embed="rId3"/>
          <a:stretch>
            <a:fillRect/>
          </a:stretch>
        </p:blipFill>
        <p:spPr>
          <a:xfrm>
            <a:off x="511051" y="4334889"/>
            <a:ext cx="4861049" cy="1507758"/>
          </a:xfrm>
          <a:prstGeom prst="rect">
            <a:avLst/>
          </a:prstGeom>
        </p:spPr>
      </p:pic>
    </p:spTree>
    <p:extLst>
      <p:ext uri="{BB962C8B-B14F-4D97-AF65-F5344CB8AC3E}">
        <p14:creationId xmlns:p14="http://schemas.microsoft.com/office/powerpoint/2010/main" val="2620730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458" y="273907"/>
            <a:ext cx="10990263" cy="568412"/>
          </a:xfrm>
        </p:spPr>
        <p:txBody>
          <a:bodyPr/>
          <a:lstStyle/>
          <a:p>
            <a:r>
              <a:rPr lang="en-US" dirty="0"/>
              <a:t>Experimental Validation</a:t>
            </a:r>
            <a:br>
              <a:rPr lang="en-US" dirty="0"/>
            </a:br>
            <a:endParaRPr lang="en-US" dirty="0"/>
          </a:p>
        </p:txBody>
      </p:sp>
      <p:pic>
        <p:nvPicPr>
          <p:cNvPr id="7" name="Picture 6"/>
          <p:cNvPicPr>
            <a:picLocks noChangeAspect="1"/>
          </p:cNvPicPr>
          <p:nvPr/>
        </p:nvPicPr>
        <p:blipFill>
          <a:blip r:embed="rId2"/>
          <a:stretch>
            <a:fillRect/>
          </a:stretch>
        </p:blipFill>
        <p:spPr>
          <a:xfrm>
            <a:off x="366712" y="1171575"/>
            <a:ext cx="4557029" cy="2743200"/>
          </a:xfrm>
          <a:prstGeom prst="rect">
            <a:avLst/>
          </a:prstGeom>
        </p:spPr>
      </p:pic>
      <p:pic>
        <p:nvPicPr>
          <p:cNvPr id="8" name="Picture 7"/>
          <p:cNvPicPr>
            <a:picLocks noChangeAspect="1"/>
          </p:cNvPicPr>
          <p:nvPr/>
        </p:nvPicPr>
        <p:blipFill rotWithShape="1">
          <a:blip r:embed="rId3"/>
          <a:srcRect t="970"/>
          <a:stretch/>
        </p:blipFill>
        <p:spPr>
          <a:xfrm>
            <a:off x="6143625" y="1213111"/>
            <a:ext cx="4143375" cy="2701664"/>
          </a:xfrm>
          <a:prstGeom prst="rect">
            <a:avLst/>
          </a:prstGeom>
        </p:spPr>
      </p:pic>
      <p:pic>
        <p:nvPicPr>
          <p:cNvPr id="9" name="Picture 8"/>
          <p:cNvPicPr>
            <a:picLocks noChangeAspect="1"/>
          </p:cNvPicPr>
          <p:nvPr/>
        </p:nvPicPr>
        <p:blipFill rotWithShape="1">
          <a:blip r:embed="rId4"/>
          <a:srcRect t="1701"/>
          <a:stretch/>
        </p:blipFill>
        <p:spPr>
          <a:xfrm>
            <a:off x="666750" y="4066717"/>
            <a:ext cx="4190316" cy="2481560"/>
          </a:xfrm>
          <a:prstGeom prst="rect">
            <a:avLst/>
          </a:prstGeom>
        </p:spPr>
      </p:pic>
      <p:pic>
        <p:nvPicPr>
          <p:cNvPr id="12" name="Picture 11"/>
          <p:cNvPicPr>
            <a:picLocks noChangeAspect="1"/>
          </p:cNvPicPr>
          <p:nvPr/>
        </p:nvPicPr>
        <p:blipFill>
          <a:blip r:embed="rId5"/>
          <a:stretch>
            <a:fillRect/>
          </a:stretch>
        </p:blipFill>
        <p:spPr>
          <a:xfrm>
            <a:off x="5867400" y="4285567"/>
            <a:ext cx="5248275" cy="2043861"/>
          </a:xfrm>
          <a:prstGeom prst="rect">
            <a:avLst/>
          </a:prstGeom>
        </p:spPr>
      </p:pic>
    </p:spTree>
    <p:extLst>
      <p:ext uri="{BB962C8B-B14F-4D97-AF65-F5344CB8AC3E}">
        <p14:creationId xmlns:p14="http://schemas.microsoft.com/office/powerpoint/2010/main" val="4191483705"/>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24791</TotalTime>
  <Words>916</Words>
  <Application>Microsoft Office PowerPoint</Application>
  <PresentationFormat>Widescreen</PresentationFormat>
  <Paragraphs>150</Paragraphs>
  <Slides>22</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Calibri</vt:lpstr>
      <vt:lpstr>Cambria Math</vt:lpstr>
      <vt:lpstr>Wingdings</vt:lpstr>
      <vt:lpstr>Times New Roman</vt:lpstr>
      <vt:lpstr>Arial</vt:lpstr>
      <vt:lpstr>Figtree</vt:lpstr>
      <vt:lpstr>Office-tema</vt:lpstr>
      <vt:lpstr>WP4: Progress Update</vt:lpstr>
      <vt:lpstr>WP4: Progress Update</vt:lpstr>
      <vt:lpstr>System Requirements &amp; Test Bed</vt:lpstr>
      <vt:lpstr>First Prototype with 62mm Power Modules</vt:lpstr>
      <vt:lpstr>Effiency and Power Density Results</vt:lpstr>
      <vt:lpstr>Second Prototype with eTruck Power Modules</vt:lpstr>
      <vt:lpstr>Loss Analysis</vt:lpstr>
      <vt:lpstr>Loss Analysis</vt:lpstr>
      <vt:lpstr>Efficiency Maps</vt:lpstr>
      <vt:lpstr>Research Updates</vt:lpstr>
      <vt:lpstr>Papers Published in 2026</vt:lpstr>
      <vt:lpstr>Overview of Three-Phase Two-Level VSIs</vt:lpstr>
      <vt:lpstr>DC-Link Capacitor: Reliability Bottleneck</vt:lpstr>
      <vt:lpstr>Reducing Current Ripple &amp; Stress</vt:lpstr>
      <vt:lpstr>Interleaving for Single 2L-VSI</vt:lpstr>
      <vt:lpstr>Dynamic Variable Carrier Phase-Shift Modulation</vt:lpstr>
      <vt:lpstr>Dynamic Variable Carrier Phase-Shift Modulation</vt:lpstr>
      <vt:lpstr>Dynamic Variable Carrier Phase-Shift Modulation</vt:lpstr>
      <vt:lpstr>Outline</vt:lpstr>
      <vt:lpstr>Variable Phase-Pole Machine</vt:lpstr>
      <vt:lpstr>Self-Driven Field Excitation</vt:lpstr>
      <vt:lpstr>Experimental Validation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278</cp:revision>
  <dcterms:created xsi:type="dcterms:W3CDTF">2024-01-10T13:17:29Z</dcterms:created>
  <dcterms:modified xsi:type="dcterms:W3CDTF">2026-09-14T07:51:19Z</dcterms:modified>
</cp:coreProperties>
</file>