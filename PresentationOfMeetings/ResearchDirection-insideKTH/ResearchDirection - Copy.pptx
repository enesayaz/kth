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5"/>
  </p:notesMasterIdLst>
  <p:sldIdLst>
    <p:sldId id="266" r:id="rId2"/>
    <p:sldId id="269" r:id="rId3"/>
    <p:sldId id="273" r:id="rId4"/>
    <p:sldId id="270" r:id="rId5"/>
    <p:sldId id="268" r:id="rId6"/>
    <p:sldId id="274" r:id="rId7"/>
    <p:sldId id="271" r:id="rId8"/>
    <p:sldId id="275" r:id="rId9"/>
    <p:sldId id="272" r:id="rId10"/>
    <p:sldId id="298" r:id="rId11"/>
    <p:sldId id="296" r:id="rId12"/>
    <p:sldId id="276" r:id="rId13"/>
    <p:sldId id="300" r:id="rId14"/>
  </p:sldIdLst>
  <p:sldSz cx="12192000" cy="6858000"/>
  <p:notesSz cx="6858000" cy="9144000"/>
  <p:embeddedFontLst>
    <p:embeddedFont>
      <p:font typeface="Calibri" panose="020F0502020204030204" pitchFamily="34" charset="0"/>
      <p:regular r:id="rId16"/>
      <p:bold r:id="rId17"/>
      <p:italic r:id="rId18"/>
      <p:boldItalic r:id="rId19"/>
    </p:embeddedFont>
    <p:embeddedFont>
      <p:font typeface="Figtree" panose="020B0604020202020204" charset="0"/>
      <p:regular r:id="rId20"/>
      <p:bold r:id="rId21"/>
      <p:italic r:id="rId22"/>
      <p:boldItalic r:id="rId23"/>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3" autoAdjust="0"/>
    <p:restoredTop sz="96327"/>
  </p:normalViewPr>
  <p:slideViewPr>
    <p:cSldViewPr snapToGrid="0">
      <p:cViewPr varScale="1">
        <p:scale>
          <a:sx n="111" d="100"/>
          <a:sy n="111" d="100"/>
        </p:scale>
        <p:origin x="28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2025-04-11</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2025-04-11</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2025-04-11</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2025-04-11</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2025-04-11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2025-04-11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2025-04-11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2025-04-11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2025-04-11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2025-04-11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2025-04-11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2025-04-11</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2025-04-11</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2025-04-11</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2025-04-11</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2025-04-11</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2025-04-11</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2025-04-11</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2025-04-11</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2025-04-11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2025-04-11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2025-04-11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2025-04-11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2025-04-11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2025-04-11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2025-04-11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2025-04-11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2025-04-11</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2025-04-11</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2025-04-11</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2025-04-11</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2025-04-11</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2025-04-11</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2025-04-11</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2025-04-11</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2025-04-11</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2025-04-11</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2025-04-11</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2025-04-11</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2025-04-11</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2025-04-11</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2025-04-11</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2025-04-11</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2025-04-11</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2025-04-11</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2025-04-11</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2025-04-11</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2025-04-11</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2025-04-11</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1109/OJPEL.2023.3327423" TargetMode="External"/><Relationship Id="rId2" Type="http://schemas.openxmlformats.org/officeDocument/2006/relationships/hyperlink" Target="https://doi.org/10.1109/ICEMS56177.2022.9982999" TargetMode="Externa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a:t>Multi-Objective Optimization of Traction Inverters for Electric Trucks Considering Environmental Impacts</a:t>
            </a:r>
            <a:endParaRPr lang="sv-SE" sz="4000" dirty="0"/>
          </a:p>
        </p:txBody>
      </p:sp>
      <p:sp>
        <p:nvSpPr>
          <p:cNvPr id="3" name="Subtitle 2"/>
          <p:cNvSpPr>
            <a:spLocks noGrp="1"/>
          </p:cNvSpPr>
          <p:nvPr>
            <p:ph type="subTitle" idx="1"/>
          </p:nvPr>
        </p:nvSpPr>
        <p:spPr>
          <a:xfrm>
            <a:off x="2132013" y="5486400"/>
            <a:ext cx="7926387" cy="752475"/>
          </a:xfrm>
        </p:spPr>
        <p:txBody>
          <a:bodyPr>
            <a:noAutofit/>
          </a:bodyPr>
          <a:lstStyle/>
          <a:p>
            <a:r>
              <a:rPr lang="en-US" sz="2400" dirty="0"/>
              <a:t>A </a:t>
            </a:r>
            <a:r>
              <a:rPr lang="en-US" sz="2400" dirty="0" smtClean="0"/>
              <a:t>Life-Cycle-Based </a:t>
            </a:r>
            <a:r>
              <a:rPr lang="en-US" sz="2400" dirty="0"/>
              <a:t>Approach for Minimizing Environmental </a:t>
            </a:r>
            <a:r>
              <a:rPr lang="en-US" sz="2400" dirty="0" smtClean="0"/>
              <a:t>Footprint</a:t>
            </a:r>
          </a:p>
          <a:p>
            <a:r>
              <a:rPr lang="en-US" sz="2400" dirty="0" smtClean="0"/>
              <a:t>Enes Ayaz</a:t>
            </a:r>
            <a:endParaRPr lang="sv-SE" sz="2400" dirty="0"/>
          </a:p>
        </p:txBody>
      </p:sp>
    </p:spTree>
    <p:extLst>
      <p:ext uri="{BB962C8B-B14F-4D97-AF65-F5344CB8AC3E}">
        <p14:creationId xmlns:p14="http://schemas.microsoft.com/office/powerpoint/2010/main" val="28558368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7806"/>
            <a:ext cx="10990263" cy="568412"/>
          </a:xfrm>
        </p:spPr>
        <p:txBody>
          <a:bodyPr/>
          <a:lstStyle/>
          <a:p>
            <a:r>
              <a:rPr lang="sv-SE" dirty="0" err="1"/>
              <a:t>Introduction</a:t>
            </a:r>
            <a:r>
              <a:rPr lang="sv-SE" dirty="0"/>
              <a:t> &amp; </a:t>
            </a:r>
            <a:r>
              <a:rPr lang="sv-SE" dirty="0" smtClean="0"/>
              <a:t>Motivation</a:t>
            </a:r>
            <a:endParaRPr lang="sv-SE" dirty="0"/>
          </a:p>
        </p:txBody>
      </p:sp>
      <p:sp>
        <p:nvSpPr>
          <p:cNvPr id="6" name="Content Placeholder 5"/>
          <p:cNvSpPr>
            <a:spLocks noGrp="1"/>
          </p:cNvSpPr>
          <p:nvPr>
            <p:ph idx="1"/>
          </p:nvPr>
        </p:nvSpPr>
        <p:spPr>
          <a:xfrm>
            <a:off x="363609" y="1122773"/>
            <a:ext cx="7353300" cy="5197707"/>
          </a:xfrm>
        </p:spPr>
        <p:txBody>
          <a:bodyPr/>
          <a:lstStyle/>
          <a:p>
            <a:pPr marL="0" indent="0" algn="just">
              <a:buNone/>
            </a:pPr>
            <a:r>
              <a:rPr lang="en-US" sz="2400" b="1" dirty="0" smtClean="0"/>
              <a:t>Introduction:</a:t>
            </a:r>
          </a:p>
          <a:p>
            <a:pPr algn="just"/>
            <a:r>
              <a:rPr lang="en-US" sz="2400" dirty="0" smtClean="0"/>
              <a:t>Climate </a:t>
            </a:r>
            <a:r>
              <a:rPr lang="en-US" sz="2400" dirty="0"/>
              <a:t>targets (e.g., Paris Agreement) emphasize the need for net-zero emissions by </a:t>
            </a:r>
            <a:r>
              <a:rPr lang="en-US" sz="2400" dirty="0" smtClean="0"/>
              <a:t>2050.</a:t>
            </a:r>
          </a:p>
          <a:p>
            <a:pPr algn="just"/>
            <a:r>
              <a:rPr lang="en-US" sz="2400" dirty="0" smtClean="0"/>
              <a:t>Electric </a:t>
            </a:r>
            <a:r>
              <a:rPr lang="en-US" sz="2400" dirty="0"/>
              <a:t>trucks are critical for reducing CO2 emissions in the transportation </a:t>
            </a:r>
            <a:r>
              <a:rPr lang="en-US" sz="2400" dirty="0" smtClean="0"/>
              <a:t>sector.</a:t>
            </a:r>
          </a:p>
          <a:p>
            <a:pPr algn="just"/>
            <a:endParaRPr lang="en-US" dirty="0" smtClean="0"/>
          </a:p>
          <a:p>
            <a:pPr marL="0" indent="0" algn="just">
              <a:buNone/>
            </a:pPr>
            <a:r>
              <a:rPr lang="en-US" sz="2400" b="1" dirty="0" smtClean="0"/>
              <a:t>Motivation:</a:t>
            </a:r>
          </a:p>
          <a:p>
            <a:pPr algn="just"/>
            <a:r>
              <a:rPr lang="en-US" sz="2400" dirty="0" smtClean="0"/>
              <a:t>Traditional </a:t>
            </a:r>
            <a:r>
              <a:rPr lang="en-US" sz="2400" dirty="0"/>
              <a:t>power converter optimization focuses on efficiency and power density</a:t>
            </a:r>
            <a:r>
              <a:rPr lang="en-US" sz="2400" dirty="0" smtClean="0"/>
              <a:t>.</a:t>
            </a:r>
          </a:p>
          <a:p>
            <a:pPr algn="just"/>
            <a:r>
              <a:rPr lang="en-US" sz="2400" dirty="0" smtClean="0"/>
              <a:t>Environmental </a:t>
            </a:r>
            <a:r>
              <a:rPr lang="en-US" sz="2400" dirty="0"/>
              <a:t>impacts across the inverter's </a:t>
            </a:r>
            <a:r>
              <a:rPr lang="en-US" sz="2400" dirty="0" smtClean="0"/>
              <a:t>lifecycle and reliability </a:t>
            </a:r>
            <a:r>
              <a:rPr lang="en-US" sz="2400" dirty="0"/>
              <a:t>are often overlooked but crucial for sustainability</a:t>
            </a:r>
            <a:r>
              <a:rPr lang="en-US" sz="2400" dirty="0" smtClean="0"/>
              <a:t>.</a:t>
            </a:r>
            <a:endParaRPr lang="sv-SE" sz="2400" dirty="0"/>
          </a:p>
        </p:txBody>
      </p:sp>
      <p:pic>
        <p:nvPicPr>
          <p:cNvPr id="9" name="Picture 8"/>
          <p:cNvPicPr>
            <a:picLocks noChangeAspect="1"/>
          </p:cNvPicPr>
          <p:nvPr/>
        </p:nvPicPr>
        <p:blipFill rotWithShape="1">
          <a:blip r:embed="rId2"/>
          <a:srcRect l="11686"/>
          <a:stretch/>
        </p:blipFill>
        <p:spPr>
          <a:xfrm>
            <a:off x="7962048" y="1228724"/>
            <a:ext cx="4090288" cy="2009775"/>
          </a:xfrm>
          <a:prstGeom prst="rect">
            <a:avLst/>
          </a:prstGeom>
        </p:spPr>
      </p:pic>
      <p:pic>
        <p:nvPicPr>
          <p:cNvPr id="10" name="Picture 9"/>
          <p:cNvPicPr>
            <a:picLocks noChangeAspect="1"/>
          </p:cNvPicPr>
          <p:nvPr/>
        </p:nvPicPr>
        <p:blipFill>
          <a:blip r:embed="rId3"/>
          <a:stretch>
            <a:fillRect/>
          </a:stretch>
        </p:blipFill>
        <p:spPr>
          <a:xfrm>
            <a:off x="7783584" y="3636662"/>
            <a:ext cx="4044879" cy="2372426"/>
          </a:xfrm>
          <a:prstGeom prst="rect">
            <a:avLst/>
          </a:prstGeom>
        </p:spPr>
      </p:pic>
    </p:spTree>
    <p:extLst>
      <p:ext uri="{BB962C8B-B14F-4D97-AF65-F5344CB8AC3E}">
        <p14:creationId xmlns:p14="http://schemas.microsoft.com/office/powerpoint/2010/main" val="40208892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50" y="228857"/>
            <a:ext cx="10990263" cy="568412"/>
          </a:xfrm>
        </p:spPr>
        <p:txBody>
          <a:bodyPr/>
          <a:lstStyle/>
          <a:p>
            <a:r>
              <a:rPr lang="sv-SE" dirty="0" smtClean="0"/>
              <a:t>Challenges</a:t>
            </a:r>
            <a:endParaRPr lang="sv-SE" dirty="0"/>
          </a:p>
        </p:txBody>
      </p:sp>
      <p:sp>
        <p:nvSpPr>
          <p:cNvPr id="6" name="Content Placeholder 5"/>
          <p:cNvSpPr>
            <a:spLocks noGrp="1"/>
          </p:cNvSpPr>
          <p:nvPr>
            <p:ph idx="1"/>
          </p:nvPr>
        </p:nvSpPr>
        <p:spPr>
          <a:xfrm>
            <a:off x="338139" y="1148444"/>
            <a:ext cx="6629399" cy="5351210"/>
          </a:xfrm>
        </p:spPr>
        <p:txBody>
          <a:bodyPr/>
          <a:lstStyle/>
          <a:p>
            <a:pPr marL="0" indent="0" algn="just">
              <a:buNone/>
            </a:pPr>
            <a:r>
              <a:rPr lang="en-US" b="1" dirty="0" smtClean="0"/>
              <a:t>Energy Efficiency and Beyond:</a:t>
            </a:r>
          </a:p>
          <a:p>
            <a:pPr algn="just"/>
            <a:r>
              <a:rPr lang="en-US" dirty="0" smtClean="0"/>
              <a:t>The </a:t>
            </a:r>
            <a:r>
              <a:rPr lang="en-US" u="sng" dirty="0" smtClean="0"/>
              <a:t>environmental impact </a:t>
            </a:r>
            <a:r>
              <a:rPr lang="en-US" dirty="0" smtClean="0"/>
              <a:t>of power electronics goes beyond energy efficiency.</a:t>
            </a:r>
          </a:p>
          <a:p>
            <a:pPr algn="just"/>
            <a:r>
              <a:rPr lang="en-US" dirty="0" smtClean="0"/>
              <a:t>Future electrification (e.g., trucks) needs </a:t>
            </a:r>
            <a:r>
              <a:rPr lang="en-US" u="sng" dirty="0" smtClean="0"/>
              <a:t>sustainable solutions</a:t>
            </a:r>
            <a:r>
              <a:rPr lang="en-US" dirty="0" smtClean="0"/>
              <a:t> for power conversion systems.</a:t>
            </a:r>
          </a:p>
          <a:p>
            <a:pPr marL="0" indent="0" algn="just">
              <a:buNone/>
            </a:pPr>
            <a:r>
              <a:rPr lang="sv-SE" b="1" dirty="0" smtClean="0"/>
              <a:t>Research Challenges:</a:t>
            </a:r>
            <a:endParaRPr lang="en-US" b="1" dirty="0" smtClean="0"/>
          </a:p>
          <a:p>
            <a:pPr algn="just"/>
            <a:r>
              <a:rPr lang="en-US" dirty="0" smtClean="0"/>
              <a:t>How </a:t>
            </a:r>
            <a:r>
              <a:rPr lang="en-US" dirty="0"/>
              <a:t>can we integrate life-cycle environmental impacts with </a:t>
            </a:r>
            <a:r>
              <a:rPr lang="en-US" u="sng" dirty="0"/>
              <a:t>traditional performance metrics </a:t>
            </a:r>
            <a:r>
              <a:rPr lang="en-US" dirty="0"/>
              <a:t>(efficiency, power </a:t>
            </a:r>
            <a:r>
              <a:rPr lang="en-US" dirty="0" smtClean="0"/>
              <a:t>density, reliability)?</a:t>
            </a:r>
          </a:p>
          <a:p>
            <a:pPr algn="just"/>
            <a:r>
              <a:rPr lang="en-US" dirty="0" smtClean="0"/>
              <a:t>The </a:t>
            </a:r>
            <a:r>
              <a:rPr lang="en-US" dirty="0"/>
              <a:t>need for multi-objective optimization frameworks that include</a:t>
            </a:r>
            <a:r>
              <a:rPr lang="en-US" dirty="0" smtClean="0"/>
              <a:t>:</a:t>
            </a:r>
          </a:p>
          <a:p>
            <a:pPr lvl="1" algn="just"/>
            <a:r>
              <a:rPr lang="en-US" dirty="0" smtClean="0"/>
              <a:t>Global </a:t>
            </a:r>
            <a:r>
              <a:rPr lang="en-US" dirty="0"/>
              <a:t>Warming Potential (GWP</a:t>
            </a:r>
            <a:r>
              <a:rPr lang="en-US" dirty="0" smtClean="0"/>
              <a:t>)</a:t>
            </a:r>
          </a:p>
          <a:p>
            <a:pPr lvl="1" algn="just"/>
            <a:r>
              <a:rPr lang="en-US" dirty="0"/>
              <a:t>Damage to Eco-System Quality (DESQ</a:t>
            </a:r>
            <a:r>
              <a:rPr lang="en-US" dirty="0" smtClean="0"/>
              <a:t>)</a:t>
            </a:r>
          </a:p>
          <a:p>
            <a:pPr lvl="1" algn="just"/>
            <a:r>
              <a:rPr lang="en-US" dirty="0"/>
              <a:t>Damage to Resource Availability (DRA</a:t>
            </a:r>
            <a:r>
              <a:rPr lang="en-US" dirty="0" smtClean="0"/>
              <a:t>),</a:t>
            </a:r>
          </a:p>
          <a:p>
            <a:pPr lvl="1" algn="just"/>
            <a:r>
              <a:rPr lang="en-US" dirty="0"/>
              <a:t>Damage to Human Health (DHH</a:t>
            </a:r>
            <a:r>
              <a:rPr lang="en-US" dirty="0" smtClean="0"/>
              <a:t>)</a:t>
            </a:r>
            <a:endParaRPr lang="en-US" dirty="0"/>
          </a:p>
        </p:txBody>
      </p:sp>
      <p:pic>
        <p:nvPicPr>
          <p:cNvPr id="3" name="Picture 2"/>
          <p:cNvPicPr>
            <a:picLocks noChangeAspect="1"/>
          </p:cNvPicPr>
          <p:nvPr/>
        </p:nvPicPr>
        <p:blipFill>
          <a:blip r:embed="rId2"/>
          <a:stretch>
            <a:fillRect/>
          </a:stretch>
        </p:blipFill>
        <p:spPr>
          <a:xfrm>
            <a:off x="7310438" y="663332"/>
            <a:ext cx="4422775" cy="5942255"/>
          </a:xfrm>
          <a:prstGeom prst="rect">
            <a:avLst/>
          </a:prstGeom>
        </p:spPr>
      </p:pic>
    </p:spTree>
    <p:extLst>
      <p:ext uri="{BB962C8B-B14F-4D97-AF65-F5344CB8AC3E}">
        <p14:creationId xmlns:p14="http://schemas.microsoft.com/office/powerpoint/2010/main" val="9396592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1737" y="247907"/>
            <a:ext cx="10990263" cy="568412"/>
          </a:xfrm>
        </p:spPr>
        <p:txBody>
          <a:bodyPr/>
          <a:lstStyle/>
          <a:p>
            <a:r>
              <a:rPr lang="sv-SE" dirty="0"/>
              <a:t>Research Problem &amp; </a:t>
            </a:r>
            <a:r>
              <a:rPr lang="sv-SE" dirty="0" err="1"/>
              <a:t>Objectives</a:t>
            </a:r>
            <a:endParaRPr lang="sv-SE" dirty="0"/>
          </a:p>
        </p:txBody>
      </p:sp>
      <p:sp>
        <p:nvSpPr>
          <p:cNvPr id="6" name="Content Placeholder 5"/>
          <p:cNvSpPr>
            <a:spLocks noGrp="1"/>
          </p:cNvSpPr>
          <p:nvPr>
            <p:ph idx="1"/>
          </p:nvPr>
        </p:nvSpPr>
        <p:spPr>
          <a:xfrm>
            <a:off x="390526" y="1062719"/>
            <a:ext cx="6153150" cy="5752032"/>
          </a:xfrm>
        </p:spPr>
        <p:txBody>
          <a:bodyPr/>
          <a:lstStyle/>
          <a:p>
            <a:pPr marL="0" indent="0" algn="just">
              <a:buNone/>
            </a:pPr>
            <a:r>
              <a:rPr lang="en-US" b="1" dirty="0"/>
              <a:t>Research Problem</a:t>
            </a:r>
            <a:r>
              <a:rPr lang="en-US" b="1" dirty="0" smtClean="0"/>
              <a:t>:</a:t>
            </a:r>
          </a:p>
          <a:p>
            <a:pPr algn="just"/>
            <a:r>
              <a:rPr lang="en-US" dirty="0" smtClean="0"/>
              <a:t>How </a:t>
            </a:r>
            <a:r>
              <a:rPr lang="en-US" dirty="0"/>
              <a:t>to design traction inverters for electric trucks that not only </a:t>
            </a:r>
            <a:r>
              <a:rPr lang="en-US" u="sng" dirty="0"/>
              <a:t>maximize energy efficiency </a:t>
            </a:r>
            <a:r>
              <a:rPr lang="en-US" dirty="0"/>
              <a:t>but also </a:t>
            </a:r>
            <a:r>
              <a:rPr lang="en-US" u="sng" dirty="0"/>
              <a:t>minimize environmental impacts</a:t>
            </a:r>
            <a:r>
              <a:rPr lang="en-US" dirty="0" smtClean="0"/>
              <a:t>.</a:t>
            </a:r>
          </a:p>
          <a:p>
            <a:pPr marL="0" indent="0" algn="just">
              <a:buNone/>
            </a:pPr>
            <a:r>
              <a:rPr lang="en-US" b="1" dirty="0" smtClean="0"/>
              <a:t>Objectives: </a:t>
            </a:r>
          </a:p>
          <a:p>
            <a:pPr algn="just"/>
            <a:r>
              <a:rPr lang="en-US" dirty="0" smtClean="0"/>
              <a:t>Extend </a:t>
            </a:r>
            <a:r>
              <a:rPr lang="en-US" dirty="0"/>
              <a:t>multi-objective optimization of traction inverters to include</a:t>
            </a:r>
            <a:r>
              <a:rPr lang="en-US" dirty="0" smtClean="0"/>
              <a:t>:</a:t>
            </a:r>
          </a:p>
          <a:p>
            <a:pPr lvl="1" algn="just"/>
            <a:r>
              <a:rPr lang="en-US" sz="2000" dirty="0" smtClean="0"/>
              <a:t>Carbon footprint (GWP, DESQ, DRA, DHH)</a:t>
            </a:r>
          </a:p>
          <a:p>
            <a:pPr lvl="1" algn="just"/>
            <a:r>
              <a:rPr lang="en-US" sz="2000" dirty="0" smtClean="0"/>
              <a:t>Material </a:t>
            </a:r>
            <a:r>
              <a:rPr lang="en-US" sz="2000" dirty="0"/>
              <a:t>efficiency (</a:t>
            </a:r>
            <a:r>
              <a:rPr lang="en-US" sz="2000" u="sng" dirty="0"/>
              <a:t>circular economy</a:t>
            </a:r>
            <a:r>
              <a:rPr lang="en-US" sz="2000" dirty="0" smtClean="0"/>
              <a:t>)</a:t>
            </a:r>
          </a:p>
          <a:p>
            <a:pPr lvl="1" algn="just"/>
            <a:r>
              <a:rPr lang="en-US" sz="2000" u="sng" dirty="0" smtClean="0"/>
              <a:t>Recycling </a:t>
            </a:r>
            <a:r>
              <a:rPr lang="en-US" sz="2000" u="sng" dirty="0"/>
              <a:t>potential</a:t>
            </a:r>
            <a:r>
              <a:rPr lang="en-US" sz="2000" dirty="0"/>
              <a:t> at the end of </a:t>
            </a:r>
            <a:r>
              <a:rPr lang="en-US" sz="2000" dirty="0" smtClean="0"/>
              <a:t>life</a:t>
            </a:r>
          </a:p>
          <a:p>
            <a:pPr algn="just"/>
            <a:r>
              <a:rPr lang="en-US" dirty="0" smtClean="0"/>
              <a:t>Evaluate </a:t>
            </a:r>
            <a:r>
              <a:rPr lang="en-US" dirty="0"/>
              <a:t>design trade-offs between efficiency, environmental impact, and power density. </a:t>
            </a:r>
            <a:endParaRPr lang="en-US" dirty="0" smtClean="0"/>
          </a:p>
          <a:p>
            <a:pPr algn="just"/>
            <a:r>
              <a:rPr lang="en-US" dirty="0" smtClean="0"/>
              <a:t>Evaluate </a:t>
            </a:r>
            <a:r>
              <a:rPr lang="en-US" u="sng" dirty="0"/>
              <a:t>different inverter topologies </a:t>
            </a:r>
            <a:r>
              <a:rPr lang="en-US" dirty="0"/>
              <a:t>(e.g., </a:t>
            </a:r>
            <a:r>
              <a:rPr lang="en-US" dirty="0" smtClean="0"/>
              <a:t>2-level vs. SPB </a:t>
            </a:r>
            <a:r>
              <a:rPr lang="en-US" dirty="0"/>
              <a:t>vs. multilevel) using </a:t>
            </a:r>
            <a:r>
              <a:rPr lang="en-US" u="sng" dirty="0"/>
              <a:t>Pareto-front</a:t>
            </a:r>
            <a:r>
              <a:rPr lang="en-US" dirty="0"/>
              <a:t> analysis</a:t>
            </a:r>
            <a:r>
              <a:rPr lang="en-US" dirty="0" smtClean="0"/>
              <a:t>.</a:t>
            </a:r>
          </a:p>
          <a:p>
            <a:pPr algn="just"/>
            <a:r>
              <a:rPr lang="en-US" dirty="0" smtClean="0"/>
              <a:t>Include </a:t>
            </a:r>
            <a:r>
              <a:rPr lang="en-US" u="sng" dirty="0"/>
              <a:t>life-cycle assessment (LCA) metrics </a:t>
            </a:r>
            <a:r>
              <a:rPr lang="en-US" dirty="0"/>
              <a:t>in the design phase, considering the use phase of the inverter in electric trucks.</a:t>
            </a:r>
            <a:endParaRPr lang="en-US" dirty="0" smtClean="0"/>
          </a:p>
          <a:p>
            <a:endParaRPr lang="en-US" sz="2400" dirty="0" smtClean="0"/>
          </a:p>
          <a:p>
            <a:endParaRPr lang="sv-SE" sz="2400" dirty="0"/>
          </a:p>
        </p:txBody>
      </p:sp>
      <p:pic>
        <p:nvPicPr>
          <p:cNvPr id="5" name="Picture 4"/>
          <p:cNvPicPr>
            <a:picLocks noChangeAspect="1"/>
          </p:cNvPicPr>
          <p:nvPr/>
        </p:nvPicPr>
        <p:blipFill>
          <a:blip r:embed="rId2"/>
          <a:stretch>
            <a:fillRect/>
          </a:stretch>
        </p:blipFill>
        <p:spPr>
          <a:xfrm>
            <a:off x="8386634" y="167588"/>
            <a:ext cx="3624811" cy="6532344"/>
          </a:xfrm>
          <a:prstGeom prst="rect">
            <a:avLst/>
          </a:prstGeom>
        </p:spPr>
      </p:pic>
    </p:spTree>
    <p:extLst>
      <p:ext uri="{BB962C8B-B14F-4D97-AF65-F5344CB8AC3E}">
        <p14:creationId xmlns:p14="http://schemas.microsoft.com/office/powerpoint/2010/main" val="26589353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125" y="209807"/>
            <a:ext cx="10990263" cy="568412"/>
          </a:xfrm>
        </p:spPr>
        <p:txBody>
          <a:bodyPr/>
          <a:lstStyle/>
          <a:p>
            <a:r>
              <a:rPr lang="en-US" dirty="0"/>
              <a:t>Adopted </a:t>
            </a:r>
            <a:r>
              <a:rPr lang="sv-SE" dirty="0" err="1" smtClean="0"/>
              <a:t>Methodology</a:t>
            </a:r>
            <a:endParaRPr lang="sv-SE" dirty="0"/>
          </a:p>
        </p:txBody>
      </p:sp>
      <p:sp>
        <p:nvSpPr>
          <p:cNvPr id="3" name="Content Placeholder 2"/>
          <p:cNvSpPr>
            <a:spLocks noGrp="1"/>
          </p:cNvSpPr>
          <p:nvPr>
            <p:ph idx="1"/>
          </p:nvPr>
        </p:nvSpPr>
        <p:spPr>
          <a:xfrm>
            <a:off x="428626" y="1129394"/>
            <a:ext cx="6419850" cy="5432044"/>
          </a:xfrm>
        </p:spPr>
        <p:txBody>
          <a:bodyPr/>
          <a:lstStyle/>
          <a:p>
            <a:pPr marL="0" indent="0" algn="just">
              <a:buNone/>
            </a:pPr>
            <a:r>
              <a:rPr lang="en-US" b="1" dirty="0" smtClean="0"/>
              <a:t>Life-Cycle </a:t>
            </a:r>
            <a:r>
              <a:rPr lang="en-US" b="1" dirty="0"/>
              <a:t>Assessment (LCA</a:t>
            </a:r>
            <a:r>
              <a:rPr lang="en-US" b="1" dirty="0" smtClean="0"/>
              <a:t>):</a:t>
            </a:r>
          </a:p>
          <a:p>
            <a:pPr lvl="1" algn="just"/>
            <a:r>
              <a:rPr lang="en-US" sz="2000" dirty="0" smtClean="0"/>
              <a:t>Assess </a:t>
            </a:r>
            <a:r>
              <a:rPr lang="en-US" sz="2000" dirty="0"/>
              <a:t>all stages of the traction inverter lifecycle: </a:t>
            </a:r>
            <a:r>
              <a:rPr lang="en-US" sz="2000" u="sng" dirty="0"/>
              <a:t>manufacturing</a:t>
            </a:r>
            <a:r>
              <a:rPr lang="en-US" sz="2000" dirty="0"/>
              <a:t>, </a:t>
            </a:r>
            <a:r>
              <a:rPr lang="en-US" sz="2000" u="sng" dirty="0" smtClean="0"/>
              <a:t>use-phase</a:t>
            </a:r>
            <a:r>
              <a:rPr lang="en-US" sz="2000" dirty="0"/>
              <a:t>, and</a:t>
            </a:r>
            <a:r>
              <a:rPr lang="en-US" sz="2000" u="sng" dirty="0"/>
              <a:t> end-of-life</a:t>
            </a:r>
            <a:r>
              <a:rPr lang="en-US" sz="2000" dirty="0" smtClean="0"/>
              <a:t>.</a:t>
            </a:r>
          </a:p>
          <a:p>
            <a:pPr lvl="1" algn="just"/>
            <a:r>
              <a:rPr lang="en-US" sz="2000" dirty="0" smtClean="0"/>
              <a:t>Incorporate </a:t>
            </a:r>
            <a:r>
              <a:rPr lang="en-US" sz="2000" dirty="0"/>
              <a:t>environmental metrics such as GWP, resource depletion, and recyclability</a:t>
            </a:r>
            <a:r>
              <a:rPr lang="en-US" sz="2000" dirty="0" smtClean="0"/>
              <a:t>.</a:t>
            </a:r>
          </a:p>
          <a:p>
            <a:pPr marL="0" indent="0" algn="just">
              <a:buNone/>
            </a:pPr>
            <a:r>
              <a:rPr lang="en-US" b="1" dirty="0" smtClean="0"/>
              <a:t>Multi-Objective </a:t>
            </a:r>
            <a:r>
              <a:rPr lang="en-US" b="1" dirty="0"/>
              <a:t>Optimization</a:t>
            </a:r>
            <a:r>
              <a:rPr lang="en-US" b="1" dirty="0" smtClean="0"/>
              <a:t>:</a:t>
            </a:r>
          </a:p>
          <a:p>
            <a:pPr lvl="1" algn="just"/>
            <a:r>
              <a:rPr lang="en-US" sz="2000" dirty="0" smtClean="0"/>
              <a:t>Extend </a:t>
            </a:r>
            <a:r>
              <a:rPr lang="en-US" sz="2000" dirty="0"/>
              <a:t>traditional optimization (efficiency, cost, power density) to include LCA results</a:t>
            </a:r>
            <a:r>
              <a:rPr lang="en-US" sz="2000" dirty="0" smtClean="0"/>
              <a:t>.</a:t>
            </a:r>
          </a:p>
          <a:p>
            <a:pPr lvl="1" algn="just"/>
            <a:r>
              <a:rPr lang="en-US" sz="2000" dirty="0" smtClean="0"/>
              <a:t>Use </a:t>
            </a:r>
            <a:r>
              <a:rPr lang="en-US" sz="2000" u="sng" dirty="0"/>
              <a:t>Pareto-front analysis </a:t>
            </a:r>
            <a:r>
              <a:rPr lang="en-US" sz="2000" dirty="0"/>
              <a:t>to balance conflicting objectives (e.g., higher efficiency vs. higher material footprint</a:t>
            </a:r>
            <a:r>
              <a:rPr lang="en-US" sz="2000" dirty="0" smtClean="0"/>
              <a:t>).</a:t>
            </a:r>
          </a:p>
          <a:p>
            <a:pPr marL="0" indent="0" algn="just">
              <a:buNone/>
            </a:pPr>
            <a:r>
              <a:rPr lang="en-US" b="1" dirty="0"/>
              <a:t>Tools</a:t>
            </a:r>
            <a:r>
              <a:rPr lang="en-US" dirty="0"/>
              <a:t>: Optimization algorithm (e.g., MATLAB), modeling of </a:t>
            </a:r>
            <a:r>
              <a:rPr lang="en-US" dirty="0" err="1"/>
              <a:t>SiC</a:t>
            </a:r>
            <a:r>
              <a:rPr lang="en-US" dirty="0"/>
              <a:t> and Si components, and switching frequency </a:t>
            </a:r>
            <a:r>
              <a:rPr lang="en-US" dirty="0" smtClean="0"/>
              <a:t>evaluation.</a:t>
            </a:r>
          </a:p>
          <a:p>
            <a:pPr marL="0" indent="0" algn="just">
              <a:buNone/>
            </a:pPr>
            <a:r>
              <a:rPr lang="en-US" b="1" dirty="0" smtClean="0"/>
              <a:t>Case </a:t>
            </a:r>
            <a:r>
              <a:rPr lang="en-US" b="1" dirty="0"/>
              <a:t>Study: </a:t>
            </a:r>
            <a:r>
              <a:rPr lang="en-US" dirty="0"/>
              <a:t>A comparative study of different traction inverter topologies (e.g., Si vs. </a:t>
            </a:r>
            <a:r>
              <a:rPr lang="en-US" dirty="0" err="1" smtClean="0"/>
              <a:t>SiC</a:t>
            </a:r>
            <a:r>
              <a:rPr lang="en-US" dirty="0" smtClean="0"/>
              <a:t>,  2L vs. 3L).</a:t>
            </a:r>
            <a:endParaRPr lang="sv-SE" dirty="0"/>
          </a:p>
        </p:txBody>
      </p:sp>
      <p:pic>
        <p:nvPicPr>
          <p:cNvPr id="4" name="Picture 3"/>
          <p:cNvPicPr>
            <a:picLocks noChangeAspect="1"/>
          </p:cNvPicPr>
          <p:nvPr/>
        </p:nvPicPr>
        <p:blipFill rotWithShape="1">
          <a:blip r:embed="rId2"/>
          <a:srcRect r="51203"/>
          <a:stretch/>
        </p:blipFill>
        <p:spPr>
          <a:xfrm>
            <a:off x="7353301" y="209807"/>
            <a:ext cx="4397877" cy="2947730"/>
          </a:xfrm>
          <a:prstGeom prst="rect">
            <a:avLst/>
          </a:prstGeom>
        </p:spPr>
      </p:pic>
      <p:pic>
        <p:nvPicPr>
          <p:cNvPr id="5" name="Picture 4"/>
          <p:cNvPicPr>
            <a:picLocks noChangeAspect="1"/>
          </p:cNvPicPr>
          <p:nvPr/>
        </p:nvPicPr>
        <p:blipFill rotWithShape="1">
          <a:blip r:embed="rId2"/>
          <a:srcRect l="48421"/>
          <a:stretch/>
        </p:blipFill>
        <p:spPr>
          <a:xfrm>
            <a:off x="7410206" y="3324997"/>
            <a:ext cx="4464121" cy="2830747"/>
          </a:xfrm>
          <a:prstGeom prst="rect">
            <a:avLst/>
          </a:prstGeom>
        </p:spPr>
      </p:pic>
    </p:spTree>
    <p:extLst>
      <p:ext uri="{BB962C8B-B14F-4D97-AF65-F5344CB8AC3E}">
        <p14:creationId xmlns:p14="http://schemas.microsoft.com/office/powerpoint/2010/main" val="11984132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550" y="286007"/>
            <a:ext cx="10990263" cy="568412"/>
          </a:xfrm>
        </p:spPr>
        <p:txBody>
          <a:bodyPr/>
          <a:lstStyle/>
          <a:p>
            <a:r>
              <a:rPr lang="sv-SE" dirty="0" err="1"/>
              <a:t>Application</a:t>
            </a:r>
            <a:r>
              <a:rPr lang="sv-SE" dirty="0"/>
              <a:t> to </a:t>
            </a:r>
            <a:r>
              <a:rPr lang="sv-SE" dirty="0" err="1"/>
              <a:t>Traction</a:t>
            </a:r>
            <a:r>
              <a:rPr lang="sv-SE" dirty="0"/>
              <a:t> </a:t>
            </a:r>
            <a:r>
              <a:rPr lang="sv-SE" dirty="0" err="1"/>
              <a:t>Inverters</a:t>
            </a:r>
            <a:endParaRPr lang="sv-SE" dirty="0"/>
          </a:p>
        </p:txBody>
      </p:sp>
      <p:sp>
        <p:nvSpPr>
          <p:cNvPr id="3" name="Content Placeholder 2"/>
          <p:cNvSpPr>
            <a:spLocks noGrp="1"/>
          </p:cNvSpPr>
          <p:nvPr>
            <p:ph idx="1"/>
          </p:nvPr>
        </p:nvSpPr>
        <p:spPr>
          <a:xfrm>
            <a:off x="609600" y="1319894"/>
            <a:ext cx="6353175" cy="4453808"/>
          </a:xfrm>
        </p:spPr>
        <p:txBody>
          <a:bodyPr/>
          <a:lstStyle/>
          <a:p>
            <a:pPr marL="0" indent="0" algn="just">
              <a:buNone/>
            </a:pPr>
            <a:r>
              <a:rPr lang="en-US" sz="2400" b="1" dirty="0"/>
              <a:t>Optimization Process</a:t>
            </a:r>
            <a:r>
              <a:rPr lang="en-US" sz="2400" b="1" dirty="0" smtClean="0"/>
              <a:t>:</a:t>
            </a:r>
          </a:p>
          <a:p>
            <a:pPr algn="just"/>
            <a:r>
              <a:rPr lang="en-US" sz="2400" dirty="0" smtClean="0"/>
              <a:t>Compare </a:t>
            </a:r>
            <a:r>
              <a:rPr lang="en-US" sz="2400" u="sng" dirty="0"/>
              <a:t>2-level</a:t>
            </a:r>
            <a:r>
              <a:rPr lang="en-US" sz="2400" dirty="0"/>
              <a:t> </a:t>
            </a:r>
            <a:r>
              <a:rPr lang="en-US" sz="2400" dirty="0" smtClean="0"/>
              <a:t>vs. SPB (series-parallel) vs</a:t>
            </a:r>
            <a:r>
              <a:rPr lang="en-US" sz="2400" dirty="0"/>
              <a:t>. </a:t>
            </a:r>
            <a:r>
              <a:rPr lang="en-US" sz="2400" u="sng" dirty="0" smtClean="0"/>
              <a:t>Multilevel</a:t>
            </a:r>
            <a:r>
              <a:rPr lang="en-US" sz="2400" dirty="0" smtClean="0"/>
              <a:t> </a:t>
            </a:r>
            <a:r>
              <a:rPr lang="en-US" sz="2400" dirty="0"/>
              <a:t>(e.g., 3-level, </a:t>
            </a:r>
            <a:r>
              <a:rPr lang="en-US" sz="2400" dirty="0" smtClean="0"/>
              <a:t>5-level) </a:t>
            </a:r>
            <a:r>
              <a:rPr lang="en-US" sz="2400" dirty="0"/>
              <a:t>inverter topologies</a:t>
            </a:r>
            <a:r>
              <a:rPr lang="en-US" sz="2400" dirty="0" smtClean="0"/>
              <a:t>.</a:t>
            </a:r>
          </a:p>
          <a:p>
            <a:pPr algn="just"/>
            <a:r>
              <a:rPr lang="en-US" sz="2400" dirty="0" smtClean="0"/>
              <a:t>Evaluate </a:t>
            </a:r>
            <a:r>
              <a:rPr lang="en-US" sz="2400" dirty="0"/>
              <a:t>key parameters</a:t>
            </a:r>
            <a:r>
              <a:rPr lang="en-US" sz="2400" dirty="0" smtClean="0"/>
              <a:t>:</a:t>
            </a:r>
          </a:p>
          <a:p>
            <a:pPr lvl="1" algn="just"/>
            <a:r>
              <a:rPr lang="en-US" sz="2400" dirty="0" smtClean="0"/>
              <a:t>Switching </a:t>
            </a:r>
            <a:r>
              <a:rPr lang="en-US" sz="2400" dirty="0"/>
              <a:t>frequency vs. losses and efficiency</a:t>
            </a:r>
            <a:r>
              <a:rPr lang="en-US" sz="2400" dirty="0" smtClean="0"/>
              <a:t>.</a:t>
            </a:r>
          </a:p>
          <a:p>
            <a:pPr lvl="1" algn="just"/>
            <a:r>
              <a:rPr lang="en-US" sz="2400" dirty="0" smtClean="0"/>
              <a:t>Component-level </a:t>
            </a:r>
            <a:r>
              <a:rPr lang="en-US" sz="2400" dirty="0"/>
              <a:t>impacts (semiconductors, capacitors, PCBs, etc</a:t>
            </a:r>
            <a:r>
              <a:rPr lang="en-US" sz="2400" dirty="0" smtClean="0"/>
              <a:t>.).</a:t>
            </a:r>
          </a:p>
          <a:p>
            <a:pPr algn="just"/>
            <a:r>
              <a:rPr lang="en-US" sz="2400" dirty="0" smtClean="0"/>
              <a:t>Use </a:t>
            </a:r>
            <a:r>
              <a:rPr lang="en-US" sz="2400" dirty="0"/>
              <a:t>of mission profiles to optimize the use-phase emissions (e.g., hours of operation per day for electric </a:t>
            </a:r>
            <a:r>
              <a:rPr lang="en-US" sz="2400" dirty="0" smtClean="0"/>
              <a:t>trucks).</a:t>
            </a:r>
            <a:endParaRPr lang="sv-SE" sz="2400" dirty="0"/>
          </a:p>
        </p:txBody>
      </p:sp>
      <p:pic>
        <p:nvPicPr>
          <p:cNvPr id="4" name="Picture 3"/>
          <p:cNvPicPr>
            <a:picLocks noChangeAspect="1"/>
          </p:cNvPicPr>
          <p:nvPr/>
        </p:nvPicPr>
        <p:blipFill>
          <a:blip r:embed="rId2"/>
          <a:stretch>
            <a:fillRect/>
          </a:stretch>
        </p:blipFill>
        <p:spPr>
          <a:xfrm>
            <a:off x="7224713" y="1943100"/>
            <a:ext cx="4551554" cy="3573427"/>
          </a:xfrm>
          <a:prstGeom prst="rect">
            <a:avLst/>
          </a:prstGeom>
        </p:spPr>
      </p:pic>
    </p:spTree>
    <p:extLst>
      <p:ext uri="{BB962C8B-B14F-4D97-AF65-F5344CB8AC3E}">
        <p14:creationId xmlns:p14="http://schemas.microsoft.com/office/powerpoint/2010/main" val="33316069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9650" y="286007"/>
            <a:ext cx="10990263" cy="568412"/>
          </a:xfrm>
        </p:spPr>
        <p:txBody>
          <a:bodyPr/>
          <a:lstStyle/>
          <a:p>
            <a:r>
              <a:rPr lang="sv-SE" dirty="0" err="1"/>
              <a:t>Expected</a:t>
            </a:r>
            <a:r>
              <a:rPr lang="sv-SE" dirty="0"/>
              <a:t> </a:t>
            </a:r>
            <a:r>
              <a:rPr lang="en-US" dirty="0"/>
              <a:t>Scientific </a:t>
            </a:r>
            <a:r>
              <a:rPr lang="sv-SE" dirty="0" err="1" smtClean="0"/>
              <a:t>Contributions</a:t>
            </a:r>
            <a:endParaRPr lang="sv-SE" dirty="0"/>
          </a:p>
        </p:txBody>
      </p:sp>
      <p:sp>
        <p:nvSpPr>
          <p:cNvPr id="3" name="Content Placeholder 2"/>
          <p:cNvSpPr>
            <a:spLocks noGrp="1"/>
          </p:cNvSpPr>
          <p:nvPr>
            <p:ph idx="1"/>
          </p:nvPr>
        </p:nvSpPr>
        <p:spPr>
          <a:xfrm>
            <a:off x="495301" y="1338944"/>
            <a:ext cx="6438900" cy="4453808"/>
          </a:xfrm>
        </p:spPr>
        <p:txBody>
          <a:bodyPr/>
          <a:lstStyle/>
          <a:p>
            <a:pPr algn="just"/>
            <a:r>
              <a:rPr lang="en-US" sz="2400" b="1" dirty="0" smtClean="0"/>
              <a:t>Novelty</a:t>
            </a:r>
            <a:r>
              <a:rPr lang="en-US" sz="2400" b="1" dirty="0"/>
              <a:t>: </a:t>
            </a:r>
            <a:r>
              <a:rPr lang="en-US" sz="2400" dirty="0"/>
              <a:t>Introduce environmental impact as a key dimension in traction inverter design optimization</a:t>
            </a:r>
            <a:r>
              <a:rPr lang="en-US" sz="2400" dirty="0" smtClean="0"/>
              <a:t>.</a:t>
            </a:r>
          </a:p>
          <a:p>
            <a:pPr algn="just"/>
            <a:endParaRPr lang="en-US" sz="2400" dirty="0" smtClean="0"/>
          </a:p>
          <a:p>
            <a:pPr algn="just"/>
            <a:r>
              <a:rPr lang="en-US" sz="2400" b="1" dirty="0" smtClean="0"/>
              <a:t>Framework</a:t>
            </a:r>
            <a:r>
              <a:rPr lang="en-US" sz="2400" b="1" dirty="0"/>
              <a:t>: </a:t>
            </a:r>
            <a:r>
              <a:rPr lang="en-US" sz="2400" dirty="0"/>
              <a:t>Develop a comprehensive framework for integrating environmental factors in </a:t>
            </a:r>
            <a:r>
              <a:rPr lang="en-US" sz="2400" dirty="0" smtClean="0"/>
              <a:t>the early </a:t>
            </a:r>
            <a:r>
              <a:rPr lang="en-US" sz="2400" dirty="0"/>
              <a:t>design stages</a:t>
            </a:r>
            <a:r>
              <a:rPr lang="en-US" sz="2400" dirty="0" smtClean="0"/>
              <a:t>.</a:t>
            </a:r>
          </a:p>
          <a:p>
            <a:pPr algn="just"/>
            <a:endParaRPr lang="en-US" sz="2400" dirty="0" smtClean="0"/>
          </a:p>
          <a:p>
            <a:pPr algn="just"/>
            <a:r>
              <a:rPr lang="en-US" sz="2400" b="1" dirty="0" smtClean="0"/>
              <a:t>Case </a:t>
            </a:r>
            <a:r>
              <a:rPr lang="en-US" sz="2400" b="1" dirty="0"/>
              <a:t>Study: </a:t>
            </a:r>
            <a:r>
              <a:rPr lang="en-US" sz="2400" dirty="0"/>
              <a:t>Provide real-world </a:t>
            </a:r>
            <a:r>
              <a:rPr lang="en-US" sz="2400" dirty="0" smtClean="0"/>
              <a:t>data (e.g., </a:t>
            </a:r>
            <a:r>
              <a:rPr lang="en-US" sz="2400" u="sng" dirty="0" smtClean="0"/>
              <a:t>drive cycles</a:t>
            </a:r>
            <a:r>
              <a:rPr lang="en-US" sz="2400" dirty="0" smtClean="0"/>
              <a:t>) </a:t>
            </a:r>
            <a:r>
              <a:rPr lang="en-US" sz="2400" dirty="0"/>
              <a:t>and insights on the environmental trade-offs of different inverter topologies.</a:t>
            </a:r>
            <a:endParaRPr lang="sv-SE" sz="2400" dirty="0"/>
          </a:p>
        </p:txBody>
      </p:sp>
      <p:pic>
        <p:nvPicPr>
          <p:cNvPr id="4" name="Picture 3"/>
          <p:cNvPicPr>
            <a:picLocks noChangeAspect="1"/>
          </p:cNvPicPr>
          <p:nvPr/>
        </p:nvPicPr>
        <p:blipFill>
          <a:blip r:embed="rId2"/>
          <a:stretch>
            <a:fillRect/>
          </a:stretch>
        </p:blipFill>
        <p:spPr>
          <a:xfrm>
            <a:off x="7336507" y="1619249"/>
            <a:ext cx="4199934" cy="4491719"/>
          </a:xfrm>
          <a:prstGeom prst="rect">
            <a:avLst/>
          </a:prstGeom>
        </p:spPr>
      </p:pic>
    </p:spTree>
    <p:extLst>
      <p:ext uri="{BB962C8B-B14F-4D97-AF65-F5344CB8AC3E}">
        <p14:creationId xmlns:p14="http://schemas.microsoft.com/office/powerpoint/2010/main" val="26516173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7750" y="371732"/>
            <a:ext cx="10990263" cy="568412"/>
          </a:xfrm>
        </p:spPr>
        <p:txBody>
          <a:bodyPr/>
          <a:lstStyle/>
          <a:p>
            <a:r>
              <a:rPr lang="sv-SE" dirty="0" err="1" smtClean="0"/>
              <a:t>Expected</a:t>
            </a:r>
            <a:r>
              <a:rPr lang="sv-SE" dirty="0" smtClean="0"/>
              <a:t> </a:t>
            </a:r>
            <a:r>
              <a:rPr lang="sv-SE" dirty="0" err="1" smtClean="0"/>
              <a:t>Results</a:t>
            </a:r>
            <a:endParaRPr lang="sv-SE" dirty="0"/>
          </a:p>
        </p:txBody>
      </p:sp>
      <p:sp>
        <p:nvSpPr>
          <p:cNvPr id="3" name="Content Placeholder 2"/>
          <p:cNvSpPr>
            <a:spLocks noGrp="1"/>
          </p:cNvSpPr>
          <p:nvPr>
            <p:ph idx="1"/>
          </p:nvPr>
        </p:nvSpPr>
        <p:spPr>
          <a:xfrm>
            <a:off x="304801" y="1281793"/>
            <a:ext cx="6153150" cy="5270895"/>
          </a:xfrm>
        </p:spPr>
        <p:txBody>
          <a:bodyPr/>
          <a:lstStyle/>
          <a:p>
            <a:pPr marL="0" indent="0" algn="just">
              <a:buNone/>
            </a:pPr>
            <a:r>
              <a:rPr lang="en-US" sz="2400" b="1" dirty="0"/>
              <a:t>Expected Outcomes</a:t>
            </a:r>
            <a:r>
              <a:rPr lang="en-US" sz="2400" b="1" dirty="0" smtClean="0"/>
              <a:t>:</a:t>
            </a:r>
          </a:p>
          <a:p>
            <a:pPr algn="just"/>
            <a:r>
              <a:rPr lang="en-US" sz="2400" dirty="0" smtClean="0"/>
              <a:t>Achieve </a:t>
            </a:r>
            <a:r>
              <a:rPr lang="en-US" sz="2400" dirty="0"/>
              <a:t>optimized designs with higher efficiency and lower environmental footprint (e.g., lower GWP</a:t>
            </a:r>
            <a:r>
              <a:rPr lang="en-US" sz="2400" dirty="0" smtClean="0"/>
              <a:t>).</a:t>
            </a:r>
          </a:p>
          <a:p>
            <a:pPr algn="just"/>
            <a:endParaRPr lang="en-US" sz="2400" dirty="0" smtClean="0"/>
          </a:p>
          <a:p>
            <a:pPr marL="0" indent="0" algn="just">
              <a:buNone/>
            </a:pPr>
            <a:r>
              <a:rPr lang="en-US" sz="2400" b="1" dirty="0" smtClean="0"/>
              <a:t>Design </a:t>
            </a:r>
            <a:r>
              <a:rPr lang="en-US" sz="2400" b="1" dirty="0"/>
              <a:t>Trade-offs</a:t>
            </a:r>
            <a:r>
              <a:rPr lang="en-US" sz="2400" b="1" dirty="0" smtClean="0"/>
              <a:t>:</a:t>
            </a:r>
          </a:p>
          <a:p>
            <a:pPr algn="just"/>
            <a:r>
              <a:rPr lang="en-US" sz="2400" dirty="0" smtClean="0"/>
              <a:t>Higher </a:t>
            </a:r>
            <a:r>
              <a:rPr lang="en-US" sz="2400" dirty="0"/>
              <a:t>switching frequencies reduce passive component size but increase semiconductor losses</a:t>
            </a:r>
            <a:r>
              <a:rPr lang="en-US" sz="2400" dirty="0" smtClean="0"/>
              <a:t>.</a:t>
            </a:r>
          </a:p>
          <a:p>
            <a:pPr algn="just"/>
            <a:r>
              <a:rPr lang="en-US" sz="2400" dirty="0" smtClean="0"/>
              <a:t>Inverter </a:t>
            </a:r>
            <a:r>
              <a:rPr lang="en-US" sz="2400" dirty="0"/>
              <a:t>design with an initially higher environmental impact (e.g., larger components) might yield lower lifecycle emissions due to superior efficiency</a:t>
            </a:r>
            <a:r>
              <a:rPr lang="en-US" sz="2400" dirty="0" smtClean="0"/>
              <a:t>.</a:t>
            </a:r>
          </a:p>
        </p:txBody>
      </p:sp>
      <p:pic>
        <p:nvPicPr>
          <p:cNvPr id="4" name="Picture 3"/>
          <p:cNvPicPr>
            <a:picLocks noChangeAspect="1"/>
          </p:cNvPicPr>
          <p:nvPr/>
        </p:nvPicPr>
        <p:blipFill>
          <a:blip r:embed="rId2"/>
          <a:stretch>
            <a:fillRect/>
          </a:stretch>
        </p:blipFill>
        <p:spPr>
          <a:xfrm>
            <a:off x="8131969" y="281863"/>
            <a:ext cx="2595562" cy="3745111"/>
          </a:xfrm>
          <a:prstGeom prst="rect">
            <a:avLst/>
          </a:prstGeom>
        </p:spPr>
      </p:pic>
      <p:pic>
        <p:nvPicPr>
          <p:cNvPr id="5" name="Picture 4"/>
          <p:cNvPicPr>
            <a:picLocks noChangeAspect="1"/>
          </p:cNvPicPr>
          <p:nvPr/>
        </p:nvPicPr>
        <p:blipFill>
          <a:blip r:embed="rId3"/>
          <a:stretch>
            <a:fillRect/>
          </a:stretch>
        </p:blipFill>
        <p:spPr>
          <a:xfrm>
            <a:off x="7636716" y="4162424"/>
            <a:ext cx="3392440" cy="2333115"/>
          </a:xfrm>
          <a:prstGeom prst="rect">
            <a:avLst/>
          </a:prstGeom>
        </p:spPr>
      </p:pic>
      <p:sp>
        <p:nvSpPr>
          <p:cNvPr id="6" name="TextBox 5"/>
          <p:cNvSpPr txBox="1"/>
          <p:nvPr/>
        </p:nvSpPr>
        <p:spPr>
          <a:xfrm>
            <a:off x="10841831" y="929028"/>
            <a:ext cx="857250" cy="369332"/>
          </a:xfrm>
          <a:prstGeom prst="rect">
            <a:avLst/>
          </a:prstGeom>
          <a:noFill/>
        </p:spPr>
        <p:txBody>
          <a:bodyPr wrap="square" rtlCol="0">
            <a:spAutoFit/>
          </a:bodyPr>
          <a:lstStyle/>
          <a:p>
            <a:r>
              <a:rPr lang="en-US" dirty="0" smtClean="0"/>
              <a:t>3LTT</a:t>
            </a:r>
            <a:endParaRPr lang="sv-SE" dirty="0"/>
          </a:p>
        </p:txBody>
      </p:sp>
      <p:sp>
        <p:nvSpPr>
          <p:cNvPr id="7" name="TextBox 6"/>
          <p:cNvSpPr txBox="1"/>
          <p:nvPr/>
        </p:nvSpPr>
        <p:spPr>
          <a:xfrm>
            <a:off x="10841831" y="3026119"/>
            <a:ext cx="1350169" cy="369332"/>
          </a:xfrm>
          <a:prstGeom prst="rect">
            <a:avLst/>
          </a:prstGeom>
          <a:noFill/>
        </p:spPr>
        <p:txBody>
          <a:bodyPr wrap="square" rtlCol="0">
            <a:spAutoFit/>
          </a:bodyPr>
          <a:lstStyle/>
          <a:p>
            <a:r>
              <a:rPr lang="en-US" dirty="0" smtClean="0"/>
              <a:t>7LHANPC</a:t>
            </a:r>
            <a:endParaRPr lang="sv-SE" dirty="0"/>
          </a:p>
        </p:txBody>
      </p:sp>
    </p:spTree>
    <p:extLst>
      <p:ext uri="{BB962C8B-B14F-4D97-AF65-F5344CB8AC3E}">
        <p14:creationId xmlns:p14="http://schemas.microsoft.com/office/powerpoint/2010/main" val="33137923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0" y="362207"/>
            <a:ext cx="10990263" cy="568412"/>
          </a:xfrm>
        </p:spPr>
        <p:txBody>
          <a:bodyPr/>
          <a:lstStyle/>
          <a:p>
            <a:r>
              <a:rPr lang="sv-SE" dirty="0" err="1" smtClean="0"/>
              <a:t>Impact</a:t>
            </a:r>
            <a:endParaRPr lang="sv-SE" dirty="0"/>
          </a:p>
        </p:txBody>
      </p:sp>
      <p:sp>
        <p:nvSpPr>
          <p:cNvPr id="3" name="Content Placeholder 2"/>
          <p:cNvSpPr>
            <a:spLocks noGrp="1"/>
          </p:cNvSpPr>
          <p:nvPr>
            <p:ph idx="1"/>
          </p:nvPr>
        </p:nvSpPr>
        <p:spPr>
          <a:xfrm>
            <a:off x="606254" y="1371895"/>
            <a:ext cx="10990263" cy="4453808"/>
          </a:xfrm>
        </p:spPr>
        <p:txBody>
          <a:bodyPr/>
          <a:lstStyle/>
          <a:p>
            <a:pPr marL="0" indent="0" algn="just">
              <a:buNone/>
            </a:pPr>
            <a:r>
              <a:rPr lang="sv-SE" sz="2800" b="1" dirty="0" smtClean="0"/>
              <a:t>Industry</a:t>
            </a:r>
            <a:r>
              <a:rPr lang="sv-SE" sz="2800" b="1" dirty="0"/>
              <a:t>: </a:t>
            </a:r>
            <a:r>
              <a:rPr lang="sv-SE" sz="2800" dirty="0"/>
              <a:t>Support the design </a:t>
            </a:r>
            <a:r>
              <a:rPr lang="sv-SE" sz="2800" dirty="0" err="1"/>
              <a:t>of</a:t>
            </a:r>
            <a:r>
              <a:rPr lang="sv-SE" sz="2800" dirty="0"/>
              <a:t> </a:t>
            </a:r>
            <a:r>
              <a:rPr lang="sv-SE" sz="2800" dirty="0" err="1"/>
              <a:t>more</a:t>
            </a:r>
            <a:r>
              <a:rPr lang="sv-SE" sz="2800" dirty="0"/>
              <a:t> </a:t>
            </a:r>
            <a:r>
              <a:rPr lang="sv-SE" sz="2800" u="sng" dirty="0" err="1"/>
              <a:t>sustainable</a:t>
            </a:r>
            <a:r>
              <a:rPr lang="sv-SE" sz="2800" dirty="0"/>
              <a:t> </a:t>
            </a:r>
            <a:r>
              <a:rPr lang="sv-SE" sz="2800" dirty="0" err="1"/>
              <a:t>electric</a:t>
            </a:r>
            <a:r>
              <a:rPr lang="sv-SE" sz="2800" dirty="0"/>
              <a:t> truck </a:t>
            </a:r>
            <a:r>
              <a:rPr lang="sv-SE" sz="2800" dirty="0" err="1"/>
              <a:t>power</a:t>
            </a:r>
            <a:r>
              <a:rPr lang="sv-SE" sz="2800" dirty="0"/>
              <a:t> systems</a:t>
            </a:r>
            <a:r>
              <a:rPr lang="sv-SE" sz="2800" dirty="0" smtClean="0"/>
              <a:t>.</a:t>
            </a:r>
          </a:p>
          <a:p>
            <a:pPr marL="0" indent="0" algn="just">
              <a:buNone/>
            </a:pPr>
            <a:endParaRPr lang="sv-SE" sz="2800" dirty="0" smtClean="0"/>
          </a:p>
          <a:p>
            <a:pPr marL="0" indent="0" algn="just">
              <a:buNone/>
            </a:pPr>
            <a:r>
              <a:rPr lang="sv-SE" sz="2800" b="1" dirty="0" err="1" smtClean="0"/>
              <a:t>Regulation</a:t>
            </a:r>
            <a:r>
              <a:rPr lang="sv-SE" sz="2800" b="1" dirty="0"/>
              <a:t>: </a:t>
            </a:r>
            <a:r>
              <a:rPr lang="sv-SE" sz="2800" dirty="0" err="1"/>
              <a:t>Align</a:t>
            </a:r>
            <a:r>
              <a:rPr lang="sv-SE" sz="2800" dirty="0"/>
              <a:t> </a:t>
            </a:r>
            <a:r>
              <a:rPr lang="sv-SE" sz="2800" dirty="0" err="1"/>
              <a:t>inverter</a:t>
            </a:r>
            <a:r>
              <a:rPr lang="sv-SE" sz="2800" dirty="0"/>
              <a:t> designs </a:t>
            </a:r>
            <a:r>
              <a:rPr lang="sv-SE" sz="2800" dirty="0" err="1"/>
              <a:t>with</a:t>
            </a:r>
            <a:r>
              <a:rPr lang="sv-SE" sz="2800" dirty="0"/>
              <a:t> </a:t>
            </a:r>
            <a:r>
              <a:rPr lang="sv-SE" sz="2800" dirty="0" err="1"/>
              <a:t>upcoming</a:t>
            </a:r>
            <a:r>
              <a:rPr lang="sv-SE" sz="2800" dirty="0"/>
              <a:t> </a:t>
            </a:r>
            <a:r>
              <a:rPr lang="sv-SE" sz="2800" u="sng" dirty="0" err="1"/>
              <a:t>environmental</a:t>
            </a:r>
            <a:r>
              <a:rPr lang="sv-SE" sz="2800" u="sng" dirty="0"/>
              <a:t> </a:t>
            </a:r>
            <a:r>
              <a:rPr lang="sv-SE" sz="2800" u="sng" dirty="0" err="1"/>
              <a:t>policies</a:t>
            </a:r>
            <a:r>
              <a:rPr lang="sv-SE" sz="2800" dirty="0"/>
              <a:t> (</a:t>
            </a:r>
            <a:r>
              <a:rPr lang="sv-SE" sz="2800" dirty="0" err="1"/>
              <a:t>e.g</a:t>
            </a:r>
            <a:r>
              <a:rPr lang="sv-SE" sz="2800" dirty="0"/>
              <a:t>., EU </a:t>
            </a:r>
            <a:r>
              <a:rPr lang="sv-SE" sz="2800" dirty="0" err="1"/>
              <a:t>Circular</a:t>
            </a:r>
            <a:r>
              <a:rPr lang="sv-SE" sz="2800" dirty="0"/>
              <a:t> </a:t>
            </a:r>
            <a:r>
              <a:rPr lang="sv-SE" sz="2800" dirty="0" err="1"/>
              <a:t>Economy</a:t>
            </a:r>
            <a:r>
              <a:rPr lang="sv-SE" sz="2800" dirty="0"/>
              <a:t> Action Plan</a:t>
            </a:r>
            <a:r>
              <a:rPr lang="sv-SE" sz="2800" dirty="0" smtClean="0"/>
              <a:t>).</a:t>
            </a:r>
          </a:p>
          <a:p>
            <a:pPr marL="0" indent="0" algn="just">
              <a:buNone/>
            </a:pPr>
            <a:endParaRPr lang="en-US" sz="2800" dirty="0"/>
          </a:p>
          <a:p>
            <a:pPr marL="0" indent="0" algn="just">
              <a:buNone/>
            </a:pPr>
            <a:r>
              <a:rPr lang="en-US" sz="2800" b="1" dirty="0"/>
              <a:t>Real-World </a:t>
            </a:r>
            <a:r>
              <a:rPr lang="en-US" sz="2800" b="1" dirty="0" smtClean="0"/>
              <a:t>Impact: </a:t>
            </a:r>
            <a:r>
              <a:rPr lang="en-US" sz="2800" dirty="0" smtClean="0"/>
              <a:t>Support </a:t>
            </a:r>
            <a:r>
              <a:rPr lang="en-US" sz="2800" dirty="0"/>
              <a:t>regulatory alignment with </a:t>
            </a:r>
            <a:r>
              <a:rPr lang="en-US" sz="2800" u="sng" dirty="0"/>
              <a:t>circular economy</a:t>
            </a:r>
            <a:r>
              <a:rPr lang="en-US" sz="2800" dirty="0"/>
              <a:t> principles and CO2 tax incentives for the trucking industry</a:t>
            </a:r>
            <a:r>
              <a:rPr lang="en-US" sz="2800" dirty="0" smtClean="0"/>
              <a:t>.</a:t>
            </a:r>
            <a:endParaRPr lang="sv-SE" sz="2800" dirty="0" smtClean="0"/>
          </a:p>
        </p:txBody>
      </p:sp>
    </p:spTree>
    <p:extLst>
      <p:ext uri="{BB962C8B-B14F-4D97-AF65-F5344CB8AC3E}">
        <p14:creationId xmlns:p14="http://schemas.microsoft.com/office/powerpoint/2010/main" val="102621370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9175" y="282832"/>
            <a:ext cx="10990263" cy="568412"/>
          </a:xfrm>
        </p:spPr>
        <p:txBody>
          <a:bodyPr/>
          <a:lstStyle/>
          <a:p>
            <a:r>
              <a:rPr lang="en-US" sz="3200" dirty="0" smtClean="0"/>
              <a:t>Topologies– 2 Level or Multilevel VSIs</a:t>
            </a:r>
            <a:endParaRPr lang="sv-SE" sz="3200" dirty="0"/>
          </a:p>
        </p:txBody>
      </p:sp>
      <p:pic>
        <p:nvPicPr>
          <p:cNvPr id="4" name="Picture 3"/>
          <p:cNvPicPr>
            <a:picLocks noChangeAspect="1"/>
          </p:cNvPicPr>
          <p:nvPr/>
        </p:nvPicPr>
        <p:blipFill>
          <a:blip r:embed="rId2"/>
          <a:stretch>
            <a:fillRect/>
          </a:stretch>
        </p:blipFill>
        <p:spPr>
          <a:xfrm>
            <a:off x="6514306" y="927444"/>
            <a:ext cx="5324812" cy="5248275"/>
          </a:xfrm>
          <a:prstGeom prst="rect">
            <a:avLst/>
          </a:prstGeom>
        </p:spPr>
      </p:pic>
      <p:pic>
        <p:nvPicPr>
          <p:cNvPr id="5" name="Picture 4"/>
          <p:cNvPicPr>
            <a:picLocks noChangeAspect="1"/>
          </p:cNvPicPr>
          <p:nvPr/>
        </p:nvPicPr>
        <p:blipFill>
          <a:blip r:embed="rId3"/>
          <a:stretch>
            <a:fillRect/>
          </a:stretch>
        </p:blipFill>
        <p:spPr>
          <a:xfrm>
            <a:off x="923925" y="1540563"/>
            <a:ext cx="4305300" cy="2574237"/>
          </a:xfrm>
          <a:prstGeom prst="rect">
            <a:avLst/>
          </a:prstGeom>
        </p:spPr>
      </p:pic>
      <p:sp>
        <p:nvSpPr>
          <p:cNvPr id="6" name="TextBox 5"/>
          <p:cNvSpPr txBox="1"/>
          <p:nvPr/>
        </p:nvSpPr>
        <p:spPr>
          <a:xfrm>
            <a:off x="923925" y="4622191"/>
            <a:ext cx="4714875" cy="1477328"/>
          </a:xfrm>
          <a:prstGeom prst="rect">
            <a:avLst/>
          </a:prstGeom>
          <a:noFill/>
        </p:spPr>
        <p:txBody>
          <a:bodyPr wrap="square" rtlCol="0">
            <a:spAutoFit/>
          </a:bodyPr>
          <a:lstStyle/>
          <a:p>
            <a:r>
              <a:rPr lang="en-US" dirty="0" smtClean="0"/>
              <a:t>Possible Semiconductor Technology</a:t>
            </a:r>
          </a:p>
          <a:p>
            <a:pPr marL="285750" indent="-285750">
              <a:buFont typeface="Arial" panose="020B0604020202020204" pitchFamily="34" charset="0"/>
              <a:buChar char="•"/>
            </a:pPr>
            <a:r>
              <a:rPr lang="en-US" dirty="0" smtClean="0"/>
              <a:t>2L- </a:t>
            </a:r>
            <a:r>
              <a:rPr lang="en-US" dirty="0" err="1" smtClean="0"/>
              <a:t>SiC</a:t>
            </a:r>
            <a:endParaRPr lang="en-US" dirty="0" smtClean="0"/>
          </a:p>
          <a:p>
            <a:pPr marL="285750" indent="-285750">
              <a:buFont typeface="Arial" panose="020B0604020202020204" pitchFamily="34" charset="0"/>
              <a:buChar char="•"/>
            </a:pPr>
            <a:r>
              <a:rPr lang="en-US" dirty="0" smtClean="0"/>
              <a:t>3L- </a:t>
            </a:r>
            <a:r>
              <a:rPr lang="en-US" dirty="0" err="1" smtClean="0"/>
              <a:t>SiC</a:t>
            </a:r>
            <a:r>
              <a:rPr lang="en-US" dirty="0" smtClean="0"/>
              <a:t> </a:t>
            </a:r>
          </a:p>
          <a:p>
            <a:pPr marL="285750" indent="-285750">
              <a:buFont typeface="Arial" panose="020B0604020202020204" pitchFamily="34" charset="0"/>
              <a:buChar char="•"/>
            </a:pPr>
            <a:r>
              <a:rPr lang="en-US" dirty="0" smtClean="0"/>
              <a:t>5L- </a:t>
            </a:r>
            <a:r>
              <a:rPr lang="en-US" dirty="0" err="1" smtClean="0"/>
              <a:t>GaN</a:t>
            </a:r>
            <a:r>
              <a:rPr lang="en-US" dirty="0" smtClean="0"/>
              <a:t> </a:t>
            </a:r>
          </a:p>
          <a:p>
            <a:pPr marL="285750" indent="-285750">
              <a:buFont typeface="Arial" panose="020B0604020202020204" pitchFamily="34" charset="0"/>
              <a:buChar char="•"/>
            </a:pPr>
            <a:r>
              <a:rPr lang="en-US" dirty="0" smtClean="0"/>
              <a:t>7L- Si</a:t>
            </a:r>
            <a:endParaRPr lang="sv-SE" dirty="0"/>
          </a:p>
        </p:txBody>
      </p:sp>
    </p:spTree>
    <p:extLst>
      <p:ext uri="{BB962C8B-B14F-4D97-AF65-F5344CB8AC3E}">
        <p14:creationId xmlns:p14="http://schemas.microsoft.com/office/powerpoint/2010/main" val="16574167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9175" y="282832"/>
            <a:ext cx="10990263" cy="568412"/>
          </a:xfrm>
        </p:spPr>
        <p:txBody>
          <a:bodyPr/>
          <a:lstStyle/>
          <a:p>
            <a:r>
              <a:rPr lang="en-US" sz="3200" dirty="0" smtClean="0"/>
              <a:t>Topologies– SPB or PPB to Introduce Modularity</a:t>
            </a:r>
            <a:endParaRPr lang="sv-SE" sz="3200" dirty="0"/>
          </a:p>
        </p:txBody>
      </p:sp>
      <p:pic>
        <p:nvPicPr>
          <p:cNvPr id="9" name="Picture 8"/>
          <p:cNvPicPr>
            <a:picLocks noChangeAspect="1"/>
          </p:cNvPicPr>
          <p:nvPr/>
        </p:nvPicPr>
        <p:blipFill>
          <a:blip r:embed="rId2"/>
          <a:stretch>
            <a:fillRect/>
          </a:stretch>
        </p:blipFill>
        <p:spPr>
          <a:xfrm>
            <a:off x="1123991" y="1096709"/>
            <a:ext cx="1843369" cy="1935155"/>
          </a:xfrm>
          <a:prstGeom prst="rect">
            <a:avLst/>
          </a:prstGeom>
        </p:spPr>
      </p:pic>
      <p:pic>
        <p:nvPicPr>
          <p:cNvPr id="10" name="Picture 9"/>
          <p:cNvPicPr>
            <a:picLocks noChangeAspect="1"/>
          </p:cNvPicPr>
          <p:nvPr/>
        </p:nvPicPr>
        <p:blipFill>
          <a:blip r:embed="rId3"/>
          <a:stretch>
            <a:fillRect/>
          </a:stretch>
        </p:blipFill>
        <p:spPr>
          <a:xfrm>
            <a:off x="1123991" y="3548161"/>
            <a:ext cx="1859848" cy="2132123"/>
          </a:xfrm>
          <a:prstGeom prst="rect">
            <a:avLst/>
          </a:prstGeom>
        </p:spPr>
      </p:pic>
      <p:sp>
        <p:nvSpPr>
          <p:cNvPr id="11" name="Rectangle 10"/>
          <p:cNvSpPr/>
          <p:nvPr/>
        </p:nvSpPr>
        <p:spPr>
          <a:xfrm>
            <a:off x="0" y="3124197"/>
            <a:ext cx="3576620" cy="369332"/>
          </a:xfrm>
          <a:prstGeom prst="rect">
            <a:avLst/>
          </a:prstGeom>
        </p:spPr>
        <p:txBody>
          <a:bodyPr wrap="none">
            <a:spAutoFit/>
          </a:bodyPr>
          <a:lstStyle/>
          <a:p>
            <a:r>
              <a:rPr lang="en-US" dirty="0"/>
              <a:t>S</a:t>
            </a:r>
            <a:r>
              <a:rPr lang="en-US" dirty="0" smtClean="0"/>
              <a:t>tacked </a:t>
            </a:r>
            <a:r>
              <a:rPr lang="en-US" dirty="0" err="1"/>
              <a:t>polyphase</a:t>
            </a:r>
            <a:r>
              <a:rPr lang="en-US" dirty="0"/>
              <a:t> bridges (SPB)</a:t>
            </a:r>
          </a:p>
        </p:txBody>
      </p:sp>
      <p:sp>
        <p:nvSpPr>
          <p:cNvPr id="12" name="Rectangle 11"/>
          <p:cNvSpPr/>
          <p:nvPr/>
        </p:nvSpPr>
        <p:spPr>
          <a:xfrm>
            <a:off x="0" y="5810318"/>
            <a:ext cx="4661854" cy="369332"/>
          </a:xfrm>
          <a:prstGeom prst="rect">
            <a:avLst/>
          </a:prstGeom>
        </p:spPr>
        <p:txBody>
          <a:bodyPr wrap="none">
            <a:spAutoFit/>
          </a:bodyPr>
          <a:lstStyle/>
          <a:p>
            <a:r>
              <a:rPr lang="en-US" dirty="0" smtClean="0"/>
              <a:t>Parallel-connected </a:t>
            </a:r>
            <a:r>
              <a:rPr lang="en-US" dirty="0" err="1"/>
              <a:t>polyphase</a:t>
            </a:r>
            <a:r>
              <a:rPr lang="en-US" dirty="0"/>
              <a:t> bridges (PPB)</a:t>
            </a:r>
          </a:p>
        </p:txBody>
      </p:sp>
      <p:sp>
        <p:nvSpPr>
          <p:cNvPr id="13" name="Rectangle 12"/>
          <p:cNvSpPr/>
          <p:nvPr/>
        </p:nvSpPr>
        <p:spPr>
          <a:xfrm>
            <a:off x="4905375" y="941070"/>
            <a:ext cx="6509386" cy="5693866"/>
          </a:xfrm>
          <a:prstGeom prst="rect">
            <a:avLst/>
          </a:prstGeom>
        </p:spPr>
        <p:txBody>
          <a:bodyPr wrap="square">
            <a:spAutoFit/>
          </a:bodyPr>
          <a:lstStyle/>
          <a:p>
            <a:pPr algn="just"/>
            <a:r>
              <a:rPr lang="en-US" sz="1400" b="1" dirty="0" smtClean="0"/>
              <a:t>Fault </a:t>
            </a:r>
            <a:r>
              <a:rPr lang="en-US" sz="1400" b="1" dirty="0"/>
              <a:t>Tolerance</a:t>
            </a:r>
            <a:r>
              <a:rPr lang="en-US" sz="1400" dirty="0"/>
              <a:t>:</a:t>
            </a:r>
          </a:p>
          <a:p>
            <a:pPr marL="742950" lvl="1" indent="-285750" algn="just">
              <a:buFont typeface="Arial" panose="020B0604020202020204" pitchFamily="34" charset="0"/>
              <a:buChar char="•"/>
            </a:pPr>
            <a:r>
              <a:rPr lang="en-US" sz="1400" b="1" dirty="0"/>
              <a:t>Modular Architecture</a:t>
            </a:r>
            <a:r>
              <a:rPr lang="en-US" sz="1400" dirty="0"/>
              <a:t>: SPB modules can operate independently, enabling </a:t>
            </a:r>
            <a:r>
              <a:rPr lang="en-US" sz="1400" b="1" dirty="0"/>
              <a:t>continued operation</a:t>
            </a:r>
            <a:r>
              <a:rPr lang="en-US" sz="1400" dirty="0"/>
              <a:t> during faults.</a:t>
            </a:r>
          </a:p>
          <a:p>
            <a:pPr marL="742950" lvl="1" indent="-285750" algn="just">
              <a:buFont typeface="Arial" panose="020B0604020202020204" pitchFamily="34" charset="0"/>
              <a:buChar char="•"/>
            </a:pPr>
            <a:r>
              <a:rPr lang="en-US" sz="1400" b="1" dirty="0"/>
              <a:t>Redundancy</a:t>
            </a:r>
            <a:r>
              <a:rPr lang="en-US" sz="1400" dirty="0"/>
              <a:t>: Enables </a:t>
            </a:r>
            <a:r>
              <a:rPr lang="en-US" sz="1400" b="1" dirty="0"/>
              <a:t>partial load operation</a:t>
            </a:r>
            <a:r>
              <a:rPr lang="en-US" sz="1400" dirty="0"/>
              <a:t> even when a module fails, minimizing system downtime.</a:t>
            </a:r>
          </a:p>
          <a:p>
            <a:pPr algn="just"/>
            <a:r>
              <a:rPr lang="en-US" sz="1400" b="1" dirty="0"/>
              <a:t>Modularity</a:t>
            </a:r>
            <a:r>
              <a:rPr lang="en-US" sz="1400" dirty="0"/>
              <a:t>:</a:t>
            </a:r>
          </a:p>
          <a:p>
            <a:pPr marL="742950" lvl="1" indent="-285750" algn="just">
              <a:buFont typeface="Arial" panose="020B0604020202020204" pitchFamily="34" charset="0"/>
              <a:buChar char="•"/>
            </a:pPr>
            <a:r>
              <a:rPr lang="en-US" sz="1400" b="1" dirty="0"/>
              <a:t>Scalability</a:t>
            </a:r>
            <a:r>
              <a:rPr lang="en-US" sz="1400" dirty="0"/>
              <a:t>: SPB's modular structure supports </a:t>
            </a:r>
            <a:r>
              <a:rPr lang="en-US" sz="1400" b="1" dirty="0"/>
              <a:t>different power levels</a:t>
            </a:r>
            <a:r>
              <a:rPr lang="en-US" sz="1400" dirty="0"/>
              <a:t>, adapting to the specific needs of electric trucks (urban vs. long-haul).</a:t>
            </a:r>
          </a:p>
          <a:p>
            <a:pPr marL="742950" lvl="1" indent="-285750" algn="just">
              <a:buFont typeface="Arial" panose="020B0604020202020204" pitchFamily="34" charset="0"/>
              <a:buChar char="•"/>
            </a:pPr>
            <a:r>
              <a:rPr lang="en-US" sz="1400" b="1" dirty="0"/>
              <a:t>Easier Maintenance</a:t>
            </a:r>
            <a:r>
              <a:rPr lang="en-US" sz="1400" dirty="0"/>
              <a:t>: Modular components simplify repair and replacement, reducing operational disruptions.</a:t>
            </a:r>
          </a:p>
          <a:p>
            <a:pPr algn="just"/>
            <a:r>
              <a:rPr lang="en-US" sz="1400" b="1" dirty="0"/>
              <a:t>Multi-Phase Operation</a:t>
            </a:r>
            <a:r>
              <a:rPr lang="en-US" sz="1400" dirty="0"/>
              <a:t>:</a:t>
            </a:r>
          </a:p>
          <a:p>
            <a:pPr marL="742950" lvl="1" indent="-285750" algn="just">
              <a:buFont typeface="Arial" panose="020B0604020202020204" pitchFamily="34" charset="0"/>
              <a:buChar char="•"/>
            </a:pPr>
            <a:r>
              <a:rPr lang="en-US" sz="1400" b="1" dirty="0"/>
              <a:t>Improved Efficiency</a:t>
            </a:r>
            <a:r>
              <a:rPr lang="en-US" sz="1400" dirty="0"/>
              <a:t>: SPB supports </a:t>
            </a:r>
            <a:r>
              <a:rPr lang="en-US" sz="1400" b="1" dirty="0"/>
              <a:t>3-, 6-, 9-, or 12-phase configurations</a:t>
            </a:r>
            <a:r>
              <a:rPr lang="en-US" sz="1400" dirty="0"/>
              <a:t>, optimizing power delivery and motor performance for different applications</a:t>
            </a:r>
            <a:r>
              <a:rPr lang="en-US" sz="1400" dirty="0" smtClean="0"/>
              <a:t>.  </a:t>
            </a:r>
          </a:p>
          <a:p>
            <a:pPr marL="742950" lvl="1" indent="-285750" algn="just">
              <a:buFont typeface="Arial" panose="020B0604020202020204" pitchFamily="34" charset="0"/>
              <a:buChar char="•"/>
            </a:pPr>
            <a:r>
              <a:rPr lang="en-US" sz="1400" b="1" dirty="0" smtClean="0"/>
              <a:t>Variable Phase-Pole: </a:t>
            </a:r>
            <a:r>
              <a:rPr lang="en-US" sz="1400" dirty="0" smtClean="0"/>
              <a:t>SPB</a:t>
            </a:r>
            <a:r>
              <a:rPr lang="en-US" sz="1400" b="1" dirty="0" smtClean="0"/>
              <a:t> </a:t>
            </a:r>
            <a:r>
              <a:rPr lang="en-US" sz="1400" dirty="0"/>
              <a:t>s</a:t>
            </a:r>
            <a:r>
              <a:rPr lang="en-US" sz="1400" dirty="0" smtClean="0"/>
              <a:t>upports variable phase-pole configuration on the stator side, which can increase the overall efficiency along with the drive cycle. </a:t>
            </a:r>
            <a:endParaRPr lang="en-US" sz="1400" b="1" dirty="0"/>
          </a:p>
          <a:p>
            <a:pPr marL="742950" lvl="1" indent="-285750" algn="just">
              <a:buFont typeface="Arial" panose="020B0604020202020204" pitchFamily="34" charset="0"/>
              <a:buChar char="•"/>
            </a:pPr>
            <a:r>
              <a:rPr lang="en-US" sz="1400" b="1" dirty="0"/>
              <a:t>Ripple Reduction</a:t>
            </a:r>
            <a:r>
              <a:rPr lang="en-US" sz="1400" dirty="0"/>
              <a:t>: Multi-phase operation reduces current ripple, improving the overall efficiency and torque smoothness.</a:t>
            </a:r>
          </a:p>
          <a:p>
            <a:pPr algn="just"/>
            <a:r>
              <a:rPr lang="en-US" sz="1400" b="1" dirty="0"/>
              <a:t>Interleaving</a:t>
            </a:r>
            <a:r>
              <a:rPr lang="en-US" sz="1400" dirty="0"/>
              <a:t>:</a:t>
            </a:r>
          </a:p>
          <a:p>
            <a:pPr marL="742950" lvl="1" indent="-285750" algn="just">
              <a:buFont typeface="Arial" panose="020B0604020202020204" pitchFamily="34" charset="0"/>
              <a:buChar char="•"/>
            </a:pPr>
            <a:r>
              <a:rPr lang="en-US" sz="1400" b="1" dirty="0"/>
              <a:t>Current Ripple Reduction</a:t>
            </a:r>
            <a:r>
              <a:rPr lang="en-US" sz="1400" dirty="0"/>
              <a:t>: Interleaving SPB modules minimizes current ripple, reducing the need for bulky filters and enhancing power quality.</a:t>
            </a:r>
          </a:p>
          <a:p>
            <a:pPr marL="742950" lvl="1" indent="-285750" algn="just">
              <a:buFont typeface="Arial" panose="020B0604020202020204" pitchFamily="34" charset="0"/>
              <a:buChar char="•"/>
            </a:pPr>
            <a:r>
              <a:rPr lang="en-US" sz="1400" b="1" dirty="0"/>
              <a:t>Thermal Management</a:t>
            </a:r>
            <a:r>
              <a:rPr lang="en-US" sz="1400" dirty="0"/>
              <a:t>: Distributes heat generation more evenly across modules, improving </a:t>
            </a:r>
            <a:r>
              <a:rPr lang="en-US" sz="1400" b="1" dirty="0"/>
              <a:t>thermal performance</a:t>
            </a:r>
            <a:r>
              <a:rPr lang="en-US" sz="1400" dirty="0"/>
              <a:t> and extending the lifespan of components.</a:t>
            </a:r>
          </a:p>
        </p:txBody>
      </p:sp>
    </p:spTree>
    <p:extLst>
      <p:ext uri="{BB962C8B-B14F-4D97-AF65-F5344CB8AC3E}">
        <p14:creationId xmlns:p14="http://schemas.microsoft.com/office/powerpoint/2010/main" val="38583888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62207"/>
            <a:ext cx="10990263" cy="568412"/>
          </a:xfrm>
        </p:spPr>
        <p:txBody>
          <a:bodyPr/>
          <a:lstStyle/>
          <a:p>
            <a:r>
              <a:rPr lang="en-US" dirty="0" smtClean="0"/>
              <a:t>References</a:t>
            </a:r>
            <a:endParaRPr lang="sv-SE" dirty="0"/>
          </a:p>
        </p:txBody>
      </p:sp>
      <p:sp>
        <p:nvSpPr>
          <p:cNvPr id="3" name="Content Placeholder 2"/>
          <p:cNvSpPr>
            <a:spLocks noGrp="1"/>
          </p:cNvSpPr>
          <p:nvPr>
            <p:ph idx="1"/>
          </p:nvPr>
        </p:nvSpPr>
        <p:spPr>
          <a:xfrm>
            <a:off x="600075" y="1105930"/>
            <a:ext cx="10990263" cy="5220222"/>
          </a:xfrm>
        </p:spPr>
        <p:txBody>
          <a:bodyPr/>
          <a:lstStyle/>
          <a:p>
            <a:r>
              <a:rPr lang="sv-SE" sz="1600" dirty="0" err="1" smtClean="0"/>
              <a:t>Rohner</a:t>
            </a:r>
            <a:r>
              <a:rPr lang="sv-SE" sz="1600" dirty="0"/>
              <a:t>, G., Kolar, J. W., </a:t>
            </a:r>
            <a:r>
              <a:rPr lang="sv-SE" sz="1600" dirty="0" err="1"/>
              <a:t>Bortis</a:t>
            </a:r>
            <a:r>
              <a:rPr lang="sv-SE" sz="1600" dirty="0"/>
              <a:t>, D., &amp; Schweizer, M. (2022). </a:t>
            </a:r>
            <a:r>
              <a:rPr lang="en-US" sz="1600" dirty="0"/>
              <a:t>Optimal Level Number and Performance Evaluation of Si/</a:t>
            </a:r>
            <a:r>
              <a:rPr lang="en-US" sz="1600" dirty="0" err="1"/>
              <a:t>GaN</a:t>
            </a:r>
            <a:r>
              <a:rPr lang="en-US" sz="1600" dirty="0"/>
              <a:t> Multi-Level Flying Capacitor Inverter for Variable Speed Drive Systems. </a:t>
            </a:r>
            <a:r>
              <a:rPr lang="en-US" sz="1600" i="1" dirty="0"/>
              <a:t>2022 International Conference on Electrical Machines and Systems, ICEMS 2022</a:t>
            </a:r>
            <a:r>
              <a:rPr lang="en-US" sz="1600" dirty="0"/>
              <a:t>, 1–6. </a:t>
            </a:r>
            <a:r>
              <a:rPr lang="en-US" sz="1600" dirty="0">
                <a:hlinkClick r:id="rId2"/>
              </a:rPr>
              <a:t>https://</a:t>
            </a:r>
            <a:r>
              <a:rPr lang="en-US" sz="1600" dirty="0" smtClean="0">
                <a:hlinkClick r:id="rId2"/>
              </a:rPr>
              <a:t>doi.org/10.1109/ICEMS56177.2022.9982999</a:t>
            </a:r>
            <a:endParaRPr lang="en-US" sz="1600" dirty="0" smtClean="0"/>
          </a:p>
          <a:p>
            <a:r>
              <a:rPr lang="sv-SE" sz="1600" dirty="0" err="1"/>
              <a:t>Rohner</a:t>
            </a:r>
            <a:r>
              <a:rPr lang="sv-SE" sz="1600" dirty="0"/>
              <a:t>, G., </a:t>
            </a:r>
            <a:r>
              <a:rPr lang="sv-SE" sz="1600" dirty="0" err="1"/>
              <a:t>Gfrorer</a:t>
            </a:r>
            <a:r>
              <a:rPr lang="sv-SE" sz="1600" dirty="0"/>
              <a:t>, T., </a:t>
            </a:r>
            <a:r>
              <a:rPr lang="sv-SE" sz="1600" dirty="0" err="1"/>
              <a:t>Niklaus</a:t>
            </a:r>
            <a:r>
              <a:rPr lang="sv-SE" sz="1600" dirty="0"/>
              <a:t>, P. S., Huber, J., </a:t>
            </a:r>
            <a:r>
              <a:rPr lang="sv-SE" sz="1600" dirty="0" err="1"/>
              <a:t>Bortis</a:t>
            </a:r>
            <a:r>
              <a:rPr lang="sv-SE" sz="1600" dirty="0"/>
              <a:t>, D., Schweizer, M., &amp; Kolar, J. W. (2023). </a:t>
            </a:r>
            <a:r>
              <a:rPr lang="en-US" sz="1600" dirty="0"/>
              <a:t>Hardware-Based Comparative Analysis of Multilevel Inverter Topologies for Integrated Motor Drives Considering Overload Operation. </a:t>
            </a:r>
            <a:r>
              <a:rPr lang="en-US" sz="1600" i="1" dirty="0"/>
              <a:t>IEEE Open Journal of Power Electronics</a:t>
            </a:r>
            <a:r>
              <a:rPr lang="en-US" sz="1600" dirty="0"/>
              <a:t>, </a:t>
            </a:r>
            <a:r>
              <a:rPr lang="en-US" sz="1600" i="1" dirty="0"/>
              <a:t>4</a:t>
            </a:r>
            <a:r>
              <a:rPr lang="en-US" sz="1600" dirty="0"/>
              <a:t>(August), 934–944. </a:t>
            </a:r>
            <a:r>
              <a:rPr lang="en-US" sz="1600" dirty="0">
                <a:hlinkClick r:id="rId3"/>
              </a:rPr>
              <a:t>https://doi.org/10.1109/OJPEL.2023.3327423</a:t>
            </a:r>
            <a:endParaRPr lang="en-US" sz="1600" dirty="0"/>
          </a:p>
          <a:p>
            <a:r>
              <a:rPr lang="sv-SE" sz="1600" dirty="0" err="1"/>
              <a:t>Rohner</a:t>
            </a:r>
            <a:r>
              <a:rPr lang="sv-SE" sz="1600" dirty="0"/>
              <a:t>, G., Huber, J., </a:t>
            </a:r>
            <a:r>
              <a:rPr lang="sv-SE" sz="1600" dirty="0" err="1"/>
              <a:t>Mirić</a:t>
            </a:r>
            <a:r>
              <a:rPr lang="sv-SE" sz="1600" dirty="0"/>
              <a:t>, S., &amp; Kolar, J. W. (2024). </a:t>
            </a:r>
            <a:r>
              <a:rPr lang="en-US" sz="1600" dirty="0"/>
              <a:t>Comparative Evaluation of Three-Phase Three-Level Flying Capacitor and Stacked </a:t>
            </a:r>
            <a:r>
              <a:rPr lang="en-US" sz="1600" dirty="0" err="1"/>
              <a:t>Polyphase</a:t>
            </a:r>
            <a:r>
              <a:rPr lang="en-US" sz="1600" dirty="0"/>
              <a:t> Bridge </a:t>
            </a:r>
            <a:r>
              <a:rPr lang="en-US" sz="1600" dirty="0" err="1"/>
              <a:t>GaN</a:t>
            </a:r>
            <a:r>
              <a:rPr lang="en-US" sz="1600" dirty="0"/>
              <a:t> Inverter Systems for Integrated Motor Drives. </a:t>
            </a:r>
            <a:r>
              <a:rPr lang="sv-SE" sz="1600" i="1" dirty="0"/>
              <a:t>Electronics (</a:t>
            </a:r>
            <a:r>
              <a:rPr lang="sv-SE" sz="1600" i="1" dirty="0" err="1"/>
              <a:t>Switzerland</a:t>
            </a:r>
            <a:r>
              <a:rPr lang="sv-SE" sz="1600" i="1" dirty="0"/>
              <a:t>)</a:t>
            </a:r>
            <a:r>
              <a:rPr lang="sv-SE" sz="1600" dirty="0"/>
              <a:t>, </a:t>
            </a:r>
            <a:r>
              <a:rPr lang="sv-SE" sz="1600" i="1" dirty="0"/>
              <a:t>13</a:t>
            </a:r>
            <a:r>
              <a:rPr lang="sv-SE" sz="1600" dirty="0"/>
              <a:t>(7). https://doi.org/10.3390/electronics13071259</a:t>
            </a:r>
          </a:p>
          <a:p>
            <a:r>
              <a:rPr lang="en-US" sz="1600" dirty="0" err="1"/>
              <a:t>Rohner</a:t>
            </a:r>
            <a:r>
              <a:rPr lang="en-US" sz="1600" dirty="0"/>
              <a:t>, G., Huber, J., </a:t>
            </a:r>
            <a:r>
              <a:rPr lang="en-US" sz="1600" dirty="0" err="1"/>
              <a:t>Mirić</a:t>
            </a:r>
            <a:r>
              <a:rPr lang="en-US" sz="1600" dirty="0"/>
              <a:t>, S., &amp; Kolar, J. W. (2024). Comparative Evaluation of Three-Phase Three-Level Flying Capacitor and Stacked </a:t>
            </a:r>
            <a:r>
              <a:rPr lang="en-US" sz="1600" dirty="0" err="1"/>
              <a:t>Polyphase</a:t>
            </a:r>
            <a:r>
              <a:rPr lang="en-US" sz="1600" dirty="0"/>
              <a:t> Bridge </a:t>
            </a:r>
            <a:r>
              <a:rPr lang="en-US" sz="1600" dirty="0" err="1"/>
              <a:t>GaN</a:t>
            </a:r>
            <a:r>
              <a:rPr lang="en-US" sz="1600" dirty="0"/>
              <a:t> Inverter Systems for Integrated Motor Drives. </a:t>
            </a:r>
            <a:r>
              <a:rPr lang="en-US" sz="1600" i="1" dirty="0"/>
              <a:t>Electronics (Switzerland)</a:t>
            </a:r>
            <a:r>
              <a:rPr lang="en-US" sz="1600" dirty="0"/>
              <a:t>, </a:t>
            </a:r>
            <a:r>
              <a:rPr lang="en-US" sz="1600" i="1" dirty="0"/>
              <a:t>13</a:t>
            </a:r>
            <a:r>
              <a:rPr lang="en-US" sz="1600" dirty="0"/>
              <a:t>(7). https://doi.org/10.3390/electronics13071259</a:t>
            </a:r>
            <a:endParaRPr lang="sv-SE" sz="1600" dirty="0"/>
          </a:p>
          <a:p>
            <a:r>
              <a:rPr lang="en-US" sz="1600" dirty="0" err="1"/>
              <a:t>Imperiali</a:t>
            </a:r>
            <a:r>
              <a:rPr lang="en-US" sz="1600" dirty="0"/>
              <a:t>, L., </a:t>
            </a:r>
            <a:r>
              <a:rPr lang="en-US" sz="1600" dirty="0" err="1"/>
              <a:t>Menzi</a:t>
            </a:r>
            <a:r>
              <a:rPr lang="en-US" sz="1600" dirty="0"/>
              <a:t>, D., Kolar, J. W., &amp; Huber, J. (2024). Multi-Objective Minimization of Life-Cycle Environmental Impacts of Three-Phase AC-DC Converter Building Blocks. </a:t>
            </a:r>
            <a:r>
              <a:rPr lang="en-US" sz="1600" i="1" dirty="0"/>
              <a:t>Conference Proceedings - IEEE Applied Power Electronics Conference and Exposition - APEC</a:t>
            </a:r>
            <a:r>
              <a:rPr lang="en-US" sz="1600" dirty="0"/>
              <a:t>, 2994–3004. https://doi.org/10.1109/APEC48139.2024.10509190</a:t>
            </a:r>
            <a:endParaRPr lang="sv-SE" sz="1600" dirty="0"/>
          </a:p>
          <a:p>
            <a:r>
              <a:rPr lang="sv-SE" sz="1600" dirty="0"/>
              <a:t>Huber, J., </a:t>
            </a:r>
            <a:r>
              <a:rPr lang="sv-SE" sz="1600" dirty="0" err="1"/>
              <a:t>Imperiali</a:t>
            </a:r>
            <a:r>
              <a:rPr lang="sv-SE" sz="1600" dirty="0"/>
              <a:t>, L., </a:t>
            </a:r>
            <a:r>
              <a:rPr lang="sv-SE" sz="1600" dirty="0" err="1"/>
              <a:t>Menzi</a:t>
            </a:r>
            <a:r>
              <a:rPr lang="sv-SE" sz="1600" dirty="0"/>
              <a:t>, D., </a:t>
            </a:r>
            <a:r>
              <a:rPr lang="sv-SE" sz="1600" dirty="0" err="1"/>
              <a:t>Musil</a:t>
            </a:r>
            <a:r>
              <a:rPr lang="sv-SE" sz="1600" dirty="0"/>
              <a:t>, F., &amp; Kolar, J. W. (2024). </a:t>
            </a:r>
            <a:r>
              <a:rPr lang="en-US" sz="1600" dirty="0"/>
              <a:t>Life-Cycle Carbon Footprints of Low-Voltage Motor Drives with 600-V </a:t>
            </a:r>
            <a:r>
              <a:rPr lang="en-US" sz="1600" dirty="0" err="1"/>
              <a:t>GaN</a:t>
            </a:r>
            <a:r>
              <a:rPr lang="en-US" sz="1600" dirty="0"/>
              <a:t> or 650-V </a:t>
            </a:r>
            <a:r>
              <a:rPr lang="en-US" sz="1600" dirty="0" err="1"/>
              <a:t>SiC</a:t>
            </a:r>
            <a:r>
              <a:rPr lang="en-US" sz="1600" dirty="0"/>
              <a:t> Power Transistors. </a:t>
            </a:r>
            <a:r>
              <a:rPr lang="en-US" sz="1600" i="1" dirty="0"/>
              <a:t>Proceedings of the 13th International E-Conference on Integrated Power Electronics Systems </a:t>
            </a:r>
            <a:r>
              <a:rPr lang="en-US" sz="1600" dirty="0"/>
              <a:t>.</a:t>
            </a:r>
            <a:endParaRPr lang="sv-SE" sz="1600" dirty="0"/>
          </a:p>
          <a:p>
            <a:r>
              <a:rPr lang="sv-SE" sz="1600" dirty="0"/>
              <a:t>Huber, J., </a:t>
            </a:r>
            <a:r>
              <a:rPr lang="sv-SE" sz="1600" dirty="0" err="1"/>
              <a:t>Imperiali</a:t>
            </a:r>
            <a:r>
              <a:rPr lang="sv-SE" sz="1600" dirty="0"/>
              <a:t>, L., </a:t>
            </a:r>
            <a:r>
              <a:rPr lang="sv-SE" sz="1600" dirty="0" err="1"/>
              <a:t>Menzi</a:t>
            </a:r>
            <a:r>
              <a:rPr lang="sv-SE" sz="1600" dirty="0"/>
              <a:t>, D., </a:t>
            </a:r>
            <a:r>
              <a:rPr lang="sv-SE" sz="1600" dirty="0" err="1"/>
              <a:t>Musil</a:t>
            </a:r>
            <a:r>
              <a:rPr lang="sv-SE" sz="1600" dirty="0"/>
              <a:t>, F., &amp; Kolar, J. W. (2024). </a:t>
            </a:r>
            <a:r>
              <a:rPr lang="en-US" sz="1600" dirty="0"/>
              <a:t>Energy Efficiency is Not Enough! </a:t>
            </a:r>
            <a:r>
              <a:rPr lang="en-US" sz="1600" i="1" dirty="0"/>
              <a:t>IEEE Power Electronics Magazine</a:t>
            </a:r>
            <a:r>
              <a:rPr lang="en-US" sz="1600" dirty="0"/>
              <a:t>, </a:t>
            </a:r>
            <a:r>
              <a:rPr lang="en-US" sz="1600" i="1" dirty="0"/>
              <a:t>11</a:t>
            </a:r>
            <a:r>
              <a:rPr lang="en-US" sz="1600" dirty="0"/>
              <a:t>(1), 18–31. https://doi.org/10.1109/MPEL.2024.3354013</a:t>
            </a:r>
            <a:endParaRPr lang="sv-SE" sz="1600" dirty="0"/>
          </a:p>
          <a:p>
            <a:endParaRPr lang="sv-SE" sz="1800" dirty="0"/>
          </a:p>
          <a:p>
            <a:endParaRPr lang="sv-SE" sz="1800" dirty="0"/>
          </a:p>
        </p:txBody>
      </p:sp>
    </p:spTree>
    <p:extLst>
      <p:ext uri="{BB962C8B-B14F-4D97-AF65-F5344CB8AC3E}">
        <p14:creationId xmlns:p14="http://schemas.microsoft.com/office/powerpoint/2010/main" val="38039706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62207"/>
            <a:ext cx="10990263" cy="568412"/>
          </a:xfrm>
        </p:spPr>
        <p:txBody>
          <a:bodyPr/>
          <a:lstStyle/>
          <a:p>
            <a:r>
              <a:rPr lang="en-US" dirty="0" smtClean="0"/>
              <a:t>References</a:t>
            </a:r>
            <a:endParaRPr lang="sv-SE" dirty="0"/>
          </a:p>
        </p:txBody>
      </p:sp>
      <p:sp>
        <p:nvSpPr>
          <p:cNvPr id="3" name="Content Placeholder 2"/>
          <p:cNvSpPr>
            <a:spLocks noGrp="1"/>
          </p:cNvSpPr>
          <p:nvPr>
            <p:ph idx="1"/>
          </p:nvPr>
        </p:nvSpPr>
        <p:spPr>
          <a:xfrm>
            <a:off x="600075" y="1105930"/>
            <a:ext cx="10990263" cy="5220222"/>
          </a:xfrm>
        </p:spPr>
        <p:txBody>
          <a:bodyPr/>
          <a:lstStyle/>
          <a:p>
            <a:r>
              <a:rPr lang="sv-SE" sz="1600" dirty="0" smtClean="0"/>
              <a:t>J</a:t>
            </a:r>
            <a:r>
              <a:rPr lang="sv-SE" sz="1600" dirty="0"/>
              <a:t>. Wang, Y. Li and Y. Han, "</a:t>
            </a:r>
            <a:r>
              <a:rPr lang="sv-SE" sz="1600" dirty="0" err="1"/>
              <a:t>Evaluation</a:t>
            </a:r>
            <a:r>
              <a:rPr lang="sv-SE" sz="1600" dirty="0"/>
              <a:t> and design for an </a:t>
            </a:r>
            <a:r>
              <a:rPr lang="sv-SE" sz="1600" dirty="0" err="1"/>
              <a:t>integrated</a:t>
            </a:r>
            <a:r>
              <a:rPr lang="sv-SE" sz="1600" dirty="0"/>
              <a:t> </a:t>
            </a:r>
            <a:r>
              <a:rPr lang="sv-SE" sz="1600" dirty="0" err="1"/>
              <a:t>modular</a:t>
            </a:r>
            <a:r>
              <a:rPr lang="sv-SE" sz="1600" dirty="0"/>
              <a:t> motor drive (IMMD) </a:t>
            </a:r>
            <a:r>
              <a:rPr lang="sv-SE" sz="1600" dirty="0" err="1"/>
              <a:t>with</a:t>
            </a:r>
            <a:r>
              <a:rPr lang="sv-SE" sz="1600" dirty="0"/>
              <a:t> </a:t>
            </a:r>
            <a:r>
              <a:rPr lang="sv-SE" sz="1600" dirty="0" err="1"/>
              <a:t>GaN</a:t>
            </a:r>
            <a:r>
              <a:rPr lang="sv-SE" sz="1600" dirty="0"/>
              <a:t> </a:t>
            </a:r>
            <a:r>
              <a:rPr lang="sv-SE" sz="1600" dirty="0" err="1"/>
              <a:t>devices</a:t>
            </a:r>
            <a:r>
              <a:rPr lang="sv-SE" sz="1600" dirty="0"/>
              <a:t>," 2013 IEEE Energy </a:t>
            </a:r>
            <a:r>
              <a:rPr lang="sv-SE" sz="1600" dirty="0" err="1"/>
              <a:t>Conversion</a:t>
            </a:r>
            <a:r>
              <a:rPr lang="sv-SE" sz="1600" dirty="0"/>
              <a:t> Congress and Exposition, Denver, CO, USA, 2013, </a:t>
            </a:r>
            <a:r>
              <a:rPr lang="sv-SE" sz="1600" dirty="0" err="1"/>
              <a:t>pp</a:t>
            </a:r>
            <a:r>
              <a:rPr lang="sv-SE" sz="1600" dirty="0"/>
              <a:t>. 4318-4325, </a:t>
            </a:r>
            <a:r>
              <a:rPr lang="sv-SE" sz="1600" dirty="0" err="1"/>
              <a:t>doi</a:t>
            </a:r>
            <a:r>
              <a:rPr lang="sv-SE" sz="1600" dirty="0"/>
              <a:t>: 10.1109/ECCE.2013.6647278. </a:t>
            </a:r>
            <a:endParaRPr lang="sv-SE" sz="1600" dirty="0" smtClean="0"/>
          </a:p>
          <a:p>
            <a:r>
              <a:rPr lang="sv-SE" sz="1600" dirty="0" smtClean="0"/>
              <a:t>J</a:t>
            </a:r>
            <a:r>
              <a:rPr lang="sv-SE" sz="1600" dirty="0"/>
              <a:t>. Wang and Y. Han, "A new </a:t>
            </a:r>
            <a:r>
              <a:rPr lang="sv-SE" sz="1600" dirty="0" err="1"/>
              <a:t>concept</a:t>
            </a:r>
            <a:r>
              <a:rPr lang="sv-SE" sz="1600" dirty="0"/>
              <a:t> </a:t>
            </a:r>
            <a:r>
              <a:rPr lang="sv-SE" sz="1600" dirty="0" err="1"/>
              <a:t>of</a:t>
            </a:r>
            <a:r>
              <a:rPr lang="sv-SE" sz="1600" dirty="0"/>
              <a:t> </a:t>
            </a:r>
            <a:r>
              <a:rPr lang="sv-SE" sz="1600" dirty="0" err="1"/>
              <a:t>multilevel</a:t>
            </a:r>
            <a:r>
              <a:rPr lang="sv-SE" sz="1600" dirty="0"/>
              <a:t> </a:t>
            </a:r>
            <a:r>
              <a:rPr lang="sv-SE" sz="1600" dirty="0" err="1"/>
              <a:t>converter</a:t>
            </a:r>
            <a:r>
              <a:rPr lang="sv-SE" sz="1600" dirty="0"/>
              <a:t> motor drive </a:t>
            </a:r>
            <a:r>
              <a:rPr lang="sv-SE" sz="1600" dirty="0" err="1"/>
              <a:t>with</a:t>
            </a:r>
            <a:r>
              <a:rPr lang="sv-SE" sz="1600" dirty="0"/>
              <a:t> </a:t>
            </a:r>
            <a:r>
              <a:rPr lang="sv-SE" sz="1600" dirty="0" err="1"/>
              <a:t>modular</a:t>
            </a:r>
            <a:r>
              <a:rPr lang="sv-SE" sz="1600" dirty="0"/>
              <a:t> design and split </a:t>
            </a:r>
            <a:r>
              <a:rPr lang="sv-SE" sz="1600" dirty="0" err="1"/>
              <a:t>winding</a:t>
            </a:r>
            <a:r>
              <a:rPr lang="sv-SE" sz="1600" dirty="0"/>
              <a:t> </a:t>
            </a:r>
            <a:r>
              <a:rPr lang="sv-SE" sz="1600" dirty="0" err="1"/>
              <a:t>machine</a:t>
            </a:r>
            <a:r>
              <a:rPr lang="sv-SE" sz="1600" dirty="0"/>
              <a:t>," 2014 Power and Energy Conference at Illinois (PECI), </a:t>
            </a:r>
            <a:r>
              <a:rPr lang="sv-SE" sz="1600" dirty="0" err="1"/>
              <a:t>Champaign</a:t>
            </a:r>
            <a:r>
              <a:rPr lang="sv-SE" sz="1600" dirty="0"/>
              <a:t>, IL, USA, 2014, </a:t>
            </a:r>
            <a:r>
              <a:rPr lang="sv-SE" sz="1600" dirty="0" err="1"/>
              <a:t>pp</a:t>
            </a:r>
            <a:r>
              <a:rPr lang="sv-SE" sz="1600" dirty="0"/>
              <a:t>. 1-6, </a:t>
            </a:r>
            <a:r>
              <a:rPr lang="sv-SE" sz="1600" dirty="0" err="1"/>
              <a:t>doi</a:t>
            </a:r>
            <a:r>
              <a:rPr lang="sv-SE" sz="1600" dirty="0"/>
              <a:t>: 10.1109/PECI.2014.6804550. </a:t>
            </a:r>
            <a:r>
              <a:rPr lang="sv-SE" sz="1600" dirty="0" smtClean="0"/>
              <a:t>J</a:t>
            </a:r>
            <a:r>
              <a:rPr lang="sv-SE" sz="1600" dirty="0"/>
              <a:t>. Wang and Y. Han, "A </a:t>
            </a:r>
            <a:r>
              <a:rPr lang="sv-SE" sz="1600" dirty="0" err="1"/>
              <a:t>class</a:t>
            </a:r>
            <a:r>
              <a:rPr lang="sv-SE" sz="1600" dirty="0"/>
              <a:t> </a:t>
            </a:r>
            <a:r>
              <a:rPr lang="sv-SE" sz="1600" dirty="0" err="1"/>
              <a:t>of</a:t>
            </a:r>
            <a:r>
              <a:rPr lang="sv-SE" sz="1600" dirty="0"/>
              <a:t> </a:t>
            </a:r>
            <a:r>
              <a:rPr lang="sv-SE" sz="1600" dirty="0" err="1"/>
              <a:t>modular</a:t>
            </a:r>
            <a:r>
              <a:rPr lang="sv-SE" sz="1600" dirty="0"/>
              <a:t> </a:t>
            </a:r>
            <a:r>
              <a:rPr lang="sv-SE" sz="1600" dirty="0" err="1"/>
              <a:t>multilevel</a:t>
            </a:r>
            <a:r>
              <a:rPr lang="sv-SE" sz="1600" dirty="0"/>
              <a:t> motor drives </a:t>
            </a:r>
            <a:r>
              <a:rPr lang="sv-SE" sz="1600" dirty="0" err="1"/>
              <a:t>with</a:t>
            </a:r>
            <a:r>
              <a:rPr lang="sv-SE" sz="1600" dirty="0"/>
              <a:t> design </a:t>
            </a:r>
            <a:r>
              <a:rPr lang="sv-SE" sz="1600" dirty="0" err="1"/>
              <a:t>flexibility</a:t>
            </a:r>
            <a:r>
              <a:rPr lang="sv-SE" sz="1600" dirty="0"/>
              <a:t> and </a:t>
            </a:r>
            <a:r>
              <a:rPr lang="sv-SE" sz="1600" dirty="0" err="1"/>
              <a:t>reduced</a:t>
            </a:r>
            <a:r>
              <a:rPr lang="sv-SE" sz="1600" dirty="0"/>
              <a:t> </a:t>
            </a:r>
            <a:r>
              <a:rPr lang="sv-SE" sz="1600" dirty="0" err="1"/>
              <a:t>components</a:t>
            </a:r>
            <a:r>
              <a:rPr lang="sv-SE" sz="1600" dirty="0"/>
              <a:t> </a:t>
            </a:r>
            <a:r>
              <a:rPr lang="sv-SE" sz="1600" dirty="0" err="1"/>
              <a:t>number</a:t>
            </a:r>
            <a:r>
              <a:rPr lang="sv-SE" sz="1600" dirty="0"/>
              <a:t>," 2015 IEEE </a:t>
            </a:r>
            <a:r>
              <a:rPr lang="sv-SE" sz="1600" dirty="0" err="1"/>
              <a:t>Applied</a:t>
            </a:r>
            <a:r>
              <a:rPr lang="sv-SE" sz="1600" dirty="0"/>
              <a:t> Power Electronics Conference and Exposition (APEC), Charlotte, NC, USA, 2015, </a:t>
            </a:r>
            <a:r>
              <a:rPr lang="sv-SE" sz="1600" dirty="0" err="1"/>
              <a:t>pp</a:t>
            </a:r>
            <a:r>
              <a:rPr lang="sv-SE" sz="1600" dirty="0"/>
              <a:t>. 2387-2393, </a:t>
            </a:r>
            <a:r>
              <a:rPr lang="sv-SE" sz="1600" dirty="0" err="1"/>
              <a:t>doi</a:t>
            </a:r>
            <a:r>
              <a:rPr lang="sv-SE" sz="1600" dirty="0"/>
              <a:t>: 10.1109/APEC.2015.7104682. </a:t>
            </a:r>
            <a:r>
              <a:rPr lang="en-US" sz="1600" dirty="0" smtClean="0"/>
              <a:t>Design </a:t>
            </a:r>
            <a:r>
              <a:rPr lang="en-US" sz="1600" dirty="0"/>
              <a:t>of Multilevel Integrated Modular Motor Drive </a:t>
            </a:r>
            <a:r>
              <a:rPr lang="en-US" sz="1600" dirty="0" err="1"/>
              <a:t>withGallium</a:t>
            </a:r>
            <a:r>
              <a:rPr lang="en-US" sz="1600" dirty="0"/>
              <a:t> Nitride Power Devices, </a:t>
            </a:r>
            <a:r>
              <a:rPr lang="en-US" sz="1600" dirty="0" err="1"/>
              <a:t>Jiyao</a:t>
            </a:r>
            <a:r>
              <a:rPr lang="en-US" sz="1600" dirty="0"/>
              <a:t> </a:t>
            </a:r>
            <a:r>
              <a:rPr lang="en-US" sz="1600" dirty="0" smtClean="0"/>
              <a:t>Wang</a:t>
            </a:r>
          </a:p>
          <a:p>
            <a:r>
              <a:rPr lang="sv-SE" sz="1600" dirty="0"/>
              <a:t>H. Zhang, O. Wallmark, M. Leksell, S. Norrga, M. N. </a:t>
            </a:r>
            <a:r>
              <a:rPr lang="sv-SE" sz="1600" dirty="0" err="1"/>
              <a:t>Harnefors</a:t>
            </a:r>
            <a:r>
              <a:rPr lang="sv-SE" sz="1600" dirty="0"/>
              <a:t> and L. </a:t>
            </a:r>
            <a:r>
              <a:rPr lang="sv-SE" sz="1600" dirty="0" err="1"/>
              <a:t>Jin</a:t>
            </a:r>
            <a:r>
              <a:rPr lang="sv-SE" sz="1600" dirty="0"/>
              <a:t>, "</a:t>
            </a:r>
            <a:r>
              <a:rPr lang="sv-SE" sz="1600" dirty="0" err="1"/>
              <a:t>Machine</a:t>
            </a:r>
            <a:r>
              <a:rPr lang="sv-SE" sz="1600" dirty="0"/>
              <a:t> design </a:t>
            </a:r>
            <a:r>
              <a:rPr lang="sv-SE" sz="1600" dirty="0" err="1"/>
              <a:t>considerations</a:t>
            </a:r>
            <a:r>
              <a:rPr lang="sv-SE" sz="1600" dirty="0"/>
              <a:t> for an MHF/SPB-</a:t>
            </a:r>
            <a:r>
              <a:rPr lang="sv-SE" sz="1600" dirty="0" err="1"/>
              <a:t>converter</a:t>
            </a:r>
            <a:r>
              <a:rPr lang="sv-SE" sz="1600" dirty="0"/>
              <a:t> </a:t>
            </a:r>
            <a:r>
              <a:rPr lang="sv-SE" sz="1600" dirty="0" err="1"/>
              <a:t>based</a:t>
            </a:r>
            <a:r>
              <a:rPr lang="sv-SE" sz="1600" dirty="0"/>
              <a:t> </a:t>
            </a:r>
            <a:r>
              <a:rPr lang="sv-SE" sz="1600" dirty="0" err="1"/>
              <a:t>electric</a:t>
            </a:r>
            <a:r>
              <a:rPr lang="sv-SE" sz="1600" dirty="0"/>
              <a:t> drive," IECON 2014 - 40th </a:t>
            </a:r>
            <a:r>
              <a:rPr lang="sv-SE" sz="1600" dirty="0" err="1"/>
              <a:t>Annual</a:t>
            </a:r>
            <a:r>
              <a:rPr lang="sv-SE" sz="1600" dirty="0"/>
              <a:t> Conference </a:t>
            </a:r>
            <a:r>
              <a:rPr lang="sv-SE" sz="1600" dirty="0" err="1"/>
              <a:t>of</a:t>
            </a:r>
            <a:r>
              <a:rPr lang="sv-SE" sz="1600" dirty="0"/>
              <a:t> the IEEE Industrial Electronics </a:t>
            </a:r>
            <a:r>
              <a:rPr lang="sv-SE" sz="1600" dirty="0" err="1"/>
              <a:t>Society</a:t>
            </a:r>
            <a:r>
              <a:rPr lang="sv-SE" sz="1600" dirty="0"/>
              <a:t>, Dallas, TX, USA, 2014, </a:t>
            </a:r>
            <a:r>
              <a:rPr lang="sv-SE" sz="1600" dirty="0" err="1"/>
              <a:t>pp</a:t>
            </a:r>
            <a:r>
              <a:rPr lang="sv-SE" sz="1600" dirty="0"/>
              <a:t>. 3849-3854, </a:t>
            </a:r>
            <a:r>
              <a:rPr lang="sv-SE" sz="1600" dirty="0" err="1"/>
              <a:t>doi</a:t>
            </a:r>
            <a:r>
              <a:rPr lang="sv-SE" sz="1600" dirty="0"/>
              <a:t>: 10.1109/IECON.2014.7049074. </a:t>
            </a:r>
          </a:p>
          <a:p>
            <a:r>
              <a:rPr lang="sv-SE" sz="1600" dirty="0" smtClean="0"/>
              <a:t>L</a:t>
            </a:r>
            <a:r>
              <a:rPr lang="sv-SE" sz="1600" dirty="0"/>
              <a:t>. </a:t>
            </a:r>
            <a:r>
              <a:rPr lang="sv-SE" sz="1600" dirty="0" err="1"/>
              <a:t>Jin</a:t>
            </a:r>
            <a:r>
              <a:rPr lang="sv-SE" sz="1600" dirty="0"/>
              <a:t>, S. Norrga, H. Zhang and O. Wallmark, "</a:t>
            </a:r>
            <a:r>
              <a:rPr lang="sv-SE" sz="1600" dirty="0" err="1"/>
              <a:t>Evaluation</a:t>
            </a:r>
            <a:r>
              <a:rPr lang="sv-SE" sz="1600" dirty="0"/>
              <a:t> </a:t>
            </a:r>
            <a:r>
              <a:rPr lang="sv-SE" sz="1600" dirty="0" err="1"/>
              <a:t>of</a:t>
            </a:r>
            <a:r>
              <a:rPr lang="sv-SE" sz="1600" dirty="0"/>
              <a:t> a </a:t>
            </a:r>
            <a:r>
              <a:rPr lang="sv-SE" sz="1600" dirty="0" err="1"/>
              <a:t>multiphase</a:t>
            </a:r>
            <a:r>
              <a:rPr lang="sv-SE" sz="1600" dirty="0"/>
              <a:t> drive system in EV and HEV </a:t>
            </a:r>
            <a:r>
              <a:rPr lang="sv-SE" sz="1600" dirty="0" err="1"/>
              <a:t>applications</a:t>
            </a:r>
            <a:r>
              <a:rPr lang="sv-SE" sz="1600" dirty="0"/>
              <a:t>," 2015 IEEE International Electric Machines &amp; Drives Conference (IEMDC), Coeur </a:t>
            </a:r>
            <a:r>
              <a:rPr lang="sv-SE" sz="1600" dirty="0" err="1"/>
              <a:t>d'Alene</a:t>
            </a:r>
            <a:r>
              <a:rPr lang="sv-SE" sz="1600" dirty="0"/>
              <a:t>, ID, USA, 2015, </a:t>
            </a:r>
            <a:r>
              <a:rPr lang="sv-SE" sz="1600" dirty="0" err="1"/>
              <a:t>pp</a:t>
            </a:r>
            <a:r>
              <a:rPr lang="sv-SE" sz="1600" dirty="0"/>
              <a:t>. 941-945, </a:t>
            </a:r>
            <a:r>
              <a:rPr lang="sv-SE" sz="1600" dirty="0" err="1"/>
              <a:t>doi</a:t>
            </a:r>
            <a:r>
              <a:rPr lang="sv-SE" sz="1600" dirty="0"/>
              <a:t>: 10.1109/IEMDC.2015.7409174. </a:t>
            </a:r>
          </a:p>
          <a:p>
            <a:r>
              <a:rPr lang="sv-SE" sz="1600" dirty="0"/>
              <a:t>H. Zhang and O. Wallmark, "</a:t>
            </a:r>
            <a:r>
              <a:rPr lang="sv-SE" sz="1600" dirty="0" err="1"/>
              <a:t>Evaluation</a:t>
            </a:r>
            <a:r>
              <a:rPr lang="sv-SE" sz="1600" dirty="0"/>
              <a:t> </a:t>
            </a:r>
            <a:r>
              <a:rPr lang="sv-SE" sz="1600" dirty="0" err="1"/>
              <a:t>of</a:t>
            </a:r>
            <a:r>
              <a:rPr lang="sv-SE" sz="1600" dirty="0"/>
              <a:t> </a:t>
            </a:r>
            <a:r>
              <a:rPr lang="sv-SE" sz="1600" dirty="0" err="1"/>
              <a:t>winding</a:t>
            </a:r>
            <a:r>
              <a:rPr lang="sv-SE" sz="1600" dirty="0"/>
              <a:t> arrangements in </a:t>
            </a:r>
            <a:r>
              <a:rPr lang="sv-SE" sz="1600" dirty="0" err="1"/>
              <a:t>electric</a:t>
            </a:r>
            <a:r>
              <a:rPr lang="sv-SE" sz="1600" dirty="0"/>
              <a:t> </a:t>
            </a:r>
            <a:r>
              <a:rPr lang="sv-SE" sz="1600" dirty="0" err="1"/>
              <a:t>machinery</a:t>
            </a:r>
            <a:r>
              <a:rPr lang="sv-SE" sz="1600" dirty="0"/>
              <a:t> for </a:t>
            </a:r>
            <a:r>
              <a:rPr lang="sv-SE" sz="1600" dirty="0" err="1"/>
              <a:t>modular</a:t>
            </a:r>
            <a:r>
              <a:rPr lang="sv-SE" sz="1600" dirty="0"/>
              <a:t> </a:t>
            </a:r>
            <a:r>
              <a:rPr lang="sv-SE" sz="1600" dirty="0" err="1"/>
              <a:t>electric</a:t>
            </a:r>
            <a:r>
              <a:rPr lang="sv-SE" sz="1600" dirty="0"/>
              <a:t> drives," 2016 IEEE 8th International Power Electronics and Motion Control Conference (IPEMC-ECCE </a:t>
            </a:r>
            <a:r>
              <a:rPr lang="sv-SE" sz="1600" dirty="0" err="1"/>
              <a:t>Asia</a:t>
            </a:r>
            <a:r>
              <a:rPr lang="sv-SE" sz="1600" dirty="0"/>
              <a:t>), Hefei, China, 2016, </a:t>
            </a:r>
            <a:r>
              <a:rPr lang="sv-SE" sz="1600" dirty="0" err="1"/>
              <a:t>pp</a:t>
            </a:r>
            <a:r>
              <a:rPr lang="sv-SE" sz="1600" dirty="0"/>
              <a:t>. 2820-2825, </a:t>
            </a:r>
            <a:r>
              <a:rPr lang="sv-SE" sz="1600" dirty="0" err="1"/>
              <a:t>doi</a:t>
            </a:r>
            <a:r>
              <a:rPr lang="sv-SE" sz="1600" dirty="0"/>
              <a:t>: 10.1109/IPEMC.2016.7512744. </a:t>
            </a:r>
          </a:p>
          <a:p>
            <a:endParaRPr lang="sv-SE" sz="1600" dirty="0"/>
          </a:p>
          <a:p>
            <a:endParaRPr lang="sv-SE" sz="1600" dirty="0"/>
          </a:p>
          <a:p>
            <a:endParaRPr lang="sv-SE" sz="1600" dirty="0"/>
          </a:p>
          <a:p>
            <a:endParaRPr lang="sv-SE" sz="1800" dirty="0"/>
          </a:p>
          <a:p>
            <a:endParaRPr lang="sv-SE" sz="1800" dirty="0"/>
          </a:p>
        </p:txBody>
      </p:sp>
    </p:spTree>
    <p:extLst>
      <p:ext uri="{BB962C8B-B14F-4D97-AF65-F5344CB8AC3E}">
        <p14:creationId xmlns:p14="http://schemas.microsoft.com/office/powerpoint/2010/main" val="7708443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8194</TotalTime>
  <Words>1594</Words>
  <Application>Microsoft Office PowerPoint</Application>
  <PresentationFormat>Widescreen</PresentationFormat>
  <Paragraphs>109</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Calibri</vt:lpstr>
      <vt:lpstr>Arial</vt:lpstr>
      <vt:lpstr>Figtree</vt:lpstr>
      <vt:lpstr>Office-tema</vt:lpstr>
      <vt:lpstr>Multi-Objective Optimization of Traction Inverters for Electric Trucks Considering Environmental Impacts</vt:lpstr>
      <vt:lpstr>Introduction &amp; Motivation</vt:lpstr>
      <vt:lpstr>Challenges</vt:lpstr>
      <vt:lpstr>Research Problem &amp; Objectives</vt:lpstr>
      <vt:lpstr>Adopted Methodology</vt:lpstr>
      <vt:lpstr>Application to Traction Inverters</vt:lpstr>
      <vt:lpstr>Expected Scientific Contributions</vt:lpstr>
      <vt:lpstr>Expected Results</vt:lpstr>
      <vt:lpstr>Impact</vt:lpstr>
      <vt:lpstr>Topologies– 2 Level or Multilevel VSIs</vt:lpstr>
      <vt:lpstr>Topologies– SPB or PPB to Introduce Modularity</vt:lpstr>
      <vt:lpstr>References</vt:lpstr>
      <vt:lpstr>References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185</cp:revision>
  <dcterms:created xsi:type="dcterms:W3CDTF">2024-01-10T13:17:29Z</dcterms:created>
  <dcterms:modified xsi:type="dcterms:W3CDTF">2025-04-11T08:37:16Z</dcterms:modified>
</cp:coreProperties>
</file>