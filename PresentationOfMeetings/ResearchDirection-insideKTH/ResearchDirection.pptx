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1"/>
  </p:notesMasterIdLst>
  <p:sldIdLst>
    <p:sldId id="279" r:id="rId2"/>
    <p:sldId id="280" r:id="rId3"/>
    <p:sldId id="301" r:id="rId4"/>
    <p:sldId id="281" r:id="rId5"/>
    <p:sldId id="283" r:id="rId6"/>
    <p:sldId id="302" r:id="rId7"/>
    <p:sldId id="266" r:id="rId8"/>
    <p:sldId id="269" r:id="rId9"/>
    <p:sldId id="273" r:id="rId10"/>
    <p:sldId id="270" r:id="rId11"/>
    <p:sldId id="268" r:id="rId12"/>
    <p:sldId id="274" r:id="rId13"/>
    <p:sldId id="271" r:id="rId14"/>
    <p:sldId id="275" r:id="rId15"/>
    <p:sldId id="272" r:id="rId16"/>
    <p:sldId id="298" r:id="rId17"/>
    <p:sldId id="296" r:id="rId18"/>
    <p:sldId id="276" r:id="rId19"/>
    <p:sldId id="300" r:id="rId20"/>
  </p:sldIdLst>
  <p:sldSz cx="12192000" cy="6858000"/>
  <p:notesSz cx="6858000" cy="9144000"/>
  <p:embeddedFontLst>
    <p:embeddedFont>
      <p:font typeface="Calibri" panose="020F0502020204030204" pitchFamily="34" charset="0"/>
      <p:regular r:id="rId22"/>
      <p:bold r:id="rId23"/>
      <p:italic r:id="rId24"/>
      <p:boldItalic r:id="rId25"/>
    </p:embeddedFont>
    <p:embeddedFont>
      <p:font typeface="Figtree" panose="020B0604020202020204" charset="0"/>
      <p:regular r:id="rId26"/>
      <p:bold r:id="rId27"/>
      <p:italic r:id="rId28"/>
      <p:boldItalic r:id="rId29"/>
    </p:embeddedFont>
    <p:embeddedFont>
      <p:font typeface="Cambria Math" panose="02040503050406030204" pitchFamily="18" charset="0"/>
      <p:regular r:id="rId30"/>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3" autoAdjust="0"/>
    <p:restoredTop sz="96327"/>
  </p:normalViewPr>
  <p:slideViewPr>
    <p:cSldViewPr snapToGrid="0">
      <p:cViewPr varScale="1">
        <p:scale>
          <a:sx n="155" d="100"/>
          <a:sy n="155" d="100"/>
        </p:scale>
        <p:origin x="156"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2024-10-18</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2024-10-18</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2024-10-18</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2024-10-18</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2024-10-18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2024-10-18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2024-10-18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2024-10-18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2024-10-18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2024-10-18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2024-10-18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2024-10-18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2024-10-18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2024-10-18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2024-10-18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2024-10-18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2024-10-18</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2024-10-18</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2024-10-18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2024-10-18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2024-10-18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2024-10-18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2024-10-18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2024-10-18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2024-10-18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2024-10-18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2024-10-18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2024-10-18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2024-10-18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2024-10-18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2024-10-18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2024-10-18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2024-10-18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2024-10-18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2024-10-18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2024-10-18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2024-10-18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2024-10-18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2024-10-18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2024-10-18</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2024-10-18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2024-10-18</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2024-10-18</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2024-10-18</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2024-10-18</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2024-10-18</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2024-10-18</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250.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0.pn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260.png"/><Relationship Id="rId9" Type="http://schemas.openxmlformats.org/officeDocument/2006/relationships/image" Target="../media/image31.png"/><Relationship Id="rId14" Type="http://schemas.openxmlformats.org/officeDocument/2006/relationships/image" Target="../media/image36.png"/></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emf"/><Relationship Id="rId2"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1109/OJPEL.2023.3327423" TargetMode="External"/><Relationship Id="rId2" Type="http://schemas.openxmlformats.org/officeDocument/2006/relationships/hyperlink" Target="https://doi.org/10.1109/ICEMS56177.2022.9982999" TargetMode="Externa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smtClean="0"/>
              <a:t>What has been done?</a:t>
            </a:r>
            <a:endParaRPr lang="sv-SE" sz="4000" dirty="0"/>
          </a:p>
        </p:txBody>
      </p:sp>
      <p:sp>
        <p:nvSpPr>
          <p:cNvPr id="3" name="Subtitle 2"/>
          <p:cNvSpPr>
            <a:spLocks noGrp="1"/>
          </p:cNvSpPr>
          <p:nvPr>
            <p:ph type="subTitle" idx="1"/>
          </p:nvPr>
        </p:nvSpPr>
        <p:spPr>
          <a:xfrm>
            <a:off x="2132013" y="5486400"/>
            <a:ext cx="7926387" cy="752475"/>
          </a:xfrm>
        </p:spPr>
        <p:txBody>
          <a:bodyPr>
            <a:noAutofit/>
          </a:bodyPr>
          <a:lstStyle/>
          <a:p>
            <a:r>
              <a:rPr lang="en-US" sz="2400" dirty="0" smtClean="0"/>
              <a:t>Enes Ayaz</a:t>
            </a:r>
            <a:endParaRPr lang="sv-SE" sz="2400" dirty="0"/>
          </a:p>
        </p:txBody>
      </p:sp>
    </p:spTree>
    <p:extLst>
      <p:ext uri="{BB962C8B-B14F-4D97-AF65-F5344CB8AC3E}">
        <p14:creationId xmlns:p14="http://schemas.microsoft.com/office/powerpoint/2010/main" val="1283328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smtClean="0"/>
              <a:t>Papers</a:t>
            </a:r>
            <a:endParaRPr lang="sv-SE" dirty="0"/>
          </a:p>
        </p:txBody>
      </p:sp>
      <p:pic>
        <p:nvPicPr>
          <p:cNvPr id="3" name="Picture 2"/>
          <p:cNvPicPr>
            <a:picLocks noChangeAspect="1"/>
          </p:cNvPicPr>
          <p:nvPr/>
        </p:nvPicPr>
        <p:blipFill>
          <a:blip r:embed="rId2"/>
          <a:stretch>
            <a:fillRect/>
          </a:stretch>
        </p:blipFill>
        <p:spPr>
          <a:xfrm>
            <a:off x="200025" y="1252110"/>
            <a:ext cx="3790950" cy="5329666"/>
          </a:xfrm>
          <a:prstGeom prst="rect">
            <a:avLst/>
          </a:prstGeom>
        </p:spPr>
      </p:pic>
      <p:sp>
        <p:nvSpPr>
          <p:cNvPr id="4" name="Rectangle 3"/>
          <p:cNvSpPr/>
          <p:nvPr/>
        </p:nvSpPr>
        <p:spPr>
          <a:xfrm>
            <a:off x="704849" y="811386"/>
            <a:ext cx="11229975" cy="1323439"/>
          </a:xfrm>
          <a:prstGeom prst="rect">
            <a:avLst/>
          </a:prstGeom>
        </p:spPr>
        <p:txBody>
          <a:bodyPr wrap="square">
            <a:spAutoFit/>
          </a:bodyPr>
          <a:lstStyle/>
          <a:p>
            <a:pPr algn="ctr"/>
            <a:r>
              <a:rPr lang="en-US" sz="2000" b="1" dirty="0"/>
              <a:t>Evaluation of Possible Traction Inverter Topologies for Heavy-Duty Electric </a:t>
            </a:r>
            <a:r>
              <a:rPr lang="en-US" sz="2000" b="1" dirty="0" smtClean="0"/>
              <a:t>Vehicles,  </a:t>
            </a:r>
            <a:r>
              <a:rPr lang="en-US" sz="2000" b="1" dirty="0"/>
              <a:t>SPEC 2024 (Submitted)</a:t>
            </a:r>
          </a:p>
          <a:p>
            <a:pPr algn="ctr"/>
            <a:endParaRPr lang="en-US" sz="2000" dirty="0"/>
          </a:p>
          <a:p>
            <a:pPr algn="ctr"/>
            <a:r>
              <a:rPr lang="en-US" sz="2000" dirty="0"/>
              <a:t>	</a:t>
            </a:r>
            <a:endParaRPr lang="sv-SE" sz="2000" dirty="0"/>
          </a:p>
        </p:txBody>
      </p:sp>
      <p:sp>
        <p:nvSpPr>
          <p:cNvPr id="8" name="Rectangle 7"/>
          <p:cNvSpPr/>
          <p:nvPr/>
        </p:nvSpPr>
        <p:spPr>
          <a:xfrm>
            <a:off x="3990975" y="1457937"/>
            <a:ext cx="7629524" cy="5262979"/>
          </a:xfrm>
          <a:prstGeom prst="rect">
            <a:avLst/>
          </a:prstGeom>
        </p:spPr>
        <p:txBody>
          <a:bodyPr wrap="square">
            <a:spAutoFit/>
          </a:bodyPr>
          <a:lstStyle/>
          <a:p>
            <a:endParaRPr lang="en-US" sz="1600" dirty="0"/>
          </a:p>
          <a:p>
            <a:pPr marL="285750" indent="-285750">
              <a:buFont typeface="Arial" panose="020B0604020202020204" pitchFamily="34" charset="0"/>
              <a:buChar char="•"/>
            </a:pPr>
            <a:r>
              <a:rPr lang="en-US" sz="1600" dirty="0" smtClean="0"/>
              <a:t>The </a:t>
            </a:r>
            <a:r>
              <a:rPr lang="en-US" sz="1600" dirty="0"/>
              <a:t>study evaluates traction inverters for </a:t>
            </a:r>
            <a:r>
              <a:rPr lang="en-US" sz="1600" dirty="0" smtClean="0"/>
              <a:t>heavy-duty </a:t>
            </a:r>
            <a:r>
              <a:rPr lang="en-US" sz="1600" dirty="0"/>
              <a:t>electric </a:t>
            </a:r>
            <a:r>
              <a:rPr lang="en-US" sz="1600" dirty="0" smtClean="0"/>
              <a:t>vehicles, </a:t>
            </a:r>
            <a:r>
              <a:rPr lang="en-US" sz="1600" dirty="0"/>
              <a:t>focusing on </a:t>
            </a:r>
            <a:r>
              <a:rPr lang="en-US" sz="1600" dirty="0" smtClean="0"/>
              <a:t>efficiency, and power density.</a:t>
            </a:r>
          </a:p>
          <a:p>
            <a:pPr marL="285750" indent="-285750">
              <a:buFont typeface="Arial" panose="020B0604020202020204" pitchFamily="34" charset="0"/>
              <a:buChar char="•"/>
            </a:pPr>
            <a:endParaRPr lang="en-US" sz="1600" dirty="0" smtClean="0"/>
          </a:p>
          <a:p>
            <a:pPr marL="285750" indent="-285750">
              <a:buFont typeface="Arial" panose="020B0604020202020204" pitchFamily="34" charset="0"/>
              <a:buChar char="•"/>
            </a:pPr>
            <a:r>
              <a:rPr lang="en-US" sz="1600" dirty="0" smtClean="0"/>
              <a:t>3-Level </a:t>
            </a:r>
            <a:r>
              <a:rPr lang="en-US" sz="1600" dirty="0"/>
              <a:t>NPC (3L-NPC</a:t>
            </a:r>
            <a:r>
              <a:rPr lang="en-US" sz="1600" dirty="0" smtClean="0"/>
              <a:t>) </a:t>
            </a:r>
            <a:r>
              <a:rPr lang="en-US" sz="1600" dirty="0"/>
              <a:t>and </a:t>
            </a:r>
            <a:r>
              <a:rPr lang="en-US" sz="1600" dirty="0" smtClean="0"/>
              <a:t>2-Level </a:t>
            </a:r>
            <a:r>
              <a:rPr lang="en-US" sz="1600" dirty="0"/>
              <a:t>6-phase (2L-6Ph</a:t>
            </a:r>
            <a:r>
              <a:rPr lang="en-US" sz="1600" dirty="0" smtClean="0"/>
              <a:t>) </a:t>
            </a:r>
            <a:r>
              <a:rPr lang="en-US" sz="1600" dirty="0"/>
              <a:t>inverters are compared to the conventional </a:t>
            </a:r>
            <a:r>
              <a:rPr lang="en-US" sz="1600" dirty="0" smtClean="0"/>
              <a:t>2-Level </a:t>
            </a:r>
            <a:r>
              <a:rPr lang="en-US" sz="1600" dirty="0"/>
              <a:t>3-phase (2L-3Ph</a:t>
            </a:r>
            <a:r>
              <a:rPr lang="en-US" sz="1600" dirty="0" smtClean="0"/>
              <a:t>) </a:t>
            </a:r>
            <a:r>
              <a:rPr lang="en-US" sz="1600" dirty="0"/>
              <a:t>VSI</a:t>
            </a:r>
            <a:r>
              <a:rPr lang="en-US" sz="1600" dirty="0" smtClean="0"/>
              <a:t>.</a:t>
            </a:r>
          </a:p>
          <a:p>
            <a:pPr marL="285750" indent="-285750">
              <a:buFontTx/>
              <a:buChar char="-"/>
            </a:pPr>
            <a:endParaRPr lang="en-US" sz="1600" dirty="0"/>
          </a:p>
          <a:p>
            <a:pPr marL="285750" indent="-285750">
              <a:buFont typeface="Arial" panose="020B0604020202020204" pitchFamily="34" charset="0"/>
              <a:buChar char="•"/>
            </a:pPr>
            <a:r>
              <a:rPr lang="en-US" sz="1600" dirty="0" smtClean="0"/>
              <a:t>The comparisons are based </a:t>
            </a:r>
            <a:r>
              <a:rPr lang="en-US" sz="1600" dirty="0"/>
              <a:t>on parameters like </a:t>
            </a:r>
            <a:r>
              <a:rPr lang="en-US" sz="1600" dirty="0" smtClean="0"/>
              <a:t>efficiency, power density, output </a:t>
            </a:r>
            <a:r>
              <a:rPr lang="en-US" sz="1600" dirty="0"/>
              <a:t>harmonic </a:t>
            </a:r>
            <a:r>
              <a:rPr lang="en-US" sz="1600" dirty="0" smtClean="0"/>
              <a:t>quality, </a:t>
            </a:r>
            <a:r>
              <a:rPr lang="en-US" sz="1600" dirty="0"/>
              <a:t>and </a:t>
            </a:r>
            <a:r>
              <a:rPr lang="en-US" sz="1600" dirty="0" smtClean="0"/>
              <a:t>reliability, and the system is modeled by virtual prototyping. </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smtClean="0"/>
              <a:t>Efficiency maps </a:t>
            </a:r>
            <a:r>
              <a:rPr lang="en-US" sz="1600" dirty="0"/>
              <a:t>are used to identify optimal operating points to minimize inverter losses.</a:t>
            </a:r>
          </a:p>
          <a:p>
            <a:pPr marL="285750" indent="-285750">
              <a:buFont typeface="Arial" panose="020B0604020202020204" pitchFamily="34" charset="0"/>
              <a:buChar char="•"/>
            </a:pPr>
            <a:endParaRPr lang="en-US" sz="1600" dirty="0" smtClean="0"/>
          </a:p>
          <a:p>
            <a:pPr marL="285750" indent="-285750">
              <a:buFont typeface="Arial" panose="020B0604020202020204" pitchFamily="34" charset="0"/>
              <a:buChar char="•"/>
            </a:pPr>
            <a:r>
              <a:rPr lang="en-US" sz="1600" dirty="0" smtClean="0"/>
              <a:t>Results </a:t>
            </a:r>
            <a:r>
              <a:rPr lang="en-US" sz="1600" dirty="0"/>
              <a:t>show that the </a:t>
            </a:r>
            <a:r>
              <a:rPr lang="en-US" sz="1600" dirty="0" smtClean="0"/>
              <a:t>3L-NPC inverter </a:t>
            </a:r>
            <a:r>
              <a:rPr lang="en-US" sz="1600" dirty="0"/>
              <a:t>achieves a </a:t>
            </a:r>
            <a:r>
              <a:rPr lang="en-US" sz="1600" dirty="0" smtClean="0"/>
              <a:t>higher </a:t>
            </a:r>
            <a:r>
              <a:rPr lang="en-US" sz="1600" dirty="0"/>
              <a:t>switching </a:t>
            </a:r>
            <a:r>
              <a:rPr lang="en-US" sz="1600" dirty="0" smtClean="0"/>
              <a:t>frequency, </a:t>
            </a:r>
            <a:r>
              <a:rPr lang="en-US" sz="1600" dirty="0"/>
              <a:t>reducing the size of passive components and the cooling system, despite requiring more power switches and gate drivers</a:t>
            </a:r>
            <a:r>
              <a:rPr lang="en-US" sz="1600" dirty="0" smtClean="0"/>
              <a:t>.</a:t>
            </a:r>
          </a:p>
          <a:p>
            <a:pPr marL="285750" indent="-285750">
              <a:buFontTx/>
              <a:buChar char="-"/>
            </a:pPr>
            <a:endParaRPr lang="en-US" sz="1600" dirty="0"/>
          </a:p>
          <a:p>
            <a:pPr marL="285750" indent="-285750">
              <a:buFont typeface="Arial" panose="020B0604020202020204" pitchFamily="34" charset="0"/>
              <a:buChar char="•"/>
            </a:pPr>
            <a:r>
              <a:rPr lang="en-US" sz="1600" dirty="0" smtClean="0"/>
              <a:t>The </a:t>
            </a:r>
            <a:r>
              <a:rPr lang="en-US" sz="1600" dirty="0"/>
              <a:t>study concludes that </a:t>
            </a:r>
            <a:r>
              <a:rPr lang="en-US" sz="1600" dirty="0" smtClean="0"/>
              <a:t>multi-level </a:t>
            </a:r>
            <a:r>
              <a:rPr lang="en-US" sz="1600" dirty="0"/>
              <a:t>inverter </a:t>
            </a:r>
            <a:r>
              <a:rPr lang="en-US" sz="1600" dirty="0" smtClean="0"/>
              <a:t>topologies </a:t>
            </a:r>
            <a:r>
              <a:rPr lang="en-US" sz="1600" dirty="0"/>
              <a:t>are promising for </a:t>
            </a:r>
            <a:r>
              <a:rPr lang="en-US" sz="1600" dirty="0" smtClean="0"/>
              <a:t>high-voltage</a:t>
            </a:r>
            <a:r>
              <a:rPr lang="en-US" sz="1600" dirty="0"/>
              <a:t>, high-power traction </a:t>
            </a:r>
            <a:r>
              <a:rPr lang="en-US" sz="1600" dirty="0" smtClean="0"/>
              <a:t>drives, </a:t>
            </a:r>
            <a:r>
              <a:rPr lang="en-US" sz="1600" dirty="0"/>
              <a:t>offering better performance despite increased complexity and cost.</a:t>
            </a:r>
            <a:endParaRPr lang="sv-SE" sz="1600" dirty="0"/>
          </a:p>
        </p:txBody>
      </p:sp>
    </p:spTree>
    <p:extLst>
      <p:ext uri="{BB962C8B-B14F-4D97-AF65-F5344CB8AC3E}">
        <p14:creationId xmlns:p14="http://schemas.microsoft.com/office/powerpoint/2010/main" val="27487775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smtClean="0"/>
              <a:t>Papers </a:t>
            </a:r>
            <a:endParaRPr lang="sv-SE" dirty="0"/>
          </a:p>
        </p:txBody>
      </p:sp>
      <p:sp>
        <p:nvSpPr>
          <p:cNvPr id="4" name="Rectangle 3"/>
          <p:cNvSpPr/>
          <p:nvPr/>
        </p:nvSpPr>
        <p:spPr>
          <a:xfrm>
            <a:off x="704849" y="811386"/>
            <a:ext cx="11229975" cy="1015663"/>
          </a:xfrm>
          <a:prstGeom prst="rect">
            <a:avLst/>
          </a:prstGeom>
        </p:spPr>
        <p:txBody>
          <a:bodyPr wrap="square">
            <a:spAutoFit/>
          </a:bodyPr>
          <a:lstStyle/>
          <a:p>
            <a:pPr algn="ctr"/>
            <a:r>
              <a:rPr lang="en-US" sz="2000" b="1" dirty="0"/>
              <a:t>Mitigation of Common Mode Voltage in </a:t>
            </a:r>
            <a:r>
              <a:rPr lang="en-US" sz="2000" b="1" dirty="0" smtClean="0"/>
              <a:t>2-Level 3-Phase </a:t>
            </a:r>
            <a:r>
              <a:rPr lang="en-US" sz="2000" b="1" dirty="0"/>
              <a:t>Voltage Source </a:t>
            </a:r>
            <a:r>
              <a:rPr lang="en-US" sz="2000" b="1" dirty="0" smtClean="0"/>
              <a:t>Inverters (First Draft is written)</a:t>
            </a:r>
            <a:endParaRPr lang="en-US" sz="2000" dirty="0"/>
          </a:p>
          <a:p>
            <a:pPr algn="ctr"/>
            <a:r>
              <a:rPr lang="en-US" sz="2000" dirty="0"/>
              <a:t>	</a:t>
            </a:r>
            <a:endParaRPr lang="sv-SE" sz="2000" dirty="0"/>
          </a:p>
        </p:txBody>
      </p:sp>
      <p:pic>
        <p:nvPicPr>
          <p:cNvPr id="6" name="Picture 5"/>
          <p:cNvPicPr>
            <a:picLocks noChangeAspect="1"/>
          </p:cNvPicPr>
          <p:nvPr/>
        </p:nvPicPr>
        <p:blipFill>
          <a:blip r:embed="rId2"/>
          <a:stretch>
            <a:fillRect/>
          </a:stretch>
        </p:blipFill>
        <p:spPr>
          <a:xfrm>
            <a:off x="92991" y="1319217"/>
            <a:ext cx="4584368" cy="2428874"/>
          </a:xfrm>
          <a:prstGeom prst="rect">
            <a:avLst/>
          </a:prstGeom>
        </p:spPr>
      </p:pic>
      <p:sp>
        <p:nvSpPr>
          <p:cNvPr id="9" name="Rectangle 8"/>
          <p:cNvSpPr/>
          <p:nvPr/>
        </p:nvSpPr>
        <p:spPr>
          <a:xfrm>
            <a:off x="4876800" y="1670120"/>
            <a:ext cx="7199313" cy="4555093"/>
          </a:xfrm>
          <a:prstGeom prst="rect">
            <a:avLst/>
          </a:prstGeom>
        </p:spPr>
        <p:txBody>
          <a:bodyPr wrap="square">
            <a:spAutoFit/>
          </a:bodyPr>
          <a:lstStyle/>
          <a:p>
            <a:pPr algn="just"/>
            <a:r>
              <a:rPr lang="en-US" sz="1600" b="1" dirty="0"/>
              <a:t>Issue Addressed: </a:t>
            </a:r>
            <a:r>
              <a:rPr lang="en-US" sz="1600" dirty="0"/>
              <a:t>The paper proposes a novel method to mitigate the common mode voltage (CMV) issue in 2-level 3-phase voltage-source inverters (2L-3Ph VSI</a:t>
            </a:r>
            <a:r>
              <a:rPr lang="en-US" sz="1600" dirty="0" smtClean="0"/>
              <a:t>).</a:t>
            </a:r>
          </a:p>
          <a:p>
            <a:pPr algn="just"/>
            <a:endParaRPr lang="en-US" sz="1600" dirty="0" smtClean="0"/>
          </a:p>
          <a:p>
            <a:pPr algn="just"/>
            <a:r>
              <a:rPr lang="en-US" sz="1600" b="1" dirty="0" smtClean="0"/>
              <a:t>Existing </a:t>
            </a:r>
            <a:r>
              <a:rPr lang="en-US" sz="1600" b="1" dirty="0"/>
              <a:t>Solutions: </a:t>
            </a:r>
            <a:r>
              <a:rPr lang="en-US" sz="1600" dirty="0"/>
              <a:t>Previous methods to mitigate CMV include passive/active filters, additional switches, and specially designed pulse-width modulation (PWM), with PWM being a promising, cost-effective solution</a:t>
            </a:r>
            <a:r>
              <a:rPr lang="en-US" sz="1600" dirty="0" smtClean="0"/>
              <a:t>.</a:t>
            </a:r>
          </a:p>
          <a:p>
            <a:pPr algn="just"/>
            <a:endParaRPr lang="en-US" sz="1600" dirty="0" smtClean="0"/>
          </a:p>
          <a:p>
            <a:pPr algn="just"/>
            <a:r>
              <a:rPr lang="en-US" sz="1600" b="1" dirty="0" smtClean="0"/>
              <a:t>Novel </a:t>
            </a:r>
            <a:r>
              <a:rPr lang="en-US" sz="1600" b="1" dirty="0"/>
              <a:t>Contribution: </a:t>
            </a:r>
            <a:r>
              <a:rPr lang="en-US" sz="1600" dirty="0"/>
              <a:t>The study introduces a novel PWM method to eliminate CMV </a:t>
            </a:r>
            <a:r>
              <a:rPr lang="en-US" sz="1600" dirty="0" smtClean="0"/>
              <a:t>owing </a:t>
            </a:r>
            <a:r>
              <a:rPr lang="en-US" sz="1600" dirty="0"/>
              <a:t>to dv/</a:t>
            </a:r>
            <a:r>
              <a:rPr lang="en-US" sz="1600" dirty="0" err="1"/>
              <a:t>dt</a:t>
            </a:r>
            <a:r>
              <a:rPr lang="en-US" sz="1600" dirty="0"/>
              <a:t> by synchronizing the PWMs of the VSI’s legs</a:t>
            </a:r>
            <a:r>
              <a:rPr lang="en-US" sz="1600" dirty="0" smtClean="0"/>
              <a:t>.</a:t>
            </a:r>
          </a:p>
          <a:p>
            <a:pPr algn="just"/>
            <a:endParaRPr lang="en-US" sz="1600" dirty="0" smtClean="0"/>
          </a:p>
          <a:p>
            <a:pPr algn="just"/>
            <a:r>
              <a:rPr lang="en-US" sz="1600" b="1" dirty="0" smtClean="0"/>
              <a:t>Implementation</a:t>
            </a:r>
            <a:r>
              <a:rPr lang="en-US" sz="1600" b="1" dirty="0"/>
              <a:t>: </a:t>
            </a:r>
            <a:r>
              <a:rPr lang="en-US" sz="1600" dirty="0"/>
              <a:t>A third-harmonic square-wave injection and adaptive carrier phase shift method are used to enable the </a:t>
            </a:r>
            <a:r>
              <a:rPr lang="en-US" sz="1600" dirty="0" smtClean="0"/>
              <a:t>synchronization.</a:t>
            </a:r>
          </a:p>
          <a:p>
            <a:pPr algn="just"/>
            <a:endParaRPr lang="en-US" sz="1600" dirty="0" smtClean="0"/>
          </a:p>
          <a:p>
            <a:pPr algn="just"/>
            <a:r>
              <a:rPr lang="en-US" sz="1600" b="1" dirty="0" smtClean="0"/>
              <a:t>Validation</a:t>
            </a:r>
            <a:r>
              <a:rPr lang="en-US" sz="1600" b="1" dirty="0"/>
              <a:t>: </a:t>
            </a:r>
            <a:r>
              <a:rPr lang="en-US" sz="1600" dirty="0"/>
              <a:t>The method </a:t>
            </a:r>
            <a:r>
              <a:rPr lang="en-US" sz="1600" dirty="0" smtClean="0"/>
              <a:t>will be validated </a:t>
            </a:r>
            <a:r>
              <a:rPr lang="en-US" sz="1600" dirty="0"/>
              <a:t>through analytical and simulation analysis, with an experimental setup using </a:t>
            </a:r>
            <a:r>
              <a:rPr lang="en-US" sz="1600" dirty="0" err="1"/>
              <a:t>SiC</a:t>
            </a:r>
            <a:r>
              <a:rPr lang="en-US" sz="1600" dirty="0"/>
              <a:t> devices, showing the feasibility and effectiveness of the approach, though some small dv/</a:t>
            </a:r>
            <a:r>
              <a:rPr lang="en-US" sz="1600" dirty="0" err="1"/>
              <a:t>dt</a:t>
            </a:r>
            <a:r>
              <a:rPr lang="en-US" sz="1600" dirty="0"/>
              <a:t> impact might still be observed due to switch and gate driver non-idealities</a:t>
            </a:r>
            <a:r>
              <a:rPr lang="en-US" dirty="0"/>
              <a:t>.</a:t>
            </a:r>
            <a:endParaRPr lang="sv-SE" dirty="0"/>
          </a:p>
        </p:txBody>
      </p:sp>
      <p:pic>
        <p:nvPicPr>
          <p:cNvPr id="10" name="Picture 9"/>
          <p:cNvPicPr>
            <a:picLocks noChangeAspect="1"/>
          </p:cNvPicPr>
          <p:nvPr/>
        </p:nvPicPr>
        <p:blipFill>
          <a:blip r:embed="rId3"/>
          <a:stretch>
            <a:fillRect/>
          </a:stretch>
        </p:blipFill>
        <p:spPr>
          <a:xfrm>
            <a:off x="785976" y="3748091"/>
            <a:ext cx="3198398" cy="2913450"/>
          </a:xfrm>
          <a:prstGeom prst="rect">
            <a:avLst/>
          </a:prstGeom>
        </p:spPr>
      </p:pic>
    </p:spTree>
    <p:extLst>
      <p:ext uri="{BB962C8B-B14F-4D97-AF65-F5344CB8AC3E}">
        <p14:creationId xmlns:p14="http://schemas.microsoft.com/office/powerpoint/2010/main" val="37631318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a:t>Patent </a:t>
            </a:r>
            <a:r>
              <a:rPr lang="sv-SE" dirty="0" err="1"/>
              <a:t>Application</a:t>
            </a:r>
            <a:endParaRPr lang="sv-SE" dirty="0"/>
          </a:p>
        </p:txBody>
      </p:sp>
      <p:pic>
        <p:nvPicPr>
          <p:cNvPr id="4" name="Picture 3"/>
          <p:cNvPicPr>
            <a:picLocks noChangeAspect="1"/>
          </p:cNvPicPr>
          <p:nvPr/>
        </p:nvPicPr>
        <p:blipFill rotWithShape="1">
          <a:blip r:embed="rId2"/>
          <a:srcRect l="25046" t="54683" r="21009" b="7586"/>
          <a:stretch/>
        </p:blipFill>
        <p:spPr>
          <a:xfrm>
            <a:off x="3829822" y="1028700"/>
            <a:ext cx="2276475" cy="1790925"/>
          </a:xfrm>
          <a:prstGeom prst="rect">
            <a:avLst/>
          </a:prstGeom>
        </p:spPr>
      </p:pic>
      <p:pic>
        <p:nvPicPr>
          <p:cNvPr id="5" name="Picture 4"/>
          <p:cNvPicPr>
            <a:picLocks noChangeAspect="1"/>
          </p:cNvPicPr>
          <p:nvPr/>
        </p:nvPicPr>
        <p:blipFill rotWithShape="1">
          <a:blip r:embed="rId2"/>
          <a:srcRect l="31490" t="3365" r="22878" b="60522"/>
          <a:stretch/>
        </p:blipFill>
        <p:spPr>
          <a:xfrm>
            <a:off x="353196" y="1089660"/>
            <a:ext cx="1921365" cy="1710298"/>
          </a:xfrm>
          <a:prstGeom prst="rect">
            <a:avLst/>
          </a:prstGeom>
        </p:spPr>
      </p:pic>
      <p:cxnSp>
        <p:nvCxnSpPr>
          <p:cNvPr id="7" name="Straight Arrow Connector 6"/>
          <p:cNvCxnSpPr/>
          <p:nvPr/>
        </p:nvCxnSpPr>
        <p:spPr>
          <a:xfrm flipV="1">
            <a:off x="2251443" y="1884799"/>
            <a:ext cx="1562100" cy="121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126232" y="1402936"/>
            <a:ext cx="2190750" cy="369332"/>
          </a:xfrm>
          <a:prstGeom prst="rect">
            <a:avLst/>
          </a:prstGeom>
          <a:noFill/>
        </p:spPr>
        <p:txBody>
          <a:bodyPr wrap="square" rtlCol="0">
            <a:spAutoFit/>
          </a:bodyPr>
          <a:lstStyle/>
          <a:p>
            <a:r>
              <a:rPr lang="sv-SE" dirty="0" smtClean="0"/>
              <a:t>4-pole to 2-pole </a:t>
            </a:r>
            <a:endParaRPr lang="sv-SE" dirty="0"/>
          </a:p>
        </p:txBody>
      </p:sp>
      <p:sp>
        <p:nvSpPr>
          <p:cNvPr id="3" name="Rectangle 2"/>
          <p:cNvSpPr/>
          <p:nvPr/>
        </p:nvSpPr>
        <p:spPr>
          <a:xfrm>
            <a:off x="6215229" y="1293328"/>
            <a:ext cx="5640247" cy="1077218"/>
          </a:xfrm>
          <a:prstGeom prst="rect">
            <a:avLst/>
          </a:prstGeom>
        </p:spPr>
        <p:txBody>
          <a:bodyPr wrap="square">
            <a:spAutoFit/>
          </a:bodyPr>
          <a:lstStyle/>
          <a:p>
            <a:pPr algn="just"/>
            <a:r>
              <a:rPr lang="en-GB" sz="1600" dirty="0">
                <a:latin typeface="Figtree (Body)"/>
              </a:rPr>
              <a:t>To achieve a variable pole (synchronous) machine, the rotor windings should be </a:t>
            </a:r>
            <a:r>
              <a:rPr lang="en-GB" sz="1600" dirty="0" smtClean="0">
                <a:latin typeface="Figtree (Body)"/>
              </a:rPr>
              <a:t>reconfigurable</a:t>
            </a:r>
            <a:r>
              <a:rPr lang="en-GB" sz="1600" dirty="0">
                <a:latin typeface="Figtree (Body)"/>
              </a:rPr>
              <a:t>, which means a controllable </a:t>
            </a:r>
            <a:r>
              <a:rPr lang="en-GB" sz="1600" dirty="0" smtClean="0">
                <a:latin typeface="Figtree (Body)"/>
              </a:rPr>
              <a:t>bidirectional </a:t>
            </a:r>
            <a:r>
              <a:rPr lang="en-GB" sz="1600" dirty="0">
                <a:latin typeface="Figtree (Body)"/>
              </a:rPr>
              <a:t>current on the rotor </a:t>
            </a:r>
            <a:r>
              <a:rPr lang="en-GB" sz="1600" dirty="0" smtClean="0">
                <a:latin typeface="Figtree (Body)"/>
              </a:rPr>
              <a:t>side is needed. </a:t>
            </a:r>
          </a:p>
          <a:p>
            <a:pPr marL="285750" indent="-285750" algn="just">
              <a:buFont typeface="Arial" panose="020B0604020202020204" pitchFamily="34" charset="0"/>
              <a:buChar char="•"/>
            </a:pPr>
            <a:endParaRPr lang="en-GB" sz="1600" dirty="0">
              <a:latin typeface="Figtree (Body)"/>
            </a:endParaRPr>
          </a:p>
        </p:txBody>
      </p:sp>
      <p:pic>
        <p:nvPicPr>
          <p:cNvPr id="9" name="Picture 8"/>
          <p:cNvPicPr/>
          <p:nvPr/>
        </p:nvPicPr>
        <p:blipFill rotWithShape="1">
          <a:blip r:embed="rId3"/>
          <a:srcRect l="4371" t="4620" r="3079"/>
          <a:stretch/>
        </p:blipFill>
        <p:spPr>
          <a:xfrm>
            <a:off x="1306143" y="2799958"/>
            <a:ext cx="3492098" cy="3010070"/>
          </a:xfrm>
          <a:prstGeom prst="rect">
            <a:avLst/>
          </a:prstGeom>
        </p:spPr>
      </p:pic>
      <p:pic>
        <p:nvPicPr>
          <p:cNvPr id="10" name="Picture 9"/>
          <p:cNvPicPr>
            <a:picLocks noChangeAspect="1"/>
          </p:cNvPicPr>
          <p:nvPr/>
        </p:nvPicPr>
        <p:blipFill rotWithShape="1">
          <a:blip r:embed="rId4"/>
          <a:srcRect l="9021" t="8378" b="9698"/>
          <a:stretch/>
        </p:blipFill>
        <p:spPr>
          <a:xfrm>
            <a:off x="2126232" y="5672824"/>
            <a:ext cx="2651297" cy="1082040"/>
          </a:xfrm>
          <a:prstGeom prst="rect">
            <a:avLst/>
          </a:prstGeom>
        </p:spPr>
      </p:pic>
      <p:sp>
        <p:nvSpPr>
          <p:cNvPr id="11" name="Rectangle 10"/>
          <p:cNvSpPr/>
          <p:nvPr/>
        </p:nvSpPr>
        <p:spPr>
          <a:xfrm>
            <a:off x="5822819" y="2706722"/>
            <a:ext cx="5614801" cy="4031873"/>
          </a:xfrm>
          <a:prstGeom prst="rect">
            <a:avLst/>
          </a:prstGeom>
        </p:spPr>
        <p:txBody>
          <a:bodyPr wrap="square">
            <a:spAutoFit/>
          </a:bodyPr>
          <a:lstStyle/>
          <a:p>
            <a:pPr marL="285750" indent="-285750">
              <a:buFont typeface="Arial" panose="020B0604020202020204" pitchFamily="34" charset="0"/>
              <a:buChar char="•"/>
            </a:pPr>
            <a:endParaRPr lang="en-US" sz="1600" dirty="0"/>
          </a:p>
          <a:p>
            <a:r>
              <a:rPr lang="en-US" sz="1600" b="1" dirty="0" smtClean="0"/>
              <a:t>Current </a:t>
            </a:r>
            <a:r>
              <a:rPr lang="en-US" sz="1600" b="1" dirty="0"/>
              <a:t>Flow Mechanism</a:t>
            </a:r>
            <a:r>
              <a:rPr lang="en-US" sz="1600" dirty="0"/>
              <a:t>:</a:t>
            </a:r>
          </a:p>
          <a:p>
            <a:pPr marL="285750" indent="-285750">
              <a:buFont typeface="Arial" panose="020B0604020202020204" pitchFamily="34" charset="0"/>
              <a:buChar char="•"/>
            </a:pPr>
            <a:r>
              <a:rPr lang="en-US" sz="1600" dirty="0"/>
              <a:t>Diode rectifiers allowing just each output for one-way current flow.</a:t>
            </a:r>
          </a:p>
          <a:p>
            <a:pPr marL="285750" indent="-285750">
              <a:buFont typeface="Arial" panose="020B0604020202020204" pitchFamily="34" charset="0"/>
              <a:buChar char="•"/>
            </a:pPr>
            <a:r>
              <a:rPr lang="en-US" sz="1600" dirty="0"/>
              <a:t>Anti-parallel connection for two-way current capability.</a:t>
            </a:r>
          </a:p>
          <a:p>
            <a:pPr marL="285750" indent="-285750">
              <a:buFont typeface="Arial" panose="020B0604020202020204" pitchFamily="34" charset="0"/>
              <a:buChar char="•"/>
            </a:pPr>
            <a:endParaRPr lang="en-US" sz="1600" dirty="0"/>
          </a:p>
          <a:p>
            <a:r>
              <a:rPr lang="en-US" sz="1600" b="1" dirty="0" smtClean="0"/>
              <a:t>Bi-directional </a:t>
            </a:r>
            <a:r>
              <a:rPr lang="en-US" sz="1600" b="1" dirty="0"/>
              <a:t>Power Switches</a:t>
            </a:r>
            <a:r>
              <a:rPr lang="en-US" sz="1600" dirty="0"/>
              <a:t>:</a:t>
            </a:r>
          </a:p>
          <a:p>
            <a:pPr marL="285750" indent="-285750">
              <a:buFont typeface="Arial" panose="020B0604020202020204" pitchFamily="34" charset="0"/>
              <a:buChar char="•"/>
            </a:pPr>
            <a:r>
              <a:rPr lang="en-US" sz="1600" dirty="0"/>
              <a:t>Placed between rectifier ground and unconnected side of the field winding to complete the current loop for each direction.</a:t>
            </a:r>
          </a:p>
          <a:p>
            <a:endParaRPr lang="en-US" sz="1600" dirty="0"/>
          </a:p>
          <a:p>
            <a:r>
              <a:rPr lang="en-US" sz="1600" b="1" dirty="0" smtClean="0"/>
              <a:t>Output </a:t>
            </a:r>
            <a:r>
              <a:rPr lang="en-US" sz="1600" b="1" dirty="0"/>
              <a:t>Activation</a:t>
            </a:r>
            <a:r>
              <a:rPr lang="en-US" sz="1600" dirty="0"/>
              <a:t>:</a:t>
            </a:r>
          </a:p>
          <a:p>
            <a:pPr marL="285750" indent="-285750">
              <a:buFont typeface="Arial" panose="020B0604020202020204" pitchFamily="34" charset="0"/>
              <a:buChar char="•"/>
            </a:pPr>
            <a:r>
              <a:rPr lang="en-US" sz="1600" dirty="0"/>
              <a:t>The operating converter at a frequency near the resonant frequency of the corresponding set activates the corresponding output, exciting the field winding in a specific direction.</a:t>
            </a:r>
            <a:endParaRPr lang="sv-SE" sz="1600" dirty="0"/>
          </a:p>
        </p:txBody>
      </p:sp>
      <p:sp>
        <p:nvSpPr>
          <p:cNvPr id="12" name="Rectangle 11"/>
          <p:cNvSpPr/>
          <p:nvPr/>
        </p:nvSpPr>
        <p:spPr>
          <a:xfrm>
            <a:off x="5168588" y="358461"/>
            <a:ext cx="3866764" cy="369332"/>
          </a:xfrm>
          <a:prstGeom prst="rect">
            <a:avLst/>
          </a:prstGeom>
        </p:spPr>
        <p:txBody>
          <a:bodyPr wrap="none">
            <a:spAutoFit/>
          </a:bodyPr>
          <a:lstStyle/>
          <a:p>
            <a:r>
              <a:rPr lang="sv-SE" dirty="0" smtClean="0"/>
              <a:t> </a:t>
            </a:r>
            <a:r>
              <a:rPr lang="sv-SE" dirty="0"/>
              <a:t>(</a:t>
            </a:r>
            <a:r>
              <a:rPr lang="sv-SE" dirty="0" err="1"/>
              <a:t>About</a:t>
            </a:r>
            <a:r>
              <a:rPr lang="sv-SE" dirty="0"/>
              <a:t> to be transferred to Scania)</a:t>
            </a:r>
          </a:p>
        </p:txBody>
      </p:sp>
    </p:spTree>
    <p:extLst>
      <p:ext uri="{BB962C8B-B14F-4D97-AF65-F5344CB8AC3E}">
        <p14:creationId xmlns:p14="http://schemas.microsoft.com/office/powerpoint/2010/main" val="6652884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err="1" smtClean="0"/>
              <a:t>Other</a:t>
            </a:r>
            <a:r>
              <a:rPr lang="sv-SE" dirty="0" smtClean="0"/>
              <a:t> Studies and Plans</a:t>
            </a:r>
            <a:endParaRPr lang="sv-SE" dirty="0"/>
          </a:p>
        </p:txBody>
      </p:sp>
      <p:sp>
        <p:nvSpPr>
          <p:cNvPr id="6" name="Content Placeholder 5"/>
          <p:cNvSpPr>
            <a:spLocks noGrp="1"/>
          </p:cNvSpPr>
          <p:nvPr>
            <p:ph idx="1"/>
          </p:nvPr>
        </p:nvSpPr>
        <p:spPr>
          <a:xfrm>
            <a:off x="363608" y="1122774"/>
            <a:ext cx="11066391" cy="1230568"/>
          </a:xfrm>
        </p:spPr>
        <p:txBody>
          <a:bodyPr/>
          <a:lstStyle/>
          <a:p>
            <a:pPr marL="0" lvl="0" indent="0" algn="just">
              <a:buNone/>
            </a:pPr>
            <a:r>
              <a:rPr lang="en-US" b="1" dirty="0" smtClean="0"/>
              <a:t>Second CMV paper: </a:t>
            </a:r>
            <a:r>
              <a:rPr lang="en-US" dirty="0" smtClean="0"/>
              <a:t>Reducing the </a:t>
            </a:r>
            <a:r>
              <a:rPr lang="en-US" dirty="0"/>
              <a:t>switching component of the common </a:t>
            </a:r>
            <a:r>
              <a:rPr lang="en-US" dirty="0" smtClean="0"/>
              <a:t>mode voltage (also decreasing </a:t>
            </a:r>
            <a:r>
              <a:rPr lang="en-US" dirty="0"/>
              <a:t>the occurrence of the </a:t>
            </a:r>
            <a:r>
              <a:rPr lang="en-US" dirty="0" err="1"/>
              <a:t>dV</a:t>
            </a:r>
            <a:r>
              <a:rPr lang="en-US" dirty="0"/>
              <a:t>/</a:t>
            </a:r>
            <a:r>
              <a:rPr lang="en-US" dirty="0" err="1"/>
              <a:t>dt</a:t>
            </a:r>
            <a:r>
              <a:rPr lang="en-US" dirty="0"/>
              <a:t> </a:t>
            </a:r>
            <a:r>
              <a:rPr lang="en-US" dirty="0" smtClean="0"/>
              <a:t>) by adjusting </a:t>
            </a:r>
            <a:r>
              <a:rPr lang="en-US" dirty="0"/>
              <a:t>the phase shifts to reach the </a:t>
            </a:r>
            <a:r>
              <a:rPr lang="en-US" dirty="0" err="1"/>
              <a:t>vectorial</a:t>
            </a:r>
            <a:r>
              <a:rPr lang="en-US" dirty="0"/>
              <a:t> sum of the first switching component as </a:t>
            </a:r>
            <a:r>
              <a:rPr lang="en-US" dirty="0" smtClean="0"/>
              <a:t>zero. In </a:t>
            </a:r>
            <a:r>
              <a:rPr lang="en-US" dirty="0"/>
              <a:t>the literature, giving 0-120-240 carrier phase shifts to reduce the CMV is common, but our proposal surpasses it.</a:t>
            </a:r>
            <a:endParaRPr lang="sv-SE" dirty="0"/>
          </a:p>
          <a:p>
            <a:pPr marL="0" indent="0" algn="just">
              <a:buNone/>
            </a:pPr>
            <a:endParaRPr lang="sv-SE" sz="2400" dirty="0"/>
          </a:p>
        </p:txBody>
      </p:sp>
      <p:cxnSp>
        <p:nvCxnSpPr>
          <p:cNvPr id="40" name="Straight Arrow Connector 39"/>
          <p:cNvCxnSpPr/>
          <p:nvPr/>
        </p:nvCxnSpPr>
        <p:spPr>
          <a:xfrm flipV="1">
            <a:off x="1423559" y="3314215"/>
            <a:ext cx="956635" cy="4879"/>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a:off x="781638" y="3314215"/>
            <a:ext cx="641921" cy="30513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1423560" y="2784405"/>
            <a:ext cx="196204" cy="516177"/>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43" name="Arc 42"/>
          <p:cNvSpPr/>
          <p:nvPr/>
        </p:nvSpPr>
        <p:spPr>
          <a:xfrm rot="3802984">
            <a:off x="1440060" y="3083967"/>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44" name="Arc 43"/>
          <p:cNvSpPr/>
          <p:nvPr/>
        </p:nvSpPr>
        <p:spPr>
          <a:xfrm rot="9696706">
            <a:off x="1133335" y="3299836"/>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45" name="TextBox 44"/>
              <p:cNvSpPr txBox="1"/>
              <p:nvPr/>
            </p:nvSpPr>
            <p:spPr>
              <a:xfrm>
                <a:off x="3623554" y="2508831"/>
                <a:ext cx="7888194" cy="981807"/>
              </a:xfrm>
              <a:prstGeom prst="rect">
                <a:avLst/>
              </a:prstGeom>
              <a:noFill/>
            </p:spPr>
            <p:txBody>
              <a:bodyPr wrap="square" rtlCol="0">
                <a:spAutoFit/>
              </a:bodyPr>
              <a:lstStyle/>
              <a:p>
                <a:pPr algn="just"/>
                <a:r>
                  <a:rPr lang="en-US" sz="1400" dirty="0" smtClean="0"/>
                  <a:t>We have tree vectors with magnitude of </a:t>
                </a:r>
                <a14:m>
                  <m:oMath xmlns:m="http://schemas.openxmlformats.org/officeDocument/2006/math">
                    <m:sSub>
                      <m:sSubPr>
                        <m:ctrlPr>
                          <a:rPr lang="en-US" sz="1400" i="1">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𝑆</m:t>
                        </m:r>
                      </m:e>
                      <m:sub>
                        <m:r>
                          <a:rPr lang="en-US" sz="1400" i="1">
                            <a:latin typeface="Cambria Math" panose="02040503050406030204" pitchFamily="18" charset="0"/>
                          </a:rPr>
                          <m:t>𝐴</m:t>
                        </m:r>
                      </m:sub>
                    </m:sSub>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𝑡</m:t>
                            </m:r>
                          </m:e>
                        </m:d>
                      </m:e>
                      <m:sup>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𝑠</m:t>
                            </m:r>
                          </m:sub>
                        </m:sSub>
                      </m:sup>
                    </m:sSup>
                    <m:d>
                      <m:dPr>
                        <m:begChr m:val="|"/>
                        <m:endChr m:val="|"/>
                        <m:ctrlPr>
                          <a:rPr lang="en-US" sz="1400" b="0" i="1" smtClean="0">
                            <a:latin typeface="Cambria Math" panose="02040503050406030204" pitchFamily="18" charset="0"/>
                          </a:rPr>
                        </m:ctrlPr>
                      </m:dPr>
                      <m:e>
                        <m:r>
                          <a:rPr lang="en-US" sz="1400" b="0" i="0" smtClean="0">
                            <a:latin typeface="Cambria Math" panose="02040503050406030204" pitchFamily="18" charset="0"/>
                          </a:rPr>
                          <m:t>, </m:t>
                        </m:r>
                        <m:sSub>
                          <m:sSubPr>
                            <m:ctrlPr>
                              <a:rPr lang="en-US" sz="1400" i="1">
                                <a:latin typeface="Cambria Math" panose="02040503050406030204" pitchFamily="18" charset="0"/>
                              </a:rPr>
                            </m:ctrlPr>
                          </m:sSubPr>
                          <m:e>
                            <m:r>
                              <a:rPr lang="en-US" sz="1400" i="1">
                                <a:latin typeface="Cambria Math" panose="02040503050406030204" pitchFamily="18" charset="0"/>
                              </a:rPr>
                              <m:t>|</m:t>
                            </m:r>
                            <m:r>
                              <a:rPr lang="en-US" sz="1400" i="1">
                                <a:latin typeface="Cambria Math" panose="02040503050406030204" pitchFamily="18" charset="0"/>
                              </a:rPr>
                              <m:t>𝑆</m:t>
                            </m:r>
                          </m:e>
                          <m:sub>
                            <m:r>
                              <a:rPr lang="en-US" sz="1400" b="0" i="1" smtClean="0">
                                <a:latin typeface="Cambria Math" panose="02040503050406030204" pitchFamily="18" charset="0"/>
                              </a:rPr>
                              <m:t>𝐵</m:t>
                            </m:r>
                          </m:sub>
                        </m:sSub>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𝑡</m:t>
                                </m:r>
                              </m:e>
                            </m:d>
                          </m:e>
                          <m:sup>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𝑠</m:t>
                                </m:r>
                              </m:sub>
                            </m:sSub>
                          </m:sup>
                        </m:sSup>
                      </m:e>
                    </m:d>
                    <m:r>
                      <a:rPr lang="en-US" sz="1400">
                        <a:latin typeface="Cambria Math" panose="02040503050406030204" pitchFamily="18" charset="0"/>
                      </a:rPr>
                      <m:t>,</m:t>
                    </m:r>
                    <m:r>
                      <m:rPr>
                        <m:sty m:val="p"/>
                      </m:rPr>
                      <a:rPr lang="en-US" sz="1400" b="0" i="0" smtClean="0">
                        <a:latin typeface="Cambria Math" panose="02040503050406030204" pitchFamily="18" charset="0"/>
                      </a:rPr>
                      <m:t>and</m:t>
                    </m:r>
                    <m:sSub>
                      <m:sSubPr>
                        <m:ctrlPr>
                          <a:rPr lang="en-US" sz="1400" i="1">
                            <a:latin typeface="Cambria Math" panose="02040503050406030204" pitchFamily="18" charset="0"/>
                          </a:rPr>
                        </m:ctrlPr>
                      </m:sSubPr>
                      <m:e>
                        <m:r>
                          <a:rPr lang="en-US" sz="1400" i="1">
                            <a:latin typeface="Cambria Math" panose="02040503050406030204" pitchFamily="18" charset="0"/>
                          </a:rPr>
                          <m:t>|</m:t>
                        </m:r>
                        <m:r>
                          <a:rPr lang="en-US" sz="1400" i="1">
                            <a:latin typeface="Cambria Math" panose="02040503050406030204" pitchFamily="18" charset="0"/>
                          </a:rPr>
                          <m:t>𝑆</m:t>
                        </m:r>
                      </m:e>
                      <m:sub>
                        <m:r>
                          <a:rPr lang="en-US" sz="1400" b="0" i="1" smtClean="0">
                            <a:latin typeface="Cambria Math" panose="02040503050406030204" pitchFamily="18" charset="0"/>
                          </a:rPr>
                          <m:t>𝐶</m:t>
                        </m:r>
                      </m:sub>
                    </m:sSub>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𝑡</m:t>
                            </m:r>
                          </m:e>
                        </m:d>
                      </m:e>
                      <m:sup>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𝑠</m:t>
                            </m:r>
                          </m:sub>
                        </m:sSub>
                      </m:sup>
                    </m:sSup>
                    <m:r>
                      <a:rPr lang="en-US" sz="1400" i="1">
                        <a:latin typeface="Cambria Math" panose="02040503050406030204" pitchFamily="18" charset="0"/>
                      </a:rPr>
                      <m:t>|</m:t>
                    </m:r>
                    <m:r>
                      <a:rPr lang="en-US" sz="1400" b="0" i="1" smtClean="0">
                        <a:latin typeface="Cambria Math" panose="02040503050406030204" pitchFamily="18" charset="0"/>
                      </a:rPr>
                      <m:t> </m:t>
                    </m:r>
                  </m:oMath>
                </a14:m>
                <a:r>
                  <a:rPr lang="en-US" sz="1400" dirty="0" smtClean="0"/>
                  <a:t>.</a:t>
                </a:r>
              </a:p>
              <a:p>
                <a:pPr algn="just"/>
                <a:r>
                  <a:rPr lang="en-US" sz="1400" dirty="0" smtClean="0"/>
                  <a:t>We </a:t>
                </a:r>
                <a:r>
                  <a:rPr lang="en-US" sz="1400" dirty="0"/>
                  <a:t>can anymore call them by </a:t>
                </a:r>
                <a14:m>
                  <m:oMath xmlns:m="http://schemas.openxmlformats.org/officeDocument/2006/math">
                    <m:r>
                      <a:rPr lang="en-US" sz="1400" b="0" i="0" smtClean="0">
                        <a:latin typeface="Cambria Math" panose="02040503050406030204" pitchFamily="18" charset="0"/>
                      </a:rPr>
                      <m:t> </m:t>
                    </m:r>
                    <m:sSub>
                      <m:sSubPr>
                        <m:ctrlPr>
                          <a:rPr lang="en-US" sz="1400" b="0" i="1" smtClean="0">
                            <a:latin typeface="Cambria Math" panose="02040503050406030204" pitchFamily="18" charset="0"/>
                          </a:rPr>
                        </m:ctrlPr>
                      </m:sSubPr>
                      <m:e>
                        <m:r>
                          <m:rPr>
                            <m:sty m:val="p"/>
                          </m:rPr>
                          <a:rPr lang="sv-SE" sz="1400" b="0" i="0" smtClean="0">
                            <a:latin typeface="Cambria Math" panose="02040503050406030204" pitchFamily="18" charset="0"/>
                          </a:rPr>
                          <m:t>v</m:t>
                        </m:r>
                      </m:e>
                      <m:sub>
                        <m:r>
                          <m:rPr>
                            <m:sty m:val="p"/>
                          </m:rPr>
                          <a:rPr lang="en-US" sz="1400" b="0" i="0" smtClean="0">
                            <a:latin typeface="Cambria Math" panose="02040503050406030204" pitchFamily="18" charset="0"/>
                          </a:rPr>
                          <m:t>A</m:t>
                        </m:r>
                      </m:sub>
                    </m:sSub>
                  </m:oMath>
                </a14:m>
                <a:r>
                  <a:rPr lang="sv-SE" sz="1400" dirty="0"/>
                  <a:t> , </a:t>
                </a:r>
                <a14:m>
                  <m:oMath xmlns:m="http://schemas.openxmlformats.org/officeDocument/2006/math">
                    <m:sSub>
                      <m:sSubPr>
                        <m:ctrlPr>
                          <a:rPr lang="en-US" sz="1400" i="1">
                            <a:latin typeface="Cambria Math" panose="02040503050406030204" pitchFamily="18" charset="0"/>
                          </a:rPr>
                        </m:ctrlPr>
                      </m:sSubPr>
                      <m:e>
                        <m:r>
                          <m:rPr>
                            <m:sty m:val="p"/>
                          </m:rPr>
                          <a:rPr lang="sv-SE" sz="1400">
                            <a:latin typeface="Cambria Math" panose="02040503050406030204" pitchFamily="18" charset="0"/>
                          </a:rPr>
                          <m:t>v</m:t>
                        </m:r>
                      </m:e>
                      <m:sub>
                        <m:r>
                          <m:rPr>
                            <m:sty m:val="p"/>
                          </m:rPr>
                          <a:rPr lang="en-US" sz="1400" b="0" i="0" smtClean="0">
                            <a:latin typeface="Cambria Math" panose="02040503050406030204" pitchFamily="18" charset="0"/>
                          </a:rPr>
                          <m:t>B</m:t>
                        </m:r>
                      </m:sub>
                    </m:sSub>
                  </m:oMath>
                </a14:m>
                <a:r>
                  <a:rPr lang="sv-SE" sz="1400" dirty="0"/>
                  <a:t> , and </a:t>
                </a:r>
                <a14:m>
                  <m:oMath xmlns:m="http://schemas.openxmlformats.org/officeDocument/2006/math">
                    <m:sSub>
                      <m:sSubPr>
                        <m:ctrlPr>
                          <a:rPr lang="en-US" sz="1400" i="1">
                            <a:latin typeface="Cambria Math" panose="02040503050406030204" pitchFamily="18" charset="0"/>
                          </a:rPr>
                        </m:ctrlPr>
                      </m:sSubPr>
                      <m:e>
                        <m:r>
                          <m:rPr>
                            <m:sty m:val="p"/>
                          </m:rPr>
                          <a:rPr lang="sv-SE" sz="1400">
                            <a:latin typeface="Cambria Math" panose="02040503050406030204" pitchFamily="18" charset="0"/>
                          </a:rPr>
                          <m:t>v</m:t>
                        </m:r>
                      </m:e>
                      <m:sub>
                        <m:r>
                          <m:rPr>
                            <m:sty m:val="p"/>
                          </m:rPr>
                          <a:rPr lang="en-US" sz="1400" b="0" i="0" smtClean="0">
                            <a:latin typeface="Cambria Math" panose="02040503050406030204" pitchFamily="18" charset="0"/>
                          </a:rPr>
                          <m:t>C</m:t>
                        </m:r>
                      </m:sub>
                    </m:sSub>
                    <m:r>
                      <a:rPr lang="en-US" sz="1400" b="0" i="1" smtClean="0">
                        <a:latin typeface="Cambria Math" panose="02040503050406030204" pitchFamily="18" charset="0"/>
                      </a:rPr>
                      <m:t> </m:t>
                    </m:r>
                  </m:oMath>
                </a14:m>
                <a:r>
                  <a:rPr lang="sv-SE" sz="1400" dirty="0"/>
                  <a:t>for ease </a:t>
                </a:r>
                <a:r>
                  <a:rPr lang="sv-SE" sz="1400" dirty="0" err="1"/>
                  <a:t>of</a:t>
                </a:r>
                <a:r>
                  <a:rPr lang="sv-SE" sz="1400" dirty="0"/>
                  <a:t> </a:t>
                </a:r>
                <a:r>
                  <a:rPr lang="sv-SE" sz="1400" dirty="0" smtClean="0"/>
                  <a:t>representation.</a:t>
                </a:r>
                <a:r>
                  <a:rPr lang="en-US" sz="1400" dirty="0"/>
                  <a:t> </a:t>
                </a:r>
                <a:endParaRPr lang="en-US" sz="1400" dirty="0" smtClean="0"/>
              </a:p>
              <a:p>
                <a:pPr algn="just"/>
                <a:r>
                  <a:rPr lang="en-US" sz="1400" dirty="0" smtClean="0"/>
                  <a:t>If </a:t>
                </a:r>
                <a:r>
                  <a:rPr lang="en-US" sz="1400" dirty="0"/>
                  <a:t>these vectors </a:t>
                </a:r>
                <a:r>
                  <a:rPr lang="en-US" sz="1400" dirty="0" smtClean="0"/>
                  <a:t>create a </a:t>
                </a:r>
                <a:r>
                  <a:rPr lang="en-US" sz="1400" dirty="0"/>
                  <a:t>triangle, </a:t>
                </a:r>
                <a:r>
                  <a:rPr lang="en-US" sz="1400" dirty="0" smtClean="0"/>
                  <a:t>the </a:t>
                </a:r>
                <a:r>
                  <a:rPr lang="en-US" sz="1400" dirty="0"/>
                  <a:t>sum could be zero. </a:t>
                </a:r>
              </a:p>
              <a:p>
                <a:pPr algn="just"/>
                <a:r>
                  <a:rPr lang="en-US" sz="1400" dirty="0" smtClean="0"/>
                  <a:t>It </a:t>
                </a:r>
                <a:r>
                  <a:rPr lang="en-US" sz="1400" dirty="0"/>
                  <a:t>is easily determined whether these three vectors </a:t>
                </a:r>
                <a:r>
                  <a:rPr lang="en-US" sz="1400" dirty="0" smtClean="0"/>
                  <a:t>create a </a:t>
                </a:r>
                <a:r>
                  <a:rPr lang="en-US" sz="1400" dirty="0"/>
                  <a:t>triangle </a:t>
                </a:r>
                <a:r>
                  <a:rPr lang="en-US" sz="1400" dirty="0" smtClean="0"/>
                  <a:t>by using triangle inequality</a:t>
                </a:r>
                <a:r>
                  <a:rPr lang="sv-SE" sz="1400" dirty="0" smtClean="0"/>
                  <a:t>y</a:t>
                </a:r>
                <a:r>
                  <a:rPr lang="sv-SE" sz="1400" dirty="0"/>
                  <a:t>. </a:t>
                </a:r>
                <a:endParaRPr lang="en-US" sz="1400" dirty="0"/>
              </a:p>
            </p:txBody>
          </p:sp>
        </mc:Choice>
        <mc:Fallback xmlns="">
          <p:sp>
            <p:nvSpPr>
              <p:cNvPr id="45" name="TextBox 44"/>
              <p:cNvSpPr txBox="1">
                <a:spLocks noRot="1" noChangeAspect="1" noMove="1" noResize="1" noEditPoints="1" noAdjustHandles="1" noChangeArrowheads="1" noChangeShapeType="1" noTextEdit="1"/>
              </p:cNvSpPr>
              <p:nvPr/>
            </p:nvSpPr>
            <p:spPr>
              <a:xfrm>
                <a:off x="3623554" y="2508831"/>
                <a:ext cx="7888194" cy="981807"/>
              </a:xfrm>
              <a:prstGeom prst="rect">
                <a:avLst/>
              </a:prstGeom>
              <a:blipFill>
                <a:blip r:embed="rId2"/>
                <a:stretch>
                  <a:fillRect l="-232" b="-4969"/>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E329F2A0-7DC8-470C-A880-FA136EC5CE95}"/>
                  </a:ext>
                </a:extLst>
              </p:cNvPr>
              <p:cNvSpPr/>
              <p:nvPr/>
            </p:nvSpPr>
            <p:spPr>
              <a:xfrm>
                <a:off x="1085850" y="4290124"/>
                <a:ext cx="3870419" cy="646331"/>
              </a:xfrm>
              <a:prstGeom prst="rect">
                <a:avLst/>
              </a:prstGeom>
            </p:spPr>
            <p:txBody>
              <a:bodyPr wrap="none">
                <a:spAutoFit/>
              </a:bodyPr>
              <a:lstStyle/>
              <a:p>
                <a:r>
                  <a:rPr lang="en-US" b="1" dirty="0"/>
                  <a:t>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r>
                      <a:rPr lang="en-US" b="1" i="1" smtClean="0">
                        <a:latin typeface="Cambria Math" panose="02040503050406030204" pitchFamily="18" charset="0"/>
                      </a:rPr>
                      <m:t>|</m:t>
                    </m:r>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0" smtClean="0">
                            <a:latin typeface="Cambria Math" panose="02040503050406030204" pitchFamily="18" charset="0"/>
                          </a:rPr>
                          <m:t>𝐂</m:t>
                        </m:r>
                      </m:sub>
                    </m:sSub>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oMath>
                </a14:m>
                <a:r>
                  <a:rPr lang="en-US" b="1" dirty="0"/>
                  <a:t> is satisfied </a:t>
                </a:r>
              </a:p>
              <a:p>
                <a:r>
                  <a:rPr lang="en-US" dirty="0"/>
                  <a:t> </a:t>
                </a:r>
              </a:p>
            </p:txBody>
          </p:sp>
        </mc:Choice>
        <mc:Fallback xmlns="">
          <p:sp>
            <p:nvSpPr>
              <p:cNvPr id="46" name="Rectangle 45">
                <a:extLst>
                  <a:ext uri="{FF2B5EF4-FFF2-40B4-BE49-F238E27FC236}">
                    <a16:creationId xmlns:a16="http://schemas.microsoft.com/office/drawing/2014/main" id="{E329F2A0-7DC8-470C-A880-FA136EC5CE95}"/>
                  </a:ext>
                </a:extLst>
              </p:cNvPr>
              <p:cNvSpPr>
                <a:spLocks noRot="1" noChangeAspect="1" noMove="1" noResize="1" noEditPoints="1" noAdjustHandles="1" noChangeArrowheads="1" noChangeShapeType="1" noTextEdit="1"/>
              </p:cNvSpPr>
              <p:nvPr/>
            </p:nvSpPr>
            <p:spPr>
              <a:xfrm>
                <a:off x="1085850" y="4290124"/>
                <a:ext cx="3870419" cy="646331"/>
              </a:xfrm>
              <a:prstGeom prst="rect">
                <a:avLst/>
              </a:prstGeom>
              <a:blipFill>
                <a:blip r:embed="rId3"/>
                <a:stretch>
                  <a:fillRect l="-1260" t="-5660" r="-6142"/>
                </a:stretch>
              </a:blipFill>
            </p:spPr>
            <p:txBody>
              <a:bodyPr/>
              <a:lstStyle/>
              <a:p>
                <a:r>
                  <a:rPr lang="sv-SE">
                    <a:noFill/>
                  </a:rPr>
                  <a:t> </a:t>
                </a:r>
              </a:p>
            </p:txBody>
          </p:sp>
        </mc:Fallback>
      </mc:AlternateContent>
      <p:cxnSp>
        <p:nvCxnSpPr>
          <p:cNvPr id="47" name="Straight Arrow Connector 46">
            <a:extLst>
              <a:ext uri="{FF2B5EF4-FFF2-40B4-BE49-F238E27FC236}">
                <a16:creationId xmlns:a16="http://schemas.microsoft.com/office/drawing/2014/main" id="{AD2643C9-41F5-4561-BA2F-54D5D07C3C4D}"/>
              </a:ext>
            </a:extLst>
          </p:cNvPr>
          <p:cNvCxnSpPr>
            <a:cxnSpLocks/>
          </p:cNvCxnSpPr>
          <p:nvPr/>
        </p:nvCxnSpPr>
        <p:spPr>
          <a:xfrm flipV="1">
            <a:off x="1221008" y="5665018"/>
            <a:ext cx="2402546" cy="1689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70B6A6CC-D941-41F7-A041-3AF1EEA7B3BA}"/>
                  </a:ext>
                </a:extLst>
              </p:cNvPr>
              <p:cNvSpPr/>
              <p:nvPr/>
            </p:nvSpPr>
            <p:spPr>
              <a:xfrm>
                <a:off x="2323096" y="3097452"/>
                <a:ext cx="48115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sv-SE">
                              <a:latin typeface="Cambria Math" panose="02040503050406030204" pitchFamily="18" charset="0"/>
                            </a:rPr>
                            <m:t>v</m:t>
                          </m:r>
                        </m:e>
                        <m:sub>
                          <m:r>
                            <m:rPr>
                              <m:sty m:val="p"/>
                            </m:rPr>
                            <a:rPr lang="en-US">
                              <a:latin typeface="Cambria Math" panose="02040503050406030204" pitchFamily="18" charset="0"/>
                            </a:rPr>
                            <m:t>A</m:t>
                          </m:r>
                        </m:sub>
                      </m:sSub>
                    </m:oMath>
                  </m:oMathPara>
                </a14:m>
                <a:endParaRPr lang="en-US" dirty="0"/>
              </a:p>
            </p:txBody>
          </p:sp>
        </mc:Choice>
        <mc:Fallback xmlns="">
          <p:sp>
            <p:nvSpPr>
              <p:cNvPr id="48" name="Rectangle 47">
                <a:extLst>
                  <a:ext uri="{FF2B5EF4-FFF2-40B4-BE49-F238E27FC236}">
                    <a16:creationId xmlns:a16="http://schemas.microsoft.com/office/drawing/2014/main" id="{70B6A6CC-D941-41F7-A041-3AF1EEA7B3BA}"/>
                  </a:ext>
                </a:extLst>
              </p:cNvPr>
              <p:cNvSpPr>
                <a:spLocks noRot="1" noChangeAspect="1" noMove="1" noResize="1" noEditPoints="1" noAdjustHandles="1" noChangeArrowheads="1" noChangeShapeType="1" noTextEdit="1"/>
              </p:cNvSpPr>
              <p:nvPr/>
            </p:nvSpPr>
            <p:spPr>
              <a:xfrm>
                <a:off x="2323096" y="3097452"/>
                <a:ext cx="481157" cy="369332"/>
              </a:xfrm>
              <a:prstGeom prst="rect">
                <a:avLst/>
              </a:prstGeom>
              <a:blipFill>
                <a:blip r:embed="rId4"/>
                <a:stretch>
                  <a:fillRect b="-1639"/>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CD548377-8719-493E-B866-6EA2CA5CE581}"/>
                  </a:ext>
                </a:extLst>
              </p:cNvPr>
              <p:cNvSpPr/>
              <p:nvPr/>
            </p:nvSpPr>
            <p:spPr>
              <a:xfrm>
                <a:off x="1423559" y="2430370"/>
                <a:ext cx="4795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sv-SE">
                              <a:latin typeface="Cambria Math" panose="02040503050406030204" pitchFamily="18" charset="0"/>
                            </a:rPr>
                            <m:t>v</m:t>
                          </m:r>
                        </m:e>
                        <m:sub>
                          <m:r>
                            <m:rPr>
                              <m:sty m:val="p"/>
                            </m:rPr>
                            <a:rPr lang="en-US" b="0" i="0" smtClean="0">
                              <a:latin typeface="Cambria Math" panose="02040503050406030204" pitchFamily="18" charset="0"/>
                            </a:rPr>
                            <m:t>B</m:t>
                          </m:r>
                        </m:sub>
                      </m:sSub>
                    </m:oMath>
                  </m:oMathPara>
                </a14:m>
                <a:endParaRPr lang="en-US" dirty="0"/>
              </a:p>
            </p:txBody>
          </p:sp>
        </mc:Choice>
        <mc:Fallback xmlns="">
          <p:sp>
            <p:nvSpPr>
              <p:cNvPr id="49" name="Rectangle 48">
                <a:extLst>
                  <a:ext uri="{FF2B5EF4-FFF2-40B4-BE49-F238E27FC236}">
                    <a16:creationId xmlns:a16="http://schemas.microsoft.com/office/drawing/2014/main" id="{CD548377-8719-493E-B866-6EA2CA5CE581}"/>
                  </a:ext>
                </a:extLst>
              </p:cNvPr>
              <p:cNvSpPr>
                <a:spLocks noRot="1" noChangeAspect="1" noMove="1" noResize="1" noEditPoints="1" noAdjustHandles="1" noChangeArrowheads="1" noChangeShapeType="1" noTextEdit="1"/>
              </p:cNvSpPr>
              <p:nvPr/>
            </p:nvSpPr>
            <p:spPr>
              <a:xfrm>
                <a:off x="1423559" y="2430370"/>
                <a:ext cx="479554" cy="369332"/>
              </a:xfrm>
              <a:prstGeom prst="rect">
                <a:avLst/>
              </a:prstGeom>
              <a:blipFill>
                <a:blip r:embed="rId5"/>
                <a:stretch>
                  <a:fillRect b="-1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ED50A725-5E1B-438D-9CD9-40D8391D8ADF}"/>
                  </a:ext>
                </a:extLst>
              </p:cNvPr>
              <p:cNvSpPr/>
              <p:nvPr/>
            </p:nvSpPr>
            <p:spPr>
              <a:xfrm>
                <a:off x="480090" y="3519079"/>
                <a:ext cx="4699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sv-SE">
                              <a:latin typeface="Cambria Math" panose="02040503050406030204" pitchFamily="18" charset="0"/>
                            </a:rPr>
                            <m:t>v</m:t>
                          </m:r>
                        </m:e>
                        <m:sub>
                          <m:r>
                            <m:rPr>
                              <m:sty m:val="p"/>
                            </m:rPr>
                            <a:rPr lang="en-US" b="0" i="0" smtClean="0">
                              <a:latin typeface="Cambria Math" panose="02040503050406030204" pitchFamily="18" charset="0"/>
                            </a:rPr>
                            <m:t>C</m:t>
                          </m:r>
                        </m:sub>
                      </m:sSub>
                    </m:oMath>
                  </m:oMathPara>
                </a14:m>
                <a:endParaRPr lang="en-US" dirty="0"/>
              </a:p>
            </p:txBody>
          </p:sp>
        </mc:Choice>
        <mc:Fallback xmlns="">
          <p:sp>
            <p:nvSpPr>
              <p:cNvPr id="50" name="Rectangle 49">
                <a:extLst>
                  <a:ext uri="{FF2B5EF4-FFF2-40B4-BE49-F238E27FC236}">
                    <a16:creationId xmlns:a16="http://schemas.microsoft.com/office/drawing/2014/main" id="{ED50A725-5E1B-438D-9CD9-40D8391D8ADF}"/>
                  </a:ext>
                </a:extLst>
              </p:cNvPr>
              <p:cNvSpPr>
                <a:spLocks noRot="1" noChangeAspect="1" noMove="1" noResize="1" noEditPoints="1" noAdjustHandles="1" noChangeArrowheads="1" noChangeShapeType="1" noTextEdit="1"/>
              </p:cNvSpPr>
              <p:nvPr/>
            </p:nvSpPr>
            <p:spPr>
              <a:xfrm>
                <a:off x="480090" y="3519079"/>
                <a:ext cx="469937" cy="369332"/>
              </a:xfrm>
              <a:prstGeom prst="rect">
                <a:avLst/>
              </a:prstGeom>
              <a:blipFill>
                <a:blip r:embed="rId6"/>
                <a:stretch>
                  <a:fillRect b="-1639"/>
                </a:stretch>
              </a:blipFill>
            </p:spPr>
            <p:txBody>
              <a:bodyPr/>
              <a:lstStyle/>
              <a:p>
                <a:r>
                  <a:rPr lang="sv-SE">
                    <a:noFill/>
                  </a:rPr>
                  <a:t> </a:t>
                </a:r>
              </a:p>
            </p:txBody>
          </p:sp>
        </mc:Fallback>
      </mc:AlternateContent>
      <p:cxnSp>
        <p:nvCxnSpPr>
          <p:cNvPr id="51" name="Straight Arrow Connector 50">
            <a:extLst>
              <a:ext uri="{FF2B5EF4-FFF2-40B4-BE49-F238E27FC236}">
                <a16:creationId xmlns:a16="http://schemas.microsoft.com/office/drawing/2014/main" id="{AAACAC1D-917A-4182-9A23-E49D507EFDDC}"/>
              </a:ext>
            </a:extLst>
          </p:cNvPr>
          <p:cNvCxnSpPr>
            <a:cxnSpLocks/>
          </p:cNvCxnSpPr>
          <p:nvPr/>
        </p:nvCxnSpPr>
        <p:spPr>
          <a:xfrm flipV="1">
            <a:off x="3593228" y="4917787"/>
            <a:ext cx="963606" cy="735348"/>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79B8392-0229-4F99-880A-C1847A5045F6}"/>
              </a:ext>
            </a:extLst>
          </p:cNvPr>
          <p:cNvCxnSpPr>
            <a:cxnSpLocks/>
          </p:cNvCxnSpPr>
          <p:nvPr/>
        </p:nvCxnSpPr>
        <p:spPr>
          <a:xfrm flipH="1">
            <a:off x="1221008" y="4917787"/>
            <a:ext cx="3286466" cy="73534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53" name="Arc 52">
            <a:extLst>
              <a:ext uri="{FF2B5EF4-FFF2-40B4-BE49-F238E27FC236}">
                <a16:creationId xmlns:a16="http://schemas.microsoft.com/office/drawing/2014/main" id="{AE3E0BFE-22D9-4A13-99FC-D329682B92D3}"/>
              </a:ext>
            </a:extLst>
          </p:cNvPr>
          <p:cNvSpPr/>
          <p:nvPr/>
        </p:nvSpPr>
        <p:spPr>
          <a:xfrm rot="2203924">
            <a:off x="3685081" y="5524350"/>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p:sp>
        <p:nvSpPr>
          <p:cNvPr id="54" name="Arc 53">
            <a:extLst>
              <a:ext uri="{FF2B5EF4-FFF2-40B4-BE49-F238E27FC236}">
                <a16:creationId xmlns:a16="http://schemas.microsoft.com/office/drawing/2014/main" id="{7FD4CE10-858C-4ED5-AA94-9F99AC7E8DD9}"/>
              </a:ext>
            </a:extLst>
          </p:cNvPr>
          <p:cNvSpPr/>
          <p:nvPr/>
        </p:nvSpPr>
        <p:spPr>
          <a:xfrm rot="8638307">
            <a:off x="937470" y="5469977"/>
            <a:ext cx="538984" cy="281832"/>
          </a:xfrm>
          <a:prstGeom prst="arc">
            <a:avLst>
              <a:gd name="adj1" fmla="val 15923001"/>
              <a:gd name="adj2" fmla="val 21419193"/>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289C501-5BD9-4361-8019-C1DEC65E998C}"/>
                  </a:ext>
                </a:extLst>
              </p:cNvPr>
              <p:cNvSpPr txBox="1"/>
              <p:nvPr/>
            </p:nvSpPr>
            <p:spPr>
              <a:xfrm>
                <a:off x="0" y="6127285"/>
                <a:ext cx="6245816" cy="369332"/>
              </a:xfrm>
              <a:prstGeom prst="rect">
                <a:avLst/>
              </a:prstGeom>
              <a:noFill/>
            </p:spPr>
            <p:txBody>
              <a:bodyPr wrap="square" rtlCol="0">
                <a:spAutoFit/>
              </a:bodyPr>
              <a:lstStyle/>
              <a:p>
                <a:r>
                  <a:rPr lang="en-US" dirty="0">
                    <a:solidFill>
                      <a:srgbClr val="FF0000"/>
                    </a:solidFill>
                  </a:rPr>
                  <a:t>Apply cosine and sine  theorems to find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oMath>
                </a14:m>
                <a:r>
                  <a:rPr lang="en-US" dirty="0">
                    <a:solidFill>
                      <a:srgbClr val="FF0000"/>
                    </a:solidFill>
                  </a:rPr>
                  <a:t> </a:t>
                </a:r>
              </a:p>
            </p:txBody>
          </p:sp>
        </mc:Choice>
        <mc:Fallback xmlns="">
          <p:sp>
            <p:nvSpPr>
              <p:cNvPr id="55" name="TextBox 54">
                <a:extLst>
                  <a:ext uri="{FF2B5EF4-FFF2-40B4-BE49-F238E27FC236}">
                    <a16:creationId xmlns:a16="http://schemas.microsoft.com/office/drawing/2014/main" id="{8289C501-5BD9-4361-8019-C1DEC65E998C}"/>
                  </a:ext>
                </a:extLst>
              </p:cNvPr>
              <p:cNvSpPr txBox="1">
                <a:spLocks noRot="1" noChangeAspect="1" noMove="1" noResize="1" noEditPoints="1" noAdjustHandles="1" noChangeArrowheads="1" noChangeShapeType="1" noTextEdit="1"/>
              </p:cNvSpPr>
              <p:nvPr/>
            </p:nvSpPr>
            <p:spPr>
              <a:xfrm>
                <a:off x="0" y="6127285"/>
                <a:ext cx="6245816" cy="369332"/>
              </a:xfrm>
              <a:prstGeom prst="rect">
                <a:avLst/>
              </a:prstGeom>
              <a:blipFill>
                <a:blip r:embed="rId7"/>
                <a:stretch>
                  <a:fillRect l="-780" t="-8197" b="-24590"/>
                </a:stretch>
              </a:blipFill>
            </p:spPr>
            <p:txBody>
              <a:bodyPr/>
              <a:lstStyle/>
              <a:p>
                <a:r>
                  <a:rPr lang="sv-SE">
                    <a:noFill/>
                  </a:rPr>
                  <a:t> </a:t>
                </a:r>
              </a:p>
            </p:txBody>
          </p:sp>
        </mc:Fallback>
      </mc:AlternateContent>
      <p:cxnSp>
        <p:nvCxnSpPr>
          <p:cNvPr id="56" name="Straight Connector 55">
            <a:extLst>
              <a:ext uri="{FF2B5EF4-FFF2-40B4-BE49-F238E27FC236}">
                <a16:creationId xmlns:a16="http://schemas.microsoft.com/office/drawing/2014/main" id="{E918424A-0EB3-40BB-A40E-6D0DC5D29AED}"/>
              </a:ext>
            </a:extLst>
          </p:cNvPr>
          <p:cNvCxnSpPr>
            <a:cxnSpLocks/>
          </p:cNvCxnSpPr>
          <p:nvPr/>
        </p:nvCxnSpPr>
        <p:spPr>
          <a:xfrm>
            <a:off x="3593228" y="5672151"/>
            <a:ext cx="101448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82DD5A5E-2BF7-4102-93E5-28B1A971EE38}"/>
                  </a:ext>
                </a:extLst>
              </p:cNvPr>
              <p:cNvSpPr/>
              <p:nvPr/>
            </p:nvSpPr>
            <p:spPr>
              <a:xfrm>
                <a:off x="4060461" y="5264925"/>
                <a:ext cx="625108" cy="369332"/>
              </a:xfrm>
              <a:prstGeom prst="rect">
                <a:avLst/>
              </a:prstGeom>
            </p:spPr>
            <p:txBody>
              <a:bodyPr wrap="non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𝐶𝐵</m:t>
                        </m:r>
                      </m:sub>
                    </m:sSub>
                  </m:oMath>
                </a14:m>
                <a:r>
                  <a:rPr lang="en-US" dirty="0">
                    <a:solidFill>
                      <a:srgbClr val="FF0000"/>
                    </a:solidFill>
                  </a:rPr>
                  <a:t> </a:t>
                </a:r>
              </a:p>
            </p:txBody>
          </p:sp>
        </mc:Choice>
        <mc:Fallback xmlns="">
          <p:sp>
            <p:nvSpPr>
              <p:cNvPr id="57" name="Rectangle 56">
                <a:extLst>
                  <a:ext uri="{FF2B5EF4-FFF2-40B4-BE49-F238E27FC236}">
                    <a16:creationId xmlns:a16="http://schemas.microsoft.com/office/drawing/2014/main" id="{82DD5A5E-2BF7-4102-93E5-28B1A971EE38}"/>
                  </a:ext>
                </a:extLst>
              </p:cNvPr>
              <p:cNvSpPr>
                <a:spLocks noRot="1" noChangeAspect="1" noMove="1" noResize="1" noEditPoints="1" noAdjustHandles="1" noChangeArrowheads="1" noChangeShapeType="1" noTextEdit="1"/>
              </p:cNvSpPr>
              <p:nvPr/>
            </p:nvSpPr>
            <p:spPr>
              <a:xfrm>
                <a:off x="4060461" y="5264925"/>
                <a:ext cx="625108" cy="369332"/>
              </a:xfrm>
              <a:prstGeom prst="rect">
                <a:avLst/>
              </a:prstGeom>
              <a:blipFill>
                <a:blip r:embed="rId8"/>
                <a:stretch>
                  <a:fillRect l="-1942" b="-15000"/>
                </a:stretch>
              </a:blipFill>
            </p:spPr>
            <p:txBody>
              <a:bodyPr/>
              <a:lstStyle/>
              <a:p>
                <a:r>
                  <a:rPr lang="sv-SE">
                    <a:noFill/>
                  </a:rPr>
                  <a:t> </a:t>
                </a:r>
              </a:p>
            </p:txBody>
          </p:sp>
        </mc:Fallback>
      </mc:AlternateContent>
      <p:cxnSp>
        <p:nvCxnSpPr>
          <p:cNvPr id="58" name="Straight Connector 57">
            <a:extLst>
              <a:ext uri="{FF2B5EF4-FFF2-40B4-BE49-F238E27FC236}">
                <a16:creationId xmlns:a16="http://schemas.microsoft.com/office/drawing/2014/main" id="{B9BC1178-E83C-4DCF-8CBA-D0E5384E82B4}"/>
              </a:ext>
            </a:extLst>
          </p:cNvPr>
          <p:cNvCxnSpPr>
            <a:cxnSpLocks/>
          </p:cNvCxnSpPr>
          <p:nvPr/>
        </p:nvCxnSpPr>
        <p:spPr>
          <a:xfrm flipV="1">
            <a:off x="354540" y="5653136"/>
            <a:ext cx="915630" cy="260558"/>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842DFA2B-D0C8-43F2-84D2-0C73D7061155}"/>
                  </a:ext>
                </a:extLst>
              </p:cNvPr>
              <p:cNvSpPr/>
              <p:nvPr/>
            </p:nvSpPr>
            <p:spPr>
              <a:xfrm>
                <a:off x="1164017" y="5667208"/>
                <a:ext cx="616772" cy="369332"/>
              </a:xfrm>
              <a:prstGeom prst="rect">
                <a:avLst/>
              </a:prstGeom>
            </p:spPr>
            <p:txBody>
              <a:bodyPr wrap="non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oMath>
                </a14:m>
                <a:r>
                  <a:rPr lang="en-US" dirty="0">
                    <a:solidFill>
                      <a:srgbClr val="FF0000"/>
                    </a:solidFill>
                  </a:rPr>
                  <a:t> </a:t>
                </a:r>
              </a:p>
            </p:txBody>
          </p:sp>
        </mc:Choice>
        <mc:Fallback xmlns="">
          <p:sp>
            <p:nvSpPr>
              <p:cNvPr id="59" name="Rectangle 58">
                <a:extLst>
                  <a:ext uri="{FF2B5EF4-FFF2-40B4-BE49-F238E27FC236}">
                    <a16:creationId xmlns:a16="http://schemas.microsoft.com/office/drawing/2014/main" id="{842DFA2B-D0C8-43F2-84D2-0C73D7061155}"/>
                  </a:ext>
                </a:extLst>
              </p:cNvPr>
              <p:cNvSpPr>
                <a:spLocks noRot="1" noChangeAspect="1" noMove="1" noResize="1" noEditPoints="1" noAdjustHandles="1" noChangeArrowheads="1" noChangeShapeType="1" noTextEdit="1"/>
              </p:cNvSpPr>
              <p:nvPr/>
            </p:nvSpPr>
            <p:spPr>
              <a:xfrm>
                <a:off x="1164017" y="5667208"/>
                <a:ext cx="616772" cy="369332"/>
              </a:xfrm>
              <a:prstGeom prst="rect">
                <a:avLst/>
              </a:prstGeom>
              <a:blipFill>
                <a:blip r:embed="rId9"/>
                <a:stretch>
                  <a:fillRect l="-2970" b="-1500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B57B76FD-2D10-4F8C-9066-046A3D310D53}"/>
                  </a:ext>
                </a:extLst>
              </p:cNvPr>
              <p:cNvSpPr/>
              <p:nvPr/>
            </p:nvSpPr>
            <p:spPr>
              <a:xfrm>
                <a:off x="5833131" y="4255898"/>
                <a:ext cx="2939972"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oMath>
                </a14:m>
                <a:endParaRPr lang="en-US" b="1" dirty="0"/>
              </a:p>
              <a:p>
                <a:r>
                  <a:rPr lang="en-US" dirty="0"/>
                  <a:t> </a:t>
                </a:r>
              </a:p>
            </p:txBody>
          </p:sp>
        </mc:Choice>
        <mc:Fallback xmlns="">
          <p:sp>
            <p:nvSpPr>
              <p:cNvPr id="60" name="Rectangle 59">
                <a:extLst>
                  <a:ext uri="{FF2B5EF4-FFF2-40B4-BE49-F238E27FC236}">
                    <a16:creationId xmlns:a16="http://schemas.microsoft.com/office/drawing/2014/main" id="{B57B76FD-2D10-4F8C-9066-046A3D310D53}"/>
                  </a:ext>
                </a:extLst>
              </p:cNvPr>
              <p:cNvSpPr>
                <a:spLocks noRot="1" noChangeAspect="1" noMove="1" noResize="1" noEditPoints="1" noAdjustHandles="1" noChangeArrowheads="1" noChangeShapeType="1" noTextEdit="1"/>
              </p:cNvSpPr>
              <p:nvPr/>
            </p:nvSpPr>
            <p:spPr>
              <a:xfrm>
                <a:off x="5833131" y="4255898"/>
                <a:ext cx="2939972" cy="646331"/>
              </a:xfrm>
              <a:prstGeom prst="rect">
                <a:avLst/>
              </a:prstGeom>
              <a:blipFill>
                <a:blip r:embed="rId10"/>
                <a:stretch>
                  <a:fillRect l="-1867" t="-4717" r="-20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2A873941-A096-45C6-A860-287C4FE9FE4D}"/>
                  </a:ext>
                </a:extLst>
              </p:cNvPr>
              <p:cNvSpPr txBox="1"/>
              <p:nvPr/>
            </p:nvSpPr>
            <p:spPr>
              <a:xfrm>
                <a:off x="5862050" y="4564458"/>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xmlns="">
          <p:sp>
            <p:nvSpPr>
              <p:cNvPr id="61" name="TextBox 60">
                <a:extLst>
                  <a:ext uri="{FF2B5EF4-FFF2-40B4-BE49-F238E27FC236}">
                    <a16:creationId xmlns:a16="http://schemas.microsoft.com/office/drawing/2014/main" id="{2A873941-A096-45C6-A860-287C4FE9FE4D}"/>
                  </a:ext>
                </a:extLst>
              </p:cNvPr>
              <p:cNvSpPr txBox="1">
                <a:spLocks noRot="1" noChangeAspect="1" noMove="1" noResize="1" noEditPoints="1" noAdjustHandles="1" noChangeArrowheads="1" noChangeShapeType="1" noTextEdit="1"/>
              </p:cNvSpPr>
              <p:nvPr/>
            </p:nvSpPr>
            <p:spPr>
              <a:xfrm>
                <a:off x="5862050" y="4564458"/>
                <a:ext cx="6245816" cy="369332"/>
              </a:xfrm>
              <a:prstGeom prst="rect">
                <a:avLst/>
              </a:prstGeom>
              <a:blipFill>
                <a:blip r:embed="rId11"/>
                <a:stretch>
                  <a:fillRect l="-293" t="-10000" b="-26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BAC192F1-FC6D-4326-AB4B-1A56AE6E22A0}"/>
                  </a:ext>
                </a:extLst>
              </p:cNvPr>
              <p:cNvSpPr/>
              <p:nvPr/>
            </p:nvSpPr>
            <p:spPr>
              <a:xfrm>
                <a:off x="5915167" y="4955882"/>
                <a:ext cx="2983253"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𝑨</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oMath>
                </a14:m>
                <a:endParaRPr lang="en-US" b="1" dirty="0"/>
              </a:p>
              <a:p>
                <a:r>
                  <a:rPr lang="en-US" dirty="0"/>
                  <a:t> </a:t>
                </a:r>
              </a:p>
            </p:txBody>
          </p:sp>
        </mc:Choice>
        <mc:Fallback xmlns="">
          <p:sp>
            <p:nvSpPr>
              <p:cNvPr id="62" name="Rectangle 61">
                <a:extLst>
                  <a:ext uri="{FF2B5EF4-FFF2-40B4-BE49-F238E27FC236}">
                    <a16:creationId xmlns:a16="http://schemas.microsoft.com/office/drawing/2014/main" id="{BAC192F1-FC6D-4326-AB4B-1A56AE6E22A0}"/>
                  </a:ext>
                </a:extLst>
              </p:cNvPr>
              <p:cNvSpPr>
                <a:spLocks noRot="1" noChangeAspect="1" noMove="1" noResize="1" noEditPoints="1" noAdjustHandles="1" noChangeArrowheads="1" noChangeShapeType="1" noTextEdit="1"/>
              </p:cNvSpPr>
              <p:nvPr/>
            </p:nvSpPr>
            <p:spPr>
              <a:xfrm>
                <a:off x="5915167" y="4955882"/>
                <a:ext cx="2983253" cy="646331"/>
              </a:xfrm>
              <a:prstGeom prst="rect">
                <a:avLst/>
              </a:prstGeom>
              <a:blipFill>
                <a:blip r:embed="rId12"/>
                <a:stretch>
                  <a:fillRect l="-1633" t="-566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335ED28-4CE1-49C9-8CBB-36A404F4C5A1}"/>
                  </a:ext>
                </a:extLst>
              </p:cNvPr>
              <p:cNvSpPr txBox="1"/>
              <p:nvPr/>
            </p:nvSpPr>
            <p:spPr>
              <a:xfrm>
                <a:off x="5862050" y="5297172"/>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xmlns="">
          <p:sp>
            <p:nvSpPr>
              <p:cNvPr id="63" name="TextBox 62">
                <a:extLst>
                  <a:ext uri="{FF2B5EF4-FFF2-40B4-BE49-F238E27FC236}">
                    <a16:creationId xmlns:a16="http://schemas.microsoft.com/office/drawing/2014/main" id="{F335ED28-4CE1-49C9-8CBB-36A404F4C5A1}"/>
                  </a:ext>
                </a:extLst>
              </p:cNvPr>
              <p:cNvSpPr txBox="1">
                <a:spLocks noRot="1" noChangeAspect="1" noMove="1" noResize="1" noEditPoints="1" noAdjustHandles="1" noChangeArrowheads="1" noChangeShapeType="1" noTextEdit="1"/>
              </p:cNvSpPr>
              <p:nvPr/>
            </p:nvSpPr>
            <p:spPr>
              <a:xfrm>
                <a:off x="5862050" y="5297172"/>
                <a:ext cx="6245816" cy="369332"/>
              </a:xfrm>
              <a:prstGeom prst="rect">
                <a:avLst/>
              </a:prstGeom>
              <a:blipFill>
                <a:blip r:embed="rId13"/>
                <a:stretch>
                  <a:fillRect l="-293" t="-9836" b="-24590"/>
                </a:stretch>
              </a:blipFill>
            </p:spPr>
            <p:txBody>
              <a:bodyPr/>
              <a:lstStyle/>
              <a:p>
                <a:r>
                  <a:rPr lang="sv-SE">
                    <a:noFill/>
                  </a:rPr>
                  <a:t> </a:t>
                </a:r>
              </a:p>
            </p:txBody>
          </p:sp>
        </mc:Fallback>
      </mc:AlternateContent>
      <p:cxnSp>
        <p:nvCxnSpPr>
          <p:cNvPr id="64" name="Straight Arrow Connector 63">
            <a:extLst>
              <a:ext uri="{FF2B5EF4-FFF2-40B4-BE49-F238E27FC236}">
                <a16:creationId xmlns:a16="http://schemas.microsoft.com/office/drawing/2014/main" id="{526D2690-0EE3-4221-A726-69D2AB1F057C}"/>
              </a:ext>
            </a:extLst>
          </p:cNvPr>
          <p:cNvCxnSpPr>
            <a:cxnSpLocks/>
          </p:cNvCxnSpPr>
          <p:nvPr/>
        </p:nvCxnSpPr>
        <p:spPr>
          <a:xfrm>
            <a:off x="9239211" y="4698586"/>
            <a:ext cx="2346896"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232957C-D6E3-4D8C-9526-0A27C078B5C1}"/>
              </a:ext>
            </a:extLst>
          </p:cNvPr>
          <p:cNvCxnSpPr>
            <a:cxnSpLocks/>
          </p:cNvCxnSpPr>
          <p:nvPr/>
        </p:nvCxnSpPr>
        <p:spPr>
          <a:xfrm flipH="1" flipV="1">
            <a:off x="10721094" y="4591210"/>
            <a:ext cx="865014" cy="1"/>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EA755440-DDE9-4B7F-B44C-28CC75E7173E}"/>
              </a:ext>
            </a:extLst>
          </p:cNvPr>
          <p:cNvCxnSpPr>
            <a:cxnSpLocks/>
          </p:cNvCxnSpPr>
          <p:nvPr/>
        </p:nvCxnSpPr>
        <p:spPr>
          <a:xfrm flipH="1" flipV="1">
            <a:off x="9496495" y="4583083"/>
            <a:ext cx="1224599" cy="9115"/>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164349F-6FC2-466A-8DB7-CE4520F2BAA3}"/>
              </a:ext>
            </a:extLst>
          </p:cNvPr>
          <p:cNvCxnSpPr>
            <a:cxnSpLocks/>
          </p:cNvCxnSpPr>
          <p:nvPr/>
        </p:nvCxnSpPr>
        <p:spPr>
          <a:xfrm>
            <a:off x="9239211" y="5362006"/>
            <a:ext cx="2346896" cy="0"/>
          </a:xfrm>
          <a:prstGeom prst="straightConnector1">
            <a:avLst/>
          </a:prstGeom>
          <a:ln w="25400">
            <a:solidFill>
              <a:schemeClr val="accent5"/>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CA4EFF0A-C21C-4280-BF19-62BAE5228F1D}"/>
              </a:ext>
            </a:extLst>
          </p:cNvPr>
          <p:cNvCxnSpPr>
            <a:cxnSpLocks/>
          </p:cNvCxnSpPr>
          <p:nvPr/>
        </p:nvCxnSpPr>
        <p:spPr>
          <a:xfrm flipH="1" flipV="1">
            <a:off x="10721094" y="5254630"/>
            <a:ext cx="865014" cy="1"/>
          </a:xfrm>
          <a:prstGeom prst="straightConnector1">
            <a:avLst/>
          </a:prstGeom>
          <a:ln w="2540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ADD34A9-80C5-4AB1-AF23-641660505BA6}"/>
              </a:ext>
            </a:extLst>
          </p:cNvPr>
          <p:cNvCxnSpPr>
            <a:cxnSpLocks/>
          </p:cNvCxnSpPr>
          <p:nvPr/>
        </p:nvCxnSpPr>
        <p:spPr>
          <a:xfrm flipH="1" flipV="1">
            <a:off x="9496495" y="5246503"/>
            <a:ext cx="1224599" cy="9115"/>
          </a:xfrm>
          <a:prstGeom prst="straightConnector1">
            <a:avLst/>
          </a:prstGeom>
          <a:ln w="254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E91BF1FD-2245-4652-BE6B-793F0273C841}"/>
                  </a:ext>
                </a:extLst>
              </p:cNvPr>
              <p:cNvSpPr/>
              <p:nvPr/>
            </p:nvSpPr>
            <p:spPr>
              <a:xfrm>
                <a:off x="5915167" y="5624305"/>
                <a:ext cx="2983253"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𝑨</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oMath>
                </a14:m>
                <a:endParaRPr lang="en-US" b="1" dirty="0"/>
              </a:p>
              <a:p>
                <a:r>
                  <a:rPr lang="en-US" dirty="0"/>
                  <a:t> </a:t>
                </a:r>
              </a:p>
            </p:txBody>
          </p:sp>
        </mc:Choice>
        <mc:Fallback xmlns="">
          <p:sp>
            <p:nvSpPr>
              <p:cNvPr id="70" name="Rectangle 69">
                <a:extLst>
                  <a:ext uri="{FF2B5EF4-FFF2-40B4-BE49-F238E27FC236}">
                    <a16:creationId xmlns:a16="http://schemas.microsoft.com/office/drawing/2014/main" id="{E91BF1FD-2245-4652-BE6B-793F0273C841}"/>
                  </a:ext>
                </a:extLst>
              </p:cNvPr>
              <p:cNvSpPr>
                <a:spLocks noRot="1" noChangeAspect="1" noMove="1" noResize="1" noEditPoints="1" noAdjustHandles="1" noChangeArrowheads="1" noChangeShapeType="1" noTextEdit="1"/>
              </p:cNvSpPr>
              <p:nvPr/>
            </p:nvSpPr>
            <p:spPr>
              <a:xfrm>
                <a:off x="5915167" y="5624305"/>
                <a:ext cx="2983253" cy="646331"/>
              </a:xfrm>
              <a:prstGeom prst="rect">
                <a:avLst/>
              </a:prstGeom>
              <a:blipFill>
                <a:blip r:embed="rId14"/>
                <a:stretch>
                  <a:fillRect l="-1633" t="-566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BFB64064-1CDB-4B2A-9195-D4F43C5973A3}"/>
                  </a:ext>
                </a:extLst>
              </p:cNvPr>
              <p:cNvSpPr txBox="1"/>
              <p:nvPr/>
            </p:nvSpPr>
            <p:spPr>
              <a:xfrm>
                <a:off x="5946184" y="6038268"/>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xmlns="">
          <p:sp>
            <p:nvSpPr>
              <p:cNvPr id="71" name="TextBox 70">
                <a:extLst>
                  <a:ext uri="{FF2B5EF4-FFF2-40B4-BE49-F238E27FC236}">
                    <a16:creationId xmlns:a16="http://schemas.microsoft.com/office/drawing/2014/main" id="{BFB64064-1CDB-4B2A-9195-D4F43C5973A3}"/>
                  </a:ext>
                </a:extLst>
              </p:cNvPr>
              <p:cNvSpPr txBox="1">
                <a:spLocks noRot="1" noChangeAspect="1" noMove="1" noResize="1" noEditPoints="1" noAdjustHandles="1" noChangeArrowheads="1" noChangeShapeType="1" noTextEdit="1"/>
              </p:cNvSpPr>
              <p:nvPr/>
            </p:nvSpPr>
            <p:spPr>
              <a:xfrm>
                <a:off x="5946184" y="6038268"/>
                <a:ext cx="6245816" cy="369332"/>
              </a:xfrm>
              <a:prstGeom prst="rect">
                <a:avLst/>
              </a:prstGeom>
              <a:blipFill>
                <a:blip r:embed="rId15"/>
                <a:stretch>
                  <a:fillRect l="-195" t="-10000" b="-26667"/>
                </a:stretch>
              </a:blipFill>
            </p:spPr>
            <p:txBody>
              <a:bodyPr/>
              <a:lstStyle/>
              <a:p>
                <a:r>
                  <a:rPr lang="sv-SE">
                    <a:noFill/>
                  </a:rPr>
                  <a:t> </a:t>
                </a:r>
              </a:p>
            </p:txBody>
          </p:sp>
        </mc:Fallback>
      </mc:AlternateContent>
      <p:cxnSp>
        <p:nvCxnSpPr>
          <p:cNvPr id="72" name="Straight Arrow Connector 71">
            <a:extLst>
              <a:ext uri="{FF2B5EF4-FFF2-40B4-BE49-F238E27FC236}">
                <a16:creationId xmlns:a16="http://schemas.microsoft.com/office/drawing/2014/main" id="{4B82BDF3-273F-49E2-ACA9-F3F12BD23619}"/>
              </a:ext>
            </a:extLst>
          </p:cNvPr>
          <p:cNvCxnSpPr>
            <a:cxnSpLocks/>
          </p:cNvCxnSpPr>
          <p:nvPr/>
        </p:nvCxnSpPr>
        <p:spPr>
          <a:xfrm>
            <a:off x="9239210" y="6019090"/>
            <a:ext cx="2346896" cy="0"/>
          </a:xfrm>
          <a:prstGeom prst="straightConnector1">
            <a:avLst/>
          </a:prstGeom>
          <a:ln w="254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8B95C53-4E6A-488F-8647-0B299F9F6ED1}"/>
              </a:ext>
            </a:extLst>
          </p:cNvPr>
          <p:cNvCxnSpPr>
            <a:cxnSpLocks/>
          </p:cNvCxnSpPr>
          <p:nvPr/>
        </p:nvCxnSpPr>
        <p:spPr>
          <a:xfrm flipH="1" flipV="1">
            <a:off x="10721093" y="5911714"/>
            <a:ext cx="865014" cy="1"/>
          </a:xfrm>
          <a:prstGeom prst="straightConnector1">
            <a:avLst/>
          </a:prstGeom>
          <a:ln w="2540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8579418-0FDB-4272-A530-62E962386062}"/>
              </a:ext>
            </a:extLst>
          </p:cNvPr>
          <p:cNvCxnSpPr>
            <a:cxnSpLocks/>
          </p:cNvCxnSpPr>
          <p:nvPr/>
        </p:nvCxnSpPr>
        <p:spPr>
          <a:xfrm flipH="1" flipV="1">
            <a:off x="9496494" y="5903587"/>
            <a:ext cx="1224599" cy="9115"/>
          </a:xfrm>
          <a:prstGeom prst="straightConnector1">
            <a:avLst/>
          </a:prstGeom>
          <a:ln w="25400">
            <a:solidFill>
              <a:schemeClr val="accent5"/>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62209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err="1" smtClean="0"/>
              <a:t>Other</a:t>
            </a:r>
            <a:r>
              <a:rPr lang="sv-SE" dirty="0" smtClean="0"/>
              <a:t> Studies and Plans</a:t>
            </a:r>
            <a:endParaRPr lang="sv-SE" dirty="0"/>
          </a:p>
        </p:txBody>
      </p:sp>
      <p:sp>
        <p:nvSpPr>
          <p:cNvPr id="6" name="Content Placeholder 5"/>
          <p:cNvSpPr>
            <a:spLocks noGrp="1"/>
          </p:cNvSpPr>
          <p:nvPr>
            <p:ph idx="1"/>
          </p:nvPr>
        </p:nvSpPr>
        <p:spPr>
          <a:xfrm>
            <a:off x="363608" y="1122773"/>
            <a:ext cx="11066391" cy="4563651"/>
          </a:xfrm>
        </p:spPr>
        <p:txBody>
          <a:bodyPr/>
          <a:lstStyle/>
          <a:p>
            <a:pPr marL="0" indent="0" algn="just">
              <a:buNone/>
            </a:pPr>
            <a:r>
              <a:rPr lang="en-US" b="1" dirty="0" smtClean="0"/>
              <a:t>Motor Harmonic Losses: </a:t>
            </a:r>
          </a:p>
          <a:p>
            <a:pPr algn="just"/>
            <a:r>
              <a:rPr lang="en-US" dirty="0"/>
              <a:t>C</a:t>
            </a:r>
            <a:r>
              <a:rPr lang="en-US" dirty="0" smtClean="0"/>
              <a:t>reating </a:t>
            </a:r>
            <a:r>
              <a:rPr lang="en-US" dirty="0"/>
              <a:t>a model for harmonic loss calculation on the motor side, including the </a:t>
            </a:r>
            <a:r>
              <a:rPr lang="en-US" dirty="0" err="1"/>
              <a:t>Ld-Lq</a:t>
            </a:r>
            <a:r>
              <a:rPr lang="en-US" dirty="0"/>
              <a:t> differences and positive-negative sequences, </a:t>
            </a:r>
            <a:r>
              <a:rPr lang="en-US" dirty="0" smtClean="0"/>
              <a:t>that generates </a:t>
            </a:r>
            <a:r>
              <a:rPr lang="en-US" dirty="0"/>
              <a:t>negative power for some frequency components. </a:t>
            </a:r>
            <a:endParaRPr lang="sv-SE" dirty="0"/>
          </a:p>
          <a:p>
            <a:pPr algn="just"/>
            <a:r>
              <a:rPr lang="en-US" dirty="0" smtClean="0"/>
              <a:t>The </a:t>
            </a:r>
            <a:r>
              <a:rPr lang="en-US" dirty="0" err="1"/>
              <a:t>L</a:t>
            </a:r>
            <a:r>
              <a:rPr lang="en-US" dirty="0" err="1" smtClean="0"/>
              <a:t>d-Lq</a:t>
            </a:r>
            <a:r>
              <a:rPr lang="en-US" dirty="0" smtClean="0"/>
              <a:t> </a:t>
            </a:r>
            <a:r>
              <a:rPr lang="en-US" dirty="0"/>
              <a:t>difference causes negative power on the stator </a:t>
            </a:r>
            <a:r>
              <a:rPr lang="en-US" dirty="0" smtClean="0"/>
              <a:t>side</a:t>
            </a:r>
            <a:r>
              <a:rPr lang="en-US" dirty="0"/>
              <a:t>.</a:t>
            </a:r>
            <a:endParaRPr lang="sv-SE" sz="2400" dirty="0"/>
          </a:p>
        </p:txBody>
      </p:sp>
      <mc:AlternateContent xmlns:mc="http://schemas.openxmlformats.org/markup-compatibility/2006" xmlns:a14="http://schemas.microsoft.com/office/drawing/2010/main">
        <mc:Choice Requires="a14">
          <p:sp>
            <p:nvSpPr>
              <p:cNvPr id="4" name="TextBox 3"/>
              <p:cNvSpPr txBox="1"/>
              <p:nvPr/>
            </p:nvSpPr>
            <p:spPr>
              <a:xfrm>
                <a:off x="3231208" y="3017789"/>
                <a:ext cx="4325022" cy="477054"/>
              </a:xfrm>
              <a:prstGeom prst="rect">
                <a:avLst/>
              </a:prstGeom>
              <a:noFill/>
            </p:spPr>
            <p:txBody>
              <a:bodyPr wrap="square" rtlCol="0">
                <a:spAutoFit/>
              </a:bodyPr>
              <a:lstStyle/>
              <a:p>
                <a14:m>
                  <m:oMath xmlns:m="http://schemas.openxmlformats.org/officeDocument/2006/math">
                    <m:sSub>
                      <m:sSubPr>
                        <m:ctrlPr>
                          <a:rPr lang="en-US" sz="2500" i="1" dirty="0" smtClean="0">
                            <a:latin typeface="Cambria Math" panose="02040503050406030204" pitchFamily="18" charset="0"/>
                            <a:cs typeface="Times New Roman" panose="02020603050405020304" pitchFamily="18" charset="0"/>
                          </a:rPr>
                        </m:ctrlPr>
                      </m:sSubPr>
                      <m:e>
                        <m:r>
                          <a:rPr lang="en-US" sz="2500" i="1" dirty="0">
                            <a:latin typeface="Cambria Math" panose="02040503050406030204" pitchFamily="18" charset="0"/>
                            <a:cs typeface="Times New Roman" panose="02020603050405020304" pitchFamily="18" charset="0"/>
                          </a:rPr>
                          <m:t>𝑃</m:t>
                        </m:r>
                      </m:e>
                      <m:sub>
                        <m:r>
                          <a:rPr lang="en-US" sz="2500" i="1" dirty="0">
                            <a:latin typeface="Cambria Math" panose="02040503050406030204" pitchFamily="18" charset="0"/>
                            <a:cs typeface="Times New Roman" panose="02020603050405020304" pitchFamily="18" charset="0"/>
                          </a:rPr>
                          <m:t>h</m:t>
                        </m:r>
                      </m:sub>
                    </m:sSub>
                    <m:r>
                      <a:rPr lang="sv-SE" sz="2500" b="0" i="1" dirty="0" smtClean="0">
                        <a:latin typeface="Cambria Math" panose="02040503050406030204" pitchFamily="18" charset="0"/>
                        <a:cs typeface="Times New Roman" panose="02020603050405020304" pitchFamily="18" charset="0"/>
                      </a:rPr>
                      <m:t>=</m:t>
                    </m:r>
                    <m:sSub>
                      <m:sSubPr>
                        <m:ctrlPr>
                          <a:rPr lang="sv-SE" sz="2500" b="0" i="1" dirty="0" smtClean="0">
                            <a:latin typeface="Cambria Math" panose="02040503050406030204" pitchFamily="18" charset="0"/>
                            <a:cs typeface="Times New Roman" panose="02020603050405020304" pitchFamily="18" charset="0"/>
                          </a:rPr>
                        </m:ctrlPr>
                      </m:sSubPr>
                      <m:e>
                        <m:r>
                          <a:rPr lang="sv-SE" sz="2500" b="0" i="1" dirty="0" smtClean="0">
                            <a:latin typeface="Cambria Math" panose="02040503050406030204" pitchFamily="18" charset="0"/>
                            <a:cs typeface="Times New Roman" panose="02020603050405020304" pitchFamily="18" charset="0"/>
                          </a:rPr>
                          <m:t>𝑃</m:t>
                        </m:r>
                      </m:e>
                      <m:sub>
                        <m:r>
                          <a:rPr lang="sv-SE" sz="2500" b="0" i="1" dirty="0" smtClean="0">
                            <a:latin typeface="Cambria Math" panose="02040503050406030204" pitchFamily="18" charset="0"/>
                            <a:cs typeface="Times New Roman" panose="02020603050405020304" pitchFamily="18" charset="0"/>
                          </a:rPr>
                          <m:t>h</m:t>
                        </m:r>
                        <m:r>
                          <a:rPr lang="sv-SE" sz="2500" b="0" i="1" dirty="0" smtClean="0">
                            <a:latin typeface="Cambria Math" panose="02040503050406030204" pitchFamily="18" charset="0"/>
                            <a:cs typeface="Times New Roman" panose="02020603050405020304" pitchFamily="18" charset="0"/>
                          </a:rPr>
                          <m:t>−</m:t>
                        </m:r>
                        <m:r>
                          <a:rPr lang="sv-SE" sz="2500" b="0" i="1" dirty="0" smtClean="0">
                            <a:latin typeface="Cambria Math" panose="02040503050406030204" pitchFamily="18" charset="0"/>
                            <a:cs typeface="Times New Roman" panose="02020603050405020304" pitchFamily="18" charset="0"/>
                          </a:rPr>
                          <m:t>𝑠𝑡𝑎𝑡𝑜𝑟</m:t>
                        </m:r>
                      </m:sub>
                    </m:sSub>
                    <m:r>
                      <a:rPr lang="sv-SE" sz="2500" b="0" i="1" dirty="0" smtClean="0">
                        <a:latin typeface="Cambria Math" panose="02040503050406030204" pitchFamily="18" charset="0"/>
                        <a:cs typeface="Times New Roman" panose="02020603050405020304" pitchFamily="18" charset="0"/>
                      </a:rPr>
                      <m:t>+</m:t>
                    </m:r>
                    <m:sSub>
                      <m:sSubPr>
                        <m:ctrlPr>
                          <a:rPr lang="sv-SE" sz="2500" b="0" i="1" dirty="0" smtClean="0">
                            <a:latin typeface="Cambria Math" panose="02040503050406030204" pitchFamily="18" charset="0"/>
                            <a:cs typeface="Times New Roman" panose="02020603050405020304" pitchFamily="18" charset="0"/>
                          </a:rPr>
                        </m:ctrlPr>
                      </m:sSubPr>
                      <m:e>
                        <m:r>
                          <a:rPr lang="sv-SE" sz="2500" b="0" i="1" dirty="0" smtClean="0">
                            <a:latin typeface="Cambria Math" panose="02040503050406030204" pitchFamily="18" charset="0"/>
                            <a:cs typeface="Times New Roman" panose="02020603050405020304" pitchFamily="18" charset="0"/>
                          </a:rPr>
                          <m:t>𝑃</m:t>
                        </m:r>
                      </m:e>
                      <m:sub>
                        <m:r>
                          <a:rPr lang="sv-SE" sz="2500" b="0" i="1" dirty="0" smtClean="0">
                            <a:latin typeface="Cambria Math" panose="02040503050406030204" pitchFamily="18" charset="0"/>
                            <a:cs typeface="Times New Roman" panose="02020603050405020304" pitchFamily="18" charset="0"/>
                          </a:rPr>
                          <m:t>h</m:t>
                        </m:r>
                        <m:r>
                          <a:rPr lang="sv-SE" sz="2500" b="0" i="1" dirty="0" smtClean="0">
                            <a:latin typeface="Cambria Math" panose="02040503050406030204" pitchFamily="18" charset="0"/>
                            <a:cs typeface="Times New Roman" panose="02020603050405020304" pitchFamily="18" charset="0"/>
                          </a:rPr>
                          <m:t>−</m:t>
                        </m:r>
                        <m:r>
                          <a:rPr lang="sv-SE" sz="2500" b="0" i="1" dirty="0" smtClean="0">
                            <a:latin typeface="Cambria Math" panose="02040503050406030204" pitchFamily="18" charset="0"/>
                            <a:cs typeface="Times New Roman" panose="02020603050405020304" pitchFamily="18" charset="0"/>
                          </a:rPr>
                          <m:t>𝑟𝑜𝑡𝑜𝑟</m:t>
                        </m:r>
                      </m:sub>
                    </m:sSub>
                  </m:oMath>
                </a14:m>
                <a:r>
                  <a:rPr lang="en-US" sz="2500" dirty="0" smtClean="0">
                    <a:latin typeface="+mj-lt"/>
                    <a:cs typeface="Times New Roman" panose="02020603050405020304" pitchFamily="18" charset="0"/>
                  </a:rPr>
                  <a:t> </a:t>
                </a:r>
                <a:endParaRPr lang="en-US" sz="2500" dirty="0">
                  <a:latin typeface="+mj-lt"/>
                  <a:cs typeface="Times New Roman" panose="0202060305040502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3231208" y="3017789"/>
                <a:ext cx="4325022" cy="477054"/>
              </a:xfrm>
              <a:prstGeom prst="rect">
                <a:avLst/>
              </a:prstGeom>
              <a:blipFill>
                <a:blip r:embed="rId2"/>
                <a:stretch>
                  <a:fillRect l="-423" b="-3846"/>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003550" y="3703011"/>
                <a:ext cx="4325022"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500" i="1" dirty="0" smtClean="0">
                              <a:latin typeface="Cambria Math" panose="02040503050406030204" pitchFamily="18" charset="0"/>
                              <a:cs typeface="Times New Roman" panose="02020603050405020304" pitchFamily="18" charset="0"/>
                            </a:rPr>
                          </m:ctrlPr>
                        </m:sSubPr>
                        <m:e>
                          <m:r>
                            <a:rPr lang="en-US" sz="2500" i="1" dirty="0">
                              <a:latin typeface="Cambria Math" panose="02040503050406030204" pitchFamily="18" charset="0"/>
                              <a:cs typeface="Times New Roman" panose="02020603050405020304" pitchFamily="18" charset="0"/>
                            </a:rPr>
                            <m:t>𝑃</m:t>
                          </m:r>
                        </m:e>
                        <m:sub>
                          <m:r>
                            <a:rPr lang="sv-SE" sz="2500" b="0" i="1" dirty="0" smtClean="0">
                              <a:latin typeface="Cambria Math" panose="02040503050406030204" pitchFamily="18" charset="0"/>
                              <a:cs typeface="Times New Roman" panose="02020603050405020304" pitchFamily="18" charset="0"/>
                            </a:rPr>
                            <m:t>𝑛</m:t>
                          </m:r>
                        </m:sub>
                      </m:sSub>
                      <m:r>
                        <a:rPr lang="sv-SE" sz="2500" b="0" i="1" dirty="0" smtClean="0">
                          <a:latin typeface="Cambria Math" panose="02040503050406030204" pitchFamily="18" charset="0"/>
                          <a:cs typeface="Times New Roman" panose="02020603050405020304" pitchFamily="18" charset="0"/>
                        </a:rPr>
                        <m:t>=</m:t>
                      </m:r>
                      <m:sSubSup>
                        <m:sSubSupPr>
                          <m:ctrlPr>
                            <a:rPr lang="sv-SE" sz="2500" b="0" i="1" dirty="0" smtClean="0">
                              <a:latin typeface="Cambria Math" panose="02040503050406030204" pitchFamily="18" charset="0"/>
                              <a:cs typeface="Times New Roman" panose="02020603050405020304" pitchFamily="18" charset="0"/>
                            </a:rPr>
                          </m:ctrlPr>
                        </m:sSubSupPr>
                        <m:e>
                          <m:r>
                            <a:rPr lang="sv-SE" sz="2500" b="0" i="1" dirty="0" smtClean="0">
                              <a:latin typeface="Cambria Math" panose="02040503050406030204" pitchFamily="18" charset="0"/>
                              <a:cs typeface="Times New Roman" panose="02020603050405020304" pitchFamily="18" charset="0"/>
                            </a:rPr>
                            <m:t>𝑉</m:t>
                          </m:r>
                        </m:e>
                        <m:sub>
                          <m:r>
                            <a:rPr lang="sv-SE" sz="2500" b="0" i="1" dirty="0" smtClean="0">
                              <a:latin typeface="Cambria Math" panose="02040503050406030204" pitchFamily="18" charset="0"/>
                              <a:cs typeface="Times New Roman" panose="02020603050405020304" pitchFamily="18" charset="0"/>
                            </a:rPr>
                            <m:t>𝑛</m:t>
                          </m:r>
                        </m:sub>
                        <m:sup>
                          <m:r>
                            <a:rPr lang="sv-SE" sz="2500" b="0" i="1" dirty="0" smtClean="0">
                              <a:latin typeface="Cambria Math" panose="02040503050406030204" pitchFamily="18" charset="0"/>
                              <a:cs typeface="Times New Roman" panose="02020603050405020304" pitchFamily="18" charset="0"/>
                            </a:rPr>
                            <m:t>2</m:t>
                          </m:r>
                        </m:sup>
                      </m:sSubSup>
                      <m:r>
                        <a:rPr lang="sv-SE" sz="2500" b="0" i="1" dirty="0" smtClean="0">
                          <a:latin typeface="Cambria Math" panose="02040503050406030204" pitchFamily="18" charset="0"/>
                          <a:cs typeface="Times New Roman" panose="02020603050405020304" pitchFamily="18" charset="0"/>
                        </a:rPr>
                        <m:t>.  </m:t>
                      </m:r>
                      <m:sSub>
                        <m:sSubPr>
                          <m:ctrlPr>
                            <a:rPr lang="sv-SE" sz="2500" b="0" i="1" dirty="0" smtClean="0">
                              <a:latin typeface="Cambria Math" panose="02040503050406030204" pitchFamily="18" charset="0"/>
                              <a:cs typeface="Times New Roman" panose="02020603050405020304" pitchFamily="18" charset="0"/>
                            </a:rPr>
                          </m:ctrlPr>
                        </m:sSubPr>
                        <m:e>
                          <m:r>
                            <a:rPr lang="sv-SE" sz="2500" b="0" i="1" dirty="0" smtClean="0">
                              <a:latin typeface="Cambria Math" panose="02040503050406030204" pitchFamily="18" charset="0"/>
                              <a:cs typeface="Times New Roman" panose="02020603050405020304" pitchFamily="18" charset="0"/>
                            </a:rPr>
                            <m:t>𝐾</m:t>
                          </m:r>
                        </m:e>
                        <m:sub>
                          <m:r>
                            <a:rPr lang="sv-SE" sz="2500" b="0" i="1" dirty="0" smtClean="0">
                              <a:latin typeface="Cambria Math" panose="02040503050406030204" pitchFamily="18" charset="0"/>
                              <a:cs typeface="Times New Roman" panose="02020603050405020304" pitchFamily="18" charset="0"/>
                            </a:rPr>
                            <m:t>h</m:t>
                          </m:r>
                        </m:sub>
                      </m:sSub>
                      <m:r>
                        <a:rPr lang="sv-SE" sz="2500" b="0" i="1" dirty="0" smtClean="0">
                          <a:latin typeface="Cambria Math" panose="02040503050406030204" pitchFamily="18" charset="0"/>
                          <a:cs typeface="Times New Roman" panose="02020603050405020304" pitchFamily="18" charset="0"/>
                        </a:rPr>
                        <m:t>(</m:t>
                      </m:r>
                      <m:r>
                        <a:rPr lang="sv-SE" sz="2500" b="0" i="1" dirty="0" smtClean="0">
                          <a:latin typeface="Cambria Math" panose="02040503050406030204" pitchFamily="18" charset="0"/>
                          <a:cs typeface="Times New Roman" panose="02020603050405020304" pitchFamily="18" charset="0"/>
                        </a:rPr>
                        <m:t>𝑛</m:t>
                      </m:r>
                      <m:r>
                        <a:rPr lang="sv-SE" sz="2500" b="0" i="1" dirty="0" smtClean="0">
                          <a:latin typeface="Cambria Math" panose="02040503050406030204" pitchFamily="18" charset="0"/>
                          <a:cs typeface="Times New Roman" panose="02020603050405020304" pitchFamily="18" charset="0"/>
                        </a:rPr>
                        <m:t>) </m:t>
                      </m:r>
                    </m:oMath>
                  </m:oMathPara>
                </a14:m>
                <a:endParaRPr lang="en-US" sz="2500" dirty="0">
                  <a:latin typeface="+mj-lt"/>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003550" y="3703011"/>
                <a:ext cx="4325022" cy="477054"/>
              </a:xfrm>
              <a:prstGeom prst="rect">
                <a:avLst/>
              </a:prstGeom>
              <a:blipFill>
                <a:blip r:embed="rId3"/>
                <a:stretch>
                  <a:fillRect b="-17722"/>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773278" y="4874188"/>
                <a:ext cx="2990849" cy="369332"/>
              </a:xfrm>
              <a:prstGeom prst="rect">
                <a:avLst/>
              </a:prstGeom>
              <a:noFill/>
            </p:spPr>
            <p:txBody>
              <a:bodyPr wrap="square" rtlCol="0">
                <a:spAutoFit/>
              </a:bodyPr>
              <a:lstStyle/>
              <a:p>
                <a14:m>
                  <m:oMath xmlns:m="http://schemas.openxmlformats.org/officeDocument/2006/math">
                    <m:sSub>
                      <m:sSubPr>
                        <m:ctrlPr>
                          <a:rPr lang="sv-SE" i="1" dirty="0" smtClean="0">
                            <a:latin typeface="Cambria Math" panose="02040503050406030204" pitchFamily="18" charset="0"/>
                          </a:rPr>
                        </m:ctrlPr>
                      </m:sSubPr>
                      <m:e>
                        <m:r>
                          <a:rPr lang="sv-SE" i="1" dirty="0" smtClean="0">
                            <a:latin typeface="Cambria Math" panose="02040503050406030204" pitchFamily="18" charset="0"/>
                          </a:rPr>
                          <m:t>𝐾</m:t>
                        </m:r>
                      </m:e>
                      <m:sub>
                        <m:r>
                          <a:rPr lang="sv-SE" i="1" dirty="0" smtClean="0">
                            <a:latin typeface="Cambria Math" panose="02040503050406030204" pitchFamily="18" charset="0"/>
                          </a:rPr>
                          <m:t>h</m:t>
                        </m:r>
                      </m:sub>
                    </m:sSub>
                  </m:oMath>
                </a14:m>
                <a:r>
                  <a:rPr lang="sv-SE" dirty="0" smtClean="0"/>
                  <a:t> = </a:t>
                </a:r>
                <a:r>
                  <a:rPr lang="sv-SE" dirty="0" err="1" smtClean="0"/>
                  <a:t>harmonic</a:t>
                </a:r>
                <a:r>
                  <a:rPr lang="sv-SE" dirty="0" smtClean="0"/>
                  <a:t> loss </a:t>
                </a:r>
                <a:r>
                  <a:rPr lang="sv-SE" dirty="0" err="1" smtClean="0"/>
                  <a:t>factor</a:t>
                </a:r>
                <a:r>
                  <a:rPr lang="sv-SE" dirty="0" smtClean="0"/>
                  <a:t> </a:t>
                </a:r>
                <a:endParaRPr lang="sv-SE" dirty="0"/>
              </a:p>
            </p:txBody>
          </p:sp>
        </mc:Choice>
        <mc:Fallback xmlns="">
          <p:sp>
            <p:nvSpPr>
              <p:cNvPr id="7" name="TextBox 6"/>
              <p:cNvSpPr txBox="1">
                <a:spLocks noRot="1" noChangeAspect="1" noMove="1" noResize="1" noEditPoints="1" noAdjustHandles="1" noChangeArrowheads="1" noChangeShapeType="1" noTextEdit="1"/>
              </p:cNvSpPr>
              <p:nvPr/>
            </p:nvSpPr>
            <p:spPr>
              <a:xfrm>
                <a:off x="2773278" y="4874188"/>
                <a:ext cx="2990849" cy="369332"/>
              </a:xfrm>
              <a:prstGeom prst="rect">
                <a:avLst/>
              </a:prstGeom>
              <a:blipFill>
                <a:blip r:embed="rId4"/>
                <a:stretch>
                  <a:fillRect t="-10000" b="-26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393719" y="3685204"/>
                <a:ext cx="4325022"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500" i="1" dirty="0" smtClean="0">
                              <a:latin typeface="Cambria Math" panose="02040503050406030204" pitchFamily="18" charset="0"/>
                              <a:cs typeface="Times New Roman" panose="02020603050405020304" pitchFamily="18" charset="0"/>
                            </a:rPr>
                          </m:ctrlPr>
                        </m:sSubPr>
                        <m:e>
                          <m:r>
                            <a:rPr lang="en-US" sz="2500" i="1" dirty="0">
                              <a:latin typeface="Cambria Math" panose="02040503050406030204" pitchFamily="18" charset="0"/>
                              <a:cs typeface="Times New Roman" panose="02020603050405020304" pitchFamily="18" charset="0"/>
                            </a:rPr>
                            <m:t>𝑃</m:t>
                          </m:r>
                        </m:e>
                        <m:sub>
                          <m:r>
                            <a:rPr lang="sv-SE" sz="2500" b="0" i="1" dirty="0" smtClean="0">
                              <a:latin typeface="Cambria Math" panose="02040503050406030204" pitchFamily="18" charset="0"/>
                              <a:cs typeface="Times New Roman" panose="02020603050405020304" pitchFamily="18" charset="0"/>
                            </a:rPr>
                            <m:t>𝑛</m:t>
                          </m:r>
                        </m:sub>
                      </m:sSub>
                      <m:r>
                        <a:rPr lang="sv-SE" sz="2500" b="0" i="1" dirty="0" smtClean="0">
                          <a:latin typeface="Cambria Math" panose="02040503050406030204" pitchFamily="18" charset="0"/>
                          <a:cs typeface="Times New Roman" panose="02020603050405020304" pitchFamily="18" charset="0"/>
                        </a:rPr>
                        <m:t>=</m:t>
                      </m:r>
                      <m:sSubSup>
                        <m:sSubSupPr>
                          <m:ctrlPr>
                            <a:rPr lang="sv-SE" sz="2500" b="0" i="1" dirty="0" smtClean="0">
                              <a:latin typeface="Cambria Math" panose="02040503050406030204" pitchFamily="18" charset="0"/>
                              <a:cs typeface="Times New Roman" panose="02020603050405020304" pitchFamily="18" charset="0"/>
                            </a:rPr>
                          </m:ctrlPr>
                        </m:sSubSupPr>
                        <m:e>
                          <m:r>
                            <a:rPr lang="sv-SE" sz="2500" b="0" i="1" dirty="0" smtClean="0">
                              <a:latin typeface="Cambria Math" panose="02040503050406030204" pitchFamily="18" charset="0"/>
                              <a:cs typeface="Times New Roman" panose="02020603050405020304" pitchFamily="18" charset="0"/>
                            </a:rPr>
                            <m:t>𝑉</m:t>
                          </m:r>
                        </m:e>
                        <m:sub>
                          <m:r>
                            <a:rPr lang="sv-SE" sz="2500" b="0" i="1" dirty="0" smtClean="0">
                              <a:latin typeface="Cambria Math" panose="02040503050406030204" pitchFamily="18" charset="0"/>
                              <a:cs typeface="Times New Roman" panose="02020603050405020304" pitchFamily="18" charset="0"/>
                            </a:rPr>
                            <m:t>𝑛</m:t>
                          </m:r>
                        </m:sub>
                        <m:sup>
                          <m:r>
                            <a:rPr lang="sv-SE" sz="2500" b="0" i="1" dirty="0" smtClean="0">
                              <a:latin typeface="Cambria Math" panose="02040503050406030204" pitchFamily="18" charset="0"/>
                              <a:cs typeface="Times New Roman" panose="02020603050405020304" pitchFamily="18" charset="0"/>
                            </a:rPr>
                            <m:t>2</m:t>
                          </m:r>
                        </m:sup>
                      </m:sSubSup>
                      <m:r>
                        <a:rPr lang="sv-SE" sz="2500" b="0" i="1" dirty="0" smtClean="0">
                          <a:latin typeface="Cambria Math" panose="02040503050406030204" pitchFamily="18" charset="0"/>
                          <a:cs typeface="Times New Roman" panose="02020603050405020304" pitchFamily="18" charset="0"/>
                        </a:rPr>
                        <m:t>.  </m:t>
                      </m:r>
                      <m:sSub>
                        <m:sSubPr>
                          <m:ctrlPr>
                            <a:rPr lang="sv-SE" sz="2500" b="0" i="1" dirty="0" smtClean="0">
                              <a:latin typeface="Cambria Math" panose="02040503050406030204" pitchFamily="18" charset="0"/>
                              <a:cs typeface="Times New Roman" panose="02020603050405020304" pitchFamily="18" charset="0"/>
                            </a:rPr>
                          </m:ctrlPr>
                        </m:sSubPr>
                        <m:e>
                          <m:r>
                            <a:rPr lang="sv-SE" sz="2500" b="0" i="1" dirty="0" smtClean="0">
                              <a:latin typeface="Cambria Math" panose="02040503050406030204" pitchFamily="18" charset="0"/>
                              <a:cs typeface="Times New Roman" panose="02020603050405020304" pitchFamily="18" charset="0"/>
                            </a:rPr>
                            <m:t>𝐾</m:t>
                          </m:r>
                        </m:e>
                        <m:sub>
                          <m:r>
                            <a:rPr lang="sv-SE" sz="2500" b="0" i="1" dirty="0" smtClean="0">
                              <a:latin typeface="Cambria Math" panose="02040503050406030204" pitchFamily="18" charset="0"/>
                              <a:cs typeface="Times New Roman" panose="02020603050405020304" pitchFamily="18" charset="0"/>
                            </a:rPr>
                            <m:t>h</m:t>
                          </m:r>
                        </m:sub>
                      </m:sSub>
                      <m:r>
                        <a:rPr lang="sv-SE" sz="2500" b="0" i="1" dirty="0" smtClean="0">
                          <a:latin typeface="Cambria Math" panose="02040503050406030204" pitchFamily="18" charset="0"/>
                          <a:cs typeface="Times New Roman" panose="02020603050405020304" pitchFamily="18" charset="0"/>
                        </a:rPr>
                        <m:t>(</m:t>
                      </m:r>
                      <m:r>
                        <a:rPr lang="sv-SE" sz="2500" b="0" i="1" dirty="0" smtClean="0">
                          <a:latin typeface="Cambria Math" panose="02040503050406030204" pitchFamily="18" charset="0"/>
                          <a:cs typeface="Times New Roman" panose="02020603050405020304" pitchFamily="18" charset="0"/>
                        </a:rPr>
                        <m:t>𝑛</m:t>
                      </m:r>
                      <m:r>
                        <a:rPr lang="sv-SE" sz="2500" b="0" i="1" dirty="0" smtClean="0">
                          <a:latin typeface="Cambria Math" panose="02040503050406030204" pitchFamily="18" charset="0"/>
                          <a:cs typeface="Times New Roman" panose="02020603050405020304" pitchFamily="18" charset="0"/>
                        </a:rPr>
                        <m:t>±1) </m:t>
                      </m:r>
                    </m:oMath>
                  </m:oMathPara>
                </a14:m>
                <a:endParaRPr lang="en-US" sz="2500" dirty="0">
                  <a:latin typeface="+mj-lt"/>
                  <a:cs typeface="Times New Roman" panose="02020603050405020304"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5393719" y="3685204"/>
                <a:ext cx="4325022" cy="477054"/>
              </a:xfrm>
              <a:prstGeom prst="rect">
                <a:avLst/>
              </a:prstGeom>
              <a:blipFill>
                <a:blip r:embed="rId5"/>
                <a:stretch>
                  <a:fillRect b="-19231"/>
                </a:stretch>
              </a:blipFill>
            </p:spPr>
            <p:txBody>
              <a:bodyPr/>
              <a:lstStyle/>
              <a:p>
                <a:r>
                  <a:rPr lang="sv-SE">
                    <a:noFill/>
                  </a:rPr>
                  <a:t> </a:t>
                </a:r>
              </a:p>
            </p:txBody>
          </p:sp>
        </mc:Fallback>
      </mc:AlternateContent>
      <p:sp>
        <p:nvSpPr>
          <p:cNvPr id="9" name="TextBox 8"/>
          <p:cNvSpPr txBox="1"/>
          <p:nvPr/>
        </p:nvSpPr>
        <p:spPr>
          <a:xfrm>
            <a:off x="5961973" y="4534350"/>
            <a:ext cx="4176464" cy="1338828"/>
          </a:xfrm>
          <a:prstGeom prst="rect">
            <a:avLst/>
          </a:prstGeom>
          <a:noFill/>
        </p:spPr>
        <p:txBody>
          <a:bodyPr wrap="square" rtlCol="0">
            <a:spAutoFit/>
          </a:bodyPr>
          <a:lstStyle/>
          <a:p>
            <a:pPr marL="285750" indent="-285750">
              <a:buFont typeface="Arial" panose="020B0604020202020204" pitchFamily="34" charset="0"/>
              <a:buChar char="•"/>
            </a:pPr>
            <a:r>
              <a:rPr lang="en-US" dirty="0" smtClean="0"/>
              <a:t>Rotor </a:t>
            </a:r>
            <a:r>
              <a:rPr lang="en-US" dirty="0"/>
              <a:t>sees a frequency different from the excitation frequency, which depends on the sequence of the excited harmonic and fundamental frequency</a:t>
            </a:r>
            <a:r>
              <a:rPr lang="en-US" dirty="0" smtClean="0"/>
              <a:t>.</a:t>
            </a:r>
          </a:p>
          <a:p>
            <a:pPr marL="285750" indent="-285750">
              <a:buFont typeface="Arial" panose="020B0604020202020204" pitchFamily="34" charset="0"/>
              <a:buChar char="•"/>
            </a:pPr>
            <a:r>
              <a:rPr lang="en-US" dirty="0"/>
              <a:t>The fundamental component is stationary regarding the Rotor.</a:t>
            </a:r>
            <a:endParaRPr lang="sv-SE" dirty="0"/>
          </a:p>
        </p:txBody>
      </p:sp>
      <p:pic>
        <p:nvPicPr>
          <p:cNvPr id="10" name="Picture 9"/>
          <p:cNvPicPr>
            <a:picLocks noChangeAspect="1"/>
          </p:cNvPicPr>
          <p:nvPr/>
        </p:nvPicPr>
        <p:blipFill>
          <a:blip r:embed="rId6"/>
          <a:stretch>
            <a:fillRect/>
          </a:stretch>
        </p:blipFill>
        <p:spPr>
          <a:xfrm>
            <a:off x="1846847" y="5196068"/>
            <a:ext cx="2236652" cy="1109135"/>
          </a:xfrm>
          <a:prstGeom prst="rect">
            <a:avLst/>
          </a:prstGeom>
        </p:spPr>
      </p:pic>
      <p:sp>
        <p:nvSpPr>
          <p:cNvPr id="11" name="TextBox 10"/>
          <p:cNvSpPr txBox="1"/>
          <p:nvPr/>
        </p:nvSpPr>
        <p:spPr>
          <a:xfrm>
            <a:off x="407773" y="4557433"/>
            <a:ext cx="2596728" cy="646331"/>
          </a:xfrm>
          <a:prstGeom prst="rect">
            <a:avLst/>
          </a:prstGeom>
          <a:noFill/>
        </p:spPr>
        <p:txBody>
          <a:bodyPr wrap="square" rtlCol="0">
            <a:spAutoFit/>
          </a:bodyPr>
          <a:lstStyle/>
          <a:p>
            <a:r>
              <a:rPr lang="sv-SE" dirty="0" err="1" smtClean="0"/>
              <a:t>We</a:t>
            </a:r>
            <a:r>
              <a:rPr lang="sv-SE" dirty="0" smtClean="0"/>
              <a:t> </a:t>
            </a:r>
            <a:r>
              <a:rPr lang="sv-SE" dirty="0" err="1" smtClean="0"/>
              <a:t>can</a:t>
            </a:r>
            <a:r>
              <a:rPr lang="sv-SE" dirty="0" smtClean="0"/>
              <a:t> </a:t>
            </a:r>
            <a:r>
              <a:rPr lang="sv-SE" dirty="0" err="1" smtClean="0"/>
              <a:t>apply</a:t>
            </a:r>
            <a:r>
              <a:rPr lang="sv-SE" dirty="0" smtClean="0"/>
              <a:t> superposition </a:t>
            </a:r>
            <a:r>
              <a:rPr lang="sv-SE" dirty="0" err="1" smtClean="0"/>
              <a:t>here</a:t>
            </a:r>
            <a:r>
              <a:rPr lang="sv-SE" dirty="0" smtClean="0"/>
              <a:t>.</a:t>
            </a:r>
            <a:endParaRPr lang="sv-SE" dirty="0"/>
          </a:p>
        </p:txBody>
      </p:sp>
      <p:pic>
        <p:nvPicPr>
          <p:cNvPr id="12" name="Picture 11"/>
          <p:cNvPicPr>
            <a:picLocks noChangeAspect="1"/>
          </p:cNvPicPr>
          <p:nvPr/>
        </p:nvPicPr>
        <p:blipFill>
          <a:blip r:embed="rId7"/>
          <a:stretch>
            <a:fillRect/>
          </a:stretch>
        </p:blipFill>
        <p:spPr>
          <a:xfrm>
            <a:off x="9107464" y="2556429"/>
            <a:ext cx="2502437" cy="1876828"/>
          </a:xfrm>
          <a:prstGeom prst="rect">
            <a:avLst/>
          </a:prstGeom>
        </p:spPr>
      </p:pic>
      <p:cxnSp>
        <p:nvCxnSpPr>
          <p:cNvPr id="13" name="Straight Arrow Connector 12"/>
          <p:cNvCxnSpPr/>
          <p:nvPr/>
        </p:nvCxnSpPr>
        <p:spPr>
          <a:xfrm flipH="1">
            <a:off x="1503161" y="4142935"/>
            <a:ext cx="566596" cy="3391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7766028" y="4171957"/>
            <a:ext cx="18729" cy="3854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5" idx="2"/>
          </p:cNvCxnSpPr>
          <p:nvPr/>
        </p:nvCxnSpPr>
        <p:spPr>
          <a:xfrm>
            <a:off x="3166061" y="4180065"/>
            <a:ext cx="0" cy="6000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1521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a:t>Multi-Objective Optimization of Traction Inverters for Electric Trucks Considering Environmental Impacts</a:t>
            </a:r>
            <a:endParaRPr lang="sv-SE" sz="4000" dirty="0"/>
          </a:p>
        </p:txBody>
      </p:sp>
      <p:sp>
        <p:nvSpPr>
          <p:cNvPr id="3" name="Subtitle 2"/>
          <p:cNvSpPr>
            <a:spLocks noGrp="1"/>
          </p:cNvSpPr>
          <p:nvPr>
            <p:ph type="subTitle" idx="1"/>
          </p:nvPr>
        </p:nvSpPr>
        <p:spPr>
          <a:xfrm>
            <a:off x="2132013" y="5486400"/>
            <a:ext cx="7926387" cy="752475"/>
          </a:xfrm>
        </p:spPr>
        <p:txBody>
          <a:bodyPr>
            <a:noAutofit/>
          </a:bodyPr>
          <a:lstStyle/>
          <a:p>
            <a:r>
              <a:rPr lang="en-US" sz="2400" dirty="0"/>
              <a:t>A </a:t>
            </a:r>
            <a:r>
              <a:rPr lang="en-US" sz="2400" dirty="0" smtClean="0"/>
              <a:t>Life-Cycle-Based </a:t>
            </a:r>
            <a:r>
              <a:rPr lang="en-US" sz="2400" dirty="0"/>
              <a:t>Approach for Minimizing Environmental </a:t>
            </a:r>
            <a:r>
              <a:rPr lang="en-US" sz="2400" dirty="0" smtClean="0"/>
              <a:t>Footprint</a:t>
            </a:r>
          </a:p>
          <a:p>
            <a:r>
              <a:rPr lang="en-US" sz="2400" dirty="0" smtClean="0"/>
              <a:t>Enes Ayaz</a:t>
            </a:r>
            <a:endParaRPr lang="sv-SE" sz="2400" dirty="0"/>
          </a:p>
        </p:txBody>
      </p:sp>
    </p:spTree>
    <p:extLst>
      <p:ext uri="{BB962C8B-B14F-4D97-AF65-F5344CB8AC3E}">
        <p14:creationId xmlns:p14="http://schemas.microsoft.com/office/powerpoint/2010/main" val="28558368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err="1"/>
              <a:t>Introduction</a:t>
            </a:r>
            <a:r>
              <a:rPr lang="sv-SE" dirty="0"/>
              <a:t> &amp; </a:t>
            </a:r>
            <a:r>
              <a:rPr lang="sv-SE" dirty="0" smtClean="0"/>
              <a:t>Motivation</a:t>
            </a:r>
            <a:endParaRPr lang="sv-SE" dirty="0"/>
          </a:p>
        </p:txBody>
      </p:sp>
      <p:sp>
        <p:nvSpPr>
          <p:cNvPr id="6" name="Content Placeholder 5"/>
          <p:cNvSpPr>
            <a:spLocks noGrp="1"/>
          </p:cNvSpPr>
          <p:nvPr>
            <p:ph idx="1"/>
          </p:nvPr>
        </p:nvSpPr>
        <p:spPr>
          <a:xfrm>
            <a:off x="363609" y="1122773"/>
            <a:ext cx="7353300" cy="5197707"/>
          </a:xfrm>
        </p:spPr>
        <p:txBody>
          <a:bodyPr/>
          <a:lstStyle/>
          <a:p>
            <a:pPr marL="0" indent="0" algn="just">
              <a:buNone/>
            </a:pPr>
            <a:r>
              <a:rPr lang="en-US" sz="2400" b="1" dirty="0" smtClean="0"/>
              <a:t>Introduction:</a:t>
            </a:r>
          </a:p>
          <a:p>
            <a:pPr algn="just"/>
            <a:r>
              <a:rPr lang="en-US" sz="2400" dirty="0" smtClean="0"/>
              <a:t>Climate </a:t>
            </a:r>
            <a:r>
              <a:rPr lang="en-US" sz="2400" dirty="0"/>
              <a:t>targets (e.g., Paris Agreement) emphasize the need for net-zero emissions by </a:t>
            </a:r>
            <a:r>
              <a:rPr lang="en-US" sz="2400" dirty="0" smtClean="0"/>
              <a:t>2050.</a:t>
            </a:r>
          </a:p>
          <a:p>
            <a:pPr algn="just"/>
            <a:r>
              <a:rPr lang="en-US" sz="2400" dirty="0" smtClean="0"/>
              <a:t>Electric </a:t>
            </a:r>
            <a:r>
              <a:rPr lang="en-US" sz="2400" dirty="0"/>
              <a:t>trucks are critical for reducing CO2 emissions in the transportation </a:t>
            </a:r>
            <a:r>
              <a:rPr lang="en-US" sz="2400" dirty="0" smtClean="0"/>
              <a:t>sector.</a:t>
            </a:r>
          </a:p>
          <a:p>
            <a:pPr algn="just"/>
            <a:endParaRPr lang="en-US" dirty="0" smtClean="0"/>
          </a:p>
          <a:p>
            <a:pPr marL="0" indent="0" algn="just">
              <a:buNone/>
            </a:pPr>
            <a:r>
              <a:rPr lang="en-US" sz="2400" b="1" dirty="0" smtClean="0"/>
              <a:t>Motivation:</a:t>
            </a:r>
          </a:p>
          <a:p>
            <a:pPr algn="just"/>
            <a:r>
              <a:rPr lang="en-US" sz="2400" dirty="0" smtClean="0"/>
              <a:t>Traditional </a:t>
            </a:r>
            <a:r>
              <a:rPr lang="en-US" sz="2400" dirty="0"/>
              <a:t>power converter optimization focuses on efficiency and power density</a:t>
            </a:r>
            <a:r>
              <a:rPr lang="en-US" sz="2400" dirty="0" smtClean="0"/>
              <a:t>.</a:t>
            </a:r>
          </a:p>
          <a:p>
            <a:pPr algn="just"/>
            <a:r>
              <a:rPr lang="en-US" sz="2400" dirty="0" smtClean="0"/>
              <a:t>Environmental </a:t>
            </a:r>
            <a:r>
              <a:rPr lang="en-US" sz="2400" dirty="0"/>
              <a:t>impacts across the inverter's </a:t>
            </a:r>
            <a:r>
              <a:rPr lang="en-US" sz="2400" dirty="0" smtClean="0"/>
              <a:t>lifecycle and reliability </a:t>
            </a:r>
            <a:r>
              <a:rPr lang="en-US" sz="2400" dirty="0"/>
              <a:t>are often overlooked but crucial for sustainability</a:t>
            </a:r>
            <a:r>
              <a:rPr lang="en-US" sz="2400" dirty="0" smtClean="0"/>
              <a:t>.</a:t>
            </a:r>
            <a:endParaRPr lang="sv-SE" sz="2400" dirty="0"/>
          </a:p>
        </p:txBody>
      </p:sp>
      <p:pic>
        <p:nvPicPr>
          <p:cNvPr id="9" name="Picture 8"/>
          <p:cNvPicPr>
            <a:picLocks noChangeAspect="1"/>
          </p:cNvPicPr>
          <p:nvPr/>
        </p:nvPicPr>
        <p:blipFill rotWithShape="1">
          <a:blip r:embed="rId2"/>
          <a:srcRect l="11686"/>
          <a:stretch/>
        </p:blipFill>
        <p:spPr>
          <a:xfrm>
            <a:off x="7962048" y="1228724"/>
            <a:ext cx="4090288" cy="2009775"/>
          </a:xfrm>
          <a:prstGeom prst="rect">
            <a:avLst/>
          </a:prstGeom>
        </p:spPr>
      </p:pic>
      <p:pic>
        <p:nvPicPr>
          <p:cNvPr id="10" name="Picture 9"/>
          <p:cNvPicPr>
            <a:picLocks noChangeAspect="1"/>
          </p:cNvPicPr>
          <p:nvPr/>
        </p:nvPicPr>
        <p:blipFill>
          <a:blip r:embed="rId3"/>
          <a:stretch>
            <a:fillRect/>
          </a:stretch>
        </p:blipFill>
        <p:spPr>
          <a:xfrm>
            <a:off x="7783584" y="3636662"/>
            <a:ext cx="4044879" cy="2372426"/>
          </a:xfrm>
          <a:prstGeom prst="rect">
            <a:avLst/>
          </a:prstGeom>
        </p:spPr>
      </p:pic>
    </p:spTree>
    <p:extLst>
      <p:ext uri="{BB962C8B-B14F-4D97-AF65-F5344CB8AC3E}">
        <p14:creationId xmlns:p14="http://schemas.microsoft.com/office/powerpoint/2010/main" val="40208892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8857"/>
            <a:ext cx="10990263" cy="568412"/>
          </a:xfrm>
        </p:spPr>
        <p:txBody>
          <a:bodyPr/>
          <a:lstStyle/>
          <a:p>
            <a:r>
              <a:rPr lang="sv-SE" dirty="0" smtClean="0"/>
              <a:t>Challenges</a:t>
            </a:r>
            <a:endParaRPr lang="sv-SE" dirty="0"/>
          </a:p>
        </p:txBody>
      </p:sp>
      <p:sp>
        <p:nvSpPr>
          <p:cNvPr id="6" name="Content Placeholder 5"/>
          <p:cNvSpPr>
            <a:spLocks noGrp="1"/>
          </p:cNvSpPr>
          <p:nvPr>
            <p:ph idx="1"/>
          </p:nvPr>
        </p:nvSpPr>
        <p:spPr>
          <a:xfrm>
            <a:off x="338139" y="1148444"/>
            <a:ext cx="6629399" cy="5351210"/>
          </a:xfrm>
        </p:spPr>
        <p:txBody>
          <a:bodyPr/>
          <a:lstStyle/>
          <a:p>
            <a:pPr marL="0" indent="0" algn="just">
              <a:buNone/>
            </a:pPr>
            <a:r>
              <a:rPr lang="en-US" b="1" dirty="0" smtClean="0"/>
              <a:t>Energy Efficiency and Beyond:</a:t>
            </a:r>
          </a:p>
          <a:p>
            <a:pPr algn="just"/>
            <a:r>
              <a:rPr lang="en-US" dirty="0" smtClean="0"/>
              <a:t>The </a:t>
            </a:r>
            <a:r>
              <a:rPr lang="en-US" u="sng" dirty="0" smtClean="0"/>
              <a:t>environmental impact </a:t>
            </a:r>
            <a:r>
              <a:rPr lang="en-US" dirty="0" smtClean="0"/>
              <a:t>of power electronics goes beyond energy efficiency.</a:t>
            </a:r>
          </a:p>
          <a:p>
            <a:pPr algn="just"/>
            <a:r>
              <a:rPr lang="en-US" dirty="0" smtClean="0"/>
              <a:t>Future electrification (e.g., trucks) needs </a:t>
            </a:r>
            <a:r>
              <a:rPr lang="en-US" u="sng" dirty="0" smtClean="0"/>
              <a:t>sustainable solutions</a:t>
            </a:r>
            <a:r>
              <a:rPr lang="en-US" dirty="0" smtClean="0"/>
              <a:t> for power conversion systems.</a:t>
            </a:r>
          </a:p>
          <a:p>
            <a:pPr marL="0" indent="0" algn="just">
              <a:buNone/>
            </a:pPr>
            <a:r>
              <a:rPr lang="sv-SE" b="1" dirty="0" smtClean="0"/>
              <a:t>Research Challenges:</a:t>
            </a:r>
            <a:endParaRPr lang="en-US" b="1" dirty="0" smtClean="0"/>
          </a:p>
          <a:p>
            <a:pPr algn="just"/>
            <a:r>
              <a:rPr lang="en-US" dirty="0" smtClean="0"/>
              <a:t>How </a:t>
            </a:r>
            <a:r>
              <a:rPr lang="en-US" dirty="0"/>
              <a:t>can we integrate life-cycle environmental impacts with </a:t>
            </a:r>
            <a:r>
              <a:rPr lang="en-US" u="sng" dirty="0"/>
              <a:t>traditional performance metrics </a:t>
            </a:r>
            <a:r>
              <a:rPr lang="en-US" dirty="0"/>
              <a:t>(efficiency, power </a:t>
            </a:r>
            <a:r>
              <a:rPr lang="en-US" dirty="0" smtClean="0"/>
              <a:t>density, reliability)?</a:t>
            </a:r>
          </a:p>
          <a:p>
            <a:pPr algn="just"/>
            <a:r>
              <a:rPr lang="en-US" dirty="0" smtClean="0"/>
              <a:t>The </a:t>
            </a:r>
            <a:r>
              <a:rPr lang="en-US" dirty="0"/>
              <a:t>need for multi-objective optimization frameworks that include</a:t>
            </a:r>
            <a:r>
              <a:rPr lang="en-US" dirty="0" smtClean="0"/>
              <a:t>:</a:t>
            </a:r>
          </a:p>
          <a:p>
            <a:pPr lvl="1" algn="just"/>
            <a:r>
              <a:rPr lang="en-US" dirty="0" smtClean="0"/>
              <a:t>Global </a:t>
            </a:r>
            <a:r>
              <a:rPr lang="en-US" dirty="0"/>
              <a:t>Warming Potential (GWP</a:t>
            </a:r>
            <a:r>
              <a:rPr lang="en-US" dirty="0" smtClean="0"/>
              <a:t>)</a:t>
            </a:r>
          </a:p>
          <a:p>
            <a:pPr lvl="1" algn="just"/>
            <a:r>
              <a:rPr lang="en-US" dirty="0"/>
              <a:t>Damage to Eco-System Quality (DESQ</a:t>
            </a:r>
            <a:r>
              <a:rPr lang="en-US" dirty="0" smtClean="0"/>
              <a:t>)</a:t>
            </a:r>
          </a:p>
          <a:p>
            <a:pPr lvl="1" algn="just"/>
            <a:r>
              <a:rPr lang="en-US" dirty="0"/>
              <a:t>Damage to Resource Availability (DRA</a:t>
            </a:r>
            <a:r>
              <a:rPr lang="en-US" dirty="0" smtClean="0"/>
              <a:t>),</a:t>
            </a:r>
          </a:p>
          <a:p>
            <a:pPr lvl="1" algn="just"/>
            <a:r>
              <a:rPr lang="en-US" dirty="0"/>
              <a:t>Damage to Human Health (DHH</a:t>
            </a:r>
            <a:r>
              <a:rPr lang="en-US" dirty="0" smtClean="0"/>
              <a:t>)</a:t>
            </a:r>
            <a:endParaRPr lang="en-US" dirty="0"/>
          </a:p>
        </p:txBody>
      </p:sp>
      <p:pic>
        <p:nvPicPr>
          <p:cNvPr id="3" name="Picture 2"/>
          <p:cNvPicPr>
            <a:picLocks noChangeAspect="1"/>
          </p:cNvPicPr>
          <p:nvPr/>
        </p:nvPicPr>
        <p:blipFill>
          <a:blip r:embed="rId2"/>
          <a:stretch>
            <a:fillRect/>
          </a:stretch>
        </p:blipFill>
        <p:spPr>
          <a:xfrm>
            <a:off x="7310438" y="663332"/>
            <a:ext cx="4422775" cy="5942255"/>
          </a:xfrm>
          <a:prstGeom prst="rect">
            <a:avLst/>
          </a:prstGeom>
        </p:spPr>
      </p:pic>
    </p:spTree>
    <p:extLst>
      <p:ext uri="{BB962C8B-B14F-4D97-AF65-F5344CB8AC3E}">
        <p14:creationId xmlns:p14="http://schemas.microsoft.com/office/powerpoint/2010/main" val="9396592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737" y="247907"/>
            <a:ext cx="10990263" cy="568412"/>
          </a:xfrm>
        </p:spPr>
        <p:txBody>
          <a:bodyPr/>
          <a:lstStyle/>
          <a:p>
            <a:r>
              <a:rPr lang="sv-SE" dirty="0"/>
              <a:t>Research Problem &amp; </a:t>
            </a:r>
            <a:r>
              <a:rPr lang="sv-SE" dirty="0" err="1"/>
              <a:t>Objectives</a:t>
            </a:r>
            <a:endParaRPr lang="sv-SE" dirty="0"/>
          </a:p>
        </p:txBody>
      </p:sp>
      <p:sp>
        <p:nvSpPr>
          <p:cNvPr id="6" name="Content Placeholder 5"/>
          <p:cNvSpPr>
            <a:spLocks noGrp="1"/>
          </p:cNvSpPr>
          <p:nvPr>
            <p:ph idx="1"/>
          </p:nvPr>
        </p:nvSpPr>
        <p:spPr>
          <a:xfrm>
            <a:off x="390526" y="1062719"/>
            <a:ext cx="6153150" cy="5752032"/>
          </a:xfrm>
        </p:spPr>
        <p:txBody>
          <a:bodyPr/>
          <a:lstStyle/>
          <a:p>
            <a:pPr marL="0" indent="0" algn="just">
              <a:buNone/>
            </a:pPr>
            <a:r>
              <a:rPr lang="en-US" b="1" dirty="0"/>
              <a:t>Research Problem</a:t>
            </a:r>
            <a:r>
              <a:rPr lang="en-US" b="1" dirty="0" smtClean="0"/>
              <a:t>:</a:t>
            </a:r>
          </a:p>
          <a:p>
            <a:pPr algn="just"/>
            <a:r>
              <a:rPr lang="en-US" dirty="0" smtClean="0"/>
              <a:t>How </a:t>
            </a:r>
            <a:r>
              <a:rPr lang="en-US" dirty="0"/>
              <a:t>to design traction inverters for electric trucks that not only </a:t>
            </a:r>
            <a:r>
              <a:rPr lang="en-US" u="sng" dirty="0"/>
              <a:t>maximize energy efficiency </a:t>
            </a:r>
            <a:r>
              <a:rPr lang="en-US" dirty="0"/>
              <a:t>but also </a:t>
            </a:r>
            <a:r>
              <a:rPr lang="en-US" u="sng" dirty="0"/>
              <a:t>minimize environmental impacts</a:t>
            </a:r>
            <a:r>
              <a:rPr lang="en-US" dirty="0" smtClean="0"/>
              <a:t>.</a:t>
            </a:r>
          </a:p>
          <a:p>
            <a:pPr marL="0" indent="0" algn="just">
              <a:buNone/>
            </a:pPr>
            <a:r>
              <a:rPr lang="en-US" b="1" dirty="0" smtClean="0"/>
              <a:t>Objectives: </a:t>
            </a:r>
          </a:p>
          <a:p>
            <a:pPr algn="just"/>
            <a:r>
              <a:rPr lang="en-US" dirty="0" smtClean="0"/>
              <a:t>Extend </a:t>
            </a:r>
            <a:r>
              <a:rPr lang="en-US" dirty="0"/>
              <a:t>multi-objective optimization of traction inverters to include</a:t>
            </a:r>
            <a:r>
              <a:rPr lang="en-US" dirty="0" smtClean="0"/>
              <a:t>:</a:t>
            </a:r>
          </a:p>
          <a:p>
            <a:pPr lvl="1" algn="just"/>
            <a:r>
              <a:rPr lang="en-US" sz="2000" dirty="0" smtClean="0"/>
              <a:t>Carbon footprint (GWP, DESQ, DRA, DHH)</a:t>
            </a:r>
          </a:p>
          <a:p>
            <a:pPr lvl="1" algn="just"/>
            <a:r>
              <a:rPr lang="en-US" sz="2000" dirty="0" smtClean="0"/>
              <a:t>Material </a:t>
            </a:r>
            <a:r>
              <a:rPr lang="en-US" sz="2000" dirty="0"/>
              <a:t>efficiency (</a:t>
            </a:r>
            <a:r>
              <a:rPr lang="en-US" sz="2000" u="sng" dirty="0"/>
              <a:t>circular economy</a:t>
            </a:r>
            <a:r>
              <a:rPr lang="en-US" sz="2000" dirty="0" smtClean="0"/>
              <a:t>)</a:t>
            </a:r>
          </a:p>
          <a:p>
            <a:pPr lvl="1" algn="just"/>
            <a:r>
              <a:rPr lang="en-US" sz="2000" u="sng" dirty="0" smtClean="0"/>
              <a:t>Recycling </a:t>
            </a:r>
            <a:r>
              <a:rPr lang="en-US" sz="2000" u="sng" dirty="0"/>
              <a:t>potential</a:t>
            </a:r>
            <a:r>
              <a:rPr lang="en-US" sz="2000" dirty="0"/>
              <a:t> at the end of </a:t>
            </a:r>
            <a:r>
              <a:rPr lang="en-US" sz="2000" dirty="0" smtClean="0"/>
              <a:t>life</a:t>
            </a:r>
          </a:p>
          <a:p>
            <a:pPr algn="just"/>
            <a:r>
              <a:rPr lang="en-US" dirty="0" smtClean="0"/>
              <a:t>Evaluate </a:t>
            </a:r>
            <a:r>
              <a:rPr lang="en-US" dirty="0"/>
              <a:t>design trade-offs between efficiency, environmental impact, and power density. </a:t>
            </a:r>
            <a:endParaRPr lang="en-US" dirty="0" smtClean="0"/>
          </a:p>
          <a:p>
            <a:pPr algn="just"/>
            <a:r>
              <a:rPr lang="en-US" dirty="0" smtClean="0"/>
              <a:t>Evaluate </a:t>
            </a:r>
            <a:r>
              <a:rPr lang="en-US" u="sng" dirty="0"/>
              <a:t>different inverter topologies </a:t>
            </a:r>
            <a:r>
              <a:rPr lang="en-US" dirty="0"/>
              <a:t>(e.g., </a:t>
            </a:r>
            <a:r>
              <a:rPr lang="en-US" dirty="0" smtClean="0"/>
              <a:t>2-level vs. SPB </a:t>
            </a:r>
            <a:r>
              <a:rPr lang="en-US" dirty="0"/>
              <a:t>vs. multilevel) using </a:t>
            </a:r>
            <a:r>
              <a:rPr lang="en-US" u="sng" dirty="0"/>
              <a:t>Pareto-front</a:t>
            </a:r>
            <a:r>
              <a:rPr lang="en-US" dirty="0"/>
              <a:t> analysis</a:t>
            </a:r>
            <a:r>
              <a:rPr lang="en-US" dirty="0" smtClean="0"/>
              <a:t>.</a:t>
            </a:r>
          </a:p>
          <a:p>
            <a:pPr algn="just"/>
            <a:r>
              <a:rPr lang="en-US" dirty="0" smtClean="0"/>
              <a:t>Include </a:t>
            </a:r>
            <a:r>
              <a:rPr lang="en-US" u="sng" dirty="0"/>
              <a:t>life-cycle assessment (LCA) metrics </a:t>
            </a:r>
            <a:r>
              <a:rPr lang="en-US" dirty="0"/>
              <a:t>in the design phase, considering the use phase of the inverter in electric trucks.</a:t>
            </a:r>
            <a:endParaRPr lang="en-US" dirty="0" smtClean="0"/>
          </a:p>
          <a:p>
            <a:endParaRPr lang="en-US" sz="2400" dirty="0" smtClean="0"/>
          </a:p>
          <a:p>
            <a:endParaRPr lang="sv-SE" sz="2400" dirty="0"/>
          </a:p>
        </p:txBody>
      </p:sp>
      <p:pic>
        <p:nvPicPr>
          <p:cNvPr id="5" name="Picture 4"/>
          <p:cNvPicPr>
            <a:picLocks noChangeAspect="1"/>
          </p:cNvPicPr>
          <p:nvPr/>
        </p:nvPicPr>
        <p:blipFill>
          <a:blip r:embed="rId2"/>
          <a:stretch>
            <a:fillRect/>
          </a:stretch>
        </p:blipFill>
        <p:spPr>
          <a:xfrm>
            <a:off x="8386634" y="167588"/>
            <a:ext cx="3624811" cy="6532344"/>
          </a:xfrm>
          <a:prstGeom prst="rect">
            <a:avLst/>
          </a:prstGeom>
        </p:spPr>
      </p:pic>
    </p:spTree>
    <p:extLst>
      <p:ext uri="{BB962C8B-B14F-4D97-AF65-F5344CB8AC3E}">
        <p14:creationId xmlns:p14="http://schemas.microsoft.com/office/powerpoint/2010/main" val="26589353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25" y="209807"/>
            <a:ext cx="10990263" cy="568412"/>
          </a:xfrm>
        </p:spPr>
        <p:txBody>
          <a:bodyPr/>
          <a:lstStyle/>
          <a:p>
            <a:r>
              <a:rPr lang="en-US" dirty="0"/>
              <a:t>Adopted </a:t>
            </a:r>
            <a:r>
              <a:rPr lang="sv-SE" dirty="0" err="1" smtClean="0"/>
              <a:t>Methodology</a:t>
            </a:r>
            <a:endParaRPr lang="sv-SE" dirty="0"/>
          </a:p>
        </p:txBody>
      </p:sp>
      <p:sp>
        <p:nvSpPr>
          <p:cNvPr id="3" name="Content Placeholder 2"/>
          <p:cNvSpPr>
            <a:spLocks noGrp="1"/>
          </p:cNvSpPr>
          <p:nvPr>
            <p:ph idx="1"/>
          </p:nvPr>
        </p:nvSpPr>
        <p:spPr>
          <a:xfrm>
            <a:off x="428626" y="1129394"/>
            <a:ext cx="6419850" cy="5432044"/>
          </a:xfrm>
        </p:spPr>
        <p:txBody>
          <a:bodyPr/>
          <a:lstStyle/>
          <a:p>
            <a:pPr marL="0" indent="0" algn="just">
              <a:buNone/>
            </a:pPr>
            <a:r>
              <a:rPr lang="en-US" b="1" dirty="0" smtClean="0"/>
              <a:t>Life-Cycle </a:t>
            </a:r>
            <a:r>
              <a:rPr lang="en-US" b="1" dirty="0"/>
              <a:t>Assessment (LCA</a:t>
            </a:r>
            <a:r>
              <a:rPr lang="en-US" b="1" dirty="0" smtClean="0"/>
              <a:t>):</a:t>
            </a:r>
          </a:p>
          <a:p>
            <a:pPr lvl="1" algn="just"/>
            <a:r>
              <a:rPr lang="en-US" sz="2000" dirty="0" smtClean="0"/>
              <a:t>Assess </a:t>
            </a:r>
            <a:r>
              <a:rPr lang="en-US" sz="2000" dirty="0"/>
              <a:t>all stages of the traction inverter lifecycle: </a:t>
            </a:r>
            <a:r>
              <a:rPr lang="en-US" sz="2000" u="sng" dirty="0"/>
              <a:t>manufacturing</a:t>
            </a:r>
            <a:r>
              <a:rPr lang="en-US" sz="2000" dirty="0"/>
              <a:t>, </a:t>
            </a:r>
            <a:r>
              <a:rPr lang="en-US" sz="2000" u="sng" dirty="0" smtClean="0"/>
              <a:t>use-phase</a:t>
            </a:r>
            <a:r>
              <a:rPr lang="en-US" sz="2000" dirty="0"/>
              <a:t>, and</a:t>
            </a:r>
            <a:r>
              <a:rPr lang="en-US" sz="2000" u="sng" dirty="0"/>
              <a:t> end-of-life</a:t>
            </a:r>
            <a:r>
              <a:rPr lang="en-US" sz="2000" dirty="0" smtClean="0"/>
              <a:t>.</a:t>
            </a:r>
          </a:p>
          <a:p>
            <a:pPr lvl="1" algn="just"/>
            <a:r>
              <a:rPr lang="en-US" sz="2000" dirty="0" smtClean="0"/>
              <a:t>Incorporate </a:t>
            </a:r>
            <a:r>
              <a:rPr lang="en-US" sz="2000" dirty="0"/>
              <a:t>environmental metrics such as GWP, resource depletion, and recyclability</a:t>
            </a:r>
            <a:r>
              <a:rPr lang="en-US" sz="2000" dirty="0" smtClean="0"/>
              <a:t>.</a:t>
            </a:r>
          </a:p>
          <a:p>
            <a:pPr marL="0" indent="0" algn="just">
              <a:buNone/>
            </a:pPr>
            <a:r>
              <a:rPr lang="en-US" b="1" dirty="0" smtClean="0"/>
              <a:t>Multi-Objective </a:t>
            </a:r>
            <a:r>
              <a:rPr lang="en-US" b="1" dirty="0"/>
              <a:t>Optimization</a:t>
            </a:r>
            <a:r>
              <a:rPr lang="en-US" b="1" dirty="0" smtClean="0"/>
              <a:t>:</a:t>
            </a:r>
          </a:p>
          <a:p>
            <a:pPr lvl="1" algn="just"/>
            <a:r>
              <a:rPr lang="en-US" sz="2000" dirty="0" smtClean="0"/>
              <a:t>Extend </a:t>
            </a:r>
            <a:r>
              <a:rPr lang="en-US" sz="2000" dirty="0"/>
              <a:t>traditional optimization (efficiency, cost, power density) to include LCA results</a:t>
            </a:r>
            <a:r>
              <a:rPr lang="en-US" sz="2000" dirty="0" smtClean="0"/>
              <a:t>.</a:t>
            </a:r>
          </a:p>
          <a:p>
            <a:pPr lvl="1" algn="just"/>
            <a:r>
              <a:rPr lang="en-US" sz="2000" dirty="0" smtClean="0"/>
              <a:t>Use </a:t>
            </a:r>
            <a:r>
              <a:rPr lang="en-US" sz="2000" u="sng" dirty="0"/>
              <a:t>Pareto-front analysis </a:t>
            </a:r>
            <a:r>
              <a:rPr lang="en-US" sz="2000" dirty="0"/>
              <a:t>to balance conflicting objectives (e.g., higher efficiency vs. higher material footprint</a:t>
            </a:r>
            <a:r>
              <a:rPr lang="en-US" sz="2000" dirty="0" smtClean="0"/>
              <a:t>).</a:t>
            </a:r>
          </a:p>
          <a:p>
            <a:pPr marL="0" indent="0" algn="just">
              <a:buNone/>
            </a:pPr>
            <a:r>
              <a:rPr lang="en-US" b="1" dirty="0"/>
              <a:t>Tools</a:t>
            </a:r>
            <a:r>
              <a:rPr lang="en-US" dirty="0"/>
              <a:t>: Optimization algorithm (e.g., MATLAB), modeling of </a:t>
            </a:r>
            <a:r>
              <a:rPr lang="en-US" dirty="0" err="1"/>
              <a:t>SiC</a:t>
            </a:r>
            <a:r>
              <a:rPr lang="en-US" dirty="0"/>
              <a:t> and Si components, and switching frequency </a:t>
            </a:r>
            <a:r>
              <a:rPr lang="en-US" dirty="0" smtClean="0"/>
              <a:t>evaluation.</a:t>
            </a:r>
          </a:p>
          <a:p>
            <a:pPr marL="0" indent="0" algn="just">
              <a:buNone/>
            </a:pPr>
            <a:r>
              <a:rPr lang="en-US" b="1" dirty="0" smtClean="0"/>
              <a:t>Case </a:t>
            </a:r>
            <a:r>
              <a:rPr lang="en-US" b="1" dirty="0"/>
              <a:t>Study: </a:t>
            </a:r>
            <a:r>
              <a:rPr lang="en-US" dirty="0"/>
              <a:t>A comparative study of different traction inverter topologies (e.g., Si vs. </a:t>
            </a:r>
            <a:r>
              <a:rPr lang="en-US" dirty="0" err="1" smtClean="0"/>
              <a:t>SiC</a:t>
            </a:r>
            <a:r>
              <a:rPr lang="en-US" dirty="0" smtClean="0"/>
              <a:t>,  2L vs. 3L).</a:t>
            </a:r>
            <a:endParaRPr lang="sv-SE" dirty="0"/>
          </a:p>
        </p:txBody>
      </p:sp>
      <p:pic>
        <p:nvPicPr>
          <p:cNvPr id="4" name="Picture 3"/>
          <p:cNvPicPr>
            <a:picLocks noChangeAspect="1"/>
          </p:cNvPicPr>
          <p:nvPr/>
        </p:nvPicPr>
        <p:blipFill rotWithShape="1">
          <a:blip r:embed="rId2"/>
          <a:srcRect r="51203"/>
          <a:stretch/>
        </p:blipFill>
        <p:spPr>
          <a:xfrm>
            <a:off x="7353301" y="209807"/>
            <a:ext cx="4397877" cy="2947730"/>
          </a:xfrm>
          <a:prstGeom prst="rect">
            <a:avLst/>
          </a:prstGeom>
        </p:spPr>
      </p:pic>
      <p:pic>
        <p:nvPicPr>
          <p:cNvPr id="5" name="Picture 4"/>
          <p:cNvPicPr>
            <a:picLocks noChangeAspect="1"/>
          </p:cNvPicPr>
          <p:nvPr/>
        </p:nvPicPr>
        <p:blipFill rotWithShape="1">
          <a:blip r:embed="rId2"/>
          <a:srcRect l="48421"/>
          <a:stretch/>
        </p:blipFill>
        <p:spPr>
          <a:xfrm>
            <a:off x="7410206" y="3324997"/>
            <a:ext cx="4464121" cy="2830747"/>
          </a:xfrm>
          <a:prstGeom prst="rect">
            <a:avLst/>
          </a:prstGeom>
        </p:spPr>
      </p:pic>
    </p:spTree>
    <p:extLst>
      <p:ext uri="{BB962C8B-B14F-4D97-AF65-F5344CB8AC3E}">
        <p14:creationId xmlns:p14="http://schemas.microsoft.com/office/powerpoint/2010/main" val="11984132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286007"/>
            <a:ext cx="10990263" cy="568412"/>
          </a:xfrm>
        </p:spPr>
        <p:txBody>
          <a:bodyPr/>
          <a:lstStyle/>
          <a:p>
            <a:r>
              <a:rPr lang="sv-SE" dirty="0" err="1"/>
              <a:t>Application</a:t>
            </a:r>
            <a:r>
              <a:rPr lang="sv-SE" dirty="0"/>
              <a:t> to </a:t>
            </a:r>
            <a:r>
              <a:rPr lang="sv-SE" dirty="0" err="1"/>
              <a:t>Traction</a:t>
            </a:r>
            <a:r>
              <a:rPr lang="sv-SE" dirty="0"/>
              <a:t> </a:t>
            </a:r>
            <a:r>
              <a:rPr lang="sv-SE" dirty="0" err="1"/>
              <a:t>Inverters</a:t>
            </a:r>
            <a:endParaRPr lang="sv-SE" dirty="0"/>
          </a:p>
        </p:txBody>
      </p:sp>
      <p:sp>
        <p:nvSpPr>
          <p:cNvPr id="3" name="Content Placeholder 2"/>
          <p:cNvSpPr>
            <a:spLocks noGrp="1"/>
          </p:cNvSpPr>
          <p:nvPr>
            <p:ph idx="1"/>
          </p:nvPr>
        </p:nvSpPr>
        <p:spPr>
          <a:xfrm>
            <a:off x="609600" y="1319894"/>
            <a:ext cx="6353175" cy="4453808"/>
          </a:xfrm>
        </p:spPr>
        <p:txBody>
          <a:bodyPr/>
          <a:lstStyle/>
          <a:p>
            <a:pPr marL="0" indent="0" algn="just">
              <a:buNone/>
            </a:pPr>
            <a:r>
              <a:rPr lang="en-US" sz="2400" b="1" dirty="0"/>
              <a:t>Optimization Process</a:t>
            </a:r>
            <a:r>
              <a:rPr lang="en-US" sz="2400" b="1" dirty="0" smtClean="0"/>
              <a:t>:</a:t>
            </a:r>
          </a:p>
          <a:p>
            <a:pPr algn="just"/>
            <a:r>
              <a:rPr lang="en-US" sz="2400" dirty="0" smtClean="0"/>
              <a:t>Compare </a:t>
            </a:r>
            <a:r>
              <a:rPr lang="en-US" sz="2400" u="sng" dirty="0"/>
              <a:t>2-level</a:t>
            </a:r>
            <a:r>
              <a:rPr lang="en-US" sz="2400" dirty="0"/>
              <a:t> </a:t>
            </a:r>
            <a:r>
              <a:rPr lang="en-US" sz="2400" dirty="0" smtClean="0"/>
              <a:t>vs. SPB (series-parallel) vs</a:t>
            </a:r>
            <a:r>
              <a:rPr lang="en-US" sz="2400" dirty="0"/>
              <a:t>. </a:t>
            </a:r>
            <a:r>
              <a:rPr lang="en-US" sz="2400" u="sng" dirty="0" smtClean="0"/>
              <a:t>Multilevel</a:t>
            </a:r>
            <a:r>
              <a:rPr lang="en-US" sz="2400" dirty="0" smtClean="0"/>
              <a:t> </a:t>
            </a:r>
            <a:r>
              <a:rPr lang="en-US" sz="2400" dirty="0"/>
              <a:t>(e.g., 3-level, </a:t>
            </a:r>
            <a:r>
              <a:rPr lang="en-US" sz="2400" dirty="0" smtClean="0"/>
              <a:t>5-level) </a:t>
            </a:r>
            <a:r>
              <a:rPr lang="en-US" sz="2400" dirty="0"/>
              <a:t>inverter topologies</a:t>
            </a:r>
            <a:r>
              <a:rPr lang="en-US" sz="2400" dirty="0" smtClean="0"/>
              <a:t>.</a:t>
            </a:r>
          </a:p>
          <a:p>
            <a:pPr algn="just"/>
            <a:r>
              <a:rPr lang="en-US" sz="2400" dirty="0" smtClean="0"/>
              <a:t>Evaluate </a:t>
            </a:r>
            <a:r>
              <a:rPr lang="en-US" sz="2400" dirty="0"/>
              <a:t>key parameters</a:t>
            </a:r>
            <a:r>
              <a:rPr lang="en-US" sz="2400" dirty="0" smtClean="0"/>
              <a:t>:</a:t>
            </a:r>
          </a:p>
          <a:p>
            <a:pPr lvl="1" algn="just"/>
            <a:r>
              <a:rPr lang="en-US" sz="2400" dirty="0" smtClean="0"/>
              <a:t>Switching </a:t>
            </a:r>
            <a:r>
              <a:rPr lang="en-US" sz="2400" dirty="0"/>
              <a:t>frequency vs. losses and efficiency</a:t>
            </a:r>
            <a:r>
              <a:rPr lang="en-US" sz="2400" dirty="0" smtClean="0"/>
              <a:t>.</a:t>
            </a:r>
          </a:p>
          <a:p>
            <a:pPr lvl="1" algn="just"/>
            <a:r>
              <a:rPr lang="en-US" sz="2400" dirty="0" smtClean="0"/>
              <a:t>Component-level </a:t>
            </a:r>
            <a:r>
              <a:rPr lang="en-US" sz="2400" dirty="0"/>
              <a:t>impacts (semiconductors, capacitors, PCBs, etc</a:t>
            </a:r>
            <a:r>
              <a:rPr lang="en-US" sz="2400" dirty="0" smtClean="0"/>
              <a:t>.).</a:t>
            </a:r>
          </a:p>
          <a:p>
            <a:pPr algn="just"/>
            <a:r>
              <a:rPr lang="en-US" sz="2400" dirty="0" smtClean="0"/>
              <a:t>Use </a:t>
            </a:r>
            <a:r>
              <a:rPr lang="en-US" sz="2400" dirty="0"/>
              <a:t>of mission profiles to optimize the use-phase emissions (e.g., hours of operation per day for electric </a:t>
            </a:r>
            <a:r>
              <a:rPr lang="en-US" sz="2400" dirty="0" smtClean="0"/>
              <a:t>trucks).</a:t>
            </a:r>
            <a:endParaRPr lang="sv-SE" sz="2400" dirty="0"/>
          </a:p>
        </p:txBody>
      </p:sp>
      <p:pic>
        <p:nvPicPr>
          <p:cNvPr id="4" name="Picture 3"/>
          <p:cNvPicPr>
            <a:picLocks noChangeAspect="1"/>
          </p:cNvPicPr>
          <p:nvPr/>
        </p:nvPicPr>
        <p:blipFill>
          <a:blip r:embed="rId2"/>
          <a:stretch>
            <a:fillRect/>
          </a:stretch>
        </p:blipFill>
        <p:spPr>
          <a:xfrm>
            <a:off x="7224713" y="1943100"/>
            <a:ext cx="4551554" cy="3573427"/>
          </a:xfrm>
          <a:prstGeom prst="rect">
            <a:avLst/>
          </a:prstGeom>
        </p:spPr>
      </p:pic>
    </p:spTree>
    <p:extLst>
      <p:ext uri="{BB962C8B-B14F-4D97-AF65-F5344CB8AC3E}">
        <p14:creationId xmlns:p14="http://schemas.microsoft.com/office/powerpoint/2010/main" val="33316069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9650" y="286007"/>
            <a:ext cx="10990263" cy="568412"/>
          </a:xfrm>
        </p:spPr>
        <p:txBody>
          <a:bodyPr/>
          <a:lstStyle/>
          <a:p>
            <a:r>
              <a:rPr lang="sv-SE" dirty="0" err="1"/>
              <a:t>Expected</a:t>
            </a:r>
            <a:r>
              <a:rPr lang="sv-SE" dirty="0"/>
              <a:t> </a:t>
            </a:r>
            <a:r>
              <a:rPr lang="en-US" dirty="0"/>
              <a:t>Scientific </a:t>
            </a:r>
            <a:r>
              <a:rPr lang="sv-SE" dirty="0" err="1" smtClean="0"/>
              <a:t>Contributions</a:t>
            </a:r>
            <a:endParaRPr lang="sv-SE" dirty="0"/>
          </a:p>
        </p:txBody>
      </p:sp>
      <p:sp>
        <p:nvSpPr>
          <p:cNvPr id="3" name="Content Placeholder 2"/>
          <p:cNvSpPr>
            <a:spLocks noGrp="1"/>
          </p:cNvSpPr>
          <p:nvPr>
            <p:ph idx="1"/>
          </p:nvPr>
        </p:nvSpPr>
        <p:spPr>
          <a:xfrm>
            <a:off x="495301" y="1338944"/>
            <a:ext cx="6438900" cy="4453808"/>
          </a:xfrm>
        </p:spPr>
        <p:txBody>
          <a:bodyPr/>
          <a:lstStyle/>
          <a:p>
            <a:pPr algn="just"/>
            <a:r>
              <a:rPr lang="en-US" sz="2400" b="1" dirty="0" smtClean="0"/>
              <a:t>Novelty</a:t>
            </a:r>
            <a:r>
              <a:rPr lang="en-US" sz="2400" b="1" dirty="0"/>
              <a:t>: </a:t>
            </a:r>
            <a:r>
              <a:rPr lang="en-US" sz="2400" dirty="0"/>
              <a:t>Introduce environmental impact as a key dimension in traction inverter design optimization</a:t>
            </a:r>
            <a:r>
              <a:rPr lang="en-US" sz="2400" dirty="0" smtClean="0"/>
              <a:t>.</a:t>
            </a:r>
          </a:p>
          <a:p>
            <a:pPr algn="just"/>
            <a:endParaRPr lang="en-US" sz="2400" dirty="0" smtClean="0"/>
          </a:p>
          <a:p>
            <a:pPr algn="just"/>
            <a:r>
              <a:rPr lang="en-US" sz="2400" b="1" dirty="0" smtClean="0"/>
              <a:t>Framework</a:t>
            </a:r>
            <a:r>
              <a:rPr lang="en-US" sz="2400" b="1" dirty="0"/>
              <a:t>: </a:t>
            </a:r>
            <a:r>
              <a:rPr lang="en-US" sz="2400" dirty="0"/>
              <a:t>Develop a comprehensive framework for integrating environmental factors in </a:t>
            </a:r>
            <a:r>
              <a:rPr lang="en-US" sz="2400" dirty="0" smtClean="0"/>
              <a:t>the early </a:t>
            </a:r>
            <a:r>
              <a:rPr lang="en-US" sz="2400" dirty="0"/>
              <a:t>design stages</a:t>
            </a:r>
            <a:r>
              <a:rPr lang="en-US" sz="2400" dirty="0" smtClean="0"/>
              <a:t>.</a:t>
            </a:r>
          </a:p>
          <a:p>
            <a:pPr algn="just"/>
            <a:endParaRPr lang="en-US" sz="2400" dirty="0" smtClean="0"/>
          </a:p>
          <a:p>
            <a:pPr algn="just"/>
            <a:r>
              <a:rPr lang="en-US" sz="2400" b="1" dirty="0" smtClean="0"/>
              <a:t>Case </a:t>
            </a:r>
            <a:r>
              <a:rPr lang="en-US" sz="2400" b="1" dirty="0"/>
              <a:t>Study: </a:t>
            </a:r>
            <a:r>
              <a:rPr lang="en-US" sz="2400" dirty="0"/>
              <a:t>Provide real-world </a:t>
            </a:r>
            <a:r>
              <a:rPr lang="en-US" sz="2400" dirty="0" smtClean="0"/>
              <a:t>data (e.g., </a:t>
            </a:r>
            <a:r>
              <a:rPr lang="en-US" sz="2400" u="sng" dirty="0" smtClean="0"/>
              <a:t>drive cycles</a:t>
            </a:r>
            <a:r>
              <a:rPr lang="en-US" sz="2400" dirty="0" smtClean="0"/>
              <a:t>) </a:t>
            </a:r>
            <a:r>
              <a:rPr lang="en-US" sz="2400" dirty="0"/>
              <a:t>and insights on the environmental trade-offs of different inverter topologies.</a:t>
            </a:r>
            <a:endParaRPr lang="sv-SE" sz="2400" dirty="0"/>
          </a:p>
        </p:txBody>
      </p:sp>
      <p:pic>
        <p:nvPicPr>
          <p:cNvPr id="4" name="Picture 3"/>
          <p:cNvPicPr>
            <a:picLocks noChangeAspect="1"/>
          </p:cNvPicPr>
          <p:nvPr/>
        </p:nvPicPr>
        <p:blipFill>
          <a:blip r:embed="rId2"/>
          <a:stretch>
            <a:fillRect/>
          </a:stretch>
        </p:blipFill>
        <p:spPr>
          <a:xfrm>
            <a:off x="7336507" y="1619249"/>
            <a:ext cx="4199934" cy="4491719"/>
          </a:xfrm>
          <a:prstGeom prst="rect">
            <a:avLst/>
          </a:prstGeom>
        </p:spPr>
      </p:pic>
    </p:spTree>
    <p:extLst>
      <p:ext uri="{BB962C8B-B14F-4D97-AF65-F5344CB8AC3E}">
        <p14:creationId xmlns:p14="http://schemas.microsoft.com/office/powerpoint/2010/main" val="26516173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750" y="371732"/>
            <a:ext cx="10990263" cy="568412"/>
          </a:xfrm>
        </p:spPr>
        <p:txBody>
          <a:bodyPr/>
          <a:lstStyle/>
          <a:p>
            <a:r>
              <a:rPr lang="sv-SE" dirty="0" err="1" smtClean="0"/>
              <a:t>Expected</a:t>
            </a:r>
            <a:r>
              <a:rPr lang="sv-SE" dirty="0" smtClean="0"/>
              <a:t> </a:t>
            </a:r>
            <a:r>
              <a:rPr lang="sv-SE" dirty="0" err="1" smtClean="0"/>
              <a:t>Results</a:t>
            </a:r>
            <a:endParaRPr lang="sv-SE" dirty="0"/>
          </a:p>
        </p:txBody>
      </p:sp>
      <p:sp>
        <p:nvSpPr>
          <p:cNvPr id="3" name="Content Placeholder 2"/>
          <p:cNvSpPr>
            <a:spLocks noGrp="1"/>
          </p:cNvSpPr>
          <p:nvPr>
            <p:ph idx="1"/>
          </p:nvPr>
        </p:nvSpPr>
        <p:spPr>
          <a:xfrm>
            <a:off x="304801" y="1281793"/>
            <a:ext cx="6153150" cy="5270895"/>
          </a:xfrm>
        </p:spPr>
        <p:txBody>
          <a:bodyPr/>
          <a:lstStyle/>
          <a:p>
            <a:pPr marL="0" indent="0" algn="just">
              <a:buNone/>
            </a:pPr>
            <a:r>
              <a:rPr lang="en-US" sz="2400" b="1" dirty="0"/>
              <a:t>Expected Outcomes</a:t>
            </a:r>
            <a:r>
              <a:rPr lang="en-US" sz="2400" b="1" dirty="0" smtClean="0"/>
              <a:t>:</a:t>
            </a:r>
          </a:p>
          <a:p>
            <a:pPr algn="just"/>
            <a:r>
              <a:rPr lang="en-US" sz="2400" dirty="0" smtClean="0"/>
              <a:t>Achieve </a:t>
            </a:r>
            <a:r>
              <a:rPr lang="en-US" sz="2400" dirty="0"/>
              <a:t>optimized designs with higher efficiency and lower environmental footprint (e.g., lower GWP</a:t>
            </a:r>
            <a:r>
              <a:rPr lang="en-US" sz="2400" dirty="0" smtClean="0"/>
              <a:t>).</a:t>
            </a:r>
          </a:p>
          <a:p>
            <a:pPr algn="just"/>
            <a:endParaRPr lang="en-US" sz="2400" dirty="0" smtClean="0"/>
          </a:p>
          <a:p>
            <a:pPr marL="0" indent="0" algn="just">
              <a:buNone/>
            </a:pPr>
            <a:r>
              <a:rPr lang="en-US" sz="2400" b="1" dirty="0" smtClean="0"/>
              <a:t>Design </a:t>
            </a:r>
            <a:r>
              <a:rPr lang="en-US" sz="2400" b="1" dirty="0"/>
              <a:t>Trade-offs</a:t>
            </a:r>
            <a:r>
              <a:rPr lang="en-US" sz="2400" b="1" dirty="0" smtClean="0"/>
              <a:t>:</a:t>
            </a:r>
          </a:p>
          <a:p>
            <a:pPr algn="just"/>
            <a:r>
              <a:rPr lang="en-US" sz="2400" dirty="0" smtClean="0"/>
              <a:t>Higher </a:t>
            </a:r>
            <a:r>
              <a:rPr lang="en-US" sz="2400" dirty="0"/>
              <a:t>switching frequencies reduce passive component size but increase semiconductor losses</a:t>
            </a:r>
            <a:r>
              <a:rPr lang="en-US" sz="2400" dirty="0" smtClean="0"/>
              <a:t>.</a:t>
            </a:r>
          </a:p>
          <a:p>
            <a:pPr algn="just"/>
            <a:r>
              <a:rPr lang="en-US" sz="2400" dirty="0" smtClean="0"/>
              <a:t>Inverter </a:t>
            </a:r>
            <a:r>
              <a:rPr lang="en-US" sz="2400" dirty="0"/>
              <a:t>design with an initially higher environmental impact (e.g., larger components) might yield lower lifecycle emissions due to superior efficiency</a:t>
            </a:r>
            <a:r>
              <a:rPr lang="en-US" sz="2400" dirty="0" smtClean="0"/>
              <a:t>.</a:t>
            </a:r>
          </a:p>
        </p:txBody>
      </p:sp>
      <p:pic>
        <p:nvPicPr>
          <p:cNvPr id="4" name="Picture 3"/>
          <p:cNvPicPr>
            <a:picLocks noChangeAspect="1"/>
          </p:cNvPicPr>
          <p:nvPr/>
        </p:nvPicPr>
        <p:blipFill>
          <a:blip r:embed="rId2"/>
          <a:stretch>
            <a:fillRect/>
          </a:stretch>
        </p:blipFill>
        <p:spPr>
          <a:xfrm>
            <a:off x="8131969" y="281863"/>
            <a:ext cx="2595562" cy="3745111"/>
          </a:xfrm>
          <a:prstGeom prst="rect">
            <a:avLst/>
          </a:prstGeom>
        </p:spPr>
      </p:pic>
      <p:pic>
        <p:nvPicPr>
          <p:cNvPr id="5" name="Picture 4"/>
          <p:cNvPicPr>
            <a:picLocks noChangeAspect="1"/>
          </p:cNvPicPr>
          <p:nvPr/>
        </p:nvPicPr>
        <p:blipFill>
          <a:blip r:embed="rId3"/>
          <a:stretch>
            <a:fillRect/>
          </a:stretch>
        </p:blipFill>
        <p:spPr>
          <a:xfrm>
            <a:off x="7636716" y="4162424"/>
            <a:ext cx="3392440" cy="2333115"/>
          </a:xfrm>
          <a:prstGeom prst="rect">
            <a:avLst/>
          </a:prstGeom>
        </p:spPr>
      </p:pic>
      <p:sp>
        <p:nvSpPr>
          <p:cNvPr id="6" name="TextBox 5"/>
          <p:cNvSpPr txBox="1"/>
          <p:nvPr/>
        </p:nvSpPr>
        <p:spPr>
          <a:xfrm>
            <a:off x="10841831" y="929028"/>
            <a:ext cx="857250" cy="369332"/>
          </a:xfrm>
          <a:prstGeom prst="rect">
            <a:avLst/>
          </a:prstGeom>
          <a:noFill/>
        </p:spPr>
        <p:txBody>
          <a:bodyPr wrap="square" rtlCol="0">
            <a:spAutoFit/>
          </a:bodyPr>
          <a:lstStyle/>
          <a:p>
            <a:r>
              <a:rPr lang="en-US" dirty="0" smtClean="0"/>
              <a:t>3LTT</a:t>
            </a:r>
            <a:endParaRPr lang="sv-SE" dirty="0"/>
          </a:p>
        </p:txBody>
      </p:sp>
      <p:sp>
        <p:nvSpPr>
          <p:cNvPr id="7" name="TextBox 6"/>
          <p:cNvSpPr txBox="1"/>
          <p:nvPr/>
        </p:nvSpPr>
        <p:spPr>
          <a:xfrm>
            <a:off x="10841831" y="3026119"/>
            <a:ext cx="1350169" cy="369332"/>
          </a:xfrm>
          <a:prstGeom prst="rect">
            <a:avLst/>
          </a:prstGeom>
          <a:noFill/>
        </p:spPr>
        <p:txBody>
          <a:bodyPr wrap="square" rtlCol="0">
            <a:spAutoFit/>
          </a:bodyPr>
          <a:lstStyle/>
          <a:p>
            <a:r>
              <a:rPr lang="en-US" dirty="0" smtClean="0"/>
              <a:t>7LHANPC</a:t>
            </a:r>
            <a:endParaRPr lang="sv-SE" dirty="0"/>
          </a:p>
        </p:txBody>
      </p:sp>
    </p:spTree>
    <p:extLst>
      <p:ext uri="{BB962C8B-B14F-4D97-AF65-F5344CB8AC3E}">
        <p14:creationId xmlns:p14="http://schemas.microsoft.com/office/powerpoint/2010/main" val="33137923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0" y="362207"/>
            <a:ext cx="10990263" cy="568412"/>
          </a:xfrm>
        </p:spPr>
        <p:txBody>
          <a:bodyPr/>
          <a:lstStyle/>
          <a:p>
            <a:r>
              <a:rPr lang="sv-SE" dirty="0" err="1" smtClean="0"/>
              <a:t>Impact</a:t>
            </a:r>
            <a:endParaRPr lang="sv-SE" dirty="0"/>
          </a:p>
        </p:txBody>
      </p:sp>
      <p:sp>
        <p:nvSpPr>
          <p:cNvPr id="3" name="Content Placeholder 2"/>
          <p:cNvSpPr>
            <a:spLocks noGrp="1"/>
          </p:cNvSpPr>
          <p:nvPr>
            <p:ph idx="1"/>
          </p:nvPr>
        </p:nvSpPr>
        <p:spPr>
          <a:xfrm>
            <a:off x="606254" y="1371895"/>
            <a:ext cx="10990263" cy="4453808"/>
          </a:xfrm>
        </p:spPr>
        <p:txBody>
          <a:bodyPr/>
          <a:lstStyle/>
          <a:p>
            <a:pPr marL="0" indent="0" algn="just">
              <a:buNone/>
            </a:pPr>
            <a:r>
              <a:rPr lang="sv-SE" sz="2800" b="1" dirty="0" smtClean="0"/>
              <a:t>Industry</a:t>
            </a:r>
            <a:r>
              <a:rPr lang="sv-SE" sz="2800" b="1" dirty="0"/>
              <a:t>: </a:t>
            </a:r>
            <a:r>
              <a:rPr lang="sv-SE" sz="2800" dirty="0"/>
              <a:t>Support the design </a:t>
            </a:r>
            <a:r>
              <a:rPr lang="sv-SE" sz="2800" dirty="0" err="1"/>
              <a:t>of</a:t>
            </a:r>
            <a:r>
              <a:rPr lang="sv-SE" sz="2800" dirty="0"/>
              <a:t> </a:t>
            </a:r>
            <a:r>
              <a:rPr lang="sv-SE" sz="2800" dirty="0" err="1"/>
              <a:t>more</a:t>
            </a:r>
            <a:r>
              <a:rPr lang="sv-SE" sz="2800" dirty="0"/>
              <a:t> </a:t>
            </a:r>
            <a:r>
              <a:rPr lang="sv-SE" sz="2800" u="sng" dirty="0" err="1"/>
              <a:t>sustainable</a:t>
            </a:r>
            <a:r>
              <a:rPr lang="sv-SE" sz="2800" dirty="0"/>
              <a:t> </a:t>
            </a:r>
            <a:r>
              <a:rPr lang="sv-SE" sz="2800" dirty="0" err="1"/>
              <a:t>electric</a:t>
            </a:r>
            <a:r>
              <a:rPr lang="sv-SE" sz="2800" dirty="0"/>
              <a:t> truck </a:t>
            </a:r>
            <a:r>
              <a:rPr lang="sv-SE" sz="2800" dirty="0" err="1"/>
              <a:t>power</a:t>
            </a:r>
            <a:r>
              <a:rPr lang="sv-SE" sz="2800" dirty="0"/>
              <a:t> systems</a:t>
            </a:r>
            <a:r>
              <a:rPr lang="sv-SE" sz="2800" dirty="0" smtClean="0"/>
              <a:t>.</a:t>
            </a:r>
          </a:p>
          <a:p>
            <a:pPr marL="0" indent="0" algn="just">
              <a:buNone/>
            </a:pPr>
            <a:endParaRPr lang="sv-SE" sz="2800" dirty="0" smtClean="0"/>
          </a:p>
          <a:p>
            <a:pPr marL="0" indent="0" algn="just">
              <a:buNone/>
            </a:pPr>
            <a:r>
              <a:rPr lang="sv-SE" sz="2800" b="1" dirty="0" err="1" smtClean="0"/>
              <a:t>Regulation</a:t>
            </a:r>
            <a:r>
              <a:rPr lang="sv-SE" sz="2800" b="1" dirty="0"/>
              <a:t>: </a:t>
            </a:r>
            <a:r>
              <a:rPr lang="sv-SE" sz="2800" dirty="0" err="1"/>
              <a:t>Align</a:t>
            </a:r>
            <a:r>
              <a:rPr lang="sv-SE" sz="2800" dirty="0"/>
              <a:t> </a:t>
            </a:r>
            <a:r>
              <a:rPr lang="sv-SE" sz="2800" dirty="0" err="1"/>
              <a:t>inverter</a:t>
            </a:r>
            <a:r>
              <a:rPr lang="sv-SE" sz="2800" dirty="0"/>
              <a:t> designs </a:t>
            </a:r>
            <a:r>
              <a:rPr lang="sv-SE" sz="2800" dirty="0" err="1"/>
              <a:t>with</a:t>
            </a:r>
            <a:r>
              <a:rPr lang="sv-SE" sz="2800" dirty="0"/>
              <a:t> </a:t>
            </a:r>
            <a:r>
              <a:rPr lang="sv-SE" sz="2800" dirty="0" err="1"/>
              <a:t>upcoming</a:t>
            </a:r>
            <a:r>
              <a:rPr lang="sv-SE" sz="2800" dirty="0"/>
              <a:t> </a:t>
            </a:r>
            <a:r>
              <a:rPr lang="sv-SE" sz="2800" u="sng" dirty="0" err="1"/>
              <a:t>environmental</a:t>
            </a:r>
            <a:r>
              <a:rPr lang="sv-SE" sz="2800" u="sng" dirty="0"/>
              <a:t> </a:t>
            </a:r>
            <a:r>
              <a:rPr lang="sv-SE" sz="2800" u="sng" dirty="0" err="1"/>
              <a:t>policies</a:t>
            </a:r>
            <a:r>
              <a:rPr lang="sv-SE" sz="2800" dirty="0"/>
              <a:t> (</a:t>
            </a:r>
            <a:r>
              <a:rPr lang="sv-SE" sz="2800" dirty="0" err="1"/>
              <a:t>e.g</a:t>
            </a:r>
            <a:r>
              <a:rPr lang="sv-SE" sz="2800" dirty="0"/>
              <a:t>., EU </a:t>
            </a:r>
            <a:r>
              <a:rPr lang="sv-SE" sz="2800" dirty="0" err="1"/>
              <a:t>Circular</a:t>
            </a:r>
            <a:r>
              <a:rPr lang="sv-SE" sz="2800" dirty="0"/>
              <a:t> </a:t>
            </a:r>
            <a:r>
              <a:rPr lang="sv-SE" sz="2800" dirty="0" err="1"/>
              <a:t>Economy</a:t>
            </a:r>
            <a:r>
              <a:rPr lang="sv-SE" sz="2800" dirty="0"/>
              <a:t> Action Plan</a:t>
            </a:r>
            <a:r>
              <a:rPr lang="sv-SE" sz="2800" dirty="0" smtClean="0"/>
              <a:t>).</a:t>
            </a:r>
          </a:p>
          <a:p>
            <a:pPr marL="0" indent="0" algn="just">
              <a:buNone/>
            </a:pPr>
            <a:endParaRPr lang="en-US" sz="2800" dirty="0"/>
          </a:p>
          <a:p>
            <a:pPr marL="0" indent="0" algn="just">
              <a:buNone/>
            </a:pPr>
            <a:r>
              <a:rPr lang="en-US" sz="2800" b="1" dirty="0"/>
              <a:t>Real-World </a:t>
            </a:r>
            <a:r>
              <a:rPr lang="en-US" sz="2800" b="1" dirty="0" smtClean="0"/>
              <a:t>Impact: </a:t>
            </a:r>
            <a:r>
              <a:rPr lang="en-US" sz="2800" dirty="0" smtClean="0"/>
              <a:t>Support </a:t>
            </a:r>
            <a:r>
              <a:rPr lang="en-US" sz="2800" dirty="0"/>
              <a:t>regulatory alignment with </a:t>
            </a:r>
            <a:r>
              <a:rPr lang="en-US" sz="2800" u="sng" dirty="0"/>
              <a:t>circular economy</a:t>
            </a:r>
            <a:r>
              <a:rPr lang="en-US" sz="2800" dirty="0"/>
              <a:t> principles and CO2 tax incentives for the trucking industry</a:t>
            </a:r>
            <a:r>
              <a:rPr lang="en-US" sz="2800" dirty="0" smtClean="0"/>
              <a:t>.</a:t>
            </a:r>
            <a:endParaRPr lang="sv-SE" sz="2800" dirty="0" smtClean="0"/>
          </a:p>
        </p:txBody>
      </p:sp>
    </p:spTree>
    <p:extLst>
      <p:ext uri="{BB962C8B-B14F-4D97-AF65-F5344CB8AC3E}">
        <p14:creationId xmlns:p14="http://schemas.microsoft.com/office/powerpoint/2010/main" val="10262137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175" y="282832"/>
            <a:ext cx="10990263" cy="568412"/>
          </a:xfrm>
        </p:spPr>
        <p:txBody>
          <a:bodyPr/>
          <a:lstStyle/>
          <a:p>
            <a:r>
              <a:rPr lang="en-US" sz="3200" dirty="0" smtClean="0"/>
              <a:t>Topologies– 2 Level or Multilevel VSIs</a:t>
            </a:r>
            <a:endParaRPr lang="sv-SE" sz="3200" dirty="0"/>
          </a:p>
        </p:txBody>
      </p:sp>
      <p:pic>
        <p:nvPicPr>
          <p:cNvPr id="4" name="Picture 3"/>
          <p:cNvPicPr>
            <a:picLocks noChangeAspect="1"/>
          </p:cNvPicPr>
          <p:nvPr/>
        </p:nvPicPr>
        <p:blipFill>
          <a:blip r:embed="rId2"/>
          <a:stretch>
            <a:fillRect/>
          </a:stretch>
        </p:blipFill>
        <p:spPr>
          <a:xfrm>
            <a:off x="6514306" y="927444"/>
            <a:ext cx="5324812" cy="5248275"/>
          </a:xfrm>
          <a:prstGeom prst="rect">
            <a:avLst/>
          </a:prstGeom>
        </p:spPr>
      </p:pic>
      <p:pic>
        <p:nvPicPr>
          <p:cNvPr id="5" name="Picture 4"/>
          <p:cNvPicPr>
            <a:picLocks noChangeAspect="1"/>
          </p:cNvPicPr>
          <p:nvPr/>
        </p:nvPicPr>
        <p:blipFill>
          <a:blip r:embed="rId3"/>
          <a:stretch>
            <a:fillRect/>
          </a:stretch>
        </p:blipFill>
        <p:spPr>
          <a:xfrm>
            <a:off x="923925" y="1540563"/>
            <a:ext cx="4305300" cy="2574237"/>
          </a:xfrm>
          <a:prstGeom prst="rect">
            <a:avLst/>
          </a:prstGeom>
        </p:spPr>
      </p:pic>
      <p:sp>
        <p:nvSpPr>
          <p:cNvPr id="6" name="TextBox 5"/>
          <p:cNvSpPr txBox="1"/>
          <p:nvPr/>
        </p:nvSpPr>
        <p:spPr>
          <a:xfrm>
            <a:off x="923925" y="4622191"/>
            <a:ext cx="4714875" cy="1477328"/>
          </a:xfrm>
          <a:prstGeom prst="rect">
            <a:avLst/>
          </a:prstGeom>
          <a:noFill/>
        </p:spPr>
        <p:txBody>
          <a:bodyPr wrap="square" rtlCol="0">
            <a:spAutoFit/>
          </a:bodyPr>
          <a:lstStyle/>
          <a:p>
            <a:r>
              <a:rPr lang="en-US" dirty="0" smtClean="0"/>
              <a:t>Possible Semiconductor Technology</a:t>
            </a:r>
          </a:p>
          <a:p>
            <a:pPr marL="285750" indent="-285750">
              <a:buFont typeface="Arial" panose="020B0604020202020204" pitchFamily="34" charset="0"/>
              <a:buChar char="•"/>
            </a:pPr>
            <a:r>
              <a:rPr lang="en-US" dirty="0" smtClean="0"/>
              <a:t>2L- </a:t>
            </a:r>
            <a:r>
              <a:rPr lang="en-US" dirty="0" err="1" smtClean="0"/>
              <a:t>SiC</a:t>
            </a:r>
            <a:endParaRPr lang="en-US" dirty="0" smtClean="0"/>
          </a:p>
          <a:p>
            <a:pPr marL="285750" indent="-285750">
              <a:buFont typeface="Arial" panose="020B0604020202020204" pitchFamily="34" charset="0"/>
              <a:buChar char="•"/>
            </a:pPr>
            <a:r>
              <a:rPr lang="en-US" dirty="0" smtClean="0"/>
              <a:t>3L- </a:t>
            </a:r>
            <a:r>
              <a:rPr lang="en-US" dirty="0" err="1" smtClean="0"/>
              <a:t>SiC</a:t>
            </a:r>
            <a:r>
              <a:rPr lang="en-US" dirty="0" smtClean="0"/>
              <a:t> </a:t>
            </a:r>
          </a:p>
          <a:p>
            <a:pPr marL="285750" indent="-285750">
              <a:buFont typeface="Arial" panose="020B0604020202020204" pitchFamily="34" charset="0"/>
              <a:buChar char="•"/>
            </a:pPr>
            <a:r>
              <a:rPr lang="en-US" dirty="0" smtClean="0"/>
              <a:t>5L- </a:t>
            </a:r>
            <a:r>
              <a:rPr lang="en-US" dirty="0" err="1" smtClean="0"/>
              <a:t>GaN</a:t>
            </a:r>
            <a:r>
              <a:rPr lang="en-US" dirty="0" smtClean="0"/>
              <a:t> </a:t>
            </a:r>
          </a:p>
          <a:p>
            <a:pPr marL="285750" indent="-285750">
              <a:buFont typeface="Arial" panose="020B0604020202020204" pitchFamily="34" charset="0"/>
              <a:buChar char="•"/>
            </a:pPr>
            <a:r>
              <a:rPr lang="en-US" dirty="0" smtClean="0"/>
              <a:t>7L- Si</a:t>
            </a:r>
            <a:endParaRPr lang="sv-SE" dirty="0"/>
          </a:p>
        </p:txBody>
      </p:sp>
    </p:spTree>
    <p:extLst>
      <p:ext uri="{BB962C8B-B14F-4D97-AF65-F5344CB8AC3E}">
        <p14:creationId xmlns:p14="http://schemas.microsoft.com/office/powerpoint/2010/main" val="16574167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175" y="282832"/>
            <a:ext cx="10990263" cy="568412"/>
          </a:xfrm>
        </p:spPr>
        <p:txBody>
          <a:bodyPr/>
          <a:lstStyle/>
          <a:p>
            <a:r>
              <a:rPr lang="en-US" sz="3200" dirty="0" smtClean="0"/>
              <a:t>Topologies– SPB or PPB to Introduce Modularity</a:t>
            </a:r>
            <a:endParaRPr lang="sv-SE" sz="3200" dirty="0"/>
          </a:p>
        </p:txBody>
      </p:sp>
      <p:pic>
        <p:nvPicPr>
          <p:cNvPr id="9" name="Picture 8"/>
          <p:cNvPicPr>
            <a:picLocks noChangeAspect="1"/>
          </p:cNvPicPr>
          <p:nvPr/>
        </p:nvPicPr>
        <p:blipFill>
          <a:blip r:embed="rId2"/>
          <a:stretch>
            <a:fillRect/>
          </a:stretch>
        </p:blipFill>
        <p:spPr>
          <a:xfrm>
            <a:off x="1123991" y="1096709"/>
            <a:ext cx="1843369" cy="1935155"/>
          </a:xfrm>
          <a:prstGeom prst="rect">
            <a:avLst/>
          </a:prstGeom>
        </p:spPr>
      </p:pic>
      <p:pic>
        <p:nvPicPr>
          <p:cNvPr id="10" name="Picture 9"/>
          <p:cNvPicPr>
            <a:picLocks noChangeAspect="1"/>
          </p:cNvPicPr>
          <p:nvPr/>
        </p:nvPicPr>
        <p:blipFill>
          <a:blip r:embed="rId3"/>
          <a:stretch>
            <a:fillRect/>
          </a:stretch>
        </p:blipFill>
        <p:spPr>
          <a:xfrm>
            <a:off x="1123991" y="3548161"/>
            <a:ext cx="1859848" cy="2132123"/>
          </a:xfrm>
          <a:prstGeom prst="rect">
            <a:avLst/>
          </a:prstGeom>
        </p:spPr>
      </p:pic>
      <p:sp>
        <p:nvSpPr>
          <p:cNvPr id="11" name="Rectangle 10"/>
          <p:cNvSpPr/>
          <p:nvPr/>
        </p:nvSpPr>
        <p:spPr>
          <a:xfrm>
            <a:off x="0" y="3124197"/>
            <a:ext cx="3576620" cy="369332"/>
          </a:xfrm>
          <a:prstGeom prst="rect">
            <a:avLst/>
          </a:prstGeom>
        </p:spPr>
        <p:txBody>
          <a:bodyPr wrap="none">
            <a:spAutoFit/>
          </a:bodyPr>
          <a:lstStyle/>
          <a:p>
            <a:r>
              <a:rPr lang="en-US" dirty="0"/>
              <a:t>S</a:t>
            </a:r>
            <a:r>
              <a:rPr lang="en-US" dirty="0" smtClean="0"/>
              <a:t>tacked </a:t>
            </a:r>
            <a:r>
              <a:rPr lang="en-US" dirty="0" err="1"/>
              <a:t>polyphase</a:t>
            </a:r>
            <a:r>
              <a:rPr lang="en-US" dirty="0"/>
              <a:t> bridges (SPB)</a:t>
            </a:r>
          </a:p>
        </p:txBody>
      </p:sp>
      <p:sp>
        <p:nvSpPr>
          <p:cNvPr id="12" name="Rectangle 11"/>
          <p:cNvSpPr/>
          <p:nvPr/>
        </p:nvSpPr>
        <p:spPr>
          <a:xfrm>
            <a:off x="0" y="5810318"/>
            <a:ext cx="4661854" cy="369332"/>
          </a:xfrm>
          <a:prstGeom prst="rect">
            <a:avLst/>
          </a:prstGeom>
        </p:spPr>
        <p:txBody>
          <a:bodyPr wrap="none">
            <a:spAutoFit/>
          </a:bodyPr>
          <a:lstStyle/>
          <a:p>
            <a:r>
              <a:rPr lang="en-US" dirty="0" smtClean="0"/>
              <a:t>Parallel-connected </a:t>
            </a:r>
            <a:r>
              <a:rPr lang="en-US" dirty="0" err="1"/>
              <a:t>polyphase</a:t>
            </a:r>
            <a:r>
              <a:rPr lang="en-US" dirty="0"/>
              <a:t> bridges (PPB)</a:t>
            </a:r>
          </a:p>
        </p:txBody>
      </p:sp>
      <p:sp>
        <p:nvSpPr>
          <p:cNvPr id="13" name="Rectangle 12"/>
          <p:cNvSpPr/>
          <p:nvPr/>
        </p:nvSpPr>
        <p:spPr>
          <a:xfrm>
            <a:off x="4905375" y="941070"/>
            <a:ext cx="6509386" cy="5693866"/>
          </a:xfrm>
          <a:prstGeom prst="rect">
            <a:avLst/>
          </a:prstGeom>
        </p:spPr>
        <p:txBody>
          <a:bodyPr wrap="square">
            <a:spAutoFit/>
          </a:bodyPr>
          <a:lstStyle/>
          <a:p>
            <a:pPr algn="just"/>
            <a:r>
              <a:rPr lang="en-US" sz="1400" b="1" dirty="0" smtClean="0"/>
              <a:t>Fault </a:t>
            </a:r>
            <a:r>
              <a:rPr lang="en-US" sz="1400" b="1" dirty="0"/>
              <a:t>Tolerance</a:t>
            </a:r>
            <a:r>
              <a:rPr lang="en-US" sz="1400" dirty="0"/>
              <a:t>:</a:t>
            </a:r>
          </a:p>
          <a:p>
            <a:pPr marL="742950" lvl="1" indent="-285750" algn="just">
              <a:buFont typeface="Arial" panose="020B0604020202020204" pitchFamily="34" charset="0"/>
              <a:buChar char="•"/>
            </a:pPr>
            <a:r>
              <a:rPr lang="en-US" sz="1400" b="1" dirty="0"/>
              <a:t>Modular Architecture</a:t>
            </a:r>
            <a:r>
              <a:rPr lang="en-US" sz="1400" dirty="0"/>
              <a:t>: SPB modules can operate independently, enabling </a:t>
            </a:r>
            <a:r>
              <a:rPr lang="en-US" sz="1400" b="1" dirty="0"/>
              <a:t>continued operation</a:t>
            </a:r>
            <a:r>
              <a:rPr lang="en-US" sz="1400" dirty="0"/>
              <a:t> during faults.</a:t>
            </a:r>
          </a:p>
          <a:p>
            <a:pPr marL="742950" lvl="1" indent="-285750" algn="just">
              <a:buFont typeface="Arial" panose="020B0604020202020204" pitchFamily="34" charset="0"/>
              <a:buChar char="•"/>
            </a:pPr>
            <a:r>
              <a:rPr lang="en-US" sz="1400" b="1" dirty="0"/>
              <a:t>Redundancy</a:t>
            </a:r>
            <a:r>
              <a:rPr lang="en-US" sz="1400" dirty="0"/>
              <a:t>: Enables </a:t>
            </a:r>
            <a:r>
              <a:rPr lang="en-US" sz="1400" b="1" dirty="0"/>
              <a:t>partial load operation</a:t>
            </a:r>
            <a:r>
              <a:rPr lang="en-US" sz="1400" dirty="0"/>
              <a:t> even when a module fails, minimizing system downtime.</a:t>
            </a:r>
          </a:p>
          <a:p>
            <a:pPr algn="just"/>
            <a:r>
              <a:rPr lang="en-US" sz="1400" b="1" dirty="0"/>
              <a:t>Modularity</a:t>
            </a:r>
            <a:r>
              <a:rPr lang="en-US" sz="1400" dirty="0"/>
              <a:t>:</a:t>
            </a:r>
          </a:p>
          <a:p>
            <a:pPr marL="742950" lvl="1" indent="-285750" algn="just">
              <a:buFont typeface="Arial" panose="020B0604020202020204" pitchFamily="34" charset="0"/>
              <a:buChar char="•"/>
            </a:pPr>
            <a:r>
              <a:rPr lang="en-US" sz="1400" b="1" dirty="0"/>
              <a:t>Scalability</a:t>
            </a:r>
            <a:r>
              <a:rPr lang="en-US" sz="1400" dirty="0"/>
              <a:t>: SPB's modular structure supports </a:t>
            </a:r>
            <a:r>
              <a:rPr lang="en-US" sz="1400" b="1" dirty="0"/>
              <a:t>different power levels</a:t>
            </a:r>
            <a:r>
              <a:rPr lang="en-US" sz="1400" dirty="0"/>
              <a:t>, adapting to the specific needs of electric trucks (urban vs. long-haul).</a:t>
            </a:r>
          </a:p>
          <a:p>
            <a:pPr marL="742950" lvl="1" indent="-285750" algn="just">
              <a:buFont typeface="Arial" panose="020B0604020202020204" pitchFamily="34" charset="0"/>
              <a:buChar char="•"/>
            </a:pPr>
            <a:r>
              <a:rPr lang="en-US" sz="1400" b="1" dirty="0"/>
              <a:t>Easier Maintenance</a:t>
            </a:r>
            <a:r>
              <a:rPr lang="en-US" sz="1400" dirty="0"/>
              <a:t>: Modular components simplify repair and replacement, reducing operational disruptions.</a:t>
            </a:r>
          </a:p>
          <a:p>
            <a:pPr algn="just"/>
            <a:r>
              <a:rPr lang="en-US" sz="1400" b="1" dirty="0"/>
              <a:t>Multi-Phase Operation</a:t>
            </a:r>
            <a:r>
              <a:rPr lang="en-US" sz="1400" dirty="0"/>
              <a:t>:</a:t>
            </a:r>
          </a:p>
          <a:p>
            <a:pPr marL="742950" lvl="1" indent="-285750" algn="just">
              <a:buFont typeface="Arial" panose="020B0604020202020204" pitchFamily="34" charset="0"/>
              <a:buChar char="•"/>
            </a:pPr>
            <a:r>
              <a:rPr lang="en-US" sz="1400" b="1" dirty="0"/>
              <a:t>Improved Efficiency</a:t>
            </a:r>
            <a:r>
              <a:rPr lang="en-US" sz="1400" dirty="0"/>
              <a:t>: SPB supports </a:t>
            </a:r>
            <a:r>
              <a:rPr lang="en-US" sz="1400" b="1" dirty="0"/>
              <a:t>3-, 6-, 9-, or 12-phase configurations</a:t>
            </a:r>
            <a:r>
              <a:rPr lang="en-US" sz="1400" dirty="0"/>
              <a:t>, optimizing power delivery and motor performance for different applications</a:t>
            </a:r>
            <a:r>
              <a:rPr lang="en-US" sz="1400" dirty="0" smtClean="0"/>
              <a:t>.  </a:t>
            </a:r>
          </a:p>
          <a:p>
            <a:pPr marL="742950" lvl="1" indent="-285750" algn="just">
              <a:buFont typeface="Arial" panose="020B0604020202020204" pitchFamily="34" charset="0"/>
              <a:buChar char="•"/>
            </a:pPr>
            <a:r>
              <a:rPr lang="en-US" sz="1400" b="1" dirty="0" smtClean="0"/>
              <a:t>Variable Phase-Pole: </a:t>
            </a:r>
            <a:r>
              <a:rPr lang="en-US" sz="1400" dirty="0" smtClean="0"/>
              <a:t>SPB</a:t>
            </a:r>
            <a:r>
              <a:rPr lang="en-US" sz="1400" b="1" dirty="0" smtClean="0"/>
              <a:t> </a:t>
            </a:r>
            <a:r>
              <a:rPr lang="en-US" sz="1400" dirty="0"/>
              <a:t>s</a:t>
            </a:r>
            <a:r>
              <a:rPr lang="en-US" sz="1400" dirty="0" smtClean="0"/>
              <a:t>upports variable phase-pole configuration on the stator side, which can increase the overall efficiency along with the drive cycle. </a:t>
            </a:r>
            <a:endParaRPr lang="en-US" sz="1400" b="1" dirty="0"/>
          </a:p>
          <a:p>
            <a:pPr marL="742950" lvl="1" indent="-285750" algn="just">
              <a:buFont typeface="Arial" panose="020B0604020202020204" pitchFamily="34" charset="0"/>
              <a:buChar char="•"/>
            </a:pPr>
            <a:r>
              <a:rPr lang="en-US" sz="1400" b="1" dirty="0"/>
              <a:t>Ripple Reduction</a:t>
            </a:r>
            <a:r>
              <a:rPr lang="en-US" sz="1400" dirty="0"/>
              <a:t>: Multi-phase operation reduces current ripple, improving the overall efficiency and torque smoothness.</a:t>
            </a:r>
          </a:p>
          <a:p>
            <a:pPr algn="just"/>
            <a:r>
              <a:rPr lang="en-US" sz="1400" b="1" dirty="0"/>
              <a:t>Interleaving</a:t>
            </a:r>
            <a:r>
              <a:rPr lang="en-US" sz="1400" dirty="0"/>
              <a:t>:</a:t>
            </a:r>
          </a:p>
          <a:p>
            <a:pPr marL="742950" lvl="1" indent="-285750" algn="just">
              <a:buFont typeface="Arial" panose="020B0604020202020204" pitchFamily="34" charset="0"/>
              <a:buChar char="•"/>
            </a:pPr>
            <a:r>
              <a:rPr lang="en-US" sz="1400" b="1" dirty="0"/>
              <a:t>Current Ripple Reduction</a:t>
            </a:r>
            <a:r>
              <a:rPr lang="en-US" sz="1400" dirty="0"/>
              <a:t>: Interleaving SPB modules minimizes current ripple, reducing the need for bulky filters and enhancing power quality.</a:t>
            </a:r>
          </a:p>
          <a:p>
            <a:pPr marL="742950" lvl="1" indent="-285750" algn="just">
              <a:buFont typeface="Arial" panose="020B0604020202020204" pitchFamily="34" charset="0"/>
              <a:buChar char="•"/>
            </a:pPr>
            <a:r>
              <a:rPr lang="en-US" sz="1400" b="1" dirty="0"/>
              <a:t>Thermal Management</a:t>
            </a:r>
            <a:r>
              <a:rPr lang="en-US" sz="1400" dirty="0"/>
              <a:t>: Distributes heat generation more evenly across modules, improving </a:t>
            </a:r>
            <a:r>
              <a:rPr lang="en-US" sz="1400" b="1" dirty="0"/>
              <a:t>thermal performance</a:t>
            </a:r>
            <a:r>
              <a:rPr lang="en-US" sz="1400" dirty="0"/>
              <a:t> and extending the lifespan of components.</a:t>
            </a:r>
          </a:p>
        </p:txBody>
      </p:sp>
    </p:spTree>
    <p:extLst>
      <p:ext uri="{BB962C8B-B14F-4D97-AF65-F5344CB8AC3E}">
        <p14:creationId xmlns:p14="http://schemas.microsoft.com/office/powerpoint/2010/main" val="38583888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62207"/>
            <a:ext cx="10990263" cy="568412"/>
          </a:xfrm>
        </p:spPr>
        <p:txBody>
          <a:bodyPr/>
          <a:lstStyle/>
          <a:p>
            <a:r>
              <a:rPr lang="en-US" dirty="0" smtClean="0"/>
              <a:t>References</a:t>
            </a:r>
            <a:endParaRPr lang="sv-SE" dirty="0"/>
          </a:p>
        </p:txBody>
      </p:sp>
      <p:sp>
        <p:nvSpPr>
          <p:cNvPr id="3" name="Content Placeholder 2"/>
          <p:cNvSpPr>
            <a:spLocks noGrp="1"/>
          </p:cNvSpPr>
          <p:nvPr>
            <p:ph idx="1"/>
          </p:nvPr>
        </p:nvSpPr>
        <p:spPr>
          <a:xfrm>
            <a:off x="600075" y="1105930"/>
            <a:ext cx="10990263" cy="5220222"/>
          </a:xfrm>
        </p:spPr>
        <p:txBody>
          <a:bodyPr/>
          <a:lstStyle/>
          <a:p>
            <a:r>
              <a:rPr lang="sv-SE" sz="1600" dirty="0" err="1" smtClean="0"/>
              <a:t>Rohner</a:t>
            </a:r>
            <a:r>
              <a:rPr lang="sv-SE" sz="1600" dirty="0"/>
              <a:t>, G., Kolar, J. W., </a:t>
            </a:r>
            <a:r>
              <a:rPr lang="sv-SE" sz="1600" dirty="0" err="1"/>
              <a:t>Bortis</a:t>
            </a:r>
            <a:r>
              <a:rPr lang="sv-SE" sz="1600" dirty="0"/>
              <a:t>, D., &amp; Schweizer, M. (2022). </a:t>
            </a:r>
            <a:r>
              <a:rPr lang="en-US" sz="1600" dirty="0"/>
              <a:t>Optimal Level Number and Performance Evaluation of Si/</a:t>
            </a:r>
            <a:r>
              <a:rPr lang="en-US" sz="1600" dirty="0" err="1"/>
              <a:t>GaN</a:t>
            </a:r>
            <a:r>
              <a:rPr lang="en-US" sz="1600" dirty="0"/>
              <a:t> Multi-Level Flying Capacitor Inverter for Variable Speed Drive Systems. </a:t>
            </a:r>
            <a:r>
              <a:rPr lang="en-US" sz="1600" i="1" dirty="0"/>
              <a:t>2022 International Conference on Electrical Machines and Systems, ICEMS 2022</a:t>
            </a:r>
            <a:r>
              <a:rPr lang="en-US" sz="1600" dirty="0"/>
              <a:t>, 1–6. </a:t>
            </a:r>
            <a:r>
              <a:rPr lang="en-US" sz="1600" dirty="0">
                <a:hlinkClick r:id="rId2"/>
              </a:rPr>
              <a:t>https://</a:t>
            </a:r>
            <a:r>
              <a:rPr lang="en-US" sz="1600" dirty="0" smtClean="0">
                <a:hlinkClick r:id="rId2"/>
              </a:rPr>
              <a:t>doi.org/10.1109/ICEMS56177.2022.9982999</a:t>
            </a:r>
            <a:endParaRPr lang="en-US" sz="1600" dirty="0" smtClean="0"/>
          </a:p>
          <a:p>
            <a:r>
              <a:rPr lang="sv-SE" sz="1600" dirty="0" err="1"/>
              <a:t>Rohner</a:t>
            </a:r>
            <a:r>
              <a:rPr lang="sv-SE" sz="1600" dirty="0"/>
              <a:t>, G., </a:t>
            </a:r>
            <a:r>
              <a:rPr lang="sv-SE" sz="1600" dirty="0" err="1"/>
              <a:t>Gfrorer</a:t>
            </a:r>
            <a:r>
              <a:rPr lang="sv-SE" sz="1600" dirty="0"/>
              <a:t>, T., </a:t>
            </a:r>
            <a:r>
              <a:rPr lang="sv-SE" sz="1600" dirty="0" err="1"/>
              <a:t>Niklaus</a:t>
            </a:r>
            <a:r>
              <a:rPr lang="sv-SE" sz="1600" dirty="0"/>
              <a:t>, P. S., Huber, J., </a:t>
            </a:r>
            <a:r>
              <a:rPr lang="sv-SE" sz="1600" dirty="0" err="1"/>
              <a:t>Bortis</a:t>
            </a:r>
            <a:r>
              <a:rPr lang="sv-SE" sz="1600" dirty="0"/>
              <a:t>, D., Schweizer, M., &amp; Kolar, J. W. (2023). </a:t>
            </a:r>
            <a:r>
              <a:rPr lang="en-US" sz="1600" dirty="0"/>
              <a:t>Hardware-Based Comparative Analysis of Multilevel Inverter Topologies for Integrated Motor Drives Considering Overload Operation. </a:t>
            </a:r>
            <a:r>
              <a:rPr lang="en-US" sz="1600" i="1" dirty="0"/>
              <a:t>IEEE Open Journal of Power Electronics</a:t>
            </a:r>
            <a:r>
              <a:rPr lang="en-US" sz="1600" dirty="0"/>
              <a:t>, </a:t>
            </a:r>
            <a:r>
              <a:rPr lang="en-US" sz="1600" i="1" dirty="0"/>
              <a:t>4</a:t>
            </a:r>
            <a:r>
              <a:rPr lang="en-US" sz="1600" dirty="0"/>
              <a:t>(August), 934–944. </a:t>
            </a:r>
            <a:r>
              <a:rPr lang="en-US" sz="1600" dirty="0">
                <a:hlinkClick r:id="rId3"/>
              </a:rPr>
              <a:t>https://doi.org/10.1109/OJPEL.2023.3327423</a:t>
            </a:r>
            <a:endParaRPr lang="en-US" sz="1600" dirty="0"/>
          </a:p>
          <a:p>
            <a:r>
              <a:rPr lang="sv-SE" sz="1600" dirty="0" err="1"/>
              <a:t>Rohner</a:t>
            </a:r>
            <a:r>
              <a:rPr lang="sv-SE" sz="1600" dirty="0"/>
              <a:t>, G., Huber, J., </a:t>
            </a:r>
            <a:r>
              <a:rPr lang="sv-SE" sz="1600" dirty="0" err="1"/>
              <a:t>Mirić</a:t>
            </a:r>
            <a:r>
              <a:rPr lang="sv-SE" sz="1600" dirty="0"/>
              <a:t>, S., &amp; Kolar, J. W. (2024). </a:t>
            </a:r>
            <a:r>
              <a:rPr lang="en-US" sz="1600" dirty="0"/>
              <a:t>Comparative Evaluation of Three-Phase Three-Level Flying Capacitor and Stacked </a:t>
            </a:r>
            <a:r>
              <a:rPr lang="en-US" sz="1600" dirty="0" err="1"/>
              <a:t>Polyphase</a:t>
            </a:r>
            <a:r>
              <a:rPr lang="en-US" sz="1600" dirty="0"/>
              <a:t> Bridge </a:t>
            </a:r>
            <a:r>
              <a:rPr lang="en-US" sz="1600" dirty="0" err="1"/>
              <a:t>GaN</a:t>
            </a:r>
            <a:r>
              <a:rPr lang="en-US" sz="1600" dirty="0"/>
              <a:t> Inverter Systems for Integrated Motor Drives. </a:t>
            </a:r>
            <a:r>
              <a:rPr lang="sv-SE" sz="1600" i="1" dirty="0"/>
              <a:t>Electronics (</a:t>
            </a:r>
            <a:r>
              <a:rPr lang="sv-SE" sz="1600" i="1" dirty="0" err="1"/>
              <a:t>Switzerland</a:t>
            </a:r>
            <a:r>
              <a:rPr lang="sv-SE" sz="1600" i="1" dirty="0"/>
              <a:t>)</a:t>
            </a:r>
            <a:r>
              <a:rPr lang="sv-SE" sz="1600" dirty="0"/>
              <a:t>, </a:t>
            </a:r>
            <a:r>
              <a:rPr lang="sv-SE" sz="1600" i="1" dirty="0"/>
              <a:t>13</a:t>
            </a:r>
            <a:r>
              <a:rPr lang="sv-SE" sz="1600" dirty="0"/>
              <a:t>(7). https://doi.org/10.3390/electronics13071259</a:t>
            </a:r>
          </a:p>
          <a:p>
            <a:r>
              <a:rPr lang="en-US" sz="1600" dirty="0" err="1"/>
              <a:t>Rohner</a:t>
            </a:r>
            <a:r>
              <a:rPr lang="en-US" sz="1600" dirty="0"/>
              <a:t>, G., Huber, J., </a:t>
            </a:r>
            <a:r>
              <a:rPr lang="en-US" sz="1600" dirty="0" err="1"/>
              <a:t>Mirić</a:t>
            </a:r>
            <a:r>
              <a:rPr lang="en-US" sz="1600" dirty="0"/>
              <a:t>, S., &amp; Kolar, J. W. (2024). Comparative Evaluation of Three-Phase Three-Level Flying Capacitor and Stacked </a:t>
            </a:r>
            <a:r>
              <a:rPr lang="en-US" sz="1600" dirty="0" err="1"/>
              <a:t>Polyphase</a:t>
            </a:r>
            <a:r>
              <a:rPr lang="en-US" sz="1600" dirty="0"/>
              <a:t> Bridge </a:t>
            </a:r>
            <a:r>
              <a:rPr lang="en-US" sz="1600" dirty="0" err="1"/>
              <a:t>GaN</a:t>
            </a:r>
            <a:r>
              <a:rPr lang="en-US" sz="1600" dirty="0"/>
              <a:t> Inverter Systems for Integrated Motor Drives. </a:t>
            </a:r>
            <a:r>
              <a:rPr lang="en-US" sz="1600" i="1" dirty="0"/>
              <a:t>Electronics (Switzerland)</a:t>
            </a:r>
            <a:r>
              <a:rPr lang="en-US" sz="1600" dirty="0"/>
              <a:t>, </a:t>
            </a:r>
            <a:r>
              <a:rPr lang="en-US" sz="1600" i="1" dirty="0"/>
              <a:t>13</a:t>
            </a:r>
            <a:r>
              <a:rPr lang="en-US" sz="1600" dirty="0"/>
              <a:t>(7). https://doi.org/10.3390/electronics13071259</a:t>
            </a:r>
            <a:endParaRPr lang="sv-SE" sz="1600" dirty="0"/>
          </a:p>
          <a:p>
            <a:r>
              <a:rPr lang="en-US" sz="1600" dirty="0" err="1"/>
              <a:t>Imperiali</a:t>
            </a:r>
            <a:r>
              <a:rPr lang="en-US" sz="1600" dirty="0"/>
              <a:t>, L., </a:t>
            </a:r>
            <a:r>
              <a:rPr lang="en-US" sz="1600" dirty="0" err="1"/>
              <a:t>Menzi</a:t>
            </a:r>
            <a:r>
              <a:rPr lang="en-US" sz="1600" dirty="0"/>
              <a:t>, D., Kolar, J. W., &amp; Huber, J. (2024). Multi-Objective Minimization of Life-Cycle Environmental Impacts of Three-Phase AC-DC Converter Building Blocks. </a:t>
            </a:r>
            <a:r>
              <a:rPr lang="en-US" sz="1600" i="1" dirty="0"/>
              <a:t>Conference Proceedings - IEEE Applied Power Electronics Conference and Exposition - APEC</a:t>
            </a:r>
            <a:r>
              <a:rPr lang="en-US" sz="1600" dirty="0"/>
              <a:t>, 2994–3004. https://doi.org/10.1109/APEC48139.2024.10509190</a:t>
            </a:r>
            <a:endParaRPr lang="sv-SE" sz="1600" dirty="0"/>
          </a:p>
          <a:p>
            <a:r>
              <a:rPr lang="sv-SE" sz="1600" dirty="0"/>
              <a:t>Huber, J., </a:t>
            </a:r>
            <a:r>
              <a:rPr lang="sv-SE" sz="1600" dirty="0" err="1"/>
              <a:t>Imperiali</a:t>
            </a:r>
            <a:r>
              <a:rPr lang="sv-SE" sz="1600" dirty="0"/>
              <a:t>, L., </a:t>
            </a:r>
            <a:r>
              <a:rPr lang="sv-SE" sz="1600" dirty="0" err="1"/>
              <a:t>Menzi</a:t>
            </a:r>
            <a:r>
              <a:rPr lang="sv-SE" sz="1600" dirty="0"/>
              <a:t>, D., </a:t>
            </a:r>
            <a:r>
              <a:rPr lang="sv-SE" sz="1600" dirty="0" err="1"/>
              <a:t>Musil</a:t>
            </a:r>
            <a:r>
              <a:rPr lang="sv-SE" sz="1600" dirty="0"/>
              <a:t>, F., &amp; Kolar, J. W. (2024). </a:t>
            </a:r>
            <a:r>
              <a:rPr lang="en-US" sz="1600" dirty="0"/>
              <a:t>Life-Cycle Carbon Footprints of Low-Voltage Motor Drives with 600-V </a:t>
            </a:r>
            <a:r>
              <a:rPr lang="en-US" sz="1600" dirty="0" err="1"/>
              <a:t>GaN</a:t>
            </a:r>
            <a:r>
              <a:rPr lang="en-US" sz="1600" dirty="0"/>
              <a:t> or 650-V </a:t>
            </a:r>
            <a:r>
              <a:rPr lang="en-US" sz="1600" dirty="0" err="1"/>
              <a:t>SiC</a:t>
            </a:r>
            <a:r>
              <a:rPr lang="en-US" sz="1600" dirty="0"/>
              <a:t> Power Transistors. </a:t>
            </a:r>
            <a:r>
              <a:rPr lang="en-US" sz="1600" i="1" dirty="0"/>
              <a:t>Proceedings of the 13th International E-Conference on Integrated Power Electronics Systems </a:t>
            </a:r>
            <a:r>
              <a:rPr lang="en-US" sz="1600" dirty="0"/>
              <a:t>.</a:t>
            </a:r>
            <a:endParaRPr lang="sv-SE" sz="1600" dirty="0"/>
          </a:p>
          <a:p>
            <a:r>
              <a:rPr lang="sv-SE" sz="1600" dirty="0"/>
              <a:t>Huber, J., </a:t>
            </a:r>
            <a:r>
              <a:rPr lang="sv-SE" sz="1600" dirty="0" err="1"/>
              <a:t>Imperiali</a:t>
            </a:r>
            <a:r>
              <a:rPr lang="sv-SE" sz="1600" dirty="0"/>
              <a:t>, L., </a:t>
            </a:r>
            <a:r>
              <a:rPr lang="sv-SE" sz="1600" dirty="0" err="1"/>
              <a:t>Menzi</a:t>
            </a:r>
            <a:r>
              <a:rPr lang="sv-SE" sz="1600" dirty="0"/>
              <a:t>, D., </a:t>
            </a:r>
            <a:r>
              <a:rPr lang="sv-SE" sz="1600" dirty="0" err="1"/>
              <a:t>Musil</a:t>
            </a:r>
            <a:r>
              <a:rPr lang="sv-SE" sz="1600" dirty="0"/>
              <a:t>, F., &amp; Kolar, J. W. (2024). </a:t>
            </a:r>
            <a:r>
              <a:rPr lang="en-US" sz="1600" dirty="0"/>
              <a:t>Energy Efficiency is Not Enough! </a:t>
            </a:r>
            <a:r>
              <a:rPr lang="en-US" sz="1600" i="1" dirty="0"/>
              <a:t>IEEE Power Electronics Magazine</a:t>
            </a:r>
            <a:r>
              <a:rPr lang="en-US" sz="1600" dirty="0"/>
              <a:t>, </a:t>
            </a:r>
            <a:r>
              <a:rPr lang="en-US" sz="1600" i="1" dirty="0"/>
              <a:t>11</a:t>
            </a:r>
            <a:r>
              <a:rPr lang="en-US" sz="1600" dirty="0"/>
              <a:t>(1), 18–31. https://doi.org/10.1109/MPEL.2024.3354013</a:t>
            </a:r>
            <a:endParaRPr lang="sv-SE" sz="1600" dirty="0"/>
          </a:p>
          <a:p>
            <a:endParaRPr lang="sv-SE" sz="1800" dirty="0"/>
          </a:p>
          <a:p>
            <a:endParaRPr lang="sv-SE" sz="1800" dirty="0"/>
          </a:p>
        </p:txBody>
      </p:sp>
    </p:spTree>
    <p:extLst>
      <p:ext uri="{BB962C8B-B14F-4D97-AF65-F5344CB8AC3E}">
        <p14:creationId xmlns:p14="http://schemas.microsoft.com/office/powerpoint/2010/main" val="38039706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62207"/>
            <a:ext cx="10990263" cy="568412"/>
          </a:xfrm>
        </p:spPr>
        <p:txBody>
          <a:bodyPr/>
          <a:lstStyle/>
          <a:p>
            <a:r>
              <a:rPr lang="en-US" dirty="0" smtClean="0"/>
              <a:t>References</a:t>
            </a:r>
            <a:endParaRPr lang="sv-SE" dirty="0"/>
          </a:p>
        </p:txBody>
      </p:sp>
      <p:sp>
        <p:nvSpPr>
          <p:cNvPr id="3" name="Content Placeholder 2"/>
          <p:cNvSpPr>
            <a:spLocks noGrp="1"/>
          </p:cNvSpPr>
          <p:nvPr>
            <p:ph idx="1"/>
          </p:nvPr>
        </p:nvSpPr>
        <p:spPr>
          <a:xfrm>
            <a:off x="600075" y="1105930"/>
            <a:ext cx="10990263" cy="5220222"/>
          </a:xfrm>
        </p:spPr>
        <p:txBody>
          <a:bodyPr/>
          <a:lstStyle/>
          <a:p>
            <a:r>
              <a:rPr lang="sv-SE" sz="1600" dirty="0" smtClean="0"/>
              <a:t>J</a:t>
            </a:r>
            <a:r>
              <a:rPr lang="sv-SE" sz="1600" dirty="0"/>
              <a:t>. Wang, Y. Li and Y. Han, "</a:t>
            </a:r>
            <a:r>
              <a:rPr lang="sv-SE" sz="1600" dirty="0" err="1"/>
              <a:t>Evaluation</a:t>
            </a:r>
            <a:r>
              <a:rPr lang="sv-SE" sz="1600" dirty="0"/>
              <a:t> and design for an </a:t>
            </a:r>
            <a:r>
              <a:rPr lang="sv-SE" sz="1600" dirty="0" err="1"/>
              <a:t>integrated</a:t>
            </a:r>
            <a:r>
              <a:rPr lang="sv-SE" sz="1600" dirty="0"/>
              <a:t> </a:t>
            </a:r>
            <a:r>
              <a:rPr lang="sv-SE" sz="1600" dirty="0" err="1"/>
              <a:t>modular</a:t>
            </a:r>
            <a:r>
              <a:rPr lang="sv-SE" sz="1600" dirty="0"/>
              <a:t> motor drive (IMMD) </a:t>
            </a:r>
            <a:r>
              <a:rPr lang="sv-SE" sz="1600" dirty="0" err="1"/>
              <a:t>with</a:t>
            </a:r>
            <a:r>
              <a:rPr lang="sv-SE" sz="1600" dirty="0"/>
              <a:t> </a:t>
            </a:r>
            <a:r>
              <a:rPr lang="sv-SE" sz="1600" dirty="0" err="1"/>
              <a:t>GaN</a:t>
            </a:r>
            <a:r>
              <a:rPr lang="sv-SE" sz="1600" dirty="0"/>
              <a:t> </a:t>
            </a:r>
            <a:r>
              <a:rPr lang="sv-SE" sz="1600" dirty="0" err="1"/>
              <a:t>devices</a:t>
            </a:r>
            <a:r>
              <a:rPr lang="sv-SE" sz="1600" dirty="0"/>
              <a:t>," 2013 IEEE Energy </a:t>
            </a:r>
            <a:r>
              <a:rPr lang="sv-SE" sz="1600" dirty="0" err="1"/>
              <a:t>Conversion</a:t>
            </a:r>
            <a:r>
              <a:rPr lang="sv-SE" sz="1600" dirty="0"/>
              <a:t> Congress and Exposition, Denver, CO, USA, 2013, </a:t>
            </a:r>
            <a:r>
              <a:rPr lang="sv-SE" sz="1600" dirty="0" err="1"/>
              <a:t>pp</a:t>
            </a:r>
            <a:r>
              <a:rPr lang="sv-SE" sz="1600" dirty="0"/>
              <a:t>. 4318-4325, </a:t>
            </a:r>
            <a:r>
              <a:rPr lang="sv-SE" sz="1600" dirty="0" err="1"/>
              <a:t>doi</a:t>
            </a:r>
            <a:r>
              <a:rPr lang="sv-SE" sz="1600" dirty="0"/>
              <a:t>: 10.1109/ECCE.2013.6647278. </a:t>
            </a:r>
            <a:endParaRPr lang="sv-SE" sz="1600" dirty="0" smtClean="0"/>
          </a:p>
          <a:p>
            <a:r>
              <a:rPr lang="sv-SE" sz="1600" dirty="0" smtClean="0"/>
              <a:t>J</a:t>
            </a:r>
            <a:r>
              <a:rPr lang="sv-SE" sz="1600" dirty="0"/>
              <a:t>. Wang and Y. Han, "A new </a:t>
            </a:r>
            <a:r>
              <a:rPr lang="sv-SE" sz="1600" dirty="0" err="1"/>
              <a:t>concept</a:t>
            </a:r>
            <a:r>
              <a:rPr lang="sv-SE" sz="1600" dirty="0"/>
              <a:t> </a:t>
            </a:r>
            <a:r>
              <a:rPr lang="sv-SE" sz="1600" dirty="0" err="1"/>
              <a:t>of</a:t>
            </a:r>
            <a:r>
              <a:rPr lang="sv-SE" sz="1600" dirty="0"/>
              <a:t> </a:t>
            </a:r>
            <a:r>
              <a:rPr lang="sv-SE" sz="1600" dirty="0" err="1"/>
              <a:t>multilevel</a:t>
            </a:r>
            <a:r>
              <a:rPr lang="sv-SE" sz="1600" dirty="0"/>
              <a:t> </a:t>
            </a:r>
            <a:r>
              <a:rPr lang="sv-SE" sz="1600" dirty="0" err="1"/>
              <a:t>converter</a:t>
            </a:r>
            <a:r>
              <a:rPr lang="sv-SE" sz="1600" dirty="0"/>
              <a:t> motor drive </a:t>
            </a:r>
            <a:r>
              <a:rPr lang="sv-SE" sz="1600" dirty="0" err="1"/>
              <a:t>with</a:t>
            </a:r>
            <a:r>
              <a:rPr lang="sv-SE" sz="1600" dirty="0"/>
              <a:t> </a:t>
            </a:r>
            <a:r>
              <a:rPr lang="sv-SE" sz="1600" dirty="0" err="1"/>
              <a:t>modular</a:t>
            </a:r>
            <a:r>
              <a:rPr lang="sv-SE" sz="1600" dirty="0"/>
              <a:t> design and split </a:t>
            </a:r>
            <a:r>
              <a:rPr lang="sv-SE" sz="1600" dirty="0" err="1"/>
              <a:t>winding</a:t>
            </a:r>
            <a:r>
              <a:rPr lang="sv-SE" sz="1600" dirty="0"/>
              <a:t> </a:t>
            </a:r>
            <a:r>
              <a:rPr lang="sv-SE" sz="1600" dirty="0" err="1"/>
              <a:t>machine</a:t>
            </a:r>
            <a:r>
              <a:rPr lang="sv-SE" sz="1600" dirty="0"/>
              <a:t>," 2014 Power and Energy Conference at Illinois (PECI), </a:t>
            </a:r>
            <a:r>
              <a:rPr lang="sv-SE" sz="1600" dirty="0" err="1"/>
              <a:t>Champaign</a:t>
            </a:r>
            <a:r>
              <a:rPr lang="sv-SE" sz="1600" dirty="0"/>
              <a:t>, IL, USA, 2014, </a:t>
            </a:r>
            <a:r>
              <a:rPr lang="sv-SE" sz="1600" dirty="0" err="1"/>
              <a:t>pp</a:t>
            </a:r>
            <a:r>
              <a:rPr lang="sv-SE" sz="1600" dirty="0"/>
              <a:t>. 1-6, </a:t>
            </a:r>
            <a:r>
              <a:rPr lang="sv-SE" sz="1600" dirty="0" err="1"/>
              <a:t>doi</a:t>
            </a:r>
            <a:r>
              <a:rPr lang="sv-SE" sz="1600" dirty="0"/>
              <a:t>: 10.1109/PECI.2014.6804550. </a:t>
            </a:r>
            <a:r>
              <a:rPr lang="sv-SE" sz="1600" dirty="0" smtClean="0"/>
              <a:t>J</a:t>
            </a:r>
            <a:r>
              <a:rPr lang="sv-SE" sz="1600" dirty="0"/>
              <a:t>. Wang and Y. Han, "A </a:t>
            </a:r>
            <a:r>
              <a:rPr lang="sv-SE" sz="1600" dirty="0" err="1"/>
              <a:t>class</a:t>
            </a:r>
            <a:r>
              <a:rPr lang="sv-SE" sz="1600" dirty="0"/>
              <a:t> </a:t>
            </a:r>
            <a:r>
              <a:rPr lang="sv-SE" sz="1600" dirty="0" err="1"/>
              <a:t>of</a:t>
            </a:r>
            <a:r>
              <a:rPr lang="sv-SE" sz="1600" dirty="0"/>
              <a:t> </a:t>
            </a:r>
            <a:r>
              <a:rPr lang="sv-SE" sz="1600" dirty="0" err="1"/>
              <a:t>modular</a:t>
            </a:r>
            <a:r>
              <a:rPr lang="sv-SE" sz="1600" dirty="0"/>
              <a:t> </a:t>
            </a:r>
            <a:r>
              <a:rPr lang="sv-SE" sz="1600" dirty="0" err="1"/>
              <a:t>multilevel</a:t>
            </a:r>
            <a:r>
              <a:rPr lang="sv-SE" sz="1600" dirty="0"/>
              <a:t> motor drives </a:t>
            </a:r>
            <a:r>
              <a:rPr lang="sv-SE" sz="1600" dirty="0" err="1"/>
              <a:t>with</a:t>
            </a:r>
            <a:r>
              <a:rPr lang="sv-SE" sz="1600" dirty="0"/>
              <a:t> design </a:t>
            </a:r>
            <a:r>
              <a:rPr lang="sv-SE" sz="1600" dirty="0" err="1"/>
              <a:t>flexibility</a:t>
            </a:r>
            <a:r>
              <a:rPr lang="sv-SE" sz="1600" dirty="0"/>
              <a:t> and </a:t>
            </a:r>
            <a:r>
              <a:rPr lang="sv-SE" sz="1600" dirty="0" err="1"/>
              <a:t>reduced</a:t>
            </a:r>
            <a:r>
              <a:rPr lang="sv-SE" sz="1600" dirty="0"/>
              <a:t> </a:t>
            </a:r>
            <a:r>
              <a:rPr lang="sv-SE" sz="1600" dirty="0" err="1"/>
              <a:t>components</a:t>
            </a:r>
            <a:r>
              <a:rPr lang="sv-SE" sz="1600" dirty="0"/>
              <a:t> </a:t>
            </a:r>
            <a:r>
              <a:rPr lang="sv-SE" sz="1600" dirty="0" err="1"/>
              <a:t>number</a:t>
            </a:r>
            <a:r>
              <a:rPr lang="sv-SE" sz="1600" dirty="0"/>
              <a:t>," 2015 IEEE </a:t>
            </a:r>
            <a:r>
              <a:rPr lang="sv-SE" sz="1600" dirty="0" err="1"/>
              <a:t>Applied</a:t>
            </a:r>
            <a:r>
              <a:rPr lang="sv-SE" sz="1600" dirty="0"/>
              <a:t> Power Electronics Conference and Exposition (APEC), Charlotte, NC, USA, 2015, </a:t>
            </a:r>
            <a:r>
              <a:rPr lang="sv-SE" sz="1600" dirty="0" err="1"/>
              <a:t>pp</a:t>
            </a:r>
            <a:r>
              <a:rPr lang="sv-SE" sz="1600" dirty="0"/>
              <a:t>. 2387-2393, </a:t>
            </a:r>
            <a:r>
              <a:rPr lang="sv-SE" sz="1600" dirty="0" err="1"/>
              <a:t>doi</a:t>
            </a:r>
            <a:r>
              <a:rPr lang="sv-SE" sz="1600" dirty="0"/>
              <a:t>: 10.1109/APEC.2015.7104682. </a:t>
            </a:r>
            <a:r>
              <a:rPr lang="en-US" sz="1600" dirty="0" smtClean="0"/>
              <a:t>Design </a:t>
            </a:r>
            <a:r>
              <a:rPr lang="en-US" sz="1600" dirty="0"/>
              <a:t>of Multilevel Integrated Modular Motor Drive </a:t>
            </a:r>
            <a:r>
              <a:rPr lang="en-US" sz="1600" dirty="0" err="1"/>
              <a:t>withGallium</a:t>
            </a:r>
            <a:r>
              <a:rPr lang="en-US" sz="1600" dirty="0"/>
              <a:t> Nitride Power Devices, </a:t>
            </a:r>
            <a:r>
              <a:rPr lang="en-US" sz="1600" dirty="0" err="1"/>
              <a:t>Jiyao</a:t>
            </a:r>
            <a:r>
              <a:rPr lang="en-US" sz="1600" dirty="0"/>
              <a:t> </a:t>
            </a:r>
            <a:r>
              <a:rPr lang="en-US" sz="1600" dirty="0" smtClean="0"/>
              <a:t>Wang</a:t>
            </a:r>
          </a:p>
          <a:p>
            <a:r>
              <a:rPr lang="sv-SE" sz="1600" dirty="0"/>
              <a:t>H. Zhang, O. Wallmark, M. Leksell, S. Norrga, M. N. </a:t>
            </a:r>
            <a:r>
              <a:rPr lang="sv-SE" sz="1600" dirty="0" err="1"/>
              <a:t>Harnefors</a:t>
            </a:r>
            <a:r>
              <a:rPr lang="sv-SE" sz="1600" dirty="0"/>
              <a:t> and L. </a:t>
            </a:r>
            <a:r>
              <a:rPr lang="sv-SE" sz="1600" dirty="0" err="1"/>
              <a:t>Jin</a:t>
            </a:r>
            <a:r>
              <a:rPr lang="sv-SE" sz="1600" dirty="0"/>
              <a:t>, "</a:t>
            </a:r>
            <a:r>
              <a:rPr lang="sv-SE" sz="1600" dirty="0" err="1"/>
              <a:t>Machine</a:t>
            </a:r>
            <a:r>
              <a:rPr lang="sv-SE" sz="1600" dirty="0"/>
              <a:t> design </a:t>
            </a:r>
            <a:r>
              <a:rPr lang="sv-SE" sz="1600" dirty="0" err="1"/>
              <a:t>considerations</a:t>
            </a:r>
            <a:r>
              <a:rPr lang="sv-SE" sz="1600" dirty="0"/>
              <a:t> for an MHF/SPB-</a:t>
            </a:r>
            <a:r>
              <a:rPr lang="sv-SE" sz="1600" dirty="0" err="1"/>
              <a:t>converter</a:t>
            </a:r>
            <a:r>
              <a:rPr lang="sv-SE" sz="1600" dirty="0"/>
              <a:t> </a:t>
            </a:r>
            <a:r>
              <a:rPr lang="sv-SE" sz="1600" dirty="0" err="1"/>
              <a:t>based</a:t>
            </a:r>
            <a:r>
              <a:rPr lang="sv-SE" sz="1600" dirty="0"/>
              <a:t> </a:t>
            </a:r>
            <a:r>
              <a:rPr lang="sv-SE" sz="1600" dirty="0" err="1"/>
              <a:t>electric</a:t>
            </a:r>
            <a:r>
              <a:rPr lang="sv-SE" sz="1600" dirty="0"/>
              <a:t> drive," IECON 2014 - 40th </a:t>
            </a:r>
            <a:r>
              <a:rPr lang="sv-SE" sz="1600" dirty="0" err="1"/>
              <a:t>Annual</a:t>
            </a:r>
            <a:r>
              <a:rPr lang="sv-SE" sz="1600" dirty="0"/>
              <a:t> Conference </a:t>
            </a:r>
            <a:r>
              <a:rPr lang="sv-SE" sz="1600" dirty="0" err="1"/>
              <a:t>of</a:t>
            </a:r>
            <a:r>
              <a:rPr lang="sv-SE" sz="1600" dirty="0"/>
              <a:t> the IEEE Industrial Electronics </a:t>
            </a:r>
            <a:r>
              <a:rPr lang="sv-SE" sz="1600" dirty="0" err="1"/>
              <a:t>Society</a:t>
            </a:r>
            <a:r>
              <a:rPr lang="sv-SE" sz="1600" dirty="0"/>
              <a:t>, Dallas, TX, USA, 2014, </a:t>
            </a:r>
            <a:r>
              <a:rPr lang="sv-SE" sz="1600" dirty="0" err="1"/>
              <a:t>pp</a:t>
            </a:r>
            <a:r>
              <a:rPr lang="sv-SE" sz="1600" dirty="0"/>
              <a:t>. 3849-3854, </a:t>
            </a:r>
            <a:r>
              <a:rPr lang="sv-SE" sz="1600" dirty="0" err="1"/>
              <a:t>doi</a:t>
            </a:r>
            <a:r>
              <a:rPr lang="sv-SE" sz="1600" dirty="0"/>
              <a:t>: 10.1109/IECON.2014.7049074. </a:t>
            </a:r>
          </a:p>
          <a:p>
            <a:r>
              <a:rPr lang="sv-SE" sz="1600" dirty="0" smtClean="0"/>
              <a:t>L</a:t>
            </a:r>
            <a:r>
              <a:rPr lang="sv-SE" sz="1600" dirty="0"/>
              <a:t>. </a:t>
            </a:r>
            <a:r>
              <a:rPr lang="sv-SE" sz="1600" dirty="0" err="1"/>
              <a:t>Jin</a:t>
            </a:r>
            <a:r>
              <a:rPr lang="sv-SE" sz="1600" dirty="0"/>
              <a:t>, S. Norrga, H. Zhang and O. Wallmark, "</a:t>
            </a:r>
            <a:r>
              <a:rPr lang="sv-SE" sz="1600" dirty="0" err="1"/>
              <a:t>Evaluation</a:t>
            </a:r>
            <a:r>
              <a:rPr lang="sv-SE" sz="1600" dirty="0"/>
              <a:t> </a:t>
            </a:r>
            <a:r>
              <a:rPr lang="sv-SE" sz="1600" dirty="0" err="1"/>
              <a:t>of</a:t>
            </a:r>
            <a:r>
              <a:rPr lang="sv-SE" sz="1600" dirty="0"/>
              <a:t> a </a:t>
            </a:r>
            <a:r>
              <a:rPr lang="sv-SE" sz="1600" dirty="0" err="1"/>
              <a:t>multiphase</a:t>
            </a:r>
            <a:r>
              <a:rPr lang="sv-SE" sz="1600" dirty="0"/>
              <a:t> drive system in EV and HEV </a:t>
            </a:r>
            <a:r>
              <a:rPr lang="sv-SE" sz="1600" dirty="0" err="1"/>
              <a:t>applications</a:t>
            </a:r>
            <a:r>
              <a:rPr lang="sv-SE" sz="1600" dirty="0"/>
              <a:t>," 2015 IEEE International Electric Machines &amp; Drives Conference (IEMDC), Coeur </a:t>
            </a:r>
            <a:r>
              <a:rPr lang="sv-SE" sz="1600" dirty="0" err="1"/>
              <a:t>d'Alene</a:t>
            </a:r>
            <a:r>
              <a:rPr lang="sv-SE" sz="1600" dirty="0"/>
              <a:t>, ID, USA, 2015, </a:t>
            </a:r>
            <a:r>
              <a:rPr lang="sv-SE" sz="1600" dirty="0" err="1"/>
              <a:t>pp</a:t>
            </a:r>
            <a:r>
              <a:rPr lang="sv-SE" sz="1600" dirty="0"/>
              <a:t>. 941-945, </a:t>
            </a:r>
            <a:r>
              <a:rPr lang="sv-SE" sz="1600" dirty="0" err="1"/>
              <a:t>doi</a:t>
            </a:r>
            <a:r>
              <a:rPr lang="sv-SE" sz="1600" dirty="0"/>
              <a:t>: 10.1109/IEMDC.2015.7409174. </a:t>
            </a:r>
          </a:p>
          <a:p>
            <a:r>
              <a:rPr lang="sv-SE" sz="1600" dirty="0"/>
              <a:t>H. Zhang and O. Wallmark, "</a:t>
            </a:r>
            <a:r>
              <a:rPr lang="sv-SE" sz="1600" dirty="0" err="1"/>
              <a:t>Evaluation</a:t>
            </a:r>
            <a:r>
              <a:rPr lang="sv-SE" sz="1600" dirty="0"/>
              <a:t> </a:t>
            </a:r>
            <a:r>
              <a:rPr lang="sv-SE" sz="1600" dirty="0" err="1"/>
              <a:t>of</a:t>
            </a:r>
            <a:r>
              <a:rPr lang="sv-SE" sz="1600" dirty="0"/>
              <a:t> </a:t>
            </a:r>
            <a:r>
              <a:rPr lang="sv-SE" sz="1600" dirty="0" err="1"/>
              <a:t>winding</a:t>
            </a:r>
            <a:r>
              <a:rPr lang="sv-SE" sz="1600" dirty="0"/>
              <a:t> arrangements in </a:t>
            </a:r>
            <a:r>
              <a:rPr lang="sv-SE" sz="1600" dirty="0" err="1"/>
              <a:t>electric</a:t>
            </a:r>
            <a:r>
              <a:rPr lang="sv-SE" sz="1600" dirty="0"/>
              <a:t> </a:t>
            </a:r>
            <a:r>
              <a:rPr lang="sv-SE" sz="1600" dirty="0" err="1"/>
              <a:t>machinery</a:t>
            </a:r>
            <a:r>
              <a:rPr lang="sv-SE" sz="1600" dirty="0"/>
              <a:t> for </a:t>
            </a:r>
            <a:r>
              <a:rPr lang="sv-SE" sz="1600" dirty="0" err="1"/>
              <a:t>modular</a:t>
            </a:r>
            <a:r>
              <a:rPr lang="sv-SE" sz="1600" dirty="0"/>
              <a:t> </a:t>
            </a:r>
            <a:r>
              <a:rPr lang="sv-SE" sz="1600" dirty="0" err="1"/>
              <a:t>electric</a:t>
            </a:r>
            <a:r>
              <a:rPr lang="sv-SE" sz="1600" dirty="0"/>
              <a:t> drives," 2016 IEEE 8th International Power Electronics and Motion Control Conference (IPEMC-ECCE </a:t>
            </a:r>
            <a:r>
              <a:rPr lang="sv-SE" sz="1600" dirty="0" err="1"/>
              <a:t>Asia</a:t>
            </a:r>
            <a:r>
              <a:rPr lang="sv-SE" sz="1600" dirty="0"/>
              <a:t>), Hefei, China, 2016, </a:t>
            </a:r>
            <a:r>
              <a:rPr lang="sv-SE" sz="1600" dirty="0" err="1"/>
              <a:t>pp</a:t>
            </a:r>
            <a:r>
              <a:rPr lang="sv-SE" sz="1600" dirty="0"/>
              <a:t>. 2820-2825, </a:t>
            </a:r>
            <a:r>
              <a:rPr lang="sv-SE" sz="1600" dirty="0" err="1"/>
              <a:t>doi</a:t>
            </a:r>
            <a:r>
              <a:rPr lang="sv-SE" sz="1600" dirty="0"/>
              <a:t>: 10.1109/IPEMC.2016.7512744. </a:t>
            </a:r>
          </a:p>
          <a:p>
            <a:endParaRPr lang="sv-SE" sz="1600" dirty="0"/>
          </a:p>
          <a:p>
            <a:endParaRPr lang="sv-SE" sz="1600" dirty="0"/>
          </a:p>
          <a:p>
            <a:endParaRPr lang="sv-SE" sz="1600" dirty="0"/>
          </a:p>
          <a:p>
            <a:endParaRPr lang="sv-SE" sz="1800" dirty="0"/>
          </a:p>
          <a:p>
            <a:endParaRPr lang="sv-SE" sz="1800" dirty="0"/>
          </a:p>
        </p:txBody>
      </p:sp>
    </p:spTree>
    <p:extLst>
      <p:ext uri="{BB962C8B-B14F-4D97-AF65-F5344CB8AC3E}">
        <p14:creationId xmlns:p14="http://schemas.microsoft.com/office/powerpoint/2010/main" val="7708443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8157</TotalTime>
  <Words>2665</Words>
  <Application>Microsoft Office PowerPoint</Application>
  <PresentationFormat>Widescreen</PresentationFormat>
  <Paragraphs>187</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Figtree (Body)</vt:lpstr>
      <vt:lpstr>Calibri</vt:lpstr>
      <vt:lpstr>Figtree</vt:lpstr>
      <vt:lpstr>Times New Roman</vt:lpstr>
      <vt:lpstr>Cambria Math</vt:lpstr>
      <vt:lpstr>Arial</vt:lpstr>
      <vt:lpstr>Office-tema</vt:lpstr>
      <vt:lpstr>What has been done?</vt:lpstr>
      <vt:lpstr>Papers</vt:lpstr>
      <vt:lpstr>Papers </vt:lpstr>
      <vt:lpstr>Patent Application</vt:lpstr>
      <vt:lpstr>Other Studies and Plans</vt:lpstr>
      <vt:lpstr>Other Studies and Plans</vt:lpstr>
      <vt:lpstr>Multi-Objective Optimization of Traction Inverters for Electric Trucks Considering Environmental Impacts</vt:lpstr>
      <vt:lpstr>Introduction &amp; Motivation</vt:lpstr>
      <vt:lpstr>Challenges</vt:lpstr>
      <vt:lpstr>Research Problem &amp; Objectives</vt:lpstr>
      <vt:lpstr>Adopted Methodology</vt:lpstr>
      <vt:lpstr>Application to Traction Inverters</vt:lpstr>
      <vt:lpstr>Expected Scientific Contributions</vt:lpstr>
      <vt:lpstr>Expected Results</vt:lpstr>
      <vt:lpstr>Impact</vt:lpstr>
      <vt:lpstr>Topologies– 2 Level or Multilevel VSIs</vt:lpstr>
      <vt:lpstr>Topologies– SPB or PPB to Introduce Modularity</vt:lpstr>
      <vt:lpstr>References</vt:lpstr>
      <vt:lpstr>References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183</cp:revision>
  <dcterms:created xsi:type="dcterms:W3CDTF">2024-01-10T13:17:29Z</dcterms:created>
  <dcterms:modified xsi:type="dcterms:W3CDTF">2024-10-18T14:05:06Z</dcterms:modified>
</cp:coreProperties>
</file>