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9" r:id="rId2"/>
    <p:sldId id="300" r:id="rId3"/>
    <p:sldId id="305" r:id="rId4"/>
    <p:sldId id="324" r:id="rId5"/>
    <p:sldId id="317" r:id="rId6"/>
    <p:sldId id="321" r:id="rId7"/>
  </p:sldIdLst>
  <p:sldSz cx="9144000" cy="5143500" type="screen16x9"/>
  <p:notesSz cx="6858000" cy="9144000"/>
  <p:defaultTextStyle>
    <a:defPPr>
      <a:defRPr lang="sv-S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50" autoAdjust="0"/>
    <p:restoredTop sz="94660"/>
  </p:normalViewPr>
  <p:slideViewPr>
    <p:cSldViewPr>
      <p:cViewPr varScale="1">
        <p:scale>
          <a:sx n="216" d="100"/>
          <a:sy n="216" d="100"/>
        </p:scale>
        <p:origin x="3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2" d="100"/>
          <a:sy n="92" d="100"/>
        </p:scale>
        <p:origin x="279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8641E886-6D8F-4DA2-898A-00B1EAE1AC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EDFE6A-05C8-4F6B-BA8A-F497180174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3AE95-3DFC-4DDB-A7BB-B9BF94A03429}" type="datetimeFigureOut">
              <a:rPr lang="sv-SE" smtClean="0"/>
              <a:t>2024-05-08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AE70C2B-4AA1-47BF-94B9-F7DF59FCFC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ED3EF666-D1D2-478D-9969-E1DE1FE2D0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6AD15-F18B-494F-8904-C45D7BCBE60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675942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8539D3-FAF3-FC43-8825-CC8C9D4686B2}" type="datetimeFigureOut">
              <a:rPr lang="sv-SE" smtClean="0"/>
              <a:t>2024-05-08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3B8005-7BF2-4B40-A831-B1EE96BFE5D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98434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42CF517-9DD4-421C-AE14-6B4A4453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B926A-213D-3B48-BB0C-19ADA28B3F4D}" type="datetime1">
              <a:rPr lang="sv-SE" smtClean="0"/>
              <a:t>2024-05-08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E3CD4D9-900F-4086-81FD-AB6606D8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28E8603-97F6-448F-AF1B-7D33D8C75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t>‹#›</a:t>
            </a:fld>
            <a:endParaRPr lang="sv-SE"/>
          </a:p>
        </p:txBody>
      </p:sp>
      <p:sp>
        <p:nvSpPr>
          <p:cNvPr id="24" name="Rubrik 1">
            <a:extLst>
              <a:ext uri="{FF2B5EF4-FFF2-40B4-BE49-F238E27FC236}">
                <a16:creationId xmlns:a16="http://schemas.microsoft.com/office/drawing/2014/main" id="{2973C368-F8A4-41B1-9D52-4D7998813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7928" y="1390867"/>
            <a:ext cx="8090297" cy="566641"/>
          </a:xfrm>
        </p:spPr>
        <p:txBody>
          <a:bodyPr anchor="t"/>
          <a:lstStyle>
            <a:lvl1pPr algn="l">
              <a:defRPr sz="2700"/>
            </a:lvl1pPr>
          </a:lstStyle>
          <a:p>
            <a:r>
              <a:rPr lang="en-US" smtClean="0"/>
              <a:t>Click to edit Master title style</a:t>
            </a:r>
            <a:endParaRPr lang="sv-SE" dirty="0"/>
          </a:p>
        </p:txBody>
      </p:sp>
      <p:sp>
        <p:nvSpPr>
          <p:cNvPr id="25" name="Underrubrik 2">
            <a:extLst>
              <a:ext uri="{FF2B5EF4-FFF2-40B4-BE49-F238E27FC236}">
                <a16:creationId xmlns:a16="http://schemas.microsoft.com/office/drawing/2014/main" id="{040AB90C-B2A7-4284-98E0-80DAE0A2CD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928" y="1974952"/>
            <a:ext cx="8090297" cy="596798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sv-SE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83F7B48-BB86-D74E-A1EB-2C3CDBAC7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r="700"/>
          <a:stretch/>
        </p:blipFill>
        <p:spPr>
          <a:xfrm>
            <a:off x="246063" y="2559025"/>
            <a:ext cx="8650292" cy="244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91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18E66E3-BED5-4C6D-B465-40B84B88D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7928" y="1390867"/>
            <a:ext cx="8090297" cy="566641"/>
          </a:xfrm>
        </p:spPr>
        <p:txBody>
          <a:bodyPr anchor="t"/>
          <a:lstStyle>
            <a:lvl1pPr algn="l">
              <a:defRPr sz="2700"/>
            </a:lvl1pPr>
          </a:lstStyle>
          <a:p>
            <a:r>
              <a:rPr lang="en-US" smtClean="0"/>
              <a:t>Click to edit Master title style</a:t>
            </a:r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FF22D944-0354-4DCD-8334-3FC7C9FFC9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928" y="1974952"/>
            <a:ext cx="8090297" cy="596798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42CF517-9DD4-421C-AE14-6B4A4453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EF508-B04A-E34A-80DD-59A12C5D1039}" type="datetime1">
              <a:rPr lang="sv-SE" smtClean="0"/>
              <a:t>2024-05-08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E3CD4D9-900F-4086-81FD-AB6606D8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28E8603-97F6-448F-AF1B-7D33D8C75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t>‹#›</a:t>
            </a:fld>
            <a:endParaRPr lang="sv-SE"/>
          </a:p>
        </p:txBody>
      </p:sp>
      <p:pic>
        <p:nvPicPr>
          <p:cNvPr id="9" name="Bildobjekt 19">
            <a:extLst>
              <a:ext uri="{FF2B5EF4-FFF2-40B4-BE49-F238E27FC236}">
                <a16:creationId xmlns:a16="http://schemas.microsoft.com/office/drawing/2014/main" id="{D08EEA80-13E5-4697-A9DA-21277742FA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26476" y="333641"/>
            <a:ext cx="1287722" cy="205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50A1F01-262A-6542-96F8-9345B6213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r="700"/>
          <a:stretch/>
        </p:blipFill>
        <p:spPr>
          <a:xfrm>
            <a:off x="246063" y="2559025"/>
            <a:ext cx="8650292" cy="244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EB0B6BB-AC5F-485A-85BA-F56E433C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69A48BD2-8B5B-44E1-8F6C-9B0D41A68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3F4D8-4BE6-D743-AE27-D14757A6F270}" type="datetime1">
              <a:rPr lang="sv-SE" smtClean="0"/>
              <a:t>2024-05-08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21B72178-9B2F-45A7-A31E-7710591B0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155F99B-B767-4EF4-BDED-E7E361EB3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FA474A84-82A6-4747-B64B-83217A0CB5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31888" y="1194198"/>
            <a:ext cx="7765653" cy="3540919"/>
          </a:xfrm>
        </p:spPr>
        <p:txBody>
          <a:bodyPr>
            <a:normAutofit/>
          </a:bodyPr>
          <a:lstStyle>
            <a:lvl1pPr>
              <a:defRPr sz="1500"/>
            </a:lvl1pPr>
            <a:lvl2pPr marL="514350" indent="-171450">
              <a:buFont typeface="Arial" panose="020B0604020202020204" pitchFamily="34" charset="0"/>
              <a:buChar char="‒"/>
              <a:defRPr sz="1350"/>
            </a:lvl2pPr>
            <a:lvl3pPr marL="857250" indent="-171450">
              <a:buFont typeface="Arial" panose="020B0604020202020204" pitchFamily="34" charset="0"/>
              <a:buChar char="˃"/>
              <a:defRPr sz="1200"/>
            </a:lvl3pPr>
            <a:lvl4pPr>
              <a:defRPr sz="1050"/>
            </a:lvl4pPr>
            <a:lvl5pPr marL="1543050" indent="-171450">
              <a:buFont typeface="Arial" panose="020B0604020202020204" pitchFamily="34" charset="0"/>
              <a:buChar char="‒"/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27327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två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C966D54-57EE-458D-979F-B857F348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63559-229D-724F-BBD5-623E582CF5C1}" type="datetime1">
              <a:rPr lang="sv-SE" smtClean="0"/>
              <a:t>2024-05-08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C0D5306-1C16-4D96-8016-0B45E724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579ABBA-285A-4BDD-A8DE-D7E2326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1" name="Platshållare för innehåll 6">
            <a:extLst>
              <a:ext uri="{FF2B5EF4-FFF2-40B4-BE49-F238E27FC236}">
                <a16:creationId xmlns:a16="http://schemas.microsoft.com/office/drawing/2014/main" id="{C23E0C61-4086-4E9E-9765-C96613FBE58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3244" y="1193800"/>
            <a:ext cx="3794694" cy="3540919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12" name="Platshållare för innehåll 6">
            <a:extLst>
              <a:ext uri="{FF2B5EF4-FFF2-40B4-BE49-F238E27FC236}">
                <a16:creationId xmlns:a16="http://schemas.microsoft.com/office/drawing/2014/main" id="{F4B1B781-8A23-4309-9884-DD6E3CE0EF2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131888" y="1194594"/>
            <a:ext cx="3794694" cy="3540919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6" name="Rubrik 5">
            <a:extLst>
              <a:ext uri="{FF2B5EF4-FFF2-40B4-BE49-F238E27FC236}">
                <a16:creationId xmlns:a16="http://schemas.microsoft.com/office/drawing/2014/main" id="{41903042-6CE8-4286-847C-7E810AF5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4158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underrubriker och två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945529D-785A-43B8-8CB0-BF49CF7DD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C966D54-57EE-458D-979F-B857F348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F60D0-FE42-A248-8A54-F26FEA948759}" type="datetime1">
              <a:rPr lang="sv-SE" smtClean="0"/>
              <a:t>2024-05-08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C0D5306-1C16-4D96-8016-0B45E724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579ABBA-285A-4BDD-A8DE-D7E2326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8" name="Platshållare för innehåll 6">
            <a:extLst>
              <a:ext uri="{FF2B5EF4-FFF2-40B4-BE49-F238E27FC236}">
                <a16:creationId xmlns:a16="http://schemas.microsoft.com/office/drawing/2014/main" id="{6304BE55-467D-4CE2-9B8D-EC038C989AF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3244" y="1664494"/>
            <a:ext cx="3794297" cy="3070622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12" name="Platshållare för text 10">
            <a:extLst>
              <a:ext uri="{FF2B5EF4-FFF2-40B4-BE49-F238E27FC236}">
                <a16:creationId xmlns:a16="http://schemas.microsoft.com/office/drawing/2014/main" id="{4D066E04-C797-4C85-AD05-F6EFD42AED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03244" y="1194197"/>
            <a:ext cx="3794297" cy="398859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Platshållare för innehåll 6">
            <a:extLst>
              <a:ext uri="{FF2B5EF4-FFF2-40B4-BE49-F238E27FC236}">
                <a16:creationId xmlns:a16="http://schemas.microsoft.com/office/drawing/2014/main" id="{20A69851-5F12-40D3-A417-2DCD7530A5F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136220" y="1664494"/>
            <a:ext cx="3792153" cy="3070622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14" name="Platshållare för text 10">
            <a:extLst>
              <a:ext uri="{FF2B5EF4-FFF2-40B4-BE49-F238E27FC236}">
                <a16:creationId xmlns:a16="http://schemas.microsoft.com/office/drawing/2014/main" id="{9472B11D-1B06-4AB9-A788-CEFECBDC8E1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36220" y="1194197"/>
            <a:ext cx="3792153" cy="398859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0452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8A04EEF-7713-4918-A58B-127EED1C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1421C8-A909-4498-9C65-2C4F1875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7D9E-CD1D-F144-88A8-27D2C4D672B1}" type="datetime1">
              <a:rPr lang="sv-SE" smtClean="0"/>
              <a:t>2024-05-08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98402AB-3C0D-47F3-B526-AEE8B976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9E1C101-21B3-4DE8-ACC8-96D836B9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FECDBECF-4709-417A-8783-E9CAB0603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6460" y="1194198"/>
            <a:ext cx="8651081" cy="3540919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5339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två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8A04EEF-7713-4918-A58B-127EED1C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1421C8-A909-4498-9C65-2C4F1875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585DF-A6DF-A54D-9960-BE991B45200F}" type="datetime1">
              <a:rPr lang="sv-SE" smtClean="0"/>
              <a:t>2024-05-08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98402AB-3C0D-47F3-B526-AEE8B976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9E1C101-21B3-4DE8-ACC8-96D836B9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FECDBECF-4709-417A-8783-E9CAB0603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6460" y="1194594"/>
            <a:ext cx="4237209" cy="3540919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  <p:sp>
        <p:nvSpPr>
          <p:cNvPr id="9" name="Platshållare för bild 6">
            <a:extLst>
              <a:ext uri="{FF2B5EF4-FFF2-40B4-BE49-F238E27FC236}">
                <a16:creationId xmlns:a16="http://schemas.microsoft.com/office/drawing/2014/main" id="{3747F699-0360-4395-8415-6E5114D6C6C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60332" y="1194198"/>
            <a:ext cx="4237210" cy="3540919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87958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F4B5727-3AF8-4023-B42B-839E8695A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92B391E-9C84-4E0D-898B-8454343BE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91D87-1285-6843-BFFA-E098C31F828A}" type="datetime1">
              <a:rPr lang="sv-SE" smtClean="0"/>
              <a:t>2024-05-08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32D627AA-4087-4599-9513-63987ED8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DE0A226-9A3A-4E94-A386-D753C79EA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96585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Headlin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798893C-4CC2-2B2F-4FC8-5E0C5AE0D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5C9F0B7-F98C-CB91-2115-2967E7B15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1EDDDBB2-E3A5-184D-9122-109D1DA68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F0965-93C0-9548-8879-5851BCBC049F}" type="datetime1">
              <a:rPr lang="sv-SE" smtClean="0"/>
              <a:t>2024-05-08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877E5B5-9B3B-1F13-E51F-88E6C87DC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8432B03-1FFF-FE82-834F-9C4FBE4D6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417707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EB551155-ADB6-4713-AD48-92A8C535A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680" y="250032"/>
            <a:ext cx="7763861" cy="6477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CEFDED03-B73B-4057-9667-7B69EF4D7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1887" y="1194197"/>
            <a:ext cx="7765653" cy="34385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0C11F1C-711C-4AD7-A25F-D2B3F451BB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1520" y="4902599"/>
            <a:ext cx="2057400" cy="2325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E8303-AD2F-DB4D-B8E2-7368B5FD02EE}" type="datetime1">
              <a:rPr lang="sv-SE" smtClean="0"/>
              <a:t>2024-05-08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9465249-3F3D-4589-A44C-3AA1952E4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2599"/>
            <a:ext cx="3086100" cy="2325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9DBF7EF-8E59-4075-A8F0-EF49E121C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35080" y="4902599"/>
            <a:ext cx="2057400" cy="2325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2A9A3-8636-4A04-BD48-3153280FB086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3C4B2EE-2B48-4379-BBD1-4FA250447FE8}"/>
              </a:ext>
            </a:extLst>
          </p:cNvPr>
          <p:cNvPicPr>
            <a:picLocks noChangeArrowheads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6551" y="250120"/>
            <a:ext cx="644150" cy="6523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Rektangel 53">
            <a:extLst>
              <a:ext uri="{FF2B5EF4-FFF2-40B4-BE49-F238E27FC236}">
                <a16:creationId xmlns:a16="http://schemas.microsoft.com/office/drawing/2014/main" id="{D263F704-88D1-4479-BA22-2920B7F38621}"/>
              </a:ext>
            </a:extLst>
          </p:cNvPr>
          <p:cNvSpPr/>
          <p:nvPr userDrawn="1"/>
        </p:nvSpPr>
        <p:spPr>
          <a:xfrm>
            <a:off x="250750" y="4889099"/>
            <a:ext cx="8646791" cy="1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013"/>
          </a:p>
        </p:txBody>
      </p:sp>
    </p:spTree>
    <p:extLst>
      <p:ext uri="{BB962C8B-B14F-4D97-AF65-F5344CB8AC3E}">
        <p14:creationId xmlns:p14="http://schemas.microsoft.com/office/powerpoint/2010/main" val="276586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3" r:id="rId3"/>
    <p:sldLayoutId id="2147483654" r:id="rId4"/>
    <p:sldLayoutId id="2147483655" r:id="rId5"/>
    <p:sldLayoutId id="2147483651" r:id="rId6"/>
    <p:sldLayoutId id="2147483652" r:id="rId7"/>
    <p:sldLayoutId id="2147483650" r:id="rId8"/>
    <p:sldLayoutId id="2147483657" r:id="rId9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&gt;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‒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713" userDrawn="1">
          <p15:clr>
            <a:srgbClr val="F26B43"/>
          </p15:clr>
        </p15:guide>
        <p15:guide id="4" pos="5454" userDrawn="1">
          <p15:clr>
            <a:srgbClr val="F26B43"/>
          </p15:clr>
        </p15:guide>
        <p15:guide id="6" pos="358" userDrawn="1">
          <p15:clr>
            <a:srgbClr val="F26B43"/>
          </p15:clr>
        </p15:guide>
        <p15:guide id="7" orient="horz" pos="158" userDrawn="1">
          <p15:clr>
            <a:srgbClr val="F26B43"/>
          </p15:clr>
        </p15:guide>
        <p15:guide id="8" orient="horz" pos="3084" userDrawn="1">
          <p15:clr>
            <a:srgbClr val="F26B43"/>
          </p15:clr>
        </p15:guide>
        <p15:guide id="9" pos="5605" userDrawn="1">
          <p15:clr>
            <a:srgbClr val="F26B43"/>
          </p15:clr>
        </p15:guide>
        <p15:guide id="10" pos="155" userDrawn="1">
          <p15:clr>
            <a:srgbClr val="F26B43"/>
          </p15:clr>
        </p15:guide>
        <p15:guide id="11" pos="560" userDrawn="1">
          <p15:clr>
            <a:srgbClr val="F26B43"/>
          </p15:clr>
        </p15:guide>
        <p15:guide id="12" orient="horz" pos="566" userDrawn="1">
          <p15:clr>
            <a:srgbClr val="F26B43"/>
          </p15:clr>
        </p15:guide>
        <p15:guide id="13" orient="horz" pos="752" userDrawn="1">
          <p15:clr>
            <a:srgbClr val="F26B43"/>
          </p15:clr>
        </p15:guide>
        <p15:guide id="14" orient="horz" pos="298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046A919-5EDA-8448-9EC7-04EDDB67C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96" y="1347614"/>
            <a:ext cx="8396560" cy="566641"/>
          </a:xfrm>
        </p:spPr>
        <p:txBody>
          <a:bodyPr/>
          <a:lstStyle/>
          <a:p>
            <a:r>
              <a:rPr lang="en-US" dirty="0" smtClean="0"/>
              <a:t>2-Level Voltage Source Traction Inverter</a:t>
            </a:r>
            <a:endParaRPr lang="sv-SE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52E08D81-344D-5640-BC09-C6F8DF74B8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sv-SE" dirty="0" smtClean="0"/>
              <a:t>Enes Ayaz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74705-AE8B-4A42-AB7F-E934F3FD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57DF-C448-9E4A-AC1B-538968DD2481}" type="datetime1">
              <a:rPr lang="sv-SE" smtClean="0"/>
              <a:pPr/>
              <a:t>2024-05-08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B2698-B4E9-7A4C-9527-FEC214F6F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6620A-5648-0C4A-8D32-82D4B46D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550475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Parameters of Infineon 2kV Bare die</a:t>
            </a:r>
            <a:endParaRPr lang="sv-SE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3F4D8-4BE6-D743-AE27-D14757A6F270}" type="datetime1">
              <a:rPr lang="sv-SE" smtClean="0"/>
              <a:t>2024-05-08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Footer</a:t>
            </a:r>
            <a:endParaRPr lang="sv-S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2</a:t>
            </a:fld>
            <a:endParaRPr lang="sv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67544" y="1131590"/>
                <a:ext cx="8208912" cy="3554355"/>
              </a:xfrm>
            </p:spPr>
            <p:txBody>
              <a:bodyPr>
                <a:normAutofit fontScale="92500" lnSpcReduction="20000"/>
              </a:bodyPr>
              <a:lstStyle/>
              <a:p>
                <a:pPr marL="342900" indent="-342900">
                  <a:buAutoNum type="alphaUcPeriod"/>
                </a:pPr>
                <a:r>
                  <a:rPr lang="en-US" b="1" dirty="0" smtClean="0"/>
                  <a:t>Basic Parameters of Bare die:</a:t>
                </a:r>
              </a:p>
              <a:p>
                <a:pPr marL="0" indent="0">
                  <a:buNone/>
                </a:pPr>
                <a:endParaRPr lang="sv-SE" dirty="0"/>
              </a:p>
              <a:p>
                <a:pPr lvl="0"/>
                <a:r>
                  <a:rPr lang="en-US" dirty="0"/>
                  <a:t>Current rating @25°C (in Amperes)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sv-SE" dirty="0" smtClean="0">
                  <a:solidFill>
                    <a:schemeClr val="accent4"/>
                  </a:solidFill>
                </a:endParaRPr>
              </a:p>
              <a:p>
                <a:pPr lvl="0"/>
                <a:endParaRPr lang="sv-SE" dirty="0">
                  <a:solidFill>
                    <a:srgbClr val="FF0000"/>
                  </a:solidFill>
                </a:endParaRPr>
              </a:p>
              <a:p>
                <a:pPr lvl="0"/>
                <a:r>
                  <a:rPr lang="en-US" dirty="0"/>
                  <a:t>On-state resistance @25°C (in Ohms)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26 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mΩ</m:t>
                    </m:r>
                  </m:oMath>
                </a14:m>
                <a:endParaRPr lang="sv-SE" dirty="0" smtClean="0">
                  <a:solidFill>
                    <a:schemeClr val="accent4"/>
                  </a:solidFill>
                </a:endParaRPr>
              </a:p>
              <a:p>
                <a:pPr lvl="0"/>
                <a:endParaRPr lang="sv-SE" dirty="0">
                  <a:solidFill>
                    <a:srgbClr val="FF0000"/>
                  </a:solidFill>
                </a:endParaRPr>
              </a:p>
              <a:p>
                <a:pPr lvl="0"/>
                <a:r>
                  <a:rPr lang="en-US" dirty="0"/>
                  <a:t>Internal gate resistance (in Ohms) ~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7,2</m:t>
                    </m:r>
                    <m:r>
                      <a:rPr lang="en-US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sv-SE" dirty="0" smtClean="0">
                  <a:solidFill>
                    <a:srgbClr val="FF0000"/>
                  </a:solidFill>
                </a:endParaRPr>
              </a:p>
              <a:p>
                <a:pPr lvl="0"/>
                <a:endParaRPr lang="sv-SE" dirty="0">
                  <a:solidFill>
                    <a:srgbClr val="FF0000"/>
                  </a:solidFill>
                </a:endParaRPr>
              </a:p>
              <a:p>
                <a:pPr lvl="0"/>
                <a:r>
                  <a:rPr lang="de-DE" dirty="0"/>
                  <a:t>Die Size (mm x mm) </a:t>
                </a:r>
                <a:r>
                  <a:rPr lang="de-DE" dirty="0">
                    <a:solidFill>
                      <a:srgbClr val="FF0000"/>
                    </a:solidFill>
                  </a:rPr>
                  <a:t>5,71 x 5,24 </a:t>
                </a:r>
                <a:r>
                  <a:rPr lang="de-DE" dirty="0" smtClean="0">
                    <a:solidFill>
                      <a:srgbClr val="FF0000"/>
                    </a:solidFill>
                  </a:rPr>
                  <a:t>mm</a:t>
                </a:r>
              </a:p>
              <a:p>
                <a:pPr lvl="0"/>
                <a:endParaRPr lang="sv-SE" dirty="0">
                  <a:solidFill>
                    <a:srgbClr val="FF0000"/>
                  </a:solidFill>
                </a:endParaRPr>
              </a:p>
              <a:p>
                <a:pPr lvl="0"/>
                <a:r>
                  <a:rPr lang="en-US" dirty="0"/>
                  <a:t>Thermal resistance (Junction to Case) (in °C/W</a:t>
                </a:r>
                <a:r>
                  <a:rPr lang="en-US" dirty="0" smtClean="0"/>
                  <a:t>) </a:t>
                </a:r>
                <a:r>
                  <a:rPr lang="sv-SE" dirty="0" smtClean="0">
                    <a:solidFill>
                      <a:schemeClr val="accent6"/>
                    </a:solidFill>
                  </a:rPr>
                  <a:t>0.0880 K/W per </a:t>
                </a:r>
                <a:r>
                  <a:rPr lang="sv-SE" dirty="0" err="1" smtClean="0">
                    <a:solidFill>
                      <a:schemeClr val="accent6"/>
                    </a:solidFill>
                  </a:rPr>
                  <a:t>Mosfet</a:t>
                </a:r>
                <a:r>
                  <a:rPr lang="sv-SE" dirty="0" smtClean="0">
                    <a:solidFill>
                      <a:schemeClr val="accent6"/>
                    </a:solidFill>
                  </a:rPr>
                  <a:t> (8 or 10 </a:t>
                </a:r>
                <a:r>
                  <a:rPr lang="sv-SE" dirty="0" err="1" smtClean="0">
                    <a:solidFill>
                      <a:schemeClr val="accent6"/>
                    </a:solidFill>
                  </a:rPr>
                  <a:t>dies</a:t>
                </a:r>
                <a:r>
                  <a:rPr lang="sv-SE" dirty="0" smtClean="0">
                    <a:solidFill>
                      <a:schemeClr val="accent6"/>
                    </a:solidFill>
                  </a:rPr>
                  <a:t> )</a:t>
                </a:r>
                <a:endParaRPr lang="en-US" dirty="0" smtClean="0">
                  <a:solidFill>
                    <a:schemeClr val="accent6"/>
                  </a:solidFill>
                </a:endParaRPr>
              </a:p>
              <a:p>
                <a:pPr marL="0" lvl="0" indent="0">
                  <a:buNone/>
                </a:pPr>
                <a:r>
                  <a:rPr lang="sv-SE" dirty="0" smtClean="0">
                    <a:solidFill>
                      <a:schemeClr val="accent6"/>
                    </a:solidFill>
                  </a:rPr>
                  <a:t>						    Case </a:t>
                </a:r>
                <a:r>
                  <a:rPr lang="sv-SE" dirty="0">
                    <a:solidFill>
                      <a:schemeClr val="accent6"/>
                    </a:solidFill>
                  </a:rPr>
                  <a:t>to heat </a:t>
                </a:r>
                <a:r>
                  <a:rPr lang="sv-SE" dirty="0" smtClean="0">
                    <a:solidFill>
                      <a:schemeClr val="accent6"/>
                    </a:solidFill>
                  </a:rPr>
                  <a:t>sink: 0.0330 K/W</a:t>
                </a:r>
              </a:p>
              <a:p>
                <a:pPr marL="0" lvl="0" indent="0">
                  <a:buNone/>
                </a:pPr>
                <a:endParaRPr lang="sv-SE" dirty="0" smtClean="0">
                  <a:solidFill>
                    <a:schemeClr val="accent6"/>
                  </a:solidFill>
                </a:endParaRPr>
              </a:p>
              <a:p>
                <a:r>
                  <a:rPr lang="en-US" dirty="0" smtClean="0"/>
                  <a:t>Zero Current Loss (Output Capacitance Loss) ~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.25 </m:t>
                    </m:r>
                    <m:r>
                      <a:rPr lang="en-US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𝑚𝐽</m:t>
                    </m:r>
                    <m:r>
                      <a:rPr lang="en-US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𝑠𝑤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, 1</m:t>
                    </m:r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𝑚𝐽</m:t>
                    </m:r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 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𝑠𝑤</m:t>
                        </m:r>
                      </m:sub>
                    </m:sSub>
                  </m:oMath>
                </a14:m>
                <a:endParaRPr lang="sv-SE" dirty="0">
                  <a:solidFill>
                    <a:srgbClr val="FF0000"/>
                  </a:solidFill>
                </a:endParaRPr>
              </a:p>
              <a:p>
                <a:pPr lvl="0"/>
                <a:endParaRPr lang="en-US" dirty="0">
                  <a:solidFill>
                    <a:schemeClr val="accent6"/>
                  </a:solidFill>
                </a:endParaRPr>
              </a:p>
              <a:p>
                <a:pPr marL="0" lvl="0" indent="0">
                  <a:buNone/>
                </a:pPr>
                <a:endParaRPr lang="en-US" dirty="0">
                  <a:solidFill>
                    <a:schemeClr val="accent6"/>
                  </a:solidFill>
                </a:endParaRP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sv-SE" dirty="0"/>
              </a:p>
              <a:p>
                <a:pPr marL="0" lvl="0" indent="0">
                  <a:buNone/>
                </a:pPr>
                <a:endParaRPr lang="sv-SE" dirty="0"/>
              </a:p>
              <a:p>
                <a:endParaRPr lang="sv-SE" dirty="0"/>
              </a:p>
            </p:txBody>
          </p:sp>
        </mc:Choice>
        <mc:Fallback xmlns="">
          <p:sp>
            <p:nvSpPr>
              <p:cNvPr id="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67544" y="1131590"/>
                <a:ext cx="8208912" cy="3554355"/>
              </a:xfrm>
              <a:blipFill>
                <a:blip r:embed="rId2"/>
                <a:stretch>
                  <a:fillRect l="-1263" t="-343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V="1">
            <a:off x="4391980" y="1707654"/>
            <a:ext cx="623630" cy="2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76056" y="1419622"/>
            <a:ext cx="41764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  <a:r>
              <a:rPr lang="en-US" dirty="0" smtClean="0"/>
              <a:t>onsidering </a:t>
            </a:r>
            <a:r>
              <a:rPr lang="en-US" dirty="0"/>
              <a:t>this </a:t>
            </a:r>
            <a:r>
              <a:rPr lang="en-US" dirty="0" smtClean="0"/>
              <a:t>current rating of a single die, </a:t>
            </a:r>
            <a:r>
              <a:rPr lang="en-US" dirty="0"/>
              <a:t>it seems we </a:t>
            </a:r>
            <a:r>
              <a:rPr lang="en-US" dirty="0" smtClean="0"/>
              <a:t>have around 8-16 </a:t>
            </a:r>
            <a:r>
              <a:rPr lang="en-US" dirty="0"/>
              <a:t>dies in parallel.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461690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Loss Analysis</a:t>
            </a:r>
            <a:endParaRPr lang="sv-SE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897732"/>
            <a:ext cx="3936438" cy="29523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918416"/>
            <a:ext cx="3744416" cy="28083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95536" y="4251539"/>
                <a:ext cx="842493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Number of Dies area selected as minimized the losses regarding the switching frequency.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Junction temperature is taken at </a:t>
                </a:r>
                <a14:m>
                  <m:oMath xmlns:m="http://schemas.openxmlformats.org/officeDocument/2006/math">
                    <m:r>
                      <a:rPr lang="sv-SE" sz="1600" i="1" dirty="0">
                        <a:latin typeface="Cambria Math" panose="02040503050406030204" pitchFamily="18" charset="0"/>
                      </a:rPr>
                      <m:t>75 </m:t>
                    </m:r>
                    <m:sSup>
                      <m:sSup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</m:oMath>
                </a14:m>
                <a:r>
                  <a:rPr lang="sv-SE" sz="1600" dirty="0" smtClean="0"/>
                  <a:t>.</a:t>
                </a:r>
                <a:endParaRPr lang="sv-SE" sz="1600" dirty="0" err="1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251539"/>
                <a:ext cx="8424936" cy="492443"/>
              </a:xfrm>
              <a:prstGeom prst="rect">
                <a:avLst/>
              </a:prstGeom>
              <a:blipFill>
                <a:blip r:embed="rId4"/>
                <a:stretch>
                  <a:fillRect l="-1375" t="-12346" b="-2469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4986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Die Area Optimization</a:t>
            </a:r>
            <a:endParaRPr lang="sv-SE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059582"/>
            <a:ext cx="3936438" cy="29523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1059582"/>
            <a:ext cx="3936437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349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Total Losses Calculation</a:t>
            </a:r>
            <a:endParaRPr lang="sv-S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771550"/>
            <a:ext cx="3098173" cy="23236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610" y="843558"/>
            <a:ext cx="3179845" cy="2384884"/>
          </a:xfrm>
          <a:prstGeom prst="rect">
            <a:avLst/>
          </a:prstGeom>
        </p:spPr>
      </p:pic>
      <p:sp>
        <p:nvSpPr>
          <p:cNvPr id="7" name="Content Placeholder 3"/>
          <p:cNvSpPr txBox="1">
            <a:spLocks noGrp="1"/>
          </p:cNvSpPr>
          <p:nvPr>
            <p:ph idx="4294967295"/>
          </p:nvPr>
        </p:nvSpPr>
        <p:spPr>
          <a:xfrm>
            <a:off x="971600" y="3291830"/>
            <a:ext cx="3301365" cy="434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sv-SE" sz="1200" dirty="0" err="1" smtClean="0"/>
              <a:t>Voltage</a:t>
            </a:r>
            <a:r>
              <a:rPr lang="sv-SE" sz="1200" dirty="0" smtClean="0"/>
              <a:t> rating: 2kV </a:t>
            </a:r>
          </a:p>
          <a:p>
            <a:pPr marL="0" indent="0">
              <a:buNone/>
            </a:pPr>
            <a:r>
              <a:rPr lang="sv-SE" sz="1200" dirty="0" err="1" smtClean="0"/>
              <a:t>Current</a:t>
            </a:r>
            <a:r>
              <a:rPr lang="sv-SE" sz="1200" dirty="0" smtClean="0"/>
              <a:t> rating: 440A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88428" y="3386985"/>
            <a:ext cx="131164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latin typeface="Calibri" panose="020F0502020204030204" pitchFamily="34" charset="0"/>
                <a:ea typeface="Calibri" panose="020F0502020204030204" pitchFamily="34" charset="0"/>
              </a:rPr>
              <a:t>11 dies in parallel </a:t>
            </a:r>
            <a:endParaRPr lang="sv-SE" sz="12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4618362" y="3537025"/>
            <a:ext cx="7920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44526" y="3450875"/>
            <a:ext cx="247509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sv-SE" sz="1200" dirty="0" err="1" smtClean="0"/>
              <a:t>Desired</a:t>
            </a:r>
            <a:r>
              <a:rPr lang="sv-SE" sz="1200" dirty="0" smtClean="0"/>
              <a:t> </a:t>
            </a:r>
            <a:r>
              <a:rPr lang="sv-SE" sz="1200" dirty="0" err="1" smtClean="0"/>
              <a:t>one</a:t>
            </a:r>
            <a:r>
              <a:rPr lang="sv-SE" sz="1200" dirty="0" smtClean="0"/>
              <a:t> for fast dv/dt, 14 </a:t>
            </a:r>
            <a:r>
              <a:rPr lang="sv-SE" sz="1200" dirty="0" smtClean="0"/>
              <a:t>kHz </a:t>
            </a:r>
            <a:endParaRPr lang="sv-SE" sz="1200" dirty="0"/>
          </a:p>
        </p:txBody>
      </p:sp>
      <p:sp>
        <p:nvSpPr>
          <p:cNvPr id="12" name="Content Placeholder 3"/>
          <p:cNvSpPr txBox="1">
            <a:spLocks noGrp="1"/>
          </p:cNvSpPr>
          <p:nvPr>
            <p:ph idx="4294967295"/>
          </p:nvPr>
        </p:nvSpPr>
        <p:spPr>
          <a:xfrm>
            <a:off x="2622282" y="4227934"/>
            <a:ext cx="2010745" cy="434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sv-SE" sz="1200" dirty="0" err="1" smtClean="0"/>
              <a:t>Voltage</a:t>
            </a:r>
            <a:r>
              <a:rPr lang="sv-SE" sz="1200" dirty="0" smtClean="0"/>
              <a:t> rating: 2kV </a:t>
            </a:r>
          </a:p>
          <a:p>
            <a:pPr marL="0" indent="0">
              <a:buNone/>
            </a:pPr>
            <a:r>
              <a:rPr lang="sv-SE" sz="1200" dirty="0" err="1" smtClean="0"/>
              <a:t>Current</a:t>
            </a:r>
            <a:r>
              <a:rPr lang="sv-SE" sz="1200" dirty="0" smtClean="0"/>
              <a:t> rating: 400A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3275" y="4201260"/>
            <a:ext cx="13805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/>
              <a:t>FF3MR20KM1H  </a:t>
            </a:r>
          </a:p>
          <a:p>
            <a:r>
              <a:rPr lang="en-US" sz="1200" dirty="0" smtClean="0">
                <a:latin typeface="Calibri" panose="020F0502020204030204" pitchFamily="34" charset="0"/>
                <a:ea typeface="Calibri" panose="020F0502020204030204" pitchFamily="34" charset="0"/>
              </a:rPr>
              <a:t>10 dies in parallel </a:t>
            </a:r>
            <a:endParaRPr lang="sv-SE" sz="1200" dirty="0"/>
          </a:p>
        </p:txBody>
      </p:sp>
    </p:spTree>
    <p:extLst>
      <p:ext uri="{BB962C8B-B14F-4D97-AF65-F5344CB8AC3E}">
        <p14:creationId xmlns:p14="http://schemas.microsoft.com/office/powerpoint/2010/main" val="74453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046A919-5EDA-8448-9EC7-04EDDB67C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7904" y="1347614"/>
            <a:ext cx="2140980" cy="566641"/>
          </a:xfrm>
        </p:spPr>
        <p:txBody>
          <a:bodyPr/>
          <a:lstStyle/>
          <a:p>
            <a:r>
              <a:rPr lang="en-US" dirty="0" smtClean="0"/>
              <a:t>Thanks !!!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74705-AE8B-4A42-AB7F-E934F3FD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57DF-C448-9E4A-AC1B-538968DD2481}" type="datetime1">
              <a:rPr lang="sv-SE" smtClean="0"/>
              <a:pPr/>
              <a:t>2024-05-08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B2698-B4E9-7A4C-9527-FEC214F6F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6620A-5648-0C4A-8D32-82D4B46D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6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73363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ema">
  <a:themeElements>
    <a:clrScheme name="KTH">
      <a:dk1>
        <a:srgbClr val="000000"/>
      </a:dk1>
      <a:lt1>
        <a:srgbClr val="FFFFFF"/>
      </a:lt1>
      <a:dk2>
        <a:srgbClr val="65656C"/>
      </a:dk2>
      <a:lt2>
        <a:srgbClr val="838389"/>
      </a:lt2>
      <a:accent1>
        <a:srgbClr val="1954A6"/>
      </a:accent1>
      <a:accent2>
        <a:srgbClr val="5E87C0"/>
      </a:accent2>
      <a:accent3>
        <a:srgbClr val="2091C3"/>
      </a:accent3>
      <a:accent4>
        <a:srgbClr val="D02F80"/>
      </a:accent4>
      <a:accent5>
        <a:srgbClr val="D95999"/>
      </a:accent5>
      <a:accent6>
        <a:srgbClr val="61922E"/>
      </a:accent6>
      <a:hlink>
        <a:srgbClr val="65656C"/>
      </a:hlink>
      <a:folHlink>
        <a:srgbClr val="83838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 sz="20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7121384-D8C6-FA41-9A6B-F4615C0099B0}" vid="{DF4435B0-2EFE-BF49-8755-0024FDD40B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KTH_16_9</Template>
  <TotalTime>6600</TotalTime>
  <Words>219</Words>
  <Application>Microsoft Office PowerPoint</Application>
  <PresentationFormat>On-screen Show (16:9)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 Math</vt:lpstr>
      <vt:lpstr>Office-tema</vt:lpstr>
      <vt:lpstr>2-Level Voltage Source Traction Inverter</vt:lpstr>
      <vt:lpstr>Parameters of Infineon 2kV Bare die</vt:lpstr>
      <vt:lpstr>Loss Analysis</vt:lpstr>
      <vt:lpstr>Die Area Optimization</vt:lpstr>
      <vt:lpstr>Total Losses Calculation</vt:lpstr>
      <vt:lpstr>Thanks !!!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Malin Modig</dc:creator>
  <cp:lastModifiedBy>Enes Ayaz</cp:lastModifiedBy>
  <cp:revision>201</cp:revision>
  <dcterms:created xsi:type="dcterms:W3CDTF">2019-12-10T08:55:59Z</dcterms:created>
  <dcterms:modified xsi:type="dcterms:W3CDTF">2024-05-08T12:17:52Z</dcterms:modified>
</cp:coreProperties>
</file>