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9" r:id="rId2"/>
    <p:sldId id="297" r:id="rId3"/>
    <p:sldId id="301" r:id="rId4"/>
    <p:sldId id="300" r:id="rId5"/>
    <p:sldId id="298" r:id="rId6"/>
    <p:sldId id="302" r:id="rId7"/>
    <p:sldId id="303" r:id="rId8"/>
    <p:sldId id="304" r:id="rId9"/>
    <p:sldId id="305" r:id="rId10"/>
    <p:sldId id="324" r:id="rId11"/>
    <p:sldId id="306" r:id="rId12"/>
    <p:sldId id="325" r:id="rId13"/>
    <p:sldId id="299" r:id="rId14"/>
    <p:sldId id="311" r:id="rId15"/>
    <p:sldId id="323" r:id="rId16"/>
    <p:sldId id="317" r:id="rId17"/>
    <p:sldId id="326" r:id="rId18"/>
    <p:sldId id="322" r:id="rId19"/>
    <p:sldId id="321" r:id="rId20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660"/>
  </p:normalViewPr>
  <p:slideViewPr>
    <p:cSldViewPr>
      <p:cViewPr varScale="1">
        <p:scale>
          <a:sx n="216" d="100"/>
          <a:sy n="216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2024-05-08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1770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2024-05-08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  <p:sldLayoutId id="2147483657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6" y="1347614"/>
            <a:ext cx="8396560" cy="566641"/>
          </a:xfrm>
        </p:spPr>
        <p:txBody>
          <a:bodyPr/>
          <a:lstStyle/>
          <a:p>
            <a:r>
              <a:rPr lang="en-US" dirty="0" smtClean="0"/>
              <a:t>2-Level Voltage Source Traction Inverter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sv-SE" dirty="0" smtClean="0"/>
              <a:t>Enes Ayaz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2024-05-08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800" smtClean="0"/>
              <a:pPr/>
              <a:t>2024-05-08</a:t>
            </a:fld>
            <a:endParaRPr lang="sv-SE" sz="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8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800" smtClean="0"/>
              <a:pPr/>
              <a:t>2</a:t>
            </a:fld>
            <a:endParaRPr lang="sv-SE" sz="8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1560" y="987574"/>
            <a:ext cx="7056784" cy="3528392"/>
          </a:xfrm>
        </p:spPr>
        <p:txBody>
          <a:bodyPr>
            <a:normAutofit/>
          </a:bodyPr>
          <a:lstStyle/>
          <a:p>
            <a:pPr marL="800100" lvl="1" indent="-457200">
              <a:buAutoNum type="arabicPeriod"/>
            </a:pPr>
            <a:r>
              <a:rPr lang="en-US" sz="1850" b="1" dirty="0" smtClean="0"/>
              <a:t>Power Ratings of 2-Level Inverter</a:t>
            </a:r>
          </a:p>
          <a:p>
            <a:pPr marL="800100" lvl="1" indent="-457200">
              <a:buAutoNum type="arabicPeriod"/>
            </a:pPr>
            <a:endParaRPr lang="en-US" sz="1850" b="1" dirty="0" smtClean="0"/>
          </a:p>
          <a:p>
            <a:pPr marL="800100" lvl="1" indent="-457200">
              <a:buFont typeface="Arial" panose="020B0604020202020204" pitchFamily="34" charset="0"/>
              <a:buAutoNum type="arabicPeriod"/>
            </a:pPr>
            <a:r>
              <a:rPr lang="en-US" sz="1850" b="1" dirty="0"/>
              <a:t>Power </a:t>
            </a:r>
            <a:r>
              <a:rPr lang="en-US" sz="1850" b="1" dirty="0" smtClean="0"/>
              <a:t>Modules (Infineon 2kV) Parameters </a:t>
            </a:r>
          </a:p>
          <a:p>
            <a:pPr marL="685800" lvl="2" indent="0">
              <a:buNone/>
            </a:pPr>
            <a:endParaRPr lang="en-US" sz="185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Inverter Loss Estimation with Datasheet Values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1" dirty="0"/>
              <a:t>Updating Loss for Different Switching Speed </a:t>
            </a:r>
            <a:r>
              <a:rPr lang="en-US" sz="1800" b="1" dirty="0" smtClean="0"/>
              <a:t>(dv/</a:t>
            </a:r>
            <a:r>
              <a:rPr lang="en-US" sz="1800" b="1" dirty="0" err="1" smtClean="0"/>
              <a:t>dt</a:t>
            </a:r>
            <a:r>
              <a:rPr lang="en-US" sz="1800" b="1" dirty="0" smtClean="0"/>
              <a:t>)</a:t>
            </a:r>
            <a:endParaRPr lang="en-US" sz="1800" b="1" dirty="0" smtClean="0"/>
          </a:p>
          <a:p>
            <a:pPr lvl="2">
              <a:buFont typeface="Arial" panose="020B0604020202020204" pitchFamily="34" charset="0"/>
              <a:buChar char="•"/>
            </a:pPr>
            <a:endParaRPr lang="en-US" sz="170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Harmonic Losses on the Motor </a:t>
            </a:r>
            <a:r>
              <a:rPr lang="en-US" sz="1700" b="1" dirty="0" smtClean="0"/>
              <a:t>	</a:t>
            </a:r>
            <a:endParaRPr lang="en-US" sz="1700" b="1" dirty="0"/>
          </a:p>
          <a:p>
            <a:pPr marL="685800" lvl="2" indent="0">
              <a:buNone/>
            </a:pPr>
            <a:endParaRPr lang="en-US" sz="1700" b="1" dirty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Die area and Switching Frequency Selection (Total Losses)</a:t>
            </a:r>
            <a:endParaRPr lang="en-US" sz="1850" b="1" dirty="0"/>
          </a:p>
          <a:p>
            <a:pPr marL="685800" lvl="2" indent="0">
              <a:buNone/>
            </a:pPr>
            <a:r>
              <a:rPr lang="en-US" sz="1700" b="1" dirty="0" smtClean="0"/>
              <a:t>							</a:t>
            </a:r>
            <a:endParaRPr lang="en-US" sz="1850" b="1" dirty="0" smtClean="0"/>
          </a:p>
          <a:p>
            <a:pPr marL="342900" lvl="1" indent="0">
              <a:buNone/>
            </a:pPr>
            <a:endParaRPr lang="en-US" sz="1850" b="1" dirty="0" smtClean="0"/>
          </a:p>
          <a:p>
            <a:pPr marL="342900" lvl="1" indent="0">
              <a:buNone/>
            </a:pP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132804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2-Level Inverter Power Ratings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600" dirty="0"/>
                  <a:t>  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=240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=625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729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=320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600" i="1" dirty="0"/>
                  <a:t> or 274 </a:t>
                </a:r>
                <a:r>
                  <a:rPr lang="sv-SE" sz="1600" i="1" dirty="0" smtClean="0"/>
                  <a:t>A</a:t>
                </a:r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𝑝𝑓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 0.9</m:t>
                    </m:r>
                  </m:oMath>
                </a14:m>
                <a:endParaRPr lang="sv-SE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𝑝𝑓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sv-SE" sz="1600" b="1" i="1" dirty="0"/>
                  <a:t> </a:t>
                </a:r>
                <a:r>
                  <a:rPr lang="sv-SE" sz="1600" i="1" dirty="0" smtClean="0"/>
                  <a:t>or </a:t>
                </a:r>
                <a:r>
                  <a:rPr lang="sv-SE" sz="1600" b="1" i="1" dirty="0" smtClean="0"/>
                  <a:t>304 A</a:t>
                </a:r>
                <a:endParaRPr lang="en-US" sz="1600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  <a:blipFill>
                <a:blip r:embed="rId2"/>
                <a:stretch>
                  <a:fillRect l="-31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13" dirty="0"/>
                  <a:t>Efficiency (99.5%) </a:t>
                </a:r>
              </a:p>
              <a:p>
                <a:pPr algn="ctr"/>
                <a:r>
                  <a:rPr lang="en-US" sz="1013" dirty="0">
                    <a:sym typeface="Wingdings" panose="05000000000000000000" pitchFamily="2" charset="2"/>
                  </a:rPr>
                  <a:t>Semiconductor Losses (6 switches): </a:t>
                </a:r>
                <a:r>
                  <a:rPr lang="en-US" sz="1013" b="1" dirty="0">
                    <a:sym typeface="Wingdings" panose="05000000000000000000" pitchFamily="2" charset="2"/>
                  </a:rPr>
                  <a:t>1500 </a:t>
                </a:r>
                <a14:m>
                  <m:oMath xmlns:m="http://schemas.openxmlformats.org/officeDocument/2006/math">
                    <m:r>
                      <a:rPr lang="en-US" sz="1013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sv-SE" sz="1013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043267"/>
            <a:ext cx="2520280" cy="1188534"/>
          </a:xfrm>
          <a:prstGeom prst="rect">
            <a:avLst/>
          </a:prstGeom>
        </p:spPr>
      </p:pic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 txBox="1">
            <a:spLocks/>
          </p:cNvSpPr>
          <p:nvPr/>
        </p:nvSpPr>
        <p:spPr>
          <a:xfrm>
            <a:off x="5508104" y="2787774"/>
            <a:ext cx="3312368" cy="35409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&gt;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A phase leg of a conventional two-level inverter</a:t>
            </a:r>
            <a:br>
              <a:rPr lang="en-US" sz="1000" dirty="0" smtClean="0"/>
            </a:br>
            <a:r>
              <a:rPr lang="en-US" sz="1000" dirty="0" smtClean="0"/>
              <a:t>consists of two transistors that </a:t>
            </a:r>
            <a:r>
              <a:rPr lang="en-US" sz="1000" b="1" dirty="0" smtClean="0"/>
              <a:t>block and switch</a:t>
            </a:r>
            <a:br>
              <a:rPr lang="en-US" sz="1000" b="1" dirty="0" smtClean="0"/>
            </a:br>
            <a:r>
              <a:rPr lang="en-US" sz="1000" b="1" dirty="0" smtClean="0"/>
              <a:t>the full dc-link voltage.</a:t>
            </a:r>
            <a:r>
              <a:rPr lang="en-US" sz="1000" dirty="0" smtClean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are </a:t>
            </a:r>
            <a:r>
              <a:rPr lang="en-US" sz="1000" b="1" dirty="0" smtClean="0"/>
              <a:t>less complex </a:t>
            </a:r>
            <a:r>
              <a:rPr lang="en-US" sz="1000" dirty="0" smtClean="0"/>
              <a:t>than the</a:t>
            </a:r>
            <a:br>
              <a:rPr lang="en-US" sz="1000" dirty="0" smtClean="0"/>
            </a:br>
            <a:r>
              <a:rPr lang="en-US" sz="1000" dirty="0" smtClean="0"/>
              <a:t>other topologies and have the least control effort.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On the other hand, the connected machine suffers from </a:t>
            </a:r>
            <a:r>
              <a:rPr lang="en-US" sz="1000" b="1" dirty="0" smtClean="0"/>
              <a:t>higher harmonic losses </a:t>
            </a:r>
            <a:r>
              <a:rPr lang="en-US" sz="1000" dirty="0" smtClean="0"/>
              <a:t>and t</a:t>
            </a:r>
            <a:r>
              <a:rPr lang="en-US" sz="1000" b="1" dirty="0" smtClean="0"/>
              <a:t>he steep voltage slopes </a:t>
            </a:r>
            <a:r>
              <a:rPr lang="en-US" sz="1000" dirty="0" smtClean="0"/>
              <a:t>can damage it by causin</a:t>
            </a:r>
            <a:r>
              <a:rPr lang="en-US" sz="1000" b="1" dirty="0" smtClean="0"/>
              <a:t>g bearing currents</a:t>
            </a:r>
            <a:r>
              <a:rPr lang="en-US" sz="1000" dirty="0" smtClean="0"/>
              <a:t> or </a:t>
            </a:r>
            <a:r>
              <a:rPr lang="en-US" sz="1000" b="1" dirty="0" smtClean="0"/>
              <a:t>overstressing the winding insulation.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have a </a:t>
            </a:r>
            <a:r>
              <a:rPr lang="en-US" sz="1000" b="1" dirty="0" smtClean="0"/>
              <a:t>bad efficiency</a:t>
            </a:r>
            <a:r>
              <a:rPr lang="en-US" sz="1000" dirty="0" smtClean="0"/>
              <a:t> for </a:t>
            </a:r>
            <a:r>
              <a:rPr lang="en-US" sz="1000" b="1" dirty="0" smtClean="0"/>
              <a:t>higher switching frequency</a:t>
            </a:r>
            <a:r>
              <a:rPr lang="en-US" sz="1000" dirty="0" smtClean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2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Infineon 2kV Bare die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AutoNum type="alphaUcPeriod"/>
                </a:pPr>
                <a:r>
                  <a:rPr lang="en-US" b="1" dirty="0" smtClean="0"/>
                  <a:t>Basic Parameters of Bare die: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lvl="0"/>
                <a:r>
                  <a:rPr lang="en-US" dirty="0"/>
                  <a:t>Current rating @25°C (in Amperes)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dirty="0" smtClean="0">
                    <a:solidFill>
                      <a:schemeClr val="accent4"/>
                    </a:solidFill>
                  </a:rPr>
                  <a:t> ?</a:t>
                </a:r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On-state resistance @25°C (in Ohms)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26 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mΩ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Internal gate resistance (in Ohms) ~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7,2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sv-SE" dirty="0" smtClean="0">
                  <a:solidFill>
                    <a:srgbClr val="FF0000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de-DE" dirty="0"/>
                  <a:t>Die Size (mm x mm) </a:t>
                </a:r>
                <a:r>
                  <a:rPr lang="de-DE" dirty="0">
                    <a:solidFill>
                      <a:srgbClr val="FF0000"/>
                    </a:solidFill>
                  </a:rPr>
                  <a:t>5,71 x 5,24 </a:t>
                </a:r>
                <a:r>
                  <a:rPr lang="de-DE" dirty="0" smtClean="0">
                    <a:solidFill>
                      <a:srgbClr val="FF0000"/>
                    </a:solidFill>
                  </a:rPr>
                  <a:t>mm</a:t>
                </a: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Thermal resistance (Junction to Case) (in °C/W</a:t>
                </a:r>
                <a:r>
                  <a:rPr lang="en-US" dirty="0" smtClean="0"/>
                  <a:t>)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0.0880 K/W per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Mosfet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(8 or 10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dies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)</a:t>
                </a:r>
                <a:endParaRPr lang="en-US" dirty="0" smtClean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r>
                  <a:rPr lang="sv-SE" dirty="0" smtClean="0">
                    <a:solidFill>
                      <a:schemeClr val="accent6"/>
                    </a:solidFill>
                  </a:rPr>
                  <a:t>						    Case </a:t>
                </a:r>
                <a:r>
                  <a:rPr lang="sv-SE" dirty="0">
                    <a:solidFill>
                      <a:schemeClr val="accent6"/>
                    </a:solidFill>
                  </a:rPr>
                  <a:t>to heat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sink: 0.0330 K/W</a:t>
                </a:r>
              </a:p>
              <a:p>
                <a:pPr marL="0" lvl="0" indent="0">
                  <a:buNone/>
                </a:pPr>
                <a:endParaRPr lang="sv-SE" dirty="0" smtClean="0">
                  <a:solidFill>
                    <a:schemeClr val="accent6"/>
                  </a:solidFill>
                </a:endParaRPr>
              </a:p>
              <a:p>
                <a:r>
                  <a:rPr lang="en-US" dirty="0" smtClean="0"/>
                  <a:t>Zero Current Loss (Output Capacitance Loss) ~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.25 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endParaRPr lang="en-US" dirty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pPr marL="0" lvl="0" indent="0">
                  <a:buNone/>
                </a:pPr>
                <a:endParaRPr lang="sv-SE" dirty="0"/>
              </a:p>
              <a:p>
                <a:endParaRPr lang="sv-SE" dirty="0"/>
              </a:p>
            </p:txBody>
          </p:sp>
        </mc:Choice>
        <mc:Fallback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  <a:blipFill>
                <a:blip r:embed="rId2"/>
                <a:stretch>
                  <a:fillRect l="-1263" t="-34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4391980" y="1707654"/>
            <a:ext cx="623630" cy="2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1419622"/>
            <a:ext cx="4176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onsidering </a:t>
            </a:r>
            <a:r>
              <a:rPr lang="en-US" dirty="0"/>
              <a:t>this </a:t>
            </a:r>
            <a:r>
              <a:rPr lang="en-US" dirty="0" smtClean="0"/>
              <a:t>current rating of a single die, </a:t>
            </a:r>
            <a:r>
              <a:rPr lang="en-US" dirty="0"/>
              <a:t>it seems we </a:t>
            </a:r>
            <a:r>
              <a:rPr lang="en-US" dirty="0" smtClean="0"/>
              <a:t>have around 8-16 </a:t>
            </a:r>
            <a:r>
              <a:rPr lang="en-US" dirty="0"/>
              <a:t>dies in parallel.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169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2024-05-08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Datasheet-Driven Loss Estimation</a:t>
            </a:r>
            <a:endParaRPr lang="sv-SE" b="0" dirty="0"/>
          </a:p>
        </p:txBody>
      </p:sp>
      <p:sp>
        <p:nvSpPr>
          <p:cNvPr id="7" name="Content Placeholder 3"/>
          <p:cNvSpPr txBox="1">
            <a:spLocks noGrp="1"/>
          </p:cNvSpPr>
          <p:nvPr>
            <p:ph idx="4294967295"/>
          </p:nvPr>
        </p:nvSpPr>
        <p:spPr>
          <a:xfrm>
            <a:off x="1043608" y="897732"/>
            <a:ext cx="3301365" cy="58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400A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1004428"/>
            <a:ext cx="32492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FF3MR20KM1H 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using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10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dies in parallel 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530585"/>
            <a:ext cx="3495385" cy="2434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=2.6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sv-S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  <a:blipFill>
                <a:blip r:embed="rId3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837403" y="3412931"/>
            <a:ext cx="249936" cy="896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621626"/>
            <a:ext cx="4041535" cy="2648120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endCxn id="15" idx="2"/>
          </p:cNvCxnSpPr>
          <p:nvPr/>
        </p:nvCxnSpPr>
        <p:spPr>
          <a:xfrm flipV="1">
            <a:off x="1835696" y="2320704"/>
            <a:ext cx="2927232" cy="869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51920" y="1951372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endCxn id="17" idx="2"/>
          </p:cNvCxnSpPr>
          <p:nvPr/>
        </p:nvCxnSpPr>
        <p:spPr>
          <a:xfrm flipV="1">
            <a:off x="1835696" y="3221245"/>
            <a:ext cx="2927232" cy="43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51920" y="2851913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75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Datasheet-driven Loss </a:t>
            </a:r>
            <a:r>
              <a:rPr lang="en-US" dirty="0" smtClean="0"/>
              <a:t>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03" y="2440338"/>
            <a:ext cx="2053851" cy="1386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74" y="1536867"/>
            <a:ext cx="2049748" cy="14136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5536" y="1065833"/>
            <a:ext cx="748883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500" dirty="0" err="1">
                <a:latin typeface="Calibri" panose="020F0502020204030204" pitchFamily="34" charset="0"/>
              </a:rPr>
              <a:t>Switching</a:t>
            </a:r>
            <a:r>
              <a:rPr lang="sv-SE" sz="1500" dirty="0">
                <a:latin typeface="Calibri" panose="020F0502020204030204" pitchFamily="34" charset="0"/>
              </a:rPr>
              <a:t> </a:t>
            </a:r>
            <a:r>
              <a:rPr lang="sv-SE" sz="1500" dirty="0" err="1">
                <a:latin typeface="Calibri" panose="020F0502020204030204" pitchFamily="34" charset="0"/>
              </a:rPr>
              <a:t>frequency</a:t>
            </a:r>
            <a:r>
              <a:rPr lang="sv-SE" sz="1500" dirty="0">
                <a:latin typeface="Calibri" panose="020F0502020204030204" pitchFamily="34" charset="0"/>
              </a:rPr>
              <a:t> = </a:t>
            </a:r>
            <a:r>
              <a:rPr lang="sv-SE" sz="1500" b="1" dirty="0">
                <a:latin typeface="Calibri" panose="020F0502020204030204" pitchFamily="34" charset="0"/>
              </a:rPr>
              <a:t>5kHz</a:t>
            </a:r>
            <a:r>
              <a:rPr lang="sv-SE" sz="1500" dirty="0">
                <a:latin typeface="Calibri" panose="020F0502020204030204" pitchFamily="34" charset="0"/>
              </a:rPr>
              <a:t>, </a:t>
            </a:r>
            <a:r>
              <a:rPr lang="sv-SE" sz="1500" dirty="0" err="1">
                <a:latin typeface="Calibri" panose="020F0502020204030204" pitchFamily="34" charset="0"/>
              </a:rPr>
              <a:t>ma</a:t>
            </a:r>
            <a:r>
              <a:rPr lang="sv-SE" sz="1500" dirty="0">
                <a:latin typeface="Calibri" panose="020F0502020204030204" pitchFamily="34" charset="0"/>
              </a:rPr>
              <a:t>=1.15, </a:t>
            </a:r>
            <a:r>
              <a:rPr lang="sv-SE" sz="1500" dirty="0" err="1">
                <a:latin typeface="Calibri" panose="020F0502020204030204" pitchFamily="34" charset="0"/>
              </a:rPr>
              <a:t>pf</a:t>
            </a:r>
            <a:r>
              <a:rPr lang="sv-SE" sz="1500" dirty="0">
                <a:latin typeface="Calibri" panose="020F0502020204030204" pitchFamily="34" charset="0"/>
              </a:rPr>
              <a:t>=0.9 2-level 3-phase, P=300kW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sz="1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sz="1000" dirty="0" smtClean="0"/>
                            <a:t>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000" dirty="0" smtClean="0"/>
                            <a:t>)</a:t>
                          </a:r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150 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85" t="-4348" r="-3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100485" t="-4348" r="-2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201463" t="-4348" r="-102439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00000" t="-4348" r="-1942" b="-2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/>
          <p:cNvSpPr txBox="1"/>
          <p:nvPr/>
        </p:nvSpPr>
        <p:spPr>
          <a:xfrm>
            <a:off x="35496" y="4329670"/>
            <a:ext cx="9328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Assume only conduction loss is changed with temperature.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We do not use a thermal model here; we just find the losses for different junction temperatures.</a:t>
            </a:r>
            <a:endParaRPr lang="sv-SE" sz="15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45" y="2870494"/>
            <a:ext cx="2048820" cy="153661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1214473" y="2077314"/>
            <a:ext cx="1485319" cy="47299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1836736"/>
            <a:ext cx="2130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current is sinusoidal. </a:t>
            </a:r>
            <a:endParaRPr lang="sv-SE" sz="15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411760" y="1349618"/>
            <a:ext cx="2996916" cy="588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0912" y="1635713"/>
            <a:ext cx="352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maximum switching frequency is 5kHz since we have </a:t>
            </a:r>
            <a:r>
              <a:rPr lang="en-US" sz="1500" b="1" dirty="0" smtClean="0"/>
              <a:t>slow switching </a:t>
            </a:r>
            <a:r>
              <a:rPr lang="en-US" sz="1500" b="1" dirty="0"/>
              <a:t>speed (dv/</a:t>
            </a:r>
            <a:r>
              <a:rPr lang="en-US" sz="1500" b="1" dirty="0" err="1"/>
              <a:t>dt</a:t>
            </a:r>
            <a:r>
              <a:rPr lang="en-US" sz="1500" b="1" dirty="0"/>
              <a:t>) </a:t>
            </a:r>
            <a:r>
              <a:rPr lang="en-US" sz="1500" b="1" dirty="0" smtClean="0"/>
              <a:t>test data </a:t>
            </a:r>
            <a:r>
              <a:rPr lang="en-US" sz="1500" dirty="0" smtClean="0"/>
              <a:t>in </a:t>
            </a:r>
            <a:r>
              <a:rPr lang="en-US" sz="1500" dirty="0"/>
              <a:t>the datasheet.</a:t>
            </a:r>
            <a:endParaRPr lang="sv-SE" sz="1500" dirty="0"/>
          </a:p>
        </p:txBody>
      </p:sp>
    </p:spTree>
    <p:extLst>
      <p:ext uri="{BB962C8B-B14F-4D97-AF65-F5344CB8AC3E}">
        <p14:creationId xmlns:p14="http://schemas.microsoft.com/office/powerpoint/2010/main" val="5761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Fast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059582"/>
            <a:ext cx="2962471" cy="1941089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H="1">
            <a:off x="1962317" y="2651614"/>
            <a:ext cx="1145815" cy="547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0472" y="3142342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capacitance loss</a:t>
            </a:r>
            <a:endParaRPr lang="sv-SE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315140" y="2030126"/>
            <a:ext cx="1482015" cy="850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36096" y="2925257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Overlapping loss</a:t>
            </a:r>
            <a:endParaRPr lang="sv-SE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77" y="3565490"/>
            <a:ext cx="2179539" cy="436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20109" y="4056218"/>
            <a:ext cx="2150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Linearly increasing by the number of dies in parallel</a:t>
            </a:r>
            <a:endParaRPr lang="sv-SE" sz="12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26" y="3318101"/>
            <a:ext cx="2761751" cy="62307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74126" y="3941179"/>
            <a:ext cx="272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Depends on dv/</a:t>
            </a:r>
            <a:r>
              <a:rPr lang="en-US" sz="1400" dirty="0" err="1" smtClean="0"/>
              <a:t>dt</a:t>
            </a:r>
            <a:r>
              <a:rPr lang="en-US" sz="1400" dirty="0" smtClean="0"/>
              <a:t> and di/</a:t>
            </a:r>
            <a:r>
              <a:rPr lang="en-US" sz="1400" dirty="0" err="1" smtClean="0"/>
              <a:t>dt</a:t>
            </a:r>
            <a:endParaRPr lang="sv-SE" sz="14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5"/>
          <a:srcRect t="5062"/>
          <a:stretch/>
        </p:blipFill>
        <p:spPr>
          <a:xfrm>
            <a:off x="5647827" y="4255547"/>
            <a:ext cx="1341121" cy="44886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948" y="4244313"/>
            <a:ext cx="1169744" cy="4189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58465" y="2846935"/>
            <a:ext cx="107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10mJ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3910883" y="1678065"/>
            <a:ext cx="1886272" cy="5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68144" y="149339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3798757" y="2541935"/>
            <a:ext cx="2652892" cy="85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40489" y="235726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8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960655"/>
            <a:ext cx="3240360" cy="24302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42653"/>
            <a:ext cx="3736529" cy="2448272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067944" y="2166789"/>
            <a:ext cx="1088007" cy="9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3352590"/>
            <a:ext cx="1872208" cy="1399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94240" y="3867894"/>
            <a:ext cx="334225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smtClean="0"/>
              <a:t>Scaled by </a:t>
            </a:r>
            <a:r>
              <a:rPr lang="en-US" sz="1200" dirty="0"/>
              <a:t>considering </a:t>
            </a:r>
            <a:r>
              <a:rPr lang="en-US" sz="1200" dirty="0" smtClean="0"/>
              <a:t> 1.7 kV </a:t>
            </a:r>
            <a:r>
              <a:rPr lang="sv-SE" sz="1200" dirty="0" smtClean="0"/>
              <a:t> </a:t>
            </a:r>
            <a:r>
              <a:rPr lang="en-US" sz="1200" dirty="0" smtClean="0"/>
              <a:t>Wolf-Speed power modules which have test data with higher dv/</a:t>
            </a:r>
            <a:r>
              <a:rPr lang="en-US" sz="1200" dirty="0" err="1" smtClean="0"/>
              <a:t>dt</a:t>
            </a:r>
            <a:endParaRPr lang="sv-SE" sz="1200" dirty="0" err="1"/>
          </a:p>
        </p:txBody>
      </p:sp>
    </p:spTree>
    <p:extLst>
      <p:ext uri="{BB962C8B-B14F-4D97-AF65-F5344CB8AC3E}">
        <p14:creationId xmlns:p14="http://schemas.microsoft.com/office/powerpoint/2010/main" val="394176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897732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18416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2346" b="-246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9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9582"/>
            <a:ext cx="3936438" cy="29523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059582"/>
            <a:ext cx="3936437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4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Cases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junction temperature is taken at </a:t>
                </a:r>
                <a14:m>
                  <m:oMath xmlns:m="http://schemas.openxmlformats.org/officeDocument/2006/math">
                    <m:r>
                      <a:rPr lang="sv-SE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sv-SE" sz="16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blipFill>
                <a:blip r:embed="rId2"/>
                <a:stretch>
                  <a:fillRect l="-3351" t="-12346" r="-529" b="-37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61453"/>
            <a:ext cx="4035152" cy="3026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045647"/>
            <a:ext cx="4056227" cy="3042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0032" y="4235732"/>
            <a:ext cx="34563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we lower dv/</a:t>
            </a:r>
            <a:r>
              <a:rPr lang="en-US" sz="1600" dirty="0" err="1" smtClean="0"/>
              <a:t>dt</a:t>
            </a:r>
            <a:r>
              <a:rPr lang="en-US" sz="1600" dirty="0" smtClean="0"/>
              <a:t> 2.5 times </a:t>
            </a:r>
            <a:endParaRPr lang="sv-SE" sz="1600" dirty="0" err="1"/>
          </a:p>
        </p:txBody>
      </p:sp>
    </p:spTree>
    <p:extLst>
      <p:ext uri="{BB962C8B-B14F-4D97-AF65-F5344CB8AC3E}">
        <p14:creationId xmlns:p14="http://schemas.microsoft.com/office/powerpoint/2010/main" val="167849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Cases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7574"/>
            <a:ext cx="4056227" cy="3042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3568" y="4177659"/>
            <a:ext cx="34563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we lower dv/</a:t>
            </a:r>
            <a:r>
              <a:rPr lang="en-US" sz="1600" dirty="0" err="1" smtClean="0"/>
              <a:t>dt</a:t>
            </a:r>
            <a:r>
              <a:rPr lang="en-US" sz="1600" dirty="0" smtClean="0"/>
              <a:t> 2.5 times </a:t>
            </a:r>
            <a:endParaRPr lang="sv-SE" sz="1600" dirty="0" err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951868"/>
            <a:ext cx="3960440" cy="297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7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2024-05-08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13</a:t>
            </a:fld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on the Motor</a:t>
            </a:r>
            <a:endParaRPr lang="sv-SE" dirty="0"/>
          </a:p>
        </p:txBody>
      </p:sp>
      <p:sp>
        <p:nvSpPr>
          <p:cNvPr id="6" name="TextBox 5"/>
          <p:cNvSpPr txBox="1"/>
          <p:nvPr/>
        </p:nvSpPr>
        <p:spPr>
          <a:xfrm>
            <a:off x="899592" y="3694274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Decreasing trend </a:t>
            </a:r>
            <a:endParaRPr lang="sv-SE" sz="1600" dirty="0" err="1"/>
          </a:p>
        </p:txBody>
      </p:sp>
      <p:sp>
        <p:nvSpPr>
          <p:cNvPr id="13" name="TextBox 12"/>
          <p:cNvSpPr txBox="1"/>
          <p:nvPr/>
        </p:nvSpPr>
        <p:spPr>
          <a:xfrm>
            <a:off x="547936" y="1118968"/>
            <a:ext cx="69127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We have trade-off between motor harmonic losses and inverter losses. </a:t>
            </a:r>
            <a:endParaRPr lang="sv-SE" sz="1600" dirty="0" err="1"/>
          </a:p>
        </p:txBody>
      </p:sp>
      <p:sp>
        <p:nvSpPr>
          <p:cNvPr id="14" name="TextBox 13"/>
          <p:cNvSpPr txBox="1"/>
          <p:nvPr/>
        </p:nvSpPr>
        <p:spPr>
          <a:xfrm>
            <a:off x="6835080" y="3659249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Increasing trend </a:t>
            </a:r>
            <a:endParaRPr lang="sv-SE" sz="1600" dirty="0" err="1"/>
          </a:p>
        </p:txBody>
      </p:sp>
      <p:sp>
        <p:nvSpPr>
          <p:cNvPr id="18" name="TextBox 17"/>
          <p:cNvSpPr txBox="1"/>
          <p:nvPr/>
        </p:nvSpPr>
        <p:spPr>
          <a:xfrm>
            <a:off x="3851920" y="2007851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Optimum point</a:t>
            </a:r>
            <a:endParaRPr lang="sv-SE" sz="1600" dirty="0" err="1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8" y="1513118"/>
            <a:ext cx="2659648" cy="199473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463" y="1372615"/>
            <a:ext cx="3029373" cy="227203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755738"/>
            <a:ext cx="2737656" cy="2053242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 flipV="1">
            <a:off x="4139952" y="2283718"/>
            <a:ext cx="288708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1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Estimation- Impedance Model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0" y="1357015"/>
            <a:ext cx="3744416" cy="2808312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4355976" y="2859782"/>
            <a:ext cx="715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554237"/>
            <a:ext cx="3481453" cy="26110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203" y="4011910"/>
            <a:ext cx="1533461" cy="7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5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Estimation-Impedance Model</a:t>
            </a:r>
            <a:endParaRPr lang="sv-SE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9" y="980401"/>
            <a:ext cx="4783741" cy="16326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79712" y="937560"/>
            <a:ext cx="897280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3528024" y="939007"/>
            <a:ext cx="971968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l="16815" r="29918"/>
          <a:stretch/>
        </p:blipFill>
        <p:spPr>
          <a:xfrm>
            <a:off x="5834370" y="1785783"/>
            <a:ext cx="2312659" cy="2247624"/>
          </a:xfrm>
          <a:prstGeom prst="rect">
            <a:avLst/>
          </a:prstGeom>
        </p:spPr>
      </p:pic>
      <p:cxnSp>
        <p:nvCxnSpPr>
          <p:cNvPr id="25" name="Straight Arrow Connector 24"/>
          <p:cNvCxnSpPr>
            <a:endCxn id="23" idx="0"/>
          </p:cNvCxnSpPr>
          <p:nvPr/>
        </p:nvCxnSpPr>
        <p:spPr>
          <a:xfrm>
            <a:off x="5001710" y="1542869"/>
            <a:ext cx="1988990" cy="24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40019" y="2753471"/>
            <a:ext cx="490804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Harmonic distribution changes regarding inverter operation</a:t>
            </a:r>
            <a:endParaRPr lang="sv-SE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3093381"/>
            <a:ext cx="2169150" cy="1626862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29" idx="3"/>
          </p:cNvCxnSpPr>
          <p:nvPr/>
        </p:nvCxnSpPr>
        <p:spPr>
          <a:xfrm flipV="1">
            <a:off x="4796934" y="2790566"/>
            <a:ext cx="1751160" cy="1116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948329" y="3721159"/>
            <a:ext cx="129614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Loss Factor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1241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Losses 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7574"/>
            <a:ext cx="4949957" cy="371246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267744" y="662538"/>
            <a:ext cx="2933733" cy="1626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45493" y="200873"/>
            <a:ext cx="187220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Optimum switching frequency</a:t>
            </a:r>
            <a:endParaRPr lang="sv-SE" sz="2000" dirty="0" err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310238"/>
            <a:ext cx="4139952" cy="31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Losses Calculation</a:t>
            </a:r>
            <a:endParaRPr lang="sv-S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03598"/>
            <a:ext cx="4104456" cy="30783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229587"/>
            <a:ext cx="4035152" cy="30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3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Modules</a:t>
            </a:r>
            <a:endParaRPr lang="sv-SE" dirty="0"/>
          </a:p>
        </p:txBody>
      </p:sp>
      <p:sp>
        <p:nvSpPr>
          <p:cNvPr id="3" name="Content Placeholder 3"/>
          <p:cNvSpPr txBox="1">
            <a:spLocks noGrp="1"/>
          </p:cNvSpPr>
          <p:nvPr>
            <p:ph idx="4294967295"/>
          </p:nvPr>
        </p:nvSpPr>
        <p:spPr>
          <a:xfrm>
            <a:off x="817159" y="1172860"/>
            <a:ext cx="2010745" cy="4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200" dirty="0" err="1" smtClean="0"/>
              <a:t>Voltage</a:t>
            </a:r>
            <a:r>
              <a:rPr lang="sv-SE" sz="1200" dirty="0" smtClean="0"/>
              <a:t> rating: 2kV </a:t>
            </a:r>
          </a:p>
          <a:p>
            <a:pPr marL="0" indent="0">
              <a:buNone/>
            </a:pPr>
            <a:r>
              <a:rPr lang="sv-SE" sz="1200" dirty="0" err="1" smtClean="0"/>
              <a:t>Current</a:t>
            </a:r>
            <a:r>
              <a:rPr lang="sv-SE" sz="1200" dirty="0" smtClean="0"/>
              <a:t> rating: 400A</a:t>
            </a:r>
          </a:p>
        </p:txBody>
      </p:sp>
      <p:sp>
        <p:nvSpPr>
          <p:cNvPr id="4" name="Rectangle 3"/>
          <p:cNvSpPr/>
          <p:nvPr/>
        </p:nvSpPr>
        <p:spPr>
          <a:xfrm>
            <a:off x="2943157" y="1102938"/>
            <a:ext cx="1380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FF3MR20KM1H  </a:t>
            </a:r>
          </a:p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10 dies in parallel </a:t>
            </a:r>
            <a:endParaRPr lang="sv-SE" sz="1200" dirty="0"/>
          </a:p>
        </p:txBody>
      </p:sp>
      <p:sp>
        <p:nvSpPr>
          <p:cNvPr id="9" name="Content Placeholder 3"/>
          <p:cNvSpPr txBox="1">
            <a:spLocks noGrp="1"/>
          </p:cNvSpPr>
          <p:nvPr>
            <p:ph idx="4294967295"/>
          </p:nvPr>
        </p:nvSpPr>
        <p:spPr>
          <a:xfrm>
            <a:off x="827583" y="1940511"/>
            <a:ext cx="3301365" cy="4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200" dirty="0" err="1" smtClean="0">
                <a:solidFill>
                  <a:srgbClr val="FF0000"/>
                </a:solidFill>
              </a:rPr>
              <a:t>Voltage</a:t>
            </a:r>
            <a:r>
              <a:rPr lang="sv-SE" sz="1200" dirty="0" smtClean="0">
                <a:solidFill>
                  <a:srgbClr val="FF0000"/>
                </a:solidFill>
              </a:rPr>
              <a:t> rating: 2kV </a:t>
            </a:r>
          </a:p>
          <a:p>
            <a:pPr marL="0" indent="0">
              <a:buNone/>
            </a:pPr>
            <a:r>
              <a:rPr lang="sv-SE" sz="1200" dirty="0" err="1" smtClean="0">
                <a:solidFill>
                  <a:srgbClr val="FF0000"/>
                </a:solidFill>
              </a:rPr>
              <a:t>Current</a:t>
            </a:r>
            <a:r>
              <a:rPr lang="sv-SE" sz="1200" dirty="0" smtClean="0">
                <a:solidFill>
                  <a:srgbClr val="FF0000"/>
                </a:solidFill>
              </a:rPr>
              <a:t> rating: 440A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411" y="2035666"/>
            <a:ext cx="13116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11 dies in parallel </a:t>
            </a:r>
            <a:endParaRPr lang="sv-SE" sz="12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474345" y="2185706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00509" y="2099556"/>
            <a:ext cx="2475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200" dirty="0" err="1" smtClean="0">
                <a:solidFill>
                  <a:srgbClr val="FF0000"/>
                </a:solidFill>
              </a:rPr>
              <a:t>Desired</a:t>
            </a:r>
            <a:r>
              <a:rPr lang="sv-SE" sz="1200" dirty="0" smtClean="0">
                <a:solidFill>
                  <a:srgbClr val="FF0000"/>
                </a:solidFill>
              </a:rPr>
              <a:t> </a:t>
            </a:r>
            <a:r>
              <a:rPr lang="sv-SE" sz="1200" dirty="0" err="1" smtClean="0">
                <a:solidFill>
                  <a:srgbClr val="FF0000"/>
                </a:solidFill>
              </a:rPr>
              <a:t>one</a:t>
            </a:r>
            <a:r>
              <a:rPr lang="sv-SE" sz="1200" dirty="0" smtClean="0">
                <a:solidFill>
                  <a:srgbClr val="FF0000"/>
                </a:solidFill>
              </a:rPr>
              <a:t> for fast dv/dt, 14 kHz </a:t>
            </a:r>
            <a:endParaRPr lang="sv-SE" sz="1200" dirty="0">
              <a:solidFill>
                <a:srgbClr val="FF0000"/>
              </a:solidFill>
            </a:endParaRPr>
          </a:p>
        </p:txBody>
      </p:sp>
      <p:sp>
        <p:nvSpPr>
          <p:cNvPr id="15" name="Content Placeholder 3"/>
          <p:cNvSpPr txBox="1">
            <a:spLocks noGrp="1"/>
          </p:cNvSpPr>
          <p:nvPr>
            <p:ph idx="4294967295"/>
          </p:nvPr>
        </p:nvSpPr>
        <p:spPr>
          <a:xfrm>
            <a:off x="827584" y="2715653"/>
            <a:ext cx="3301365" cy="4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200" dirty="0" err="1" smtClean="0"/>
              <a:t>Voltage</a:t>
            </a:r>
            <a:r>
              <a:rPr lang="sv-SE" sz="1200" dirty="0" smtClean="0"/>
              <a:t> rating: 2kV </a:t>
            </a:r>
          </a:p>
          <a:p>
            <a:pPr marL="0" indent="0">
              <a:buNone/>
            </a:pPr>
            <a:r>
              <a:rPr lang="sv-SE" sz="1200" dirty="0" err="1" smtClean="0"/>
              <a:t>Current</a:t>
            </a:r>
            <a:r>
              <a:rPr lang="sv-SE" sz="1200" dirty="0" smtClean="0"/>
              <a:t> rating: 600A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411" y="2835380"/>
            <a:ext cx="13116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15 dies in parallel </a:t>
            </a:r>
            <a:endParaRPr lang="sv-SE" sz="1200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525395" y="2972390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95573" y="2835380"/>
            <a:ext cx="2475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200" dirty="0" err="1"/>
              <a:t>Desired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for </a:t>
            </a:r>
            <a:r>
              <a:rPr lang="sv-SE" sz="1200" dirty="0" err="1" smtClean="0"/>
              <a:t>slow</a:t>
            </a:r>
            <a:r>
              <a:rPr lang="sv-SE" sz="1200" dirty="0" smtClean="0"/>
              <a:t> </a:t>
            </a:r>
            <a:r>
              <a:rPr lang="sv-SE" sz="1200" dirty="0"/>
              <a:t>dv/dt, </a:t>
            </a:r>
            <a:r>
              <a:rPr lang="sv-SE" sz="1200" dirty="0" smtClean="0"/>
              <a:t>9 </a:t>
            </a:r>
            <a:r>
              <a:rPr lang="sv-SE" sz="1200" dirty="0"/>
              <a:t>kHz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6928" y="1187757"/>
            <a:ext cx="24750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200" dirty="0" err="1" smtClean="0"/>
              <a:t>Can</a:t>
            </a:r>
            <a:r>
              <a:rPr lang="sv-SE" sz="1200" dirty="0" smtClean="0"/>
              <a:t> </a:t>
            </a:r>
            <a:r>
              <a:rPr lang="sv-SE" sz="1200" dirty="0" err="1" smtClean="0"/>
              <a:t>we</a:t>
            </a:r>
            <a:r>
              <a:rPr lang="sv-SE" sz="1200" dirty="0" smtClean="0"/>
              <a:t> </a:t>
            </a:r>
            <a:r>
              <a:rPr lang="sv-SE" sz="1200" dirty="0" err="1" smtClean="0"/>
              <a:t>use</a:t>
            </a:r>
            <a:r>
              <a:rPr lang="sv-SE" sz="1200" dirty="0" smtClean="0"/>
              <a:t> an off-the-</a:t>
            </a:r>
            <a:r>
              <a:rPr lang="sv-SE" sz="1200" dirty="0" err="1" smtClean="0"/>
              <a:t>shelf</a:t>
            </a:r>
            <a:r>
              <a:rPr lang="sv-SE" sz="1200" dirty="0" smtClean="0"/>
              <a:t> </a:t>
            </a:r>
            <a:r>
              <a:rPr lang="sv-SE" sz="1200" dirty="0" err="1" smtClean="0"/>
              <a:t>power</a:t>
            </a:r>
            <a:r>
              <a:rPr lang="sv-SE" sz="1200" dirty="0" smtClean="0"/>
              <a:t> </a:t>
            </a:r>
            <a:r>
              <a:rPr lang="sv-SE" sz="1200" dirty="0" err="1" smtClean="0"/>
              <a:t>module</a:t>
            </a:r>
            <a:r>
              <a:rPr lang="sv-SE" sz="1200" dirty="0" smtClean="0"/>
              <a:t> ?</a:t>
            </a:r>
            <a:endParaRPr lang="sv-SE" sz="12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474345" y="1356853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3"/>
          <p:cNvSpPr txBox="1">
            <a:spLocks noGrp="1"/>
          </p:cNvSpPr>
          <p:nvPr>
            <p:ph idx="4294967295"/>
          </p:nvPr>
        </p:nvSpPr>
        <p:spPr>
          <a:xfrm>
            <a:off x="805957" y="3806742"/>
            <a:ext cx="3301365" cy="490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400" dirty="0" err="1" smtClean="0">
                <a:solidFill>
                  <a:srgbClr val="FF0000"/>
                </a:solidFill>
              </a:rPr>
              <a:t>Voltage</a:t>
            </a:r>
            <a:r>
              <a:rPr lang="sv-SE" sz="1400" dirty="0" smtClean="0">
                <a:solidFill>
                  <a:srgbClr val="FF0000"/>
                </a:solidFill>
              </a:rPr>
              <a:t> rating: </a:t>
            </a:r>
            <a:r>
              <a:rPr lang="sv-SE" sz="1400" dirty="0" smtClean="0">
                <a:solidFill>
                  <a:srgbClr val="FF0000"/>
                </a:solidFill>
              </a:rPr>
              <a:t>1.7kV </a:t>
            </a:r>
            <a:endParaRPr lang="sv-SE" sz="1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sv-SE" sz="1400" dirty="0" err="1" smtClean="0">
                <a:solidFill>
                  <a:srgbClr val="FF0000"/>
                </a:solidFill>
              </a:rPr>
              <a:t>Current</a:t>
            </a:r>
            <a:r>
              <a:rPr lang="sv-SE" sz="1400" dirty="0" smtClean="0">
                <a:solidFill>
                  <a:srgbClr val="FF0000"/>
                </a:solidFill>
              </a:rPr>
              <a:t> rating: </a:t>
            </a:r>
            <a:r>
              <a:rPr lang="sv-SE" sz="1400" dirty="0" smtClean="0">
                <a:solidFill>
                  <a:srgbClr val="FF0000"/>
                </a:solidFill>
              </a:rPr>
              <a:t>360 - </a:t>
            </a:r>
            <a:r>
              <a:rPr lang="sv-SE" sz="1400" dirty="0" smtClean="0">
                <a:solidFill>
                  <a:srgbClr val="FF0000"/>
                </a:solidFill>
              </a:rPr>
              <a:t>440 A ?</a:t>
            </a:r>
            <a:endParaRPr lang="sv-SE" sz="1400" dirty="0" smtClean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547113" y="4006429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91880" y="3866246"/>
            <a:ext cx="247509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400" dirty="0" err="1" smtClean="0"/>
              <a:t>Can</a:t>
            </a:r>
            <a:r>
              <a:rPr lang="sv-SE" sz="1400" dirty="0" smtClean="0"/>
              <a:t> </a:t>
            </a:r>
            <a:r>
              <a:rPr lang="sv-SE" sz="1400" dirty="0" err="1" smtClean="0"/>
              <a:t>we</a:t>
            </a:r>
            <a:r>
              <a:rPr lang="sv-SE" sz="1400" dirty="0" smtClean="0"/>
              <a:t> </a:t>
            </a:r>
            <a:r>
              <a:rPr lang="sv-SE" sz="1400" dirty="0" err="1" smtClean="0"/>
              <a:t>acquire</a:t>
            </a:r>
            <a:r>
              <a:rPr lang="sv-SE" sz="1400" dirty="0" smtClean="0"/>
              <a:t> 1.7 kV </a:t>
            </a:r>
            <a:r>
              <a:rPr lang="sv-SE" sz="1400" dirty="0" err="1" smtClean="0"/>
              <a:t>power</a:t>
            </a:r>
            <a:r>
              <a:rPr lang="sv-SE" sz="1400" dirty="0" smtClean="0"/>
              <a:t> </a:t>
            </a:r>
            <a:r>
              <a:rPr lang="sv-SE" sz="1400" dirty="0" err="1" smtClean="0"/>
              <a:t>modules</a:t>
            </a:r>
            <a:r>
              <a:rPr lang="sv-SE" sz="1400" dirty="0" smtClean="0"/>
              <a:t> ?</a:t>
            </a:r>
            <a:endParaRPr lang="sv-SE" sz="1800" dirty="0"/>
          </a:p>
        </p:txBody>
      </p:sp>
    </p:spTree>
    <p:extLst>
      <p:ext uri="{BB962C8B-B14F-4D97-AF65-F5344CB8AC3E}">
        <p14:creationId xmlns:p14="http://schemas.microsoft.com/office/powerpoint/2010/main" val="403173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904" y="1347614"/>
            <a:ext cx="2140980" cy="566641"/>
          </a:xfrm>
        </p:spPr>
        <p:txBody>
          <a:bodyPr/>
          <a:lstStyle/>
          <a:p>
            <a:r>
              <a:rPr lang="en-US" dirty="0" smtClean="0"/>
              <a:t>Thanks !!!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2024-05-08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19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33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6614</TotalTime>
  <Words>868</Words>
  <Application>Microsoft Office PowerPoint</Application>
  <PresentationFormat>On-screen Show (16:9)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Office-tema</vt:lpstr>
      <vt:lpstr>2-Level Voltage Source Traction Inverter</vt:lpstr>
      <vt:lpstr>Agenda</vt:lpstr>
      <vt:lpstr>2-Level Inverter Power Ratings</vt:lpstr>
      <vt:lpstr>Parameters of Infineon 2kV Bare die</vt:lpstr>
      <vt:lpstr>Datasheet-Driven Loss Estimation</vt:lpstr>
      <vt:lpstr>Datasheet-driven Loss Calculation</vt:lpstr>
      <vt:lpstr>Updating Switching Losses for Fast dv/dt</vt:lpstr>
      <vt:lpstr>Updating Switching Loss for Fast dv/dt</vt:lpstr>
      <vt:lpstr>Updating Switching Losses for Fast dv/dt</vt:lpstr>
      <vt:lpstr>Updating Switching Losses for Fast dv/dt</vt:lpstr>
      <vt:lpstr>Other Cases</vt:lpstr>
      <vt:lpstr>Other Cases</vt:lpstr>
      <vt:lpstr>Harmonic Losses on the Motor</vt:lpstr>
      <vt:lpstr>Harmonic Losses Estimation- Impedance Model</vt:lpstr>
      <vt:lpstr>Harmonic Losses Estimation-Impedance Model</vt:lpstr>
      <vt:lpstr>Total Losses Calculation</vt:lpstr>
      <vt:lpstr>Total Losses Calculation</vt:lpstr>
      <vt:lpstr>Power Modules</vt:lpstr>
      <vt:lpstr>Thanks !!!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199</cp:revision>
  <dcterms:created xsi:type="dcterms:W3CDTF">2019-12-10T08:55:59Z</dcterms:created>
  <dcterms:modified xsi:type="dcterms:W3CDTF">2024-05-08T10:47:25Z</dcterms:modified>
</cp:coreProperties>
</file>