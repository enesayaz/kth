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1"/>
  </p:notesMasterIdLst>
  <p:sldIdLst>
    <p:sldId id="270" r:id="rId2"/>
    <p:sldId id="262" r:id="rId3"/>
    <p:sldId id="263" r:id="rId4"/>
    <p:sldId id="267" r:id="rId5"/>
    <p:sldId id="269" r:id="rId6"/>
    <p:sldId id="268" r:id="rId7"/>
    <p:sldId id="266" r:id="rId8"/>
    <p:sldId id="264" r:id="rId9"/>
    <p:sldId id="265" r:id="rId10"/>
  </p:sldIdLst>
  <p:sldSz cx="12192000" cy="6858000"/>
  <p:notesSz cx="6858000" cy="9144000"/>
  <p:embeddedFontLst>
    <p:embeddedFont>
      <p:font typeface="Cambria Math" panose="02040503050406030204" pitchFamily="18" charset="0"/>
      <p:regular r:id="rId12"/>
    </p:embeddedFont>
    <p:embeddedFont>
      <p:font typeface="Figtree" panose="020B0604020202020204" charset="0"/>
      <p:regular r:id="rId13"/>
      <p:bold r:id="rId14"/>
      <p:italic r:id="rId15"/>
      <p:boldItalic r:id="rId16"/>
    </p:embeddedFont>
    <p:embeddedFont>
      <p:font typeface="Georgia" panose="02040502050405020303" pitchFamily="18" charset="0"/>
      <p:regular r:id="rId17"/>
      <p:bold r:id="rId18"/>
      <p:italic r:id="rId19"/>
      <p:boldItalic r:id="rId20"/>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74" autoAdjust="0"/>
    <p:restoredTop sz="96327"/>
  </p:normalViewPr>
  <p:slideViewPr>
    <p:cSldViewPr snapToGrid="0">
      <p:cViewPr varScale="1">
        <p:scale>
          <a:sx n="122" d="100"/>
          <a:sy n="122" d="100"/>
        </p:scale>
        <p:origin x="485"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2024-09-30</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2024-09-30</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2024-09-30</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2024-09-30</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2024-09-30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2024-09-30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2024-09-30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2024-09-30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2024-09-30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2024-09-30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2024-09-30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2024-09-30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2024-09-30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2024-09-30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2024-09-30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2024-09-30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2024-09-30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2024-09-30</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2024-09-30</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2024-09-30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2024-09-30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2024-09-30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2024-09-30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2024-09-30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2024-09-30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2024-09-30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2024-09-30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2024-09-30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2024-09-30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2024-09-30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2024-09-30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2024-09-30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2024-09-30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2024-09-30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2024-09-30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2024-09-30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2024-09-30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2024-09-30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2024-09-30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2024-09-30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2024-09-30</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2024-09-30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2024-09-30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2024-09-30</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2024-09-30</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2024-09-30</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2024-09-30</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2024-09-30</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2024-09-30</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1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2.xml"/><Relationship Id="rId5" Type="http://schemas.openxmlformats.org/officeDocument/2006/relationships/image" Target="../media/image42.png"/><Relationship Id="rId4" Type="http://schemas.openxmlformats.org/officeDocument/2006/relationships/image" Target="../media/image41.png"/></Relationships>
</file>

<file path=ppt/slides/_rels/slide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2.xml"/><Relationship Id="rId4" Type="http://schemas.openxmlformats.org/officeDocument/2006/relationships/image" Target="../media/image45.png"/></Relationships>
</file>

<file path=ppt/slides/_rels/slide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1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image" Target="../media/image53.emf"/><Relationship Id="rId1" Type="http://schemas.openxmlformats.org/officeDocument/2006/relationships/slideLayout" Target="../slideLayouts/slideLayout12.xml"/><Relationship Id="rId5" Type="http://schemas.openxmlformats.org/officeDocument/2006/relationships/image" Target="../media/image56.emf"/><Relationship Id="rId4" Type="http://schemas.openxmlformats.org/officeDocument/2006/relationships/image" Target="../media/image55.emf"/></Relationships>
</file>

<file path=ppt/slides/_rels/slide9.xml.rels><?xml version="1.0" encoding="UTF-8" standalone="yes"?>
<Relationships xmlns="http://schemas.openxmlformats.org/package/2006/relationships"><Relationship Id="rId3" Type="http://schemas.openxmlformats.org/officeDocument/2006/relationships/image" Target="../media/image58.emf"/><Relationship Id="rId7" Type="http://schemas.openxmlformats.org/officeDocument/2006/relationships/image" Target="../media/image60.emf"/><Relationship Id="rId2" Type="http://schemas.openxmlformats.org/officeDocument/2006/relationships/image" Target="../media/image57.emf"/><Relationship Id="rId1" Type="http://schemas.openxmlformats.org/officeDocument/2006/relationships/slideLayout" Target="../slideLayouts/slideLayout12.xml"/><Relationship Id="rId6" Type="http://schemas.openxmlformats.org/officeDocument/2006/relationships/image" Target="../media/image400.png"/><Relationship Id="rId5" Type="http://schemas.openxmlformats.org/officeDocument/2006/relationships/image" Target="../media/image390.png"/><Relationship Id="rId4" Type="http://schemas.openxmlformats.org/officeDocument/2006/relationships/image" Target="../media/image59.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9E271-1863-711D-418F-0840CEBF7265}"/>
              </a:ext>
            </a:extLst>
          </p:cNvPr>
          <p:cNvSpPr>
            <a:spLocks noGrp="1"/>
          </p:cNvSpPr>
          <p:nvPr>
            <p:ph type="title"/>
          </p:nvPr>
        </p:nvSpPr>
        <p:spPr/>
        <p:txBody>
          <a:bodyPr/>
          <a:lstStyle/>
          <a:p>
            <a:r>
              <a:rPr lang="en-US" dirty="0"/>
              <a:t>WP4: Progress Updates</a:t>
            </a:r>
          </a:p>
        </p:txBody>
      </p:sp>
      <p:sp>
        <p:nvSpPr>
          <p:cNvPr id="3" name="Content Placeholder 2">
            <a:extLst>
              <a:ext uri="{FF2B5EF4-FFF2-40B4-BE49-F238E27FC236}">
                <a16:creationId xmlns:a16="http://schemas.microsoft.com/office/drawing/2014/main" id="{0B9DBD55-46A8-F419-6C5F-252E1044FCCA}"/>
              </a:ext>
            </a:extLst>
          </p:cNvPr>
          <p:cNvSpPr>
            <a:spLocks noGrp="1"/>
          </p:cNvSpPr>
          <p:nvPr>
            <p:ph idx="1"/>
          </p:nvPr>
        </p:nvSpPr>
        <p:spPr/>
        <p:txBody>
          <a:bodyPr/>
          <a:lstStyle/>
          <a:p>
            <a:r>
              <a:rPr lang="en-US" sz="2000" b="1" dirty="0">
                <a:solidFill>
                  <a:schemeClr val="accent6">
                    <a:lumMod val="50000"/>
                  </a:schemeClr>
                </a:solidFill>
              </a:rPr>
              <a:t>Modelling: </a:t>
            </a:r>
          </a:p>
          <a:p>
            <a:pPr marL="800100" lvl="1" indent="-342900">
              <a:buFont typeface="Arial" panose="020B0604020202020204" pitchFamily="34" charset="0"/>
              <a:buChar char="•"/>
            </a:pPr>
            <a:r>
              <a:rPr lang="en-US" sz="2000" dirty="0" err="1">
                <a:solidFill>
                  <a:schemeClr val="accent6">
                    <a:lumMod val="50000"/>
                  </a:schemeClr>
                </a:solidFill>
              </a:rPr>
              <a:t>SiC</a:t>
            </a:r>
            <a:r>
              <a:rPr lang="en-US" sz="2000" dirty="0">
                <a:solidFill>
                  <a:schemeClr val="accent6">
                    <a:lumMod val="50000"/>
                  </a:schemeClr>
                </a:solidFill>
              </a:rPr>
              <a:t> MOSFET module switching and conduction loss modeling.</a:t>
            </a:r>
          </a:p>
          <a:p>
            <a:pPr marL="800100" lvl="1" indent="-342900">
              <a:buFont typeface="Arial" panose="020B0604020202020204" pitchFamily="34" charset="0"/>
              <a:buChar char="•"/>
            </a:pPr>
            <a:r>
              <a:rPr lang="en-US" sz="2000" dirty="0">
                <a:solidFill>
                  <a:schemeClr val="accent6">
                    <a:lumMod val="50000"/>
                  </a:schemeClr>
                </a:solidFill>
              </a:rPr>
              <a:t>Inverter topologies evaluation and virtual prototyping.</a:t>
            </a:r>
          </a:p>
          <a:p>
            <a:pPr marL="800100" lvl="1" indent="-342900">
              <a:buFont typeface="Arial" panose="020B0604020202020204" pitchFamily="34" charset="0"/>
              <a:buChar char="•"/>
            </a:pPr>
            <a:r>
              <a:rPr lang="en-US" sz="2000" dirty="0">
                <a:solidFill>
                  <a:schemeClr val="accent6">
                    <a:lumMod val="50000"/>
                  </a:schemeClr>
                </a:solidFill>
              </a:rPr>
              <a:t>Gate-Drive unit modeling and classification.</a:t>
            </a:r>
          </a:p>
          <a:p>
            <a:r>
              <a:rPr lang="en-US" sz="2000" b="1" dirty="0">
                <a:solidFill>
                  <a:schemeClr val="accent6">
                    <a:lumMod val="50000"/>
                  </a:schemeClr>
                </a:solidFill>
              </a:rPr>
              <a:t>Tasks Done:</a:t>
            </a:r>
            <a:endParaRPr lang="en-US" sz="2000" dirty="0">
              <a:solidFill>
                <a:schemeClr val="accent6">
                  <a:lumMod val="50000"/>
                </a:schemeClr>
              </a:solidFill>
            </a:endParaRPr>
          </a:p>
          <a:p>
            <a:pPr marL="800100" lvl="1" indent="-342900">
              <a:buFont typeface="Arial" panose="020B0604020202020204" pitchFamily="34" charset="0"/>
              <a:buChar char="•"/>
            </a:pPr>
            <a:r>
              <a:rPr lang="en-US" sz="2000" dirty="0">
                <a:solidFill>
                  <a:schemeClr val="accent6">
                    <a:lumMod val="50000"/>
                  </a:schemeClr>
                </a:solidFill>
              </a:rPr>
              <a:t>FEM simulation of thermal management of system a 2-level prototype inverter.</a:t>
            </a:r>
          </a:p>
          <a:p>
            <a:pPr marL="800100" lvl="1" indent="-342900">
              <a:buFont typeface="Arial" panose="020B0604020202020204" pitchFamily="34" charset="0"/>
              <a:buChar char="•"/>
            </a:pPr>
            <a:r>
              <a:rPr lang="en-US" sz="2000" dirty="0">
                <a:solidFill>
                  <a:schemeClr val="accent6">
                    <a:lumMod val="50000"/>
                  </a:schemeClr>
                </a:solidFill>
              </a:rPr>
              <a:t>Two papers have been presented at ECCE Europe-2024 one about precise switching loss calculation method for </a:t>
            </a:r>
            <a:r>
              <a:rPr lang="en-US" sz="2000" dirty="0" err="1">
                <a:solidFill>
                  <a:schemeClr val="accent6">
                    <a:lumMod val="50000"/>
                  </a:schemeClr>
                </a:solidFill>
              </a:rPr>
              <a:t>SiC</a:t>
            </a:r>
            <a:r>
              <a:rPr lang="en-US" sz="2000" dirty="0">
                <a:solidFill>
                  <a:schemeClr val="accent6">
                    <a:lumMod val="50000"/>
                  </a:schemeClr>
                </a:solidFill>
              </a:rPr>
              <a:t> modules, and a device identification method to be implemented on Date-Drive unit .</a:t>
            </a:r>
          </a:p>
          <a:p>
            <a:pPr marL="800100" lvl="1" indent="-342900">
              <a:buFont typeface="Arial" panose="020B0604020202020204" pitchFamily="34" charset="0"/>
              <a:buChar char="•"/>
            </a:pPr>
            <a:endParaRPr lang="en-US" sz="2000" dirty="0">
              <a:solidFill>
                <a:schemeClr val="accent6">
                  <a:lumMod val="50000"/>
                </a:schemeClr>
              </a:solidFill>
            </a:endParaRPr>
          </a:p>
          <a:p>
            <a:r>
              <a:rPr lang="en-US" sz="2000" b="1" dirty="0">
                <a:solidFill>
                  <a:schemeClr val="accent6">
                    <a:lumMod val="50000"/>
                  </a:schemeClr>
                </a:solidFill>
              </a:rPr>
              <a:t>Ongoing Tasks :</a:t>
            </a:r>
            <a:endParaRPr lang="en-US" sz="2000" dirty="0">
              <a:solidFill>
                <a:schemeClr val="accent6">
                  <a:lumMod val="50000"/>
                </a:schemeClr>
              </a:solidFill>
            </a:endParaRPr>
          </a:p>
          <a:p>
            <a:pPr marL="800100" lvl="1" indent="-342900">
              <a:buFont typeface="Arial" panose="020B0604020202020204" pitchFamily="34" charset="0"/>
              <a:buChar char="•"/>
            </a:pPr>
            <a:r>
              <a:rPr lang="en-US" sz="2000" dirty="0">
                <a:solidFill>
                  <a:schemeClr val="accent6">
                    <a:lumMod val="50000"/>
                  </a:schemeClr>
                </a:solidFill>
              </a:rPr>
              <a:t>The prototype of a back-to-back 2-level inverter is under development. </a:t>
            </a:r>
          </a:p>
          <a:p>
            <a:pPr marL="800100" lvl="1" indent="-342900">
              <a:buFont typeface="Arial" panose="020B0604020202020204" pitchFamily="34" charset="0"/>
              <a:buChar char="•"/>
            </a:pPr>
            <a:r>
              <a:rPr lang="en-US" sz="2000" dirty="0">
                <a:solidFill>
                  <a:schemeClr val="accent6">
                    <a:lumMod val="50000"/>
                  </a:schemeClr>
                </a:solidFill>
              </a:rPr>
              <a:t>Model the electrothermal behavior and </a:t>
            </a:r>
          </a:p>
          <a:p>
            <a:endParaRPr lang="en-US" dirty="0"/>
          </a:p>
        </p:txBody>
      </p:sp>
    </p:spTree>
    <p:extLst>
      <p:ext uri="{BB962C8B-B14F-4D97-AF65-F5344CB8AC3E}">
        <p14:creationId xmlns:p14="http://schemas.microsoft.com/office/powerpoint/2010/main" val="2404918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4143" y="276122"/>
            <a:ext cx="10990263" cy="568412"/>
          </a:xfrm>
        </p:spPr>
        <p:txBody>
          <a:bodyPr/>
          <a:lstStyle/>
          <a:p>
            <a:r>
              <a:rPr lang="en-US" dirty="0"/>
              <a:t>WP4 : Evaluation of Topologies</a:t>
            </a:r>
            <a:endParaRPr lang="sv-SE" dirty="0"/>
          </a:p>
        </p:txBody>
      </p:sp>
      <p:pic>
        <p:nvPicPr>
          <p:cNvPr id="7" name="Picture 6"/>
          <p:cNvPicPr>
            <a:picLocks noChangeAspect="1"/>
          </p:cNvPicPr>
          <p:nvPr/>
        </p:nvPicPr>
        <p:blipFill>
          <a:blip r:embed="rId2"/>
          <a:stretch>
            <a:fillRect/>
          </a:stretch>
        </p:blipFill>
        <p:spPr>
          <a:xfrm>
            <a:off x="255444" y="1709271"/>
            <a:ext cx="4006517" cy="1634470"/>
          </a:xfrm>
          <a:prstGeom prst="rect">
            <a:avLst/>
          </a:prstGeom>
        </p:spPr>
      </p:pic>
      <p:pic>
        <p:nvPicPr>
          <p:cNvPr id="8" name="Picture 7"/>
          <p:cNvPicPr>
            <a:picLocks noChangeAspect="1"/>
          </p:cNvPicPr>
          <p:nvPr/>
        </p:nvPicPr>
        <p:blipFill>
          <a:blip r:embed="rId3"/>
          <a:stretch>
            <a:fillRect/>
          </a:stretch>
        </p:blipFill>
        <p:spPr>
          <a:xfrm>
            <a:off x="3839753" y="1813947"/>
            <a:ext cx="4850932" cy="1579012"/>
          </a:xfrm>
          <a:prstGeom prst="rect">
            <a:avLst/>
          </a:prstGeom>
        </p:spPr>
      </p:pic>
      <p:pic>
        <p:nvPicPr>
          <p:cNvPr id="9" name="Picture 8"/>
          <p:cNvPicPr>
            <a:picLocks noChangeAspect="1"/>
          </p:cNvPicPr>
          <p:nvPr/>
        </p:nvPicPr>
        <p:blipFill>
          <a:blip r:embed="rId4"/>
          <a:stretch>
            <a:fillRect/>
          </a:stretch>
        </p:blipFill>
        <p:spPr>
          <a:xfrm>
            <a:off x="8600434" y="982366"/>
            <a:ext cx="3375808" cy="2528305"/>
          </a:xfrm>
          <a:prstGeom prst="rect">
            <a:avLst/>
          </a:prstGeom>
        </p:spPr>
      </p:pic>
      <p:sp>
        <p:nvSpPr>
          <p:cNvPr id="10" name="Rectangle 9"/>
          <p:cNvSpPr/>
          <p:nvPr/>
        </p:nvSpPr>
        <p:spPr>
          <a:xfrm>
            <a:off x="5576047" y="1709271"/>
            <a:ext cx="848659" cy="2091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 name="Rectangle 10"/>
          <p:cNvSpPr/>
          <p:nvPr/>
        </p:nvSpPr>
        <p:spPr>
          <a:xfrm>
            <a:off x="9803796" y="844534"/>
            <a:ext cx="848659" cy="2091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2" name="Rectangle 11"/>
          <p:cNvSpPr/>
          <p:nvPr/>
        </p:nvSpPr>
        <p:spPr>
          <a:xfrm>
            <a:off x="1501671" y="3343741"/>
            <a:ext cx="1377300" cy="369332"/>
          </a:xfrm>
          <a:prstGeom prst="rect">
            <a:avLst/>
          </a:prstGeom>
        </p:spPr>
        <p:txBody>
          <a:bodyPr wrap="none">
            <a:spAutoFit/>
          </a:bodyPr>
          <a:lstStyle/>
          <a:p>
            <a:r>
              <a:rPr lang="sv-SE" dirty="0">
                <a:latin typeface="NimbusRomNo9L-Regu"/>
              </a:rPr>
              <a:t>2L-3Ph-VSI</a:t>
            </a:r>
            <a:endParaRPr lang="sv-SE" dirty="0"/>
          </a:p>
        </p:txBody>
      </p:sp>
      <p:sp>
        <p:nvSpPr>
          <p:cNvPr id="13" name="Rectangle 12"/>
          <p:cNvSpPr/>
          <p:nvPr/>
        </p:nvSpPr>
        <p:spPr>
          <a:xfrm>
            <a:off x="9561216" y="3510671"/>
            <a:ext cx="1454244" cy="369332"/>
          </a:xfrm>
          <a:prstGeom prst="rect">
            <a:avLst/>
          </a:prstGeom>
        </p:spPr>
        <p:txBody>
          <a:bodyPr wrap="none">
            <a:spAutoFit/>
          </a:bodyPr>
          <a:lstStyle/>
          <a:p>
            <a:r>
              <a:rPr lang="sv-SE" dirty="0">
                <a:latin typeface="NimbusRomNo9L-Regu"/>
              </a:rPr>
              <a:t>3L-NPC-VSI</a:t>
            </a:r>
            <a:endParaRPr lang="sv-SE" dirty="0"/>
          </a:p>
        </p:txBody>
      </p:sp>
      <p:sp>
        <p:nvSpPr>
          <p:cNvPr id="14" name="Rectangle 13"/>
          <p:cNvSpPr/>
          <p:nvPr/>
        </p:nvSpPr>
        <p:spPr>
          <a:xfrm>
            <a:off x="5430980" y="3385306"/>
            <a:ext cx="1377300" cy="369332"/>
          </a:xfrm>
          <a:prstGeom prst="rect">
            <a:avLst/>
          </a:prstGeom>
        </p:spPr>
        <p:txBody>
          <a:bodyPr wrap="none">
            <a:spAutoFit/>
          </a:bodyPr>
          <a:lstStyle/>
          <a:p>
            <a:r>
              <a:rPr lang="sv-SE" dirty="0">
                <a:latin typeface="NimbusRomNo9L-Regu"/>
              </a:rPr>
              <a:t>2L-6Ph-VSI</a:t>
            </a:r>
            <a:endParaRPr lang="sv-SE" dirty="0"/>
          </a:p>
        </p:txBody>
      </p:sp>
      <p:sp>
        <p:nvSpPr>
          <p:cNvPr id="15" name="TextBox 14"/>
          <p:cNvSpPr txBox="1"/>
          <p:nvPr/>
        </p:nvSpPr>
        <p:spPr>
          <a:xfrm>
            <a:off x="32528" y="4546963"/>
            <a:ext cx="4220126" cy="954107"/>
          </a:xfrm>
          <a:prstGeom prst="rect">
            <a:avLst/>
          </a:prstGeom>
          <a:noFill/>
        </p:spPr>
        <p:txBody>
          <a:bodyPr wrap="square" rtlCol="0">
            <a:spAutoFit/>
          </a:bodyPr>
          <a:lstStyle/>
          <a:p>
            <a:r>
              <a:rPr lang="en-US" sz="1400" dirty="0">
                <a:solidFill>
                  <a:schemeClr val="accent6">
                    <a:lumMod val="50000"/>
                  </a:schemeClr>
                </a:solidFill>
              </a:rPr>
              <a:t>1. Semiconductor Loss Modelling by using figure-of-merit parameters for each topology: </a:t>
            </a:r>
          </a:p>
          <a:p>
            <a:pPr lvl="1"/>
            <a:r>
              <a:rPr lang="en-US" sz="1400" dirty="0">
                <a:solidFill>
                  <a:schemeClr val="accent6">
                    <a:lumMod val="50000"/>
                  </a:schemeClr>
                </a:solidFill>
              </a:rPr>
              <a:t>Conduction Loss</a:t>
            </a:r>
          </a:p>
          <a:p>
            <a:pPr lvl="1"/>
            <a:r>
              <a:rPr lang="en-US" sz="1400" dirty="0">
                <a:solidFill>
                  <a:schemeClr val="accent6">
                    <a:lumMod val="50000"/>
                  </a:schemeClr>
                </a:solidFill>
              </a:rPr>
              <a:t>Switching Loss</a:t>
            </a:r>
            <a:endParaRPr lang="sv-SE" sz="1400" dirty="0">
              <a:solidFill>
                <a:schemeClr val="accent6">
                  <a:lumMod val="50000"/>
                </a:schemeClr>
              </a:solidFill>
            </a:endParaRPr>
          </a:p>
        </p:txBody>
      </p:sp>
      <p:pic>
        <p:nvPicPr>
          <p:cNvPr id="21" name="Picture 20"/>
          <p:cNvPicPr>
            <a:picLocks noChangeAspect="1"/>
          </p:cNvPicPr>
          <p:nvPr/>
        </p:nvPicPr>
        <p:blipFill>
          <a:blip r:embed="rId5"/>
          <a:stretch>
            <a:fillRect/>
          </a:stretch>
        </p:blipFill>
        <p:spPr>
          <a:xfrm>
            <a:off x="308741" y="5515372"/>
            <a:ext cx="2560922" cy="1113897"/>
          </a:xfrm>
          <a:prstGeom prst="rect">
            <a:avLst/>
          </a:prstGeom>
        </p:spPr>
      </p:pic>
      <p:sp>
        <p:nvSpPr>
          <p:cNvPr id="24" name="TextBox 23"/>
          <p:cNvSpPr txBox="1"/>
          <p:nvPr/>
        </p:nvSpPr>
        <p:spPr>
          <a:xfrm>
            <a:off x="4261961" y="4558810"/>
            <a:ext cx="4249002" cy="523220"/>
          </a:xfrm>
          <a:prstGeom prst="rect">
            <a:avLst/>
          </a:prstGeom>
          <a:noFill/>
        </p:spPr>
        <p:txBody>
          <a:bodyPr wrap="square" rtlCol="0">
            <a:spAutoFit/>
          </a:bodyPr>
          <a:lstStyle/>
          <a:p>
            <a:r>
              <a:rPr lang="sv-SE" sz="1400" dirty="0">
                <a:solidFill>
                  <a:schemeClr val="accent6">
                    <a:lumMod val="50000"/>
                  </a:schemeClr>
                </a:solidFill>
              </a:rPr>
              <a:t>2. </a:t>
            </a:r>
            <a:r>
              <a:rPr lang="sv-SE" sz="1400" dirty="0" err="1">
                <a:solidFill>
                  <a:schemeClr val="accent6">
                    <a:lumMod val="50000"/>
                  </a:schemeClr>
                </a:solidFill>
              </a:rPr>
              <a:t>Cooling</a:t>
            </a:r>
            <a:r>
              <a:rPr lang="sv-SE" sz="1400" dirty="0">
                <a:solidFill>
                  <a:schemeClr val="accent6">
                    <a:lumMod val="50000"/>
                  </a:schemeClr>
                </a:solidFill>
              </a:rPr>
              <a:t> System </a:t>
            </a:r>
            <a:r>
              <a:rPr lang="sv-SE" sz="1400" dirty="0" err="1">
                <a:solidFill>
                  <a:schemeClr val="accent6">
                    <a:lumMod val="50000"/>
                  </a:schemeClr>
                </a:solidFill>
              </a:rPr>
              <a:t>Size</a:t>
            </a:r>
            <a:r>
              <a:rPr lang="sv-SE" sz="1400" dirty="0">
                <a:solidFill>
                  <a:schemeClr val="accent6">
                    <a:lumMod val="50000"/>
                  </a:schemeClr>
                </a:solidFill>
              </a:rPr>
              <a:t> </a:t>
            </a:r>
            <a:r>
              <a:rPr lang="sv-SE" sz="1400" dirty="0" err="1">
                <a:solidFill>
                  <a:schemeClr val="accent6">
                    <a:lumMod val="50000"/>
                  </a:schemeClr>
                </a:solidFill>
              </a:rPr>
              <a:t>Estimation</a:t>
            </a:r>
            <a:r>
              <a:rPr lang="sv-SE" sz="1400" dirty="0">
                <a:solidFill>
                  <a:schemeClr val="accent6">
                    <a:lumMod val="50000"/>
                  </a:schemeClr>
                </a:solidFill>
              </a:rPr>
              <a:t> </a:t>
            </a:r>
            <a:r>
              <a:rPr lang="sv-SE" sz="1400" dirty="0" err="1">
                <a:solidFill>
                  <a:schemeClr val="accent6">
                    <a:lumMod val="50000"/>
                  </a:schemeClr>
                </a:solidFill>
              </a:rPr>
              <a:t>using</a:t>
            </a:r>
            <a:r>
              <a:rPr lang="sv-SE" sz="1400" dirty="0">
                <a:solidFill>
                  <a:schemeClr val="accent6">
                    <a:lumMod val="50000"/>
                  </a:schemeClr>
                </a:solidFill>
              </a:rPr>
              <a:t> CSPI </a:t>
            </a:r>
          </a:p>
          <a:p>
            <a:endParaRPr lang="sv-SE" sz="1400" dirty="0">
              <a:solidFill>
                <a:schemeClr val="accent6">
                  <a:lumMod val="50000"/>
                </a:schemeClr>
              </a:solidFill>
            </a:endParaRPr>
          </a:p>
        </p:txBody>
      </p:sp>
      <p:pic>
        <p:nvPicPr>
          <p:cNvPr id="25" name="Picture 24"/>
          <p:cNvPicPr>
            <a:picLocks noChangeAspect="1"/>
          </p:cNvPicPr>
          <p:nvPr/>
        </p:nvPicPr>
        <p:blipFill>
          <a:blip r:embed="rId6"/>
          <a:stretch>
            <a:fillRect/>
          </a:stretch>
        </p:blipFill>
        <p:spPr>
          <a:xfrm>
            <a:off x="5373498" y="5487538"/>
            <a:ext cx="1958171" cy="1294495"/>
          </a:xfrm>
          <a:prstGeom prst="rect">
            <a:avLst/>
          </a:prstGeom>
        </p:spPr>
      </p:pic>
      <p:pic>
        <p:nvPicPr>
          <p:cNvPr id="26" name="Picture 25"/>
          <p:cNvPicPr>
            <a:picLocks noChangeAspect="1"/>
          </p:cNvPicPr>
          <p:nvPr/>
        </p:nvPicPr>
        <p:blipFill>
          <a:blip r:embed="rId7"/>
          <a:stretch>
            <a:fillRect/>
          </a:stretch>
        </p:blipFill>
        <p:spPr>
          <a:xfrm>
            <a:off x="4882118" y="4964318"/>
            <a:ext cx="2968529" cy="630873"/>
          </a:xfrm>
          <a:prstGeom prst="rect">
            <a:avLst/>
          </a:prstGeom>
        </p:spPr>
      </p:pic>
      <p:sp>
        <p:nvSpPr>
          <p:cNvPr id="27" name="Rectangle 26"/>
          <p:cNvSpPr/>
          <p:nvPr/>
        </p:nvSpPr>
        <p:spPr>
          <a:xfrm>
            <a:off x="8923222" y="4568886"/>
            <a:ext cx="3180679" cy="307777"/>
          </a:xfrm>
          <a:prstGeom prst="rect">
            <a:avLst/>
          </a:prstGeom>
        </p:spPr>
        <p:txBody>
          <a:bodyPr wrap="none">
            <a:spAutoFit/>
          </a:bodyPr>
          <a:lstStyle/>
          <a:p>
            <a:r>
              <a:rPr lang="sv-SE" sz="1400" dirty="0">
                <a:solidFill>
                  <a:schemeClr val="accent6">
                    <a:lumMod val="50000"/>
                  </a:schemeClr>
                </a:solidFill>
                <a:latin typeface="NimbusRomNo9L-ReguItal"/>
              </a:rPr>
              <a:t>3. DC-</a:t>
            </a:r>
            <a:r>
              <a:rPr lang="sv-SE" sz="1400" dirty="0" err="1">
                <a:solidFill>
                  <a:schemeClr val="accent6">
                    <a:lumMod val="50000"/>
                  </a:schemeClr>
                </a:solidFill>
                <a:latin typeface="NimbusRomNo9L-ReguItal"/>
              </a:rPr>
              <a:t>link</a:t>
            </a:r>
            <a:r>
              <a:rPr lang="sv-SE" sz="1400" dirty="0">
                <a:solidFill>
                  <a:schemeClr val="accent6">
                    <a:lumMod val="50000"/>
                  </a:schemeClr>
                </a:solidFill>
                <a:latin typeface="NimbusRomNo9L-ReguItal"/>
              </a:rPr>
              <a:t> </a:t>
            </a:r>
            <a:r>
              <a:rPr lang="sv-SE" sz="1400" dirty="0" err="1">
                <a:solidFill>
                  <a:schemeClr val="accent6">
                    <a:lumMod val="50000"/>
                  </a:schemeClr>
                </a:solidFill>
                <a:latin typeface="NimbusRomNo9L-ReguItal"/>
              </a:rPr>
              <a:t>Capacitance</a:t>
            </a:r>
            <a:r>
              <a:rPr lang="sv-SE" sz="1400" dirty="0">
                <a:solidFill>
                  <a:schemeClr val="accent6">
                    <a:lumMod val="50000"/>
                  </a:schemeClr>
                </a:solidFill>
                <a:latin typeface="NimbusRomNo9L-ReguItal"/>
              </a:rPr>
              <a:t> </a:t>
            </a:r>
            <a:r>
              <a:rPr lang="sv-SE" sz="1400" dirty="0" err="1">
                <a:solidFill>
                  <a:schemeClr val="accent6">
                    <a:lumMod val="50000"/>
                  </a:schemeClr>
                </a:solidFill>
                <a:latin typeface="NimbusRomNo9L-ReguItal"/>
              </a:rPr>
              <a:t>Requirements</a:t>
            </a:r>
            <a:endParaRPr lang="sv-SE" sz="1400" dirty="0">
              <a:solidFill>
                <a:schemeClr val="accent6">
                  <a:lumMod val="50000"/>
                </a:schemeClr>
              </a:solidFill>
            </a:endParaRPr>
          </a:p>
        </p:txBody>
      </p:sp>
      <p:pic>
        <p:nvPicPr>
          <p:cNvPr id="28" name="Picture 27"/>
          <p:cNvPicPr>
            <a:picLocks noChangeAspect="1"/>
          </p:cNvPicPr>
          <p:nvPr/>
        </p:nvPicPr>
        <p:blipFill rotWithShape="1">
          <a:blip r:embed="rId8"/>
          <a:srcRect t="10815"/>
          <a:stretch/>
        </p:blipFill>
        <p:spPr>
          <a:xfrm>
            <a:off x="8971491" y="5060324"/>
            <a:ext cx="3084139" cy="468885"/>
          </a:xfrm>
          <a:prstGeom prst="rect">
            <a:avLst/>
          </a:prstGeom>
        </p:spPr>
      </p:pic>
      <p:sp>
        <p:nvSpPr>
          <p:cNvPr id="30" name="Title 1"/>
          <p:cNvSpPr txBox="1">
            <a:spLocks/>
          </p:cNvSpPr>
          <p:nvPr/>
        </p:nvSpPr>
        <p:spPr>
          <a:xfrm>
            <a:off x="255444" y="976357"/>
            <a:ext cx="10990263" cy="568412"/>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US" sz="2800" dirty="0"/>
              <a:t>Topologies: </a:t>
            </a:r>
            <a:endParaRPr lang="sv-SE" sz="2800" dirty="0"/>
          </a:p>
        </p:txBody>
      </p:sp>
      <p:sp>
        <p:nvSpPr>
          <p:cNvPr id="32" name="Title 1"/>
          <p:cNvSpPr txBox="1">
            <a:spLocks/>
          </p:cNvSpPr>
          <p:nvPr/>
        </p:nvSpPr>
        <p:spPr>
          <a:xfrm>
            <a:off x="255443" y="3948833"/>
            <a:ext cx="10990263" cy="568412"/>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US" sz="2800" dirty="0"/>
              <a:t>Virtual Prototyping Method to evaluate topologies: </a:t>
            </a:r>
            <a:endParaRPr lang="sv-SE" sz="2800" dirty="0"/>
          </a:p>
        </p:txBody>
      </p:sp>
    </p:spTree>
    <p:extLst>
      <p:ext uri="{BB962C8B-B14F-4D97-AF65-F5344CB8AC3E}">
        <p14:creationId xmlns:p14="http://schemas.microsoft.com/office/powerpoint/2010/main" val="20321057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4143" y="276122"/>
            <a:ext cx="10990263" cy="568412"/>
          </a:xfrm>
        </p:spPr>
        <p:txBody>
          <a:bodyPr/>
          <a:lstStyle/>
          <a:p>
            <a:r>
              <a:rPr lang="en-US" dirty="0"/>
              <a:t>WP4 : Evaluation of Topologies</a:t>
            </a:r>
            <a:endParaRPr lang="sv-SE" dirty="0"/>
          </a:p>
        </p:txBody>
      </p:sp>
      <p:sp>
        <p:nvSpPr>
          <p:cNvPr id="10" name="Rectangle 9"/>
          <p:cNvSpPr/>
          <p:nvPr/>
        </p:nvSpPr>
        <p:spPr>
          <a:xfrm>
            <a:off x="6039628" y="974164"/>
            <a:ext cx="848659" cy="2091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 name="Rectangle 10"/>
          <p:cNvSpPr/>
          <p:nvPr/>
        </p:nvSpPr>
        <p:spPr>
          <a:xfrm>
            <a:off x="9803796" y="844534"/>
            <a:ext cx="848659" cy="2091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3" name="Picture 2"/>
          <p:cNvPicPr>
            <a:picLocks noChangeAspect="1"/>
          </p:cNvPicPr>
          <p:nvPr/>
        </p:nvPicPr>
        <p:blipFill rotWithShape="1">
          <a:blip r:embed="rId2"/>
          <a:srcRect b="14781"/>
          <a:stretch/>
        </p:blipFill>
        <p:spPr>
          <a:xfrm>
            <a:off x="2565431" y="901310"/>
            <a:ext cx="7442200" cy="2040234"/>
          </a:xfrm>
          <a:prstGeom prst="rect">
            <a:avLst/>
          </a:prstGeom>
        </p:spPr>
      </p:pic>
      <p:sp>
        <p:nvSpPr>
          <p:cNvPr id="4" name="Rectangle 3"/>
          <p:cNvSpPr/>
          <p:nvPr/>
        </p:nvSpPr>
        <p:spPr>
          <a:xfrm>
            <a:off x="3385374" y="2819486"/>
            <a:ext cx="6546850" cy="338554"/>
          </a:xfrm>
          <a:prstGeom prst="rect">
            <a:avLst/>
          </a:prstGeom>
        </p:spPr>
        <p:txBody>
          <a:bodyPr wrap="square">
            <a:spAutoFit/>
          </a:bodyPr>
          <a:lstStyle/>
          <a:p>
            <a:r>
              <a:rPr lang="en-US" sz="1600" dirty="0">
                <a:solidFill>
                  <a:schemeClr val="accent6">
                    <a:lumMod val="50000"/>
                  </a:schemeClr>
                </a:solidFill>
                <a:latin typeface="NimbusRomNo9L-Regu"/>
              </a:rPr>
              <a:t>The efficiency over varying die area and switching frequency</a:t>
            </a:r>
            <a:endParaRPr lang="sv-SE" sz="1600" dirty="0">
              <a:solidFill>
                <a:schemeClr val="accent6">
                  <a:lumMod val="50000"/>
                </a:schemeClr>
              </a:solidFill>
            </a:endParaRPr>
          </a:p>
        </p:txBody>
      </p:sp>
      <p:sp>
        <p:nvSpPr>
          <p:cNvPr id="22" name="Title 1"/>
          <p:cNvSpPr txBox="1">
            <a:spLocks/>
          </p:cNvSpPr>
          <p:nvPr/>
        </p:nvSpPr>
        <p:spPr>
          <a:xfrm>
            <a:off x="255444" y="976357"/>
            <a:ext cx="10990263" cy="568412"/>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US" sz="2800" dirty="0"/>
              <a:t>Results: </a:t>
            </a:r>
            <a:endParaRPr lang="sv-SE" sz="2800" dirty="0"/>
          </a:p>
        </p:txBody>
      </p:sp>
      <p:pic>
        <p:nvPicPr>
          <p:cNvPr id="5" name="Picture 4"/>
          <p:cNvPicPr>
            <a:picLocks noChangeAspect="1"/>
          </p:cNvPicPr>
          <p:nvPr/>
        </p:nvPicPr>
        <p:blipFill>
          <a:blip r:embed="rId3"/>
          <a:stretch>
            <a:fillRect/>
          </a:stretch>
        </p:blipFill>
        <p:spPr>
          <a:xfrm>
            <a:off x="568180" y="3345921"/>
            <a:ext cx="3992905" cy="971640"/>
          </a:xfrm>
          <a:prstGeom prst="rect">
            <a:avLst/>
          </a:prstGeom>
        </p:spPr>
      </p:pic>
      <p:pic>
        <p:nvPicPr>
          <p:cNvPr id="16" name="Picture 15"/>
          <p:cNvPicPr>
            <a:picLocks noChangeAspect="1"/>
          </p:cNvPicPr>
          <p:nvPr/>
        </p:nvPicPr>
        <p:blipFill rotWithShape="1">
          <a:blip r:embed="rId4"/>
          <a:srcRect l="14742" t="7533"/>
          <a:stretch/>
        </p:blipFill>
        <p:spPr>
          <a:xfrm>
            <a:off x="4309467" y="3213253"/>
            <a:ext cx="4698664" cy="1139746"/>
          </a:xfrm>
          <a:prstGeom prst="rect">
            <a:avLst/>
          </a:prstGeom>
        </p:spPr>
      </p:pic>
      <p:pic>
        <p:nvPicPr>
          <p:cNvPr id="17" name="Picture 16"/>
          <p:cNvPicPr>
            <a:picLocks noChangeAspect="1"/>
          </p:cNvPicPr>
          <p:nvPr/>
        </p:nvPicPr>
        <p:blipFill rotWithShape="1">
          <a:blip r:embed="rId5"/>
          <a:srcRect l="24572" t="-1662" r="137" b="1662"/>
          <a:stretch/>
        </p:blipFill>
        <p:spPr>
          <a:xfrm>
            <a:off x="8737174" y="3282989"/>
            <a:ext cx="3267232" cy="1070010"/>
          </a:xfrm>
          <a:prstGeom prst="rect">
            <a:avLst/>
          </a:prstGeom>
        </p:spPr>
      </p:pic>
      <p:sp>
        <p:nvSpPr>
          <p:cNvPr id="18" name="Rectangle 17"/>
          <p:cNvSpPr/>
          <p:nvPr/>
        </p:nvSpPr>
        <p:spPr>
          <a:xfrm>
            <a:off x="413274" y="4352999"/>
            <a:ext cx="10750026" cy="1569660"/>
          </a:xfrm>
          <a:prstGeom prst="rect">
            <a:avLst/>
          </a:prstGeom>
        </p:spPr>
        <p:txBody>
          <a:bodyPr wrap="square">
            <a:spAutoFit/>
          </a:bodyPr>
          <a:lstStyle/>
          <a:p>
            <a:r>
              <a:rPr lang="en-US" sz="1600" dirty="0">
                <a:solidFill>
                  <a:schemeClr val="accent6">
                    <a:lumMod val="50000"/>
                  </a:schemeClr>
                </a:solidFill>
                <a:latin typeface="NimbusRomNo9L-Regu"/>
              </a:rPr>
              <a:t>The adoption of 3L-NPC VSIs, which use lower voltage-rated MOSFETs, has resulted in </a:t>
            </a:r>
          </a:p>
          <a:p>
            <a:pPr marL="171450" indent="-171450">
              <a:buFont typeface="Arial" panose="020B0604020202020204" pitchFamily="34" charset="0"/>
              <a:buChar char="•"/>
            </a:pPr>
            <a:r>
              <a:rPr lang="en-US" sz="1600" dirty="0">
                <a:solidFill>
                  <a:schemeClr val="accent6">
                    <a:lumMod val="50000"/>
                  </a:schemeClr>
                </a:solidFill>
                <a:latin typeface="NimbusRomNo9L-Regu"/>
              </a:rPr>
              <a:t>a reduction of switching losses, </a:t>
            </a:r>
          </a:p>
          <a:p>
            <a:pPr marL="171450" indent="-171450">
              <a:buFont typeface="Arial" panose="020B0604020202020204" pitchFamily="34" charset="0"/>
              <a:buChar char="•"/>
            </a:pPr>
            <a:r>
              <a:rPr lang="en-US" sz="1600" dirty="0">
                <a:solidFill>
                  <a:schemeClr val="accent6">
                    <a:lumMod val="50000"/>
                  </a:schemeClr>
                </a:solidFill>
                <a:latin typeface="NimbusRomNo9L-Regu"/>
              </a:rPr>
              <a:t>an increase in switching frequency,</a:t>
            </a:r>
          </a:p>
          <a:p>
            <a:pPr marL="171450" indent="-171450">
              <a:buFont typeface="Arial" panose="020B0604020202020204" pitchFamily="34" charset="0"/>
              <a:buChar char="•"/>
            </a:pPr>
            <a:r>
              <a:rPr lang="en-US" sz="1600" dirty="0">
                <a:solidFill>
                  <a:schemeClr val="accent6">
                    <a:lumMod val="50000"/>
                  </a:schemeClr>
                </a:solidFill>
                <a:latin typeface="NimbusRomNo9L-Regu"/>
              </a:rPr>
              <a:t>an improvement of the output harmonic quality,</a:t>
            </a:r>
          </a:p>
          <a:p>
            <a:pPr marL="171450" indent="-171450">
              <a:buFont typeface="Arial" panose="020B0604020202020204" pitchFamily="34" charset="0"/>
              <a:buChar char="•"/>
            </a:pPr>
            <a:r>
              <a:rPr lang="en-US" sz="1600" dirty="0">
                <a:solidFill>
                  <a:schemeClr val="accent6">
                    <a:lumMod val="50000"/>
                  </a:schemeClr>
                </a:solidFill>
                <a:latin typeface="NimbusRomNo9L-Regu"/>
              </a:rPr>
              <a:t>a reduction in the need for passive elements, </a:t>
            </a:r>
          </a:p>
          <a:p>
            <a:pPr marL="171450" indent="-171450">
              <a:buFont typeface="Arial" panose="020B0604020202020204" pitchFamily="34" charset="0"/>
              <a:buChar char="•"/>
            </a:pPr>
            <a:r>
              <a:rPr lang="en-US" sz="1600" dirty="0">
                <a:solidFill>
                  <a:schemeClr val="accent6">
                    <a:lumMod val="50000"/>
                  </a:schemeClr>
                </a:solidFill>
                <a:latin typeface="NimbusRomNo9L-Regu"/>
              </a:rPr>
              <a:t>a smaller volume</a:t>
            </a:r>
          </a:p>
        </p:txBody>
      </p:sp>
    </p:spTree>
    <p:extLst>
      <p:ext uri="{BB962C8B-B14F-4D97-AF65-F5344CB8AC3E}">
        <p14:creationId xmlns:p14="http://schemas.microsoft.com/office/powerpoint/2010/main" val="2339757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3C8A8-F9E7-B614-7DBC-073527B7D9A2}"/>
              </a:ext>
            </a:extLst>
          </p:cNvPr>
          <p:cNvSpPr>
            <a:spLocks noGrp="1"/>
          </p:cNvSpPr>
          <p:nvPr>
            <p:ph type="title"/>
          </p:nvPr>
        </p:nvSpPr>
        <p:spPr/>
        <p:txBody>
          <a:bodyPr/>
          <a:lstStyle/>
          <a:p>
            <a:r>
              <a:rPr lang="en-US" dirty="0"/>
              <a:t>WP4: Progress Updates</a:t>
            </a:r>
          </a:p>
        </p:txBody>
      </p:sp>
      <p:pic>
        <p:nvPicPr>
          <p:cNvPr id="9" name="Content Placeholder 8" descr="A machine with wires and wires&#10;&#10;Description automatically generated">
            <a:extLst>
              <a:ext uri="{FF2B5EF4-FFF2-40B4-BE49-F238E27FC236}">
                <a16:creationId xmlns:a16="http://schemas.microsoft.com/office/drawing/2014/main" id="{D03280FE-1031-A667-893F-7E51312CB61F}"/>
              </a:ext>
            </a:extLst>
          </p:cNvPr>
          <p:cNvPicPr>
            <a:picLocks noGrp="1" noChangeAspect="1"/>
          </p:cNvPicPr>
          <p:nvPr>
            <p:ph idx="1"/>
          </p:nvPr>
        </p:nvPicPr>
        <p:blipFill>
          <a:blip r:embed="rId2"/>
          <a:stretch>
            <a:fillRect/>
          </a:stretch>
        </p:blipFill>
        <p:spPr>
          <a:xfrm>
            <a:off x="700659" y="2261614"/>
            <a:ext cx="3972501" cy="2844310"/>
          </a:xfrm>
        </p:spPr>
      </p:pic>
      <p:pic>
        <p:nvPicPr>
          <p:cNvPr id="4" name="Content Placeholder 4" descr="A graph of data sheet&#10;&#10;Description automatically generated">
            <a:extLst>
              <a:ext uri="{FF2B5EF4-FFF2-40B4-BE49-F238E27FC236}">
                <a16:creationId xmlns:a16="http://schemas.microsoft.com/office/drawing/2014/main" id="{2C32A99F-2FC4-B969-0781-383739C3692A}"/>
              </a:ext>
            </a:extLst>
          </p:cNvPr>
          <p:cNvPicPr>
            <a:picLocks noChangeAspect="1"/>
          </p:cNvPicPr>
          <p:nvPr/>
        </p:nvPicPr>
        <p:blipFill>
          <a:blip r:embed="rId3"/>
          <a:stretch>
            <a:fillRect/>
          </a:stretch>
        </p:blipFill>
        <p:spPr>
          <a:xfrm>
            <a:off x="5387980" y="2091265"/>
            <a:ext cx="3014659" cy="3014659"/>
          </a:xfrm>
          <a:prstGeom prst="rect">
            <a:avLst/>
          </a:prstGeom>
        </p:spPr>
      </p:pic>
      <p:pic>
        <p:nvPicPr>
          <p:cNvPr id="5" name="Picture 4" descr="A graph of data sheet&#10;&#10;Description automatically generated">
            <a:extLst>
              <a:ext uri="{FF2B5EF4-FFF2-40B4-BE49-F238E27FC236}">
                <a16:creationId xmlns:a16="http://schemas.microsoft.com/office/drawing/2014/main" id="{9D73BDC4-A8F5-25E9-0C77-A7A95D44C20F}"/>
              </a:ext>
            </a:extLst>
          </p:cNvPr>
          <p:cNvPicPr>
            <a:picLocks noChangeAspect="1"/>
          </p:cNvPicPr>
          <p:nvPr/>
        </p:nvPicPr>
        <p:blipFill>
          <a:blip r:embed="rId4"/>
          <a:stretch>
            <a:fillRect/>
          </a:stretch>
        </p:blipFill>
        <p:spPr>
          <a:xfrm>
            <a:off x="8402639" y="2091266"/>
            <a:ext cx="3014659" cy="3014659"/>
          </a:xfrm>
          <a:prstGeom prst="rect">
            <a:avLst/>
          </a:prstGeom>
        </p:spPr>
      </p:pic>
      <p:sp>
        <p:nvSpPr>
          <p:cNvPr id="7" name="Rectangle 6">
            <a:extLst>
              <a:ext uri="{FF2B5EF4-FFF2-40B4-BE49-F238E27FC236}">
                <a16:creationId xmlns:a16="http://schemas.microsoft.com/office/drawing/2014/main" id="{0BAD8D4E-B5EC-93B9-8BF6-29997EC9D03C}"/>
              </a:ext>
            </a:extLst>
          </p:cNvPr>
          <p:cNvSpPr/>
          <p:nvPr/>
        </p:nvSpPr>
        <p:spPr>
          <a:xfrm>
            <a:off x="6097639" y="5182124"/>
            <a:ext cx="4609999" cy="923330"/>
          </a:xfrm>
          <a:prstGeom prst="rect">
            <a:avLst/>
          </a:prstGeom>
        </p:spPr>
        <p:txBody>
          <a:bodyPr wrap="square">
            <a:spAutoFit/>
          </a:bodyPr>
          <a:lstStyle/>
          <a:p>
            <a:r>
              <a:rPr lang="en-US" dirty="0">
                <a:solidFill>
                  <a:schemeClr val="accent6">
                    <a:lumMod val="50000"/>
                  </a:schemeClr>
                </a:solidFill>
              </a:rPr>
              <a:t>Applying the </a:t>
            </a:r>
            <a:r>
              <a:rPr lang="en-US" dirty="0" err="1">
                <a:solidFill>
                  <a:schemeClr val="accent6">
                    <a:lumMod val="50000"/>
                  </a:schemeClr>
                </a:solidFill>
              </a:rPr>
              <a:t>deskewing</a:t>
            </a:r>
            <a:r>
              <a:rPr lang="en-US" dirty="0">
                <a:solidFill>
                  <a:schemeClr val="accent6">
                    <a:lumMod val="50000"/>
                  </a:schemeClr>
                </a:solidFill>
              </a:rPr>
              <a:t> method on current waveform to improve switching loss measurement </a:t>
            </a:r>
            <a:endParaRPr lang="sv-SE" dirty="0">
              <a:solidFill>
                <a:schemeClr val="accent6">
                  <a:lumMod val="50000"/>
                </a:schemeClr>
              </a:solidFill>
            </a:endParaRPr>
          </a:p>
        </p:txBody>
      </p:sp>
      <p:sp>
        <p:nvSpPr>
          <p:cNvPr id="10" name="Rectangle 9">
            <a:extLst>
              <a:ext uri="{FF2B5EF4-FFF2-40B4-BE49-F238E27FC236}">
                <a16:creationId xmlns:a16="http://schemas.microsoft.com/office/drawing/2014/main" id="{F14A312C-C29E-D70A-5196-D8801C6A14A4}"/>
              </a:ext>
            </a:extLst>
          </p:cNvPr>
          <p:cNvSpPr/>
          <p:nvPr/>
        </p:nvSpPr>
        <p:spPr>
          <a:xfrm>
            <a:off x="929291" y="5182124"/>
            <a:ext cx="4609999" cy="646331"/>
          </a:xfrm>
          <a:prstGeom prst="rect">
            <a:avLst/>
          </a:prstGeom>
        </p:spPr>
        <p:txBody>
          <a:bodyPr wrap="square">
            <a:spAutoFit/>
          </a:bodyPr>
          <a:lstStyle/>
          <a:p>
            <a:r>
              <a:rPr lang="en-US" dirty="0">
                <a:solidFill>
                  <a:schemeClr val="accent6">
                    <a:lumMod val="50000"/>
                  </a:schemeClr>
                </a:solidFill>
              </a:rPr>
              <a:t>DPT setup utilized to measure the </a:t>
            </a:r>
            <a:r>
              <a:rPr lang="en-US" dirty="0" err="1">
                <a:solidFill>
                  <a:schemeClr val="accent6">
                    <a:lumMod val="50000"/>
                  </a:schemeClr>
                </a:solidFill>
              </a:rPr>
              <a:t>SiC</a:t>
            </a:r>
            <a:r>
              <a:rPr lang="en-US" dirty="0">
                <a:solidFill>
                  <a:schemeClr val="accent6">
                    <a:lumMod val="50000"/>
                  </a:schemeClr>
                </a:solidFill>
              </a:rPr>
              <a:t> MOSFET switching losses</a:t>
            </a:r>
            <a:endParaRPr lang="sv-SE" dirty="0">
              <a:solidFill>
                <a:schemeClr val="accent6">
                  <a:lumMod val="50000"/>
                </a:schemeClr>
              </a:solidFill>
            </a:endParaRPr>
          </a:p>
        </p:txBody>
      </p:sp>
    </p:spTree>
    <p:extLst>
      <p:ext uri="{BB962C8B-B14F-4D97-AF65-F5344CB8AC3E}">
        <p14:creationId xmlns:p14="http://schemas.microsoft.com/office/powerpoint/2010/main" val="2040909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FD0E6-FFEC-8F50-417B-1C4D798D0EED}"/>
              </a:ext>
            </a:extLst>
          </p:cNvPr>
          <p:cNvSpPr>
            <a:spLocks noGrp="1"/>
          </p:cNvSpPr>
          <p:nvPr>
            <p:ph type="title"/>
          </p:nvPr>
        </p:nvSpPr>
        <p:spPr/>
        <p:txBody>
          <a:bodyPr/>
          <a:lstStyle/>
          <a:p>
            <a:r>
              <a:rPr lang="en-US" dirty="0"/>
              <a:t>WP4: Progress Updates </a:t>
            </a:r>
          </a:p>
        </p:txBody>
      </p:sp>
      <p:pic>
        <p:nvPicPr>
          <p:cNvPr id="5" name="Content Placeholder 4">
            <a:extLst>
              <a:ext uri="{FF2B5EF4-FFF2-40B4-BE49-F238E27FC236}">
                <a16:creationId xmlns:a16="http://schemas.microsoft.com/office/drawing/2014/main" id="{F55F8218-DF07-4826-E3B5-B3B9476B023A}"/>
              </a:ext>
            </a:extLst>
          </p:cNvPr>
          <p:cNvPicPr>
            <a:picLocks noGrp="1" noChangeAspect="1"/>
          </p:cNvPicPr>
          <p:nvPr>
            <p:ph idx="1"/>
          </p:nvPr>
        </p:nvPicPr>
        <p:blipFill>
          <a:blip r:embed="rId2"/>
          <a:stretch>
            <a:fillRect/>
          </a:stretch>
        </p:blipFill>
        <p:spPr>
          <a:xfrm>
            <a:off x="5969283" y="1985987"/>
            <a:ext cx="4787041" cy="2985259"/>
          </a:xfrm>
        </p:spPr>
      </p:pic>
      <p:pic>
        <p:nvPicPr>
          <p:cNvPr id="7" name="Picture 6">
            <a:extLst>
              <a:ext uri="{FF2B5EF4-FFF2-40B4-BE49-F238E27FC236}">
                <a16:creationId xmlns:a16="http://schemas.microsoft.com/office/drawing/2014/main" id="{0E97B764-379B-D03B-36E5-2DFAF87A020F}"/>
              </a:ext>
            </a:extLst>
          </p:cNvPr>
          <p:cNvPicPr>
            <a:picLocks noChangeAspect="1"/>
          </p:cNvPicPr>
          <p:nvPr/>
        </p:nvPicPr>
        <p:blipFill>
          <a:blip r:embed="rId3"/>
          <a:stretch>
            <a:fillRect/>
          </a:stretch>
        </p:blipFill>
        <p:spPr>
          <a:xfrm>
            <a:off x="1385876" y="1792955"/>
            <a:ext cx="2759862" cy="4340974"/>
          </a:xfrm>
          <a:prstGeom prst="rect">
            <a:avLst/>
          </a:prstGeom>
        </p:spPr>
      </p:pic>
      <p:sp>
        <p:nvSpPr>
          <p:cNvPr id="8" name="Rectangle 7">
            <a:extLst>
              <a:ext uri="{FF2B5EF4-FFF2-40B4-BE49-F238E27FC236}">
                <a16:creationId xmlns:a16="http://schemas.microsoft.com/office/drawing/2014/main" id="{F292FC96-FEBF-DD77-4AC1-F04CB3F461C8}"/>
              </a:ext>
            </a:extLst>
          </p:cNvPr>
          <p:cNvSpPr/>
          <p:nvPr/>
        </p:nvSpPr>
        <p:spPr>
          <a:xfrm>
            <a:off x="805538" y="6133929"/>
            <a:ext cx="4609999" cy="646331"/>
          </a:xfrm>
          <a:prstGeom prst="rect">
            <a:avLst/>
          </a:prstGeom>
        </p:spPr>
        <p:txBody>
          <a:bodyPr wrap="square">
            <a:spAutoFit/>
          </a:bodyPr>
          <a:lstStyle/>
          <a:p>
            <a:r>
              <a:rPr lang="en-US" dirty="0">
                <a:solidFill>
                  <a:schemeClr val="accent6">
                    <a:lumMod val="50000"/>
                  </a:schemeClr>
                </a:solidFill>
              </a:rPr>
              <a:t>Proposed circuitry for device identification Method </a:t>
            </a:r>
            <a:endParaRPr lang="sv-SE" dirty="0">
              <a:solidFill>
                <a:schemeClr val="accent6">
                  <a:lumMod val="50000"/>
                </a:schemeClr>
              </a:solidFill>
            </a:endParaRPr>
          </a:p>
        </p:txBody>
      </p:sp>
      <p:sp>
        <p:nvSpPr>
          <p:cNvPr id="10" name="Rectangle 9">
            <a:extLst>
              <a:ext uri="{FF2B5EF4-FFF2-40B4-BE49-F238E27FC236}">
                <a16:creationId xmlns:a16="http://schemas.microsoft.com/office/drawing/2014/main" id="{3B627348-9AEA-CD82-2DC8-873B7E4C3A80}"/>
              </a:ext>
            </a:extLst>
          </p:cNvPr>
          <p:cNvSpPr/>
          <p:nvPr/>
        </p:nvSpPr>
        <p:spPr>
          <a:xfrm>
            <a:off x="6248246" y="5165654"/>
            <a:ext cx="4609999" cy="646331"/>
          </a:xfrm>
          <a:prstGeom prst="rect">
            <a:avLst/>
          </a:prstGeom>
        </p:spPr>
        <p:txBody>
          <a:bodyPr wrap="square">
            <a:spAutoFit/>
          </a:bodyPr>
          <a:lstStyle/>
          <a:p>
            <a:r>
              <a:rPr lang="en-US" dirty="0">
                <a:solidFill>
                  <a:schemeClr val="accent6">
                    <a:lumMod val="50000"/>
                  </a:schemeClr>
                </a:solidFill>
              </a:rPr>
              <a:t>Device classification by the gate response behavior</a:t>
            </a:r>
            <a:endParaRPr lang="sv-SE" dirty="0">
              <a:solidFill>
                <a:schemeClr val="accent6">
                  <a:lumMod val="50000"/>
                </a:schemeClr>
              </a:solidFill>
            </a:endParaRPr>
          </a:p>
        </p:txBody>
      </p:sp>
    </p:spTree>
    <p:extLst>
      <p:ext uri="{BB962C8B-B14F-4D97-AF65-F5344CB8AC3E}">
        <p14:creationId xmlns:p14="http://schemas.microsoft.com/office/powerpoint/2010/main" val="188241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ECF94-8375-FA03-43E3-045FFB29A3E3}"/>
              </a:ext>
            </a:extLst>
          </p:cNvPr>
          <p:cNvSpPr>
            <a:spLocks noGrp="1"/>
          </p:cNvSpPr>
          <p:nvPr>
            <p:ph type="title"/>
          </p:nvPr>
        </p:nvSpPr>
        <p:spPr/>
        <p:txBody>
          <a:bodyPr/>
          <a:lstStyle/>
          <a:p>
            <a:r>
              <a:rPr lang="en-US" dirty="0"/>
              <a:t>WP4: Progress Updates</a:t>
            </a:r>
          </a:p>
        </p:txBody>
      </p:sp>
      <p:sp>
        <p:nvSpPr>
          <p:cNvPr id="3" name="Content Placeholder 2">
            <a:extLst>
              <a:ext uri="{FF2B5EF4-FFF2-40B4-BE49-F238E27FC236}">
                <a16:creationId xmlns:a16="http://schemas.microsoft.com/office/drawing/2014/main" id="{FDD0238E-29B4-FC5D-E9C5-EE8CB63772FB}"/>
              </a:ext>
            </a:extLst>
          </p:cNvPr>
          <p:cNvSpPr>
            <a:spLocks noGrp="1"/>
          </p:cNvSpPr>
          <p:nvPr>
            <p:ph idx="1"/>
          </p:nvPr>
        </p:nvSpPr>
        <p:spPr/>
        <p:txBody>
          <a:bodyPr/>
          <a:lstStyle/>
          <a:p>
            <a:endParaRPr lang="en-US" dirty="0"/>
          </a:p>
        </p:txBody>
      </p:sp>
      <p:grpSp>
        <p:nvGrpSpPr>
          <p:cNvPr id="16" name="Group 15">
            <a:extLst>
              <a:ext uri="{FF2B5EF4-FFF2-40B4-BE49-F238E27FC236}">
                <a16:creationId xmlns:a16="http://schemas.microsoft.com/office/drawing/2014/main" id="{9B7117B6-46A4-A42B-9E92-16B7E8D3CDF1}"/>
              </a:ext>
            </a:extLst>
          </p:cNvPr>
          <p:cNvGrpSpPr/>
          <p:nvPr/>
        </p:nvGrpSpPr>
        <p:grpSpPr>
          <a:xfrm>
            <a:off x="4659398" y="1872344"/>
            <a:ext cx="6930940" cy="3967807"/>
            <a:chOff x="4487334" y="1649215"/>
            <a:chExt cx="6930940" cy="3967807"/>
          </a:xfrm>
        </p:grpSpPr>
        <p:grpSp>
          <p:nvGrpSpPr>
            <p:cNvPr id="4" name="Group 3">
              <a:extLst>
                <a:ext uri="{FF2B5EF4-FFF2-40B4-BE49-F238E27FC236}">
                  <a16:creationId xmlns:a16="http://schemas.microsoft.com/office/drawing/2014/main" id="{0F780E37-F995-C076-5F84-AF0DBE7654C1}"/>
                </a:ext>
              </a:extLst>
            </p:cNvPr>
            <p:cNvGrpSpPr/>
            <p:nvPr/>
          </p:nvGrpSpPr>
          <p:grpSpPr>
            <a:xfrm>
              <a:off x="4487334" y="1649215"/>
              <a:ext cx="6930940" cy="1808435"/>
              <a:chOff x="0" y="0"/>
              <a:chExt cx="6088289" cy="1588477"/>
            </a:xfrm>
          </p:grpSpPr>
          <p:grpSp>
            <p:nvGrpSpPr>
              <p:cNvPr id="5" name="Group 4">
                <a:extLst>
                  <a:ext uri="{FF2B5EF4-FFF2-40B4-BE49-F238E27FC236}">
                    <a16:creationId xmlns:a16="http://schemas.microsoft.com/office/drawing/2014/main" id="{043C1551-B47E-87FB-661D-26D262DD7F40}"/>
                  </a:ext>
                </a:extLst>
              </p:cNvPr>
              <p:cNvGrpSpPr/>
              <p:nvPr/>
            </p:nvGrpSpPr>
            <p:grpSpPr>
              <a:xfrm>
                <a:off x="0" y="0"/>
                <a:ext cx="6088289" cy="1588477"/>
                <a:chOff x="0" y="0"/>
                <a:chExt cx="6088289" cy="1588477"/>
              </a:xfrm>
            </p:grpSpPr>
            <p:grpSp>
              <p:nvGrpSpPr>
                <p:cNvPr id="7" name="Group 6">
                  <a:extLst>
                    <a:ext uri="{FF2B5EF4-FFF2-40B4-BE49-F238E27FC236}">
                      <a16:creationId xmlns:a16="http://schemas.microsoft.com/office/drawing/2014/main" id="{3556EA6A-950C-B9E3-CA0D-C342A8796626}"/>
                    </a:ext>
                  </a:extLst>
                </p:cNvPr>
                <p:cNvGrpSpPr/>
                <p:nvPr/>
              </p:nvGrpSpPr>
              <p:grpSpPr>
                <a:xfrm>
                  <a:off x="0" y="0"/>
                  <a:ext cx="6088289" cy="1588477"/>
                  <a:chOff x="0" y="0"/>
                  <a:chExt cx="6088289" cy="1588477"/>
                </a:xfrm>
              </p:grpSpPr>
              <p:grpSp>
                <p:nvGrpSpPr>
                  <p:cNvPr id="9" name="Group 8">
                    <a:extLst>
                      <a:ext uri="{FF2B5EF4-FFF2-40B4-BE49-F238E27FC236}">
                        <a16:creationId xmlns:a16="http://schemas.microsoft.com/office/drawing/2014/main" id="{5B0B875A-26D7-D7AA-8818-A7036EAC1877}"/>
                      </a:ext>
                    </a:extLst>
                  </p:cNvPr>
                  <p:cNvGrpSpPr/>
                  <p:nvPr/>
                </p:nvGrpSpPr>
                <p:grpSpPr>
                  <a:xfrm>
                    <a:off x="0" y="0"/>
                    <a:ext cx="6088289" cy="1551033"/>
                    <a:chOff x="0" y="0"/>
                    <a:chExt cx="6088289" cy="1551033"/>
                  </a:xfrm>
                </p:grpSpPr>
                <p:pic>
                  <p:nvPicPr>
                    <p:cNvPr id="11" name="Picture 10">
                      <a:extLst>
                        <a:ext uri="{FF2B5EF4-FFF2-40B4-BE49-F238E27FC236}">
                          <a16:creationId xmlns:a16="http://schemas.microsoft.com/office/drawing/2014/main" id="{D72FC8EE-8235-863C-7021-81FBA48D046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65814" y="0"/>
                      <a:ext cx="2022475" cy="1532890"/>
                    </a:xfrm>
                    <a:prstGeom prst="rect">
                      <a:avLst/>
                    </a:prstGeom>
                    <a:noFill/>
                    <a:ln>
                      <a:noFill/>
                    </a:ln>
                  </p:spPr>
                </p:pic>
                <p:pic>
                  <p:nvPicPr>
                    <p:cNvPr id="12" name="Picture 11">
                      <a:extLst>
                        <a:ext uri="{FF2B5EF4-FFF2-40B4-BE49-F238E27FC236}">
                          <a16:creationId xmlns:a16="http://schemas.microsoft.com/office/drawing/2014/main" id="{B7CEE31B-E6CA-7A46-037E-3D331A89EDC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1957" y="5443"/>
                      <a:ext cx="2004060" cy="1518920"/>
                    </a:xfrm>
                    <a:prstGeom prst="rect">
                      <a:avLst/>
                    </a:prstGeom>
                    <a:noFill/>
                    <a:ln>
                      <a:noFill/>
                    </a:ln>
                  </p:spPr>
                </p:pic>
                <p:pic>
                  <p:nvPicPr>
                    <p:cNvPr id="13" name="Picture 12">
                      <a:extLst>
                        <a:ext uri="{FF2B5EF4-FFF2-40B4-BE49-F238E27FC236}">
                          <a16:creationId xmlns:a16="http://schemas.microsoft.com/office/drawing/2014/main" id="{7100D87B-0873-EEDF-79E3-791F7150177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443"/>
                      <a:ext cx="2038985" cy="1545590"/>
                    </a:xfrm>
                    <a:prstGeom prst="rect">
                      <a:avLst/>
                    </a:prstGeom>
                    <a:noFill/>
                    <a:ln>
                      <a:noFill/>
                    </a:ln>
                  </p:spPr>
                </p:pic>
              </p:grpSp>
              <p:sp>
                <p:nvSpPr>
                  <p:cNvPr id="10" name="Text Box 12">
                    <a:extLst>
                      <a:ext uri="{FF2B5EF4-FFF2-40B4-BE49-F238E27FC236}">
                        <a16:creationId xmlns:a16="http://schemas.microsoft.com/office/drawing/2014/main" id="{A85DD14F-7C51-FB62-49F9-A580619DB64F}"/>
                      </a:ext>
                    </a:extLst>
                  </p:cNvPr>
                  <p:cNvSpPr txBox="1"/>
                  <p:nvPr/>
                </p:nvSpPr>
                <p:spPr>
                  <a:xfrm>
                    <a:off x="23446" y="1301261"/>
                    <a:ext cx="381000" cy="28721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sz="1000">
                        <a:effectLst/>
                        <a:latin typeface="Georgia" panose="02040502050405020303" pitchFamily="18" charset="0"/>
                        <a:ea typeface="Georgia" panose="02040502050405020303" pitchFamily="18" charset="0"/>
                        <a:cs typeface="Times New Roman" panose="02020603050405020304" pitchFamily="18" charset="0"/>
                      </a:rPr>
                      <a:t>(a)</a:t>
                    </a:r>
                  </a:p>
                </p:txBody>
              </p:sp>
            </p:grpSp>
            <p:sp>
              <p:nvSpPr>
                <p:cNvPr id="8" name="Text Box 12">
                  <a:extLst>
                    <a:ext uri="{FF2B5EF4-FFF2-40B4-BE49-F238E27FC236}">
                      <a16:creationId xmlns:a16="http://schemas.microsoft.com/office/drawing/2014/main" id="{84FA09AA-7EF8-E990-3CE1-DC33E199F0A5}"/>
                    </a:ext>
                  </a:extLst>
                </p:cNvPr>
                <p:cNvSpPr txBox="1"/>
                <p:nvPr/>
              </p:nvSpPr>
              <p:spPr>
                <a:xfrm>
                  <a:off x="2045677" y="1277815"/>
                  <a:ext cx="381000" cy="28721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sz="1000">
                      <a:effectLst/>
                      <a:latin typeface="Georgia" panose="02040502050405020303" pitchFamily="18" charset="0"/>
                      <a:ea typeface="Georgia" panose="02040502050405020303" pitchFamily="18" charset="0"/>
                      <a:cs typeface="Times New Roman" panose="02020603050405020304" pitchFamily="18" charset="0"/>
                    </a:rPr>
                    <a:t>(b)</a:t>
                  </a:r>
                </a:p>
              </p:txBody>
            </p:sp>
          </p:grpSp>
          <p:sp>
            <p:nvSpPr>
              <p:cNvPr id="6" name="Text Box 12">
                <a:extLst>
                  <a:ext uri="{FF2B5EF4-FFF2-40B4-BE49-F238E27FC236}">
                    <a16:creationId xmlns:a16="http://schemas.microsoft.com/office/drawing/2014/main" id="{01E1EF50-9230-D130-8AB8-FD54F33FB1E2}"/>
                  </a:ext>
                </a:extLst>
              </p:cNvPr>
              <p:cNvSpPr txBox="1"/>
              <p:nvPr/>
            </p:nvSpPr>
            <p:spPr>
              <a:xfrm>
                <a:off x="4085492" y="1266092"/>
                <a:ext cx="381000" cy="28721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sz="1000">
                    <a:effectLst/>
                    <a:latin typeface="Georgia" panose="02040502050405020303" pitchFamily="18" charset="0"/>
                    <a:ea typeface="Georgia" panose="02040502050405020303" pitchFamily="18" charset="0"/>
                    <a:cs typeface="Times New Roman" panose="02020603050405020304" pitchFamily="18" charset="0"/>
                  </a:rPr>
                  <a:t>(c)</a:t>
                </a:r>
              </a:p>
            </p:txBody>
          </p:sp>
        </p:grpSp>
        <p:pic>
          <p:nvPicPr>
            <p:cNvPr id="14" name="Picture 13">
              <a:extLst>
                <a:ext uri="{FF2B5EF4-FFF2-40B4-BE49-F238E27FC236}">
                  <a16:creationId xmlns:a16="http://schemas.microsoft.com/office/drawing/2014/main" id="{764C524D-7708-745A-792B-FE5A717E79A5}"/>
                </a:ext>
              </a:extLst>
            </p:cNvPr>
            <p:cNvPicPr>
              <a:picLocks noChangeAspect="1"/>
            </p:cNvPicPr>
            <p:nvPr/>
          </p:nvPicPr>
          <p:blipFill>
            <a:blip r:embed="rId5"/>
            <a:stretch>
              <a:fillRect/>
            </a:stretch>
          </p:blipFill>
          <p:spPr>
            <a:xfrm>
              <a:off x="4487334" y="3501993"/>
              <a:ext cx="3304732" cy="2115029"/>
            </a:xfrm>
            <a:prstGeom prst="rect">
              <a:avLst/>
            </a:prstGeom>
          </p:spPr>
        </p:pic>
        <p:pic>
          <p:nvPicPr>
            <p:cNvPr id="15" name="Picture 14">
              <a:extLst>
                <a:ext uri="{FF2B5EF4-FFF2-40B4-BE49-F238E27FC236}">
                  <a16:creationId xmlns:a16="http://schemas.microsoft.com/office/drawing/2014/main" id="{519CB873-EA6D-9D68-6763-D4418FB89618}"/>
                </a:ext>
              </a:extLst>
            </p:cNvPr>
            <p:cNvPicPr>
              <a:picLocks noChangeAspect="1"/>
            </p:cNvPicPr>
            <p:nvPr/>
          </p:nvPicPr>
          <p:blipFill>
            <a:blip r:embed="rId6"/>
            <a:stretch>
              <a:fillRect/>
            </a:stretch>
          </p:blipFill>
          <p:spPr>
            <a:xfrm>
              <a:off x="7937737" y="3473343"/>
              <a:ext cx="3157016" cy="2123811"/>
            </a:xfrm>
            <a:prstGeom prst="rect">
              <a:avLst/>
            </a:prstGeom>
          </p:spPr>
        </p:pic>
      </p:grpSp>
      <p:sp>
        <p:nvSpPr>
          <p:cNvPr id="18" name="TextBox 17">
            <a:extLst>
              <a:ext uri="{FF2B5EF4-FFF2-40B4-BE49-F238E27FC236}">
                <a16:creationId xmlns:a16="http://schemas.microsoft.com/office/drawing/2014/main" id="{1516BB03-0F78-3F22-1C3D-3AAF6EF7A50F}"/>
              </a:ext>
            </a:extLst>
          </p:cNvPr>
          <p:cNvSpPr txBox="1"/>
          <p:nvPr/>
        </p:nvSpPr>
        <p:spPr>
          <a:xfrm>
            <a:off x="5241234" y="5840151"/>
            <a:ext cx="6096000" cy="369332"/>
          </a:xfrm>
          <a:prstGeom prst="rect">
            <a:avLst/>
          </a:prstGeom>
          <a:noFill/>
        </p:spPr>
        <p:txBody>
          <a:bodyPr wrap="square">
            <a:spAutoFit/>
          </a:bodyPr>
          <a:lstStyle/>
          <a:p>
            <a:r>
              <a:rPr lang="en-US" dirty="0">
                <a:solidFill>
                  <a:schemeClr val="accent6">
                    <a:lumMod val="50000"/>
                  </a:schemeClr>
                </a:solidFill>
              </a:rPr>
              <a:t>Thermal management system FEM simulation</a:t>
            </a:r>
          </a:p>
        </p:txBody>
      </p:sp>
    </p:spTree>
    <p:extLst>
      <p:ext uri="{BB962C8B-B14F-4D97-AF65-F5344CB8AC3E}">
        <p14:creationId xmlns:p14="http://schemas.microsoft.com/office/powerpoint/2010/main" val="4023611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4143" y="276122"/>
            <a:ext cx="10990263" cy="568412"/>
          </a:xfrm>
        </p:spPr>
        <p:txBody>
          <a:bodyPr/>
          <a:lstStyle/>
          <a:p>
            <a:r>
              <a:rPr lang="en-US" dirty="0"/>
              <a:t>WP6: Progress Updates</a:t>
            </a:r>
            <a:endParaRPr lang="sv-SE" dirty="0"/>
          </a:p>
        </p:txBody>
      </p:sp>
      <p:sp>
        <p:nvSpPr>
          <p:cNvPr id="3" name="TextBox 2"/>
          <p:cNvSpPr txBox="1"/>
          <p:nvPr/>
        </p:nvSpPr>
        <p:spPr>
          <a:xfrm>
            <a:off x="740078" y="992108"/>
            <a:ext cx="11127723" cy="5078313"/>
          </a:xfrm>
          <a:prstGeom prst="rect">
            <a:avLst/>
          </a:prstGeom>
          <a:noFill/>
        </p:spPr>
        <p:txBody>
          <a:bodyPr wrap="square" rtlCol="0">
            <a:spAutoFit/>
          </a:bodyPr>
          <a:lstStyle/>
          <a:p>
            <a:r>
              <a:rPr lang="en-US" sz="2000" b="1" dirty="0">
                <a:solidFill>
                  <a:schemeClr val="accent6">
                    <a:lumMod val="50000"/>
                  </a:schemeClr>
                </a:solidFill>
              </a:rPr>
              <a:t>Objective: </a:t>
            </a:r>
            <a:r>
              <a:rPr lang="en-US" sz="2000" dirty="0">
                <a:solidFill>
                  <a:schemeClr val="accent6">
                    <a:lumMod val="50000"/>
                  </a:schemeClr>
                </a:solidFill>
              </a:rPr>
              <a:t>Focusing on total system efficiency, including harmonic losses on the motor and inverter, helps identify the true energy-wise optimal design. </a:t>
            </a:r>
          </a:p>
          <a:p>
            <a:endParaRPr lang="en-US" sz="2000" dirty="0">
              <a:solidFill>
                <a:schemeClr val="accent6">
                  <a:lumMod val="50000"/>
                </a:schemeClr>
              </a:solidFill>
            </a:endParaRPr>
          </a:p>
          <a:p>
            <a:r>
              <a:rPr lang="en-US" sz="2000" b="1" dirty="0">
                <a:solidFill>
                  <a:schemeClr val="accent6">
                    <a:lumMod val="50000"/>
                  </a:schemeClr>
                </a:solidFill>
              </a:rPr>
              <a:t>Modelling: </a:t>
            </a:r>
          </a:p>
          <a:p>
            <a:pPr marL="800100" lvl="1" indent="-342900">
              <a:buFont typeface="Arial" panose="020B0604020202020204" pitchFamily="34" charset="0"/>
              <a:buChar char="•"/>
            </a:pPr>
            <a:r>
              <a:rPr lang="en-US" sz="2000" dirty="0">
                <a:solidFill>
                  <a:schemeClr val="accent6">
                    <a:lumMod val="50000"/>
                  </a:schemeClr>
                </a:solidFill>
              </a:rPr>
              <a:t>Inverter losses: Optimization of die area regarding switching frequency and efficiency.</a:t>
            </a:r>
          </a:p>
          <a:p>
            <a:pPr marL="800100" lvl="1" indent="-342900">
              <a:buFont typeface="Arial" panose="020B0604020202020204" pitchFamily="34" charset="0"/>
              <a:buChar char="•"/>
            </a:pPr>
            <a:r>
              <a:rPr lang="en-US" sz="2000" dirty="0">
                <a:solidFill>
                  <a:schemeClr val="accent6">
                    <a:lumMod val="50000"/>
                  </a:schemeClr>
                </a:solidFill>
              </a:rPr>
              <a:t>Motor harmonic losses: Switching frequency optimization to reduce total losses.</a:t>
            </a:r>
          </a:p>
          <a:p>
            <a:r>
              <a:rPr lang="en-US" sz="2000" b="1" dirty="0">
                <a:solidFill>
                  <a:schemeClr val="accent6">
                    <a:lumMod val="50000"/>
                  </a:schemeClr>
                </a:solidFill>
              </a:rPr>
              <a:t>Tasks Done:</a:t>
            </a:r>
          </a:p>
          <a:p>
            <a:pPr marL="800100" lvl="1" indent="-342900">
              <a:buFont typeface="Arial" panose="020B0604020202020204" pitchFamily="34" charset="0"/>
              <a:buChar char="•"/>
            </a:pPr>
            <a:r>
              <a:rPr lang="en-US" sz="2000" dirty="0">
                <a:solidFill>
                  <a:schemeClr val="accent6">
                    <a:lumMod val="50000"/>
                  </a:schemeClr>
                </a:solidFill>
              </a:rPr>
              <a:t>Loss models to analyze loss contributors have been created. </a:t>
            </a:r>
          </a:p>
          <a:p>
            <a:pPr marL="800100" lvl="1" indent="-342900">
              <a:buFont typeface="Arial" panose="020B0604020202020204" pitchFamily="34" charset="0"/>
              <a:buChar char="•"/>
            </a:pPr>
            <a:r>
              <a:rPr lang="en-US" sz="2000" dirty="0">
                <a:solidFill>
                  <a:schemeClr val="accent6">
                    <a:lumMod val="50000"/>
                  </a:schemeClr>
                </a:solidFill>
              </a:rPr>
              <a:t>A paper has been submitted to SPEC-2024 (accepted) about the evaluation of possible traction inverter topologies for heavy-duty electric vehicles.</a:t>
            </a:r>
          </a:p>
          <a:p>
            <a:pPr marL="800100" lvl="1" indent="-342900">
              <a:buFont typeface="Arial" panose="020B0604020202020204" pitchFamily="34" charset="0"/>
              <a:buChar char="•"/>
            </a:pPr>
            <a:endParaRPr lang="en-US" sz="2000" dirty="0">
              <a:solidFill>
                <a:schemeClr val="accent6">
                  <a:lumMod val="50000"/>
                </a:schemeClr>
              </a:solidFill>
            </a:endParaRPr>
          </a:p>
          <a:p>
            <a:r>
              <a:rPr lang="en-US" sz="2000" b="1" dirty="0">
                <a:solidFill>
                  <a:schemeClr val="accent6">
                    <a:lumMod val="50000"/>
                  </a:schemeClr>
                </a:solidFill>
              </a:rPr>
              <a:t>Ongoing Tasks :</a:t>
            </a:r>
            <a:endParaRPr lang="en-US" sz="2000" dirty="0">
              <a:solidFill>
                <a:schemeClr val="accent6">
                  <a:lumMod val="50000"/>
                </a:schemeClr>
              </a:solidFill>
            </a:endParaRPr>
          </a:p>
          <a:p>
            <a:pPr marL="800100" lvl="1" indent="-342900">
              <a:buFont typeface="Arial" panose="020B0604020202020204" pitchFamily="34" charset="0"/>
              <a:buChar char="•"/>
            </a:pPr>
            <a:r>
              <a:rPr lang="en-US" sz="2000" dirty="0">
                <a:solidFill>
                  <a:schemeClr val="accent6">
                    <a:lumMod val="50000"/>
                  </a:schemeClr>
                </a:solidFill>
              </a:rPr>
              <a:t>The prototype of the 2-level inverter is under development.</a:t>
            </a:r>
          </a:p>
          <a:p>
            <a:pPr marL="800100" lvl="1" indent="-342900">
              <a:buFont typeface="Arial" panose="020B0604020202020204" pitchFamily="34" charset="0"/>
              <a:buChar char="•"/>
            </a:pPr>
            <a:r>
              <a:rPr lang="en-US" sz="2000" dirty="0">
                <a:solidFill>
                  <a:schemeClr val="accent6">
                    <a:lumMod val="50000"/>
                  </a:schemeClr>
                </a:solidFill>
              </a:rPr>
              <a:t>The comparison matrix with other inverter topologies (3L-Ttype and 3L-NPC) is under analysis.</a:t>
            </a:r>
          </a:p>
          <a:p>
            <a:pPr marL="800100" lvl="1" indent="-342900">
              <a:buFont typeface="Arial" panose="020B0604020202020204" pitchFamily="34" charset="0"/>
              <a:buChar char="•"/>
            </a:pPr>
            <a:endParaRPr lang="en-US" sz="2400" dirty="0">
              <a:solidFill>
                <a:schemeClr val="accent6">
                  <a:lumMod val="50000"/>
                </a:schemeClr>
              </a:solidFill>
            </a:endParaRPr>
          </a:p>
        </p:txBody>
      </p:sp>
    </p:spTree>
    <p:extLst>
      <p:ext uri="{BB962C8B-B14F-4D97-AF65-F5344CB8AC3E}">
        <p14:creationId xmlns:p14="http://schemas.microsoft.com/office/powerpoint/2010/main" val="3247904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4143" y="276122"/>
            <a:ext cx="10990263" cy="568412"/>
          </a:xfrm>
        </p:spPr>
        <p:txBody>
          <a:bodyPr/>
          <a:lstStyle/>
          <a:p>
            <a:r>
              <a:rPr lang="en-US" dirty="0"/>
              <a:t>WP6 : Holistic Design for 2L Inverter </a:t>
            </a:r>
            <a:endParaRPr lang="sv-SE" dirty="0"/>
          </a:p>
        </p:txBody>
      </p:sp>
      <p:sp>
        <p:nvSpPr>
          <p:cNvPr id="10" name="Rectangle 9"/>
          <p:cNvSpPr/>
          <p:nvPr/>
        </p:nvSpPr>
        <p:spPr>
          <a:xfrm>
            <a:off x="6039628" y="974164"/>
            <a:ext cx="848659" cy="2091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 name="Rectangle 10"/>
          <p:cNvSpPr/>
          <p:nvPr/>
        </p:nvSpPr>
        <p:spPr>
          <a:xfrm>
            <a:off x="9803796" y="844534"/>
            <a:ext cx="848659" cy="2091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 name="Rectangle 5"/>
          <p:cNvSpPr/>
          <p:nvPr/>
        </p:nvSpPr>
        <p:spPr>
          <a:xfrm>
            <a:off x="645843" y="1567826"/>
            <a:ext cx="4604146" cy="646331"/>
          </a:xfrm>
          <a:prstGeom prst="rect">
            <a:avLst/>
          </a:prstGeom>
        </p:spPr>
        <p:txBody>
          <a:bodyPr wrap="none">
            <a:spAutoFit/>
          </a:bodyPr>
          <a:lstStyle/>
          <a:p>
            <a:r>
              <a:rPr lang="en-US" dirty="0">
                <a:solidFill>
                  <a:schemeClr val="accent6">
                    <a:lumMod val="50000"/>
                  </a:schemeClr>
                </a:solidFill>
              </a:rPr>
              <a:t>Parameters of Infineon 2kV Power Module </a:t>
            </a:r>
          </a:p>
          <a:p>
            <a:r>
              <a:rPr lang="en-US" dirty="0">
                <a:solidFill>
                  <a:schemeClr val="accent6">
                    <a:lumMod val="50000"/>
                  </a:schemeClr>
                </a:solidFill>
              </a:rPr>
              <a:t>(FF3MR20KM1H)</a:t>
            </a:r>
            <a:endParaRPr lang="sv-SE" dirty="0">
              <a:solidFill>
                <a:schemeClr val="accent6">
                  <a:lumMod val="50000"/>
                </a:schemeClr>
              </a:solidFill>
            </a:endParaRPr>
          </a:p>
        </p:txBody>
      </p:sp>
      <p:pic>
        <p:nvPicPr>
          <p:cNvPr id="13" name="Picture 12"/>
          <p:cNvPicPr>
            <a:picLocks noChangeAspect="1"/>
          </p:cNvPicPr>
          <p:nvPr/>
        </p:nvPicPr>
        <p:blipFill>
          <a:blip r:embed="rId2"/>
          <a:stretch>
            <a:fillRect/>
          </a:stretch>
        </p:blipFill>
        <p:spPr>
          <a:xfrm>
            <a:off x="5491775" y="844534"/>
            <a:ext cx="2961459" cy="2221094"/>
          </a:xfrm>
          <a:prstGeom prst="rect">
            <a:avLst/>
          </a:prstGeom>
        </p:spPr>
      </p:pic>
      <p:pic>
        <p:nvPicPr>
          <p:cNvPr id="14" name="Picture 13"/>
          <p:cNvPicPr>
            <a:picLocks noChangeAspect="1"/>
          </p:cNvPicPr>
          <p:nvPr/>
        </p:nvPicPr>
        <p:blipFill>
          <a:blip r:embed="rId3"/>
          <a:stretch>
            <a:fillRect/>
          </a:stretch>
        </p:blipFill>
        <p:spPr>
          <a:xfrm>
            <a:off x="8690847" y="801589"/>
            <a:ext cx="3312170" cy="2306984"/>
          </a:xfrm>
          <a:prstGeom prst="rect">
            <a:avLst/>
          </a:prstGeom>
        </p:spPr>
      </p:pic>
      <p:pic>
        <p:nvPicPr>
          <p:cNvPr id="19" name="Picture 18"/>
          <p:cNvPicPr>
            <a:picLocks noChangeAspect="1"/>
          </p:cNvPicPr>
          <p:nvPr/>
        </p:nvPicPr>
        <p:blipFill>
          <a:blip r:embed="rId4"/>
          <a:stretch>
            <a:fillRect/>
          </a:stretch>
        </p:blipFill>
        <p:spPr>
          <a:xfrm>
            <a:off x="8604250" y="3727798"/>
            <a:ext cx="3464504" cy="2598378"/>
          </a:xfrm>
          <a:prstGeom prst="rect">
            <a:avLst/>
          </a:prstGeom>
        </p:spPr>
      </p:pic>
      <p:pic>
        <p:nvPicPr>
          <p:cNvPr id="20" name="Picture 19"/>
          <p:cNvPicPr>
            <a:picLocks noChangeAspect="1"/>
          </p:cNvPicPr>
          <p:nvPr/>
        </p:nvPicPr>
        <p:blipFill>
          <a:blip r:embed="rId5"/>
          <a:stretch>
            <a:fillRect/>
          </a:stretch>
        </p:blipFill>
        <p:spPr>
          <a:xfrm>
            <a:off x="5143325" y="3788920"/>
            <a:ext cx="3309909" cy="2482432"/>
          </a:xfrm>
          <a:prstGeom prst="rect">
            <a:avLst/>
          </a:prstGeom>
        </p:spPr>
      </p:pic>
      <p:sp>
        <p:nvSpPr>
          <p:cNvPr id="8" name="Rectangle 7"/>
          <p:cNvSpPr/>
          <p:nvPr/>
        </p:nvSpPr>
        <p:spPr>
          <a:xfrm>
            <a:off x="647700" y="4452035"/>
            <a:ext cx="4344609" cy="646331"/>
          </a:xfrm>
          <a:prstGeom prst="rect">
            <a:avLst/>
          </a:prstGeom>
        </p:spPr>
        <p:txBody>
          <a:bodyPr wrap="square">
            <a:spAutoFit/>
          </a:bodyPr>
          <a:lstStyle/>
          <a:p>
            <a:r>
              <a:rPr lang="en-US" dirty="0">
                <a:solidFill>
                  <a:schemeClr val="accent6">
                    <a:lumMod val="50000"/>
                  </a:schemeClr>
                </a:solidFill>
              </a:rPr>
              <a:t>Inverter Losses with varying number of parallel dies and switching frequency</a:t>
            </a:r>
            <a:endParaRPr lang="sv-SE" dirty="0">
              <a:solidFill>
                <a:schemeClr val="accent6">
                  <a:lumMod val="50000"/>
                </a:schemeClr>
              </a:solidFill>
            </a:endParaRPr>
          </a:p>
        </p:txBody>
      </p:sp>
    </p:spTree>
    <p:extLst>
      <p:ext uri="{BB962C8B-B14F-4D97-AF65-F5344CB8AC3E}">
        <p14:creationId xmlns:p14="http://schemas.microsoft.com/office/powerpoint/2010/main" val="11799540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4143" y="276122"/>
            <a:ext cx="10990263" cy="568412"/>
          </a:xfrm>
        </p:spPr>
        <p:txBody>
          <a:bodyPr/>
          <a:lstStyle/>
          <a:p>
            <a:r>
              <a:rPr lang="en-US" dirty="0"/>
              <a:t>WP6 : Holistic Design for 2L Inverter </a:t>
            </a:r>
            <a:endParaRPr lang="sv-SE" dirty="0"/>
          </a:p>
        </p:txBody>
      </p:sp>
      <p:sp>
        <p:nvSpPr>
          <p:cNvPr id="11" name="Rectangle 10"/>
          <p:cNvSpPr/>
          <p:nvPr/>
        </p:nvSpPr>
        <p:spPr>
          <a:xfrm>
            <a:off x="9803796" y="844534"/>
            <a:ext cx="848659" cy="2091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 name="Rectangle 5"/>
          <p:cNvSpPr/>
          <p:nvPr/>
        </p:nvSpPr>
        <p:spPr>
          <a:xfrm>
            <a:off x="6233844" y="1530991"/>
            <a:ext cx="2965314" cy="923330"/>
          </a:xfrm>
          <a:prstGeom prst="rect">
            <a:avLst/>
          </a:prstGeom>
        </p:spPr>
        <p:txBody>
          <a:bodyPr wrap="square">
            <a:spAutoFit/>
          </a:bodyPr>
          <a:lstStyle/>
          <a:p>
            <a:r>
              <a:rPr lang="en-US" dirty="0">
                <a:solidFill>
                  <a:schemeClr val="accent6">
                    <a:lumMod val="50000"/>
                  </a:schemeClr>
                </a:solidFill>
              </a:rPr>
              <a:t>Motor Harmonic Losses </a:t>
            </a:r>
          </a:p>
          <a:p>
            <a:r>
              <a:rPr lang="en-US" dirty="0">
                <a:solidFill>
                  <a:schemeClr val="accent6">
                    <a:lumMod val="50000"/>
                  </a:schemeClr>
                </a:solidFill>
              </a:rPr>
              <a:t>for varying switching frequency</a:t>
            </a:r>
            <a:endParaRPr lang="sv-SE" dirty="0">
              <a:solidFill>
                <a:schemeClr val="accent6">
                  <a:lumMod val="50000"/>
                </a:schemeClr>
              </a:solidFill>
            </a:endParaRPr>
          </a:p>
        </p:txBody>
      </p:sp>
      <p:pic>
        <p:nvPicPr>
          <p:cNvPr id="12" name="Picture 11"/>
          <p:cNvPicPr>
            <a:picLocks noChangeAspect="1"/>
          </p:cNvPicPr>
          <p:nvPr/>
        </p:nvPicPr>
        <p:blipFill>
          <a:blip r:embed="rId2"/>
          <a:stretch>
            <a:fillRect/>
          </a:stretch>
        </p:blipFill>
        <p:spPr>
          <a:xfrm>
            <a:off x="8957560" y="1163814"/>
            <a:ext cx="2849304" cy="2136978"/>
          </a:xfrm>
          <a:prstGeom prst="rect">
            <a:avLst/>
          </a:prstGeom>
        </p:spPr>
      </p:pic>
      <p:sp>
        <p:nvSpPr>
          <p:cNvPr id="3" name="Rectangle 2"/>
          <p:cNvSpPr/>
          <p:nvPr/>
        </p:nvSpPr>
        <p:spPr>
          <a:xfrm>
            <a:off x="474394" y="5030714"/>
            <a:ext cx="3243196" cy="646331"/>
          </a:xfrm>
          <a:prstGeom prst="rect">
            <a:avLst/>
          </a:prstGeom>
        </p:spPr>
        <p:txBody>
          <a:bodyPr wrap="none">
            <a:spAutoFit/>
          </a:bodyPr>
          <a:lstStyle/>
          <a:p>
            <a:r>
              <a:rPr lang="en-US" dirty="0">
                <a:solidFill>
                  <a:schemeClr val="accent6">
                    <a:lumMod val="50000"/>
                  </a:schemeClr>
                </a:solidFill>
              </a:rPr>
              <a:t>Optimization of overall losses</a:t>
            </a:r>
          </a:p>
          <a:p>
            <a:r>
              <a:rPr lang="en-US" dirty="0">
                <a:solidFill>
                  <a:schemeClr val="accent6">
                    <a:lumMod val="50000"/>
                  </a:schemeClr>
                </a:solidFill>
              </a:rPr>
              <a:t>and the number of die area</a:t>
            </a:r>
            <a:endParaRPr lang="sv-SE" dirty="0">
              <a:solidFill>
                <a:schemeClr val="accent6">
                  <a:lumMod val="50000"/>
                </a:schemeClr>
              </a:solidFill>
            </a:endParaRPr>
          </a:p>
        </p:txBody>
      </p:sp>
      <p:pic>
        <p:nvPicPr>
          <p:cNvPr id="15" name="Picture 14"/>
          <p:cNvPicPr>
            <a:picLocks noChangeAspect="1"/>
          </p:cNvPicPr>
          <p:nvPr/>
        </p:nvPicPr>
        <p:blipFill>
          <a:blip r:embed="rId3"/>
          <a:stretch>
            <a:fillRect/>
          </a:stretch>
        </p:blipFill>
        <p:spPr>
          <a:xfrm>
            <a:off x="3947427" y="4000858"/>
            <a:ext cx="3608059" cy="2706045"/>
          </a:xfrm>
          <a:prstGeom prst="rect">
            <a:avLst/>
          </a:prstGeom>
        </p:spPr>
      </p:pic>
      <p:pic>
        <p:nvPicPr>
          <p:cNvPr id="17" name="Picture 16"/>
          <p:cNvPicPr>
            <a:picLocks noChangeAspect="1"/>
          </p:cNvPicPr>
          <p:nvPr/>
        </p:nvPicPr>
        <p:blipFill>
          <a:blip r:embed="rId4"/>
          <a:stretch>
            <a:fillRect/>
          </a:stretch>
        </p:blipFill>
        <p:spPr>
          <a:xfrm>
            <a:off x="2984263" y="1163814"/>
            <a:ext cx="3010137" cy="2257603"/>
          </a:xfrm>
          <a:prstGeom prst="rect">
            <a:avLst/>
          </a:prstGeom>
        </p:spPr>
      </p:pic>
      <p:sp>
        <p:nvSpPr>
          <p:cNvPr id="4" name="Rectangle 3"/>
          <p:cNvSpPr/>
          <p:nvPr/>
        </p:nvSpPr>
        <p:spPr>
          <a:xfrm>
            <a:off x="105934" y="1568288"/>
            <a:ext cx="3080507" cy="923330"/>
          </a:xfrm>
          <a:prstGeom prst="rect">
            <a:avLst/>
          </a:prstGeom>
        </p:spPr>
        <p:txBody>
          <a:bodyPr wrap="square">
            <a:spAutoFit/>
          </a:bodyPr>
          <a:lstStyle/>
          <a:p>
            <a:r>
              <a:rPr lang="en-US" dirty="0">
                <a:solidFill>
                  <a:schemeClr val="accent6">
                    <a:lumMod val="50000"/>
                  </a:schemeClr>
                </a:solidFill>
              </a:rPr>
              <a:t>Motor Harmonic Losses </a:t>
            </a:r>
          </a:p>
          <a:p>
            <a:r>
              <a:rPr lang="en-US" dirty="0">
                <a:solidFill>
                  <a:schemeClr val="accent6">
                    <a:lumMod val="50000"/>
                  </a:schemeClr>
                </a:solidFill>
              </a:rPr>
              <a:t>for varying modulation index</a:t>
            </a:r>
            <a:endParaRPr lang="sv-SE" dirty="0">
              <a:solidFill>
                <a:schemeClr val="accent6">
                  <a:lumMod val="50000"/>
                </a:schemeClr>
              </a:solidFill>
            </a:endParaRPr>
          </a:p>
        </p:txBody>
      </p:sp>
      <mc:AlternateContent xmlns:mc="http://schemas.openxmlformats.org/markup-compatibility/2006" xmlns:a14="http://schemas.microsoft.com/office/drawing/2010/main">
        <mc:Choice Requires="a14">
          <p:sp>
            <p:nvSpPr>
              <p:cNvPr id="18" name="TextBox 17"/>
              <p:cNvSpPr txBox="1"/>
              <p:nvPr/>
            </p:nvSpPr>
            <p:spPr>
              <a:xfrm>
                <a:off x="3253579" y="844534"/>
                <a:ext cx="249787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sv-SE" b="0" i="1" dirty="0" smtClean="0">
                              <a:latin typeface="Cambria Math" panose="02040503050406030204" pitchFamily="18" charset="0"/>
                            </a:rPr>
                          </m:ctrlPr>
                        </m:sSubPr>
                        <m:e>
                          <m:r>
                            <a:rPr lang="sv-SE" b="0" i="1" dirty="0" smtClean="0">
                              <a:latin typeface="Cambria Math" panose="02040503050406030204" pitchFamily="18" charset="0"/>
                            </a:rPr>
                            <m:t>𝑓</m:t>
                          </m:r>
                        </m:e>
                        <m:sub>
                          <m:r>
                            <a:rPr lang="en-US" i="1" dirty="0" smtClean="0">
                              <a:latin typeface="Cambria Math" panose="02040503050406030204" pitchFamily="18" charset="0"/>
                            </a:rPr>
                            <m:t>𝑠𝑤</m:t>
                          </m:r>
                        </m:sub>
                      </m:sSub>
                      <m:r>
                        <a:rPr lang="en-US" i="1" dirty="0" smtClean="0">
                          <a:latin typeface="Cambria Math" panose="02040503050406030204" pitchFamily="18" charset="0"/>
                        </a:rPr>
                        <m:t>= 10</m:t>
                      </m:r>
                      <m:r>
                        <a:rPr lang="sv-SE" b="0" i="1" dirty="0" smtClean="0">
                          <a:latin typeface="Cambria Math" panose="02040503050406030204" pitchFamily="18" charset="0"/>
                        </a:rPr>
                        <m:t> </m:t>
                      </m:r>
                      <m:r>
                        <a:rPr lang="en-US" i="1" dirty="0" smtClean="0">
                          <a:latin typeface="Cambria Math" panose="02040503050406030204" pitchFamily="18" charset="0"/>
                        </a:rPr>
                        <m:t>𝑘𝐻𝑧</m:t>
                      </m:r>
                    </m:oMath>
                  </m:oMathPara>
                </a14:m>
                <a:endParaRPr lang="sv-SE" dirty="0"/>
              </a:p>
            </p:txBody>
          </p:sp>
        </mc:Choice>
        <mc:Fallback xmlns="">
          <p:sp>
            <p:nvSpPr>
              <p:cNvPr id="18" name="TextBox 17"/>
              <p:cNvSpPr txBox="1">
                <a:spLocks noRot="1" noChangeAspect="1" noMove="1" noResize="1" noEditPoints="1" noAdjustHandles="1" noChangeArrowheads="1" noChangeShapeType="1" noTextEdit="1"/>
              </p:cNvSpPr>
              <p:nvPr/>
            </p:nvSpPr>
            <p:spPr>
              <a:xfrm>
                <a:off x="3253579" y="844534"/>
                <a:ext cx="2497878" cy="369332"/>
              </a:xfrm>
              <a:prstGeom prst="rect">
                <a:avLst/>
              </a:prstGeom>
              <a:blipFill>
                <a:blip r:embed="rId5"/>
                <a:stretch>
                  <a:fillRect b="-15000"/>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9650881" y="850868"/>
                <a:ext cx="158166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𝑚</m:t>
                      </m:r>
                      <m:r>
                        <a:rPr lang="en-US" i="1" dirty="0" smtClean="0">
                          <a:latin typeface="Cambria Math" panose="02040503050406030204" pitchFamily="18" charset="0"/>
                        </a:rPr>
                        <m:t>= 1</m:t>
                      </m:r>
                    </m:oMath>
                  </m:oMathPara>
                </a14:m>
                <a:endParaRPr lang="sv-SE" dirty="0"/>
              </a:p>
            </p:txBody>
          </p:sp>
        </mc:Choice>
        <mc:Fallback xmlns="">
          <p:sp>
            <p:nvSpPr>
              <p:cNvPr id="21" name="TextBox 20"/>
              <p:cNvSpPr txBox="1">
                <a:spLocks noRot="1" noChangeAspect="1" noMove="1" noResize="1" noEditPoints="1" noAdjustHandles="1" noChangeArrowheads="1" noChangeShapeType="1" noTextEdit="1"/>
              </p:cNvSpPr>
              <p:nvPr/>
            </p:nvSpPr>
            <p:spPr>
              <a:xfrm>
                <a:off x="9650881" y="850868"/>
                <a:ext cx="1581665" cy="369332"/>
              </a:xfrm>
              <a:prstGeom prst="rect">
                <a:avLst/>
              </a:prstGeom>
              <a:blipFill>
                <a:blip r:embed="rId6"/>
                <a:stretch>
                  <a:fillRect/>
                </a:stretch>
              </a:blipFill>
            </p:spPr>
            <p:txBody>
              <a:bodyPr/>
              <a:lstStyle/>
              <a:p>
                <a:r>
                  <a:rPr lang="sv-SE">
                    <a:noFill/>
                  </a:rPr>
                  <a:t> </a:t>
                </a:r>
              </a:p>
            </p:txBody>
          </p:sp>
        </mc:Fallback>
      </mc:AlternateContent>
      <p:pic>
        <p:nvPicPr>
          <p:cNvPr id="22" name="Picture 21"/>
          <p:cNvPicPr>
            <a:picLocks noChangeAspect="1"/>
          </p:cNvPicPr>
          <p:nvPr/>
        </p:nvPicPr>
        <p:blipFill>
          <a:blip r:embed="rId7"/>
          <a:stretch>
            <a:fillRect/>
          </a:stretch>
        </p:blipFill>
        <p:spPr>
          <a:xfrm>
            <a:off x="7642854" y="4000858"/>
            <a:ext cx="3617405" cy="2713054"/>
          </a:xfrm>
          <a:prstGeom prst="rect">
            <a:avLst/>
          </a:prstGeom>
        </p:spPr>
      </p:pic>
    </p:spTree>
    <p:extLst>
      <p:ext uri="{BB962C8B-B14F-4D97-AF65-F5344CB8AC3E}">
        <p14:creationId xmlns:p14="http://schemas.microsoft.com/office/powerpoint/2010/main" val="185902838"/>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8698</TotalTime>
  <Words>450</Words>
  <Application>Microsoft Office PowerPoint</Application>
  <PresentationFormat>Widescreen</PresentationFormat>
  <Paragraphs>69</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Cambria Math</vt:lpstr>
      <vt:lpstr>Arial</vt:lpstr>
      <vt:lpstr>Georgia</vt:lpstr>
      <vt:lpstr>NimbusRomNo9L-Regu</vt:lpstr>
      <vt:lpstr>Figtree</vt:lpstr>
      <vt:lpstr>Calibri</vt:lpstr>
      <vt:lpstr>NimbusRomNo9L-ReguItal</vt:lpstr>
      <vt:lpstr>Office-tema</vt:lpstr>
      <vt:lpstr>WP4: Progress Updates</vt:lpstr>
      <vt:lpstr>WP4 : Evaluation of Topologies</vt:lpstr>
      <vt:lpstr>WP4 : Evaluation of Topologies</vt:lpstr>
      <vt:lpstr>WP4: Progress Updates</vt:lpstr>
      <vt:lpstr>WP4: Progress Updates </vt:lpstr>
      <vt:lpstr>WP4: Progress Updates</vt:lpstr>
      <vt:lpstr>WP6: Progress Updates</vt:lpstr>
      <vt:lpstr>WP6 : Holistic Design for 2L Inverter </vt:lpstr>
      <vt:lpstr>WP6 : Holistic Design for 2L Inverter </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Shahriar Sarmast Ghahfarokhi</cp:lastModifiedBy>
  <cp:revision>142</cp:revision>
  <dcterms:created xsi:type="dcterms:W3CDTF">2024-01-10T13:17:29Z</dcterms:created>
  <dcterms:modified xsi:type="dcterms:W3CDTF">2024-10-01T07:46:03Z</dcterms:modified>
</cp:coreProperties>
</file>