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9" r:id="rId2"/>
    <p:sldId id="297" r:id="rId3"/>
    <p:sldId id="301" r:id="rId4"/>
    <p:sldId id="300" r:id="rId5"/>
    <p:sldId id="298" r:id="rId6"/>
    <p:sldId id="302" r:id="rId7"/>
    <p:sldId id="303" r:id="rId8"/>
    <p:sldId id="304" r:id="rId9"/>
    <p:sldId id="305" r:id="rId10"/>
    <p:sldId id="306" r:id="rId11"/>
    <p:sldId id="299" r:id="rId12"/>
    <p:sldId id="311" r:id="rId13"/>
    <p:sldId id="312" r:id="rId14"/>
    <p:sldId id="313" r:id="rId15"/>
    <p:sldId id="308" r:id="rId16"/>
    <p:sldId id="310" r:id="rId17"/>
    <p:sldId id="309" r:id="rId18"/>
    <p:sldId id="314" r:id="rId19"/>
    <p:sldId id="315" r:id="rId20"/>
    <p:sldId id="316" r:id="rId21"/>
    <p:sldId id="317" r:id="rId22"/>
    <p:sldId id="307" r:id="rId23"/>
    <p:sldId id="318" r:id="rId24"/>
    <p:sldId id="322" r:id="rId25"/>
    <p:sldId id="321" r:id="rId26"/>
  </p:sldIdLst>
  <p:sldSz cx="9144000" cy="5143500" type="screen16x9"/>
  <p:notesSz cx="6858000" cy="9144000"/>
  <p:defaultTextStyle>
    <a:defPPr>
      <a:defRPr lang="sv-S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0" autoAdjust="0"/>
    <p:restoredTop sz="94660"/>
  </p:normalViewPr>
  <p:slideViewPr>
    <p:cSldViewPr>
      <p:cViewPr varScale="1">
        <p:scale>
          <a:sx n="78" d="100"/>
          <a:sy n="78" d="100"/>
        </p:scale>
        <p:origin x="108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2" d="100"/>
          <a:sy n="92" d="100"/>
        </p:scale>
        <p:origin x="279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8641E886-6D8F-4DA2-898A-00B1EAE1AC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EDFE6A-05C8-4F6B-BA8A-F497180174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3AE95-3DFC-4DDB-A7BB-B9BF94A03429}" type="datetimeFigureOut">
              <a:rPr lang="sv-SE" smtClean="0"/>
              <a:t>2024-06-23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AE70C2B-4AA1-47BF-94B9-F7DF59FCFC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ED3EF666-D1D2-478D-9969-E1DE1FE2D0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6AD15-F18B-494F-8904-C45D7BCBE60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675942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8539D3-FAF3-FC43-8825-CC8C9D4686B2}" type="datetimeFigureOut">
              <a:rPr lang="sv-SE" smtClean="0"/>
              <a:t>2024-06-23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B8005-7BF2-4B40-A831-B1EE96BFE5D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98434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42CF517-9DD4-421C-AE14-6B4A4453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B926A-213D-3B48-BB0C-19ADA28B3F4D}" type="datetime1">
              <a:rPr lang="sv-SE" smtClean="0"/>
              <a:t>2024-06-23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E3CD4D9-900F-4086-81FD-AB6606D8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28E8603-97F6-448F-AF1B-7D33D8C75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t>‹#›</a:t>
            </a:fld>
            <a:endParaRPr lang="sv-SE"/>
          </a:p>
        </p:txBody>
      </p:sp>
      <p:sp>
        <p:nvSpPr>
          <p:cNvPr id="24" name="Rubrik 1">
            <a:extLst>
              <a:ext uri="{FF2B5EF4-FFF2-40B4-BE49-F238E27FC236}">
                <a16:creationId xmlns:a16="http://schemas.microsoft.com/office/drawing/2014/main" id="{2973C368-F8A4-41B1-9D52-4D7998813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928" y="1390867"/>
            <a:ext cx="8090297" cy="566641"/>
          </a:xfrm>
        </p:spPr>
        <p:txBody>
          <a:bodyPr anchor="t"/>
          <a:lstStyle>
            <a:lvl1pPr algn="l">
              <a:defRPr sz="2700"/>
            </a:lvl1pPr>
          </a:lstStyle>
          <a:p>
            <a:r>
              <a:rPr lang="en-US" smtClean="0"/>
              <a:t>Click to edit Master title style</a:t>
            </a:r>
            <a:endParaRPr lang="sv-SE" dirty="0"/>
          </a:p>
        </p:txBody>
      </p:sp>
      <p:sp>
        <p:nvSpPr>
          <p:cNvPr id="25" name="Underrubrik 2">
            <a:extLst>
              <a:ext uri="{FF2B5EF4-FFF2-40B4-BE49-F238E27FC236}">
                <a16:creationId xmlns:a16="http://schemas.microsoft.com/office/drawing/2014/main" id="{040AB90C-B2A7-4284-98E0-80DAE0A2CD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928" y="1974952"/>
            <a:ext cx="8090297" cy="596798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sv-SE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83F7B48-BB86-D74E-A1EB-2C3CDBAC7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r="700"/>
          <a:stretch/>
        </p:blipFill>
        <p:spPr>
          <a:xfrm>
            <a:off x="246063" y="2559025"/>
            <a:ext cx="8650292" cy="244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1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18E66E3-BED5-4C6D-B465-40B84B88D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928" y="1390867"/>
            <a:ext cx="8090297" cy="566641"/>
          </a:xfrm>
        </p:spPr>
        <p:txBody>
          <a:bodyPr anchor="t"/>
          <a:lstStyle>
            <a:lvl1pPr algn="l">
              <a:defRPr sz="2700"/>
            </a:lvl1pPr>
          </a:lstStyle>
          <a:p>
            <a:r>
              <a:rPr lang="en-US" smtClean="0"/>
              <a:t>Click to edit Master title style</a:t>
            </a:r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FF22D944-0354-4DCD-8334-3FC7C9FFC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928" y="1974952"/>
            <a:ext cx="8090297" cy="596798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42CF517-9DD4-421C-AE14-6B4A4453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EF508-B04A-E34A-80DD-59A12C5D1039}" type="datetime1">
              <a:rPr lang="sv-SE" smtClean="0"/>
              <a:t>2024-06-23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E3CD4D9-900F-4086-81FD-AB6606D8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28E8603-97F6-448F-AF1B-7D33D8C75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t>‹#›</a:t>
            </a:fld>
            <a:endParaRPr lang="sv-SE"/>
          </a:p>
        </p:txBody>
      </p:sp>
      <p:pic>
        <p:nvPicPr>
          <p:cNvPr id="9" name="Bildobjekt 19">
            <a:extLst>
              <a:ext uri="{FF2B5EF4-FFF2-40B4-BE49-F238E27FC236}">
                <a16:creationId xmlns:a16="http://schemas.microsoft.com/office/drawing/2014/main" id="{D08EEA80-13E5-4697-A9DA-21277742FA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26476" y="333641"/>
            <a:ext cx="1287722" cy="205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50A1F01-262A-6542-96F8-9345B6213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r="700"/>
          <a:stretch/>
        </p:blipFill>
        <p:spPr>
          <a:xfrm>
            <a:off x="246063" y="2559025"/>
            <a:ext cx="8650292" cy="244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EB0B6BB-AC5F-485A-85BA-F56E433C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69A48BD2-8B5B-44E1-8F6C-9B0D41A68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3F4D8-4BE6-D743-AE27-D14757A6F270}" type="datetime1">
              <a:rPr lang="sv-SE" smtClean="0"/>
              <a:t>2024-06-23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1B72178-9B2F-45A7-A31E-7710591B0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155F99B-B767-4EF4-BDED-E7E361EB3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FA474A84-82A6-4747-B64B-83217A0CB5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31888" y="1194198"/>
            <a:ext cx="7765653" cy="3540919"/>
          </a:xfrm>
        </p:spPr>
        <p:txBody>
          <a:bodyPr>
            <a:normAutofit/>
          </a:bodyPr>
          <a:lstStyle>
            <a:lvl1pPr>
              <a:defRPr sz="1500"/>
            </a:lvl1pPr>
            <a:lvl2pPr marL="514350" indent="-171450">
              <a:buFont typeface="Arial" panose="020B0604020202020204" pitchFamily="34" charset="0"/>
              <a:buChar char="‒"/>
              <a:defRPr sz="1350"/>
            </a:lvl2pPr>
            <a:lvl3pPr marL="857250" indent="-171450">
              <a:buFont typeface="Arial" panose="020B0604020202020204" pitchFamily="34" charset="0"/>
              <a:buChar char="˃"/>
              <a:defRPr sz="1200"/>
            </a:lvl3pPr>
            <a:lvl4pPr>
              <a:defRPr sz="1050"/>
            </a:lvl4pPr>
            <a:lvl5pPr marL="1543050" indent="-171450">
              <a:buFont typeface="Arial" panose="020B0604020202020204" pitchFamily="34" charset="0"/>
              <a:buChar char="‒"/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27327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två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C966D54-57EE-458D-979F-B857F348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63559-229D-724F-BBD5-623E582CF5C1}" type="datetime1">
              <a:rPr lang="sv-SE" smtClean="0"/>
              <a:t>2024-06-23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C0D5306-1C16-4D96-8016-0B45E724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579ABBA-285A-4BDD-A8DE-D7E2326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1" name="Platshållare för innehåll 6">
            <a:extLst>
              <a:ext uri="{FF2B5EF4-FFF2-40B4-BE49-F238E27FC236}">
                <a16:creationId xmlns:a16="http://schemas.microsoft.com/office/drawing/2014/main" id="{C23E0C61-4086-4E9E-9765-C96613FBE5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3244" y="1193800"/>
            <a:ext cx="3794694" cy="3540919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2" name="Platshållare för innehåll 6">
            <a:extLst>
              <a:ext uri="{FF2B5EF4-FFF2-40B4-BE49-F238E27FC236}">
                <a16:creationId xmlns:a16="http://schemas.microsoft.com/office/drawing/2014/main" id="{F4B1B781-8A23-4309-9884-DD6E3CE0EF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131888" y="1194594"/>
            <a:ext cx="3794694" cy="3540919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6" name="Rubrik 5">
            <a:extLst>
              <a:ext uri="{FF2B5EF4-FFF2-40B4-BE49-F238E27FC236}">
                <a16:creationId xmlns:a16="http://schemas.microsoft.com/office/drawing/2014/main" id="{41903042-6CE8-4286-847C-7E810AF5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4158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underrubriker och två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945529D-785A-43B8-8CB0-BF49CF7DD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C966D54-57EE-458D-979F-B857F348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F60D0-FE42-A248-8A54-F26FEA948759}" type="datetime1">
              <a:rPr lang="sv-SE" smtClean="0"/>
              <a:t>2024-06-23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C0D5306-1C16-4D96-8016-0B45E724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579ABBA-285A-4BDD-A8DE-D7E2326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8" name="Platshållare för innehåll 6">
            <a:extLst>
              <a:ext uri="{FF2B5EF4-FFF2-40B4-BE49-F238E27FC236}">
                <a16:creationId xmlns:a16="http://schemas.microsoft.com/office/drawing/2014/main" id="{6304BE55-467D-4CE2-9B8D-EC038C989AF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3244" y="1664494"/>
            <a:ext cx="3794297" cy="3070622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2" name="Platshållare för text 10">
            <a:extLst>
              <a:ext uri="{FF2B5EF4-FFF2-40B4-BE49-F238E27FC236}">
                <a16:creationId xmlns:a16="http://schemas.microsoft.com/office/drawing/2014/main" id="{4D066E04-C797-4C85-AD05-F6EFD42AED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03244" y="1194197"/>
            <a:ext cx="3794297" cy="398859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Platshållare för innehåll 6">
            <a:extLst>
              <a:ext uri="{FF2B5EF4-FFF2-40B4-BE49-F238E27FC236}">
                <a16:creationId xmlns:a16="http://schemas.microsoft.com/office/drawing/2014/main" id="{20A69851-5F12-40D3-A417-2DCD7530A5F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136220" y="1664494"/>
            <a:ext cx="3792153" cy="3070622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4" name="Platshållare för text 10">
            <a:extLst>
              <a:ext uri="{FF2B5EF4-FFF2-40B4-BE49-F238E27FC236}">
                <a16:creationId xmlns:a16="http://schemas.microsoft.com/office/drawing/2014/main" id="{9472B11D-1B06-4AB9-A788-CEFECBDC8E1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36220" y="1194197"/>
            <a:ext cx="3792153" cy="398859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0452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8A04EEF-7713-4918-A58B-127EED1C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1421C8-A909-4498-9C65-2C4F1875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7D9E-CD1D-F144-88A8-27D2C4D672B1}" type="datetime1">
              <a:rPr lang="sv-SE" smtClean="0"/>
              <a:t>2024-06-23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98402AB-3C0D-47F3-B526-AEE8B976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9E1C101-21B3-4DE8-ACC8-96D836B9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FECDBECF-4709-417A-8783-E9CAB0603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6460" y="1194198"/>
            <a:ext cx="8651081" cy="354091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5339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två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8A04EEF-7713-4918-A58B-127EED1C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1421C8-A909-4498-9C65-2C4F1875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585DF-A6DF-A54D-9960-BE991B45200F}" type="datetime1">
              <a:rPr lang="sv-SE" smtClean="0"/>
              <a:t>2024-06-23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98402AB-3C0D-47F3-B526-AEE8B976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9E1C101-21B3-4DE8-ACC8-96D836B9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FECDBECF-4709-417A-8783-E9CAB0603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6460" y="1194594"/>
            <a:ext cx="4237209" cy="354091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  <p:sp>
        <p:nvSpPr>
          <p:cNvPr id="9" name="Platshållare för bild 6">
            <a:extLst>
              <a:ext uri="{FF2B5EF4-FFF2-40B4-BE49-F238E27FC236}">
                <a16:creationId xmlns:a16="http://schemas.microsoft.com/office/drawing/2014/main" id="{3747F699-0360-4395-8415-6E5114D6C6C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60332" y="1194198"/>
            <a:ext cx="4237210" cy="354091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87958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F4B5727-3AF8-4023-B42B-839E8695A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92B391E-9C84-4E0D-898B-8454343BE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91D87-1285-6843-BFFA-E098C31F828A}" type="datetime1">
              <a:rPr lang="sv-SE" smtClean="0"/>
              <a:t>2024-06-23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32D627AA-4087-4599-9513-63987ED8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DE0A226-9A3A-4E94-A386-D753C79EA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96585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Headlin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798893C-4CC2-2B2F-4FC8-5E0C5AE0D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5C9F0B7-F98C-CB91-2115-2967E7B15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EDDDBB2-E3A5-184D-9122-109D1DA68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F0965-93C0-9548-8879-5851BCBC049F}" type="datetime1">
              <a:rPr lang="sv-SE" smtClean="0"/>
              <a:t>2024-06-23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877E5B5-9B3B-1F13-E51F-88E6C87DC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8432B03-1FFF-FE82-834F-9C4FBE4D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417707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EB551155-ADB6-4713-AD48-92A8C535A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680" y="250032"/>
            <a:ext cx="7763861" cy="6477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CEFDED03-B73B-4057-9667-7B69EF4D7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1887" y="1194197"/>
            <a:ext cx="7765653" cy="34385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0C11F1C-711C-4AD7-A25F-D2B3F451BB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1520" y="4902599"/>
            <a:ext cx="2057400" cy="2325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E8303-AD2F-DB4D-B8E2-7368B5FD02EE}" type="datetime1">
              <a:rPr lang="sv-SE" smtClean="0"/>
              <a:t>2024-06-23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9465249-3F3D-4589-A44C-3AA1952E4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2599"/>
            <a:ext cx="3086100" cy="2325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9DBF7EF-8E59-4075-A8F0-EF49E121C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35080" y="4902599"/>
            <a:ext cx="2057400" cy="2325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2A9A3-8636-4A04-BD48-3153280FB086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3C4B2EE-2B48-4379-BBD1-4FA250447FE8}"/>
              </a:ext>
            </a:extLst>
          </p:cNvPr>
          <p:cNvPicPr>
            <a:picLocks noChangeArrowheads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6551" y="250120"/>
            <a:ext cx="644150" cy="6523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Rektangel 53">
            <a:extLst>
              <a:ext uri="{FF2B5EF4-FFF2-40B4-BE49-F238E27FC236}">
                <a16:creationId xmlns:a16="http://schemas.microsoft.com/office/drawing/2014/main" id="{D263F704-88D1-4479-BA22-2920B7F38621}"/>
              </a:ext>
            </a:extLst>
          </p:cNvPr>
          <p:cNvSpPr/>
          <p:nvPr userDrawn="1"/>
        </p:nvSpPr>
        <p:spPr>
          <a:xfrm>
            <a:off x="250750" y="4889099"/>
            <a:ext cx="8646791" cy="1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013"/>
          </a:p>
        </p:txBody>
      </p:sp>
    </p:spTree>
    <p:extLst>
      <p:ext uri="{BB962C8B-B14F-4D97-AF65-F5344CB8AC3E}">
        <p14:creationId xmlns:p14="http://schemas.microsoft.com/office/powerpoint/2010/main" val="276586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3" r:id="rId3"/>
    <p:sldLayoutId id="2147483654" r:id="rId4"/>
    <p:sldLayoutId id="2147483655" r:id="rId5"/>
    <p:sldLayoutId id="2147483651" r:id="rId6"/>
    <p:sldLayoutId id="2147483652" r:id="rId7"/>
    <p:sldLayoutId id="2147483650" r:id="rId8"/>
    <p:sldLayoutId id="2147483657" r:id="rId9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&gt;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‒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713" userDrawn="1">
          <p15:clr>
            <a:srgbClr val="F26B43"/>
          </p15:clr>
        </p15:guide>
        <p15:guide id="4" pos="5454" userDrawn="1">
          <p15:clr>
            <a:srgbClr val="F26B43"/>
          </p15:clr>
        </p15:guide>
        <p15:guide id="6" pos="358" userDrawn="1">
          <p15:clr>
            <a:srgbClr val="F26B43"/>
          </p15:clr>
        </p15:guide>
        <p15:guide id="7" orient="horz" pos="158" userDrawn="1">
          <p15:clr>
            <a:srgbClr val="F26B43"/>
          </p15:clr>
        </p15:guide>
        <p15:guide id="8" orient="horz" pos="3084" userDrawn="1">
          <p15:clr>
            <a:srgbClr val="F26B43"/>
          </p15:clr>
        </p15:guide>
        <p15:guide id="9" pos="5605" userDrawn="1">
          <p15:clr>
            <a:srgbClr val="F26B43"/>
          </p15:clr>
        </p15:guide>
        <p15:guide id="10" pos="155" userDrawn="1">
          <p15:clr>
            <a:srgbClr val="F26B43"/>
          </p15:clr>
        </p15:guide>
        <p15:guide id="11" pos="560" userDrawn="1">
          <p15:clr>
            <a:srgbClr val="F26B43"/>
          </p15:clr>
        </p15:guide>
        <p15:guide id="12" orient="horz" pos="566" userDrawn="1">
          <p15:clr>
            <a:srgbClr val="F26B43"/>
          </p15:clr>
        </p15:guide>
        <p15:guide id="13" orient="horz" pos="752" userDrawn="1">
          <p15:clr>
            <a:srgbClr val="F26B43"/>
          </p15:clr>
        </p15:guide>
        <p15:guide id="14" orient="horz" pos="298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emf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emf"/><Relationship Id="rId4" Type="http://schemas.openxmlformats.org/officeDocument/2006/relationships/image" Target="../media/image3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7" Type="http://schemas.openxmlformats.org/officeDocument/2006/relationships/image" Target="../media/image2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.png"/><Relationship Id="rId7" Type="http://schemas.openxmlformats.org/officeDocument/2006/relationships/image" Target="../media/image36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36.emf"/><Relationship Id="rId7" Type="http://schemas.openxmlformats.org/officeDocument/2006/relationships/image" Target="../media/image56.png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046A919-5EDA-8448-9EC7-04EDDB67C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96" y="1347614"/>
            <a:ext cx="8396560" cy="566641"/>
          </a:xfrm>
        </p:spPr>
        <p:txBody>
          <a:bodyPr/>
          <a:lstStyle/>
          <a:p>
            <a:r>
              <a:rPr lang="en-US" dirty="0" smtClean="0"/>
              <a:t>2-Level Voltage Source Traction Inverter</a:t>
            </a:r>
            <a:endParaRPr lang="sv-SE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52E08D81-344D-5640-BC09-C6F8DF74B8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sv-SE" dirty="0" smtClean="0"/>
              <a:t>Enes Ayaz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74705-AE8B-4A42-AB7F-E934F3FD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57DF-C448-9E4A-AC1B-538968DD2481}" type="datetime1">
              <a:rPr lang="sv-SE" smtClean="0"/>
              <a:pPr/>
              <a:t>2024-06-23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B2698-B4E9-7A4C-9527-FEC214F6F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6620A-5648-0C4A-8D32-82D4B46D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55047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7AB7781-EB32-CA48-82CD-DCA0228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449" y="187883"/>
            <a:ext cx="7763861" cy="647700"/>
          </a:xfrm>
        </p:spPr>
        <p:txBody>
          <a:bodyPr/>
          <a:lstStyle/>
          <a:p>
            <a:r>
              <a:rPr lang="en-US" dirty="0" smtClean="0"/>
              <a:t>Agenda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9B273-EE96-A44E-A02A-C7AA1160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D38B-7A85-7E4E-9C9B-12F394E7FE78}" type="datetime1">
              <a:rPr lang="sv-SE" sz="800" smtClean="0"/>
              <a:pPr/>
              <a:t>2024-06-23</a:t>
            </a:fld>
            <a:endParaRPr lang="sv-SE" sz="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5A7F8-2F17-5E4B-966E-C438E616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z="80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B103-04C0-4846-BB5C-19A08F41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z="800" smtClean="0"/>
              <a:pPr/>
              <a:t>2</a:t>
            </a:fld>
            <a:endParaRPr lang="sv-SE" sz="80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8E8EBC3-06C1-9D44-A112-5549F8274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1560" y="987574"/>
            <a:ext cx="7056784" cy="3528392"/>
          </a:xfrm>
        </p:spPr>
        <p:txBody>
          <a:bodyPr>
            <a:normAutofit fontScale="77500" lnSpcReduction="20000"/>
          </a:bodyPr>
          <a:lstStyle/>
          <a:p>
            <a:pPr marL="800100" lvl="1" indent="-457200">
              <a:buAutoNum type="arabicPeriod"/>
            </a:pPr>
            <a:r>
              <a:rPr lang="en-US" sz="1850" b="1" dirty="0" smtClean="0"/>
              <a:t>Power Ratings of 2-Level Inverter</a:t>
            </a:r>
          </a:p>
          <a:p>
            <a:pPr marL="800100" lvl="1" indent="-457200">
              <a:buAutoNum type="arabicPeriod"/>
            </a:pPr>
            <a:endParaRPr lang="en-US" sz="1850" b="1" dirty="0" smtClean="0"/>
          </a:p>
          <a:p>
            <a:pPr marL="800100" lvl="1" indent="-457200">
              <a:buFont typeface="Arial" panose="020B0604020202020204" pitchFamily="34" charset="0"/>
              <a:buAutoNum type="arabicPeriod"/>
            </a:pPr>
            <a:r>
              <a:rPr lang="en-US" sz="1850" b="1" dirty="0"/>
              <a:t>Power </a:t>
            </a:r>
            <a:r>
              <a:rPr lang="en-US" sz="1850" b="1" dirty="0" smtClean="0"/>
              <a:t>Modules (Infineon 2kV) Parameters </a:t>
            </a:r>
          </a:p>
          <a:p>
            <a:pPr marL="685800" lvl="2" indent="0">
              <a:buNone/>
            </a:pPr>
            <a:endParaRPr lang="en-US" sz="1850" b="1" dirty="0" smtClean="0"/>
          </a:p>
          <a:p>
            <a:pPr marL="800100" lvl="1" indent="-457200">
              <a:buAutoNum type="arabicPeriod"/>
            </a:pPr>
            <a:r>
              <a:rPr lang="en-US" sz="1850" b="1" dirty="0" smtClean="0"/>
              <a:t>Inverter Loss Estimation with Datasheet Values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b="1" dirty="0"/>
              <a:t>Updating Loss for Different Switching Speed </a:t>
            </a:r>
            <a:endParaRPr lang="en-US" sz="1800" b="1" dirty="0" smtClean="0"/>
          </a:p>
          <a:p>
            <a:pPr lvl="2">
              <a:buFont typeface="Arial" panose="020B0604020202020204" pitchFamily="34" charset="0"/>
              <a:buChar char="•"/>
            </a:pPr>
            <a:endParaRPr lang="en-US" sz="1700" b="1" dirty="0" smtClean="0"/>
          </a:p>
          <a:p>
            <a:pPr marL="800100" lvl="1" indent="-457200">
              <a:buAutoNum type="arabicPeriod"/>
            </a:pPr>
            <a:r>
              <a:rPr lang="en-US" sz="1850" b="1" dirty="0" smtClean="0"/>
              <a:t>Harmonic Losses on the Motor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700" b="1" dirty="0" smtClean="0"/>
              <a:t>Impedance Modelling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700" b="1" dirty="0" smtClean="0"/>
              <a:t>Voltage-Current Measurements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700" b="1" dirty="0" smtClean="0"/>
              <a:t>Proposed Improved Impedance Modelling 	</a:t>
            </a:r>
            <a:endParaRPr lang="en-US" sz="1700" b="1" dirty="0"/>
          </a:p>
          <a:p>
            <a:pPr marL="685800" lvl="2" indent="0">
              <a:buNone/>
            </a:pPr>
            <a:endParaRPr lang="en-US" sz="1700" b="1" dirty="0"/>
          </a:p>
          <a:p>
            <a:pPr marL="800100" lvl="1" indent="-457200">
              <a:buAutoNum type="arabicPeriod"/>
            </a:pPr>
            <a:r>
              <a:rPr lang="en-US" sz="1850" b="1" dirty="0" smtClean="0"/>
              <a:t>Die area and Switching Frequency Selection (Total Losses)</a:t>
            </a:r>
            <a:endParaRPr lang="en-US" sz="1850" b="1" dirty="0"/>
          </a:p>
          <a:p>
            <a:pPr marL="685800" lvl="2" indent="0">
              <a:buNone/>
            </a:pPr>
            <a:r>
              <a:rPr lang="en-US" sz="1700" b="1" dirty="0" smtClean="0"/>
              <a:t>							</a:t>
            </a:r>
            <a:endParaRPr lang="en-US" sz="1850" b="1" dirty="0" smtClean="0"/>
          </a:p>
          <a:p>
            <a:pPr marL="800100" lvl="1" indent="-457200">
              <a:buFont typeface="+mj-lt"/>
              <a:buAutoNum type="arabicPeriod"/>
            </a:pPr>
            <a:r>
              <a:rPr lang="en-US" sz="1850" b="1" dirty="0" smtClean="0"/>
              <a:t>Capacitance Requirement</a:t>
            </a:r>
          </a:p>
          <a:p>
            <a:pPr marL="800100" lvl="1" indent="-457200">
              <a:buFont typeface="+mj-lt"/>
              <a:buAutoNum type="arabicPeriod"/>
            </a:pPr>
            <a:endParaRPr lang="en-US" sz="1850" b="1" dirty="0" smtClean="0"/>
          </a:p>
          <a:p>
            <a:pPr marL="800100" lvl="1" indent="-457200">
              <a:buFont typeface="+mj-lt"/>
              <a:buAutoNum type="arabicPeriod"/>
            </a:pPr>
            <a:r>
              <a:rPr lang="en-US" sz="1850" b="1" dirty="0" smtClean="0"/>
              <a:t>Coming Works </a:t>
            </a:r>
          </a:p>
          <a:p>
            <a:pPr marL="342900" lvl="1" indent="0">
              <a:buNone/>
            </a:pPr>
            <a:endParaRPr lang="en-US" sz="1850" b="1" dirty="0"/>
          </a:p>
        </p:txBody>
      </p:sp>
    </p:spTree>
    <p:extLst>
      <p:ext uri="{BB962C8B-B14F-4D97-AF65-F5344CB8AC3E}">
        <p14:creationId xmlns:p14="http://schemas.microsoft.com/office/powerpoint/2010/main" val="1328049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2-Level Inverter Power Ratings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7584" y="1059582"/>
                <a:ext cx="3738884" cy="3340356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§"/>
                </a:pPr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=300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𝑘𝑊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600" i="1" dirty="0">
                  <a:latin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𝐷𝐶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=1250 </m:t>
                    </m:r>
                    <m:r>
                      <a:rPr lang="en-US" sz="160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sv-SE" sz="1600" dirty="0"/>
                  <a:t>   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=240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1600" i="1" dirty="0">
                  <a:latin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=625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729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sv-SE" sz="1600" dirty="0" smtClean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=2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=320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sv-SE" sz="1600" i="1" dirty="0"/>
                  <a:t> or 274 </a:t>
                </a:r>
                <a:r>
                  <a:rPr lang="sv-SE" sz="1600" i="1" dirty="0" smtClean="0"/>
                  <a:t>A</a:t>
                </a:r>
                <a:endParaRPr lang="sv-SE" sz="1600" dirty="0" smtClean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𝑝𝑓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= 0.9</m:t>
                    </m:r>
                  </m:oMath>
                </a14:m>
                <a:endParaRPr lang="sv-SE" sz="1600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𝑜𝑢𝑡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𝑝𝑓</m:t>
                            </m:r>
                          </m:den>
                        </m:f>
                      </m:num>
                      <m:den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𝟓𝟓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sv-SE" sz="1600" b="1" i="1" dirty="0"/>
                  <a:t> </a:t>
                </a:r>
                <a:r>
                  <a:rPr lang="sv-SE" sz="1600" i="1" dirty="0" smtClean="0"/>
                  <a:t>or </a:t>
                </a:r>
                <a:r>
                  <a:rPr lang="sv-SE" sz="1600" b="1" i="1" dirty="0" smtClean="0"/>
                  <a:t>304 A</a:t>
                </a:r>
                <a:endParaRPr lang="en-US" sz="1600" b="1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7584" y="1059582"/>
                <a:ext cx="3738884" cy="3340356"/>
              </a:xfrm>
              <a:blipFill>
                <a:blip r:embed="rId2"/>
                <a:stretch>
                  <a:fillRect l="-31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220072" y="2283718"/>
                <a:ext cx="4187952" cy="4040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13" dirty="0"/>
                  <a:t>Efficiency (99.5%) </a:t>
                </a:r>
              </a:p>
              <a:p>
                <a:pPr algn="ctr"/>
                <a:r>
                  <a:rPr lang="en-US" sz="1013" dirty="0">
                    <a:sym typeface="Wingdings" panose="05000000000000000000" pitchFamily="2" charset="2"/>
                  </a:rPr>
                  <a:t>Semiconductor Losses (6 switches): </a:t>
                </a:r>
                <a:r>
                  <a:rPr lang="en-US" sz="1013" b="1" dirty="0">
                    <a:sym typeface="Wingdings" panose="05000000000000000000" pitchFamily="2" charset="2"/>
                  </a:rPr>
                  <a:t>1500 </a:t>
                </a:r>
                <a14:m>
                  <m:oMath xmlns:m="http://schemas.openxmlformats.org/officeDocument/2006/math">
                    <m:r>
                      <a:rPr lang="en-US" sz="1013" b="1" i="1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endParaRPr lang="sv-SE" sz="1013" b="1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2283718"/>
                <a:ext cx="4187952" cy="404085"/>
              </a:xfrm>
              <a:prstGeom prst="rect">
                <a:avLst/>
              </a:prstGeom>
              <a:blipFill>
                <a:blip r:embed="rId3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176" y="1043267"/>
            <a:ext cx="2520280" cy="1188534"/>
          </a:xfrm>
          <a:prstGeom prst="rect">
            <a:avLst/>
          </a:prstGeom>
        </p:spPr>
      </p:pic>
      <p:sp>
        <p:nvSpPr>
          <p:cNvPr id="9" name="Content Placeholder 18">
            <a:extLst>
              <a:ext uri="{FF2B5EF4-FFF2-40B4-BE49-F238E27FC236}">
                <a16:creationId xmlns:a16="http://schemas.microsoft.com/office/drawing/2014/main" id="{08E8EBC3-06C1-9D44-A112-5549F827436C}"/>
              </a:ext>
            </a:extLst>
          </p:cNvPr>
          <p:cNvSpPr txBox="1">
            <a:spLocks/>
          </p:cNvSpPr>
          <p:nvPr/>
        </p:nvSpPr>
        <p:spPr>
          <a:xfrm>
            <a:off x="5508104" y="2787774"/>
            <a:ext cx="3312368" cy="35409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&gt;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‒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+mj-lt"/>
              <a:buAutoNum type="arabicPeriod"/>
            </a:pPr>
            <a:r>
              <a:rPr lang="en-US" sz="1000" dirty="0" smtClean="0"/>
              <a:t>A phase leg of a conventional two-level inverter</a:t>
            </a:r>
            <a:br>
              <a:rPr lang="en-US" sz="1000" dirty="0" smtClean="0"/>
            </a:br>
            <a:r>
              <a:rPr lang="en-US" sz="1000" dirty="0" smtClean="0"/>
              <a:t>consists of two transistors that </a:t>
            </a:r>
            <a:r>
              <a:rPr lang="en-US" sz="1000" b="1" dirty="0" smtClean="0"/>
              <a:t>block and switch</a:t>
            </a:r>
            <a:br>
              <a:rPr lang="en-US" sz="1000" b="1" dirty="0" smtClean="0"/>
            </a:br>
            <a:r>
              <a:rPr lang="en-US" sz="1000" b="1" dirty="0" smtClean="0"/>
              <a:t>the full dc-link voltage.</a:t>
            </a:r>
            <a:r>
              <a:rPr lang="en-US" sz="1000" dirty="0" smtClean="0"/>
              <a:t>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000" dirty="0" smtClean="0"/>
              <a:t>Two-level inverters are </a:t>
            </a:r>
            <a:r>
              <a:rPr lang="en-US" sz="1000" b="1" dirty="0" smtClean="0"/>
              <a:t>less complex </a:t>
            </a:r>
            <a:r>
              <a:rPr lang="en-US" sz="1000" dirty="0" smtClean="0"/>
              <a:t>than the</a:t>
            </a:r>
            <a:br>
              <a:rPr lang="en-US" sz="1000" dirty="0" smtClean="0"/>
            </a:br>
            <a:r>
              <a:rPr lang="en-US" sz="1000" dirty="0" smtClean="0"/>
              <a:t>other topologies and have the least control effort.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000" dirty="0" smtClean="0"/>
              <a:t>On the other hand, the connected machine suffers from </a:t>
            </a:r>
            <a:r>
              <a:rPr lang="en-US" sz="1000" b="1" dirty="0" smtClean="0"/>
              <a:t>higher harmonic losses </a:t>
            </a:r>
            <a:r>
              <a:rPr lang="en-US" sz="1000" dirty="0" smtClean="0"/>
              <a:t>and t</a:t>
            </a:r>
            <a:r>
              <a:rPr lang="en-US" sz="1000" b="1" dirty="0" smtClean="0"/>
              <a:t>he steep voltage slopes </a:t>
            </a:r>
            <a:r>
              <a:rPr lang="en-US" sz="1000" dirty="0" smtClean="0"/>
              <a:t>can damage it by causin</a:t>
            </a:r>
            <a:r>
              <a:rPr lang="en-US" sz="1000" b="1" dirty="0" smtClean="0"/>
              <a:t>g bearing currents</a:t>
            </a:r>
            <a:r>
              <a:rPr lang="en-US" sz="1000" dirty="0" smtClean="0"/>
              <a:t> or </a:t>
            </a:r>
            <a:r>
              <a:rPr lang="en-US" sz="1000" b="1" dirty="0" smtClean="0"/>
              <a:t>overstressing the winding insulation.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000" dirty="0" smtClean="0"/>
              <a:t>Two-level inverters have a </a:t>
            </a:r>
            <a:r>
              <a:rPr lang="en-US" sz="1000" b="1" dirty="0" smtClean="0"/>
              <a:t>bad efficiency</a:t>
            </a:r>
            <a:r>
              <a:rPr lang="en-US" sz="1000" dirty="0" smtClean="0"/>
              <a:t> for </a:t>
            </a:r>
            <a:r>
              <a:rPr lang="en-US" sz="1000" b="1" dirty="0" smtClean="0"/>
              <a:t>higher switching frequency</a:t>
            </a:r>
            <a:r>
              <a:rPr lang="en-US" sz="1000" dirty="0" smtClean="0"/>
              <a:t>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023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Parameters of Infineon 2kV Bare die</a:t>
            </a:r>
            <a:endParaRPr lang="sv-SE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3F4D8-4BE6-D743-AE27-D14757A6F270}" type="datetime1">
              <a:rPr lang="sv-SE" smtClean="0"/>
              <a:t>2024-06-23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Footer</a:t>
            </a:r>
            <a:endParaRPr lang="sv-S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4</a:t>
            </a:fld>
            <a:endParaRPr lang="sv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67544" y="1131590"/>
                <a:ext cx="8208912" cy="3554355"/>
              </a:xfrm>
            </p:spPr>
            <p:txBody>
              <a:bodyPr>
                <a:normAutofit fontScale="92500" lnSpcReduction="20000"/>
              </a:bodyPr>
              <a:lstStyle/>
              <a:p>
                <a:pPr marL="342900" indent="-342900">
                  <a:buAutoNum type="alphaUcPeriod"/>
                </a:pPr>
                <a:r>
                  <a:rPr lang="en-US" b="1" dirty="0" smtClean="0"/>
                  <a:t>Basic Parameters of Bare die:</a:t>
                </a:r>
              </a:p>
              <a:p>
                <a:pPr marL="0" indent="0">
                  <a:buNone/>
                </a:pPr>
                <a:endParaRPr lang="sv-SE" dirty="0"/>
              </a:p>
              <a:p>
                <a:pPr lvl="0"/>
                <a:r>
                  <a:rPr lang="en-US" dirty="0"/>
                  <a:t>Current rating @25°C (in Amperes)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sv-SE" dirty="0" smtClean="0">
                  <a:solidFill>
                    <a:schemeClr val="accent4"/>
                  </a:solidFill>
                </a:endParaRPr>
              </a:p>
              <a:p>
                <a:pPr lvl="0"/>
                <a:endParaRPr lang="sv-SE" dirty="0">
                  <a:solidFill>
                    <a:srgbClr val="FF0000"/>
                  </a:solidFill>
                </a:endParaRPr>
              </a:p>
              <a:p>
                <a:pPr lvl="0"/>
                <a:r>
                  <a:rPr lang="en-US" dirty="0"/>
                  <a:t>On-state resistance @25°C (in Ohms)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26 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mΩ</m:t>
                    </m:r>
                  </m:oMath>
                </a14:m>
                <a:endParaRPr lang="sv-SE" dirty="0" smtClean="0">
                  <a:solidFill>
                    <a:schemeClr val="accent4"/>
                  </a:solidFill>
                </a:endParaRPr>
              </a:p>
              <a:p>
                <a:pPr lvl="0"/>
                <a:endParaRPr lang="sv-SE" dirty="0">
                  <a:solidFill>
                    <a:srgbClr val="FF0000"/>
                  </a:solidFill>
                </a:endParaRPr>
              </a:p>
              <a:p>
                <a:pPr lvl="0"/>
                <a:r>
                  <a:rPr lang="en-US" dirty="0"/>
                  <a:t>Internal gate resistance (in Ohms) ~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7,2</m:t>
                    </m:r>
                    <m:r>
                      <a:rPr lang="en-US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sv-SE" dirty="0" smtClean="0">
                  <a:solidFill>
                    <a:srgbClr val="FF0000"/>
                  </a:solidFill>
                </a:endParaRPr>
              </a:p>
              <a:p>
                <a:pPr lvl="0"/>
                <a:endParaRPr lang="sv-SE" dirty="0">
                  <a:solidFill>
                    <a:srgbClr val="FF0000"/>
                  </a:solidFill>
                </a:endParaRPr>
              </a:p>
              <a:p>
                <a:pPr lvl="0"/>
                <a:r>
                  <a:rPr lang="de-DE" dirty="0"/>
                  <a:t>Die Size (mm x mm) </a:t>
                </a:r>
                <a:r>
                  <a:rPr lang="de-DE" dirty="0">
                    <a:solidFill>
                      <a:srgbClr val="FF0000"/>
                    </a:solidFill>
                  </a:rPr>
                  <a:t>5,71 x 5,24 </a:t>
                </a:r>
                <a:r>
                  <a:rPr lang="de-DE" dirty="0" smtClean="0">
                    <a:solidFill>
                      <a:srgbClr val="FF0000"/>
                    </a:solidFill>
                  </a:rPr>
                  <a:t>mm</a:t>
                </a:r>
              </a:p>
              <a:p>
                <a:pPr lvl="0"/>
                <a:endParaRPr lang="sv-SE" dirty="0">
                  <a:solidFill>
                    <a:srgbClr val="FF0000"/>
                  </a:solidFill>
                </a:endParaRPr>
              </a:p>
              <a:p>
                <a:pPr lvl="0"/>
                <a:r>
                  <a:rPr lang="en-US" dirty="0"/>
                  <a:t>Thermal resistance (Junction to Case) (in °C/W</a:t>
                </a:r>
                <a:r>
                  <a:rPr lang="en-US" dirty="0" smtClean="0"/>
                  <a:t>) </a:t>
                </a:r>
                <a:r>
                  <a:rPr lang="sv-SE" dirty="0" smtClean="0">
                    <a:solidFill>
                      <a:schemeClr val="accent6"/>
                    </a:solidFill>
                  </a:rPr>
                  <a:t>0.0880 K/W per </a:t>
                </a:r>
                <a:r>
                  <a:rPr lang="sv-SE" dirty="0" err="1" smtClean="0">
                    <a:solidFill>
                      <a:schemeClr val="accent6"/>
                    </a:solidFill>
                  </a:rPr>
                  <a:t>Mosfet</a:t>
                </a:r>
                <a:r>
                  <a:rPr lang="sv-SE" dirty="0" smtClean="0">
                    <a:solidFill>
                      <a:schemeClr val="accent6"/>
                    </a:solidFill>
                  </a:rPr>
                  <a:t> (8 or 10 </a:t>
                </a:r>
                <a:r>
                  <a:rPr lang="sv-SE" dirty="0" err="1" smtClean="0">
                    <a:solidFill>
                      <a:schemeClr val="accent6"/>
                    </a:solidFill>
                  </a:rPr>
                  <a:t>dies</a:t>
                </a:r>
                <a:r>
                  <a:rPr lang="sv-SE" dirty="0" smtClean="0">
                    <a:solidFill>
                      <a:schemeClr val="accent6"/>
                    </a:solidFill>
                  </a:rPr>
                  <a:t> )</a:t>
                </a:r>
                <a:endParaRPr lang="en-US" dirty="0" smtClean="0">
                  <a:solidFill>
                    <a:schemeClr val="accent6"/>
                  </a:solidFill>
                </a:endParaRPr>
              </a:p>
              <a:p>
                <a:pPr marL="0" lvl="0" indent="0">
                  <a:buNone/>
                </a:pPr>
                <a:r>
                  <a:rPr lang="sv-SE" dirty="0" smtClean="0">
                    <a:solidFill>
                      <a:schemeClr val="accent6"/>
                    </a:solidFill>
                  </a:rPr>
                  <a:t>						    Case </a:t>
                </a:r>
                <a:r>
                  <a:rPr lang="sv-SE" dirty="0">
                    <a:solidFill>
                      <a:schemeClr val="accent6"/>
                    </a:solidFill>
                  </a:rPr>
                  <a:t>to heat </a:t>
                </a:r>
                <a:r>
                  <a:rPr lang="sv-SE" dirty="0" smtClean="0">
                    <a:solidFill>
                      <a:schemeClr val="accent6"/>
                    </a:solidFill>
                  </a:rPr>
                  <a:t>sink: 0.0330 K/W</a:t>
                </a:r>
              </a:p>
              <a:p>
                <a:pPr marL="0" lvl="0" indent="0">
                  <a:buNone/>
                </a:pPr>
                <a:endParaRPr lang="sv-SE" dirty="0" smtClean="0">
                  <a:solidFill>
                    <a:schemeClr val="accent6"/>
                  </a:solidFill>
                </a:endParaRPr>
              </a:p>
              <a:p>
                <a:r>
                  <a:rPr lang="en-US" dirty="0" smtClean="0"/>
                  <a:t>Zero Current Loss (Output Capacitance Loss) ~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.25 </m:t>
                    </m:r>
                    <m:r>
                      <a:rPr lang="en-US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𝑚𝐽</m:t>
                    </m:r>
                    <m:r>
                      <a:rPr lang="en-US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𝑠𝑤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, 1</m:t>
                    </m:r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𝑚𝐽</m:t>
                    </m:r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 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𝑠𝑤</m:t>
                        </m:r>
                      </m:sub>
                    </m:sSub>
                  </m:oMath>
                </a14:m>
                <a:endParaRPr lang="sv-SE" dirty="0">
                  <a:solidFill>
                    <a:srgbClr val="FF0000"/>
                  </a:solidFill>
                </a:endParaRPr>
              </a:p>
              <a:p>
                <a:pPr lvl="0"/>
                <a:endParaRPr lang="en-US" dirty="0">
                  <a:solidFill>
                    <a:schemeClr val="accent6"/>
                  </a:solidFill>
                </a:endParaRPr>
              </a:p>
              <a:p>
                <a:pPr marL="0" lvl="0" indent="0">
                  <a:buNone/>
                </a:pPr>
                <a:endParaRPr lang="en-US" dirty="0">
                  <a:solidFill>
                    <a:schemeClr val="accent6"/>
                  </a:solidFill>
                </a:endParaRP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sv-SE" dirty="0"/>
              </a:p>
              <a:p>
                <a:pPr marL="0" lvl="0" indent="0">
                  <a:buNone/>
                </a:pPr>
                <a:endParaRPr lang="sv-SE" dirty="0"/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67544" y="1131590"/>
                <a:ext cx="8208912" cy="3554355"/>
              </a:xfrm>
              <a:blipFill>
                <a:blip r:embed="rId2"/>
                <a:stretch>
                  <a:fillRect l="-1263" t="-343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V="1">
            <a:off x="4391980" y="1707654"/>
            <a:ext cx="623630" cy="2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76056" y="1419622"/>
            <a:ext cx="41764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  <a:r>
              <a:rPr lang="en-US" dirty="0" smtClean="0"/>
              <a:t>onsidering </a:t>
            </a:r>
            <a:r>
              <a:rPr lang="en-US" dirty="0"/>
              <a:t>this </a:t>
            </a:r>
            <a:r>
              <a:rPr lang="en-US" dirty="0" smtClean="0"/>
              <a:t>current rating of a single die, </a:t>
            </a:r>
            <a:r>
              <a:rPr lang="en-US" dirty="0"/>
              <a:t>it seems we </a:t>
            </a:r>
            <a:r>
              <a:rPr lang="en-US" dirty="0" smtClean="0"/>
              <a:t>have around 8-16 </a:t>
            </a:r>
            <a:r>
              <a:rPr lang="en-US" dirty="0"/>
              <a:t>dies in parallel.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61690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61A77-36CD-DE4F-8CA6-569DA6FD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6CAB-D6C5-C24C-A2B1-D43DE3A030AC}" type="datetime1">
              <a:rPr lang="sv-SE" smtClean="0"/>
              <a:pPr/>
              <a:t>2024-06-23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EEE17-AFAB-724E-9DF0-4C48FC08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B6CC9-3FEF-FB46-9337-9012AEB6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5</a:t>
            </a:fld>
            <a:endParaRPr lang="sv-SE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dirty="0" smtClean="0"/>
              <a:t>Datasheet-Driven Loss Estimation</a:t>
            </a:r>
            <a:endParaRPr lang="sv-SE" b="0" dirty="0"/>
          </a:p>
        </p:txBody>
      </p:sp>
      <p:sp>
        <p:nvSpPr>
          <p:cNvPr id="7" name="Content Placeholder 3"/>
          <p:cNvSpPr txBox="1">
            <a:spLocks noGrp="1"/>
          </p:cNvSpPr>
          <p:nvPr>
            <p:ph idx="4294967295"/>
          </p:nvPr>
        </p:nvSpPr>
        <p:spPr>
          <a:xfrm>
            <a:off x="1043608" y="897732"/>
            <a:ext cx="3301365" cy="582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sv-SE" sz="1400" dirty="0" err="1" smtClean="0"/>
              <a:t>Voltage</a:t>
            </a:r>
            <a:r>
              <a:rPr lang="sv-SE" sz="1400" dirty="0" smtClean="0"/>
              <a:t> rating: 2kV </a:t>
            </a:r>
          </a:p>
          <a:p>
            <a:pPr marL="0" indent="0">
              <a:buNone/>
            </a:pPr>
            <a:r>
              <a:rPr lang="sv-SE" sz="1400" dirty="0" err="1" smtClean="0"/>
              <a:t>Current</a:t>
            </a:r>
            <a:r>
              <a:rPr lang="sv-SE" sz="1400" dirty="0" smtClean="0"/>
              <a:t> rating: 400A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8950" y="1004428"/>
            <a:ext cx="352821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FF3MR20KM1H 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</a:rPr>
              <a:t>using 8 or 10 dies in parallel </a:t>
            </a:r>
            <a:endParaRPr lang="sv-SE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1530585"/>
            <a:ext cx="3495385" cy="24345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427984" y="4255073"/>
                <a:ext cx="4013655" cy="4826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26</m:t>
                          </m:r>
                        </m:num>
                        <m:den>
                          <m:r>
                            <a:rPr lang="en-US" b="0" i="1" dirty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b="0" i="1" dirty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=2.6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sv-SE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4255073"/>
                <a:ext cx="4013655" cy="482633"/>
              </a:xfrm>
              <a:prstGeom prst="rect">
                <a:avLst/>
              </a:prstGeom>
              <a:blipFill>
                <a:blip r:embed="rId3"/>
                <a:stretch>
                  <a:fillRect b="-253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>
            <a:off x="5837403" y="3412931"/>
            <a:ext cx="249936" cy="8961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1621626"/>
            <a:ext cx="4041535" cy="2648120"/>
          </a:xfrm>
          <a:prstGeom prst="rect">
            <a:avLst/>
          </a:prstGeom>
        </p:spPr>
      </p:pic>
      <p:cxnSp>
        <p:nvCxnSpPr>
          <p:cNvPr id="14" name="Straight Arrow Connector 13"/>
          <p:cNvCxnSpPr>
            <a:endCxn id="15" idx="2"/>
          </p:cNvCxnSpPr>
          <p:nvPr/>
        </p:nvCxnSpPr>
        <p:spPr>
          <a:xfrm flipV="1">
            <a:off x="1835696" y="2320704"/>
            <a:ext cx="2927232" cy="8697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51920" y="1951372"/>
            <a:ext cx="1822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58 </a:t>
            </a:r>
            <a:r>
              <a:rPr lang="en-US" dirty="0" err="1" smtClean="0">
                <a:solidFill>
                  <a:srgbClr val="FF0000"/>
                </a:solidFill>
              </a:rPr>
              <a:t>mJ</a:t>
            </a:r>
            <a:r>
              <a:rPr lang="en-US" dirty="0" smtClean="0">
                <a:solidFill>
                  <a:srgbClr val="FF0000"/>
                </a:solidFill>
              </a:rPr>
              <a:t> at 304 A</a:t>
            </a:r>
            <a:endParaRPr lang="sv-SE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/>
          <p:cNvCxnSpPr>
            <a:endCxn id="17" idx="2"/>
          </p:cNvCxnSpPr>
          <p:nvPr/>
        </p:nvCxnSpPr>
        <p:spPr>
          <a:xfrm flipV="1">
            <a:off x="1835696" y="3221245"/>
            <a:ext cx="2927232" cy="4306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51920" y="2851913"/>
            <a:ext cx="1822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17 </a:t>
            </a:r>
            <a:r>
              <a:rPr lang="en-US" dirty="0" err="1" smtClean="0">
                <a:solidFill>
                  <a:srgbClr val="FF0000"/>
                </a:solidFill>
              </a:rPr>
              <a:t>mJ</a:t>
            </a:r>
            <a:r>
              <a:rPr lang="en-US" dirty="0" smtClean="0">
                <a:solidFill>
                  <a:srgbClr val="FF0000"/>
                </a:solidFill>
              </a:rPr>
              <a:t> at 304 A</a:t>
            </a:r>
            <a:endParaRPr lang="sv-S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4755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Datasheet-driven Loss </a:t>
            </a:r>
            <a:r>
              <a:rPr lang="en-US" dirty="0" smtClean="0"/>
              <a:t>Calculation</a:t>
            </a:r>
            <a:endParaRPr lang="sv-S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203" y="2440338"/>
            <a:ext cx="2053851" cy="13868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74" y="1536867"/>
            <a:ext cx="2049748" cy="141361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5536" y="1065833"/>
            <a:ext cx="748883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500" dirty="0" err="1">
                <a:latin typeface="Calibri" panose="020F0502020204030204" pitchFamily="34" charset="0"/>
              </a:rPr>
              <a:t>Switching</a:t>
            </a:r>
            <a:r>
              <a:rPr lang="sv-SE" sz="1500" dirty="0">
                <a:latin typeface="Calibri" panose="020F0502020204030204" pitchFamily="34" charset="0"/>
              </a:rPr>
              <a:t> </a:t>
            </a:r>
            <a:r>
              <a:rPr lang="sv-SE" sz="1500" dirty="0" err="1">
                <a:latin typeface="Calibri" panose="020F0502020204030204" pitchFamily="34" charset="0"/>
              </a:rPr>
              <a:t>frequency</a:t>
            </a:r>
            <a:r>
              <a:rPr lang="sv-SE" sz="1500" dirty="0">
                <a:latin typeface="Calibri" panose="020F0502020204030204" pitchFamily="34" charset="0"/>
              </a:rPr>
              <a:t> = </a:t>
            </a:r>
            <a:r>
              <a:rPr lang="sv-SE" sz="1500" b="1" dirty="0">
                <a:latin typeface="Calibri" panose="020F0502020204030204" pitchFamily="34" charset="0"/>
              </a:rPr>
              <a:t>5kHz</a:t>
            </a:r>
            <a:r>
              <a:rPr lang="sv-SE" sz="1500" dirty="0">
                <a:latin typeface="Calibri" panose="020F0502020204030204" pitchFamily="34" charset="0"/>
              </a:rPr>
              <a:t>, </a:t>
            </a:r>
            <a:r>
              <a:rPr lang="sv-SE" sz="1500" dirty="0" err="1">
                <a:latin typeface="Calibri" panose="020F0502020204030204" pitchFamily="34" charset="0"/>
              </a:rPr>
              <a:t>ma</a:t>
            </a:r>
            <a:r>
              <a:rPr lang="sv-SE" sz="1500" dirty="0">
                <a:latin typeface="Calibri" panose="020F0502020204030204" pitchFamily="34" charset="0"/>
              </a:rPr>
              <a:t>=1.15, </a:t>
            </a:r>
            <a:r>
              <a:rPr lang="sv-SE" sz="1500" dirty="0" err="1">
                <a:latin typeface="Calibri" panose="020F0502020204030204" pitchFamily="34" charset="0"/>
              </a:rPr>
              <a:t>pf</a:t>
            </a:r>
            <a:r>
              <a:rPr lang="sv-SE" sz="1500" dirty="0">
                <a:latin typeface="Calibri" panose="020F0502020204030204" pitchFamily="34" charset="0"/>
              </a:rPr>
              <a:t>=0.9 2-level 3-phase, P=300kW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5142145"/>
                  </p:ext>
                </p:extLst>
              </p:nvPr>
            </p:nvGraphicFramePr>
            <p:xfrm>
              <a:off x="4092694" y="2806630"/>
              <a:ext cx="5011796" cy="8343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52949">
                      <a:extLst>
                        <a:ext uri="{9D8B030D-6E8A-4147-A177-3AD203B41FA5}">
                          <a16:colId xmlns:a16="http://schemas.microsoft.com/office/drawing/2014/main" val="701188241"/>
                        </a:ext>
                      </a:extLst>
                    </a:gridCol>
                    <a:gridCol w="1252949">
                      <a:extLst>
                        <a:ext uri="{9D8B030D-6E8A-4147-A177-3AD203B41FA5}">
                          <a16:colId xmlns:a16="http://schemas.microsoft.com/office/drawing/2014/main" val="2487507754"/>
                        </a:ext>
                      </a:extLst>
                    </a:gridCol>
                    <a:gridCol w="1252949">
                      <a:extLst>
                        <a:ext uri="{9D8B030D-6E8A-4147-A177-3AD203B41FA5}">
                          <a16:colId xmlns:a16="http://schemas.microsoft.com/office/drawing/2014/main" val="267292927"/>
                        </a:ext>
                      </a:extLst>
                    </a:gridCol>
                    <a:gridCol w="1252949">
                      <a:extLst>
                        <a:ext uri="{9D8B030D-6E8A-4147-A177-3AD203B41FA5}">
                          <a16:colId xmlns:a16="http://schemas.microsoft.com/office/drawing/2014/main" val="482194914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sz="1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100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sv-SE" sz="100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sz="1000" dirty="0" smtClean="0"/>
                            <a:t> (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sv-SE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1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sv-SE" sz="10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p>
                              </m:sSup>
                            </m:oMath>
                          </a14:m>
                          <a:r>
                            <a:rPr lang="sv-SE" sz="1000" dirty="0" smtClean="0"/>
                            <a:t>)</a:t>
                          </a:r>
                          <a:endParaRPr lang="sv-SE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sv-SE" sz="10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sv-SE" sz="10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sv-SE" sz="10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sv-SE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sv-SE" sz="10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sv-SE" sz="1000" b="0" i="1" dirty="0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sSup>
                                  <m:sSupPr>
                                    <m:ctrlP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sv-SE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sv-SE" sz="1000" i="1" dirty="0" smtClean="0">
                                    <a:latin typeface="Cambria Math" panose="02040503050406030204" pitchFamily="18" charset="0"/>
                                  </a:rPr>
                                  <m:t>150 </m:t>
                                </m:r>
                                <m:sSup>
                                  <m:sSupPr>
                                    <m:ctrlP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sv-SE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790322254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Loss</a:t>
                          </a:r>
                          <a:r>
                            <a:rPr lang="sv-SE" sz="1000" baseline="0" dirty="0" smtClean="0"/>
                            <a:t> (W)</a:t>
                          </a:r>
                          <a:endParaRPr lang="sv-SE" sz="1000" dirty="0" smtClean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1366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1590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1770 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24150159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err="1" smtClean="0"/>
                            <a:t>Efficiency</a:t>
                          </a:r>
                          <a:r>
                            <a:rPr lang="sv-SE" sz="1000" dirty="0" smtClean="0"/>
                            <a:t> (%)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99.55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99.47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99.41 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819712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5142145"/>
                  </p:ext>
                </p:extLst>
              </p:nvPr>
            </p:nvGraphicFramePr>
            <p:xfrm>
              <a:off x="4092694" y="2806630"/>
              <a:ext cx="5011796" cy="8343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52949">
                      <a:extLst>
                        <a:ext uri="{9D8B030D-6E8A-4147-A177-3AD203B41FA5}">
                          <a16:colId xmlns:a16="http://schemas.microsoft.com/office/drawing/2014/main" val="701188241"/>
                        </a:ext>
                      </a:extLst>
                    </a:gridCol>
                    <a:gridCol w="1252949">
                      <a:extLst>
                        <a:ext uri="{9D8B030D-6E8A-4147-A177-3AD203B41FA5}">
                          <a16:colId xmlns:a16="http://schemas.microsoft.com/office/drawing/2014/main" val="2487507754"/>
                        </a:ext>
                      </a:extLst>
                    </a:gridCol>
                    <a:gridCol w="1252949">
                      <a:extLst>
                        <a:ext uri="{9D8B030D-6E8A-4147-A177-3AD203B41FA5}">
                          <a16:colId xmlns:a16="http://schemas.microsoft.com/office/drawing/2014/main" val="267292927"/>
                        </a:ext>
                      </a:extLst>
                    </a:gridCol>
                    <a:gridCol w="1252949">
                      <a:extLst>
                        <a:ext uri="{9D8B030D-6E8A-4147-A177-3AD203B41FA5}">
                          <a16:colId xmlns:a16="http://schemas.microsoft.com/office/drawing/2014/main" val="482194914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485" t="-4348" r="-301456" b="-20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100485" t="-4348" r="-201456" b="-20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201463" t="-4348" r="-102439" b="-20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300000" t="-4348" r="-1942" b="-20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0322254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Loss</a:t>
                          </a:r>
                          <a:r>
                            <a:rPr lang="sv-SE" sz="1000" baseline="0" dirty="0" smtClean="0"/>
                            <a:t> (W)</a:t>
                          </a:r>
                          <a:endParaRPr lang="sv-SE" sz="1000" dirty="0" smtClean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1366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1590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1770 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24150159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err="1" smtClean="0"/>
                            <a:t>Efficiency</a:t>
                          </a:r>
                          <a:r>
                            <a:rPr lang="sv-SE" sz="1000" dirty="0" smtClean="0"/>
                            <a:t> (%)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99.55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99.47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99.41 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8197127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/>
          <p:cNvSpPr txBox="1"/>
          <p:nvPr/>
        </p:nvSpPr>
        <p:spPr>
          <a:xfrm>
            <a:off x="35496" y="4329670"/>
            <a:ext cx="93281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/>
              <a:t>Assume only conduction loss is changed with temperature.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/>
              <a:t>We do not use a thermal model here; we just find the losses for different junction temperatures.</a:t>
            </a:r>
            <a:endParaRPr lang="sv-SE" sz="15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445" y="2870494"/>
            <a:ext cx="2048820" cy="1536615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1214473" y="2077314"/>
            <a:ext cx="1485319" cy="47299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0" y="1836736"/>
            <a:ext cx="21300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The current is sinusoidal. </a:t>
            </a:r>
            <a:endParaRPr lang="sv-SE" sz="1500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411760" y="1349618"/>
            <a:ext cx="2996916" cy="5882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90912" y="1635713"/>
            <a:ext cx="35290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The maximum switching frequency is 5kHz since we have </a:t>
            </a:r>
            <a:r>
              <a:rPr lang="en-US" sz="1500" b="1" dirty="0" smtClean="0"/>
              <a:t>slow switching </a:t>
            </a:r>
            <a:r>
              <a:rPr lang="en-US" sz="1500" b="1" dirty="0"/>
              <a:t>speed (dv/</a:t>
            </a:r>
            <a:r>
              <a:rPr lang="en-US" sz="1500" b="1" dirty="0" err="1"/>
              <a:t>dt</a:t>
            </a:r>
            <a:r>
              <a:rPr lang="en-US" sz="1500" b="1" dirty="0"/>
              <a:t>) </a:t>
            </a:r>
            <a:r>
              <a:rPr lang="en-US" sz="1500" b="1" dirty="0" smtClean="0"/>
              <a:t>test data </a:t>
            </a:r>
            <a:r>
              <a:rPr lang="en-US" sz="1500" dirty="0" smtClean="0"/>
              <a:t>in </a:t>
            </a:r>
            <a:r>
              <a:rPr lang="en-US" sz="1500" dirty="0"/>
              <a:t>the datasheet.</a:t>
            </a:r>
            <a:endParaRPr lang="sv-SE" sz="1500" dirty="0"/>
          </a:p>
        </p:txBody>
      </p:sp>
    </p:spTree>
    <p:extLst>
      <p:ext uri="{BB962C8B-B14F-4D97-AF65-F5344CB8AC3E}">
        <p14:creationId xmlns:p14="http://schemas.microsoft.com/office/powerpoint/2010/main" val="57613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Updating Switching Losses for Fast dv/</a:t>
            </a:r>
            <a:r>
              <a:rPr lang="en-US" dirty="0" err="1" smtClean="0"/>
              <a:t>dt</a:t>
            </a:r>
            <a:endParaRPr lang="sv-SE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1059582"/>
            <a:ext cx="2962471" cy="1941089"/>
          </a:xfrm>
          <a:prstGeom prst="rect">
            <a:avLst/>
          </a:prstGeom>
        </p:spPr>
      </p:pic>
      <p:cxnSp>
        <p:nvCxnSpPr>
          <p:cNvPr id="34" name="Straight Arrow Connector 33"/>
          <p:cNvCxnSpPr/>
          <p:nvPr/>
        </p:nvCxnSpPr>
        <p:spPr>
          <a:xfrm flipH="1">
            <a:off x="1962317" y="2651614"/>
            <a:ext cx="1145815" cy="5477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90472" y="3142342"/>
            <a:ext cx="33576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 capacitance loss</a:t>
            </a:r>
            <a:endParaRPr lang="sv-SE" dirty="0"/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4315140" y="2030126"/>
            <a:ext cx="1482015" cy="8500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36096" y="2925257"/>
            <a:ext cx="33576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Overlapping loss</a:t>
            </a:r>
            <a:endParaRPr lang="sv-SE" dirty="0"/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377" y="3565490"/>
            <a:ext cx="2179539" cy="43691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20109" y="4056218"/>
            <a:ext cx="2150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Linearly increasing by the number of dies in parallel</a:t>
            </a:r>
            <a:endParaRPr lang="sv-SE" sz="1200" dirty="0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126" y="3318101"/>
            <a:ext cx="2761751" cy="62307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374126" y="3941179"/>
            <a:ext cx="2722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Depends on dv/</a:t>
            </a:r>
            <a:r>
              <a:rPr lang="en-US" sz="1400" dirty="0" err="1" smtClean="0"/>
              <a:t>dt</a:t>
            </a:r>
            <a:r>
              <a:rPr lang="en-US" sz="1400" dirty="0" smtClean="0"/>
              <a:t> and di/</a:t>
            </a:r>
            <a:r>
              <a:rPr lang="en-US" sz="1400" dirty="0" err="1" smtClean="0"/>
              <a:t>dt</a:t>
            </a:r>
            <a:endParaRPr lang="sv-SE" sz="1400" dirty="0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 rotWithShape="1">
          <a:blip r:embed="rId5"/>
          <a:srcRect t="5062"/>
          <a:stretch/>
        </p:blipFill>
        <p:spPr>
          <a:xfrm>
            <a:off x="5647827" y="4255547"/>
            <a:ext cx="1341121" cy="448863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8948" y="4244313"/>
            <a:ext cx="1169744" cy="41891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258465" y="2846935"/>
            <a:ext cx="1072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10mJ</a:t>
            </a:r>
            <a:endParaRPr lang="sv-SE" dirty="0">
              <a:solidFill>
                <a:srgbClr val="FF0000"/>
              </a:solidFill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3910883" y="1678065"/>
            <a:ext cx="1886272" cy="5165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868144" y="1493399"/>
            <a:ext cx="1822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58 </a:t>
            </a:r>
            <a:r>
              <a:rPr lang="en-US" dirty="0" err="1" smtClean="0">
                <a:solidFill>
                  <a:srgbClr val="FF0000"/>
                </a:solidFill>
              </a:rPr>
              <a:t>mJ</a:t>
            </a:r>
            <a:r>
              <a:rPr lang="en-US" dirty="0" smtClean="0">
                <a:solidFill>
                  <a:srgbClr val="FF0000"/>
                </a:solidFill>
              </a:rPr>
              <a:t> at 304 A</a:t>
            </a:r>
            <a:endParaRPr lang="sv-SE" dirty="0">
              <a:solidFill>
                <a:srgbClr val="FF0000"/>
              </a:solidFill>
            </a:endParaRPr>
          </a:p>
        </p:txBody>
      </p:sp>
      <p:cxnSp>
        <p:nvCxnSpPr>
          <p:cNvPr id="53" name="Straight Arrow Connector 52"/>
          <p:cNvCxnSpPr/>
          <p:nvPr/>
        </p:nvCxnSpPr>
        <p:spPr>
          <a:xfrm flipV="1">
            <a:off x="3798757" y="2541935"/>
            <a:ext cx="2652892" cy="859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440489" y="2357269"/>
            <a:ext cx="1822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17 </a:t>
            </a:r>
            <a:r>
              <a:rPr lang="en-US" dirty="0" err="1" smtClean="0">
                <a:solidFill>
                  <a:srgbClr val="FF0000"/>
                </a:solidFill>
              </a:rPr>
              <a:t>mJ</a:t>
            </a:r>
            <a:r>
              <a:rPr lang="en-US" dirty="0" smtClean="0">
                <a:solidFill>
                  <a:srgbClr val="FF0000"/>
                </a:solidFill>
              </a:rPr>
              <a:t> at 304 A</a:t>
            </a:r>
            <a:endParaRPr lang="sv-S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782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Updating Switching Loss for </a:t>
            </a:r>
            <a:r>
              <a:rPr lang="en-US" dirty="0"/>
              <a:t>Fast dv/</a:t>
            </a:r>
            <a:r>
              <a:rPr lang="en-US" dirty="0" err="1"/>
              <a:t>dt</a:t>
            </a:r>
            <a:endParaRPr lang="sv-S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960655"/>
            <a:ext cx="3240360" cy="243027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942653"/>
            <a:ext cx="3736529" cy="2448272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4067944" y="2166789"/>
            <a:ext cx="1088007" cy="90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80" y="3352590"/>
            <a:ext cx="1872208" cy="13999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94240" y="3867894"/>
            <a:ext cx="334225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 smtClean="0"/>
              <a:t>Scaled by </a:t>
            </a:r>
            <a:r>
              <a:rPr lang="en-US" sz="1200" dirty="0"/>
              <a:t>considering </a:t>
            </a:r>
            <a:r>
              <a:rPr lang="en-US" sz="1200" dirty="0" smtClean="0"/>
              <a:t> 1.7 kV </a:t>
            </a:r>
            <a:r>
              <a:rPr lang="sv-SE" sz="1200" dirty="0" smtClean="0"/>
              <a:t> </a:t>
            </a:r>
            <a:r>
              <a:rPr lang="en-US" sz="1200" dirty="0" smtClean="0"/>
              <a:t>Wolf-Speed power modules which have test data with higher dv/</a:t>
            </a:r>
            <a:r>
              <a:rPr lang="en-US" sz="1200" dirty="0" err="1" smtClean="0"/>
              <a:t>dt</a:t>
            </a:r>
            <a:endParaRPr lang="sv-SE" sz="1200" dirty="0" err="1"/>
          </a:p>
        </p:txBody>
      </p:sp>
    </p:spTree>
    <p:extLst>
      <p:ext uri="{BB962C8B-B14F-4D97-AF65-F5344CB8AC3E}">
        <p14:creationId xmlns:p14="http://schemas.microsoft.com/office/powerpoint/2010/main" val="394176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Updating Switching Losses for </a:t>
            </a:r>
            <a:r>
              <a:rPr lang="en-US" dirty="0"/>
              <a:t>Fast dv/</a:t>
            </a:r>
            <a:r>
              <a:rPr lang="en-US" dirty="0" err="1"/>
              <a:t>dt</a:t>
            </a:r>
            <a:endParaRPr lang="sv-SE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897732"/>
            <a:ext cx="3936438" cy="29523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918416"/>
            <a:ext cx="3744416" cy="28083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95536" y="4251539"/>
                <a:ext cx="842493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Number of Dies area selected as minimized the losses regarding the switching frequency.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Junction temperature is taken at </a:t>
                </a:r>
                <a14:m>
                  <m:oMath xmlns:m="http://schemas.openxmlformats.org/officeDocument/2006/math">
                    <m:r>
                      <a:rPr lang="sv-SE" sz="1600" i="1" dirty="0">
                        <a:latin typeface="Cambria Math" panose="02040503050406030204" pitchFamily="18" charset="0"/>
                      </a:rPr>
                      <m:t>75 </m:t>
                    </m:r>
                    <m:sSup>
                      <m:sSup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r>
                  <a:rPr lang="sv-SE" sz="1600" dirty="0" smtClean="0"/>
                  <a:t>.</a:t>
                </a:r>
                <a:endParaRPr lang="sv-SE" sz="1600" dirty="0" err="1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251539"/>
                <a:ext cx="8424936" cy="492443"/>
              </a:xfrm>
              <a:prstGeom prst="rect">
                <a:avLst/>
              </a:prstGeom>
              <a:blipFill>
                <a:blip r:embed="rId4"/>
                <a:stretch>
                  <a:fillRect l="-1375" t="-12346" b="-2469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4986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Cases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39552" y="4251538"/>
                <a:ext cx="3456384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If junction temperature is taken at </a:t>
                </a:r>
                <a14:m>
                  <m:oMath xmlns:m="http://schemas.openxmlformats.org/officeDocument/2006/math">
                    <m:r>
                      <a:rPr lang="sv-SE" sz="16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00</m:t>
                    </m:r>
                    <m:r>
                      <a:rPr lang="sv-SE" sz="1600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endParaRPr lang="sv-SE" sz="1600" dirty="0" err="1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4251538"/>
                <a:ext cx="3456384" cy="492443"/>
              </a:xfrm>
              <a:prstGeom prst="rect">
                <a:avLst/>
              </a:prstGeom>
              <a:blipFill>
                <a:blip r:embed="rId2"/>
                <a:stretch>
                  <a:fillRect l="-3351" t="-12346" r="-529" b="-370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061453"/>
            <a:ext cx="4035152" cy="30263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992" y="1045647"/>
            <a:ext cx="4056227" cy="30421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60032" y="4235732"/>
            <a:ext cx="345638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If we lower dv/</a:t>
            </a:r>
            <a:r>
              <a:rPr lang="en-US" sz="1600" dirty="0" err="1" smtClean="0"/>
              <a:t>dt</a:t>
            </a:r>
            <a:r>
              <a:rPr lang="en-US" sz="1600" dirty="0" smtClean="0"/>
              <a:t> 2.5 times </a:t>
            </a:r>
            <a:endParaRPr lang="sv-SE" sz="1600" dirty="0" err="1"/>
          </a:p>
        </p:txBody>
      </p:sp>
    </p:spTree>
    <p:extLst>
      <p:ext uri="{BB962C8B-B14F-4D97-AF65-F5344CB8AC3E}">
        <p14:creationId xmlns:p14="http://schemas.microsoft.com/office/powerpoint/2010/main" val="1678490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61A77-36CD-DE4F-8CA6-569DA6FD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6CAB-D6C5-C24C-A2B1-D43DE3A030AC}" type="datetime1">
              <a:rPr lang="sv-SE" smtClean="0"/>
              <a:pPr/>
              <a:t>2024-06-23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EEE17-AFAB-724E-9DF0-4C48FC08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B6CC9-3FEF-FB46-9337-9012AEB6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11</a:t>
            </a:fld>
            <a:endParaRPr lang="sv-S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Harmonic Losses on the Motor</a:t>
            </a:r>
            <a:endParaRPr lang="sv-SE" dirty="0"/>
          </a:p>
        </p:txBody>
      </p:sp>
      <p:sp>
        <p:nvSpPr>
          <p:cNvPr id="6" name="TextBox 5"/>
          <p:cNvSpPr txBox="1"/>
          <p:nvPr/>
        </p:nvSpPr>
        <p:spPr>
          <a:xfrm>
            <a:off x="899592" y="3694274"/>
            <a:ext cx="18002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dirty="0" smtClean="0"/>
              <a:t>Decreasing trend </a:t>
            </a:r>
            <a:endParaRPr lang="sv-SE" sz="1600" dirty="0" err="1"/>
          </a:p>
        </p:txBody>
      </p:sp>
      <p:sp>
        <p:nvSpPr>
          <p:cNvPr id="13" name="TextBox 12"/>
          <p:cNvSpPr txBox="1"/>
          <p:nvPr/>
        </p:nvSpPr>
        <p:spPr>
          <a:xfrm>
            <a:off x="547936" y="1118968"/>
            <a:ext cx="69127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dirty="0" smtClean="0"/>
              <a:t>We have trade-off between motor harmonic losses and inverter losses. </a:t>
            </a:r>
            <a:endParaRPr lang="sv-SE" sz="1600" dirty="0" err="1"/>
          </a:p>
        </p:txBody>
      </p:sp>
      <p:sp>
        <p:nvSpPr>
          <p:cNvPr id="14" name="TextBox 13"/>
          <p:cNvSpPr txBox="1"/>
          <p:nvPr/>
        </p:nvSpPr>
        <p:spPr>
          <a:xfrm>
            <a:off x="6835080" y="3659249"/>
            <a:ext cx="18002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dirty="0" smtClean="0"/>
              <a:t>Increasing trend </a:t>
            </a:r>
            <a:endParaRPr lang="sv-SE" sz="1600" dirty="0" err="1"/>
          </a:p>
        </p:txBody>
      </p:sp>
      <p:sp>
        <p:nvSpPr>
          <p:cNvPr id="18" name="TextBox 17"/>
          <p:cNvSpPr txBox="1"/>
          <p:nvPr/>
        </p:nvSpPr>
        <p:spPr>
          <a:xfrm>
            <a:off x="3851920" y="2007851"/>
            <a:ext cx="18002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dirty="0" smtClean="0"/>
              <a:t>Optimum point</a:t>
            </a:r>
            <a:endParaRPr lang="sv-SE" sz="1600" dirty="0" err="1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08" y="1513118"/>
            <a:ext cx="2659648" cy="1994736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463" y="1372615"/>
            <a:ext cx="3029373" cy="227203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9832" y="2755738"/>
            <a:ext cx="2737656" cy="2053242"/>
          </a:xfrm>
          <a:prstGeom prst="rect">
            <a:avLst/>
          </a:prstGeom>
        </p:spPr>
      </p:pic>
      <p:cxnSp>
        <p:nvCxnSpPr>
          <p:cNvPr id="25" name="Straight Arrow Connector 24"/>
          <p:cNvCxnSpPr/>
          <p:nvPr/>
        </p:nvCxnSpPr>
        <p:spPr>
          <a:xfrm flipV="1">
            <a:off x="4139952" y="2283718"/>
            <a:ext cx="288708" cy="864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13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Harmonic Losses Estimation- Impedance Model</a:t>
            </a:r>
            <a:endParaRPr lang="sv-SE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70" y="1357015"/>
            <a:ext cx="3744416" cy="2808312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>
            <a:off x="4355976" y="2859782"/>
            <a:ext cx="7157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1554237"/>
            <a:ext cx="3481453" cy="26110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2203" y="4011910"/>
            <a:ext cx="1533461" cy="76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55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Harmonic Losses Estimation-Impedance Model</a:t>
            </a:r>
            <a:endParaRPr lang="sv-SE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19" y="980401"/>
            <a:ext cx="4783741" cy="16326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979712" y="937560"/>
            <a:ext cx="897280" cy="17154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sv-SE" dirty="0"/>
          </a:p>
        </p:txBody>
      </p:sp>
      <p:sp>
        <p:nvSpPr>
          <p:cNvPr id="20" name="TextBox 19"/>
          <p:cNvSpPr txBox="1"/>
          <p:nvPr/>
        </p:nvSpPr>
        <p:spPr>
          <a:xfrm>
            <a:off x="3528024" y="939007"/>
            <a:ext cx="971968" cy="17154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sv-SE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3"/>
          <a:srcRect l="16815" r="29918"/>
          <a:stretch/>
        </p:blipFill>
        <p:spPr>
          <a:xfrm>
            <a:off x="5834370" y="1785783"/>
            <a:ext cx="2312659" cy="2247624"/>
          </a:xfrm>
          <a:prstGeom prst="rect">
            <a:avLst/>
          </a:prstGeom>
        </p:spPr>
      </p:pic>
      <p:cxnSp>
        <p:nvCxnSpPr>
          <p:cNvPr id="25" name="Straight Arrow Connector 24"/>
          <p:cNvCxnSpPr>
            <a:endCxn id="23" idx="0"/>
          </p:cNvCxnSpPr>
          <p:nvPr/>
        </p:nvCxnSpPr>
        <p:spPr>
          <a:xfrm>
            <a:off x="5001710" y="1542869"/>
            <a:ext cx="1988990" cy="242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40019" y="2753471"/>
            <a:ext cx="4908045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Harmonic distribution changes regarding inverter operation</a:t>
            </a:r>
            <a:endParaRPr lang="sv-SE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784" y="3093381"/>
            <a:ext cx="2169150" cy="1626862"/>
          </a:xfrm>
          <a:prstGeom prst="rect">
            <a:avLst/>
          </a:prstGeom>
        </p:spPr>
      </p:pic>
      <p:cxnSp>
        <p:nvCxnSpPr>
          <p:cNvPr id="30" name="Straight Arrow Connector 29"/>
          <p:cNvCxnSpPr>
            <a:stCxn id="29" idx="3"/>
          </p:cNvCxnSpPr>
          <p:nvPr/>
        </p:nvCxnSpPr>
        <p:spPr>
          <a:xfrm flipV="1">
            <a:off x="4796934" y="2790566"/>
            <a:ext cx="1751160" cy="1116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948329" y="3721159"/>
            <a:ext cx="1296144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Loss Factor 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588294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Harmonic Losses Estimation-Impedance Model</a:t>
            </a:r>
            <a:endParaRPr lang="sv-SE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287354"/>
            <a:ext cx="3599470" cy="26996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331640" y="918022"/>
                <a:ext cx="24978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𝑠𝑤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 10</m:t>
                      </m:r>
                      <m:r>
                        <a:rPr lang="sv-SE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918022"/>
                <a:ext cx="249787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300192" y="918022"/>
                <a:ext cx="15816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 1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192" y="918022"/>
                <a:ext cx="158166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0072" y="1287354"/>
            <a:ext cx="3558922" cy="266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497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61A77-36CD-DE4F-8CA6-569DA6FD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6CAB-D6C5-C24C-A2B1-D43DE3A030AC}" type="datetime1">
              <a:rPr lang="sv-SE" smtClean="0"/>
              <a:pPr/>
              <a:t>2024-06-23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EEE17-AFAB-724E-9DF0-4C48FC08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B6CC9-3FEF-FB46-9337-9012AEB6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15</a:t>
            </a:fld>
            <a:endParaRPr lang="sv-S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Harmonic Losses Estimation - Measurement</a:t>
            </a:r>
            <a:endParaRPr lang="sv-SE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442763"/>
            <a:ext cx="3134492" cy="23508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33252" y="3926680"/>
            <a:ext cx="248299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cs typeface="Times New Roman" panose="02020603050405020304" pitchFamily="18" charset="0"/>
              </a:rPr>
              <a:t>300 Hz fundamental frequency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cs typeface="Times New Roman" panose="02020603050405020304" pitchFamily="18" charset="0"/>
              </a:rPr>
              <a:t>10 kHz switching frequency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/>
          <a:srcRect b="5579"/>
          <a:stretch/>
        </p:blipFill>
        <p:spPr>
          <a:xfrm>
            <a:off x="3938446" y="837500"/>
            <a:ext cx="4248472" cy="187826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4677" y="2811029"/>
            <a:ext cx="4211156" cy="196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704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303" y="243173"/>
            <a:ext cx="8242697" cy="426309"/>
          </a:xfrm>
        </p:spPr>
        <p:txBody>
          <a:bodyPr/>
          <a:lstStyle/>
          <a:p>
            <a:r>
              <a:rPr lang="en-US" dirty="0" smtClean="0"/>
              <a:t>Harmonic Losses by measurements</a:t>
            </a:r>
            <a:endParaRPr lang="sv-SE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850999"/>
            <a:ext cx="3607594" cy="27056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01" y="792064"/>
            <a:ext cx="3686175" cy="27646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987824" y="3807019"/>
                <a:ext cx="2222211" cy="692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14313" indent="-2143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75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75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875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r>
                      <a:rPr lang="en-US" sz="1875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114.2 </m:t>
                    </m:r>
                    <m:r>
                      <a:rPr lang="en-US" sz="1875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𝑘𝑊</m:t>
                    </m:r>
                  </m:oMath>
                </a14:m>
                <a:endParaRPr lang="en-US" sz="1875" dirty="0">
                  <a:latin typeface="+mj-lt"/>
                  <a:cs typeface="Times New Roman" panose="02020603050405020304" pitchFamily="18" charset="0"/>
                </a:endParaRPr>
              </a:p>
              <a:p>
                <a:pPr marL="214313" indent="-2143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75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75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875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r>
                      <a:rPr lang="en-US" sz="1875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971 </m:t>
                    </m:r>
                    <m:r>
                      <a:rPr lang="en-US" sz="1875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endParaRPr lang="en-US" sz="1875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4" y="3807019"/>
                <a:ext cx="2222211" cy="692497"/>
              </a:xfrm>
              <a:prstGeom prst="rect">
                <a:avLst/>
              </a:prstGeom>
              <a:blipFill>
                <a:blip r:embed="rId4"/>
                <a:stretch>
                  <a:fillRect l="-1918" t="-1770" b="-1150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>
            <a:off x="6444208" y="2427734"/>
            <a:ext cx="216024" cy="15121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084168" y="2355726"/>
            <a:ext cx="468052" cy="15841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508104" y="4011910"/>
            <a:ext cx="3384376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dirty="0" smtClean="0"/>
              <a:t>There is an interaction between these frequencies so that we observe some harmonics generating power. </a:t>
            </a:r>
            <a:endParaRPr lang="sv-SE" sz="1400" dirty="0" err="1"/>
          </a:p>
        </p:txBody>
      </p:sp>
    </p:spTree>
    <p:extLst>
      <p:ext uri="{BB962C8B-B14F-4D97-AF65-F5344CB8AC3E}">
        <p14:creationId xmlns:p14="http://schemas.microsoft.com/office/powerpoint/2010/main" val="1917025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Harmonic Losses Estimation - Measurement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915816" y="1134843"/>
                <a:ext cx="4325022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r>
                      <a:rPr lang="sv-SE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𝑠𝑡𝑎𝑡𝑜𝑟</m:t>
                        </m:r>
                      </m:sub>
                    </m:sSub>
                    <m:r>
                      <a:rPr lang="sv-SE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𝑟𝑜𝑡𝑜𝑟</m:t>
                        </m:r>
                      </m:sub>
                    </m:sSub>
                  </m:oMath>
                </a14:m>
                <a:r>
                  <a:rPr lang="en-US" sz="2500" dirty="0" smtClean="0">
                    <a:latin typeface="+mj-lt"/>
                    <a:cs typeface="Times New Roman" panose="02020603050405020304" pitchFamily="18" charset="0"/>
                  </a:rPr>
                  <a:t> </a:t>
                </a:r>
                <a:endParaRPr lang="en-US" sz="2500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1134843"/>
                <a:ext cx="4325022" cy="4770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042" y="814115"/>
            <a:ext cx="2098630" cy="1573973"/>
          </a:xfrm>
          <a:prstGeom prst="rect">
            <a:avLst/>
          </a:prstGeom>
        </p:spPr>
      </p:pic>
      <p:cxnSp>
        <p:nvCxnSpPr>
          <p:cNvPr id="29" name="Straight Arrow Connector 28"/>
          <p:cNvCxnSpPr/>
          <p:nvPr/>
        </p:nvCxnSpPr>
        <p:spPr>
          <a:xfrm flipH="1">
            <a:off x="3183188" y="1680475"/>
            <a:ext cx="1085850" cy="714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2685" y="1305953"/>
            <a:ext cx="206198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smtClean="0"/>
              <a:t>n= </a:t>
            </a:r>
            <a:r>
              <a:rPr lang="sv-SE" dirty="0" err="1" smtClean="0"/>
              <a:t>harmonic</a:t>
            </a:r>
            <a:r>
              <a:rPr lang="sv-SE" dirty="0" smtClean="0"/>
              <a:t> </a:t>
            </a:r>
            <a:r>
              <a:rPr lang="sv-SE" dirty="0" err="1" smtClean="0"/>
              <a:t>number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17750" y="2394850"/>
                <a:ext cx="4325022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sv-SE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sv-SE" sz="25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sv-SE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sv-SE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sv-SE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sv-SE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sv-SE" sz="25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  </m:t>
                      </m:r>
                      <m:sSub>
                        <m:sSubPr>
                          <m:ctrlPr>
                            <a:rPr lang="sv-SE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sv-SE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sv-SE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  <m:r>
                        <a:rPr lang="sv-SE" sz="25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sv-SE" sz="25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sv-SE" sz="25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</m:t>
                      </m:r>
                    </m:oMath>
                  </m:oMathPara>
                </a14:m>
                <a:endParaRPr lang="en-US" sz="2500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50" y="2394850"/>
                <a:ext cx="4325022" cy="477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/>
          <p:cNvCxnSpPr/>
          <p:nvPr/>
        </p:nvCxnSpPr>
        <p:spPr>
          <a:xfrm>
            <a:off x="2987824" y="2899642"/>
            <a:ext cx="0" cy="447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087478" y="3379020"/>
                <a:ext cx="2990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sv-SE" dirty="0" smtClean="0"/>
                  <a:t> = </a:t>
                </a:r>
                <a:r>
                  <a:rPr lang="sv-SE" dirty="0" err="1" smtClean="0"/>
                  <a:t>harmonic</a:t>
                </a:r>
                <a:r>
                  <a:rPr lang="sv-SE" dirty="0" smtClean="0"/>
                  <a:t> loss </a:t>
                </a:r>
                <a:r>
                  <a:rPr lang="sv-SE" dirty="0" err="1" smtClean="0"/>
                  <a:t>factor</a:t>
                </a:r>
                <a:r>
                  <a:rPr lang="sv-SE" dirty="0" smtClean="0"/>
                  <a:t> </a:t>
                </a:r>
                <a:endParaRPr lang="sv-SE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478" y="3379020"/>
                <a:ext cx="2990849" cy="369332"/>
              </a:xfrm>
              <a:prstGeom prst="rect">
                <a:avLst/>
              </a:prstGeom>
              <a:blipFill>
                <a:blip r:embed="rId5"/>
                <a:stretch>
                  <a:fillRect t="-163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/>
          <p:nvPr/>
        </p:nvCxnSpPr>
        <p:spPr>
          <a:xfrm>
            <a:off x="5813872" y="1650557"/>
            <a:ext cx="531616" cy="7442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269038" y="2488345"/>
                <a:ext cx="4325022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sv-SE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sv-SE" sz="25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sv-SE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sv-SE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sv-SE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sv-SE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sv-SE" sz="25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  </m:t>
                      </m:r>
                      <m:sSub>
                        <m:sSubPr>
                          <m:ctrlPr>
                            <a:rPr lang="sv-SE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sv-SE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sv-SE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  <m:r>
                        <a:rPr lang="sv-SE" sz="25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sv-SE" sz="25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sv-SE" sz="25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±1) </m:t>
                      </m:r>
                    </m:oMath>
                  </m:oMathPara>
                </a14:m>
                <a:endParaRPr lang="en-US" sz="2500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9038" y="2488345"/>
                <a:ext cx="4325022" cy="4770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/>
          <p:cNvCxnSpPr/>
          <p:nvPr/>
        </p:nvCxnSpPr>
        <p:spPr>
          <a:xfrm flipH="1" flipV="1">
            <a:off x="6907463" y="3033026"/>
            <a:ext cx="112809" cy="4446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707919" y="3526048"/>
            <a:ext cx="417646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Rotor </a:t>
            </a:r>
            <a:r>
              <a:rPr lang="en-US" dirty="0"/>
              <a:t>sees a frequency different from the excitation frequency, which depends on the sequence of the excited harmonic and fundamental frequency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fundamental component is stationary regarding the Rotor.</a:t>
            </a:r>
            <a:endParaRPr lang="sv-SE" dirty="0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1047" y="3700900"/>
            <a:ext cx="2236652" cy="1109135"/>
          </a:xfrm>
          <a:prstGeom prst="rect">
            <a:avLst/>
          </a:prstGeom>
        </p:spPr>
      </p:pic>
      <p:cxnSp>
        <p:nvCxnSpPr>
          <p:cNvPr id="39" name="Straight Arrow Connector 38"/>
          <p:cNvCxnSpPr/>
          <p:nvPr/>
        </p:nvCxnSpPr>
        <p:spPr>
          <a:xfrm flipH="1">
            <a:off x="755576" y="2871904"/>
            <a:ext cx="522613" cy="1903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1899" y="3062265"/>
            <a:ext cx="2276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 smtClean="0"/>
              <a:t>We</a:t>
            </a:r>
            <a:r>
              <a:rPr lang="sv-SE" dirty="0" smtClean="0"/>
              <a:t> </a:t>
            </a:r>
            <a:r>
              <a:rPr lang="sv-SE" dirty="0" err="1" smtClean="0"/>
              <a:t>can</a:t>
            </a:r>
            <a:r>
              <a:rPr lang="sv-SE" dirty="0" smtClean="0"/>
              <a:t> </a:t>
            </a:r>
            <a:r>
              <a:rPr lang="sv-SE" dirty="0" err="1" smtClean="0"/>
              <a:t>apply</a:t>
            </a:r>
            <a:r>
              <a:rPr lang="sv-SE" dirty="0" smtClean="0"/>
              <a:t> superposition </a:t>
            </a:r>
            <a:r>
              <a:rPr lang="sv-SE" dirty="0" err="1" smtClean="0"/>
              <a:t>here</a:t>
            </a:r>
            <a:r>
              <a:rPr lang="sv-SE" dirty="0" smtClean="0"/>
              <a:t>.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319783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Harmonic Losses Estimation - Measurement</a:t>
            </a:r>
            <a:endParaRPr lang="sv-SE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635" y="1017951"/>
            <a:ext cx="3646487" cy="1837830"/>
          </a:xfrm>
          <a:prstGeom prst="rect">
            <a:avLst/>
          </a:prstGeom>
        </p:spPr>
      </p:pic>
      <p:cxnSp>
        <p:nvCxnSpPr>
          <p:cNvPr id="18" name="Straight Arrow Connector 17"/>
          <p:cNvCxnSpPr/>
          <p:nvPr/>
        </p:nvCxnSpPr>
        <p:spPr>
          <a:xfrm>
            <a:off x="3269259" y="1780775"/>
            <a:ext cx="798685" cy="190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853560" y="1284892"/>
                <a:ext cx="11620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𝑠𝑤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3560" y="1284892"/>
                <a:ext cx="116205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/>
          <p:nvPr/>
        </p:nvCxnSpPr>
        <p:spPr>
          <a:xfrm>
            <a:off x="3269259" y="1976395"/>
            <a:ext cx="817167" cy="5498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863085" y="2684083"/>
                <a:ext cx="11620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𝑠𝑤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+4</m:t>
                      </m:r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085" y="2684083"/>
                <a:ext cx="116205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/>
          <p:nvPr/>
        </p:nvCxnSpPr>
        <p:spPr>
          <a:xfrm>
            <a:off x="5271992" y="979333"/>
            <a:ext cx="19050" cy="25285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54285" y="711891"/>
            <a:ext cx="1831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smtClean="0"/>
              <a:t>Rotor </a:t>
            </a:r>
            <a:r>
              <a:rPr lang="sv-SE" dirty="0" err="1" smtClean="0"/>
              <a:t>side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366052" y="1170169"/>
                <a:ext cx="11620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𝑠𝑤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052" y="1170169"/>
                <a:ext cx="116205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366052" y="2702710"/>
                <a:ext cx="11620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𝑠𝑤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052" y="2702710"/>
                <a:ext cx="116205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5487101" y="3219598"/>
            <a:ext cx="2116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smtClean="0"/>
              <a:t>Same </a:t>
            </a:r>
            <a:r>
              <a:rPr lang="sv-SE" dirty="0" err="1" smtClean="0"/>
              <a:t>frequency</a:t>
            </a:r>
            <a:endParaRPr lang="sv-SE" dirty="0"/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6545566" y="2887376"/>
            <a:ext cx="91677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493004" y="2661194"/>
            <a:ext cx="1666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smtClean="0"/>
              <a:t>Positive </a:t>
            </a:r>
            <a:r>
              <a:rPr lang="sv-SE" dirty="0" err="1" smtClean="0"/>
              <a:t>sequence</a:t>
            </a:r>
            <a:endParaRPr lang="sv-SE" dirty="0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6545566" y="1392906"/>
            <a:ext cx="91677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93004" y="1166724"/>
            <a:ext cx="166687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N</a:t>
            </a:r>
            <a:r>
              <a:rPr lang="sv-SE" dirty="0" smtClean="0"/>
              <a:t>egative </a:t>
            </a:r>
            <a:r>
              <a:rPr lang="sv-SE" dirty="0" err="1" smtClean="0"/>
              <a:t>sequence</a:t>
            </a:r>
            <a:endParaRPr lang="sv-SE" dirty="0"/>
          </a:p>
        </p:txBody>
      </p:sp>
      <p:sp>
        <p:nvSpPr>
          <p:cNvPr id="45" name="TextBox 44"/>
          <p:cNvSpPr txBox="1"/>
          <p:nvPr/>
        </p:nvSpPr>
        <p:spPr>
          <a:xfrm>
            <a:off x="8261451" y="1539124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smtClean="0"/>
              <a:t>P1</a:t>
            </a:r>
            <a:endParaRPr lang="sv-SE" dirty="0"/>
          </a:p>
        </p:txBody>
      </p:sp>
      <p:sp>
        <p:nvSpPr>
          <p:cNvPr id="46" name="TextBox 45"/>
          <p:cNvSpPr txBox="1"/>
          <p:nvPr/>
        </p:nvSpPr>
        <p:spPr>
          <a:xfrm>
            <a:off x="8169182" y="3033135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smtClean="0"/>
              <a:t>P2</a:t>
            </a:r>
            <a:endParaRPr lang="sv-SE" dirty="0"/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746" y="2929638"/>
            <a:ext cx="2562824" cy="19221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3466738" y="3564431"/>
                <a:ext cx="6122727" cy="520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sv-S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2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800" i="1">
                                <a:latin typeface="Cambria Math" panose="02040503050406030204" pitchFamily="18" charset="0"/>
                              </a:rPr>
                              <m:t>𝑠𝑤</m:t>
                            </m:r>
                          </m:sub>
                        </m:sSub>
                        <m:r>
                          <a:rPr lang="sv-SE" sz="2800" i="1">
                            <a:latin typeface="Cambria Math" panose="02040503050406030204" pitchFamily="18" charset="0"/>
                          </a:rPr>
                          <m:t>+2</m:t>
                        </m:r>
                        <m:sSub>
                          <m:sSubPr>
                            <m:ctrlPr>
                              <a:rPr lang="sv-S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8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sv-SE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sv-SE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sv-S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𝑠𝑤</m:t>
                            </m:r>
                          </m:sub>
                        </m:sSub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+2</m:t>
                        </m:r>
                        <m:sSub>
                          <m:sSubPr>
                            <m:ctrlPr>
                              <a:rPr lang="sv-S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sv-SE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sv-S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𝑠𝑤</m:t>
                            </m:r>
                          </m:sub>
                        </m:sSub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+2</m:t>
                        </m:r>
                        <m:sSub>
                          <m:sSubPr>
                            <m:ctrlPr>
                              <a:rPr lang="sv-S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500" dirty="0" smtClean="0">
                    <a:latin typeface="+mj-lt"/>
                    <a:cs typeface="Times New Roman" panose="02020603050405020304" pitchFamily="18" charset="0"/>
                  </a:rPr>
                  <a:t> </a:t>
                </a:r>
                <a:endParaRPr lang="en-US" sz="2500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6738" y="3564431"/>
                <a:ext cx="6122727" cy="520848"/>
              </a:xfrm>
              <a:prstGeom prst="rect">
                <a:avLst/>
              </a:prstGeom>
              <a:blipFill>
                <a:blip r:embed="rId8"/>
                <a:stretch>
                  <a:fillRect l="-299" b="-1411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3466738" y="4227699"/>
                <a:ext cx="6122727" cy="520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sv-S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2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800" i="1">
                                <a:latin typeface="Cambria Math" panose="02040503050406030204" pitchFamily="18" charset="0"/>
                              </a:rPr>
                              <m:t>𝑠𝑤</m:t>
                            </m:r>
                          </m:sub>
                        </m:sSub>
                        <m:r>
                          <a:rPr lang="sv-SE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sv-SE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sSubPr>
                            <m:ctrlPr>
                              <a:rPr lang="sv-S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8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sv-SE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sv-SE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sv-S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𝑠𝑤</m:t>
                            </m:r>
                          </m:sub>
                        </m:sSub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sSubPr>
                            <m:ctrlPr>
                              <a:rPr lang="sv-SE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sv-SE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sv-S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𝑠𝑤</m:t>
                            </m:r>
                          </m:sub>
                        </m:sSub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sSubPr>
                            <m:ctrlPr>
                              <a:rPr lang="sv-S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sv-SE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500" dirty="0" smtClean="0">
                    <a:latin typeface="+mj-lt"/>
                    <a:cs typeface="Times New Roman" panose="02020603050405020304" pitchFamily="18" charset="0"/>
                  </a:rPr>
                  <a:t> </a:t>
                </a:r>
                <a:endParaRPr lang="en-US" sz="2500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6738" y="4227699"/>
                <a:ext cx="6122727" cy="520848"/>
              </a:xfrm>
              <a:prstGeom prst="rect">
                <a:avLst/>
              </a:prstGeom>
              <a:blipFill>
                <a:blip r:embed="rId9"/>
                <a:stretch>
                  <a:fillRect l="-299" b="-1411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777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Harmonic Losses Estimation - Measurement</a:t>
            </a:r>
            <a:endParaRPr lang="sv-SE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520" y="987574"/>
            <a:ext cx="3816424" cy="192347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2899344"/>
            <a:ext cx="2740583" cy="20554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573736" y="1275606"/>
                <a:ext cx="5544616" cy="400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sv-S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000" i="1">
                                <a:latin typeface="Cambria Math" panose="02040503050406030204" pitchFamily="18" charset="0"/>
                              </a:rPr>
                              <m:t>𝑠𝑤</m:t>
                            </m:r>
                          </m:sub>
                        </m:sSub>
                        <m:r>
                          <a:rPr lang="sv-SE" sz="2000" i="1">
                            <a:latin typeface="Cambria Math" panose="02040503050406030204" pitchFamily="18" charset="0"/>
                          </a:rPr>
                          <m:t>+2</m:t>
                        </m:r>
                        <m:sSub>
                          <m:sSubPr>
                            <m:ctrlPr>
                              <a:rPr lang="sv-S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0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sv-SE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sv-S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1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1800" i="1">
                                <a:latin typeface="Cambria Math" panose="02040503050406030204" pitchFamily="18" charset="0"/>
                              </a:rPr>
                              <m:t>𝑠𝑤</m:t>
                            </m:r>
                          </m:sub>
                        </m:sSub>
                        <m:r>
                          <a:rPr lang="sv-SE" sz="1800" i="1">
                            <a:latin typeface="Cambria Math" panose="02040503050406030204" pitchFamily="18" charset="0"/>
                          </a:rPr>
                          <m:t>+2</m:t>
                        </m:r>
                        <m:sSub>
                          <m:sSubPr>
                            <m:ctrlPr>
                              <a:rPr lang="sv-S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1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18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sv-SE" sz="18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sv-SE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sv-S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1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1800" i="1">
                                <a:latin typeface="Cambria Math" panose="02040503050406030204" pitchFamily="18" charset="0"/>
                              </a:rPr>
                              <m:t>𝑠𝑤</m:t>
                            </m:r>
                          </m:sub>
                        </m:sSub>
                        <m:r>
                          <a:rPr lang="sv-SE" sz="1800" i="1">
                            <a:latin typeface="Cambria Math" panose="02040503050406030204" pitchFamily="18" charset="0"/>
                          </a:rPr>
                          <m:t>+2</m:t>
                        </m:r>
                        <m:sSub>
                          <m:sSubPr>
                            <m:ctrlPr>
                              <a:rPr lang="sv-S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1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18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sv-SE" sz="18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800" dirty="0" smtClean="0">
                    <a:latin typeface="+mj-lt"/>
                    <a:cs typeface="Times New Roman" panose="02020603050405020304" pitchFamily="18" charset="0"/>
                  </a:rPr>
                  <a:t> </a:t>
                </a:r>
                <a:endParaRPr lang="en-US" sz="1800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736" y="1275606"/>
                <a:ext cx="5544616" cy="400174"/>
              </a:xfrm>
              <a:prstGeom prst="rect">
                <a:avLst/>
              </a:prstGeom>
              <a:blipFill>
                <a:blip r:embed="rId4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573735" y="1868909"/>
                <a:ext cx="5544616" cy="400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sv-S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000" i="1">
                                <a:latin typeface="Cambria Math" panose="02040503050406030204" pitchFamily="18" charset="0"/>
                              </a:rPr>
                              <m:t>𝑠𝑤</m:t>
                            </m:r>
                          </m:sub>
                        </m:sSub>
                        <m:r>
                          <a:rPr lang="sv-SE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sSubPr>
                            <m:ctrlPr>
                              <a:rPr lang="sv-S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0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sv-SE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sv-S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1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1800" i="1">
                                <a:latin typeface="Cambria Math" panose="02040503050406030204" pitchFamily="18" charset="0"/>
                              </a:rPr>
                              <m:t>𝑠𝑤</m:t>
                            </m:r>
                          </m:sub>
                        </m:sSub>
                        <m:r>
                          <a:rPr lang="sv-SE" sz="1800" i="1">
                            <a:latin typeface="Cambria Math" panose="02040503050406030204" pitchFamily="18" charset="0"/>
                          </a:rPr>
                          <m:t>+2</m:t>
                        </m:r>
                        <m:sSub>
                          <m:sSubPr>
                            <m:ctrlPr>
                              <a:rPr lang="sv-S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1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18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sv-SE" sz="18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sv-SE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sv-S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1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1800" i="1">
                                <a:latin typeface="Cambria Math" panose="02040503050406030204" pitchFamily="18" charset="0"/>
                              </a:rPr>
                              <m:t>𝑠𝑤</m:t>
                            </m:r>
                          </m:sub>
                        </m:sSub>
                        <m:r>
                          <a:rPr lang="sv-SE" sz="1800" i="1">
                            <a:latin typeface="Cambria Math" panose="02040503050406030204" pitchFamily="18" charset="0"/>
                          </a:rPr>
                          <m:t>+2</m:t>
                        </m:r>
                        <m:sSub>
                          <m:sSubPr>
                            <m:ctrlPr>
                              <a:rPr lang="sv-S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1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18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sv-SE" sz="18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800" dirty="0" smtClean="0">
                    <a:latin typeface="+mj-lt"/>
                    <a:cs typeface="Times New Roman" panose="02020603050405020304" pitchFamily="18" charset="0"/>
                  </a:rPr>
                  <a:t> </a:t>
                </a:r>
                <a:endParaRPr lang="en-US" sz="1800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735" y="1868909"/>
                <a:ext cx="5544616" cy="400174"/>
              </a:xfrm>
              <a:prstGeom prst="rect">
                <a:avLst/>
              </a:prstGeom>
              <a:blipFill>
                <a:blip r:embed="rId5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670876" y="2856583"/>
                <a:ext cx="6122727" cy="400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sv-S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000" i="1">
                                <a:latin typeface="Cambria Math" panose="02040503050406030204" pitchFamily="18" charset="0"/>
                              </a:rPr>
                              <m:t>𝑠𝑤</m:t>
                            </m:r>
                          </m:sub>
                        </m:sSub>
                        <m:r>
                          <a:rPr lang="sv-SE" sz="2000" i="1">
                            <a:latin typeface="Cambria Math" panose="02040503050406030204" pitchFamily="18" charset="0"/>
                          </a:rPr>
                          <m:t>+2</m:t>
                        </m:r>
                        <m:sSub>
                          <m:sSubPr>
                            <m:ctrlPr>
                              <a:rPr lang="sv-S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0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) </m:t>
                        </m:r>
                      </m:sub>
                    </m:sSub>
                    <m:r>
                      <a:rPr lang="sv-SE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1.8 </m:t>
                        </m:r>
                        <m: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sv-SE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+1.8 </m:t>
                    </m:r>
                    <m:sSub>
                      <m:sSubPr>
                        <m:ctrlP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sv-SE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=221/1600</m:t>
                    </m:r>
                  </m:oMath>
                </a14:m>
                <a:r>
                  <a:rPr lang="en-US" sz="1800" dirty="0" smtClean="0">
                    <a:latin typeface="+mj-lt"/>
                    <a:cs typeface="Times New Roman" panose="02020603050405020304" pitchFamily="18" charset="0"/>
                  </a:rPr>
                  <a:t> </a:t>
                </a:r>
                <a:endParaRPr lang="en-US" sz="1800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876" y="2856583"/>
                <a:ext cx="6122727" cy="400174"/>
              </a:xfrm>
              <a:prstGeom prst="rect">
                <a:avLst/>
              </a:prstGeom>
              <a:blipFill>
                <a:blip r:embed="rId6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670876" y="3377431"/>
                <a:ext cx="6122727" cy="400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sv-S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000" i="1">
                                <a:latin typeface="Cambria Math" panose="02040503050406030204" pitchFamily="18" charset="0"/>
                              </a:rPr>
                              <m:t>𝑠𝑤</m:t>
                            </m:r>
                          </m:sub>
                        </m:sSub>
                        <m:r>
                          <a:rPr lang="sv-SE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sSubPr>
                            <m:ctrlPr>
                              <a:rPr lang="sv-S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0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sv-SE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1 </m:t>
                        </m:r>
                        <m: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sv-SE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−1 </m:t>
                    </m:r>
                    <m:sSub>
                      <m:sSubPr>
                        <m:ctrlP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sv-SE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sv-SE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=−104/1600</m:t>
                    </m:r>
                  </m:oMath>
                </a14:m>
                <a:r>
                  <a:rPr lang="en-US" sz="1800" dirty="0" smtClean="0">
                    <a:latin typeface="+mj-lt"/>
                    <a:cs typeface="Times New Roman" panose="02020603050405020304" pitchFamily="18" charset="0"/>
                  </a:rPr>
                  <a:t> </a:t>
                </a:r>
                <a:endParaRPr lang="en-US" sz="1800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876" y="3377431"/>
                <a:ext cx="6122727" cy="400174"/>
              </a:xfrm>
              <a:prstGeom prst="rect">
                <a:avLst/>
              </a:prstGeom>
              <a:blipFill>
                <a:blip r:embed="rId7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954709" y="4160715"/>
                <a:ext cx="294646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sv-SE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sv-SE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sv-SE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a:rPr lang="sv-SE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=</m:t>
                      </m:r>
                      <m:r>
                        <m:rPr>
                          <m:nor/>
                        </m:rPr>
                        <a:rPr lang="en-US" dirty="0">
                          <a:cs typeface="Times New Roman" panose="02020603050405020304" pitchFamily="18" charset="0"/>
                        </a:rPr>
                        <m:t>0.0</m:t>
                      </m:r>
                      <m:r>
                        <m:rPr>
                          <m:nor/>
                        </m:rPr>
                        <a:rPr lang="sv-SE" b="0" i="0" dirty="0" smtClean="0">
                          <a:cs typeface="Times New Roman" panose="02020603050405020304" pitchFamily="18" charset="0"/>
                        </a:rPr>
                        <m:t>05</m:t>
                      </m:r>
                      <m:r>
                        <m:rPr>
                          <m:nor/>
                        </m:rPr>
                        <a:rPr lang="en-US" dirty="0">
                          <a:cs typeface="Times New Roman" panose="02020603050405020304" pitchFamily="18" charset="0"/>
                        </a:rPr>
                        <m:t>9</m:t>
                      </m:r>
                    </m:oMath>
                  </m:oMathPara>
                </a14:m>
                <a:endParaRPr lang="en-US" dirty="0"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sv-SE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sv-SE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sv-SE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  <a:cs typeface="Times New Roman" panose="02020603050405020304" pitchFamily="18" charset="0"/>
                  </a:rPr>
                  <a:t>= 0.0709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709" y="4160715"/>
                <a:ext cx="2946467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/>
          <p:nvPr/>
        </p:nvCxnSpPr>
        <p:spPr>
          <a:xfrm>
            <a:off x="5124888" y="4464071"/>
            <a:ext cx="1552575" cy="9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711118" y="4279405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smtClean="0"/>
              <a:t>Rotor loss is dominant?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207205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Harmonic Losses Estimation – Proposed Method</a:t>
            </a:r>
            <a:endParaRPr lang="sv-SE" dirty="0"/>
          </a:p>
        </p:txBody>
      </p:sp>
      <p:sp>
        <p:nvSpPr>
          <p:cNvPr id="7" name="Rectangle 6"/>
          <p:cNvSpPr/>
          <p:nvPr/>
        </p:nvSpPr>
        <p:spPr>
          <a:xfrm>
            <a:off x="5436096" y="879724"/>
            <a:ext cx="1728192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Voltage Spectrum</a:t>
            </a:r>
            <a:endParaRPr lang="sv-SE" sz="1400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7" idx="2"/>
            <a:endCxn id="25" idx="0"/>
          </p:cNvCxnSpPr>
          <p:nvPr/>
        </p:nvCxnSpPr>
        <p:spPr>
          <a:xfrm flipH="1">
            <a:off x="5268798" y="1167756"/>
            <a:ext cx="1031394" cy="5218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2"/>
            <a:endCxn id="36" idx="0"/>
          </p:cNvCxnSpPr>
          <p:nvPr/>
        </p:nvCxnSpPr>
        <p:spPr>
          <a:xfrm>
            <a:off x="6300192" y="1167756"/>
            <a:ext cx="1188132" cy="5218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404702" y="1689646"/>
            <a:ext cx="1728192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Positive Sequence</a:t>
            </a:r>
            <a:endParaRPr lang="sv-SE" sz="140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588224" y="1689646"/>
            <a:ext cx="1800200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Negative Sequence</a:t>
            </a:r>
            <a:endParaRPr lang="sv-SE" sz="1400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4716016" y="2004765"/>
            <a:ext cx="0" cy="3422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067944" y="2351437"/>
            <a:ext cx="1080120" cy="4862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Stator Loss 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Factor</a:t>
            </a:r>
            <a:endParaRPr lang="sv-SE" sz="1400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290046" y="2373463"/>
            <a:ext cx="1082154" cy="4862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Rotor Loss 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Factor</a:t>
            </a:r>
            <a:endParaRPr lang="sv-SE" sz="1400" dirty="0">
              <a:solidFill>
                <a:schemeClr val="tx1"/>
              </a:solidFill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5796136" y="2004765"/>
            <a:ext cx="0" cy="3422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704348" y="2387700"/>
            <a:ext cx="1080120" cy="4862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Stator Loss 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Factor</a:t>
            </a:r>
            <a:endParaRPr lang="sv-SE" sz="1400" dirty="0"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514182" y="2387700"/>
            <a:ext cx="1082154" cy="4862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Rotor Loss 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Factor</a:t>
            </a:r>
            <a:endParaRPr lang="sv-SE" sz="1400" dirty="0">
              <a:solidFill>
                <a:schemeClr val="tx1"/>
              </a:solidFill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7092280" y="2004765"/>
            <a:ext cx="0" cy="3422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8244408" y="1976141"/>
            <a:ext cx="0" cy="3422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4682902" y="2859685"/>
            <a:ext cx="0" cy="3422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608004" y="3217545"/>
            <a:ext cx="1800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dirty="0" smtClean="0"/>
              <a:t>+</a:t>
            </a:r>
            <a:endParaRPr lang="sv-SE" sz="2000" dirty="0" err="1"/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5868144" y="2875339"/>
            <a:ext cx="0" cy="3422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7092280" y="2875339"/>
            <a:ext cx="0" cy="3422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760132" y="3233199"/>
            <a:ext cx="3727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dirty="0" smtClean="0"/>
              <a:t>+/-</a:t>
            </a:r>
            <a:endParaRPr lang="sv-SE" sz="2000" dirty="0" err="1"/>
          </a:p>
        </p:txBody>
      </p:sp>
      <p:sp>
        <p:nvSpPr>
          <p:cNvPr id="57" name="TextBox 56"/>
          <p:cNvSpPr txBox="1"/>
          <p:nvPr/>
        </p:nvSpPr>
        <p:spPr>
          <a:xfrm>
            <a:off x="6960469" y="3217545"/>
            <a:ext cx="3727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dirty="0" smtClean="0"/>
              <a:t>-/+</a:t>
            </a:r>
            <a:endParaRPr lang="sv-SE" sz="2000" dirty="0" err="1"/>
          </a:p>
        </p:txBody>
      </p:sp>
      <p:sp>
        <p:nvSpPr>
          <p:cNvPr id="58" name="TextBox 57"/>
          <p:cNvSpPr txBox="1"/>
          <p:nvPr/>
        </p:nvSpPr>
        <p:spPr>
          <a:xfrm>
            <a:off x="8187512" y="3206255"/>
            <a:ext cx="1800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dirty="0" smtClean="0"/>
              <a:t>+</a:t>
            </a:r>
            <a:endParaRPr lang="sv-SE" sz="2000" dirty="0" err="1"/>
          </a:p>
        </p:txBody>
      </p:sp>
      <p:cxnSp>
        <p:nvCxnSpPr>
          <p:cNvPr id="59" name="Straight Arrow Connector 58"/>
          <p:cNvCxnSpPr/>
          <p:nvPr/>
        </p:nvCxnSpPr>
        <p:spPr>
          <a:xfrm>
            <a:off x="8244408" y="2873922"/>
            <a:ext cx="0" cy="3422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12" y="1167849"/>
            <a:ext cx="2703795" cy="2027846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857" y="3569454"/>
            <a:ext cx="2236652" cy="1109135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3211297"/>
            <a:ext cx="2224289" cy="166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155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Total Losses Calculation</a:t>
            </a:r>
            <a:endParaRPr lang="sv-S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910184"/>
            <a:ext cx="4949957" cy="3712468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4283968" y="897732"/>
            <a:ext cx="2664296" cy="13139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063867" y="448519"/>
            <a:ext cx="1872208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dirty="0" smtClean="0"/>
              <a:t>Optimum switching frequency</a:t>
            </a:r>
            <a:endParaRPr lang="sv-SE" sz="2000" dirty="0" err="1"/>
          </a:p>
        </p:txBody>
      </p:sp>
    </p:spTree>
    <p:extLst>
      <p:ext uri="{BB962C8B-B14F-4D97-AF65-F5344CB8AC3E}">
        <p14:creationId xmlns:p14="http://schemas.microsoft.com/office/powerpoint/2010/main" val="74453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DC-link Capacitance Requirement-Switching Frequency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802734" y="1563638"/>
                <a:ext cx="223224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𝑝𝑝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=12.5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sv-SE" sz="2000" dirty="0" err="1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2734" y="1563638"/>
                <a:ext cx="2232248" cy="307777"/>
              </a:xfrm>
              <a:prstGeom prst="rect">
                <a:avLst/>
              </a:prstGeom>
              <a:blipFill>
                <a:blip r:embed="rId2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19" y="1059582"/>
            <a:ext cx="4587213" cy="34404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082647" y="1975941"/>
                <a:ext cx="151216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=1.15</m:t>
                      </m:r>
                    </m:oMath>
                  </m:oMathPara>
                </a14:m>
                <a:endParaRPr lang="sv-SE" sz="2000" dirty="0" err="1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647" y="1975941"/>
                <a:ext cx="1512168" cy="307777"/>
              </a:xfrm>
              <a:prstGeom prst="rect">
                <a:avLst/>
              </a:prstGeom>
              <a:blipFill>
                <a:blip r:embed="rId4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380823" y="2696021"/>
                <a:ext cx="327585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</m:oMath>
                  </m:oMathPara>
                </a14:m>
                <a:endParaRPr lang="sv-SE" sz="2000" dirty="0" err="1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823" y="2696021"/>
                <a:ext cx="3275856" cy="307777"/>
              </a:xfrm>
              <a:prstGeom prst="rect">
                <a:avLst/>
              </a:prstGeom>
              <a:blipFill>
                <a:blip r:embed="rId5"/>
                <a:stretch>
                  <a:fillRect l="-931" b="-1960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6"/>
          <a:srcRect t="13146" b="25140"/>
          <a:stretch/>
        </p:blipFill>
        <p:spPr>
          <a:xfrm>
            <a:off x="4866630" y="3340190"/>
            <a:ext cx="4104456" cy="65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561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Works</a:t>
            </a:r>
            <a:endParaRPr lang="sv-SE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1131590"/>
            <a:ext cx="7560840" cy="30777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smtClean="0"/>
              <a:t>Designing and building a 2L inverter as a reference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 smtClean="0"/>
              <a:t>Modeling harmonic losses by experimental loss factor calculation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 smtClean="0"/>
              <a:t>Comparison of 3L topologies (3L-NPC and 3L-T-TYPE) with 2L reference design</a:t>
            </a:r>
          </a:p>
          <a:p>
            <a:pPr marL="457200" indent="-457200" algn="l">
              <a:buAutoNum type="arabicPeriod"/>
            </a:pPr>
            <a:endParaRPr lang="en-US" sz="2000" dirty="0"/>
          </a:p>
          <a:p>
            <a:pPr marL="457200" indent="-457200" algn="l">
              <a:buAutoNum type="arabicPeriod"/>
            </a:pPr>
            <a:endParaRPr lang="en-US" sz="2000" dirty="0" smtClean="0"/>
          </a:p>
          <a:p>
            <a:pPr algn="l"/>
            <a:endParaRPr lang="sv-SE" sz="2000" dirty="0" err="1"/>
          </a:p>
        </p:txBody>
      </p:sp>
    </p:spTree>
    <p:extLst>
      <p:ext uri="{BB962C8B-B14F-4D97-AF65-F5344CB8AC3E}">
        <p14:creationId xmlns:p14="http://schemas.microsoft.com/office/powerpoint/2010/main" val="247243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Information </a:t>
            </a:r>
            <a:r>
              <a:rPr lang="en-US" dirty="0" smtClean="0"/>
              <a:t>or Questions?</a:t>
            </a:r>
            <a:endParaRPr lang="sv-SE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1131590"/>
            <a:ext cx="7560840" cy="246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smtClean="0"/>
              <a:t>Component selection for 2L inverter</a:t>
            </a:r>
          </a:p>
          <a:p>
            <a:pPr marL="800100" lvl="1" indent="-457200">
              <a:buFont typeface="Arial" panose="020B0604020202020204" pitchFamily="34" charset="0"/>
              <a:buChar char="•"/>
            </a:pPr>
            <a:r>
              <a:rPr lang="en-US" sz="2000" dirty="0" smtClean="0"/>
              <a:t>Current / Voltage measurement sensors</a:t>
            </a:r>
          </a:p>
          <a:p>
            <a:pPr marL="800100" lvl="1" indent="-457200">
              <a:buFont typeface="Arial" panose="020B0604020202020204" pitchFamily="34" charset="0"/>
              <a:buChar char="•"/>
            </a:pPr>
            <a:r>
              <a:rPr lang="en-US" sz="2000" dirty="0" smtClean="0"/>
              <a:t>Gate driver specifications (additional measurements ?)</a:t>
            </a:r>
          </a:p>
          <a:p>
            <a:pPr marL="800100" lvl="1" indent="-457200">
              <a:buFont typeface="Arial" panose="020B0604020202020204" pitchFamily="34" charset="0"/>
              <a:buChar char="•"/>
            </a:pPr>
            <a:r>
              <a:rPr lang="en-US" sz="2000" dirty="0" smtClean="0"/>
              <a:t>Heatsink</a:t>
            </a:r>
          </a:p>
          <a:p>
            <a:pPr marL="800100" lvl="1" indent="-45720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457200" indent="-457200" algn="l">
              <a:buAutoNum type="arabicPeriod"/>
            </a:pPr>
            <a:endParaRPr lang="en-US" sz="2000" dirty="0"/>
          </a:p>
          <a:p>
            <a:pPr marL="457200" indent="-457200" algn="l">
              <a:buAutoNum type="arabicPeriod"/>
            </a:pPr>
            <a:endParaRPr lang="en-US" sz="2000" dirty="0" smtClean="0"/>
          </a:p>
          <a:p>
            <a:pPr algn="l"/>
            <a:endParaRPr lang="sv-SE" sz="2000" dirty="0" err="1"/>
          </a:p>
        </p:txBody>
      </p:sp>
    </p:spTree>
    <p:extLst>
      <p:ext uri="{BB962C8B-B14F-4D97-AF65-F5344CB8AC3E}">
        <p14:creationId xmlns:p14="http://schemas.microsoft.com/office/powerpoint/2010/main" val="2082588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046A919-5EDA-8448-9EC7-04EDDB67C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7904" y="1347614"/>
            <a:ext cx="2140980" cy="566641"/>
          </a:xfrm>
        </p:spPr>
        <p:txBody>
          <a:bodyPr/>
          <a:lstStyle/>
          <a:p>
            <a:r>
              <a:rPr lang="en-US" dirty="0" smtClean="0"/>
              <a:t>Thanks !!!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74705-AE8B-4A42-AB7F-E934F3FD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57DF-C448-9E4A-AC1B-538968DD2481}" type="datetime1">
              <a:rPr lang="sv-SE" smtClean="0"/>
              <a:pPr/>
              <a:t>2024-06-23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B2698-B4E9-7A4C-9527-FEC214F6F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6620A-5648-0C4A-8D32-82D4B46D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25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73363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ema">
  <a:themeElements>
    <a:clrScheme name="KTH">
      <a:dk1>
        <a:srgbClr val="000000"/>
      </a:dk1>
      <a:lt1>
        <a:srgbClr val="FFFFFF"/>
      </a:lt1>
      <a:dk2>
        <a:srgbClr val="65656C"/>
      </a:dk2>
      <a:lt2>
        <a:srgbClr val="838389"/>
      </a:lt2>
      <a:accent1>
        <a:srgbClr val="1954A6"/>
      </a:accent1>
      <a:accent2>
        <a:srgbClr val="5E87C0"/>
      </a:accent2>
      <a:accent3>
        <a:srgbClr val="2091C3"/>
      </a:accent3>
      <a:accent4>
        <a:srgbClr val="D02F80"/>
      </a:accent4>
      <a:accent5>
        <a:srgbClr val="D95999"/>
      </a:accent5>
      <a:accent6>
        <a:srgbClr val="61922E"/>
      </a:accent6>
      <a:hlink>
        <a:srgbClr val="65656C"/>
      </a:hlink>
      <a:folHlink>
        <a:srgbClr val="83838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 sz="20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7121384-D8C6-FA41-9A6B-F4615C0099B0}" vid="{DF4435B0-2EFE-BF49-8755-0024FDD40B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KTH_16_9</Template>
  <TotalTime>6392</TotalTime>
  <Words>1520</Words>
  <Application>Microsoft Office PowerPoint</Application>
  <PresentationFormat>On-screen Show (16:9)</PresentationFormat>
  <Paragraphs>204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Cambria Math</vt:lpstr>
      <vt:lpstr>Times New Roman</vt:lpstr>
      <vt:lpstr>Wingdings</vt:lpstr>
      <vt:lpstr>Office-tema</vt:lpstr>
      <vt:lpstr>2-Level Voltage Source Traction Inverter</vt:lpstr>
      <vt:lpstr>Agenda</vt:lpstr>
      <vt:lpstr>2-Level Inverter Power Ratings</vt:lpstr>
      <vt:lpstr>Parameters of Infineon 2kV Bare die</vt:lpstr>
      <vt:lpstr>Datasheet-Driven Loss Estimation</vt:lpstr>
      <vt:lpstr>Datasheet-driven Loss Calculation</vt:lpstr>
      <vt:lpstr>Updating Switching Losses for Fast dv/dt</vt:lpstr>
      <vt:lpstr>Updating Switching Loss for Fast dv/dt</vt:lpstr>
      <vt:lpstr>Updating Switching Losses for Fast dv/dt</vt:lpstr>
      <vt:lpstr>Other Cases</vt:lpstr>
      <vt:lpstr>Harmonic Losses on the Motor</vt:lpstr>
      <vt:lpstr>Harmonic Losses Estimation- Impedance Model</vt:lpstr>
      <vt:lpstr>Harmonic Losses Estimation-Impedance Model</vt:lpstr>
      <vt:lpstr>Harmonic Losses Estimation-Impedance Model</vt:lpstr>
      <vt:lpstr>Harmonic Losses Estimation - Measurement</vt:lpstr>
      <vt:lpstr>Harmonic Losses by measurements</vt:lpstr>
      <vt:lpstr>Harmonic Losses Estimation - Measurement</vt:lpstr>
      <vt:lpstr>Harmonic Losses Estimation - Measurement</vt:lpstr>
      <vt:lpstr>Harmonic Losses Estimation - Measurement</vt:lpstr>
      <vt:lpstr>Harmonic Losses Estimation – Proposed Method</vt:lpstr>
      <vt:lpstr>Total Losses Calculation</vt:lpstr>
      <vt:lpstr>DC-link Capacitance Requirement-Switching Frequency</vt:lpstr>
      <vt:lpstr>Coming Works</vt:lpstr>
      <vt:lpstr>Missing Information or Questions?</vt:lpstr>
      <vt:lpstr>Thanks !!!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Malin Modig</dc:creator>
  <cp:lastModifiedBy>Enes Ayaz</cp:lastModifiedBy>
  <cp:revision>182</cp:revision>
  <dcterms:created xsi:type="dcterms:W3CDTF">2019-12-10T08:55:59Z</dcterms:created>
  <dcterms:modified xsi:type="dcterms:W3CDTF">2024-06-23T15:40:58Z</dcterms:modified>
</cp:coreProperties>
</file>